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23"/>
  </p:notesMasterIdLst>
  <p:sldIdLst>
    <p:sldId id="256" r:id="rId2"/>
    <p:sldId id="505" r:id="rId3"/>
    <p:sldId id="516" r:id="rId4"/>
    <p:sldId id="517" r:id="rId5"/>
    <p:sldId id="518" r:id="rId6"/>
    <p:sldId id="519" r:id="rId7"/>
    <p:sldId id="520" r:id="rId8"/>
    <p:sldId id="521" r:id="rId9"/>
    <p:sldId id="522" r:id="rId10"/>
    <p:sldId id="523" r:id="rId11"/>
    <p:sldId id="524" r:id="rId12"/>
    <p:sldId id="525" r:id="rId13"/>
    <p:sldId id="526" r:id="rId14"/>
    <p:sldId id="527" r:id="rId15"/>
    <p:sldId id="528" r:id="rId16"/>
    <p:sldId id="529" r:id="rId17"/>
    <p:sldId id="530" r:id="rId18"/>
    <p:sldId id="531" r:id="rId19"/>
    <p:sldId id="532" r:id="rId20"/>
    <p:sldId id="533" r:id="rId21"/>
    <p:sldId id="51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76"/>
    <p:restoredTop sz="94310"/>
  </p:normalViewPr>
  <p:slideViewPr>
    <p:cSldViewPr snapToGrid="0" snapToObjects="1">
      <p:cViewPr varScale="1">
        <p:scale>
          <a:sx n="136" d="100"/>
          <a:sy n="136" d="100"/>
        </p:scale>
        <p:origin x="3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313F670-7F9A-774D-B73D-573401E44297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FB37-B0AE-9449-85EC-14F9C83B6084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124A-616E-6944-A21A-1839F5DBE7BB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A026-D48C-FD43-8676-CD625DD5D84B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111E-23A3-1440-99A3-C4C665908E3D}" type="datetime1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83B9-88EF-D74B-BA6D-6A3BF17C2B38}" type="datetime1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00AEF-B4EC-084A-8DB8-A225C7981CBB}" type="datetime1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60299-21CD-A94A-A7B0-44E787F8D42C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19CF-4E62-D246-BA61-7B528271315F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9669-A8A7-2D40-9D01-B35FC337AA30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6CF18-F41B-6B48-B3E5-599E9795C2C3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54854-6457-164F-A077-6B3035079B82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BFD7-E611-8C40-AC73-0C29FF63F0CD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B06-0493-2840-9F37-30C9412BBF17}" type="datetime1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C0FA-8C46-E84D-B6D7-B673F2CA0A0E}" type="datetime1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CDE1-97B4-BF46-B69C-B86855B18820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1D3A4-F9E5-FD49-AA87-B395F50451DC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F8978-FE14-CC4A-93A6-934EB06543C0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CS3120 (DMT2)</a:t>
            </a:r>
            <a:br>
              <a:rPr lang="en-US" dirty="0"/>
            </a:br>
            <a:r>
              <a:rPr lang="en-US" dirty="0"/>
              <a:t>Daily Announcements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Discrete Mathematics and Theory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2 - Thursday, Aug. 27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9"/>
            <a:ext cx="9600522" cy="514985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Any questions about course policies from last time?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homework  is due one week from today (Thursday)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Remember you can get an extension by filling out form linked on HW page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Hopefully we get through enough material. Might be tight.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quiz is 9/22 (but we have some time before that arrives)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start module 0 which is a half review, half overview of what to expect in the course.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75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9291-25F8-18DA-FFB0-F2D78FAF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C245597-867F-85D8-54E8-C994C2B86CC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3 - Tuesday, Sep. 1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ADA2C73-9E49-295C-F482-FE94D3E2E9E2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9"/>
            <a:ext cx="9600522" cy="514985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Welcome to September, hopefully temp cools down soon?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homework  is due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THIS Thursday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Remember you can get an extension by filling out form linked on HW page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Hopefully we get through enough material. Might be tight.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CBTF Practice Quiz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make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PrairieLearn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PrairieTest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account NOW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Practice Quiz is LIVE now. Make a reservation. You have until 9/11!!!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real quiz is 9/22 (but we have some time before that arrives)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try to finish module 0 which is a half review, half overview of what to expect in the course.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16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B1675-49DF-67C9-1FAF-5C909136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BFB7E90-8A54-F2EA-2394-86E45E5E40A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4 - Thursday, Sep. 3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211D196-1060-AFCA-137B-4611930C381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9"/>
            <a:ext cx="9600522" cy="514985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Welcome to September, hopefully temp cools down soon?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homework  is due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Tonight!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Remember you can get an extension by filling out form linked on HW page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Remember that we want count(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on_time_submissions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num_students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&gt;= -.75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CBTF Practice Quiz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make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PrairieLearn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PrairieTest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account NOW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Practice Quiz is LIVE now. Make a reservation. You have until 9/11!!!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the subject of changing /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missing reservations…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real quiz is 9/22 (but we have some time before that arrives)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continue with module 1 on regular languages.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08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5B83-0D05-973D-10B8-618E40751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0A8CCF-6475-47C1-2674-1A77A783997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5 - Tuesday, Sep. 8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AD7214A-D852-5E38-8C7E-1CA40550B5C7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9"/>
            <a:ext cx="9600522" cy="514985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Weather is actually nice today! Hooray!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homework is past due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Unless you took extension in which case you have until tonight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currently being graded. We will be spot grading some Qs for correctness.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homework, but you can start working on module 1 written assignment!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CBTF Practice Quiz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make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PrairieLearn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PrairieTest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account NOW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Practice Quiz is LIVE now. Make a reservation. You have until 9/11!!!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added a CBTF FAQ, contains info about changing reservations (check webpage)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real quiz is 9/22 (but we have some time before that arrives)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continue with module 1 on regular languages.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451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F56D7-6C7F-69E1-753E-9EE25F64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65F6D1A-0C39-2701-2A7D-5A983C8D9AA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6 - Thursday, Sep. 10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BD10984-63D9-8622-4339-6AC9C6AE47D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9"/>
            <a:ext cx="9600522" cy="514985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0 homework is almost graded. Sit tight.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homework, but you can start working on module 1 written assignment!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CBTF Practice Quiz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have been invited to the Prairie Learn / Test classes now. Please go in and accept the invitation ASAP!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Practice Quiz extended through 9/15 if you want to do it still.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real quiz is 9/22 (week after next)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will release a practice quiz on Prairie Learn. It is for controls / procedure mostly, not really meant to be content rich. Will be released early next week.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Sign ups for the first real quiz in CBTF should start next week as well.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continue with module 1 on regular languages.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83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F0E4-C58F-C5FB-CF85-889969DC2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20399C6-7F38-7C99-A332-AB14ABCE2E5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7 - Tuesday, Sep. 15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51177BB-7848-6E8A-D293-654E3D3D78A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8"/>
            <a:ext cx="9600522" cy="5475367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0 homework has been returned! Let Thomas know if you have any questions or concerns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Written Assignment for Module 1 is due on Thursday!!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Study for the first quiz!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1 Practice Quiz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have been invited to the Prairie Learn / Test. Please go in and accept the invitation ASAP!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Prairie Learn now has a practice quiz that you can take to get used to the mechanics of the questions.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real quiz is NEXT week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Reservations are open NOW on Prairie Test. Please login and make your reservation ASAP!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Overview of the questions is on the next slide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continue with module 1 on regular languages.</a:t>
            </a:r>
          </a:p>
        </p:txBody>
      </p:sp>
    </p:spTree>
    <p:extLst>
      <p:ext uri="{BB962C8B-B14F-4D97-AF65-F5344CB8AC3E}">
        <p14:creationId xmlns:p14="http://schemas.microsoft.com/office/powerpoint/2010/main" val="216640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83385-6C8F-46CD-2B07-00E8119F8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2A1F65C-6252-AE60-522B-8F061101A2E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Quiz 1 – Question Summary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417B98D-521A-B9E3-4522-F6B1F5050BA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664842" y="1311217"/>
            <a:ext cx="8859140" cy="5202315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Q1: True / False Questions (10 of them)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Span the entire module, may reference module 0 material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Q2-3: Draw a DFA from description (2 of these)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 language description, draw the DFA for that language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Q4-5: Write out regular expression from DFA (2 of these)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an image of a DFA, write the equivalent regular expression for it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study this concept TODAY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Q6: Pumping Lemma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Prove a language is not regular by using the pumping lemma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study this concept on THURSDAY</a:t>
            </a:r>
          </a:p>
        </p:txBody>
      </p:sp>
    </p:spTree>
    <p:extLst>
      <p:ext uri="{BB962C8B-B14F-4D97-AF65-F5344CB8AC3E}">
        <p14:creationId xmlns:p14="http://schemas.microsoft.com/office/powerpoint/2010/main" val="219036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38D9-B8D7-F507-D47B-1AF6B185D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93D2CD9-D310-A2CA-CA72-21A0F92B43C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8 - Thursday, Sep. 17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6CF8E07-0366-E560-1D68-CEDF596389F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8"/>
            <a:ext cx="9600522" cy="5475367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Written Assignment for Module 1 is due TONIGHT!!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Study for the first quiz!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1 Practice Quiz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have been invited to the Prairie Learn / Test. Please accept the invitation ASAP!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Prairie Learn now has a practice quiz you can take to get used to the mechanics of the questions.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real quiz is NEXT week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Reservations are open NOW on Prairie Test. Please login and make your reservation!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Overview of the questions is on the next slide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finish module 1 on regular languages.</a:t>
            </a:r>
          </a:p>
        </p:txBody>
      </p:sp>
    </p:spTree>
    <p:extLst>
      <p:ext uri="{BB962C8B-B14F-4D97-AF65-F5344CB8AC3E}">
        <p14:creationId xmlns:p14="http://schemas.microsoft.com/office/powerpoint/2010/main" val="3814814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61D6-9202-84D1-E2E7-BEA1121F7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28F14D2-1243-1FB6-5A32-4EE1964E579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Quiz 1 – Question Summary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B7CA8AC-9611-9E9D-5F1E-A8227E9644F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664842" y="1311217"/>
            <a:ext cx="8859140" cy="5202315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Q1: True / False Questions (10 of them)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Span the entire module, may reference module 0 material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Q2-3: Draw a DFA from description (2 of these)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 language description, draw the DFA for that language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Q4-5: Write out regular expression from DFA (2 of these)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an image of a DFA, write the equivalent regular expression for it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study this concept TODAY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Q6: Pumping Lemma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Prove a language is not regular by using the pumping lemma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study this concept on THURSDAY</a:t>
            </a:r>
          </a:p>
        </p:txBody>
      </p:sp>
    </p:spTree>
    <p:extLst>
      <p:ext uri="{BB962C8B-B14F-4D97-AF65-F5344CB8AC3E}">
        <p14:creationId xmlns:p14="http://schemas.microsoft.com/office/powerpoint/2010/main" val="223095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C366-68C6-B99E-A0D0-678FDE63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1217C3C-6FB3-06C0-0FD1-3530A32B8CC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9 - Tuesday, Sep. 22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B64CE9E-5521-80ED-A7CE-CF16BF5644C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8"/>
            <a:ext cx="9600522" cy="5475367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Quiz 1 is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Mon,Tue,Wed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 CBTF (good luck!)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Mod. 1 Programming Assignment is due this Thursday!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1 Quiz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Already completed it? How did it go? Any logistics issues or software bugs?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Have not already taken it? Good luck! You got this!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Everybody should have a reservation by now. If you don’t then you need to do that ASAP!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Mod. 1 homework is being graded right now.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Looks like we generally won’t be able to get that back to you in time for quizzes due to the quick turnaround time.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your responsibility to check your answers with others, use AI if necessary, or come to OH to talk to course staff to ensure you understand the concepts.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OH Check-Ins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have started working on the schedule for this. Stay tuned but be ready for this to begin very soon!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begin Module 2 – Context-Free Grammars.</a:t>
            </a:r>
          </a:p>
        </p:txBody>
      </p:sp>
    </p:spTree>
    <p:extLst>
      <p:ext uri="{BB962C8B-B14F-4D97-AF65-F5344CB8AC3E}">
        <p14:creationId xmlns:p14="http://schemas.microsoft.com/office/powerpoint/2010/main" val="714086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345D5-A940-D9D4-B5C4-5763246CE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768AEF2-414F-377F-6BA6-07B3ACC80F4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10 - Thursday, Sep. 24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EF9F8FD-27B6-A362-EADF-4FC308C3CDC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8"/>
            <a:ext cx="9600522" cy="5475367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Quiz 1 is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Mon,Tue,Wed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 CBTF (good luck!)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Mod. 1 Programming Assignment is due TONIGHT!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1 Quiz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done! How did it go?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need to grade one question manually. Grades will be returned next Thursday.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to brainstorm a regrades process which I will notify you about eventually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may have seen signups open for a makeup tomorrow. That is for students with prior permission only!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Mod. 1 homework is being graded right now.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Should be able to get that back to you shortly…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OH Check-Ins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have started working on the schedule for this. Stay tuned but be ready for this to begin very soon!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continue with Module 2 – Context-Free Grammars.</a:t>
            </a:r>
          </a:p>
        </p:txBody>
      </p:sp>
    </p:spTree>
    <p:extLst>
      <p:ext uri="{BB962C8B-B14F-4D97-AF65-F5344CB8AC3E}">
        <p14:creationId xmlns:p14="http://schemas.microsoft.com/office/powerpoint/2010/main" val="2034906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7E86E-46F1-D49E-DD52-52080C80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59EEE50-39CE-F54C-CEF6-D1A30575F7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11 - Tuesday, Sep. 28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212EBB3-5733-042E-DCB3-686852125871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8"/>
            <a:ext cx="9600522" cy="5475367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 2 written assignment is due on Thursday!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Fall break is next week (woohoo!)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1 Quiz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Being graded right now. Will release on Thursday.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I’m making an adjustment to the DFA question grades due to the “delete” issue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Both of your DFA scores will be set to the max of your DFA scores.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Mod. 1 homework is being graded right now.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Should be able to get that back to you shortly…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Quiz 2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in two weeks! You will start signing up for your reservations for this NEXT week.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OH Check-Ins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shaping up but I won’t have more concrete information until next week!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continue with Module 2 – Context-Free Grammars.</a:t>
            </a:r>
          </a:p>
        </p:txBody>
      </p:sp>
    </p:spTree>
    <p:extLst>
      <p:ext uri="{BB962C8B-B14F-4D97-AF65-F5344CB8AC3E}">
        <p14:creationId xmlns:p14="http://schemas.microsoft.com/office/powerpoint/2010/main" val="3257908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03C0C-304D-B99E-1C1F-EC74554D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802D250-089E-6EED-6DCD-A9305CA473F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12 - Thursday, Oct. 1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2E55A73-4B71-D946-0490-88B2C052B65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1098548"/>
            <a:ext cx="9600522" cy="5475367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October! Best month of the year! Woo!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 2 written assignment is due TONIGHT!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Fall break is next week (woohoo!)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Quiz module 1 is graded! You will get it back automatically at noon today. Questions available until next Tue.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1 homework is graded! Regrades open if you need it.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0 homework has been graded, but regrades are opened up as well if you need it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1 Quiz Details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Remember that your DFA scores should be equal. If not let Gustavo know.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was a 78% (so pretty good. Not bad, not amazing…nothing to worry about I think). Remember you have a retake during final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Quiz 2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Reservations are available now. Please sign up 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PrairieTest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ASAP!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will be practice test again so you can become familiar with question format (not for question content…just format)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Question summary is on the next slide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OH Check-Ins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shaping up but I won’t have more concrete information until next week!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will finish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2 – Context-Free Grammars.</a:t>
            </a:r>
          </a:p>
        </p:txBody>
      </p:sp>
    </p:spTree>
    <p:extLst>
      <p:ext uri="{BB962C8B-B14F-4D97-AF65-F5344CB8AC3E}">
        <p14:creationId xmlns:p14="http://schemas.microsoft.com/office/powerpoint/2010/main" val="1393696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F98F-5D4C-C155-02CF-379A3F22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BCC9806-9A4D-06A7-D9B6-6564A6C3C25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Quiz 2 – Question Summary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6968B68-3646-056B-2418-C9C325B57086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664842" y="1311217"/>
            <a:ext cx="8859140" cy="5202315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Q1: True / False Questions (10 of them)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Span the entire module, may reference module 0 material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Q2-3: Grammar Derivation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 grammar and string to derive, show the full derivation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Q4-5: Grammar Creation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 language, construct a context-free grammar for it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Q6: PDA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 language, draw a working PDA for it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Q7: Closure Question (T/F style)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set X and Y and operation O. Does (X O Y) result in set Z</a:t>
            </a:r>
          </a:p>
        </p:txBody>
      </p:sp>
    </p:spTree>
    <p:extLst>
      <p:ext uri="{BB962C8B-B14F-4D97-AF65-F5344CB8AC3E}">
        <p14:creationId xmlns:p14="http://schemas.microsoft.com/office/powerpoint/2010/main" val="3631093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154A-AF40-1B7F-5FF2-FD761E05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B811BF6-01C9-2DEA-B252-3B0D0A562D4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13 - Thursday, Oct. 7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57FAE94-CA45-881D-F502-2BB27E98AC87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904876"/>
            <a:ext cx="9600522" cy="595312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October! Best month of the year! Woo!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Nothing due. Study for your quiz!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2 homework is being graded right now.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Extensions given through today due to Fall Break, so many will come in tonight too.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1 Quiz Regrades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Contact Gustavo (or visit his OH) if you want something looked at on your quiz. You can come to my OH too but please do not email me.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Quiz 2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Reservations are available now. Please sign up 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PrairieTest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ASAP if you haven’t already!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 practice test live now so you can become familiar with question format (not for question content…just format)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Question summary is on the next slide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OH Check-Ins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going to start NEXT week. If you are in the first group you will receive an email to sign up today.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…and every week moving forward.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begin Module 3 – Turing Machines.</a:t>
            </a:r>
          </a:p>
        </p:txBody>
      </p:sp>
    </p:spTree>
    <p:extLst>
      <p:ext uri="{BB962C8B-B14F-4D97-AF65-F5344CB8AC3E}">
        <p14:creationId xmlns:p14="http://schemas.microsoft.com/office/powerpoint/2010/main" val="4271825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C10B-929E-07F4-E925-2FB913C5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3F996A0-D807-66FC-065A-2E1FAE17996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Quiz 2 – Question Summary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CFF7C8A-7558-7C4A-E331-036DAB13627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664842" y="1311217"/>
            <a:ext cx="8859140" cy="520231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Q1: True / False Questions (10 of them)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Span the entire module, may reference module 0 material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Q2-3: Grammar Derivation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 grammar and string to derive, show the full derivation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Q4-5: Grammar Creation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 language, construct a context-free grammar for it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Q6: PDA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 language, draw a working PDA for it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 there are new delete options (delete key, escape, right click)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Q7: Closure Question (T/F style)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set X and Y and operation O. Does (X O Y) result in set Z</a:t>
            </a:r>
          </a:p>
        </p:txBody>
      </p:sp>
    </p:spTree>
    <p:extLst>
      <p:ext uri="{BB962C8B-B14F-4D97-AF65-F5344CB8AC3E}">
        <p14:creationId xmlns:p14="http://schemas.microsoft.com/office/powerpoint/2010/main" val="2002638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6FAB-5D2E-4D8E-B411-7E285EE6C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5C926FF-CDDE-AC42-17E7-D298616E844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14 - Tuesday, Oct. 13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0BFC038-0D0C-4D31-F0FC-8BE9D80053DF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904876"/>
            <a:ext cx="9600522" cy="595312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October! Best month of the year! Woo!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your quiz! Good luck!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2 homework is being graded right now.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1 Quiz Regrades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Contact Gustavo (or visit his OH) if you want something looked at on your quiz. You can come to my OH too but please do not email me.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Quiz 2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…is happening this week. Some have already taken it but most will today and tomorrow.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 practice test live now so you can become familiar with question format (not for question content…just format)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Question summary is on previous slide if you still need it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OH Check-Ins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going to start THIS week. Did everybody receive the information about this? Any questions?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need to change weeks for a legitimate reason, email Elina (our OH head TA)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change from what I told you: You will NOT be allowed to glance at your submission. Sorry.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continue Module 3 – Turing Machines.</a:t>
            </a:r>
          </a:p>
        </p:txBody>
      </p:sp>
    </p:spTree>
    <p:extLst>
      <p:ext uri="{BB962C8B-B14F-4D97-AF65-F5344CB8AC3E}">
        <p14:creationId xmlns:p14="http://schemas.microsoft.com/office/powerpoint/2010/main" val="3939114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3724-0C9F-9E3E-9AB4-BDB001948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D58DADC-48F3-23A8-6519-646245E548E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15 - Thursday, Oct. 15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E23B269-3FD5-28F1-6537-E9AA7A5DC1A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904876"/>
            <a:ext cx="9600522" cy="5953124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October! Best month of the year! Woo!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(took) your quiz! How did it go?!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Next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Nothing! No quiz or assignments. Enjoy a little break (but keep coming to lecture!).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are able to begin your assignment for the following week, so why not get ahead of it!!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2 homework has been returned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Quiz 2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…is happening this week. Most of you have already taken it. Any issues?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OH Check-Ins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Have started THIS week. Any issues so far?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need to change weeks for a legitimate reason, email Elina (our OH head TA)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change from what I told you: You will NOT be allowed to glance at your submission. Sorry.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continue Module 3 – Turing Machines.</a:t>
            </a:r>
          </a:p>
        </p:txBody>
      </p:sp>
    </p:spTree>
    <p:extLst>
      <p:ext uri="{BB962C8B-B14F-4D97-AF65-F5344CB8AC3E}">
        <p14:creationId xmlns:p14="http://schemas.microsoft.com/office/powerpoint/2010/main" val="233690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99F73-633F-DEE4-EAE3-10527E86A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0126199-B56C-0B66-BBEE-CAE6E886E5D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Lecture 16 - Tuesday, Oct. 20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D6B7AFA-4355-DFE5-C67E-692D97E6816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4151" y="904876"/>
            <a:ext cx="9600522" cy="5749924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Please remember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 laptops / phones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attendance policy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October! Best month of the year! Woo!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Nothing due! I **might** send you some Turing Machine practice for the upcoming quiz 3 though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can get started on your module 3 written assignment if you want.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Next week: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 3 written assignment is due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Quiz is being graded right now.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OH Check-Ins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Have started. This is week 2. Any issues so far?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need to change weeks for a legitimate reason, email Elina (our OH head TA)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change from what I told you: You will NOT be allowed to glance at your submission. Sorry.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slides are linked on the course webpage “slides” page.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Today we will continue Module 3 – Turing Machines.</a:t>
            </a:r>
          </a:p>
        </p:txBody>
      </p:sp>
    </p:spTree>
    <p:extLst>
      <p:ext uri="{BB962C8B-B14F-4D97-AF65-F5344CB8AC3E}">
        <p14:creationId xmlns:p14="http://schemas.microsoft.com/office/powerpoint/2010/main" val="3276402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4084"/>
            <a:ext cx="9905998" cy="620791"/>
          </a:xfrm>
        </p:spPr>
        <p:txBody>
          <a:bodyPr/>
          <a:lstStyle/>
          <a:p>
            <a:pPr algn="ctr"/>
            <a:r>
              <a:rPr lang="en-US" dirty="0"/>
              <a:t>Status of Attendance Grade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129082" y="1040465"/>
            <a:ext cx="1995777" cy="7330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9:30 </a:t>
            </a:r>
            <a:r>
              <a:rPr lang="en-US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F2E0C1-FE2C-6A4C-AC9C-AF830C636549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200647" y="2779149"/>
            <a:ext cx="4214192" cy="68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HW On-Time Submissions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5BF833-0DB4-B04F-B026-932C0FF8E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164392"/>
              </p:ext>
            </p:extLst>
          </p:nvPr>
        </p:nvGraphicFramePr>
        <p:xfrm>
          <a:off x="3053295" y="965059"/>
          <a:ext cx="329184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358">
                  <a:extLst>
                    <a:ext uri="{9D8B030D-6E8A-4147-A177-3AD203B41FA5}">
                      <a16:colId xmlns:a16="http://schemas.microsoft.com/office/drawing/2014/main" val="659906099"/>
                    </a:ext>
                  </a:extLst>
                </a:gridCol>
                <a:gridCol w="787180">
                  <a:extLst>
                    <a:ext uri="{9D8B030D-6E8A-4147-A177-3AD203B41FA5}">
                      <a16:colId xmlns:a16="http://schemas.microsoft.com/office/drawing/2014/main" val="2842208557"/>
                    </a:ext>
                  </a:extLst>
                </a:gridCol>
                <a:gridCol w="930305">
                  <a:extLst>
                    <a:ext uri="{9D8B030D-6E8A-4147-A177-3AD203B41FA5}">
                      <a16:colId xmlns:a16="http://schemas.microsoft.com/office/drawing/2014/main" val="2881465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Above 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/>
                        <a:t>93.3%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585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EE8E84-72F1-424D-90EC-32A0B6B6C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943963"/>
              </p:ext>
            </p:extLst>
          </p:nvPr>
        </p:nvGraphicFramePr>
        <p:xfrm>
          <a:off x="2548834" y="3478771"/>
          <a:ext cx="725512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461">
                  <a:extLst>
                    <a:ext uri="{9D8B030D-6E8A-4147-A177-3AD203B41FA5}">
                      <a16:colId xmlns:a16="http://schemas.microsoft.com/office/drawing/2014/main" val="3153816687"/>
                    </a:ext>
                  </a:extLst>
                </a:gridCol>
                <a:gridCol w="1582310">
                  <a:extLst>
                    <a:ext uri="{9D8B030D-6E8A-4147-A177-3AD203B41FA5}">
                      <a16:colId xmlns:a16="http://schemas.microsoft.com/office/drawing/2014/main" val="218493645"/>
                    </a:ext>
                  </a:extLst>
                </a:gridCol>
                <a:gridCol w="1661822">
                  <a:extLst>
                    <a:ext uri="{9D8B030D-6E8A-4147-A177-3AD203B41FA5}">
                      <a16:colId xmlns:a16="http://schemas.microsoft.com/office/drawing/2014/main" val="356281106"/>
                    </a:ext>
                  </a:extLst>
                </a:gridCol>
                <a:gridCol w="1709531">
                  <a:extLst>
                    <a:ext uri="{9D8B030D-6E8A-4147-A177-3AD203B41FA5}">
                      <a16:colId xmlns:a16="http://schemas.microsoft.com/office/drawing/2014/main" val="2034024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HW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On-Time Subs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Subs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568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 0 Written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/>
                        <a:t>70.65%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071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 1 Written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/>
                        <a:t>40.00%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653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 1: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/>
                        <a:t>49.78%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707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 2 Written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/>
                        <a:t>28.87%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444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 3 Written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/>
                        <a:t>N/A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23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 4 Written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06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TOTAL: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/>
                        <a:t>47.63%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459917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B978E73F-4A42-474F-AD3F-6BBF1391C7E2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914097" y="1078065"/>
            <a:ext cx="1251889" cy="733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Wordle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D59FFC-9847-3D4A-A64C-B398DB590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766422"/>
              </p:ext>
            </p:extLst>
          </p:nvPr>
        </p:nvGraphicFramePr>
        <p:xfrm>
          <a:off x="8062617" y="1002659"/>
          <a:ext cx="275115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62">
                  <a:extLst>
                    <a:ext uri="{9D8B030D-6E8A-4147-A177-3AD203B41FA5}">
                      <a16:colId xmlns:a16="http://schemas.microsoft.com/office/drawing/2014/main" val="659906099"/>
                    </a:ext>
                  </a:extLst>
                </a:gridCol>
                <a:gridCol w="811033">
                  <a:extLst>
                    <a:ext uri="{9D8B030D-6E8A-4147-A177-3AD203B41FA5}">
                      <a16:colId xmlns:a16="http://schemas.microsoft.com/office/drawing/2014/main" val="2842208557"/>
                    </a:ext>
                  </a:extLst>
                </a:gridCol>
                <a:gridCol w="954156">
                  <a:extLst>
                    <a:ext uri="{9D8B030D-6E8A-4147-A177-3AD203B41FA5}">
                      <a16:colId xmlns:a16="http://schemas.microsoft.com/office/drawing/2014/main" val="2881465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58593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261EF31-6054-E2A5-1B38-CE7F8FAA8C6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1129082" y="1979295"/>
            <a:ext cx="1995777" cy="733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i="1" u="sng" dirty="0">
                <a:latin typeface="Arial" panose="020B0604020202020204" pitchFamily="34" charset="0"/>
                <a:cs typeface="Arial" panose="020B0604020202020204" pitchFamily="34" charset="0"/>
              </a:rPr>
              <a:t>11:00 </a:t>
            </a:r>
            <a:r>
              <a:rPr lang="en-US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053670-A7F1-B4AB-DDE6-53F76EEC6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533954"/>
              </p:ext>
            </p:extLst>
          </p:nvPr>
        </p:nvGraphicFramePr>
        <p:xfrm>
          <a:off x="3053295" y="1903889"/>
          <a:ext cx="329184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358">
                  <a:extLst>
                    <a:ext uri="{9D8B030D-6E8A-4147-A177-3AD203B41FA5}">
                      <a16:colId xmlns:a16="http://schemas.microsoft.com/office/drawing/2014/main" val="659906099"/>
                    </a:ext>
                  </a:extLst>
                </a:gridCol>
                <a:gridCol w="787180">
                  <a:extLst>
                    <a:ext uri="{9D8B030D-6E8A-4147-A177-3AD203B41FA5}">
                      <a16:colId xmlns:a16="http://schemas.microsoft.com/office/drawing/2014/main" val="2842208557"/>
                    </a:ext>
                  </a:extLst>
                </a:gridCol>
                <a:gridCol w="930305">
                  <a:extLst>
                    <a:ext uri="{9D8B030D-6E8A-4147-A177-3AD203B41FA5}">
                      <a16:colId xmlns:a16="http://schemas.microsoft.com/office/drawing/2014/main" val="2881465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Above 50 %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585930"/>
                  </a:ext>
                </a:extLst>
              </a:tr>
            </a:tbl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43CE6A2D-8C72-768E-6CFF-93DD583C6C20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6787301" y="1994037"/>
            <a:ext cx="1436816" cy="733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Connections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CEB34F-A4E3-4330-CEB1-A4F0D4DE6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608766"/>
              </p:ext>
            </p:extLst>
          </p:nvPr>
        </p:nvGraphicFramePr>
        <p:xfrm>
          <a:off x="8054758" y="1918631"/>
          <a:ext cx="275115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62">
                  <a:extLst>
                    <a:ext uri="{9D8B030D-6E8A-4147-A177-3AD203B41FA5}">
                      <a16:colId xmlns:a16="http://schemas.microsoft.com/office/drawing/2014/main" val="659906099"/>
                    </a:ext>
                  </a:extLst>
                </a:gridCol>
                <a:gridCol w="811033">
                  <a:extLst>
                    <a:ext uri="{9D8B030D-6E8A-4147-A177-3AD203B41FA5}">
                      <a16:colId xmlns:a16="http://schemas.microsoft.com/office/drawing/2014/main" val="2842208557"/>
                    </a:ext>
                  </a:extLst>
                </a:gridCol>
                <a:gridCol w="954156">
                  <a:extLst>
                    <a:ext uri="{9D8B030D-6E8A-4147-A177-3AD203B41FA5}">
                      <a16:colId xmlns:a16="http://schemas.microsoft.com/office/drawing/2014/main" val="2881465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u="none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58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7163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26682</TotalTime>
  <Words>3079</Words>
  <Application>Microsoft Macintosh PowerPoint</Application>
  <PresentationFormat>Widescreen</PresentationFormat>
  <Paragraphs>341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Tw Cen MT</vt:lpstr>
      <vt:lpstr>Circuit</vt:lpstr>
      <vt:lpstr>CS3120 (DMT2) Daily Announcements</vt:lpstr>
      <vt:lpstr>Lecture 2 - Thursday, Aug. 27</vt:lpstr>
      <vt:lpstr>Lecture 3 - Tuesday, Sep. 1</vt:lpstr>
      <vt:lpstr>Lecture 4 - Thursday, Sep. 3</vt:lpstr>
      <vt:lpstr>Lecture 5 - Tuesday, Sep. 8</vt:lpstr>
      <vt:lpstr>Lecture 6 - Thursday, Sep. 10</vt:lpstr>
      <vt:lpstr>Lecture 7 - Tuesday, Sep. 15</vt:lpstr>
      <vt:lpstr>Quiz 1 – Question Summary</vt:lpstr>
      <vt:lpstr>Lecture 8 - Thursday, Sep. 17</vt:lpstr>
      <vt:lpstr>Quiz 1 – Question Summary</vt:lpstr>
      <vt:lpstr>Lecture 9 - Tuesday, Sep. 22</vt:lpstr>
      <vt:lpstr>Lecture 10 - Thursday, Sep. 24</vt:lpstr>
      <vt:lpstr>Lecture 11 - Tuesday, Sep. 28</vt:lpstr>
      <vt:lpstr>Lecture 12 - Thursday, Oct. 1</vt:lpstr>
      <vt:lpstr>Quiz 2 – Question Summary</vt:lpstr>
      <vt:lpstr>Lecture 13 - Thursday, Oct. 7</vt:lpstr>
      <vt:lpstr>Quiz 2 – Question Summary</vt:lpstr>
      <vt:lpstr>Lecture 14 - Tuesday, Oct. 13</vt:lpstr>
      <vt:lpstr>Lecture 15 - Thursday, Oct. 15</vt:lpstr>
      <vt:lpstr>Lecture 16 - Tuesday, Oct. 20</vt:lpstr>
      <vt:lpstr>Status of Attendance Grade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382</cp:revision>
  <dcterms:created xsi:type="dcterms:W3CDTF">2023-02-24T14:15:53Z</dcterms:created>
  <dcterms:modified xsi:type="dcterms:W3CDTF">2026-10-20T13:11:35Z</dcterms:modified>
</cp:coreProperties>
</file>