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4006" r:id="rId1"/>
  </p:sldMasterIdLst>
  <p:notesMasterIdLst>
    <p:notesMasterId r:id="rId7"/>
  </p:notesMasterIdLst>
  <p:sldIdLst>
    <p:sldId id="256" r:id="rId2"/>
    <p:sldId id="505" r:id="rId3"/>
    <p:sldId id="516" r:id="rId4"/>
    <p:sldId id="517" r:id="rId5"/>
    <p:sldId id="515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351"/>
    <p:restoredTop sz="94249"/>
  </p:normalViewPr>
  <p:slideViewPr>
    <p:cSldViewPr snapToGrid="0" snapToObjects="1">
      <p:cViewPr varScale="1">
        <p:scale>
          <a:sx n="136" d="100"/>
          <a:sy n="136" d="100"/>
        </p:scale>
        <p:origin x="296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5B45307-6ED4-B142-BD64-10F739779302}" type="datetimeFigureOut">
              <a:rPr lang="en-US" smtClean="0"/>
              <a:t>9/3/26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1BDE956-AECE-4A49-8BC2-51A8C013B7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39781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BDE956-AECE-4A49-8BC2-51A8C013B72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94577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4313F670-7F9A-774D-B73D-573401E44297}" type="datetime1">
              <a:rPr lang="en-US" smtClean="0"/>
              <a:t>9/3/26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33446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0DFB37-B0AE-9449-85EC-14F9C83B6084}" type="datetime1">
              <a:rPr lang="en-US" smtClean="0"/>
              <a:t>9/3/26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54007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39124A-616E-6944-A21A-1839F5DBE7BB}" type="datetime1">
              <a:rPr lang="en-US" smtClean="0"/>
              <a:t>9/3/26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2796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9A026-D48C-FD43-8676-CD625DD5D84B}" type="datetime1">
              <a:rPr lang="en-US" smtClean="0"/>
              <a:t>9/3/26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73075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35111E-23A3-1440-99A3-C4C665908E3D}" type="datetime1">
              <a:rPr lang="en-US" smtClean="0"/>
              <a:t>9/3/26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572076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9983B9-88EF-D74B-BA6D-6A3BF17C2B38}" type="datetime1">
              <a:rPr lang="en-US" smtClean="0"/>
              <a:t>9/3/26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41163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A00AEF-B4EC-084A-8DB8-A225C7981CBB}" type="datetime1">
              <a:rPr lang="en-US" smtClean="0"/>
              <a:t>9/3/26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43014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860299-21CD-A94A-A7B0-44E787F8D42C}" type="datetime1">
              <a:rPr lang="en-US" smtClean="0"/>
              <a:t>9/3/26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550312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FD19CF-4E62-D246-BA61-7B528271315F}" type="datetime1">
              <a:rPr lang="en-US" smtClean="0"/>
              <a:t>9/3/26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47550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6F9669-A8A7-2D40-9D01-B35FC337AA30}" type="datetime1">
              <a:rPr lang="en-US" smtClean="0"/>
              <a:t>9/3/26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3797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76CF18-F41B-6B48-B3E5-599E9795C2C3}" type="datetime1">
              <a:rPr lang="en-US" smtClean="0"/>
              <a:t>9/3/26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118012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654854-6457-164F-A077-6B3035079B82}" type="datetime1">
              <a:rPr lang="en-US" smtClean="0"/>
              <a:t>9/3/26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51338760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3DBFD7-E611-8C40-AC73-0C29FF63F0CD}" type="datetime1">
              <a:rPr lang="en-US" smtClean="0"/>
              <a:t>9/3/26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169598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B63B06-0493-2840-9F37-30C9412BBF17}" type="datetime1">
              <a:rPr lang="en-US" smtClean="0"/>
              <a:t>9/3/26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096692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B5C0FA-8C46-E84D-B6D7-B673F2CA0A0E}" type="datetime1">
              <a:rPr lang="en-US" smtClean="0"/>
              <a:t>9/3/26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074458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B9CDE1-97B4-BF46-B69C-B86855B18820}" type="datetime1">
              <a:rPr lang="en-US" smtClean="0"/>
              <a:t>9/3/26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976783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51D3A4-F9E5-FD49-AA87-B395F50451DC}" type="datetime1">
              <a:rPr lang="en-US" smtClean="0"/>
              <a:t>9/3/26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0532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pFill/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pFill/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2FF8978-FE14-CC4A-93A6-934EB06543C0}" type="datetime1">
              <a:rPr lang="en-US" smtClean="0"/>
              <a:t>9/3/26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426018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4007" r:id="rId1"/>
    <p:sldLayoutId id="2147484008" r:id="rId2"/>
    <p:sldLayoutId id="2147484009" r:id="rId3"/>
    <p:sldLayoutId id="2147484010" r:id="rId4"/>
    <p:sldLayoutId id="2147484011" r:id="rId5"/>
    <p:sldLayoutId id="2147484012" r:id="rId6"/>
    <p:sldLayoutId id="2147484013" r:id="rId7"/>
    <p:sldLayoutId id="2147484014" r:id="rId8"/>
    <p:sldLayoutId id="2147484015" r:id="rId9"/>
    <p:sldLayoutId id="2147484016" r:id="rId10"/>
    <p:sldLayoutId id="2147484017" r:id="rId11"/>
    <p:sldLayoutId id="2147484018" r:id="rId12"/>
    <p:sldLayoutId id="2147484019" r:id="rId13"/>
    <p:sldLayoutId id="2147484020" r:id="rId14"/>
    <p:sldLayoutId id="2147484021" r:id="rId15"/>
    <p:sldLayoutId id="2147484022" r:id="rId16"/>
    <p:sldLayoutId id="2147484023" r:id="rId17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.xml"/><Relationship Id="rId1" Type="http://schemas.openxmlformats.org/officeDocument/2006/relationships/tags" Target="../tags/tag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4.xml"/><Relationship Id="rId1" Type="http://schemas.openxmlformats.org/officeDocument/2006/relationships/tags" Target="../tags/tag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6.xml"/><Relationship Id="rId1" Type="http://schemas.openxmlformats.org/officeDocument/2006/relationships/tags" Target="../tags/tag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tags" Target="../tags/tag9.xml"/><Relationship Id="rId7" Type="http://schemas.openxmlformats.org/officeDocument/2006/relationships/slideLayout" Target="../slideLayouts/slideLayout2.xml"/><Relationship Id="rId2" Type="http://schemas.openxmlformats.org/officeDocument/2006/relationships/tags" Target="../tags/tag8.xml"/><Relationship Id="rId1" Type="http://schemas.openxmlformats.org/officeDocument/2006/relationships/tags" Target="../tags/tag7.xml"/><Relationship Id="rId6" Type="http://schemas.openxmlformats.org/officeDocument/2006/relationships/tags" Target="../tags/tag12.xml"/><Relationship Id="rId5" Type="http://schemas.openxmlformats.org/officeDocument/2006/relationships/tags" Target="../tags/tag11.xml"/><Relationship Id="rId4" Type="http://schemas.openxmlformats.org/officeDocument/2006/relationships/tags" Target="../tags/tag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8F7A2C-CECB-EA45-9A8F-28914F6ACB9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lang="en-US" dirty="0"/>
              <a:t>CS3120 (DMT2)</a:t>
            </a:r>
            <a:br>
              <a:rPr lang="en-US" dirty="0"/>
            </a:br>
            <a:r>
              <a:rPr lang="en-US" dirty="0"/>
              <a:t>Daily Announcements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CC3BA16-EE93-B74E-A27C-2B68B596BB5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ctr"/>
            <a:r>
              <a:rPr lang="en-US" dirty="0"/>
              <a:t>Discrete Mathematics and Theory 2</a:t>
            </a:r>
            <a:br>
              <a:rPr lang="en-US" dirty="0"/>
            </a:br>
            <a:r>
              <a:rPr lang="en-US" dirty="0"/>
              <a:t>Mark Floryan</a:t>
            </a:r>
            <a:br>
              <a:rPr lang="en-US" dirty="0"/>
            </a:b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37305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2 - Thursday, Aug. 27</a:t>
            </a:r>
          </a:p>
        </p:txBody>
      </p:sp>
      <p:sp>
        <p:nvSpPr>
          <p:cNvPr id="6147" name="Rectangle 3"/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9"/>
            <a:ext cx="9600522" cy="5149850"/>
          </a:xfrm>
        </p:spPr>
        <p:txBody>
          <a:bodyPr>
            <a:norm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Any questions about course policies from last time?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no laptops / phones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attendance policy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homework  is due one week from today (Thursday)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Remember you can get an extension by filling out form linked on HW page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Hopefully we get through enough material. Might be tight.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quiz is 9/22 (but we have some time before that arrives)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These slides are linked on the course webpage “slides” page.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will start module 0 which is a half review, half overview of what to expect in the course.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317540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419291-25F8-18DA-FFB0-F2D78FAFA6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BC245597-867F-85D8-54E8-C994C2B86CC0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3 - Tuesday, Sep. 1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CADA2C73-9E49-295C-F482-FE94D3E2E9E2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9"/>
            <a:ext cx="9600522" cy="5149850"/>
          </a:xfrm>
        </p:spPr>
        <p:txBody>
          <a:bodyPr>
            <a:normAutofit fontScale="925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Welcome to September, hopefully temp cools down soon?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no laptops / phones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attendance policy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homework  is due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THIS Thursday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Remember you can get an extension by filling out form linked on HW page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Hopefully we get through enough material. Might be tight.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CBTF Practice Quiz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make a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PrairieLearn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PrairieTest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account NOW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Practice Quiz is LIVE now. Make a reservation. You have until 9/11!!!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real quiz is 9/22 (but we have some time before that arrives)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These slides are linked on the course webpage “slides” page.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will try to finish module 0 which is a half review, half overview of what to expect in the course.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931606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7B1675-49DF-67C9-1FAF-5C90913689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ABFB7E90-8A54-F2EA-2394-86E45E5E40AC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4 - Thursday, Sep. 3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7211D196-1060-AFCA-137B-4611930C381A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9"/>
            <a:ext cx="9600522" cy="5149850"/>
          </a:xfrm>
        </p:spPr>
        <p:txBody>
          <a:bodyPr>
            <a:normAutofit fontScale="92500" lnSpcReduction="1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Welcome to September, hopefully temp cools down soon?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no laptops / phones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attendance policy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homework  is due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Tonight!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Remember you can get an extension by filling out form linked on HW page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Remember that we want count(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on_time_submissions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)/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num_students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&gt;= -.75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CBTF Practice Quiz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make a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PrairieLearn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PrairieTest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account NOW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Practice Quiz is LIVE now. Make a reservation. You have until 9/11!!!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real quiz is 9/22 (but we have some time before that arrives)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These slides are linked on the course webpage “slides” page.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will continue with module 1 on regular languages.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931081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Status of Attendance Grade</a:t>
            </a:r>
          </a:p>
        </p:txBody>
      </p:sp>
      <p:sp>
        <p:nvSpPr>
          <p:cNvPr id="6147" name="Rectangle 3"/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129082" y="1040465"/>
            <a:ext cx="1995777" cy="733064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9:30 </a:t>
            </a:r>
            <a:r>
              <a:rPr lang="en-US" b="1" i="1" u="sng" dirty="0" err="1">
                <a:latin typeface="Arial" panose="020B0604020202020204" pitchFamily="34" charset="0"/>
                <a:cs typeface="Arial" panose="020B0604020202020204" pitchFamily="34" charset="0"/>
              </a:rPr>
              <a:t>Att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EDF2E0C1-FE2C-6A4C-AC9C-AF830C636549}"/>
              </a:ext>
            </a:extLst>
          </p:cNvPr>
          <p:cNvSpPr txBox="1">
            <a:spLocks noChangeArrowheads="1"/>
          </p:cNvSpPr>
          <p:nvPr>
            <p:custDataLst>
              <p:tags r:id="rId3"/>
            </p:custDataLst>
          </p:nvPr>
        </p:nvSpPr>
        <p:spPr>
          <a:xfrm>
            <a:off x="1200647" y="2779149"/>
            <a:ext cx="4214192" cy="6876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HW On-Time Submissions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C55BF833-0DB4-B04F-B026-932C0FF8EC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63026776"/>
              </p:ext>
            </p:extLst>
          </p:nvPr>
        </p:nvGraphicFramePr>
        <p:xfrm>
          <a:off x="3053295" y="965059"/>
          <a:ext cx="3291843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4358">
                  <a:extLst>
                    <a:ext uri="{9D8B030D-6E8A-4147-A177-3AD203B41FA5}">
                      <a16:colId xmlns:a16="http://schemas.microsoft.com/office/drawing/2014/main" val="659906099"/>
                    </a:ext>
                  </a:extLst>
                </a:gridCol>
                <a:gridCol w="787180">
                  <a:extLst>
                    <a:ext uri="{9D8B030D-6E8A-4147-A177-3AD203B41FA5}">
                      <a16:colId xmlns:a16="http://schemas.microsoft.com/office/drawing/2014/main" val="2842208557"/>
                    </a:ext>
                  </a:extLst>
                </a:gridCol>
                <a:gridCol w="930305">
                  <a:extLst>
                    <a:ext uri="{9D8B030D-6E8A-4147-A177-3AD203B41FA5}">
                      <a16:colId xmlns:a16="http://schemas.microsoft.com/office/drawing/2014/main" val="28814656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Above 50 %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3814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dirty="0"/>
                        <a:t>100%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7585930"/>
                  </a:ext>
                </a:extLst>
              </a:tr>
            </a:tbl>
          </a:graphicData>
        </a:graphic>
      </p:graphicFrame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0BEE8E84-72F1-424D-90EC-32A0B6B6C59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21337569"/>
              </p:ext>
            </p:extLst>
          </p:nvPr>
        </p:nvGraphicFramePr>
        <p:xfrm>
          <a:off x="2548834" y="3478771"/>
          <a:ext cx="7255124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01461">
                  <a:extLst>
                    <a:ext uri="{9D8B030D-6E8A-4147-A177-3AD203B41FA5}">
                      <a16:colId xmlns:a16="http://schemas.microsoft.com/office/drawing/2014/main" val="3153816687"/>
                    </a:ext>
                  </a:extLst>
                </a:gridCol>
                <a:gridCol w="1582310">
                  <a:extLst>
                    <a:ext uri="{9D8B030D-6E8A-4147-A177-3AD203B41FA5}">
                      <a16:colId xmlns:a16="http://schemas.microsoft.com/office/drawing/2014/main" val="218493645"/>
                    </a:ext>
                  </a:extLst>
                </a:gridCol>
                <a:gridCol w="1661822">
                  <a:extLst>
                    <a:ext uri="{9D8B030D-6E8A-4147-A177-3AD203B41FA5}">
                      <a16:colId xmlns:a16="http://schemas.microsoft.com/office/drawing/2014/main" val="356281106"/>
                    </a:ext>
                  </a:extLst>
                </a:gridCol>
                <a:gridCol w="1709531">
                  <a:extLst>
                    <a:ext uri="{9D8B030D-6E8A-4147-A177-3AD203B41FA5}">
                      <a16:colId xmlns:a16="http://schemas.microsoft.com/office/drawing/2014/main" val="203402472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HW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On-Time Subs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Total Subs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Percentage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115680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1 Written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/>
                        <a:t>N/A</a:t>
                      </a:r>
                      <a:endParaRPr lang="en-US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660713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2 Written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/>
                        <a:t>N/A</a:t>
                      </a:r>
                      <a:endParaRPr lang="en-US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8965386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2: Programming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/>
                        <a:t>N/A</a:t>
                      </a:r>
                      <a:endParaRPr lang="en-US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37075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3 Written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/>
                        <a:t>N/A</a:t>
                      </a:r>
                      <a:endParaRPr lang="en-US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604446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4 Written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/>
                        <a:t>N/A</a:t>
                      </a:r>
                      <a:endParaRPr lang="en-US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992390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US" b="1" dirty="0"/>
                        <a:t>TOTAL: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  <a:endParaRPr 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  <a:endParaRPr 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dirty="0"/>
                        <a:t>N/A</a:t>
                      </a:r>
                      <a:endParaRPr lang="en-U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96459917"/>
                  </a:ext>
                </a:extLst>
              </a:tr>
            </a:tbl>
          </a:graphicData>
        </a:graphic>
      </p:graphicFrame>
      <p:sp>
        <p:nvSpPr>
          <p:cNvPr id="8" name="Rectangle 3">
            <a:extLst>
              <a:ext uri="{FF2B5EF4-FFF2-40B4-BE49-F238E27FC236}">
                <a16:creationId xmlns:a16="http://schemas.microsoft.com/office/drawing/2014/main" id="{B978E73F-4A42-474F-AD3F-6BBF1391C7E2}"/>
              </a:ext>
            </a:extLst>
          </p:cNvPr>
          <p:cNvSpPr txBox="1">
            <a:spLocks noChangeArrowheads="1"/>
          </p:cNvSpPr>
          <p:nvPr>
            <p:custDataLst>
              <p:tags r:id="rId4"/>
            </p:custDataLst>
          </p:nvPr>
        </p:nvSpPr>
        <p:spPr>
          <a:xfrm>
            <a:off x="6914097" y="1078065"/>
            <a:ext cx="1251889" cy="733064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b="1" i="1" u="sng" dirty="0" err="1">
                <a:latin typeface="Arial" panose="020B0604020202020204" pitchFamily="34" charset="0"/>
                <a:cs typeface="Arial" panose="020B0604020202020204" pitchFamily="34" charset="0"/>
              </a:rPr>
              <a:t>Wordle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26D59FFC-9847-3D4A-A64C-B398DB590DB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64054325"/>
              </p:ext>
            </p:extLst>
          </p:nvPr>
        </p:nvGraphicFramePr>
        <p:xfrm>
          <a:off x="8062617" y="1002659"/>
          <a:ext cx="275115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85962">
                  <a:extLst>
                    <a:ext uri="{9D8B030D-6E8A-4147-A177-3AD203B41FA5}">
                      <a16:colId xmlns:a16="http://schemas.microsoft.com/office/drawing/2014/main" val="659906099"/>
                    </a:ext>
                  </a:extLst>
                </a:gridCol>
                <a:gridCol w="811033">
                  <a:extLst>
                    <a:ext uri="{9D8B030D-6E8A-4147-A177-3AD203B41FA5}">
                      <a16:colId xmlns:a16="http://schemas.microsoft.com/office/drawing/2014/main" val="2842208557"/>
                    </a:ext>
                  </a:extLst>
                </a:gridCol>
                <a:gridCol w="954156">
                  <a:extLst>
                    <a:ext uri="{9D8B030D-6E8A-4147-A177-3AD203B41FA5}">
                      <a16:colId xmlns:a16="http://schemas.microsoft.com/office/drawing/2014/main" val="28814656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Success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3814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dirty="0"/>
                        <a:t>100%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7585930"/>
                  </a:ext>
                </a:extLst>
              </a:tr>
            </a:tbl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F261EF31-6054-E2A5-1B38-CE7F8FAA8C64}"/>
              </a:ext>
            </a:extLst>
          </p:cNvPr>
          <p:cNvSpPr txBox="1">
            <a:spLocks noChangeArrowheads="1"/>
          </p:cNvSpPr>
          <p:nvPr>
            <p:custDataLst>
              <p:tags r:id="rId5"/>
            </p:custDataLst>
          </p:nvPr>
        </p:nvSpPr>
        <p:spPr>
          <a:xfrm>
            <a:off x="1129082" y="1979295"/>
            <a:ext cx="1995777" cy="73306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11:00 </a:t>
            </a:r>
            <a:r>
              <a:rPr lang="en-US" b="1" i="1" u="sng" dirty="0" err="1">
                <a:latin typeface="Arial" panose="020B0604020202020204" pitchFamily="34" charset="0"/>
                <a:cs typeface="Arial" panose="020B0604020202020204" pitchFamily="34" charset="0"/>
              </a:rPr>
              <a:t>Att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60053670-A7F1-B4AB-DDE6-53F76EEC686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68157879"/>
              </p:ext>
            </p:extLst>
          </p:nvPr>
        </p:nvGraphicFramePr>
        <p:xfrm>
          <a:off x="3053295" y="1903889"/>
          <a:ext cx="3291843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4358">
                  <a:extLst>
                    <a:ext uri="{9D8B030D-6E8A-4147-A177-3AD203B41FA5}">
                      <a16:colId xmlns:a16="http://schemas.microsoft.com/office/drawing/2014/main" val="659906099"/>
                    </a:ext>
                  </a:extLst>
                </a:gridCol>
                <a:gridCol w="787180">
                  <a:extLst>
                    <a:ext uri="{9D8B030D-6E8A-4147-A177-3AD203B41FA5}">
                      <a16:colId xmlns:a16="http://schemas.microsoft.com/office/drawing/2014/main" val="2842208557"/>
                    </a:ext>
                  </a:extLst>
                </a:gridCol>
                <a:gridCol w="930305">
                  <a:extLst>
                    <a:ext uri="{9D8B030D-6E8A-4147-A177-3AD203B41FA5}">
                      <a16:colId xmlns:a16="http://schemas.microsoft.com/office/drawing/2014/main" val="28814656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Above 50 %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3814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dirty="0"/>
                        <a:t>100%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7585930"/>
                  </a:ext>
                </a:extLst>
              </a:tr>
            </a:tbl>
          </a:graphicData>
        </a:graphic>
      </p:graphicFrame>
      <p:sp>
        <p:nvSpPr>
          <p:cNvPr id="7" name="Rectangle 3">
            <a:extLst>
              <a:ext uri="{FF2B5EF4-FFF2-40B4-BE49-F238E27FC236}">
                <a16:creationId xmlns:a16="http://schemas.microsoft.com/office/drawing/2014/main" id="{43CE6A2D-8C72-768E-6CFF-93DD583C6C20}"/>
              </a:ext>
            </a:extLst>
          </p:cNvPr>
          <p:cNvSpPr txBox="1">
            <a:spLocks noChangeArrowheads="1"/>
          </p:cNvSpPr>
          <p:nvPr>
            <p:custDataLst>
              <p:tags r:id="rId6"/>
            </p:custDataLst>
          </p:nvPr>
        </p:nvSpPr>
        <p:spPr>
          <a:xfrm>
            <a:off x="6906238" y="1994037"/>
            <a:ext cx="1251889" cy="733064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b="1" i="1" u="sng" dirty="0" err="1">
                <a:latin typeface="Arial" panose="020B0604020202020204" pitchFamily="34" charset="0"/>
                <a:cs typeface="Arial" panose="020B0604020202020204" pitchFamily="34" charset="0"/>
              </a:rPr>
              <a:t>Wordle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39CEB34F-A4E3-4330-CEB1-A4F0D4DE6DA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30120710"/>
              </p:ext>
            </p:extLst>
          </p:nvPr>
        </p:nvGraphicFramePr>
        <p:xfrm>
          <a:off x="8054758" y="1918631"/>
          <a:ext cx="275115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85962">
                  <a:extLst>
                    <a:ext uri="{9D8B030D-6E8A-4147-A177-3AD203B41FA5}">
                      <a16:colId xmlns:a16="http://schemas.microsoft.com/office/drawing/2014/main" val="659906099"/>
                    </a:ext>
                  </a:extLst>
                </a:gridCol>
                <a:gridCol w="811033">
                  <a:extLst>
                    <a:ext uri="{9D8B030D-6E8A-4147-A177-3AD203B41FA5}">
                      <a16:colId xmlns:a16="http://schemas.microsoft.com/office/drawing/2014/main" val="2842208557"/>
                    </a:ext>
                  </a:extLst>
                </a:gridCol>
                <a:gridCol w="954156">
                  <a:extLst>
                    <a:ext uri="{9D8B030D-6E8A-4147-A177-3AD203B41FA5}">
                      <a16:colId xmlns:a16="http://schemas.microsoft.com/office/drawing/2014/main" val="28814656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Success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3814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dirty="0"/>
                        <a:t>N/A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758593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48716362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">
  <a:themeElements>
    <a:clrScheme name="Circuit">
      <a:dk1>
        <a:sysClr val="windowText" lastClr="000000"/>
      </a:dk1>
      <a:lt1>
        <a:sysClr val="window" lastClr="FFFFFF"/>
      </a:lt1>
      <a:dk2>
        <a:srgbClr val="252C36"/>
      </a:dk2>
      <a:lt2>
        <a:srgbClr val="7C96A3"/>
      </a:lt2>
      <a:accent1>
        <a:srgbClr val="4FD093"/>
      </a:accent1>
      <a:accent2>
        <a:srgbClr val="54BCDF"/>
      </a:accent2>
      <a:accent3>
        <a:srgbClr val="A262D0"/>
      </a:accent3>
      <a:accent4>
        <a:srgbClr val="D7537B"/>
      </a:accent4>
      <a:accent5>
        <a:srgbClr val="E78045"/>
      </a:accent5>
      <a:accent6>
        <a:srgbClr val="84C350"/>
      </a:accent6>
      <a:hlink>
        <a:srgbClr val="22FFFF"/>
      </a:hlink>
      <a:folHlink>
        <a:srgbClr val="9BF3FD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4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4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48000"/>
                <a:hueMod val="106000"/>
                <a:satMod val="140000"/>
                <a:lumMod val="42000"/>
              </a:schemeClr>
              <a:schemeClr val="phClr">
                <a:tint val="98000"/>
                <a:hueMod val="92000"/>
                <a:satMod val="220000"/>
                <a:lumMod val="9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142578CA-DEC9-49C3-80AF-C113973CC9A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{78731ABC-CB82-E74D-A429-13D3326A7E5D}tf10001122</Template>
  <TotalTime>22439</TotalTime>
  <Words>501</Words>
  <Application>Microsoft Macintosh PowerPoint</Application>
  <PresentationFormat>Widescreen</PresentationFormat>
  <Paragraphs>94</Paragraphs>
  <Slides>5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Arial</vt:lpstr>
      <vt:lpstr>Calibri</vt:lpstr>
      <vt:lpstr>Tw Cen MT</vt:lpstr>
      <vt:lpstr>Circuit</vt:lpstr>
      <vt:lpstr>CS3120 (DMT2) Daily Announcements</vt:lpstr>
      <vt:lpstr>Lecture 2 - Thursday, Aug. 27</vt:lpstr>
      <vt:lpstr>Lecture 3 - Tuesday, Sep. 1</vt:lpstr>
      <vt:lpstr>Lecture 4 - Thursday, Sep. 3</vt:lpstr>
      <vt:lpstr>Status of Attendance Grade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Linear Programming</dc:title>
  <dc:creator>Mark Floryan</dc:creator>
  <cp:lastModifiedBy>Floryan, Mark Richard (mrf8t)</cp:lastModifiedBy>
  <cp:revision>351</cp:revision>
  <dcterms:created xsi:type="dcterms:W3CDTF">2023-02-24T14:15:53Z</dcterms:created>
  <dcterms:modified xsi:type="dcterms:W3CDTF">2026-09-03T12:47:11Z</dcterms:modified>
</cp:coreProperties>
</file>