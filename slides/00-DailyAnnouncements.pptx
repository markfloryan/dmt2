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4006" r:id="rId1"/>
  </p:sldMasterIdLst>
  <p:notesMasterIdLst>
    <p:notesMasterId r:id="rId18"/>
  </p:notesMasterIdLst>
  <p:sldIdLst>
    <p:sldId id="256" r:id="rId2"/>
    <p:sldId id="505" r:id="rId3"/>
    <p:sldId id="516" r:id="rId4"/>
    <p:sldId id="517" r:id="rId5"/>
    <p:sldId id="518" r:id="rId6"/>
    <p:sldId id="519" r:id="rId7"/>
    <p:sldId id="520" r:id="rId8"/>
    <p:sldId id="521" r:id="rId9"/>
    <p:sldId id="522" r:id="rId10"/>
    <p:sldId id="523" r:id="rId11"/>
    <p:sldId id="524" r:id="rId12"/>
    <p:sldId id="525" r:id="rId13"/>
    <p:sldId id="526" r:id="rId14"/>
    <p:sldId id="527" r:id="rId15"/>
    <p:sldId id="528" r:id="rId16"/>
    <p:sldId id="515" r:id="rId1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498"/>
    <p:restoredTop sz="94310"/>
  </p:normalViewPr>
  <p:slideViewPr>
    <p:cSldViewPr snapToGrid="0" snapToObjects="1">
      <p:cViewPr varScale="1">
        <p:scale>
          <a:sx n="136" d="100"/>
          <a:sy n="136" d="100"/>
        </p:scale>
        <p:origin x="896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5B45307-6ED4-B142-BD64-10F739779302}" type="datetimeFigureOut">
              <a:rPr lang="en-US" smtClean="0"/>
              <a:t>10/1/26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1BDE956-AECE-4A49-8BC2-51A8C013B7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397814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BDE956-AECE-4A49-8BC2-51A8C013B720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945770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/>
          <p:cNvGrpSpPr/>
          <p:nvPr/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sp>
          <p:nvSpPr>
            <p:cNvPr id="12" name="Rectangle 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3" name="Freeform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4" name="Freeform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5" name="Rectangle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6" name="Freeform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7" name="Freeform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8" name="Freeform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9" name="Freeform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0" name="Freeform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1" name="Freeform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2" name="Freeform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3" name="Freeform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4" name="Freeform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5" name="Freeform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6" name="Freeform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7" name="Freeform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8" name="Freeform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9" name="Freeform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0" name="Freeform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1" name="Freeform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2" name="Freeform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3" name="Freeform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4" name="Freeform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5" name="Freeform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6" name="Freeform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7" name="Freeform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8" name="Freeform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9" name="Freeform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0" name="Rectangle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41" name="Freeform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2" name="Freeform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3" name="Freeform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4" name="Freeform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5" name="Freeform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6" name="Freeform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7" name="Freeform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8" name="Freeform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9" name="Freeform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0" name="Freeform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1" name="Freeform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2" name="Rectangle 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53" name="Freeform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4" name="Freeform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5" name="Freeform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6" name="Freeform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7" name="Freeform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8" name="Freeform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9" name="Freeform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0" name="Freeform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1" name="Freeform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2" name="Freeform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3" name="Freeform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4" name="Freeform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5" name="Freeform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76424" y="1122363"/>
            <a:ext cx="8791575" cy="2387600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76424" y="3602038"/>
            <a:ext cx="8791575" cy="1655762"/>
          </a:xfrm>
        </p:spPr>
        <p:txBody>
          <a:bodyPr>
            <a:normAutofit/>
          </a:bodyPr>
          <a:lstStyle>
            <a:lvl1pPr marL="0" indent="0" algn="l">
              <a:buNone/>
              <a:defRPr sz="2000" cap="all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077511" y="5410201"/>
            <a:ext cx="2743200" cy="365125"/>
          </a:xfrm>
        </p:spPr>
        <p:txBody>
          <a:bodyPr/>
          <a:lstStyle/>
          <a:p>
            <a:fld id="{4313F670-7F9A-774D-B73D-573401E44297}" type="datetime1">
              <a:rPr lang="en-US" smtClean="0"/>
              <a:t>10/1/26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876424" y="5410201"/>
            <a:ext cx="5124886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96911" y="5410199"/>
            <a:ext cx="771089" cy="365125"/>
          </a:xfrm>
        </p:spPr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33446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0DFB37-B0AE-9449-85EC-14F9C83B6084}" type="datetime1">
              <a:rPr lang="en-US" smtClean="0"/>
              <a:t>10/1/26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54007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419226"/>
            <a:ext cx="9906000" cy="2852737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424362"/>
            <a:ext cx="9906000" cy="1374776"/>
          </a:xfrm>
        </p:spPr>
        <p:txBody>
          <a:bodyPr>
            <a:normAutofit/>
          </a:bodyPr>
          <a:lstStyle>
            <a:lvl1pPr marL="0" indent="0">
              <a:buNone/>
              <a:defRPr sz="180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39124A-616E-6944-A21A-1839F5DBE7BB}" type="datetime1">
              <a:rPr lang="en-US" smtClean="0"/>
              <a:t>10/1/26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2796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0" y="2249486"/>
            <a:ext cx="4878389" cy="3541714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249486"/>
            <a:ext cx="4875211" cy="3541714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9A026-D48C-FD43-8676-CD625DD5D84B}" type="datetime1">
              <a:rPr lang="en-US" smtClean="0"/>
              <a:t>10/1/26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730751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19126"/>
            <a:ext cx="9906000" cy="147796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0019" y="2249486"/>
            <a:ext cx="4649783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0" y="3073397"/>
            <a:ext cx="4878391" cy="2717801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8" y="2249485"/>
            <a:ext cx="4646602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073397"/>
            <a:ext cx="4875210" cy="2717801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35111E-23A3-1440-99A3-C4C665908E3D}" type="datetime1">
              <a:rPr lang="en-US" smtClean="0"/>
              <a:t>10/1/26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572076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9983B9-88EF-D74B-BA6D-6A3BF17C2B38}" type="datetime1">
              <a:rPr lang="en-US" smtClean="0"/>
              <a:t>10/1/26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41163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A00AEF-B4EC-084A-8DB8-A225C7981CBB}" type="datetime1">
              <a:rPr lang="en-US" smtClean="0"/>
              <a:t>10/1/26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43014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6705" y="609601"/>
            <a:ext cx="3856037" cy="1639884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56200" y="592666"/>
            <a:ext cx="5891209" cy="5198534"/>
          </a:xfrm>
        </p:spPr>
        <p:txBody>
          <a:bodyPr anchor="ctr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6705" y="2249486"/>
            <a:ext cx="3856037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860299-21CD-A94A-A7B0-44E787F8D42C}" type="datetime1">
              <a:rPr lang="en-US" smtClean="0"/>
              <a:t>10/1/26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550312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5934508" cy="163988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380721" y="609601"/>
            <a:ext cx="3666690" cy="5181599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2249486"/>
            <a:ext cx="5934511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FD19CF-4E62-D246-BA61-7B528271315F}" type="datetime1">
              <a:rPr lang="en-US" smtClean="0"/>
              <a:t>10/1/26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47550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4304664"/>
            <a:ext cx="9912355" cy="819355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41411" y="606426"/>
            <a:ext cx="9912354" cy="3299778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320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5124020"/>
            <a:ext cx="9910859" cy="68247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6F9669-A8A7-2D40-9D01-B35FC337AA30}" type="datetime1">
              <a:rPr lang="en-US" smtClean="0"/>
              <a:t>10/1/26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537979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56" y="609600"/>
            <a:ext cx="9905955" cy="342900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4419599"/>
            <a:ext cx="9904459" cy="1371599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76CF18-F41B-6B48-B3E5-599E9795C2C3}" type="datetime1">
              <a:rPr lang="en-US" smtClean="0"/>
              <a:t>10/1/26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118012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599"/>
            <a:ext cx="9302752" cy="2748429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365557"/>
            <a:ext cx="875229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4309919"/>
            <a:ext cx="9906002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654854-6457-164F-A077-6B3035079B82}" type="datetime1">
              <a:rPr lang="en-US" smtClean="0"/>
              <a:t>10/1/26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  <p:sp>
        <p:nvSpPr>
          <p:cNvPr id="60" name="TextBox 59"/>
          <p:cNvSpPr txBox="1"/>
          <p:nvPr/>
        </p:nvSpPr>
        <p:spPr>
          <a:xfrm>
            <a:off x="903512" y="73239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37370" y="276497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51338760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2134041"/>
            <a:ext cx="9906001" cy="2511835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4657655"/>
            <a:ext cx="9904505" cy="1140644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3DBFD7-E611-8C40-AC73-0C29FF63F0CD}" type="datetime1">
              <a:rPr lang="en-US" smtClean="0"/>
              <a:t>10/1/26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169598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1141410" y="2674463"/>
            <a:ext cx="3196899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27918" y="3360263"/>
            <a:ext cx="3208735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4766" y="2677635"/>
            <a:ext cx="3184385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04213" y="3363435"/>
            <a:ext cx="3195830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442" y="2674463"/>
            <a:ext cx="3194968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52442" y="3360263"/>
            <a:ext cx="3194968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B63B06-0493-2840-9F37-30C9412BBF17}" type="datetime1">
              <a:rPr lang="en-US" smtClean="0"/>
              <a:t>10/1/26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096692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1141411" y="609600"/>
            <a:ext cx="9905999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1141413" y="4404596"/>
            <a:ext cx="319524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141413" y="2666998"/>
            <a:ext cx="31952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41413" y="4980858"/>
            <a:ext cx="3195240" cy="8178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9053" y="4404596"/>
            <a:ext cx="320040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89053" y="2666998"/>
            <a:ext cx="31989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87593" y="4980857"/>
            <a:ext cx="3200400" cy="81034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567" y="4404595"/>
            <a:ext cx="3190741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852442" y="2666998"/>
            <a:ext cx="3194969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852442" y="4980854"/>
            <a:ext cx="3194968" cy="810345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B5C0FA-8C46-E84D-B6D7-B673F2CA0A0E}" type="datetime1">
              <a:rPr lang="en-US" smtClean="0"/>
              <a:t>10/1/26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074458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B9CDE1-97B4-BF46-B69C-B86855B18820}" type="datetime1">
              <a:rPr lang="en-US" smtClean="0"/>
              <a:t>10/1/26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976783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042400" y="609599"/>
            <a:ext cx="2005011" cy="518160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0" y="609599"/>
            <a:ext cx="7748590" cy="5181601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51D3A4-F9E5-FD49-AA87-B395F50451DC}" type="datetime1">
              <a:rPr lang="en-US" smtClean="0"/>
              <a:t>10/1/26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0532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 7"/>
          <p:cNvGrpSpPr/>
          <p:nvPr/>
        </p:nvGrpSpPr>
        <p:grpSpPr>
          <a:xfrm>
            <a:off x="-14288" y="0"/>
            <a:ext cx="12053888" cy="6858001"/>
            <a:chOff x="-14288" y="0"/>
            <a:chExt cx="12053888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grpSp>
          <p:nvGrpSpPr>
            <p:cNvPr id="9" name="Group 8"/>
            <p:cNvGrpSpPr/>
            <p:nvPr/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pFill/>
          </p:grpSpPr>
          <p:sp>
            <p:nvSpPr>
              <p:cNvPr id="21" name="Rectangle 5"/>
              <p:cNvSpPr>
                <a:spLocks noChangeArrowheads="1"/>
              </p:cNvSpPr>
              <p:nvPr/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22" name="Freeform 6"/>
              <p:cNvSpPr>
                <a:spLocks noEditPoints="1"/>
              </p:cNvSpPr>
              <p:nvPr/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3" name="Freeform 7"/>
              <p:cNvSpPr>
                <a:spLocks noEditPoints="1"/>
              </p:cNvSpPr>
              <p:nvPr/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4" name="Freeform 8"/>
              <p:cNvSpPr/>
              <p:nvPr/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5" name="Freeform 9"/>
              <p:cNvSpPr>
                <a:spLocks noEditPoints="1"/>
              </p:cNvSpPr>
              <p:nvPr/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6" name="Freeform 10"/>
              <p:cNvSpPr/>
              <p:nvPr/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7" name="Freeform 11"/>
              <p:cNvSpPr/>
              <p:nvPr/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8" name="Freeform 12"/>
              <p:cNvSpPr>
                <a:spLocks noEditPoints="1"/>
              </p:cNvSpPr>
              <p:nvPr/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9" name="Freeform 13"/>
              <p:cNvSpPr>
                <a:spLocks noEditPoints="1"/>
              </p:cNvSpPr>
              <p:nvPr/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0" name="Freeform 14"/>
              <p:cNvSpPr/>
              <p:nvPr/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1" name="Freeform 15"/>
              <p:cNvSpPr>
                <a:spLocks noEditPoints="1"/>
              </p:cNvSpPr>
              <p:nvPr/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2" name="Line 16"/>
              <p:cNvSpPr>
                <a:spLocks noChangeShapeType="1"/>
              </p:cNvSpPr>
              <p:nvPr/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</p:sp>
          <p:sp>
            <p:nvSpPr>
              <p:cNvPr id="33" name="Freeform 17"/>
              <p:cNvSpPr/>
              <p:nvPr/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4" name="Freeform 18"/>
              <p:cNvSpPr/>
              <p:nvPr/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5" name="Freeform 19"/>
              <p:cNvSpPr/>
              <p:nvPr/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6" name="Freeform 20"/>
              <p:cNvSpPr>
                <a:spLocks noEditPoints="1"/>
              </p:cNvSpPr>
              <p:nvPr/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7" name="Rectangle 21"/>
              <p:cNvSpPr>
                <a:spLocks noChangeArrowheads="1"/>
              </p:cNvSpPr>
              <p:nvPr/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38" name="Freeform 22"/>
              <p:cNvSpPr/>
              <p:nvPr/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9" name="Freeform 23"/>
              <p:cNvSpPr>
                <a:spLocks noEditPoints="1"/>
              </p:cNvSpPr>
              <p:nvPr/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0" name="Freeform 24"/>
              <p:cNvSpPr/>
              <p:nvPr/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1" name="Freeform 25"/>
              <p:cNvSpPr>
                <a:spLocks noEditPoints="1"/>
              </p:cNvSpPr>
              <p:nvPr/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2" name="Freeform 26"/>
              <p:cNvSpPr/>
              <p:nvPr/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3" name="Freeform 27"/>
              <p:cNvSpPr/>
              <p:nvPr/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4" name="Freeform 28"/>
              <p:cNvSpPr>
                <a:spLocks noEditPoints="1"/>
              </p:cNvSpPr>
              <p:nvPr/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5" name="Freeform 29"/>
              <p:cNvSpPr>
                <a:spLocks noEditPoints="1"/>
              </p:cNvSpPr>
              <p:nvPr/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6" name="Freeform 30"/>
              <p:cNvSpPr/>
              <p:nvPr/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7" name="Freeform 31"/>
              <p:cNvSpPr>
                <a:spLocks noEditPoints="1"/>
              </p:cNvSpPr>
              <p:nvPr/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</p:grpSp>
        <p:grpSp>
          <p:nvGrpSpPr>
            <p:cNvPr id="10" name="Group 9"/>
            <p:cNvGrpSpPr/>
            <p:nvPr/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pFill/>
          </p:grpSpPr>
          <p:sp>
            <p:nvSpPr>
              <p:cNvPr id="11" name="Freeform 32"/>
              <p:cNvSpPr/>
              <p:nvPr/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2" name="Freeform 33"/>
              <p:cNvSpPr>
                <a:spLocks noEditPoints="1"/>
              </p:cNvSpPr>
              <p:nvPr/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3" name="Freeform 34"/>
              <p:cNvSpPr>
                <a:spLocks noEditPoints="1"/>
              </p:cNvSpPr>
              <p:nvPr/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4" name="Freeform 35"/>
              <p:cNvSpPr/>
              <p:nvPr/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5" name="Freeform 36"/>
              <p:cNvSpPr>
                <a:spLocks noEditPoints="1"/>
              </p:cNvSpPr>
              <p:nvPr/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6" name="Freeform 37"/>
              <p:cNvSpPr/>
              <p:nvPr/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7" name="Freeform 38"/>
              <p:cNvSpPr>
                <a:spLocks noEditPoints="1"/>
              </p:cNvSpPr>
              <p:nvPr/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8" name="Freeform 39"/>
              <p:cNvSpPr/>
              <p:nvPr/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9" name="Freeform 40"/>
              <p:cNvSpPr>
                <a:spLocks noEditPoints="1"/>
              </p:cNvSpPr>
              <p:nvPr/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0" name="Rectangle 41"/>
              <p:cNvSpPr>
                <a:spLocks noChangeArrowheads="1"/>
              </p:cNvSpPr>
              <p:nvPr/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</p:grp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2" y="2249487"/>
            <a:ext cx="9905999" cy="354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2FF8978-FE14-CC4A-93A6-934EB06543C0}" type="datetime1">
              <a:rPr lang="en-US" smtClean="0"/>
              <a:t>10/1/26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4260183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4007" r:id="rId1"/>
    <p:sldLayoutId id="2147484008" r:id="rId2"/>
    <p:sldLayoutId id="2147484009" r:id="rId3"/>
    <p:sldLayoutId id="2147484010" r:id="rId4"/>
    <p:sldLayoutId id="2147484011" r:id="rId5"/>
    <p:sldLayoutId id="2147484012" r:id="rId6"/>
    <p:sldLayoutId id="2147484013" r:id="rId7"/>
    <p:sldLayoutId id="2147484014" r:id="rId8"/>
    <p:sldLayoutId id="2147484015" r:id="rId9"/>
    <p:sldLayoutId id="2147484016" r:id="rId10"/>
    <p:sldLayoutId id="2147484017" r:id="rId11"/>
    <p:sldLayoutId id="2147484018" r:id="rId12"/>
    <p:sldLayoutId id="2147484019" r:id="rId13"/>
    <p:sldLayoutId id="2147484020" r:id="rId14"/>
    <p:sldLayoutId id="2147484021" r:id="rId15"/>
    <p:sldLayoutId id="2147484022" r:id="rId16"/>
    <p:sldLayoutId id="2147484023" r:id="rId17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125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2.xml"/><Relationship Id="rId1" Type="http://schemas.openxmlformats.org/officeDocument/2006/relationships/tags" Target="../tags/tag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4.xml"/><Relationship Id="rId1" Type="http://schemas.openxmlformats.org/officeDocument/2006/relationships/tags" Target="../tags/tag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6.xml"/><Relationship Id="rId1" Type="http://schemas.openxmlformats.org/officeDocument/2006/relationships/tags" Target="../tags/tag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8.xml"/><Relationship Id="rId1" Type="http://schemas.openxmlformats.org/officeDocument/2006/relationships/tags" Target="../tags/tag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0.xml"/><Relationship Id="rId1" Type="http://schemas.openxmlformats.org/officeDocument/2006/relationships/tags" Target="../tags/tag9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2.xml"/><Relationship Id="rId1" Type="http://schemas.openxmlformats.org/officeDocument/2006/relationships/tags" Target="../tags/tag1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4.xml"/><Relationship Id="rId1" Type="http://schemas.openxmlformats.org/officeDocument/2006/relationships/tags" Target="../tags/tag1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6.xml"/><Relationship Id="rId1" Type="http://schemas.openxmlformats.org/officeDocument/2006/relationships/tags" Target="../tags/tag15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8.xml"/><Relationship Id="rId1" Type="http://schemas.openxmlformats.org/officeDocument/2006/relationships/tags" Target="../tags/tag1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20.xml"/><Relationship Id="rId1" Type="http://schemas.openxmlformats.org/officeDocument/2006/relationships/tags" Target="../tags/tag19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22.xml"/><Relationship Id="rId1" Type="http://schemas.openxmlformats.org/officeDocument/2006/relationships/tags" Target="../tags/tag2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24.xml"/><Relationship Id="rId1" Type="http://schemas.openxmlformats.org/officeDocument/2006/relationships/tags" Target="../tags/tag2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26.xml"/><Relationship Id="rId1" Type="http://schemas.openxmlformats.org/officeDocument/2006/relationships/tags" Target="../tags/tag25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28.xml"/><Relationship Id="rId1" Type="http://schemas.openxmlformats.org/officeDocument/2006/relationships/tags" Target="../tags/tag2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tags" Target="../tags/tag31.xml"/><Relationship Id="rId7" Type="http://schemas.openxmlformats.org/officeDocument/2006/relationships/slideLayout" Target="../slideLayouts/slideLayout2.xml"/><Relationship Id="rId2" Type="http://schemas.openxmlformats.org/officeDocument/2006/relationships/tags" Target="../tags/tag30.xml"/><Relationship Id="rId1" Type="http://schemas.openxmlformats.org/officeDocument/2006/relationships/tags" Target="../tags/tag29.xml"/><Relationship Id="rId6" Type="http://schemas.openxmlformats.org/officeDocument/2006/relationships/tags" Target="../tags/tag34.xml"/><Relationship Id="rId5" Type="http://schemas.openxmlformats.org/officeDocument/2006/relationships/tags" Target="../tags/tag33.xml"/><Relationship Id="rId4" Type="http://schemas.openxmlformats.org/officeDocument/2006/relationships/tags" Target="../tags/tag3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8F7A2C-CECB-EA45-9A8F-28914F6ACB9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ctr"/>
            <a:r>
              <a:rPr lang="en-US" dirty="0"/>
              <a:t>CS3120 (DMT2)</a:t>
            </a:r>
            <a:br>
              <a:rPr lang="en-US" dirty="0"/>
            </a:br>
            <a:r>
              <a:rPr lang="en-US" dirty="0"/>
              <a:t>Daily Announcements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CC3BA16-EE93-B74E-A27C-2B68B596BB5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algn="ctr"/>
            <a:r>
              <a:rPr lang="en-US" dirty="0"/>
              <a:t>Discrete Mathematics and Theory 2</a:t>
            </a:r>
            <a:br>
              <a:rPr lang="en-US" dirty="0"/>
            </a:br>
            <a:r>
              <a:rPr lang="en-US" dirty="0"/>
              <a:t>Mark Floryan</a:t>
            </a:r>
            <a:br>
              <a:rPr lang="en-US" dirty="0"/>
            </a:br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373050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2 - Thursday, Aug. 27</a:t>
            </a:r>
          </a:p>
        </p:txBody>
      </p:sp>
      <p:sp>
        <p:nvSpPr>
          <p:cNvPr id="6147" name="Rectangle 3"/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9"/>
            <a:ext cx="9600522" cy="5149850"/>
          </a:xfrm>
        </p:spPr>
        <p:txBody>
          <a:bodyPr>
            <a:norm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Any questions about course policies from last time?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no laptops / phones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and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attendance policy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homework  is due one week from today (Thursday)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Remember you can get an extension by filling out form linked on HW page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Hopefully we get through enough material. Might be tight.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quiz is 9/22 (but we have some time before that arrives)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These slides are linked on the course webpage “slides” page.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will start module 0 which is a half review, half overview of what to expect in the course.</a:t>
            </a: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317540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419291-25F8-18DA-FFB0-F2D78FAFA6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BC245597-867F-85D8-54E8-C994C2B86CC0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3 - Tuesday, Sep. 1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CADA2C73-9E49-295C-F482-FE94D3E2E9E2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9"/>
            <a:ext cx="9600522" cy="5149850"/>
          </a:xfrm>
        </p:spPr>
        <p:txBody>
          <a:bodyPr>
            <a:normAutofit fontScale="92500" lnSpcReduction="2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Welcome to September, hopefully temp cools down soon?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no laptops / phones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and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attendance policy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homework  is due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THIS Thursday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Remember you can get an extension by filling out form linked on HW page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Hopefully we get through enough material. Might be tight.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CBTF Practice Quiz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make a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PrairieLearn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/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PrairieTest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account NOW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Practice Quiz is LIVE now. Make a reservation. You have until 9/11!!!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real quiz is 9/22 (but we have some time before that arrives)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These slides are linked on the course webpage “slides” page.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will try to finish module 0 which is a half review, half overview of what to expect in the course.</a:t>
            </a: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9316064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7B1675-49DF-67C9-1FAF-5C90913689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ABFB7E90-8A54-F2EA-2394-86E45E5E40AC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4 - Thursday, Sep. 3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7211D196-1060-AFCA-137B-4611930C381A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9"/>
            <a:ext cx="9600522" cy="5149850"/>
          </a:xfrm>
        </p:spPr>
        <p:txBody>
          <a:bodyPr>
            <a:normAutofit fontScale="92500" lnSpcReduction="2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Welcome to September, hopefully temp cools down soon?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no laptops / phones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and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attendance policy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homework  is due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Tonight!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Remember you can get an extension by filling out form linked on HW page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Remember that we want count(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on_time_submissions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)/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num_students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&gt;= -.75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CBTF Practice Quiz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make a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PrairieLearn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/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PrairieTest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account NOW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Practice Quiz is LIVE now. Make a reservation. You have until 9/11!!!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On the subject of changing / </a:t>
            </a:r>
            <a:r>
              <a:rPr lang="en-US">
                <a:latin typeface="Arial" panose="020B0604020202020204" pitchFamily="34" charset="0"/>
                <a:cs typeface="Arial" panose="020B0604020202020204" pitchFamily="34" charset="0"/>
              </a:rPr>
              <a:t>missing reservations…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real quiz is 9/22 (but we have some time before that arrives)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These slides are linked on the course webpage “slides” page.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will continue with module 1 on regular languages.</a:t>
            </a: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9310810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EC5B83-0D05-973D-10B8-618E407513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E00A8CCF-6475-47C1-2674-1A77A783997F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5 - Tuesday, Sep. 8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6AD7214A-D852-5E38-8C7E-1CA40550B5C7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9"/>
            <a:ext cx="9600522" cy="5149850"/>
          </a:xfrm>
        </p:spPr>
        <p:txBody>
          <a:bodyPr>
            <a:normAutofit fontScale="77500" lnSpcReduction="2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Weather is actually nice today! Hooray!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no laptops / phones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and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attendance policy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homework is past due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Unless you took extension in which case you have until tonight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It is currently being graded. We will be spot grading some Qs for correctness.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week: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No homework, but you can start working on module 1 written assignment!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CBTF Practice Quiz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make a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PrairieLearn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/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PrairieTest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account NOW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Practice Quiz is LIVE now. Make a reservation. You have until 9/11!!!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 added a CBTF FAQ, contains info about changing reservations (check webpage)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real quiz is 9/22 (but we have some time before that arrives)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These slides are linked on the course webpage “slides” page.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will continue with module 1 on regular languages.</a:t>
            </a: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1245180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7F56D7-6C7F-69E1-753E-9EE25F64A7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D65F6D1A-0C39-2701-2A7D-5A983C8D9AA9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6 - Thursday, Sep. 10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1BD10984-63D9-8622-4339-6AC9C6AE47D3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9"/>
            <a:ext cx="9600522" cy="5149850"/>
          </a:xfrm>
        </p:spPr>
        <p:txBody>
          <a:bodyPr>
            <a:normAutofit fontScale="85000" lnSpcReduction="2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no laptops / phones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and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attendance policy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Module 0 homework is almost graded. Sit tight.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week: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No homework, but you can start working on module 1 written assignment!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CBTF Practice Quiz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You have been invited to the Prairie Learn / Test classes now. Please go in and accept the invitation ASAP!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Practice Quiz extended through 9/15 if you want to do it still.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real quiz is 9/22 (week after next)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 will release a practice quiz on Prairie Learn. It is for controls / procedure mostly, not really meant to be content rich. Will be released early next week.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Sign ups for the first real quiz in CBTF should start next week as well.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These slides are linked on the course webpage “slides” page.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will continue with module 1 on regular languages.</a:t>
            </a: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5083035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B2F0E4-C58F-C5FB-CF85-889969DC27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E20399C6-7F38-7C99-A332-AB14ABCE2E53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7 - Tuesday, Sep. 15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A51177BB-7848-6E8A-D293-654E3D3D78AD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8"/>
            <a:ext cx="9600522" cy="5475367"/>
          </a:xfrm>
        </p:spPr>
        <p:txBody>
          <a:bodyPr>
            <a:normAutofit fontScale="77500" lnSpcReduction="2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no laptops / phones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and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attendance policy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Module 0 homework has been returned! Let Thomas know if you have any questions or concerns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week: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Written Assignment for Module 1 is due on Thursday!!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Study for the first quiz!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Module 1 Practice Quiz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You have been invited to the Prairie Learn / Test. Please go in and accept the invitation ASAP!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Prairie Learn now has a practice quiz that you can take to get used to the mechanics of the questions.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real quiz is NEXT week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Reservations are open NOW on Prairie Test. Please login and make your reservation ASAP!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Overview of the questions is on the next slide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These slides are linked on the course webpage “slides” page.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will continue with module 1 on regular languages.</a:t>
            </a:r>
          </a:p>
        </p:txBody>
      </p:sp>
    </p:spTree>
    <p:extLst>
      <p:ext uri="{BB962C8B-B14F-4D97-AF65-F5344CB8AC3E}">
        <p14:creationId xmlns:p14="http://schemas.microsoft.com/office/powerpoint/2010/main" val="216640938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983385-6C8F-46CD-2B07-00E8119F8A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32A1F65C-6252-AE60-522B-8F061101A2E7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Quiz 1 – Question Summary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3417B98D-521A-B9E3-4522-F6B1F5050BA4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664842" y="1311217"/>
            <a:ext cx="8859140" cy="5202315"/>
          </a:xfrm>
        </p:spPr>
        <p:txBody>
          <a:bodyPr>
            <a:norm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Q1: True / False Questions (10 of them)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Span the entire module, may reference module 0 material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Q2-3: Draw a DFA from description (2 of these)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Given a language description, draw the DFA for that language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Q4-5: Write out regular expression from DFA (2 of these)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Given an image of a DFA, write the equivalent regular expression for it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 will study this concept TODAY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Q6: Pumping Lemma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Prove a language is not regular by using the pumping lemma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 will study this concept on THURSDAY</a:t>
            </a:r>
          </a:p>
        </p:txBody>
      </p:sp>
    </p:spTree>
    <p:extLst>
      <p:ext uri="{BB962C8B-B14F-4D97-AF65-F5344CB8AC3E}">
        <p14:creationId xmlns:p14="http://schemas.microsoft.com/office/powerpoint/2010/main" val="219036240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1838D9-B8D7-F507-D47B-1AF6B185D3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793D2CD9-D310-A2CA-CA72-21A0F92B43CE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8 - Thursday, Sep. 17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E6CF8E07-0366-E560-1D68-CEDF596389F4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8"/>
            <a:ext cx="9600522" cy="5475367"/>
          </a:xfrm>
        </p:spPr>
        <p:txBody>
          <a:bodyPr>
            <a:normAutofit fontScale="85000" lnSpcReduction="1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no laptops / phones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and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attendance policy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week: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Written Assignment for Module 1 is due TONIGHT!!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Study for the first quiz!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Module 1 Practice Quiz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You have been invited to the Prairie Learn / Test. Please accept the invitation ASAP!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Prairie Learn now has a practice quiz you can take to get used to the mechanics of the questions.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real quiz is NEXT week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Reservations are open NOW on Prairie Test. Please login and make your reservation!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Overview of the questions is on the next slide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These slides are linked on the course webpage “slides” page.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will finish module 1 on regular languages.</a:t>
            </a:r>
          </a:p>
        </p:txBody>
      </p:sp>
    </p:spTree>
    <p:extLst>
      <p:ext uri="{BB962C8B-B14F-4D97-AF65-F5344CB8AC3E}">
        <p14:creationId xmlns:p14="http://schemas.microsoft.com/office/powerpoint/2010/main" val="381481476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F361D6-9202-84D1-E2E7-BEA1121F76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A28F14D2-1243-1FB6-5A32-4EE1964E5790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Quiz 1 – Question Summary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CB7CA8AC-9611-9E9D-5F1E-A8227E9644FC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664842" y="1311217"/>
            <a:ext cx="8859140" cy="5202315"/>
          </a:xfrm>
        </p:spPr>
        <p:txBody>
          <a:bodyPr>
            <a:norm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Q1: True / False Questions (10 of them)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Span the entire module, may reference module 0 material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Q2-3: Draw a DFA from description (2 of these)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Given a language description, draw the DFA for that language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Q4-5: Write out regular expression from DFA (2 of these)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Given an image of a DFA, write the equivalent regular expression for it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 will study this concept TODAY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Q6: Pumping Lemma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Prove a language is not regular by using the pumping lemma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 will study this concept on THURSDAY</a:t>
            </a:r>
          </a:p>
        </p:txBody>
      </p:sp>
    </p:spTree>
    <p:extLst>
      <p:ext uri="{BB962C8B-B14F-4D97-AF65-F5344CB8AC3E}">
        <p14:creationId xmlns:p14="http://schemas.microsoft.com/office/powerpoint/2010/main" val="223095582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49C366-68C6-B99E-A0D0-678FDE6340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C1217C3C-6FB3-06C0-0FD1-3530A32B8CC7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9 - Tuesday, Sep. 22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1B64CE9E-5521-80ED-A7CE-CF16BF5644C9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8"/>
            <a:ext cx="9600522" cy="5475367"/>
          </a:xfrm>
        </p:spPr>
        <p:txBody>
          <a:bodyPr>
            <a:normAutofit fontScale="70000" lnSpcReduction="2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no laptops / phones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and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attendance policy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week: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Quiz 1 is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Mon,Tue,Wed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at CBTF (good luck!)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Mod. 1 Programming Assignment is due this Thursday!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Module 1 Quiz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Already completed it? How did it go? Any logistics issues or software bugs?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Have not already taken it? Good luck! You got this!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Everybody should have a reservation by now. If you don’t then you need to do that ASAP!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Mod. 1 homework is being graded right now. 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Looks like we generally won’t be able to get that back to you in time for quizzes due to the quick turnaround time. 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It is your responsibility to check your answers with others, use AI if necessary, or come to OH to talk to course staff to ensure you understand the concepts.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OH Check-Ins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 have started working on the schedule for this. Stay tuned but be ready for this to begin very soon!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These slides are linked on the course webpage “slides” page.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will begin Module 2 – Context-Free Grammars.</a:t>
            </a:r>
          </a:p>
        </p:txBody>
      </p:sp>
    </p:spTree>
    <p:extLst>
      <p:ext uri="{BB962C8B-B14F-4D97-AF65-F5344CB8AC3E}">
        <p14:creationId xmlns:p14="http://schemas.microsoft.com/office/powerpoint/2010/main" val="71408690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F345D5-A940-D9D4-B5C4-5763246CE7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B768AEF2-414F-377F-6BA6-07B3ACC80F4B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10 - Thursday, Sep. 24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2EF9F8FD-27B6-A362-EADF-4FC308C3CDCC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8"/>
            <a:ext cx="9600522" cy="5475367"/>
          </a:xfrm>
        </p:spPr>
        <p:txBody>
          <a:bodyPr>
            <a:normAutofit fontScale="70000" lnSpcReduction="2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no laptops / phones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and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attendance policy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week: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Quiz 1 is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Mon,Tue,Wed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at CBTF (good luck!)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Mod. 1 Programming Assignment is due TONIGHT!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Module 1 Quiz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Is done! How did it go?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 need to grade one question manually. Grades will be returned next Thursday.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Need to brainstorm a regrades process which I will notify you about eventually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You may have seen signups open for a makeup tomorrow. That is for students with prior permission only!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Mod. 1 homework is being graded right now. 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Should be able to get that back to you shortly…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OH Check-Ins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 have started working on the schedule for this. Stay tuned but be ready for this to begin very soon!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These slides are linked on the course webpage “slides” page.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will continue with Module 2 – Context-Free Grammars.</a:t>
            </a:r>
          </a:p>
        </p:txBody>
      </p:sp>
    </p:spTree>
    <p:extLst>
      <p:ext uri="{BB962C8B-B14F-4D97-AF65-F5344CB8AC3E}">
        <p14:creationId xmlns:p14="http://schemas.microsoft.com/office/powerpoint/2010/main" val="203490632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27E86E-46F1-D49E-DD52-52080C80B0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B59EEE50-39CE-F54C-CEF6-D1A30575F7A4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11 - Tuesday, Sep. 28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5212EBB3-5733-042E-DCB3-686852125871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8"/>
            <a:ext cx="9600522" cy="5475367"/>
          </a:xfrm>
        </p:spPr>
        <p:txBody>
          <a:bodyPr>
            <a:normAutofit fontScale="70000" lnSpcReduction="2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no laptops / phones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and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attendance policy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week: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 2 written assignment is due on Thursday!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Fall break is next week (woohoo!)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Module 1 Quiz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Being graded right now. Will release on Thursday.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I’m making an adjustment to the DFA question grades due to the “delete” issue</a:t>
            </a:r>
          </a:p>
          <a:p>
            <a:pPr lvl="2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Both of your DFA scores will be set to the max of your DFA scores.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Mod. 1 homework is being graded right now. 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Should be able to get that back to you shortly…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Quiz 2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Is in two weeks! You will start signing up for your reservations for this NEXT week.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OH Check-Ins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is shaping up but I won’t have more concrete information until next week!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These slides are linked on the course webpage “slides” page.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will continue with Module 2 – Context-Free Grammars.</a:t>
            </a:r>
          </a:p>
        </p:txBody>
      </p:sp>
    </p:spTree>
    <p:extLst>
      <p:ext uri="{BB962C8B-B14F-4D97-AF65-F5344CB8AC3E}">
        <p14:creationId xmlns:p14="http://schemas.microsoft.com/office/powerpoint/2010/main" val="325790801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303C0C-304D-B99E-1C1F-EC74554DFD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3802D250-089E-6EED-6DCD-A9305CA473F7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12 - Thursday, Oct. 1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D2E55A73-4B71-D946-0490-88B2C052B654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8"/>
            <a:ext cx="9600522" cy="5475367"/>
          </a:xfrm>
        </p:spPr>
        <p:txBody>
          <a:bodyPr>
            <a:normAutofit fontScale="55000" lnSpcReduction="2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no laptops / phones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and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attendance policy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October! Best month of the year! Woo!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week: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 2 written assignment is due TONIGHT!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Fall break is next week (woohoo!)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Grading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Quiz module 1 is graded! You will get it back automatically at noon today. Questions available until next Tue.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Module 1 homework is graded! Regrades open if you need it.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Module 0 homework has been graded, but regrades are opened up as well if you need it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Module 1 Quiz Details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Remember that your DFA scores should be equal. If not let Gustavo know.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Average was a 78% (so pretty good. Not bad, not amazing…nothing to worry about I think). Remember you have a retake during final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Quiz 2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Reservations are available now. Please sign up on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PrairieTest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ASAP!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There will be practice test again so you can become familiar with question format (not for question content…just format)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Question summary is on the next slide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OH Check-Ins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is shaping up but I won’t have more concrete information until next week!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These slides are linked on the course webpage “slides” page.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</a:t>
            </a:r>
            <a:r>
              <a:rPr lang="en-US">
                <a:latin typeface="Arial" panose="020B0604020202020204" pitchFamily="34" charset="0"/>
                <a:cs typeface="Arial" panose="020B0604020202020204" pitchFamily="34" charset="0"/>
              </a:rPr>
              <a:t>will finish 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Module 2 – Context-Free Grammars.</a:t>
            </a:r>
          </a:p>
        </p:txBody>
      </p:sp>
    </p:spTree>
    <p:extLst>
      <p:ext uri="{BB962C8B-B14F-4D97-AF65-F5344CB8AC3E}">
        <p14:creationId xmlns:p14="http://schemas.microsoft.com/office/powerpoint/2010/main" val="139369611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5AF98F-5D4C-C155-02CF-379A3F22AE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DBCC9806-9A4D-06A7-D9B6-6564A6C3C253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Quiz 2 – Question Summary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56968B68-3646-056B-2418-C9C325B57086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664842" y="1311217"/>
            <a:ext cx="8859140" cy="5202315"/>
          </a:xfrm>
        </p:spPr>
        <p:txBody>
          <a:bodyPr>
            <a:norm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Q1: True / False Questions (10 of them)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Span the entire module, may reference module 0 material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Q2-3: Grammar Derivation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Given a grammar and string to derive, show the full derivation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Q4-5: Grammar Creation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Given a language, construct a context-free grammar for it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Q6: PDA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Given a language, draw a working PDA for it 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Q7: Closure Question (T/F style)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Given set X and Y and operation O. Does (X O Y) result in set Z</a:t>
            </a:r>
          </a:p>
        </p:txBody>
      </p:sp>
    </p:spTree>
    <p:extLst>
      <p:ext uri="{BB962C8B-B14F-4D97-AF65-F5344CB8AC3E}">
        <p14:creationId xmlns:p14="http://schemas.microsoft.com/office/powerpoint/2010/main" val="363109341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Status of Attendance Grade</a:t>
            </a:r>
          </a:p>
        </p:txBody>
      </p:sp>
      <p:sp>
        <p:nvSpPr>
          <p:cNvPr id="6147" name="Rectangle 3"/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129082" y="1040465"/>
            <a:ext cx="1995777" cy="733064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9:30 </a:t>
            </a:r>
            <a:r>
              <a:rPr lang="en-US" b="1" i="1" u="sng" dirty="0" err="1">
                <a:latin typeface="Arial" panose="020B0604020202020204" pitchFamily="34" charset="0"/>
                <a:cs typeface="Arial" panose="020B0604020202020204" pitchFamily="34" charset="0"/>
              </a:rPr>
              <a:t>Att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</p:txBody>
      </p:sp>
      <p:sp>
        <p:nvSpPr>
          <p:cNvPr id="5" name="Rectangle 3">
            <a:extLst>
              <a:ext uri="{FF2B5EF4-FFF2-40B4-BE49-F238E27FC236}">
                <a16:creationId xmlns:a16="http://schemas.microsoft.com/office/drawing/2014/main" id="{EDF2E0C1-FE2C-6A4C-AC9C-AF830C636549}"/>
              </a:ext>
            </a:extLst>
          </p:cNvPr>
          <p:cNvSpPr txBox="1">
            <a:spLocks noChangeArrowheads="1"/>
          </p:cNvSpPr>
          <p:nvPr>
            <p:custDataLst>
              <p:tags r:id="rId3"/>
            </p:custDataLst>
          </p:nvPr>
        </p:nvSpPr>
        <p:spPr>
          <a:xfrm>
            <a:off x="1200647" y="2779149"/>
            <a:ext cx="4214192" cy="68762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HW On-Time Submissions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C55BF833-0DB4-B04F-B026-932C0FF8EC3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33064255"/>
              </p:ext>
            </p:extLst>
          </p:nvPr>
        </p:nvGraphicFramePr>
        <p:xfrm>
          <a:off x="3053295" y="965059"/>
          <a:ext cx="3291843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74358">
                  <a:extLst>
                    <a:ext uri="{9D8B030D-6E8A-4147-A177-3AD203B41FA5}">
                      <a16:colId xmlns:a16="http://schemas.microsoft.com/office/drawing/2014/main" val="659906099"/>
                    </a:ext>
                  </a:extLst>
                </a:gridCol>
                <a:gridCol w="787180">
                  <a:extLst>
                    <a:ext uri="{9D8B030D-6E8A-4147-A177-3AD203B41FA5}">
                      <a16:colId xmlns:a16="http://schemas.microsoft.com/office/drawing/2014/main" val="2842208557"/>
                    </a:ext>
                  </a:extLst>
                </a:gridCol>
                <a:gridCol w="930305">
                  <a:extLst>
                    <a:ext uri="{9D8B030D-6E8A-4147-A177-3AD203B41FA5}">
                      <a16:colId xmlns:a16="http://schemas.microsoft.com/office/drawing/2014/main" val="28814656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Above 50 %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3814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i="0" dirty="0"/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i="0" dirty="0"/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dirty="0"/>
                        <a:t>100%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37585930"/>
                  </a:ext>
                </a:extLst>
              </a:tr>
            </a:tbl>
          </a:graphicData>
        </a:graphic>
      </p:graphicFrame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0BEE8E84-72F1-424D-90EC-32A0B6B6C59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4422403"/>
              </p:ext>
            </p:extLst>
          </p:nvPr>
        </p:nvGraphicFramePr>
        <p:xfrm>
          <a:off x="2548834" y="3478771"/>
          <a:ext cx="7255124" cy="2966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01461">
                  <a:extLst>
                    <a:ext uri="{9D8B030D-6E8A-4147-A177-3AD203B41FA5}">
                      <a16:colId xmlns:a16="http://schemas.microsoft.com/office/drawing/2014/main" val="3153816687"/>
                    </a:ext>
                  </a:extLst>
                </a:gridCol>
                <a:gridCol w="1582310">
                  <a:extLst>
                    <a:ext uri="{9D8B030D-6E8A-4147-A177-3AD203B41FA5}">
                      <a16:colId xmlns:a16="http://schemas.microsoft.com/office/drawing/2014/main" val="218493645"/>
                    </a:ext>
                  </a:extLst>
                </a:gridCol>
                <a:gridCol w="1661822">
                  <a:extLst>
                    <a:ext uri="{9D8B030D-6E8A-4147-A177-3AD203B41FA5}">
                      <a16:colId xmlns:a16="http://schemas.microsoft.com/office/drawing/2014/main" val="356281106"/>
                    </a:ext>
                  </a:extLst>
                </a:gridCol>
                <a:gridCol w="1709531">
                  <a:extLst>
                    <a:ext uri="{9D8B030D-6E8A-4147-A177-3AD203B41FA5}">
                      <a16:colId xmlns:a16="http://schemas.microsoft.com/office/drawing/2014/main" val="203402472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HW 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On-Time Subs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Total Subs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Percentage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1156801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Mod 0 Written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142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/>
                        <a:t>70.65%</a:t>
                      </a:r>
                      <a:endParaRPr lang="en-US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6607135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Mod 1 Written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78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/>
                        <a:t>40.00%</a:t>
                      </a:r>
                      <a:endParaRPr lang="en-US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8965386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Mod 1: Programming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/>
                        <a:t>49.78%</a:t>
                      </a:r>
                      <a:endParaRPr lang="en-US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370757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Mod 2 Written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/>
                        <a:t>N/A</a:t>
                      </a:r>
                      <a:endParaRPr lang="en-US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604446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Mod 3 Written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/>
                        <a:t>N/A</a:t>
                      </a:r>
                      <a:endParaRPr lang="en-US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9923908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Mod 4 Written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/>
                        <a:t>N/A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8406415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en-US" b="1" dirty="0"/>
                        <a:t>TOTAL: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336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629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dirty="0"/>
                        <a:t>53.41%</a:t>
                      </a:r>
                      <a:endParaRPr lang="en-US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96459917"/>
                  </a:ext>
                </a:extLst>
              </a:tr>
            </a:tbl>
          </a:graphicData>
        </a:graphic>
      </p:graphicFrame>
      <p:sp>
        <p:nvSpPr>
          <p:cNvPr id="8" name="Rectangle 3">
            <a:extLst>
              <a:ext uri="{FF2B5EF4-FFF2-40B4-BE49-F238E27FC236}">
                <a16:creationId xmlns:a16="http://schemas.microsoft.com/office/drawing/2014/main" id="{B978E73F-4A42-474F-AD3F-6BBF1391C7E2}"/>
              </a:ext>
            </a:extLst>
          </p:cNvPr>
          <p:cNvSpPr txBox="1">
            <a:spLocks noChangeArrowheads="1"/>
          </p:cNvSpPr>
          <p:nvPr>
            <p:custDataLst>
              <p:tags r:id="rId4"/>
            </p:custDataLst>
          </p:nvPr>
        </p:nvSpPr>
        <p:spPr>
          <a:xfrm>
            <a:off x="6914097" y="1078065"/>
            <a:ext cx="1251889" cy="733064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b="1" i="1" u="sng" dirty="0" err="1">
                <a:latin typeface="Arial" panose="020B0604020202020204" pitchFamily="34" charset="0"/>
                <a:cs typeface="Arial" panose="020B0604020202020204" pitchFamily="34" charset="0"/>
              </a:rPr>
              <a:t>Wordle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26D59FFC-9847-3D4A-A64C-B398DB590DB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24289945"/>
              </p:ext>
            </p:extLst>
          </p:nvPr>
        </p:nvGraphicFramePr>
        <p:xfrm>
          <a:off x="8062617" y="1002659"/>
          <a:ext cx="275115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85962">
                  <a:extLst>
                    <a:ext uri="{9D8B030D-6E8A-4147-A177-3AD203B41FA5}">
                      <a16:colId xmlns:a16="http://schemas.microsoft.com/office/drawing/2014/main" val="659906099"/>
                    </a:ext>
                  </a:extLst>
                </a:gridCol>
                <a:gridCol w="811033">
                  <a:extLst>
                    <a:ext uri="{9D8B030D-6E8A-4147-A177-3AD203B41FA5}">
                      <a16:colId xmlns:a16="http://schemas.microsoft.com/office/drawing/2014/main" val="2842208557"/>
                    </a:ext>
                  </a:extLst>
                </a:gridCol>
                <a:gridCol w="954156">
                  <a:extLst>
                    <a:ext uri="{9D8B030D-6E8A-4147-A177-3AD203B41FA5}">
                      <a16:colId xmlns:a16="http://schemas.microsoft.com/office/drawing/2014/main" val="28814656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Success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3814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i="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i="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dirty="0"/>
                        <a:t>100%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37585930"/>
                  </a:ext>
                </a:extLst>
              </a:tr>
            </a:tbl>
          </a:graphicData>
        </a:graphic>
      </p:graphicFrame>
      <p:sp>
        <p:nvSpPr>
          <p:cNvPr id="4" name="Rectangle 3">
            <a:extLst>
              <a:ext uri="{FF2B5EF4-FFF2-40B4-BE49-F238E27FC236}">
                <a16:creationId xmlns:a16="http://schemas.microsoft.com/office/drawing/2014/main" id="{F261EF31-6054-E2A5-1B38-CE7F8FAA8C64}"/>
              </a:ext>
            </a:extLst>
          </p:cNvPr>
          <p:cNvSpPr txBox="1">
            <a:spLocks noChangeArrowheads="1"/>
          </p:cNvSpPr>
          <p:nvPr>
            <p:custDataLst>
              <p:tags r:id="rId5"/>
            </p:custDataLst>
          </p:nvPr>
        </p:nvSpPr>
        <p:spPr>
          <a:xfrm>
            <a:off x="1129082" y="1979295"/>
            <a:ext cx="1995777" cy="73306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11:00 </a:t>
            </a:r>
            <a:r>
              <a:rPr lang="en-US" b="1" i="1" u="sng" dirty="0" err="1">
                <a:latin typeface="Arial" panose="020B0604020202020204" pitchFamily="34" charset="0"/>
                <a:cs typeface="Arial" panose="020B0604020202020204" pitchFamily="34" charset="0"/>
              </a:rPr>
              <a:t>Att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60053670-A7F1-B4AB-DDE6-53F76EEC686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37672941"/>
              </p:ext>
            </p:extLst>
          </p:nvPr>
        </p:nvGraphicFramePr>
        <p:xfrm>
          <a:off x="3053295" y="1903889"/>
          <a:ext cx="3291843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74358">
                  <a:extLst>
                    <a:ext uri="{9D8B030D-6E8A-4147-A177-3AD203B41FA5}">
                      <a16:colId xmlns:a16="http://schemas.microsoft.com/office/drawing/2014/main" val="659906099"/>
                    </a:ext>
                  </a:extLst>
                </a:gridCol>
                <a:gridCol w="787180">
                  <a:extLst>
                    <a:ext uri="{9D8B030D-6E8A-4147-A177-3AD203B41FA5}">
                      <a16:colId xmlns:a16="http://schemas.microsoft.com/office/drawing/2014/main" val="2842208557"/>
                    </a:ext>
                  </a:extLst>
                </a:gridCol>
                <a:gridCol w="930305">
                  <a:extLst>
                    <a:ext uri="{9D8B030D-6E8A-4147-A177-3AD203B41FA5}">
                      <a16:colId xmlns:a16="http://schemas.microsoft.com/office/drawing/2014/main" val="28814656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Above 50 %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3814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i="0" dirty="0"/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i="0" dirty="0"/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dirty="0"/>
                        <a:t>100%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37585930"/>
                  </a:ext>
                </a:extLst>
              </a:tr>
            </a:tbl>
          </a:graphicData>
        </a:graphic>
      </p:graphicFrame>
      <p:sp>
        <p:nvSpPr>
          <p:cNvPr id="7" name="Rectangle 3">
            <a:extLst>
              <a:ext uri="{FF2B5EF4-FFF2-40B4-BE49-F238E27FC236}">
                <a16:creationId xmlns:a16="http://schemas.microsoft.com/office/drawing/2014/main" id="{43CE6A2D-8C72-768E-6CFF-93DD583C6C20}"/>
              </a:ext>
            </a:extLst>
          </p:cNvPr>
          <p:cNvSpPr txBox="1">
            <a:spLocks noChangeArrowheads="1"/>
          </p:cNvSpPr>
          <p:nvPr>
            <p:custDataLst>
              <p:tags r:id="rId6"/>
            </p:custDataLst>
          </p:nvPr>
        </p:nvSpPr>
        <p:spPr>
          <a:xfrm>
            <a:off x="6787301" y="1994037"/>
            <a:ext cx="1436816" cy="73306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400" b="1" i="1" u="sng" dirty="0">
                <a:latin typeface="Arial" panose="020B0604020202020204" pitchFamily="34" charset="0"/>
                <a:cs typeface="Arial" panose="020B0604020202020204" pitchFamily="34" charset="0"/>
              </a:rPr>
              <a:t>Connections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39CEB34F-A4E3-4330-CEB1-A4F0D4DE6DA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50064502"/>
              </p:ext>
            </p:extLst>
          </p:nvPr>
        </p:nvGraphicFramePr>
        <p:xfrm>
          <a:off x="8054758" y="1918631"/>
          <a:ext cx="275115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85962">
                  <a:extLst>
                    <a:ext uri="{9D8B030D-6E8A-4147-A177-3AD203B41FA5}">
                      <a16:colId xmlns:a16="http://schemas.microsoft.com/office/drawing/2014/main" val="659906099"/>
                    </a:ext>
                  </a:extLst>
                </a:gridCol>
                <a:gridCol w="811033">
                  <a:extLst>
                    <a:ext uri="{9D8B030D-6E8A-4147-A177-3AD203B41FA5}">
                      <a16:colId xmlns:a16="http://schemas.microsoft.com/office/drawing/2014/main" val="2842208557"/>
                    </a:ext>
                  </a:extLst>
                </a:gridCol>
                <a:gridCol w="954156">
                  <a:extLst>
                    <a:ext uri="{9D8B030D-6E8A-4147-A177-3AD203B41FA5}">
                      <a16:colId xmlns:a16="http://schemas.microsoft.com/office/drawing/2014/main" val="28814656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Success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3814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i="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i="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dirty="0"/>
                        <a:t>100%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3758593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48716362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ircuit">
  <a:themeElements>
    <a:clrScheme name="Circuit">
      <a:dk1>
        <a:sysClr val="windowText" lastClr="000000"/>
      </a:dk1>
      <a:lt1>
        <a:sysClr val="window" lastClr="FFFFFF"/>
      </a:lt1>
      <a:dk2>
        <a:srgbClr val="252C36"/>
      </a:dk2>
      <a:lt2>
        <a:srgbClr val="7C96A3"/>
      </a:lt2>
      <a:accent1>
        <a:srgbClr val="4FD093"/>
      </a:accent1>
      <a:accent2>
        <a:srgbClr val="54BCDF"/>
      </a:accent2>
      <a:accent3>
        <a:srgbClr val="A262D0"/>
      </a:accent3>
      <a:accent4>
        <a:srgbClr val="D7537B"/>
      </a:accent4>
      <a:accent5>
        <a:srgbClr val="E78045"/>
      </a:accent5>
      <a:accent6>
        <a:srgbClr val="84C350"/>
      </a:accent6>
      <a:hlink>
        <a:srgbClr val="22FFFF"/>
      </a:hlink>
      <a:folHlink>
        <a:srgbClr val="9BF3FD"/>
      </a:folHlink>
    </a:clrScheme>
    <a:fontScheme name="Circui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ircuit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94000"/>
                <a:satMod val="148000"/>
                <a:lumMod val="14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4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48000"/>
                <a:hueMod val="106000"/>
                <a:satMod val="140000"/>
                <a:lumMod val="42000"/>
              </a:schemeClr>
              <a:schemeClr val="phClr">
                <a:tint val="98000"/>
                <a:hueMod val="92000"/>
                <a:satMod val="220000"/>
                <a:lumMod val="9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ircuit" id="{0AC2F7E7-15F5-431C-B2A2-456FE929F56C}" vid="{142578CA-DEC9-49C3-80AF-C113973CC9A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{78731ABC-CB82-E74D-A429-13D3326A7E5D}tf10001122</Template>
  <TotalTime>25391</TotalTime>
  <Words>2196</Words>
  <Application>Microsoft Macintosh PowerPoint</Application>
  <PresentationFormat>Widescreen</PresentationFormat>
  <Paragraphs>257</Paragraphs>
  <Slides>16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0" baseType="lpstr">
      <vt:lpstr>Arial</vt:lpstr>
      <vt:lpstr>Calibri</vt:lpstr>
      <vt:lpstr>Tw Cen MT</vt:lpstr>
      <vt:lpstr>Circuit</vt:lpstr>
      <vt:lpstr>CS3120 (DMT2) Daily Announcements</vt:lpstr>
      <vt:lpstr>Lecture 2 - Thursday, Aug. 27</vt:lpstr>
      <vt:lpstr>Lecture 3 - Tuesday, Sep. 1</vt:lpstr>
      <vt:lpstr>Lecture 4 - Thursday, Sep. 3</vt:lpstr>
      <vt:lpstr>Lecture 5 - Tuesday, Sep. 8</vt:lpstr>
      <vt:lpstr>Lecture 6 - Thursday, Sep. 10</vt:lpstr>
      <vt:lpstr>Lecture 7 - Tuesday, Sep. 15</vt:lpstr>
      <vt:lpstr>Quiz 1 – Question Summary</vt:lpstr>
      <vt:lpstr>Lecture 8 - Thursday, Sep. 17</vt:lpstr>
      <vt:lpstr>Quiz 1 – Question Summary</vt:lpstr>
      <vt:lpstr>Lecture 9 - Tuesday, Sep. 22</vt:lpstr>
      <vt:lpstr>Lecture 10 - Thursday, Sep. 24</vt:lpstr>
      <vt:lpstr>Lecture 11 - Tuesday, Sep. 28</vt:lpstr>
      <vt:lpstr>Lecture 12 - Thursday, Oct. 1</vt:lpstr>
      <vt:lpstr>Quiz 2 – Question Summary</vt:lpstr>
      <vt:lpstr>Status of Attendance Grade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Linear Programming</dc:title>
  <dc:creator>Mark Floryan</dc:creator>
  <cp:lastModifiedBy>Floryan, Mark Richard (mrf8t)</cp:lastModifiedBy>
  <cp:revision>369</cp:revision>
  <dcterms:created xsi:type="dcterms:W3CDTF">2023-02-24T14:15:53Z</dcterms:created>
  <dcterms:modified xsi:type="dcterms:W3CDTF">2026-10-01T13:23:45Z</dcterms:modified>
</cp:coreProperties>
</file>