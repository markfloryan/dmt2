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tags/tag1.xml" ContentType="application/vnd.openxmlformats-officedocument.presentationml.tags+xml"/>
  <Override PartName="/ppt/tags/tag2.xml" ContentType="application/vnd.openxmlformats-officedocument.presentationml.tags+xml"/>
  <Override PartName="/ppt/tags/tag3.xml" ContentType="application/vnd.openxmlformats-officedocument.presentationml.tags+xml"/>
  <Override PartName="/ppt/tags/tag4.xml" ContentType="application/vnd.openxmlformats-officedocument.presentationml.tags+xml"/>
  <Override PartName="/ppt/tags/tag5.xml" ContentType="application/vnd.openxmlformats-officedocument.presentationml.tags+xml"/>
  <Override PartName="/ppt/tags/tag6.xml" ContentType="application/vnd.openxmlformats-officedocument.presentationml.tags+xml"/>
  <Override PartName="/ppt/tags/tag7.xml" ContentType="application/vnd.openxmlformats-officedocument.presentationml.tags+xml"/>
  <Override PartName="/ppt/tags/tag8.xml" ContentType="application/vnd.openxmlformats-officedocument.presentationml.tags+xml"/>
  <Override PartName="/ppt/tags/tag9.xml" ContentType="application/vnd.openxmlformats-officedocument.presentationml.tags+xml"/>
  <Override PartName="/ppt/tags/tag10.xml" ContentType="application/vnd.openxmlformats-officedocument.presentationml.tags+xml"/>
  <Override PartName="/ppt/tags/tag11.xml" ContentType="application/vnd.openxmlformats-officedocument.presentationml.tags+xml"/>
  <Override PartName="/ppt/tags/tag12.xml" ContentType="application/vnd.openxmlformats-officedocument.presentationml.tags+xml"/>
  <Override PartName="/ppt/tags/tag13.xml" ContentType="application/vnd.openxmlformats-officedocument.presentationml.tags+xml"/>
  <Override PartName="/ppt/tags/tag14.xml" ContentType="application/vnd.openxmlformats-officedocument.presentationml.tags+xml"/>
  <Override PartName="/ppt/tags/tag15.xml" ContentType="application/vnd.openxmlformats-officedocument.presentationml.tags+xml"/>
  <Override PartName="/ppt/tags/tag16.xml" ContentType="application/vnd.openxmlformats-officedocument.presentationml.tags+xml"/>
  <Override PartName="/ppt/tags/tag17.xml" ContentType="application/vnd.openxmlformats-officedocument.presentationml.tags+xml"/>
  <Override PartName="/ppt/tags/tag18.xml" ContentType="application/vnd.openxmlformats-officedocument.presentationml.tags+xml"/>
  <Override PartName="/ppt/tags/tag19.xml" ContentType="application/vnd.openxmlformats-officedocument.presentationml.tags+xml"/>
  <Override PartName="/ppt/tags/tag20.xml" ContentType="application/vnd.openxmlformats-officedocument.presentationml.tags+xml"/>
  <Override PartName="/ppt/tags/tag21.xml" ContentType="application/vnd.openxmlformats-officedocument.presentationml.tags+xml"/>
  <Override PartName="/ppt/tags/tag22.xml" ContentType="application/vnd.openxmlformats-officedocument.presentationml.tags+xml"/>
  <Override PartName="/ppt/tags/tag23.xml" ContentType="application/vnd.openxmlformats-officedocument.presentationml.tags+xml"/>
  <Override PartName="/ppt/tags/tag24.xml" ContentType="application/vnd.openxmlformats-officedocument.presentationml.tags+xml"/>
  <Override PartName="/ppt/tags/tag25.xml" ContentType="application/vnd.openxmlformats-officedocument.presentationml.tags+xml"/>
  <Override PartName="/ppt/tags/tag26.xml" ContentType="application/vnd.openxmlformats-officedocument.presentationml.tags+xml"/>
  <Override PartName="/ppt/tags/tag27.xml" ContentType="application/vnd.openxmlformats-officedocument.presentationml.tags+xml"/>
  <Override PartName="/ppt/tags/tag28.xml" ContentType="application/vnd.openxmlformats-officedocument.presentationml.tags+xml"/>
  <Override PartName="/ppt/tags/tag29.xml" ContentType="application/vnd.openxmlformats-officedocument.presentationml.tags+xml"/>
  <Override PartName="/ppt/tags/tag30.xml" ContentType="application/vnd.openxmlformats-officedocument.presentationml.tags+xml"/>
  <Override PartName="/ppt/tags/tag31.xml" ContentType="application/vnd.openxmlformats-officedocument.presentationml.tags+xml"/>
  <Override PartName="/ppt/tags/tag32.xml" ContentType="application/vnd.openxmlformats-officedocument.presentationml.tags+xml"/>
  <Override PartName="/ppt/tags/tag33.xml" ContentType="application/vnd.openxmlformats-officedocument.presentationml.tags+xml"/>
  <Override PartName="/ppt/tags/tag34.xml" ContentType="application/vnd.openxmlformats-officedocument.presentationml.tags+xml"/>
  <Override PartName="/ppt/tags/tag35.xml" ContentType="application/vnd.openxmlformats-officedocument.presentationml.tags+xml"/>
  <Override PartName="/ppt/tags/tag36.xml" ContentType="application/vnd.openxmlformats-officedocument.presentationml.tags+xml"/>
  <Override PartName="/ppt/tags/tag37.xml" ContentType="application/vnd.openxmlformats-officedocument.presentationml.tags+xml"/>
  <Override PartName="/ppt/tags/tag38.xml" ContentType="application/vnd.openxmlformats-officedocument.presentationml.tags+xml"/>
  <Override PartName="/ppt/tags/tag39.xml" ContentType="application/vnd.openxmlformats-officedocument.presentationml.tags+xml"/>
  <Override PartName="/ppt/tags/tag40.xml" ContentType="application/vnd.openxmlformats-officedocument.presentationml.tags+xml"/>
  <Override PartName="/ppt/tags/tag41.xml" ContentType="application/vnd.openxmlformats-officedocument.presentationml.tags+xml"/>
  <Override PartName="/ppt/tags/tag42.xml" ContentType="application/vnd.openxmlformats-officedocument.presentationml.tags+xml"/>
  <Override PartName="/ppt/tags/tag43.xml" ContentType="application/vnd.openxmlformats-officedocument.presentationml.tags+xml"/>
  <Override PartName="/ppt/tags/tag44.xml" ContentType="application/vnd.openxmlformats-officedocument.presentationml.tags+xml"/>
  <Override PartName="/ppt/tags/tag45.xml" ContentType="application/vnd.openxmlformats-officedocument.presentationml.tags+xml"/>
  <Override PartName="/ppt/tags/tag46.xml" ContentType="application/vnd.openxmlformats-officedocument.presentationml.tags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4006" r:id="rId1"/>
  </p:sldMasterIdLst>
  <p:notesMasterIdLst>
    <p:notesMasterId r:id="rId24"/>
  </p:notesMasterIdLst>
  <p:sldIdLst>
    <p:sldId id="256" r:id="rId2"/>
    <p:sldId id="505" r:id="rId3"/>
    <p:sldId id="516" r:id="rId4"/>
    <p:sldId id="517" r:id="rId5"/>
    <p:sldId id="518" r:id="rId6"/>
    <p:sldId id="519" r:id="rId7"/>
    <p:sldId id="520" r:id="rId8"/>
    <p:sldId id="521" r:id="rId9"/>
    <p:sldId id="522" r:id="rId10"/>
    <p:sldId id="523" r:id="rId11"/>
    <p:sldId id="524" r:id="rId12"/>
    <p:sldId id="525" r:id="rId13"/>
    <p:sldId id="526" r:id="rId14"/>
    <p:sldId id="527" r:id="rId15"/>
    <p:sldId id="528" r:id="rId16"/>
    <p:sldId id="529" r:id="rId17"/>
    <p:sldId id="530" r:id="rId18"/>
    <p:sldId id="531" r:id="rId19"/>
    <p:sldId id="532" r:id="rId20"/>
    <p:sldId id="533" r:id="rId21"/>
    <p:sldId id="534" r:id="rId22"/>
    <p:sldId id="515" r:id="rId23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073A0DAA-6AF3-43AB-8588-CEC1D06C72B9}" styleName="Medium Style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dk1">
              <a:tint val="20000"/>
            </a:schemeClr>
          </a:solidFill>
        </a:fill>
      </a:tcStyle>
    </a:wholeTbl>
    <a:band1H>
      <a:tcStyle>
        <a:tcBdr/>
        <a:fill>
          <a:solidFill>
            <a:schemeClr val="dk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dk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dk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dk1"/>
          </a:solidFill>
        </a:fill>
      </a:tcStyle>
    </a:firstRow>
  </a:tblStyle>
  <a:tblStyle styleId="{21E4AEA4-8DFA-4A89-87EB-49C32662AFE0}" styleName="Medium Style 2 - Accent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2">
              <a:tint val="20000"/>
            </a:schemeClr>
          </a:solidFill>
        </a:fill>
      </a:tcStyle>
    </a:wholeTbl>
    <a:band1H>
      <a:tcStyle>
        <a:tcBdr/>
        <a:fill>
          <a:solidFill>
            <a:schemeClr val="accent2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2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2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2"/>
          </a:solidFill>
        </a:fill>
      </a:tcStyle>
    </a:firstRow>
  </a:tblStyle>
  <a:tblStyle styleId="{0E3FDE45-AF77-4B5C-9715-49D594BDF05E}" styleName="Light Style 1 - Accent 2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accent2"/>
              </a:solidFill>
            </a:ln>
          </a:top>
          <a:bottom>
            <a:ln w="12700" cmpd="sng">
              <a:solidFill>
                <a:schemeClr val="accent2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2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2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accent2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accent2"/>
              </a:solidFill>
            </a:ln>
          </a:bottom>
        </a:tcBdr>
        <a:fill>
          <a:noFill/>
        </a:fill>
      </a:tcStyle>
    </a:firstRow>
  </a:tblStyle>
  <a:tblStyle styleId="{5940675A-B579-460E-94D1-54222C63F5DA}" styleName="No Style, Table Grid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</a:tblStyle>
  <a:tblStyle styleId="{9D7B26C5-4107-4FEC-AEDC-1716B250A1EF}" styleName="Light Style 1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tx1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tx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tx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tx1"/>
              </a:solidFill>
            </a:ln>
          </a:bottom>
        </a:tcBdr>
        <a:fill>
          <a:noFill/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8777"/>
    <p:restoredTop sz="94310"/>
  </p:normalViewPr>
  <p:slideViewPr>
    <p:cSldViewPr snapToGrid="0" snapToObjects="1">
      <p:cViewPr varScale="1">
        <p:scale>
          <a:sx n="136" d="100"/>
          <a:sy n="136" d="100"/>
        </p:scale>
        <p:origin x="432" y="200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viewProps" Target="viewProps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presProps" Target="presProp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notesMaster" Target="notesMasters/notesMaster1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tableStyles" Target="tableStyle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theme" Target="theme/theme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C5B45307-6ED4-B142-BD64-10F739779302}" type="datetimeFigureOut">
              <a:rPr lang="en-US" smtClean="0"/>
              <a:t>10/22/26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51BDE956-AECE-4A49-8BC2-51A8C013B72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53978144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51BDE956-AECE-4A49-8BC2-51A8C013B720}" type="slidenum">
              <a:rPr lang="en-US" smtClean="0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29457708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6" name="Picture 2" descr="\\DROBO-FS\QuickDrops\JB\PPTX NG\Droplets\LightingOverlay.png"/>
          <p:cNvPicPr>
            <a:picLocks noChangeAspect="1" noChangeArrowheads="1"/>
          </p:cNvPicPr>
          <p:nvPr/>
        </p:nvPicPr>
        <p:blipFill>
          <a:blip r:embed="rId2">
            <a:alphaModFix amt="30000"/>
            <a:duotone>
              <a:prstClr val="black"/>
              <a:schemeClr val="tx2">
                <a:tint val="45000"/>
                <a:satMod val="400000"/>
              </a:schemeClr>
            </a:duotone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0" y="-1"/>
            <a:ext cx="12192003" cy="6858001"/>
          </a:xfrm>
          <a:prstGeom prst="rect">
            <a:avLst/>
          </a:prstGeom>
          <a:noFill/>
          <a:extLst>
            <a:ext uri="{909E8E84-426E-40dd-AFC4-6F175D3DCCD1}">
              <a14:hiddenFill xmlns=""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grpSp>
        <p:nvGrpSpPr>
          <p:cNvPr id="11" name="Group 10"/>
          <p:cNvGrpSpPr/>
          <p:nvPr/>
        </p:nvGrpSpPr>
        <p:grpSpPr>
          <a:xfrm>
            <a:off x="0" y="0"/>
            <a:ext cx="2305051" cy="6858001"/>
            <a:chOff x="0" y="0"/>
            <a:chExt cx="2305051" cy="6858001"/>
          </a:xfrm>
          <a:gradFill flip="none" rotWithShape="1">
            <a:gsLst>
              <a:gs pos="0">
                <a:schemeClr val="tx2"/>
              </a:gs>
              <a:gs pos="100000">
                <a:schemeClr val="tx2">
                  <a:lumMod val="50000"/>
                </a:schemeClr>
              </a:gs>
            </a:gsLst>
            <a:lin ang="5400000" scaled="0"/>
            <a:tileRect/>
          </a:gradFill>
        </p:grpSpPr>
        <p:sp>
          <p:nvSpPr>
            <p:cNvPr id="12" name="Rectangle 5"/>
            <p:cNvSpPr>
              <a:spLocks noChangeArrowheads="1"/>
            </p:cNvSpPr>
            <p:nvPr/>
          </p:nvSpPr>
          <p:spPr bwMode="auto">
            <a:xfrm>
              <a:off x="1209675" y="4763"/>
              <a:ext cx="23813" cy="2181225"/>
            </a:xfrm>
            <a:prstGeom prst="rect">
              <a:avLst/>
            </a:pr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</p:sp>
        <p:sp>
          <p:nvSpPr>
            <p:cNvPr id="13" name="Freeform 6"/>
            <p:cNvSpPr>
              <a:spLocks noEditPoints="1"/>
            </p:cNvSpPr>
            <p:nvPr/>
          </p:nvSpPr>
          <p:spPr bwMode="auto">
            <a:xfrm>
              <a:off x="1128713" y="2176463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8" y="36"/>
                    <a:pt x="36" y="29"/>
                    <a:pt x="36" y="20"/>
                  </a:cubicBezTo>
                  <a:cubicBezTo>
                    <a:pt x="36" y="11"/>
                    <a:pt x="28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14" name="Freeform 7"/>
            <p:cNvSpPr>
              <a:spLocks noEditPoints="1"/>
            </p:cNvSpPr>
            <p:nvPr/>
          </p:nvSpPr>
          <p:spPr bwMode="auto">
            <a:xfrm>
              <a:off x="1123950" y="4021138"/>
              <a:ext cx="190500" cy="188913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15" name="Rectangle 8"/>
            <p:cNvSpPr>
              <a:spLocks noChangeArrowheads="1"/>
            </p:cNvSpPr>
            <p:nvPr/>
          </p:nvSpPr>
          <p:spPr bwMode="auto">
            <a:xfrm>
              <a:off x="414338" y="9525"/>
              <a:ext cx="28575" cy="4481513"/>
            </a:xfrm>
            <a:prstGeom prst="rect">
              <a:avLst/>
            </a:pr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</p:sp>
        <p:sp>
          <p:nvSpPr>
            <p:cNvPr id="16" name="Freeform 9"/>
            <p:cNvSpPr>
              <a:spLocks noEditPoints="1"/>
            </p:cNvSpPr>
            <p:nvPr/>
          </p:nvSpPr>
          <p:spPr bwMode="auto">
            <a:xfrm>
              <a:off x="333375" y="4481513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17" name="Freeform 10"/>
            <p:cNvSpPr/>
            <p:nvPr/>
          </p:nvSpPr>
          <p:spPr bwMode="auto">
            <a:xfrm>
              <a:off x="190500" y="9525"/>
              <a:ext cx="152400" cy="908050"/>
            </a:xfrm>
            <a:custGeom>
              <a:avLst/>
              <a:gdLst/>
              <a:ahLst/>
              <a:cxnLst/>
              <a:rect l="0" t="0" r="r" b="b"/>
              <a:pathLst>
                <a:path w="96" h="572">
                  <a:moveTo>
                    <a:pt x="15" y="572"/>
                  </a:moveTo>
                  <a:lnTo>
                    <a:pt x="0" y="566"/>
                  </a:lnTo>
                  <a:lnTo>
                    <a:pt x="81" y="380"/>
                  </a:lnTo>
                  <a:lnTo>
                    <a:pt x="81" y="0"/>
                  </a:lnTo>
                  <a:lnTo>
                    <a:pt x="96" y="0"/>
                  </a:lnTo>
                  <a:lnTo>
                    <a:pt x="96" y="383"/>
                  </a:lnTo>
                  <a:lnTo>
                    <a:pt x="15" y="572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18" name="Freeform 11"/>
            <p:cNvSpPr/>
            <p:nvPr/>
          </p:nvSpPr>
          <p:spPr bwMode="auto">
            <a:xfrm>
              <a:off x="1290638" y="14288"/>
              <a:ext cx="376238" cy="1801813"/>
            </a:xfrm>
            <a:custGeom>
              <a:avLst/>
              <a:gdLst/>
              <a:ahLst/>
              <a:cxnLst/>
              <a:rect l="0" t="0" r="r" b="b"/>
              <a:pathLst>
                <a:path w="237" h="1135">
                  <a:moveTo>
                    <a:pt x="222" y="1135"/>
                  </a:moveTo>
                  <a:lnTo>
                    <a:pt x="0" y="620"/>
                  </a:lnTo>
                  <a:lnTo>
                    <a:pt x="0" y="0"/>
                  </a:lnTo>
                  <a:lnTo>
                    <a:pt x="18" y="0"/>
                  </a:lnTo>
                  <a:lnTo>
                    <a:pt x="18" y="617"/>
                  </a:lnTo>
                  <a:lnTo>
                    <a:pt x="237" y="1129"/>
                  </a:lnTo>
                  <a:lnTo>
                    <a:pt x="222" y="1135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19" name="Freeform 12"/>
            <p:cNvSpPr>
              <a:spLocks noEditPoints="1"/>
            </p:cNvSpPr>
            <p:nvPr/>
          </p:nvSpPr>
          <p:spPr bwMode="auto">
            <a:xfrm>
              <a:off x="1600200" y="1801813"/>
              <a:ext cx="190500" cy="188913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8" y="36"/>
                    <a:pt x="36" y="29"/>
                    <a:pt x="36" y="20"/>
                  </a:cubicBezTo>
                  <a:cubicBezTo>
                    <a:pt x="36" y="11"/>
                    <a:pt x="28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20" name="Freeform 13"/>
            <p:cNvSpPr/>
            <p:nvPr/>
          </p:nvSpPr>
          <p:spPr bwMode="auto">
            <a:xfrm>
              <a:off x="1381125" y="9525"/>
              <a:ext cx="371475" cy="1425575"/>
            </a:xfrm>
            <a:custGeom>
              <a:avLst/>
              <a:gdLst/>
              <a:ahLst/>
              <a:cxnLst/>
              <a:rect l="0" t="0" r="r" b="b"/>
              <a:pathLst>
                <a:path w="234" h="898">
                  <a:moveTo>
                    <a:pt x="219" y="898"/>
                  </a:moveTo>
                  <a:lnTo>
                    <a:pt x="0" y="383"/>
                  </a:lnTo>
                  <a:lnTo>
                    <a:pt x="0" y="0"/>
                  </a:lnTo>
                  <a:lnTo>
                    <a:pt x="15" y="0"/>
                  </a:lnTo>
                  <a:lnTo>
                    <a:pt x="15" y="380"/>
                  </a:lnTo>
                  <a:lnTo>
                    <a:pt x="234" y="892"/>
                  </a:lnTo>
                  <a:lnTo>
                    <a:pt x="219" y="898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21" name="Freeform 14"/>
            <p:cNvSpPr/>
            <p:nvPr/>
          </p:nvSpPr>
          <p:spPr bwMode="auto">
            <a:xfrm>
              <a:off x="1643063" y="0"/>
              <a:ext cx="152400" cy="912813"/>
            </a:xfrm>
            <a:custGeom>
              <a:avLst/>
              <a:gdLst/>
              <a:ahLst/>
              <a:cxnLst/>
              <a:rect l="0" t="0" r="r" b="b"/>
              <a:pathLst>
                <a:path w="96" h="575">
                  <a:moveTo>
                    <a:pt x="96" y="575"/>
                  </a:moveTo>
                  <a:lnTo>
                    <a:pt x="78" y="575"/>
                  </a:lnTo>
                  <a:lnTo>
                    <a:pt x="78" y="192"/>
                  </a:lnTo>
                  <a:lnTo>
                    <a:pt x="0" y="6"/>
                  </a:lnTo>
                  <a:lnTo>
                    <a:pt x="15" y="0"/>
                  </a:lnTo>
                  <a:lnTo>
                    <a:pt x="96" y="189"/>
                  </a:lnTo>
                  <a:lnTo>
                    <a:pt x="96" y="575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22" name="Freeform 15"/>
            <p:cNvSpPr>
              <a:spLocks noEditPoints="1"/>
            </p:cNvSpPr>
            <p:nvPr/>
          </p:nvSpPr>
          <p:spPr bwMode="auto">
            <a:xfrm>
              <a:off x="1685925" y="1420813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23" name="Freeform 16"/>
            <p:cNvSpPr>
              <a:spLocks noEditPoints="1"/>
            </p:cNvSpPr>
            <p:nvPr/>
          </p:nvSpPr>
          <p:spPr bwMode="auto">
            <a:xfrm>
              <a:off x="1685925" y="903288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24" name="Freeform 17"/>
            <p:cNvSpPr/>
            <p:nvPr/>
          </p:nvSpPr>
          <p:spPr bwMode="auto">
            <a:xfrm>
              <a:off x="1743075" y="4763"/>
              <a:ext cx="419100" cy="522288"/>
            </a:xfrm>
            <a:custGeom>
              <a:avLst/>
              <a:gdLst/>
              <a:ahLst/>
              <a:cxnLst/>
              <a:rect l="0" t="0" r="r" b="b"/>
              <a:pathLst>
                <a:path w="264" h="329">
                  <a:moveTo>
                    <a:pt x="252" y="329"/>
                  </a:moveTo>
                  <a:lnTo>
                    <a:pt x="45" y="120"/>
                  </a:lnTo>
                  <a:lnTo>
                    <a:pt x="0" y="6"/>
                  </a:lnTo>
                  <a:lnTo>
                    <a:pt x="15" y="0"/>
                  </a:lnTo>
                  <a:lnTo>
                    <a:pt x="60" y="111"/>
                  </a:lnTo>
                  <a:lnTo>
                    <a:pt x="264" y="317"/>
                  </a:lnTo>
                  <a:lnTo>
                    <a:pt x="252" y="329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25" name="Freeform 18"/>
            <p:cNvSpPr>
              <a:spLocks noEditPoints="1"/>
            </p:cNvSpPr>
            <p:nvPr/>
          </p:nvSpPr>
          <p:spPr bwMode="auto">
            <a:xfrm>
              <a:off x="2119313" y="488950"/>
              <a:ext cx="161925" cy="147638"/>
            </a:xfrm>
            <a:custGeom>
              <a:avLst/>
              <a:gdLst/>
              <a:ahLst/>
              <a:cxnLst/>
              <a:rect l="0" t="0" r="r" b="b"/>
              <a:pathLst>
                <a:path w="34" h="31">
                  <a:moveTo>
                    <a:pt x="17" y="31"/>
                  </a:moveTo>
                  <a:cubicBezTo>
                    <a:pt x="13" y="31"/>
                    <a:pt x="9" y="30"/>
                    <a:pt x="6" y="27"/>
                  </a:cubicBezTo>
                  <a:cubicBezTo>
                    <a:pt x="0" y="20"/>
                    <a:pt x="0" y="10"/>
                    <a:pt x="6" y="4"/>
                  </a:cubicBezTo>
                  <a:cubicBezTo>
                    <a:pt x="9" y="1"/>
                    <a:pt x="13" y="0"/>
                    <a:pt x="17" y="0"/>
                  </a:cubicBezTo>
                  <a:cubicBezTo>
                    <a:pt x="21" y="0"/>
                    <a:pt x="25" y="1"/>
                    <a:pt x="28" y="4"/>
                  </a:cubicBezTo>
                  <a:cubicBezTo>
                    <a:pt x="34" y="10"/>
                    <a:pt x="34" y="20"/>
                    <a:pt x="28" y="27"/>
                  </a:cubicBezTo>
                  <a:cubicBezTo>
                    <a:pt x="25" y="30"/>
                    <a:pt x="21" y="31"/>
                    <a:pt x="17" y="31"/>
                  </a:cubicBezTo>
                  <a:close/>
                  <a:moveTo>
                    <a:pt x="17" y="4"/>
                  </a:moveTo>
                  <a:cubicBezTo>
                    <a:pt x="14" y="4"/>
                    <a:pt x="11" y="5"/>
                    <a:pt x="9" y="7"/>
                  </a:cubicBezTo>
                  <a:cubicBezTo>
                    <a:pt x="4" y="12"/>
                    <a:pt x="4" y="19"/>
                    <a:pt x="9" y="24"/>
                  </a:cubicBezTo>
                  <a:cubicBezTo>
                    <a:pt x="11" y="26"/>
                    <a:pt x="14" y="27"/>
                    <a:pt x="17" y="27"/>
                  </a:cubicBezTo>
                  <a:cubicBezTo>
                    <a:pt x="20" y="27"/>
                    <a:pt x="23" y="26"/>
                    <a:pt x="25" y="24"/>
                  </a:cubicBezTo>
                  <a:cubicBezTo>
                    <a:pt x="30" y="19"/>
                    <a:pt x="30" y="12"/>
                    <a:pt x="25" y="7"/>
                  </a:cubicBezTo>
                  <a:cubicBezTo>
                    <a:pt x="23" y="5"/>
                    <a:pt x="20" y="4"/>
                    <a:pt x="17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26" name="Freeform 19"/>
            <p:cNvSpPr/>
            <p:nvPr/>
          </p:nvSpPr>
          <p:spPr bwMode="auto">
            <a:xfrm>
              <a:off x="952500" y="4763"/>
              <a:ext cx="152400" cy="908050"/>
            </a:xfrm>
            <a:custGeom>
              <a:avLst/>
              <a:gdLst/>
              <a:ahLst/>
              <a:cxnLst/>
              <a:rect l="0" t="0" r="r" b="b"/>
              <a:pathLst>
                <a:path w="96" h="572">
                  <a:moveTo>
                    <a:pt x="15" y="572"/>
                  </a:moveTo>
                  <a:lnTo>
                    <a:pt x="0" y="572"/>
                  </a:lnTo>
                  <a:lnTo>
                    <a:pt x="0" y="189"/>
                  </a:lnTo>
                  <a:lnTo>
                    <a:pt x="81" y="0"/>
                  </a:lnTo>
                  <a:lnTo>
                    <a:pt x="96" y="6"/>
                  </a:lnTo>
                  <a:lnTo>
                    <a:pt x="15" y="192"/>
                  </a:lnTo>
                  <a:lnTo>
                    <a:pt x="15" y="572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27" name="Freeform 20"/>
            <p:cNvSpPr>
              <a:spLocks noEditPoints="1"/>
            </p:cNvSpPr>
            <p:nvPr/>
          </p:nvSpPr>
          <p:spPr bwMode="auto">
            <a:xfrm>
              <a:off x="866775" y="903288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2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2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28" name="Freeform 21"/>
            <p:cNvSpPr>
              <a:spLocks noEditPoints="1"/>
            </p:cNvSpPr>
            <p:nvPr/>
          </p:nvSpPr>
          <p:spPr bwMode="auto">
            <a:xfrm>
              <a:off x="890588" y="1554163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8"/>
                    <a:pt x="11" y="36"/>
                    <a:pt x="20" y="36"/>
                  </a:cubicBezTo>
                  <a:cubicBezTo>
                    <a:pt x="29" y="36"/>
                    <a:pt x="36" y="28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29" name="Freeform 22"/>
            <p:cNvSpPr/>
            <p:nvPr/>
          </p:nvSpPr>
          <p:spPr bwMode="auto">
            <a:xfrm>
              <a:off x="738188" y="5622925"/>
              <a:ext cx="338138" cy="1216025"/>
            </a:xfrm>
            <a:custGeom>
              <a:avLst/>
              <a:gdLst/>
              <a:ahLst/>
              <a:cxnLst/>
              <a:rect l="0" t="0" r="r" b="b"/>
              <a:pathLst>
                <a:path w="213" h="766">
                  <a:moveTo>
                    <a:pt x="213" y="766"/>
                  </a:moveTo>
                  <a:lnTo>
                    <a:pt x="195" y="766"/>
                  </a:lnTo>
                  <a:lnTo>
                    <a:pt x="195" y="464"/>
                  </a:lnTo>
                  <a:lnTo>
                    <a:pt x="0" y="6"/>
                  </a:lnTo>
                  <a:lnTo>
                    <a:pt x="12" y="0"/>
                  </a:lnTo>
                  <a:lnTo>
                    <a:pt x="213" y="461"/>
                  </a:lnTo>
                  <a:lnTo>
                    <a:pt x="213" y="766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30" name="Freeform 23"/>
            <p:cNvSpPr>
              <a:spLocks noEditPoints="1"/>
            </p:cNvSpPr>
            <p:nvPr/>
          </p:nvSpPr>
          <p:spPr bwMode="auto">
            <a:xfrm>
              <a:off x="647700" y="5480050"/>
              <a:ext cx="157163" cy="157163"/>
            </a:xfrm>
            <a:custGeom>
              <a:avLst/>
              <a:gdLst/>
              <a:ahLst/>
              <a:cxnLst/>
              <a:rect l="0" t="0" r="r" b="b"/>
              <a:pathLst>
                <a:path w="33" h="33">
                  <a:moveTo>
                    <a:pt x="17" y="33"/>
                  </a:moveTo>
                  <a:cubicBezTo>
                    <a:pt x="8" y="33"/>
                    <a:pt x="0" y="26"/>
                    <a:pt x="0" y="17"/>
                  </a:cubicBezTo>
                  <a:cubicBezTo>
                    <a:pt x="0" y="8"/>
                    <a:pt x="8" y="0"/>
                    <a:pt x="17" y="0"/>
                  </a:cubicBezTo>
                  <a:cubicBezTo>
                    <a:pt x="26" y="0"/>
                    <a:pt x="33" y="8"/>
                    <a:pt x="33" y="17"/>
                  </a:cubicBezTo>
                  <a:cubicBezTo>
                    <a:pt x="33" y="26"/>
                    <a:pt x="26" y="33"/>
                    <a:pt x="17" y="33"/>
                  </a:cubicBezTo>
                  <a:close/>
                  <a:moveTo>
                    <a:pt x="17" y="4"/>
                  </a:moveTo>
                  <a:cubicBezTo>
                    <a:pt x="10" y="4"/>
                    <a:pt x="4" y="10"/>
                    <a:pt x="4" y="17"/>
                  </a:cubicBezTo>
                  <a:cubicBezTo>
                    <a:pt x="4" y="24"/>
                    <a:pt x="10" y="29"/>
                    <a:pt x="17" y="29"/>
                  </a:cubicBezTo>
                  <a:cubicBezTo>
                    <a:pt x="23" y="29"/>
                    <a:pt x="29" y="24"/>
                    <a:pt x="29" y="17"/>
                  </a:cubicBezTo>
                  <a:cubicBezTo>
                    <a:pt x="29" y="10"/>
                    <a:pt x="23" y="4"/>
                    <a:pt x="17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31" name="Freeform 24"/>
            <p:cNvSpPr>
              <a:spLocks noEditPoints="1"/>
            </p:cNvSpPr>
            <p:nvPr/>
          </p:nvSpPr>
          <p:spPr bwMode="auto">
            <a:xfrm>
              <a:off x="66675" y="903288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2" y="0"/>
                    <a:pt x="40" y="9"/>
                    <a:pt x="40" y="20"/>
                  </a:cubicBezTo>
                  <a:cubicBezTo>
                    <a:pt x="40" y="31"/>
                    <a:pt x="32" y="40"/>
                    <a:pt x="20" y="40"/>
                  </a:cubicBezTo>
                  <a:close/>
                  <a:moveTo>
                    <a:pt x="20" y="4"/>
                  </a:moveTo>
                  <a:cubicBezTo>
                    <a:pt x="12" y="4"/>
                    <a:pt x="4" y="12"/>
                    <a:pt x="4" y="20"/>
                  </a:cubicBezTo>
                  <a:cubicBezTo>
                    <a:pt x="4" y="29"/>
                    <a:pt x="12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2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32" name="Freeform 25"/>
            <p:cNvSpPr/>
            <p:nvPr/>
          </p:nvSpPr>
          <p:spPr bwMode="auto">
            <a:xfrm>
              <a:off x="0" y="3897313"/>
              <a:ext cx="133350" cy="266700"/>
            </a:xfrm>
            <a:custGeom>
              <a:avLst/>
              <a:gdLst/>
              <a:ahLst/>
              <a:cxnLst/>
              <a:rect l="0" t="0" r="r" b="b"/>
              <a:pathLst>
                <a:path w="84" h="168">
                  <a:moveTo>
                    <a:pt x="69" y="168"/>
                  </a:moveTo>
                  <a:lnTo>
                    <a:pt x="0" y="6"/>
                  </a:lnTo>
                  <a:lnTo>
                    <a:pt x="12" y="0"/>
                  </a:lnTo>
                  <a:lnTo>
                    <a:pt x="84" y="162"/>
                  </a:lnTo>
                  <a:lnTo>
                    <a:pt x="69" y="168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33" name="Freeform 26"/>
            <p:cNvSpPr>
              <a:spLocks noEditPoints="1"/>
            </p:cNvSpPr>
            <p:nvPr/>
          </p:nvSpPr>
          <p:spPr bwMode="auto">
            <a:xfrm>
              <a:off x="66675" y="4149725"/>
              <a:ext cx="190500" cy="188913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8"/>
                    <a:pt x="11" y="36"/>
                    <a:pt x="20" y="36"/>
                  </a:cubicBezTo>
                  <a:cubicBezTo>
                    <a:pt x="29" y="36"/>
                    <a:pt x="36" y="28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34" name="Freeform 27"/>
            <p:cNvSpPr/>
            <p:nvPr/>
          </p:nvSpPr>
          <p:spPr bwMode="auto">
            <a:xfrm>
              <a:off x="0" y="1644650"/>
              <a:ext cx="133350" cy="269875"/>
            </a:xfrm>
            <a:custGeom>
              <a:avLst/>
              <a:gdLst/>
              <a:ahLst/>
              <a:cxnLst/>
              <a:rect l="0" t="0" r="r" b="b"/>
              <a:pathLst>
                <a:path w="84" h="170">
                  <a:moveTo>
                    <a:pt x="12" y="170"/>
                  </a:moveTo>
                  <a:lnTo>
                    <a:pt x="0" y="164"/>
                  </a:lnTo>
                  <a:lnTo>
                    <a:pt x="69" y="0"/>
                  </a:lnTo>
                  <a:lnTo>
                    <a:pt x="84" y="6"/>
                  </a:lnTo>
                  <a:lnTo>
                    <a:pt x="12" y="170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35" name="Freeform 28"/>
            <p:cNvSpPr>
              <a:spLocks noEditPoints="1"/>
            </p:cNvSpPr>
            <p:nvPr/>
          </p:nvSpPr>
          <p:spPr bwMode="auto">
            <a:xfrm>
              <a:off x="66675" y="1468438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8"/>
                    <a:pt x="11" y="36"/>
                    <a:pt x="20" y="36"/>
                  </a:cubicBezTo>
                  <a:cubicBezTo>
                    <a:pt x="29" y="36"/>
                    <a:pt x="36" y="28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36" name="Freeform 29"/>
            <p:cNvSpPr/>
            <p:nvPr/>
          </p:nvSpPr>
          <p:spPr bwMode="auto">
            <a:xfrm>
              <a:off x="695325" y="4763"/>
              <a:ext cx="309563" cy="1558925"/>
            </a:xfrm>
            <a:custGeom>
              <a:avLst/>
              <a:gdLst/>
              <a:ahLst/>
              <a:cxnLst/>
              <a:rect l="0" t="0" r="r" b="b"/>
              <a:pathLst>
                <a:path w="195" h="982">
                  <a:moveTo>
                    <a:pt x="195" y="982"/>
                  </a:moveTo>
                  <a:lnTo>
                    <a:pt x="177" y="982"/>
                  </a:lnTo>
                  <a:lnTo>
                    <a:pt x="177" y="805"/>
                  </a:lnTo>
                  <a:lnTo>
                    <a:pt x="0" y="629"/>
                  </a:lnTo>
                  <a:lnTo>
                    <a:pt x="0" y="0"/>
                  </a:lnTo>
                  <a:lnTo>
                    <a:pt x="18" y="0"/>
                  </a:lnTo>
                  <a:lnTo>
                    <a:pt x="18" y="623"/>
                  </a:lnTo>
                  <a:lnTo>
                    <a:pt x="195" y="796"/>
                  </a:lnTo>
                  <a:lnTo>
                    <a:pt x="195" y="982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37" name="Freeform 30"/>
            <p:cNvSpPr>
              <a:spLocks noEditPoints="1"/>
            </p:cNvSpPr>
            <p:nvPr/>
          </p:nvSpPr>
          <p:spPr bwMode="auto">
            <a:xfrm>
              <a:off x="57150" y="4881563"/>
              <a:ext cx="190500" cy="188913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2" y="4"/>
                    <a:pt x="4" y="11"/>
                    <a:pt x="4" y="20"/>
                  </a:cubicBezTo>
                  <a:cubicBezTo>
                    <a:pt x="4" y="29"/>
                    <a:pt x="12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38" name="Freeform 31"/>
            <p:cNvSpPr/>
            <p:nvPr/>
          </p:nvSpPr>
          <p:spPr bwMode="auto">
            <a:xfrm>
              <a:off x="138113" y="5060950"/>
              <a:ext cx="304800" cy="1778000"/>
            </a:xfrm>
            <a:custGeom>
              <a:avLst/>
              <a:gdLst/>
              <a:ahLst/>
              <a:cxnLst/>
              <a:rect l="0" t="0" r="r" b="b"/>
              <a:pathLst>
                <a:path w="192" h="1120">
                  <a:moveTo>
                    <a:pt x="192" y="1120"/>
                  </a:moveTo>
                  <a:lnTo>
                    <a:pt x="177" y="1120"/>
                  </a:lnTo>
                  <a:lnTo>
                    <a:pt x="177" y="360"/>
                  </a:lnTo>
                  <a:lnTo>
                    <a:pt x="0" y="183"/>
                  </a:lnTo>
                  <a:lnTo>
                    <a:pt x="0" y="0"/>
                  </a:lnTo>
                  <a:lnTo>
                    <a:pt x="15" y="0"/>
                  </a:lnTo>
                  <a:lnTo>
                    <a:pt x="15" y="177"/>
                  </a:lnTo>
                  <a:lnTo>
                    <a:pt x="192" y="354"/>
                  </a:lnTo>
                  <a:lnTo>
                    <a:pt x="192" y="1120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39" name="Freeform 32"/>
            <p:cNvSpPr>
              <a:spLocks noEditPoints="1"/>
            </p:cNvSpPr>
            <p:nvPr/>
          </p:nvSpPr>
          <p:spPr bwMode="auto">
            <a:xfrm>
              <a:off x="561975" y="6430963"/>
              <a:ext cx="190500" cy="188913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2" y="4"/>
                    <a:pt x="4" y="11"/>
                    <a:pt x="4" y="20"/>
                  </a:cubicBezTo>
                  <a:cubicBezTo>
                    <a:pt x="4" y="29"/>
                    <a:pt x="12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40" name="Rectangle 33"/>
            <p:cNvSpPr>
              <a:spLocks noChangeArrowheads="1"/>
            </p:cNvSpPr>
            <p:nvPr/>
          </p:nvSpPr>
          <p:spPr bwMode="auto">
            <a:xfrm>
              <a:off x="642938" y="6610350"/>
              <a:ext cx="23813" cy="242888"/>
            </a:xfrm>
            <a:prstGeom prst="rect">
              <a:avLst/>
            </a:pr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</p:sp>
        <p:sp>
          <p:nvSpPr>
            <p:cNvPr id="41" name="Freeform 34"/>
            <p:cNvSpPr>
              <a:spLocks noEditPoints="1"/>
            </p:cNvSpPr>
            <p:nvPr/>
          </p:nvSpPr>
          <p:spPr bwMode="auto">
            <a:xfrm>
              <a:off x="76200" y="6430963"/>
              <a:ext cx="190500" cy="188913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2" y="0"/>
                    <a:pt x="40" y="9"/>
                    <a:pt x="40" y="20"/>
                  </a:cubicBezTo>
                  <a:cubicBezTo>
                    <a:pt x="40" y="31"/>
                    <a:pt x="32" y="40"/>
                    <a:pt x="20" y="40"/>
                  </a:cubicBezTo>
                  <a:close/>
                  <a:moveTo>
                    <a:pt x="20" y="4"/>
                  </a:moveTo>
                  <a:cubicBezTo>
                    <a:pt x="12" y="4"/>
                    <a:pt x="4" y="11"/>
                    <a:pt x="4" y="20"/>
                  </a:cubicBezTo>
                  <a:cubicBezTo>
                    <a:pt x="4" y="29"/>
                    <a:pt x="12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42" name="Freeform 35"/>
            <p:cNvSpPr/>
            <p:nvPr/>
          </p:nvSpPr>
          <p:spPr bwMode="auto">
            <a:xfrm>
              <a:off x="0" y="5978525"/>
              <a:ext cx="190500" cy="461963"/>
            </a:xfrm>
            <a:custGeom>
              <a:avLst/>
              <a:gdLst/>
              <a:ahLst/>
              <a:cxnLst/>
              <a:rect l="0" t="0" r="r" b="b"/>
              <a:pathLst>
                <a:path w="120" h="291">
                  <a:moveTo>
                    <a:pt x="120" y="291"/>
                  </a:moveTo>
                  <a:lnTo>
                    <a:pt x="105" y="291"/>
                  </a:lnTo>
                  <a:lnTo>
                    <a:pt x="105" y="114"/>
                  </a:lnTo>
                  <a:lnTo>
                    <a:pt x="0" y="9"/>
                  </a:lnTo>
                  <a:lnTo>
                    <a:pt x="12" y="0"/>
                  </a:lnTo>
                  <a:lnTo>
                    <a:pt x="120" y="108"/>
                  </a:lnTo>
                  <a:lnTo>
                    <a:pt x="120" y="291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43" name="Freeform 36"/>
            <p:cNvSpPr/>
            <p:nvPr/>
          </p:nvSpPr>
          <p:spPr bwMode="auto">
            <a:xfrm>
              <a:off x="1014413" y="1801813"/>
              <a:ext cx="214313" cy="755650"/>
            </a:xfrm>
            <a:custGeom>
              <a:avLst/>
              <a:gdLst/>
              <a:ahLst/>
              <a:cxnLst/>
              <a:rect l="0" t="0" r="r" b="b"/>
              <a:pathLst>
                <a:path w="135" h="476">
                  <a:moveTo>
                    <a:pt x="12" y="476"/>
                  </a:moveTo>
                  <a:lnTo>
                    <a:pt x="0" y="476"/>
                  </a:lnTo>
                  <a:lnTo>
                    <a:pt x="0" y="128"/>
                  </a:lnTo>
                  <a:lnTo>
                    <a:pt x="126" y="0"/>
                  </a:lnTo>
                  <a:lnTo>
                    <a:pt x="135" y="9"/>
                  </a:lnTo>
                  <a:lnTo>
                    <a:pt x="12" y="131"/>
                  </a:lnTo>
                  <a:lnTo>
                    <a:pt x="12" y="476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44" name="Freeform 37"/>
            <p:cNvSpPr>
              <a:spLocks noEditPoints="1"/>
            </p:cNvSpPr>
            <p:nvPr/>
          </p:nvSpPr>
          <p:spPr bwMode="auto">
            <a:xfrm>
              <a:off x="938213" y="2547938"/>
              <a:ext cx="166688" cy="160338"/>
            </a:xfrm>
            <a:custGeom>
              <a:avLst/>
              <a:gdLst/>
              <a:ahLst/>
              <a:cxnLst/>
              <a:rect l="0" t="0" r="r" b="b"/>
              <a:pathLst>
                <a:path w="35" h="34">
                  <a:moveTo>
                    <a:pt x="18" y="34"/>
                  </a:moveTo>
                  <a:cubicBezTo>
                    <a:pt x="8" y="34"/>
                    <a:pt x="0" y="26"/>
                    <a:pt x="0" y="17"/>
                  </a:cubicBezTo>
                  <a:cubicBezTo>
                    <a:pt x="0" y="7"/>
                    <a:pt x="8" y="0"/>
                    <a:pt x="18" y="0"/>
                  </a:cubicBezTo>
                  <a:cubicBezTo>
                    <a:pt x="27" y="0"/>
                    <a:pt x="35" y="7"/>
                    <a:pt x="35" y="17"/>
                  </a:cubicBezTo>
                  <a:cubicBezTo>
                    <a:pt x="35" y="26"/>
                    <a:pt x="27" y="34"/>
                    <a:pt x="18" y="34"/>
                  </a:cubicBezTo>
                  <a:close/>
                  <a:moveTo>
                    <a:pt x="18" y="4"/>
                  </a:moveTo>
                  <a:cubicBezTo>
                    <a:pt x="10" y="4"/>
                    <a:pt x="4" y="10"/>
                    <a:pt x="4" y="17"/>
                  </a:cubicBezTo>
                  <a:cubicBezTo>
                    <a:pt x="4" y="24"/>
                    <a:pt x="10" y="30"/>
                    <a:pt x="18" y="30"/>
                  </a:cubicBezTo>
                  <a:cubicBezTo>
                    <a:pt x="25" y="30"/>
                    <a:pt x="31" y="24"/>
                    <a:pt x="31" y="17"/>
                  </a:cubicBezTo>
                  <a:cubicBezTo>
                    <a:pt x="31" y="10"/>
                    <a:pt x="25" y="4"/>
                    <a:pt x="18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45" name="Freeform 38"/>
            <p:cNvSpPr/>
            <p:nvPr/>
          </p:nvSpPr>
          <p:spPr bwMode="auto">
            <a:xfrm>
              <a:off x="595313" y="4763"/>
              <a:ext cx="638175" cy="4025900"/>
            </a:xfrm>
            <a:custGeom>
              <a:avLst/>
              <a:gdLst/>
              <a:ahLst/>
              <a:cxnLst/>
              <a:rect l="0" t="0" r="r" b="b"/>
              <a:pathLst>
                <a:path w="402" h="2536">
                  <a:moveTo>
                    <a:pt x="402" y="2536"/>
                  </a:moveTo>
                  <a:lnTo>
                    <a:pt x="387" y="2536"/>
                  </a:lnTo>
                  <a:lnTo>
                    <a:pt x="387" y="2311"/>
                  </a:lnTo>
                  <a:lnTo>
                    <a:pt x="0" y="1925"/>
                  </a:lnTo>
                  <a:lnTo>
                    <a:pt x="0" y="0"/>
                  </a:lnTo>
                  <a:lnTo>
                    <a:pt x="15" y="0"/>
                  </a:lnTo>
                  <a:lnTo>
                    <a:pt x="15" y="1916"/>
                  </a:lnTo>
                  <a:lnTo>
                    <a:pt x="402" y="2302"/>
                  </a:lnTo>
                  <a:lnTo>
                    <a:pt x="402" y="2536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46" name="Freeform 39"/>
            <p:cNvSpPr/>
            <p:nvPr/>
          </p:nvSpPr>
          <p:spPr bwMode="auto">
            <a:xfrm>
              <a:off x="1223963" y="1382713"/>
              <a:ext cx="142875" cy="476250"/>
            </a:xfrm>
            <a:custGeom>
              <a:avLst/>
              <a:gdLst/>
              <a:ahLst/>
              <a:cxnLst/>
              <a:rect l="0" t="0" r="r" b="b"/>
              <a:pathLst>
                <a:path w="90" h="300">
                  <a:moveTo>
                    <a:pt x="90" y="300"/>
                  </a:moveTo>
                  <a:lnTo>
                    <a:pt x="78" y="300"/>
                  </a:lnTo>
                  <a:lnTo>
                    <a:pt x="78" y="84"/>
                  </a:lnTo>
                  <a:lnTo>
                    <a:pt x="0" y="9"/>
                  </a:lnTo>
                  <a:lnTo>
                    <a:pt x="9" y="0"/>
                  </a:lnTo>
                  <a:lnTo>
                    <a:pt x="90" y="81"/>
                  </a:lnTo>
                  <a:lnTo>
                    <a:pt x="90" y="300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47" name="Freeform 40"/>
            <p:cNvSpPr>
              <a:spLocks noEditPoints="1"/>
            </p:cNvSpPr>
            <p:nvPr/>
          </p:nvSpPr>
          <p:spPr bwMode="auto">
            <a:xfrm>
              <a:off x="1300163" y="1849438"/>
              <a:ext cx="109538" cy="107950"/>
            </a:xfrm>
            <a:custGeom>
              <a:avLst/>
              <a:gdLst/>
              <a:ahLst/>
              <a:cxnLst/>
              <a:rect l="0" t="0" r="r" b="b"/>
              <a:pathLst>
                <a:path w="23" h="23">
                  <a:moveTo>
                    <a:pt x="12" y="23"/>
                  </a:moveTo>
                  <a:cubicBezTo>
                    <a:pt x="5" y="23"/>
                    <a:pt x="0" y="18"/>
                    <a:pt x="0" y="12"/>
                  </a:cubicBezTo>
                  <a:cubicBezTo>
                    <a:pt x="0" y="5"/>
                    <a:pt x="5" y="0"/>
                    <a:pt x="12" y="0"/>
                  </a:cubicBezTo>
                  <a:cubicBezTo>
                    <a:pt x="18" y="0"/>
                    <a:pt x="23" y="5"/>
                    <a:pt x="23" y="12"/>
                  </a:cubicBezTo>
                  <a:cubicBezTo>
                    <a:pt x="23" y="18"/>
                    <a:pt x="18" y="23"/>
                    <a:pt x="12" y="23"/>
                  </a:cubicBezTo>
                  <a:close/>
                  <a:moveTo>
                    <a:pt x="12" y="4"/>
                  </a:moveTo>
                  <a:cubicBezTo>
                    <a:pt x="8" y="4"/>
                    <a:pt x="4" y="8"/>
                    <a:pt x="4" y="12"/>
                  </a:cubicBezTo>
                  <a:cubicBezTo>
                    <a:pt x="4" y="16"/>
                    <a:pt x="8" y="19"/>
                    <a:pt x="12" y="19"/>
                  </a:cubicBezTo>
                  <a:cubicBezTo>
                    <a:pt x="16" y="19"/>
                    <a:pt x="19" y="16"/>
                    <a:pt x="19" y="12"/>
                  </a:cubicBezTo>
                  <a:cubicBezTo>
                    <a:pt x="19" y="8"/>
                    <a:pt x="16" y="4"/>
                    <a:pt x="12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48" name="Freeform 41"/>
            <p:cNvSpPr/>
            <p:nvPr/>
          </p:nvSpPr>
          <p:spPr bwMode="auto">
            <a:xfrm>
              <a:off x="280988" y="3417888"/>
              <a:ext cx="142875" cy="474663"/>
            </a:xfrm>
            <a:custGeom>
              <a:avLst/>
              <a:gdLst/>
              <a:ahLst/>
              <a:cxnLst/>
              <a:rect l="0" t="0" r="r" b="b"/>
              <a:pathLst>
                <a:path w="90" h="299">
                  <a:moveTo>
                    <a:pt x="12" y="299"/>
                  </a:moveTo>
                  <a:lnTo>
                    <a:pt x="0" y="299"/>
                  </a:lnTo>
                  <a:lnTo>
                    <a:pt x="0" y="80"/>
                  </a:lnTo>
                  <a:lnTo>
                    <a:pt x="81" y="0"/>
                  </a:lnTo>
                  <a:lnTo>
                    <a:pt x="90" y="8"/>
                  </a:lnTo>
                  <a:lnTo>
                    <a:pt x="12" y="83"/>
                  </a:lnTo>
                  <a:lnTo>
                    <a:pt x="12" y="299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49" name="Freeform 42"/>
            <p:cNvSpPr>
              <a:spLocks noEditPoints="1"/>
            </p:cNvSpPr>
            <p:nvPr/>
          </p:nvSpPr>
          <p:spPr bwMode="auto">
            <a:xfrm>
              <a:off x="238125" y="3883025"/>
              <a:ext cx="109538" cy="109538"/>
            </a:xfrm>
            <a:custGeom>
              <a:avLst/>
              <a:gdLst/>
              <a:ahLst/>
              <a:cxnLst/>
              <a:rect l="0" t="0" r="r" b="b"/>
              <a:pathLst>
                <a:path w="23" h="23">
                  <a:moveTo>
                    <a:pt x="11" y="23"/>
                  </a:moveTo>
                  <a:cubicBezTo>
                    <a:pt x="5" y="23"/>
                    <a:pt x="0" y="18"/>
                    <a:pt x="0" y="12"/>
                  </a:cubicBezTo>
                  <a:cubicBezTo>
                    <a:pt x="0" y="5"/>
                    <a:pt x="5" y="0"/>
                    <a:pt x="11" y="0"/>
                  </a:cubicBezTo>
                  <a:cubicBezTo>
                    <a:pt x="17" y="0"/>
                    <a:pt x="23" y="5"/>
                    <a:pt x="23" y="12"/>
                  </a:cubicBezTo>
                  <a:cubicBezTo>
                    <a:pt x="23" y="18"/>
                    <a:pt x="17" y="23"/>
                    <a:pt x="11" y="23"/>
                  </a:cubicBezTo>
                  <a:close/>
                  <a:moveTo>
                    <a:pt x="11" y="4"/>
                  </a:moveTo>
                  <a:cubicBezTo>
                    <a:pt x="7" y="4"/>
                    <a:pt x="4" y="8"/>
                    <a:pt x="4" y="12"/>
                  </a:cubicBezTo>
                  <a:cubicBezTo>
                    <a:pt x="4" y="16"/>
                    <a:pt x="7" y="19"/>
                    <a:pt x="11" y="19"/>
                  </a:cubicBezTo>
                  <a:cubicBezTo>
                    <a:pt x="15" y="19"/>
                    <a:pt x="19" y="16"/>
                    <a:pt x="19" y="12"/>
                  </a:cubicBezTo>
                  <a:cubicBezTo>
                    <a:pt x="19" y="8"/>
                    <a:pt x="15" y="4"/>
                    <a:pt x="11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50" name="Freeform 43"/>
            <p:cNvSpPr/>
            <p:nvPr/>
          </p:nvSpPr>
          <p:spPr bwMode="auto">
            <a:xfrm>
              <a:off x="4763" y="2166938"/>
              <a:ext cx="114300" cy="452438"/>
            </a:xfrm>
            <a:custGeom>
              <a:avLst/>
              <a:gdLst/>
              <a:ahLst/>
              <a:cxnLst/>
              <a:rect l="0" t="0" r="r" b="b"/>
              <a:pathLst>
                <a:path w="72" h="285">
                  <a:moveTo>
                    <a:pt x="6" y="285"/>
                  </a:moveTo>
                  <a:lnTo>
                    <a:pt x="0" y="276"/>
                  </a:lnTo>
                  <a:lnTo>
                    <a:pt x="60" y="216"/>
                  </a:lnTo>
                  <a:lnTo>
                    <a:pt x="60" y="0"/>
                  </a:lnTo>
                  <a:lnTo>
                    <a:pt x="72" y="0"/>
                  </a:lnTo>
                  <a:lnTo>
                    <a:pt x="72" y="222"/>
                  </a:lnTo>
                  <a:lnTo>
                    <a:pt x="6" y="285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51" name="Freeform 44"/>
            <p:cNvSpPr>
              <a:spLocks noEditPoints="1"/>
            </p:cNvSpPr>
            <p:nvPr/>
          </p:nvSpPr>
          <p:spPr bwMode="auto">
            <a:xfrm>
              <a:off x="52388" y="2066925"/>
              <a:ext cx="109538" cy="109538"/>
            </a:xfrm>
            <a:custGeom>
              <a:avLst/>
              <a:gdLst/>
              <a:ahLst/>
              <a:cxnLst/>
              <a:rect l="0" t="0" r="r" b="b"/>
              <a:pathLst>
                <a:path w="23" h="23">
                  <a:moveTo>
                    <a:pt x="12" y="23"/>
                  </a:moveTo>
                  <a:cubicBezTo>
                    <a:pt x="5" y="23"/>
                    <a:pt x="0" y="18"/>
                    <a:pt x="0" y="12"/>
                  </a:cubicBezTo>
                  <a:cubicBezTo>
                    <a:pt x="0" y="5"/>
                    <a:pt x="5" y="0"/>
                    <a:pt x="12" y="0"/>
                  </a:cubicBezTo>
                  <a:cubicBezTo>
                    <a:pt x="18" y="0"/>
                    <a:pt x="23" y="5"/>
                    <a:pt x="23" y="12"/>
                  </a:cubicBezTo>
                  <a:cubicBezTo>
                    <a:pt x="23" y="18"/>
                    <a:pt x="18" y="23"/>
                    <a:pt x="12" y="23"/>
                  </a:cubicBezTo>
                  <a:close/>
                  <a:moveTo>
                    <a:pt x="12" y="4"/>
                  </a:moveTo>
                  <a:cubicBezTo>
                    <a:pt x="8" y="4"/>
                    <a:pt x="4" y="8"/>
                    <a:pt x="4" y="12"/>
                  </a:cubicBezTo>
                  <a:cubicBezTo>
                    <a:pt x="4" y="16"/>
                    <a:pt x="8" y="19"/>
                    <a:pt x="12" y="19"/>
                  </a:cubicBezTo>
                  <a:cubicBezTo>
                    <a:pt x="16" y="19"/>
                    <a:pt x="19" y="16"/>
                    <a:pt x="19" y="12"/>
                  </a:cubicBezTo>
                  <a:cubicBezTo>
                    <a:pt x="19" y="8"/>
                    <a:pt x="16" y="4"/>
                    <a:pt x="12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52" name="Rectangle 45"/>
            <p:cNvSpPr>
              <a:spLocks noChangeArrowheads="1"/>
            </p:cNvSpPr>
            <p:nvPr/>
          </p:nvSpPr>
          <p:spPr bwMode="auto">
            <a:xfrm>
              <a:off x="1228725" y="4662488"/>
              <a:ext cx="23813" cy="2181225"/>
            </a:xfrm>
            <a:prstGeom prst="rect">
              <a:avLst/>
            </a:pr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</p:sp>
        <p:sp>
          <p:nvSpPr>
            <p:cNvPr id="53" name="Freeform 46"/>
            <p:cNvSpPr/>
            <p:nvPr/>
          </p:nvSpPr>
          <p:spPr bwMode="auto">
            <a:xfrm>
              <a:off x="1319213" y="5041900"/>
              <a:ext cx="371475" cy="1801813"/>
            </a:xfrm>
            <a:custGeom>
              <a:avLst/>
              <a:gdLst/>
              <a:ahLst/>
              <a:cxnLst/>
              <a:rect l="0" t="0" r="r" b="b"/>
              <a:pathLst>
                <a:path w="234" h="1135">
                  <a:moveTo>
                    <a:pt x="15" y="1135"/>
                  </a:moveTo>
                  <a:lnTo>
                    <a:pt x="0" y="1135"/>
                  </a:lnTo>
                  <a:lnTo>
                    <a:pt x="0" y="515"/>
                  </a:lnTo>
                  <a:lnTo>
                    <a:pt x="0" y="512"/>
                  </a:lnTo>
                  <a:lnTo>
                    <a:pt x="219" y="0"/>
                  </a:lnTo>
                  <a:lnTo>
                    <a:pt x="234" y="6"/>
                  </a:lnTo>
                  <a:lnTo>
                    <a:pt x="15" y="518"/>
                  </a:lnTo>
                  <a:lnTo>
                    <a:pt x="15" y="1135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54" name="Freeform 47"/>
            <p:cNvSpPr>
              <a:spLocks noEditPoints="1"/>
            </p:cNvSpPr>
            <p:nvPr/>
          </p:nvSpPr>
          <p:spPr bwMode="auto">
            <a:xfrm>
              <a:off x="1147763" y="4481513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8" y="36"/>
                    <a:pt x="36" y="29"/>
                    <a:pt x="36" y="20"/>
                  </a:cubicBezTo>
                  <a:cubicBezTo>
                    <a:pt x="36" y="11"/>
                    <a:pt x="28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55" name="Freeform 48"/>
            <p:cNvSpPr/>
            <p:nvPr/>
          </p:nvSpPr>
          <p:spPr bwMode="auto">
            <a:xfrm>
              <a:off x="819150" y="3983038"/>
              <a:ext cx="347663" cy="2860675"/>
            </a:xfrm>
            <a:custGeom>
              <a:avLst/>
              <a:gdLst/>
              <a:ahLst/>
              <a:cxnLst/>
              <a:rect l="0" t="0" r="r" b="b"/>
              <a:pathLst>
                <a:path w="219" h="1802">
                  <a:moveTo>
                    <a:pt x="219" y="1802"/>
                  </a:moveTo>
                  <a:lnTo>
                    <a:pt x="201" y="1802"/>
                  </a:lnTo>
                  <a:lnTo>
                    <a:pt x="201" y="1185"/>
                  </a:lnTo>
                  <a:lnTo>
                    <a:pt x="0" y="3"/>
                  </a:lnTo>
                  <a:lnTo>
                    <a:pt x="15" y="0"/>
                  </a:lnTo>
                  <a:lnTo>
                    <a:pt x="219" y="1185"/>
                  </a:lnTo>
                  <a:lnTo>
                    <a:pt x="219" y="1802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56" name="Freeform 49"/>
            <p:cNvSpPr>
              <a:spLocks noEditPoints="1"/>
            </p:cNvSpPr>
            <p:nvPr/>
          </p:nvSpPr>
          <p:spPr bwMode="auto">
            <a:xfrm>
              <a:off x="728663" y="3806825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8"/>
                    <a:pt x="11" y="36"/>
                    <a:pt x="20" y="36"/>
                  </a:cubicBezTo>
                  <a:cubicBezTo>
                    <a:pt x="29" y="36"/>
                    <a:pt x="36" y="28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57" name="Freeform 50"/>
            <p:cNvSpPr>
              <a:spLocks noEditPoints="1"/>
            </p:cNvSpPr>
            <p:nvPr/>
          </p:nvSpPr>
          <p:spPr bwMode="auto">
            <a:xfrm>
              <a:off x="1624013" y="4867275"/>
              <a:ext cx="190500" cy="188913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8" y="36"/>
                    <a:pt x="36" y="29"/>
                    <a:pt x="36" y="20"/>
                  </a:cubicBezTo>
                  <a:cubicBezTo>
                    <a:pt x="36" y="11"/>
                    <a:pt x="28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58" name="Freeform 51"/>
            <p:cNvSpPr/>
            <p:nvPr/>
          </p:nvSpPr>
          <p:spPr bwMode="auto">
            <a:xfrm>
              <a:off x="1404938" y="5422900"/>
              <a:ext cx="371475" cy="1425575"/>
            </a:xfrm>
            <a:custGeom>
              <a:avLst/>
              <a:gdLst/>
              <a:ahLst/>
              <a:cxnLst/>
              <a:rect l="0" t="0" r="r" b="b"/>
              <a:pathLst>
                <a:path w="234" h="898">
                  <a:moveTo>
                    <a:pt x="18" y="898"/>
                  </a:moveTo>
                  <a:lnTo>
                    <a:pt x="0" y="898"/>
                  </a:lnTo>
                  <a:lnTo>
                    <a:pt x="0" y="515"/>
                  </a:lnTo>
                  <a:lnTo>
                    <a:pt x="0" y="512"/>
                  </a:lnTo>
                  <a:lnTo>
                    <a:pt x="222" y="0"/>
                  </a:lnTo>
                  <a:lnTo>
                    <a:pt x="234" y="6"/>
                  </a:lnTo>
                  <a:lnTo>
                    <a:pt x="18" y="518"/>
                  </a:lnTo>
                  <a:lnTo>
                    <a:pt x="18" y="898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59" name="Freeform 52"/>
            <p:cNvSpPr/>
            <p:nvPr/>
          </p:nvSpPr>
          <p:spPr bwMode="auto">
            <a:xfrm>
              <a:off x="1666875" y="5945188"/>
              <a:ext cx="152400" cy="912813"/>
            </a:xfrm>
            <a:custGeom>
              <a:avLst/>
              <a:gdLst/>
              <a:ahLst/>
              <a:cxnLst/>
              <a:rect l="0" t="0" r="r" b="b"/>
              <a:pathLst>
                <a:path w="96" h="575">
                  <a:moveTo>
                    <a:pt x="15" y="575"/>
                  </a:moveTo>
                  <a:lnTo>
                    <a:pt x="0" y="569"/>
                  </a:lnTo>
                  <a:lnTo>
                    <a:pt x="81" y="383"/>
                  </a:lnTo>
                  <a:lnTo>
                    <a:pt x="81" y="0"/>
                  </a:lnTo>
                  <a:lnTo>
                    <a:pt x="96" y="0"/>
                  </a:lnTo>
                  <a:lnTo>
                    <a:pt x="96" y="386"/>
                  </a:lnTo>
                  <a:lnTo>
                    <a:pt x="15" y="575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60" name="Freeform 53"/>
            <p:cNvSpPr>
              <a:spLocks noEditPoints="1"/>
            </p:cNvSpPr>
            <p:nvPr/>
          </p:nvSpPr>
          <p:spPr bwMode="auto">
            <a:xfrm>
              <a:off x="1709738" y="5246688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61" name="Freeform 54"/>
            <p:cNvSpPr>
              <a:spLocks noEditPoints="1"/>
            </p:cNvSpPr>
            <p:nvPr/>
          </p:nvSpPr>
          <p:spPr bwMode="auto">
            <a:xfrm>
              <a:off x="1709738" y="5764213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62" name="Freeform 55"/>
            <p:cNvSpPr/>
            <p:nvPr/>
          </p:nvSpPr>
          <p:spPr bwMode="auto">
            <a:xfrm>
              <a:off x="1766888" y="6330950"/>
              <a:ext cx="419100" cy="527050"/>
            </a:xfrm>
            <a:custGeom>
              <a:avLst/>
              <a:gdLst/>
              <a:ahLst/>
              <a:cxnLst/>
              <a:rect l="0" t="0" r="r" b="b"/>
              <a:pathLst>
                <a:path w="264" h="332">
                  <a:moveTo>
                    <a:pt x="12" y="332"/>
                  </a:moveTo>
                  <a:lnTo>
                    <a:pt x="0" y="326"/>
                  </a:lnTo>
                  <a:lnTo>
                    <a:pt x="45" y="206"/>
                  </a:lnTo>
                  <a:lnTo>
                    <a:pt x="255" y="0"/>
                  </a:lnTo>
                  <a:lnTo>
                    <a:pt x="264" y="12"/>
                  </a:lnTo>
                  <a:lnTo>
                    <a:pt x="60" y="215"/>
                  </a:lnTo>
                  <a:lnTo>
                    <a:pt x="12" y="332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63" name="Freeform 56"/>
            <p:cNvSpPr>
              <a:spLocks noEditPoints="1"/>
            </p:cNvSpPr>
            <p:nvPr/>
          </p:nvSpPr>
          <p:spPr bwMode="auto">
            <a:xfrm>
              <a:off x="2147888" y="6221413"/>
              <a:ext cx="157163" cy="147638"/>
            </a:xfrm>
            <a:custGeom>
              <a:avLst/>
              <a:gdLst/>
              <a:ahLst/>
              <a:cxnLst/>
              <a:rect l="0" t="0" r="r" b="b"/>
              <a:pathLst>
                <a:path w="33" h="31">
                  <a:moveTo>
                    <a:pt x="16" y="31"/>
                  </a:moveTo>
                  <a:cubicBezTo>
                    <a:pt x="12" y="31"/>
                    <a:pt x="8" y="29"/>
                    <a:pt x="5" y="26"/>
                  </a:cubicBezTo>
                  <a:cubicBezTo>
                    <a:pt x="2" y="24"/>
                    <a:pt x="0" y="20"/>
                    <a:pt x="0" y="15"/>
                  </a:cubicBezTo>
                  <a:cubicBezTo>
                    <a:pt x="0" y="11"/>
                    <a:pt x="2" y="7"/>
                    <a:pt x="5" y="4"/>
                  </a:cubicBezTo>
                  <a:cubicBezTo>
                    <a:pt x="8" y="1"/>
                    <a:pt x="12" y="0"/>
                    <a:pt x="16" y="0"/>
                  </a:cubicBezTo>
                  <a:cubicBezTo>
                    <a:pt x="20" y="0"/>
                    <a:pt x="24" y="1"/>
                    <a:pt x="27" y="4"/>
                  </a:cubicBezTo>
                  <a:cubicBezTo>
                    <a:pt x="33" y="10"/>
                    <a:pt x="33" y="20"/>
                    <a:pt x="27" y="26"/>
                  </a:cubicBezTo>
                  <a:cubicBezTo>
                    <a:pt x="24" y="29"/>
                    <a:pt x="20" y="31"/>
                    <a:pt x="16" y="31"/>
                  </a:cubicBezTo>
                  <a:close/>
                  <a:moveTo>
                    <a:pt x="16" y="4"/>
                  </a:moveTo>
                  <a:cubicBezTo>
                    <a:pt x="13" y="4"/>
                    <a:pt x="10" y="5"/>
                    <a:pt x="8" y="7"/>
                  </a:cubicBezTo>
                  <a:cubicBezTo>
                    <a:pt x="6" y="9"/>
                    <a:pt x="4" y="12"/>
                    <a:pt x="4" y="15"/>
                  </a:cubicBezTo>
                  <a:cubicBezTo>
                    <a:pt x="4" y="19"/>
                    <a:pt x="6" y="21"/>
                    <a:pt x="8" y="24"/>
                  </a:cubicBezTo>
                  <a:cubicBezTo>
                    <a:pt x="10" y="26"/>
                    <a:pt x="13" y="27"/>
                    <a:pt x="16" y="27"/>
                  </a:cubicBezTo>
                  <a:cubicBezTo>
                    <a:pt x="19" y="27"/>
                    <a:pt x="22" y="26"/>
                    <a:pt x="24" y="24"/>
                  </a:cubicBezTo>
                  <a:cubicBezTo>
                    <a:pt x="29" y="19"/>
                    <a:pt x="29" y="12"/>
                    <a:pt x="24" y="7"/>
                  </a:cubicBezTo>
                  <a:cubicBezTo>
                    <a:pt x="22" y="5"/>
                    <a:pt x="19" y="4"/>
                    <a:pt x="16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64" name="Freeform 57"/>
            <p:cNvSpPr/>
            <p:nvPr/>
          </p:nvSpPr>
          <p:spPr bwMode="auto">
            <a:xfrm>
              <a:off x="504825" y="9525"/>
              <a:ext cx="233363" cy="5103813"/>
            </a:xfrm>
            <a:custGeom>
              <a:avLst/>
              <a:gdLst/>
              <a:ahLst/>
              <a:cxnLst/>
              <a:rect l="0" t="0" r="r" b="b"/>
              <a:pathLst>
                <a:path w="147" h="3215">
                  <a:moveTo>
                    <a:pt x="132" y="3215"/>
                  </a:moveTo>
                  <a:lnTo>
                    <a:pt x="129" y="2754"/>
                  </a:lnTo>
                  <a:lnTo>
                    <a:pt x="0" y="1901"/>
                  </a:lnTo>
                  <a:lnTo>
                    <a:pt x="0" y="0"/>
                  </a:lnTo>
                  <a:lnTo>
                    <a:pt x="15" y="0"/>
                  </a:lnTo>
                  <a:lnTo>
                    <a:pt x="15" y="1898"/>
                  </a:lnTo>
                  <a:lnTo>
                    <a:pt x="144" y="2754"/>
                  </a:lnTo>
                  <a:lnTo>
                    <a:pt x="147" y="3215"/>
                  </a:lnTo>
                  <a:lnTo>
                    <a:pt x="132" y="3215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65" name="Freeform 58"/>
            <p:cNvSpPr>
              <a:spLocks noEditPoints="1"/>
            </p:cNvSpPr>
            <p:nvPr/>
          </p:nvSpPr>
          <p:spPr bwMode="auto">
            <a:xfrm>
              <a:off x="633413" y="5103813"/>
              <a:ext cx="185738" cy="185738"/>
            </a:xfrm>
            <a:custGeom>
              <a:avLst/>
              <a:gdLst/>
              <a:ahLst/>
              <a:cxnLst/>
              <a:rect l="0" t="0" r="r" b="b"/>
              <a:pathLst>
                <a:path w="39" h="39">
                  <a:moveTo>
                    <a:pt x="20" y="39"/>
                  </a:moveTo>
                  <a:cubicBezTo>
                    <a:pt x="9" y="39"/>
                    <a:pt x="0" y="30"/>
                    <a:pt x="0" y="19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0" y="0"/>
                    <a:pt x="39" y="9"/>
                    <a:pt x="39" y="19"/>
                  </a:cubicBezTo>
                  <a:cubicBezTo>
                    <a:pt x="39" y="30"/>
                    <a:pt x="30" y="39"/>
                    <a:pt x="20" y="39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19"/>
                  </a:cubicBezTo>
                  <a:cubicBezTo>
                    <a:pt x="4" y="28"/>
                    <a:pt x="11" y="35"/>
                    <a:pt x="20" y="35"/>
                  </a:cubicBezTo>
                  <a:cubicBezTo>
                    <a:pt x="28" y="35"/>
                    <a:pt x="35" y="28"/>
                    <a:pt x="35" y="19"/>
                  </a:cubicBezTo>
                  <a:cubicBezTo>
                    <a:pt x="35" y="11"/>
                    <a:pt x="28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</p:grpSp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876424" y="1122363"/>
            <a:ext cx="8791575" cy="2387600"/>
          </a:xfrm>
        </p:spPr>
        <p:txBody>
          <a:bodyPr anchor="b">
            <a:normAutofit/>
          </a:bodyPr>
          <a:lstStyle>
            <a:lvl1pPr algn="l">
              <a:defRPr sz="48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876424" y="3602038"/>
            <a:ext cx="8791575" cy="1655762"/>
          </a:xfrm>
        </p:spPr>
        <p:txBody>
          <a:bodyPr>
            <a:normAutofit/>
          </a:bodyPr>
          <a:lstStyle>
            <a:lvl1pPr marL="0" indent="0" algn="l">
              <a:buNone/>
              <a:defRPr sz="2000" cap="all" baseline="0">
                <a:solidFill>
                  <a:schemeClr val="tx2"/>
                </a:solidFill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7077511" y="5410201"/>
            <a:ext cx="2743200" cy="365125"/>
          </a:xfrm>
        </p:spPr>
        <p:txBody>
          <a:bodyPr/>
          <a:lstStyle/>
          <a:p>
            <a:fld id="{4313F670-7F9A-774D-B73D-573401E44297}" type="datetime1">
              <a:rPr lang="en-US" smtClean="0"/>
              <a:t>10/22/26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1876424" y="5410201"/>
            <a:ext cx="5124886" cy="365125"/>
          </a:xfr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9896911" y="5410199"/>
            <a:ext cx="771089" cy="365125"/>
          </a:xfrm>
        </p:spPr>
        <p:txBody>
          <a:bodyPr/>
          <a:lstStyle/>
          <a:p>
            <a:fld id="{C3D91E88-2515-D24B-B4EA-67D975D0853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13344611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80DFB37-B0AE-9449-85EC-14F9C83B6084}" type="datetime1">
              <a:rPr lang="en-US" smtClean="0"/>
              <a:t>10/22/26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3D91E88-2515-D24B-B4EA-67D975D0853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25400707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41411" y="1419226"/>
            <a:ext cx="9906000" cy="2852737"/>
          </a:xfrm>
        </p:spPr>
        <p:txBody>
          <a:bodyPr anchor="b">
            <a:normAutofit/>
          </a:bodyPr>
          <a:lstStyle>
            <a:lvl1pPr>
              <a:defRPr sz="36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141411" y="4424362"/>
            <a:ext cx="9906000" cy="1374776"/>
          </a:xfrm>
        </p:spPr>
        <p:txBody>
          <a:bodyPr>
            <a:normAutofit/>
          </a:bodyPr>
          <a:lstStyle>
            <a:lvl1pPr marL="0" indent="0">
              <a:buNone/>
              <a:defRPr sz="1800" cap="all" baseline="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939124A-616E-6944-A21A-1839F5DBE7BB}" type="datetime1">
              <a:rPr lang="en-US" smtClean="0"/>
              <a:t>10/22/26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3D91E88-2515-D24B-B4EA-67D975D0853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2279627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1141410" y="2249486"/>
            <a:ext cx="4878389" cy="3541714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72200" y="2249486"/>
            <a:ext cx="4875211" cy="3541714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6E9A026-D48C-FD43-8676-CD625DD5D84B}" type="datetime1">
              <a:rPr lang="en-US" smtClean="0"/>
              <a:t>10/22/26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3D91E88-2515-D24B-B4EA-67D975D0853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87307518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41411" y="619126"/>
            <a:ext cx="9906000" cy="1477961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370019" y="2249486"/>
            <a:ext cx="4649783" cy="823912"/>
          </a:xfrm>
        </p:spPr>
        <p:txBody>
          <a:bodyPr anchor="b"/>
          <a:lstStyle>
            <a:lvl1pPr marL="0" indent="0">
              <a:lnSpc>
                <a:spcPct val="90000"/>
              </a:lnSpc>
              <a:buNone/>
              <a:defRPr sz="2400" b="0" cap="all" baseline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141410" y="3073397"/>
            <a:ext cx="4878391" cy="2717801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400808" y="2249485"/>
            <a:ext cx="4646602" cy="823912"/>
          </a:xfrm>
        </p:spPr>
        <p:txBody>
          <a:bodyPr anchor="b"/>
          <a:lstStyle>
            <a:lvl1pPr marL="0" indent="0">
              <a:lnSpc>
                <a:spcPct val="90000"/>
              </a:lnSpc>
              <a:buNone/>
              <a:defRPr sz="2400" b="0" cap="all" baseline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172200" y="3073397"/>
            <a:ext cx="4875210" cy="2717801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A35111E-23A3-1440-99A3-C4C665908E3D}" type="datetime1">
              <a:rPr lang="en-US" smtClean="0"/>
              <a:t>10/22/26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3D91E88-2515-D24B-B4EA-67D975D0853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75720768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9983B9-88EF-D74B-BA6D-6A3BF17C2B38}" type="datetime1">
              <a:rPr lang="en-US" smtClean="0"/>
              <a:t>10/22/26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3D91E88-2515-D24B-B4EA-67D975D0853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04116365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2A00AEF-B4EC-084A-8DB8-A225C7981CBB}" type="datetime1">
              <a:rPr lang="en-US" smtClean="0"/>
              <a:t>10/22/26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3D91E88-2515-D24B-B4EA-67D975D0853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4301450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46705" y="609601"/>
            <a:ext cx="3856037" cy="1639884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156200" y="592666"/>
            <a:ext cx="5891209" cy="5198534"/>
          </a:xfrm>
        </p:spPr>
        <p:txBody>
          <a:bodyPr anchor="ctr"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146705" y="2249486"/>
            <a:ext cx="3856037" cy="3541714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7860299-21CD-A94A-A7B0-44E787F8D42C}" type="datetime1">
              <a:rPr lang="en-US" smtClean="0"/>
              <a:t>10/22/26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3D91E88-2515-D24B-B4EA-67D975D0853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65503122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41413" y="609600"/>
            <a:ext cx="5934508" cy="1639886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7380721" y="609601"/>
            <a:ext cx="3666690" cy="5181599"/>
          </a:xfrm>
          <a:prstGeom prst="round2DiagRect">
            <a:avLst>
              <a:gd name="adj1" fmla="val 5608"/>
              <a:gd name="adj2" fmla="val 0"/>
            </a:avLst>
          </a:prstGeom>
          <a:ln w="19050" cap="sq">
            <a:solidFill>
              <a:schemeClr val="tx2">
                <a:lumMod val="60000"/>
                <a:lumOff val="40000"/>
                <a:alpha val="60000"/>
              </a:schemeClr>
            </a:solidFill>
            <a:miter lim="800000"/>
          </a:ln>
          <a:effectLst>
            <a:outerShdw blurRad="88900" dist="38100" dir="5400000" algn="t" rotWithShape="0">
              <a:prstClr val="black">
                <a:alpha val="40000"/>
              </a:prstClr>
            </a:outerShdw>
          </a:effectLst>
        </p:spPr>
        <p:txBody>
          <a:bodyPr anchor="t"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141410" y="2249486"/>
            <a:ext cx="5934511" cy="3541714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DFD19CF-4E62-D246-BA61-7B528271315F}" type="datetime1">
              <a:rPr lang="en-US" smtClean="0"/>
              <a:t>10/22/26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3D91E88-2515-D24B-B4EA-67D975D0853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74755003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Panoramic 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41410" y="4304664"/>
            <a:ext cx="9912355" cy="819355"/>
          </a:xfrm>
        </p:spPr>
        <p:txBody>
          <a:bodyPr anchor="b">
            <a:normAutofit/>
          </a:bodyPr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1141411" y="606426"/>
            <a:ext cx="9912354" cy="3299778"/>
          </a:xfrm>
          <a:prstGeom prst="round2DiagRect">
            <a:avLst>
              <a:gd name="adj1" fmla="val 4860"/>
              <a:gd name="adj2" fmla="val 0"/>
            </a:avLst>
          </a:prstGeom>
          <a:ln w="19050" cap="sq">
            <a:solidFill>
              <a:schemeClr val="tx2">
                <a:lumMod val="60000"/>
                <a:lumOff val="40000"/>
                <a:alpha val="60000"/>
              </a:schemeClr>
            </a:solidFill>
            <a:miter lim="800000"/>
          </a:ln>
          <a:effectLst>
            <a:outerShdw blurRad="88900" dist="38100" dir="5400000" algn="t" rotWithShape="0">
              <a:prstClr val="black">
                <a:alpha val="40000"/>
              </a:prstClr>
            </a:outerShdw>
          </a:effectLst>
        </p:spPr>
        <p:txBody>
          <a:bodyPr vert="horz" lIns="91440" tIns="45720" rIns="91440" bIns="45720" rtlCol="0" anchor="t">
            <a:normAutofit/>
          </a:bodyPr>
          <a:lstStyle>
            <a:lvl1pPr>
              <a:buNone/>
              <a:defRPr lang="en-US" sz="3200"/>
            </a:lvl1pPr>
          </a:lstStyle>
          <a:p>
            <a:pPr marL="0" lvl="0" indent="0">
              <a:buNone/>
            </a:pPr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141364" y="5124020"/>
            <a:ext cx="9910859" cy="682472"/>
          </a:xfrm>
        </p:spPr>
        <p:txBody>
          <a:bodyPr>
            <a:normAutofit/>
          </a:bodyPr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46F9669-A8A7-2D40-9D01-B35FC337AA30}" type="datetime1">
              <a:rPr lang="en-US" smtClean="0"/>
              <a:t>10/22/26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3D91E88-2515-D24B-B4EA-67D975D0853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65379790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and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41456" y="609600"/>
            <a:ext cx="9905955" cy="3429000"/>
          </a:xfrm>
        </p:spPr>
        <p:txBody>
          <a:bodyPr anchor="ctr">
            <a:normAutofit/>
          </a:bodyPr>
          <a:lstStyle>
            <a:lvl1pPr>
              <a:defRPr sz="36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141410" y="4419599"/>
            <a:ext cx="9904459" cy="1371599"/>
          </a:xfrm>
        </p:spPr>
        <p:txBody>
          <a:bodyPr anchor="ctr">
            <a:normAutofit/>
          </a:bodyPr>
          <a:lstStyle>
            <a:lvl1pPr marL="0" indent="0">
              <a:buNone/>
              <a:defRPr sz="18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A76CF18-F41B-6B48-B3E5-599E9795C2C3}" type="datetime1">
              <a:rPr lang="en-US" smtClean="0"/>
              <a:t>10/22/26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3D91E88-2515-D24B-B4EA-67D975D0853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91180122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Quot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446212" y="609599"/>
            <a:ext cx="9302752" cy="2748429"/>
          </a:xfrm>
        </p:spPr>
        <p:txBody>
          <a:bodyPr anchor="ctr">
            <a:normAutofit/>
          </a:bodyPr>
          <a:lstStyle>
            <a:lvl1pPr>
              <a:defRPr sz="36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2" name="Text Placeholder 3"/>
          <p:cNvSpPr>
            <a:spLocks noGrp="1"/>
          </p:cNvSpPr>
          <p:nvPr>
            <p:ph type="body" sz="half" idx="13"/>
          </p:nvPr>
        </p:nvSpPr>
        <p:spPr>
          <a:xfrm>
            <a:off x="1720644" y="3365557"/>
            <a:ext cx="8752299" cy="548968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141411" y="4309919"/>
            <a:ext cx="9906002" cy="1489496"/>
          </a:xfrm>
        </p:spPr>
        <p:txBody>
          <a:bodyPr anchor="ctr">
            <a:normAutofit/>
          </a:bodyPr>
          <a:lstStyle>
            <a:lvl1pPr marL="0" indent="0">
              <a:buNone/>
              <a:defRPr sz="18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9654854-6457-164F-A077-6B3035079B82}" type="datetime1">
              <a:rPr lang="en-US" smtClean="0"/>
              <a:t>10/22/26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3D91E88-2515-D24B-B4EA-67D975D0853E}" type="slidenum">
              <a:rPr lang="en-US" smtClean="0"/>
              <a:t>‹#›</a:t>
            </a:fld>
            <a:endParaRPr lang="en-US"/>
          </a:p>
        </p:txBody>
      </p:sp>
      <p:sp>
        <p:nvSpPr>
          <p:cNvPr id="60" name="TextBox 59"/>
          <p:cNvSpPr txBox="1"/>
          <p:nvPr/>
        </p:nvSpPr>
        <p:spPr>
          <a:xfrm>
            <a:off x="903512" y="732394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>
              <a:spcBef>
                <a:spcPct val="0"/>
              </a:spcBef>
              <a:buNone/>
              <a:defRPr sz="3200" b="0" cap="all">
                <a:ln w="3175" cmpd="sng">
                  <a:noFill/>
                </a:ln>
                <a:effectLst>
                  <a:glow rad="38100">
                    <a:schemeClr val="bg1">
                      <a:lumMod val="65000"/>
                      <a:lumOff val="35000"/>
                      <a:alpha val="40000"/>
                    </a:schemeClr>
                  </a:glow>
                  <a:outerShdw blurRad="28575" dist="38100" dir="14040000" algn="tl" rotWithShape="0">
                    <a:srgbClr val="000000">
                      <a:alpha val="25000"/>
                    </a:srgbClr>
                  </a:outerShdw>
                </a:effectLst>
                <a:latin typeface="+mj-lt"/>
                <a:ea typeface="+mj-ea"/>
                <a:cs typeface="Trebuchet MS"/>
              </a:defRPr>
            </a:lvl1pPr>
            <a:lvl2pPr>
              <a:defRPr>
                <a:solidFill>
                  <a:schemeClr val="tx2"/>
                </a:solidFill>
              </a:defRPr>
            </a:lvl2pPr>
            <a:lvl3pPr>
              <a:defRPr>
                <a:solidFill>
                  <a:schemeClr val="tx2"/>
                </a:solidFill>
              </a:defRPr>
            </a:lvl3pPr>
            <a:lvl4pPr>
              <a:defRPr>
                <a:solidFill>
                  <a:schemeClr val="tx2"/>
                </a:solidFill>
              </a:defRPr>
            </a:lvl4pPr>
            <a:lvl5pPr>
              <a:defRPr>
                <a:solidFill>
                  <a:schemeClr val="tx2"/>
                </a:solidFill>
              </a:defRPr>
            </a:lvl5pPr>
            <a:lvl6pPr>
              <a:defRPr>
                <a:solidFill>
                  <a:schemeClr val="tx2"/>
                </a:solidFill>
              </a:defRPr>
            </a:lvl6pPr>
            <a:lvl7pPr>
              <a:defRPr>
                <a:solidFill>
                  <a:schemeClr val="tx2"/>
                </a:solidFill>
              </a:defRPr>
            </a:lvl7pPr>
            <a:lvl8pPr>
              <a:defRPr>
                <a:solidFill>
                  <a:schemeClr val="tx2"/>
                </a:solidFill>
              </a:defRPr>
            </a:lvl8pPr>
            <a:lvl9pPr>
              <a:defRPr>
                <a:solidFill>
                  <a:schemeClr val="tx2"/>
                </a:solidFill>
              </a:defRPr>
            </a:lvl9pPr>
          </a:lstStyle>
          <a:p>
            <a:pPr lvl="0" algn="r"/>
            <a:r>
              <a:rPr lang="en-US" sz="8000" dirty="0">
                <a:solidFill>
                  <a:schemeClr val="tx1"/>
                </a:solidFill>
                <a:effectLst/>
              </a:rPr>
              <a:t>“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10537370" y="2764972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>
              <a:spcBef>
                <a:spcPct val="0"/>
              </a:spcBef>
              <a:buNone/>
              <a:defRPr sz="3200" b="0" cap="all">
                <a:ln w="3175" cmpd="sng">
                  <a:noFill/>
                </a:ln>
                <a:effectLst>
                  <a:glow rad="38100">
                    <a:schemeClr val="bg1">
                      <a:lumMod val="65000"/>
                      <a:lumOff val="35000"/>
                      <a:alpha val="40000"/>
                    </a:schemeClr>
                  </a:glow>
                  <a:outerShdw blurRad="28575" dist="38100" dir="14040000" algn="tl" rotWithShape="0">
                    <a:srgbClr val="000000">
                      <a:alpha val="25000"/>
                    </a:srgbClr>
                  </a:outerShdw>
                </a:effectLst>
                <a:latin typeface="+mj-lt"/>
                <a:ea typeface="+mj-ea"/>
                <a:cs typeface="Trebuchet MS"/>
              </a:defRPr>
            </a:lvl1pPr>
            <a:lvl2pPr>
              <a:defRPr>
                <a:solidFill>
                  <a:schemeClr val="tx2"/>
                </a:solidFill>
              </a:defRPr>
            </a:lvl2pPr>
            <a:lvl3pPr>
              <a:defRPr>
                <a:solidFill>
                  <a:schemeClr val="tx2"/>
                </a:solidFill>
              </a:defRPr>
            </a:lvl3pPr>
            <a:lvl4pPr>
              <a:defRPr>
                <a:solidFill>
                  <a:schemeClr val="tx2"/>
                </a:solidFill>
              </a:defRPr>
            </a:lvl4pPr>
            <a:lvl5pPr>
              <a:defRPr>
                <a:solidFill>
                  <a:schemeClr val="tx2"/>
                </a:solidFill>
              </a:defRPr>
            </a:lvl5pPr>
            <a:lvl6pPr>
              <a:defRPr>
                <a:solidFill>
                  <a:schemeClr val="tx2"/>
                </a:solidFill>
              </a:defRPr>
            </a:lvl6pPr>
            <a:lvl7pPr>
              <a:defRPr>
                <a:solidFill>
                  <a:schemeClr val="tx2"/>
                </a:solidFill>
              </a:defRPr>
            </a:lvl7pPr>
            <a:lvl8pPr>
              <a:defRPr>
                <a:solidFill>
                  <a:schemeClr val="tx2"/>
                </a:solidFill>
              </a:defRPr>
            </a:lvl8pPr>
            <a:lvl9pPr>
              <a:defRPr>
                <a:solidFill>
                  <a:schemeClr val="tx2"/>
                </a:solidFill>
              </a:defRPr>
            </a:lvl9pPr>
          </a:lstStyle>
          <a:p>
            <a:pPr lvl="0" algn="r"/>
            <a:r>
              <a:rPr lang="en-US" sz="8000" dirty="0">
                <a:solidFill>
                  <a:schemeClr val="tx1"/>
                </a:solidFill>
                <a:effectLst/>
              </a:rPr>
              <a:t>”</a:t>
            </a:r>
          </a:p>
        </p:txBody>
      </p:sp>
    </p:spTree>
    <p:extLst>
      <p:ext uri="{BB962C8B-B14F-4D97-AF65-F5344CB8AC3E}">
        <p14:creationId xmlns:p14="http://schemas.microsoft.com/office/powerpoint/2010/main" val="3513387609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Name Car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41410" y="2134041"/>
            <a:ext cx="9906001" cy="2511835"/>
          </a:xfrm>
        </p:spPr>
        <p:txBody>
          <a:bodyPr anchor="b">
            <a:normAutofit/>
          </a:bodyPr>
          <a:lstStyle>
            <a:lvl1pPr>
              <a:defRPr sz="36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141364" y="4657655"/>
            <a:ext cx="9904505" cy="1140644"/>
          </a:xfrm>
        </p:spPr>
        <p:txBody>
          <a:bodyPr anchor="t">
            <a:normAutofit/>
          </a:bodyPr>
          <a:lstStyle>
            <a:lvl1pPr marL="0" indent="0">
              <a:buNone/>
              <a:defRPr sz="18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E3DBFD7-E611-8C40-AC73-0C29FF63F0CD}" type="datetime1">
              <a:rPr lang="en-US" smtClean="0"/>
              <a:t>10/22/26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3D91E88-2515-D24B-B4EA-67D975D0853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41695985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3 Colum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Title 1"/>
          <p:cNvSpPr>
            <a:spLocks noGrp="1"/>
          </p:cNvSpPr>
          <p:nvPr>
            <p:ph type="title"/>
          </p:nvPr>
        </p:nvSpPr>
        <p:spPr>
          <a:xfrm>
            <a:off x="1141413" y="609600"/>
            <a:ext cx="9905998" cy="1905000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7" name="Text Placeholder 2"/>
          <p:cNvSpPr>
            <a:spLocks noGrp="1"/>
          </p:cNvSpPr>
          <p:nvPr>
            <p:ph type="body" idx="1"/>
          </p:nvPr>
        </p:nvSpPr>
        <p:spPr>
          <a:xfrm>
            <a:off x="1141410" y="2674463"/>
            <a:ext cx="3196899" cy="685800"/>
          </a:xfrm>
        </p:spPr>
        <p:txBody>
          <a:bodyPr anchor="b">
            <a:noAutofit/>
          </a:bodyPr>
          <a:lstStyle>
            <a:lvl1pPr marL="0" indent="0">
              <a:lnSpc>
                <a:spcPct val="90000"/>
              </a:lnSpc>
              <a:buNone/>
              <a:defRPr sz="2400" b="0" cap="all" baseline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8" name="Text Placeholder 3"/>
          <p:cNvSpPr>
            <a:spLocks noGrp="1"/>
          </p:cNvSpPr>
          <p:nvPr>
            <p:ph type="body" sz="half" idx="15"/>
          </p:nvPr>
        </p:nvSpPr>
        <p:spPr>
          <a:xfrm>
            <a:off x="1127918" y="3360263"/>
            <a:ext cx="3208735" cy="2430936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9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514766" y="2677635"/>
            <a:ext cx="3184385" cy="685800"/>
          </a:xfrm>
        </p:spPr>
        <p:txBody>
          <a:bodyPr anchor="b">
            <a:noAutofit/>
          </a:bodyPr>
          <a:lstStyle>
            <a:lvl1pPr marL="0" indent="0">
              <a:lnSpc>
                <a:spcPct val="90000"/>
              </a:lnSpc>
              <a:buNone/>
              <a:defRPr sz="2400" b="0" cap="all" baseline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10" name="Text Placeholder 3"/>
          <p:cNvSpPr>
            <a:spLocks noGrp="1"/>
          </p:cNvSpPr>
          <p:nvPr>
            <p:ph type="body" sz="half" idx="16"/>
          </p:nvPr>
        </p:nvSpPr>
        <p:spPr>
          <a:xfrm>
            <a:off x="4504213" y="3363435"/>
            <a:ext cx="3195830" cy="2430936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11" name="Text Placeholder 4"/>
          <p:cNvSpPr>
            <a:spLocks noGrp="1"/>
          </p:cNvSpPr>
          <p:nvPr>
            <p:ph type="body" sz="quarter" idx="13"/>
          </p:nvPr>
        </p:nvSpPr>
        <p:spPr>
          <a:xfrm>
            <a:off x="7852442" y="2674463"/>
            <a:ext cx="3194968" cy="685800"/>
          </a:xfrm>
        </p:spPr>
        <p:txBody>
          <a:bodyPr anchor="b">
            <a:noAutofit/>
          </a:bodyPr>
          <a:lstStyle>
            <a:lvl1pPr marL="0" indent="0">
              <a:lnSpc>
                <a:spcPct val="90000"/>
              </a:lnSpc>
              <a:buNone/>
              <a:defRPr sz="2400" b="0" cap="all" baseline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12" name="Text Placeholder 3"/>
          <p:cNvSpPr>
            <a:spLocks noGrp="1"/>
          </p:cNvSpPr>
          <p:nvPr>
            <p:ph type="body" sz="half" idx="17"/>
          </p:nvPr>
        </p:nvSpPr>
        <p:spPr>
          <a:xfrm>
            <a:off x="7852442" y="3360263"/>
            <a:ext cx="3194968" cy="2430936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8B63B06-0493-2840-9F37-30C9412BBF17}" type="datetime1">
              <a:rPr lang="en-US" smtClean="0"/>
              <a:t>10/22/26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3D91E88-2515-D24B-B4EA-67D975D0853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80966924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3 Picture Colum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" name="Title 1"/>
          <p:cNvSpPr>
            <a:spLocks noGrp="1"/>
          </p:cNvSpPr>
          <p:nvPr>
            <p:ph type="title"/>
          </p:nvPr>
        </p:nvSpPr>
        <p:spPr>
          <a:xfrm>
            <a:off x="1141411" y="609600"/>
            <a:ext cx="9905999" cy="1905000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9" name="Text Placeholder 2"/>
          <p:cNvSpPr>
            <a:spLocks noGrp="1"/>
          </p:cNvSpPr>
          <p:nvPr>
            <p:ph type="body" idx="1"/>
          </p:nvPr>
        </p:nvSpPr>
        <p:spPr>
          <a:xfrm>
            <a:off x="1141413" y="4404596"/>
            <a:ext cx="3195240" cy="576262"/>
          </a:xfrm>
        </p:spPr>
        <p:txBody>
          <a:bodyPr anchor="b">
            <a:noAutofit/>
          </a:bodyPr>
          <a:lstStyle>
            <a:lvl1pPr marL="0" indent="0">
              <a:lnSpc>
                <a:spcPct val="90000"/>
              </a:lnSpc>
              <a:buNone/>
              <a:defRPr sz="2000" b="0" cap="all" baseline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20" name="Picture Placeholder 2"/>
          <p:cNvSpPr>
            <a:spLocks noGrp="1" noChangeAspect="1"/>
          </p:cNvSpPr>
          <p:nvPr>
            <p:ph type="pic" idx="15"/>
          </p:nvPr>
        </p:nvSpPr>
        <p:spPr>
          <a:xfrm>
            <a:off x="1141413" y="2666998"/>
            <a:ext cx="3195240" cy="1524000"/>
          </a:xfrm>
          <a:prstGeom prst="round2DiagRect">
            <a:avLst/>
          </a:prstGeom>
          <a:ln w="19050" cap="sq">
            <a:solidFill>
              <a:schemeClr val="tx2">
                <a:lumMod val="60000"/>
                <a:lumOff val="40000"/>
                <a:alpha val="60000"/>
              </a:schemeClr>
            </a:solidFill>
            <a:miter lim="800000"/>
          </a:ln>
          <a:effectLst>
            <a:outerShdw blurRad="88900" dist="38100" dir="5400000" algn="t" rotWithShape="0">
              <a:prstClr val="black">
                <a:alpha val="40000"/>
              </a:prstClr>
            </a:outerShdw>
          </a:effectLst>
        </p:spPr>
        <p:txBody>
          <a:bodyPr vert="horz" lIns="91440" tIns="45720" rIns="91440" bIns="45720" rtlCol="0" anchor="t">
            <a:normAutofit/>
          </a:bodyPr>
          <a:lstStyle>
            <a:lvl1pPr>
              <a:buNone/>
              <a:defRPr lang="en-US" sz="2000" dirty="0"/>
            </a:lvl1pPr>
          </a:lstStyle>
          <a:p>
            <a:pPr marL="0" lvl="0" indent="0">
              <a:buNone/>
            </a:pPr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21" name="Text Placeholder 3"/>
          <p:cNvSpPr>
            <a:spLocks noGrp="1"/>
          </p:cNvSpPr>
          <p:nvPr>
            <p:ph type="body" sz="half" idx="18"/>
          </p:nvPr>
        </p:nvSpPr>
        <p:spPr>
          <a:xfrm>
            <a:off x="1141413" y="4980858"/>
            <a:ext cx="3195240" cy="817843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22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489053" y="4404596"/>
            <a:ext cx="3200400" cy="576262"/>
          </a:xfrm>
        </p:spPr>
        <p:txBody>
          <a:bodyPr anchor="b">
            <a:noAutofit/>
          </a:bodyPr>
          <a:lstStyle>
            <a:lvl1pPr marL="0" indent="0">
              <a:lnSpc>
                <a:spcPct val="90000"/>
              </a:lnSpc>
              <a:buNone/>
              <a:defRPr sz="2000" b="0" cap="all" baseline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23" name="Picture Placeholder 2"/>
          <p:cNvSpPr>
            <a:spLocks noGrp="1" noChangeAspect="1"/>
          </p:cNvSpPr>
          <p:nvPr>
            <p:ph type="pic" idx="21"/>
          </p:nvPr>
        </p:nvSpPr>
        <p:spPr>
          <a:xfrm>
            <a:off x="4489053" y="2666998"/>
            <a:ext cx="3198940" cy="1524000"/>
          </a:xfrm>
          <a:prstGeom prst="round2DiagRect">
            <a:avLst/>
          </a:prstGeom>
          <a:ln w="19050" cap="sq">
            <a:solidFill>
              <a:schemeClr val="tx2">
                <a:lumMod val="60000"/>
                <a:lumOff val="40000"/>
                <a:alpha val="60000"/>
              </a:schemeClr>
            </a:solidFill>
            <a:miter lim="800000"/>
          </a:ln>
          <a:effectLst>
            <a:outerShdw blurRad="88900" dist="38100" dir="5400000" algn="t" rotWithShape="0">
              <a:prstClr val="black">
                <a:alpha val="40000"/>
              </a:prstClr>
            </a:outerShdw>
          </a:effectLst>
        </p:spPr>
        <p:txBody>
          <a:bodyPr vert="horz" lIns="91440" tIns="45720" rIns="91440" bIns="45720" rtlCol="0" anchor="t">
            <a:normAutofit/>
          </a:bodyPr>
          <a:lstStyle>
            <a:lvl1pPr>
              <a:buNone/>
              <a:defRPr lang="en-US" sz="2000" dirty="0"/>
            </a:lvl1pPr>
          </a:lstStyle>
          <a:p>
            <a:pPr marL="0" lvl="0" indent="0">
              <a:buNone/>
            </a:pPr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24" name="Text Placeholder 3"/>
          <p:cNvSpPr>
            <a:spLocks noGrp="1"/>
          </p:cNvSpPr>
          <p:nvPr>
            <p:ph type="body" sz="half" idx="19"/>
          </p:nvPr>
        </p:nvSpPr>
        <p:spPr>
          <a:xfrm>
            <a:off x="4487593" y="4980857"/>
            <a:ext cx="3200400" cy="810342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25" name="Text Placeholder 4"/>
          <p:cNvSpPr>
            <a:spLocks noGrp="1"/>
          </p:cNvSpPr>
          <p:nvPr>
            <p:ph type="body" sz="quarter" idx="13"/>
          </p:nvPr>
        </p:nvSpPr>
        <p:spPr>
          <a:xfrm>
            <a:off x="7852567" y="4404595"/>
            <a:ext cx="3190741" cy="576262"/>
          </a:xfrm>
        </p:spPr>
        <p:txBody>
          <a:bodyPr anchor="b">
            <a:noAutofit/>
          </a:bodyPr>
          <a:lstStyle>
            <a:lvl1pPr marL="0" indent="0">
              <a:lnSpc>
                <a:spcPct val="90000"/>
              </a:lnSpc>
              <a:buNone/>
              <a:defRPr sz="2000" b="0" cap="all" baseline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26" name="Picture Placeholder 2"/>
          <p:cNvSpPr>
            <a:spLocks noGrp="1" noChangeAspect="1"/>
          </p:cNvSpPr>
          <p:nvPr>
            <p:ph type="pic" idx="22"/>
          </p:nvPr>
        </p:nvSpPr>
        <p:spPr>
          <a:xfrm>
            <a:off x="7852442" y="2666998"/>
            <a:ext cx="3194969" cy="1524000"/>
          </a:xfrm>
          <a:prstGeom prst="round2DiagRect">
            <a:avLst/>
          </a:prstGeom>
          <a:ln w="19050" cap="sq">
            <a:solidFill>
              <a:schemeClr val="tx2">
                <a:lumMod val="60000"/>
                <a:lumOff val="40000"/>
                <a:alpha val="60000"/>
              </a:schemeClr>
            </a:solidFill>
            <a:miter lim="800000"/>
          </a:ln>
          <a:effectLst>
            <a:outerShdw blurRad="88900" dist="38100" dir="5400000" algn="t" rotWithShape="0">
              <a:prstClr val="black">
                <a:alpha val="40000"/>
              </a:prstClr>
            </a:outerShdw>
          </a:effectLst>
        </p:spPr>
        <p:txBody>
          <a:bodyPr vert="horz" lIns="91440" tIns="45720" rIns="91440" bIns="45720" rtlCol="0" anchor="t">
            <a:normAutofit/>
          </a:bodyPr>
          <a:lstStyle>
            <a:lvl1pPr>
              <a:buNone/>
              <a:defRPr lang="en-US" sz="2000" dirty="0"/>
            </a:lvl1pPr>
          </a:lstStyle>
          <a:p>
            <a:pPr marL="0" lvl="0" indent="0">
              <a:buNone/>
            </a:pPr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27" name="Text Placeholder 3"/>
          <p:cNvSpPr>
            <a:spLocks noGrp="1"/>
          </p:cNvSpPr>
          <p:nvPr>
            <p:ph type="body" sz="half" idx="20"/>
          </p:nvPr>
        </p:nvSpPr>
        <p:spPr>
          <a:xfrm>
            <a:off x="7852442" y="4980854"/>
            <a:ext cx="3194968" cy="810345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2B5C0FA-8C46-E84D-B6D7-B673F2CA0A0E}" type="datetime1">
              <a:rPr lang="en-US" smtClean="0"/>
              <a:t>10/22/26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3D91E88-2515-D24B-B4EA-67D975D0853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70744584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 anchor="t"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0B9CDE1-97B4-BF46-B69C-B86855B18820}" type="datetime1">
              <a:rPr lang="en-US" smtClean="0"/>
              <a:t>10/22/26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3D91E88-2515-D24B-B4EA-67D975D0853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39767834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9042400" y="609599"/>
            <a:ext cx="2005011" cy="5181601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1141410" y="609599"/>
            <a:ext cx="7748590" cy="5181601"/>
          </a:xfrm>
        </p:spPr>
        <p:txBody>
          <a:bodyPr vert="eaVert"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E51D3A4-F9E5-FD49-AA87-B395F50451DC}" type="datetime1">
              <a:rPr lang="en-US" smtClean="0"/>
              <a:t>10/22/26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3D91E88-2515-D24B-B4EA-67D975D0853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0053211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18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slideLayout" Target="../slideLayouts/slideLayout17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10" Type="http://schemas.openxmlformats.org/officeDocument/2006/relationships/slideLayout" Target="../slideLayouts/slideLayout10.xml"/><Relationship Id="rId19" Type="http://schemas.openxmlformats.org/officeDocument/2006/relationships/image" Target="../media/image2.png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3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2" descr="\\DROBO-FS\QuickDrops\JB\PPTX NG\Droplets\LightingOverlay.png"/>
          <p:cNvPicPr>
            <a:picLocks noChangeAspect="1" noChangeArrowheads="1"/>
          </p:cNvPicPr>
          <p:nvPr/>
        </p:nvPicPr>
        <p:blipFill>
          <a:blip r:embed="rId19">
            <a:alphaModFix amt="30000"/>
            <a:duotone>
              <a:prstClr val="black"/>
              <a:schemeClr val="tx2">
                <a:tint val="45000"/>
                <a:satMod val="400000"/>
              </a:schemeClr>
            </a:duotone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0" y="-1"/>
            <a:ext cx="12192003" cy="6858001"/>
          </a:xfrm>
          <a:prstGeom prst="rect">
            <a:avLst/>
          </a:prstGeom>
          <a:noFill/>
          <a:extLst>
            <a:ext uri="{909E8E84-426E-40dd-AFC4-6F175D3DCCD1}">
              <a14:hiddenFill xmlns=""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grpSp>
        <p:nvGrpSpPr>
          <p:cNvPr id="8" name="Group 7"/>
          <p:cNvGrpSpPr/>
          <p:nvPr/>
        </p:nvGrpSpPr>
        <p:grpSpPr>
          <a:xfrm>
            <a:off x="-14288" y="0"/>
            <a:ext cx="12053888" cy="6858001"/>
            <a:chOff x="-14288" y="0"/>
            <a:chExt cx="12053888" cy="6858001"/>
          </a:xfrm>
          <a:gradFill flip="none" rotWithShape="1">
            <a:gsLst>
              <a:gs pos="0">
                <a:schemeClr val="tx2"/>
              </a:gs>
              <a:gs pos="100000">
                <a:schemeClr val="tx2">
                  <a:lumMod val="50000"/>
                </a:schemeClr>
              </a:gs>
            </a:gsLst>
            <a:lin ang="5400000" scaled="0"/>
            <a:tileRect/>
          </a:gradFill>
        </p:grpSpPr>
        <p:grpSp>
          <p:nvGrpSpPr>
            <p:cNvPr id="9" name="Group 8"/>
            <p:cNvGrpSpPr/>
            <p:nvPr/>
          </p:nvGrpSpPr>
          <p:grpSpPr>
            <a:xfrm>
              <a:off x="-14288" y="0"/>
              <a:ext cx="1220788" cy="6858001"/>
              <a:chOff x="-14288" y="0"/>
              <a:chExt cx="1220788" cy="6858001"/>
            </a:xfrm>
            <a:grpFill/>
          </p:grpSpPr>
          <p:sp>
            <p:nvSpPr>
              <p:cNvPr id="21" name="Rectangle 5"/>
              <p:cNvSpPr>
                <a:spLocks noChangeArrowheads="1"/>
              </p:cNvSpPr>
              <p:nvPr/>
            </p:nvSpPr>
            <p:spPr bwMode="auto">
              <a:xfrm>
                <a:off x="114300" y="4763"/>
                <a:ext cx="23813" cy="2181225"/>
              </a:xfrm>
              <a:prstGeom prst="rect">
                <a:avLst/>
              </a:pr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</p:sp>
          <p:sp>
            <p:nvSpPr>
              <p:cNvPr id="22" name="Freeform 6"/>
              <p:cNvSpPr>
                <a:spLocks noEditPoints="1"/>
              </p:cNvSpPr>
              <p:nvPr/>
            </p:nvSpPr>
            <p:spPr bwMode="auto">
              <a:xfrm>
                <a:off x="33337" y="2176463"/>
                <a:ext cx="190500" cy="190500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1" y="4"/>
                      <a:pt x="4" y="11"/>
                      <a:pt x="4" y="20"/>
                    </a:cubicBezTo>
                    <a:cubicBezTo>
                      <a:pt x="4" y="29"/>
                      <a:pt x="11" y="36"/>
                      <a:pt x="20" y="36"/>
                    </a:cubicBezTo>
                    <a:cubicBezTo>
                      <a:pt x="28" y="36"/>
                      <a:pt x="36" y="29"/>
                      <a:pt x="36" y="20"/>
                    </a:cubicBezTo>
                    <a:cubicBezTo>
                      <a:pt x="36" y="11"/>
                      <a:pt x="28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23" name="Freeform 7"/>
              <p:cNvSpPr>
                <a:spLocks noEditPoints="1"/>
              </p:cNvSpPr>
              <p:nvPr/>
            </p:nvSpPr>
            <p:spPr bwMode="auto">
              <a:xfrm>
                <a:off x="28575" y="4021138"/>
                <a:ext cx="190500" cy="188913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2" y="4"/>
                      <a:pt x="4" y="11"/>
                      <a:pt x="4" y="20"/>
                    </a:cubicBezTo>
                    <a:cubicBezTo>
                      <a:pt x="4" y="29"/>
                      <a:pt x="12" y="36"/>
                      <a:pt x="20" y="36"/>
                    </a:cubicBezTo>
                    <a:cubicBezTo>
                      <a:pt x="29" y="36"/>
                      <a:pt x="36" y="29"/>
                      <a:pt x="36" y="20"/>
                    </a:cubicBezTo>
                    <a:cubicBezTo>
                      <a:pt x="36" y="11"/>
                      <a:pt x="29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24" name="Freeform 8"/>
              <p:cNvSpPr/>
              <p:nvPr/>
            </p:nvSpPr>
            <p:spPr bwMode="auto">
              <a:xfrm>
                <a:off x="200025" y="4763"/>
                <a:ext cx="369888" cy="1811338"/>
              </a:xfrm>
              <a:custGeom>
                <a:avLst/>
                <a:gdLst/>
                <a:ahLst/>
                <a:cxnLst/>
                <a:rect l="0" t="0" r="r" b="b"/>
                <a:pathLst>
                  <a:path w="233" h="1141">
                    <a:moveTo>
                      <a:pt x="218" y="1141"/>
                    </a:moveTo>
                    <a:lnTo>
                      <a:pt x="0" y="626"/>
                    </a:lnTo>
                    <a:lnTo>
                      <a:pt x="0" y="0"/>
                    </a:lnTo>
                    <a:lnTo>
                      <a:pt x="15" y="0"/>
                    </a:lnTo>
                    <a:lnTo>
                      <a:pt x="15" y="623"/>
                    </a:lnTo>
                    <a:lnTo>
                      <a:pt x="233" y="1135"/>
                    </a:lnTo>
                    <a:lnTo>
                      <a:pt x="218" y="1141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25" name="Freeform 9"/>
              <p:cNvSpPr>
                <a:spLocks noEditPoints="1"/>
              </p:cNvSpPr>
              <p:nvPr/>
            </p:nvSpPr>
            <p:spPr bwMode="auto">
              <a:xfrm>
                <a:off x="503237" y="1801813"/>
                <a:ext cx="190500" cy="188913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3" y="0"/>
                      <a:pt x="40" y="6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1" y="4"/>
                      <a:pt x="4" y="11"/>
                      <a:pt x="4" y="20"/>
                    </a:cubicBezTo>
                    <a:cubicBezTo>
                      <a:pt x="4" y="29"/>
                      <a:pt x="11" y="36"/>
                      <a:pt x="20" y="36"/>
                    </a:cubicBezTo>
                    <a:cubicBezTo>
                      <a:pt x="28" y="36"/>
                      <a:pt x="36" y="29"/>
                      <a:pt x="36" y="20"/>
                    </a:cubicBezTo>
                    <a:cubicBezTo>
                      <a:pt x="36" y="9"/>
                      <a:pt x="31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26" name="Freeform 10"/>
              <p:cNvSpPr/>
              <p:nvPr/>
            </p:nvSpPr>
            <p:spPr bwMode="auto">
              <a:xfrm>
                <a:off x="285750" y="4763"/>
                <a:ext cx="369888" cy="1430338"/>
              </a:xfrm>
              <a:custGeom>
                <a:avLst/>
                <a:gdLst/>
                <a:ahLst/>
                <a:cxnLst/>
                <a:rect l="0" t="0" r="r" b="b"/>
                <a:pathLst>
                  <a:path w="233" h="901">
                    <a:moveTo>
                      <a:pt x="221" y="901"/>
                    </a:moveTo>
                    <a:lnTo>
                      <a:pt x="0" y="383"/>
                    </a:lnTo>
                    <a:lnTo>
                      <a:pt x="0" y="0"/>
                    </a:lnTo>
                    <a:lnTo>
                      <a:pt x="18" y="0"/>
                    </a:lnTo>
                    <a:lnTo>
                      <a:pt x="18" y="380"/>
                    </a:lnTo>
                    <a:lnTo>
                      <a:pt x="233" y="895"/>
                    </a:lnTo>
                    <a:lnTo>
                      <a:pt x="221" y="901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27" name="Freeform 11"/>
              <p:cNvSpPr/>
              <p:nvPr/>
            </p:nvSpPr>
            <p:spPr bwMode="auto">
              <a:xfrm>
                <a:off x="546100" y="0"/>
                <a:ext cx="152400" cy="912813"/>
              </a:xfrm>
              <a:custGeom>
                <a:avLst/>
                <a:gdLst/>
                <a:ahLst/>
                <a:cxnLst/>
                <a:rect l="0" t="0" r="r" b="b"/>
                <a:pathLst>
                  <a:path w="96" h="575">
                    <a:moveTo>
                      <a:pt x="96" y="575"/>
                    </a:moveTo>
                    <a:lnTo>
                      <a:pt x="78" y="575"/>
                    </a:lnTo>
                    <a:lnTo>
                      <a:pt x="78" y="192"/>
                    </a:lnTo>
                    <a:lnTo>
                      <a:pt x="0" y="6"/>
                    </a:lnTo>
                    <a:lnTo>
                      <a:pt x="15" y="0"/>
                    </a:lnTo>
                    <a:lnTo>
                      <a:pt x="96" y="189"/>
                    </a:lnTo>
                    <a:lnTo>
                      <a:pt x="96" y="575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28" name="Freeform 12"/>
              <p:cNvSpPr>
                <a:spLocks noEditPoints="1"/>
              </p:cNvSpPr>
              <p:nvPr/>
            </p:nvSpPr>
            <p:spPr bwMode="auto">
              <a:xfrm>
                <a:off x="588962" y="1420813"/>
                <a:ext cx="190500" cy="190500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3" y="0"/>
                      <a:pt x="40" y="7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1" y="4"/>
                      <a:pt x="4" y="11"/>
                      <a:pt x="4" y="20"/>
                    </a:cubicBezTo>
                    <a:cubicBezTo>
                      <a:pt x="4" y="29"/>
                      <a:pt x="11" y="36"/>
                      <a:pt x="20" y="36"/>
                    </a:cubicBezTo>
                    <a:cubicBezTo>
                      <a:pt x="29" y="36"/>
                      <a:pt x="36" y="29"/>
                      <a:pt x="36" y="20"/>
                    </a:cubicBezTo>
                    <a:cubicBezTo>
                      <a:pt x="36" y="9"/>
                      <a:pt x="31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29" name="Freeform 13"/>
              <p:cNvSpPr>
                <a:spLocks noEditPoints="1"/>
              </p:cNvSpPr>
              <p:nvPr/>
            </p:nvSpPr>
            <p:spPr bwMode="auto">
              <a:xfrm>
                <a:off x="588962" y="903288"/>
                <a:ext cx="190500" cy="190500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1" y="4"/>
                      <a:pt x="4" y="11"/>
                      <a:pt x="4" y="20"/>
                    </a:cubicBezTo>
                    <a:cubicBezTo>
                      <a:pt x="4" y="29"/>
                      <a:pt x="11" y="36"/>
                      <a:pt x="20" y="36"/>
                    </a:cubicBezTo>
                    <a:cubicBezTo>
                      <a:pt x="29" y="36"/>
                      <a:pt x="36" y="29"/>
                      <a:pt x="36" y="20"/>
                    </a:cubicBezTo>
                    <a:cubicBezTo>
                      <a:pt x="36" y="11"/>
                      <a:pt x="29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30" name="Freeform 14"/>
              <p:cNvSpPr/>
              <p:nvPr/>
            </p:nvSpPr>
            <p:spPr bwMode="auto">
              <a:xfrm>
                <a:off x="641350" y="0"/>
                <a:ext cx="422275" cy="527050"/>
              </a:xfrm>
              <a:custGeom>
                <a:avLst/>
                <a:gdLst/>
                <a:ahLst/>
                <a:cxnLst/>
                <a:rect l="0" t="0" r="r" b="b"/>
                <a:pathLst>
                  <a:path w="266" h="332">
                    <a:moveTo>
                      <a:pt x="257" y="332"/>
                    </a:moveTo>
                    <a:lnTo>
                      <a:pt x="48" y="123"/>
                    </a:lnTo>
                    <a:lnTo>
                      <a:pt x="0" y="6"/>
                    </a:lnTo>
                    <a:lnTo>
                      <a:pt x="15" y="0"/>
                    </a:lnTo>
                    <a:lnTo>
                      <a:pt x="63" y="114"/>
                    </a:lnTo>
                    <a:lnTo>
                      <a:pt x="266" y="320"/>
                    </a:lnTo>
                    <a:lnTo>
                      <a:pt x="257" y="332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31" name="Freeform 15"/>
              <p:cNvSpPr>
                <a:spLocks noEditPoints="1"/>
              </p:cNvSpPr>
              <p:nvPr/>
            </p:nvSpPr>
            <p:spPr bwMode="auto">
              <a:xfrm>
                <a:off x="1020762" y="488950"/>
                <a:ext cx="161925" cy="147638"/>
              </a:xfrm>
              <a:custGeom>
                <a:avLst/>
                <a:gdLst/>
                <a:ahLst/>
                <a:cxnLst/>
                <a:rect l="0" t="0" r="r" b="b"/>
                <a:pathLst>
                  <a:path w="34" h="31">
                    <a:moveTo>
                      <a:pt x="17" y="31"/>
                    </a:moveTo>
                    <a:cubicBezTo>
                      <a:pt x="13" y="31"/>
                      <a:pt x="9" y="30"/>
                      <a:pt x="6" y="27"/>
                    </a:cubicBezTo>
                    <a:cubicBezTo>
                      <a:pt x="0" y="20"/>
                      <a:pt x="0" y="10"/>
                      <a:pt x="6" y="4"/>
                    </a:cubicBezTo>
                    <a:cubicBezTo>
                      <a:pt x="9" y="1"/>
                      <a:pt x="13" y="0"/>
                      <a:pt x="17" y="0"/>
                    </a:cubicBezTo>
                    <a:cubicBezTo>
                      <a:pt x="21" y="0"/>
                      <a:pt x="25" y="1"/>
                      <a:pt x="28" y="4"/>
                    </a:cubicBezTo>
                    <a:cubicBezTo>
                      <a:pt x="34" y="10"/>
                      <a:pt x="34" y="20"/>
                      <a:pt x="28" y="27"/>
                    </a:cubicBezTo>
                    <a:cubicBezTo>
                      <a:pt x="25" y="30"/>
                      <a:pt x="21" y="31"/>
                      <a:pt x="17" y="31"/>
                    </a:cubicBezTo>
                    <a:close/>
                    <a:moveTo>
                      <a:pt x="17" y="4"/>
                    </a:moveTo>
                    <a:cubicBezTo>
                      <a:pt x="14" y="4"/>
                      <a:pt x="11" y="5"/>
                      <a:pt x="9" y="7"/>
                    </a:cubicBezTo>
                    <a:cubicBezTo>
                      <a:pt x="4" y="12"/>
                      <a:pt x="4" y="19"/>
                      <a:pt x="9" y="24"/>
                    </a:cubicBezTo>
                    <a:cubicBezTo>
                      <a:pt x="11" y="26"/>
                      <a:pt x="14" y="27"/>
                      <a:pt x="17" y="27"/>
                    </a:cubicBezTo>
                    <a:cubicBezTo>
                      <a:pt x="20" y="27"/>
                      <a:pt x="23" y="26"/>
                      <a:pt x="25" y="24"/>
                    </a:cubicBezTo>
                    <a:cubicBezTo>
                      <a:pt x="30" y="19"/>
                      <a:pt x="30" y="12"/>
                      <a:pt x="25" y="7"/>
                    </a:cubicBezTo>
                    <a:cubicBezTo>
                      <a:pt x="23" y="5"/>
                      <a:pt x="20" y="4"/>
                      <a:pt x="17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32" name="Line 16"/>
              <p:cNvSpPr>
                <a:spLocks noChangeShapeType="1"/>
              </p:cNvSpPr>
              <p:nvPr/>
            </p:nvSpPr>
            <p:spPr bwMode="auto">
              <a:xfrm>
                <a:off x="-4763" y="9525"/>
                <a:ext cx="0" cy="0"/>
              </a:xfrm>
              <a:prstGeom prst="line">
                <a:avLst/>
              </a:prstGeom>
              <a:grpFill/>
              <a:ln w="15" cap="flat">
                <a:solidFill>
                  <a:srgbClr val="FFFFFF"/>
                </a:solidFill>
                <a:prstDash val="solid"/>
                <a:miter lim="800000"/>
                <a:headEnd/>
                <a:tailEnd/>
              </a:ln>
            </p:spPr>
          </p:sp>
          <p:sp>
            <p:nvSpPr>
              <p:cNvPr id="33" name="Freeform 17"/>
              <p:cNvSpPr/>
              <p:nvPr/>
            </p:nvSpPr>
            <p:spPr bwMode="auto">
              <a:xfrm>
                <a:off x="9525" y="1801813"/>
                <a:ext cx="123825" cy="127000"/>
              </a:xfrm>
              <a:custGeom>
                <a:avLst/>
                <a:gdLst/>
                <a:ahLst/>
                <a:cxnLst/>
                <a:rect l="0" t="0" r="r" b="b"/>
                <a:pathLst>
                  <a:path w="78" h="80">
                    <a:moveTo>
                      <a:pt x="6" y="80"/>
                    </a:moveTo>
                    <a:lnTo>
                      <a:pt x="0" y="71"/>
                    </a:lnTo>
                    <a:lnTo>
                      <a:pt x="69" y="0"/>
                    </a:lnTo>
                    <a:lnTo>
                      <a:pt x="78" y="9"/>
                    </a:lnTo>
                    <a:lnTo>
                      <a:pt x="6" y="80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34" name="Freeform 18"/>
              <p:cNvSpPr/>
              <p:nvPr/>
            </p:nvSpPr>
            <p:spPr bwMode="auto">
              <a:xfrm>
                <a:off x="-9525" y="3549650"/>
                <a:ext cx="147638" cy="481013"/>
              </a:xfrm>
              <a:custGeom>
                <a:avLst/>
                <a:gdLst/>
                <a:ahLst/>
                <a:cxnLst/>
                <a:rect l="0" t="0" r="r" b="b"/>
                <a:pathLst>
                  <a:path w="93" h="303">
                    <a:moveTo>
                      <a:pt x="93" y="303"/>
                    </a:moveTo>
                    <a:lnTo>
                      <a:pt x="78" y="303"/>
                    </a:lnTo>
                    <a:lnTo>
                      <a:pt x="78" y="78"/>
                    </a:lnTo>
                    <a:lnTo>
                      <a:pt x="0" y="12"/>
                    </a:lnTo>
                    <a:lnTo>
                      <a:pt x="12" y="0"/>
                    </a:lnTo>
                    <a:lnTo>
                      <a:pt x="93" y="69"/>
                    </a:lnTo>
                    <a:lnTo>
                      <a:pt x="93" y="303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35" name="Freeform 19"/>
              <p:cNvSpPr/>
              <p:nvPr/>
            </p:nvSpPr>
            <p:spPr bwMode="auto">
              <a:xfrm>
                <a:off x="128587" y="1382713"/>
                <a:ext cx="142875" cy="476250"/>
              </a:xfrm>
              <a:custGeom>
                <a:avLst/>
                <a:gdLst/>
                <a:ahLst/>
                <a:cxnLst/>
                <a:rect l="0" t="0" r="r" b="b"/>
                <a:pathLst>
                  <a:path w="90" h="300">
                    <a:moveTo>
                      <a:pt x="90" y="300"/>
                    </a:moveTo>
                    <a:lnTo>
                      <a:pt x="78" y="300"/>
                    </a:lnTo>
                    <a:lnTo>
                      <a:pt x="78" y="84"/>
                    </a:lnTo>
                    <a:lnTo>
                      <a:pt x="0" y="9"/>
                    </a:lnTo>
                    <a:lnTo>
                      <a:pt x="9" y="0"/>
                    </a:lnTo>
                    <a:lnTo>
                      <a:pt x="90" y="81"/>
                    </a:lnTo>
                    <a:lnTo>
                      <a:pt x="90" y="300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36" name="Freeform 20"/>
              <p:cNvSpPr>
                <a:spLocks noEditPoints="1"/>
              </p:cNvSpPr>
              <p:nvPr/>
            </p:nvSpPr>
            <p:spPr bwMode="auto">
              <a:xfrm>
                <a:off x="204787" y="1849438"/>
                <a:ext cx="114300" cy="107950"/>
              </a:xfrm>
              <a:custGeom>
                <a:avLst/>
                <a:gdLst/>
                <a:ahLst/>
                <a:cxnLst/>
                <a:rect l="0" t="0" r="r" b="b"/>
                <a:pathLst>
                  <a:path w="24" h="23">
                    <a:moveTo>
                      <a:pt x="12" y="23"/>
                    </a:moveTo>
                    <a:cubicBezTo>
                      <a:pt x="6" y="23"/>
                      <a:pt x="0" y="18"/>
                      <a:pt x="0" y="12"/>
                    </a:cubicBezTo>
                    <a:cubicBezTo>
                      <a:pt x="0" y="5"/>
                      <a:pt x="6" y="0"/>
                      <a:pt x="12" y="0"/>
                    </a:cubicBezTo>
                    <a:cubicBezTo>
                      <a:pt x="18" y="0"/>
                      <a:pt x="24" y="5"/>
                      <a:pt x="24" y="12"/>
                    </a:cubicBezTo>
                    <a:cubicBezTo>
                      <a:pt x="24" y="18"/>
                      <a:pt x="18" y="23"/>
                      <a:pt x="12" y="23"/>
                    </a:cubicBezTo>
                    <a:close/>
                    <a:moveTo>
                      <a:pt x="12" y="4"/>
                    </a:moveTo>
                    <a:cubicBezTo>
                      <a:pt x="8" y="4"/>
                      <a:pt x="4" y="8"/>
                      <a:pt x="4" y="12"/>
                    </a:cubicBezTo>
                    <a:cubicBezTo>
                      <a:pt x="4" y="16"/>
                      <a:pt x="8" y="19"/>
                      <a:pt x="12" y="19"/>
                    </a:cubicBezTo>
                    <a:cubicBezTo>
                      <a:pt x="16" y="19"/>
                      <a:pt x="20" y="16"/>
                      <a:pt x="20" y="12"/>
                    </a:cubicBezTo>
                    <a:cubicBezTo>
                      <a:pt x="20" y="8"/>
                      <a:pt x="16" y="4"/>
                      <a:pt x="12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37" name="Rectangle 21"/>
              <p:cNvSpPr>
                <a:spLocks noChangeArrowheads="1"/>
              </p:cNvSpPr>
              <p:nvPr/>
            </p:nvSpPr>
            <p:spPr bwMode="auto">
              <a:xfrm>
                <a:off x="133350" y="4662488"/>
                <a:ext cx="23813" cy="2181225"/>
              </a:xfrm>
              <a:prstGeom prst="rect">
                <a:avLst/>
              </a:pr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</p:sp>
          <p:sp>
            <p:nvSpPr>
              <p:cNvPr id="38" name="Freeform 22"/>
              <p:cNvSpPr/>
              <p:nvPr/>
            </p:nvSpPr>
            <p:spPr bwMode="auto">
              <a:xfrm>
                <a:off x="223837" y="5041900"/>
                <a:ext cx="369888" cy="1801813"/>
              </a:xfrm>
              <a:custGeom>
                <a:avLst/>
                <a:gdLst/>
                <a:ahLst/>
                <a:cxnLst/>
                <a:rect l="0" t="0" r="r" b="b"/>
                <a:pathLst>
                  <a:path w="233" h="1135">
                    <a:moveTo>
                      <a:pt x="15" y="1135"/>
                    </a:moveTo>
                    <a:lnTo>
                      <a:pt x="0" y="1135"/>
                    </a:lnTo>
                    <a:lnTo>
                      <a:pt x="0" y="515"/>
                    </a:lnTo>
                    <a:lnTo>
                      <a:pt x="0" y="512"/>
                    </a:lnTo>
                    <a:lnTo>
                      <a:pt x="218" y="0"/>
                    </a:lnTo>
                    <a:lnTo>
                      <a:pt x="233" y="6"/>
                    </a:lnTo>
                    <a:lnTo>
                      <a:pt x="15" y="518"/>
                    </a:lnTo>
                    <a:lnTo>
                      <a:pt x="15" y="1135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39" name="Freeform 23"/>
              <p:cNvSpPr>
                <a:spLocks noEditPoints="1"/>
              </p:cNvSpPr>
              <p:nvPr/>
            </p:nvSpPr>
            <p:spPr bwMode="auto">
              <a:xfrm>
                <a:off x="52387" y="4481513"/>
                <a:ext cx="190500" cy="190500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1" y="4"/>
                      <a:pt x="4" y="11"/>
                      <a:pt x="4" y="20"/>
                    </a:cubicBezTo>
                    <a:cubicBezTo>
                      <a:pt x="4" y="29"/>
                      <a:pt x="11" y="36"/>
                      <a:pt x="20" y="36"/>
                    </a:cubicBezTo>
                    <a:cubicBezTo>
                      <a:pt x="28" y="36"/>
                      <a:pt x="36" y="29"/>
                      <a:pt x="36" y="20"/>
                    </a:cubicBezTo>
                    <a:cubicBezTo>
                      <a:pt x="36" y="11"/>
                      <a:pt x="28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40" name="Freeform 24"/>
              <p:cNvSpPr/>
              <p:nvPr/>
            </p:nvSpPr>
            <p:spPr bwMode="auto">
              <a:xfrm>
                <a:off x="-14288" y="5627688"/>
                <a:ext cx="85725" cy="1216025"/>
              </a:xfrm>
              <a:custGeom>
                <a:avLst/>
                <a:gdLst/>
                <a:ahLst/>
                <a:cxnLst/>
                <a:rect l="0" t="0" r="r" b="b"/>
                <a:pathLst>
                  <a:path w="54" h="766">
                    <a:moveTo>
                      <a:pt x="54" y="766"/>
                    </a:moveTo>
                    <a:lnTo>
                      <a:pt x="36" y="766"/>
                    </a:lnTo>
                    <a:lnTo>
                      <a:pt x="36" y="149"/>
                    </a:lnTo>
                    <a:lnTo>
                      <a:pt x="0" y="3"/>
                    </a:lnTo>
                    <a:lnTo>
                      <a:pt x="18" y="0"/>
                    </a:lnTo>
                    <a:lnTo>
                      <a:pt x="54" y="146"/>
                    </a:lnTo>
                    <a:lnTo>
                      <a:pt x="54" y="766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41" name="Freeform 25"/>
              <p:cNvSpPr>
                <a:spLocks noEditPoints="1"/>
              </p:cNvSpPr>
              <p:nvPr/>
            </p:nvSpPr>
            <p:spPr bwMode="auto">
              <a:xfrm>
                <a:off x="527050" y="4867275"/>
                <a:ext cx="190500" cy="188913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1" y="4"/>
                      <a:pt x="4" y="11"/>
                      <a:pt x="4" y="20"/>
                    </a:cubicBezTo>
                    <a:cubicBezTo>
                      <a:pt x="4" y="29"/>
                      <a:pt x="11" y="36"/>
                      <a:pt x="20" y="36"/>
                    </a:cubicBezTo>
                    <a:cubicBezTo>
                      <a:pt x="29" y="36"/>
                      <a:pt x="36" y="29"/>
                      <a:pt x="36" y="20"/>
                    </a:cubicBezTo>
                    <a:cubicBezTo>
                      <a:pt x="36" y="11"/>
                      <a:pt x="29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42" name="Freeform 26"/>
              <p:cNvSpPr/>
              <p:nvPr/>
            </p:nvSpPr>
            <p:spPr bwMode="auto">
              <a:xfrm>
                <a:off x="309562" y="5422900"/>
                <a:ext cx="374650" cy="1425575"/>
              </a:xfrm>
              <a:custGeom>
                <a:avLst/>
                <a:gdLst/>
                <a:ahLst/>
                <a:cxnLst/>
                <a:rect l="0" t="0" r="r" b="b"/>
                <a:pathLst>
                  <a:path w="236" h="898">
                    <a:moveTo>
                      <a:pt x="18" y="898"/>
                    </a:moveTo>
                    <a:lnTo>
                      <a:pt x="0" y="898"/>
                    </a:lnTo>
                    <a:lnTo>
                      <a:pt x="0" y="515"/>
                    </a:lnTo>
                    <a:lnTo>
                      <a:pt x="3" y="512"/>
                    </a:lnTo>
                    <a:lnTo>
                      <a:pt x="221" y="0"/>
                    </a:lnTo>
                    <a:lnTo>
                      <a:pt x="236" y="6"/>
                    </a:lnTo>
                    <a:lnTo>
                      <a:pt x="18" y="518"/>
                    </a:lnTo>
                    <a:lnTo>
                      <a:pt x="18" y="898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43" name="Freeform 27"/>
              <p:cNvSpPr/>
              <p:nvPr/>
            </p:nvSpPr>
            <p:spPr bwMode="auto">
              <a:xfrm>
                <a:off x="569912" y="5945188"/>
                <a:ext cx="152400" cy="912813"/>
              </a:xfrm>
              <a:custGeom>
                <a:avLst/>
                <a:gdLst/>
                <a:ahLst/>
                <a:cxnLst/>
                <a:rect l="0" t="0" r="r" b="b"/>
                <a:pathLst>
                  <a:path w="96" h="575">
                    <a:moveTo>
                      <a:pt x="15" y="575"/>
                    </a:moveTo>
                    <a:lnTo>
                      <a:pt x="0" y="569"/>
                    </a:lnTo>
                    <a:lnTo>
                      <a:pt x="81" y="383"/>
                    </a:lnTo>
                    <a:lnTo>
                      <a:pt x="81" y="0"/>
                    </a:lnTo>
                    <a:lnTo>
                      <a:pt x="96" y="0"/>
                    </a:lnTo>
                    <a:lnTo>
                      <a:pt x="96" y="386"/>
                    </a:lnTo>
                    <a:lnTo>
                      <a:pt x="15" y="575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44" name="Freeform 28"/>
              <p:cNvSpPr>
                <a:spLocks noEditPoints="1"/>
              </p:cNvSpPr>
              <p:nvPr/>
            </p:nvSpPr>
            <p:spPr bwMode="auto">
              <a:xfrm>
                <a:off x="612775" y="5246688"/>
                <a:ext cx="190500" cy="190500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2" y="4"/>
                      <a:pt x="4" y="11"/>
                      <a:pt x="4" y="20"/>
                    </a:cubicBezTo>
                    <a:cubicBezTo>
                      <a:pt x="4" y="29"/>
                      <a:pt x="12" y="36"/>
                      <a:pt x="20" y="36"/>
                    </a:cubicBezTo>
                    <a:cubicBezTo>
                      <a:pt x="29" y="36"/>
                      <a:pt x="36" y="29"/>
                      <a:pt x="36" y="20"/>
                    </a:cubicBezTo>
                    <a:cubicBezTo>
                      <a:pt x="36" y="11"/>
                      <a:pt x="29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45" name="Freeform 29"/>
              <p:cNvSpPr>
                <a:spLocks noEditPoints="1"/>
              </p:cNvSpPr>
              <p:nvPr/>
            </p:nvSpPr>
            <p:spPr bwMode="auto">
              <a:xfrm>
                <a:off x="612775" y="5764213"/>
                <a:ext cx="190500" cy="190500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2" y="4"/>
                      <a:pt x="4" y="11"/>
                      <a:pt x="4" y="20"/>
                    </a:cubicBezTo>
                    <a:cubicBezTo>
                      <a:pt x="4" y="29"/>
                      <a:pt x="12" y="36"/>
                      <a:pt x="20" y="36"/>
                    </a:cubicBezTo>
                    <a:cubicBezTo>
                      <a:pt x="29" y="36"/>
                      <a:pt x="36" y="29"/>
                      <a:pt x="36" y="20"/>
                    </a:cubicBezTo>
                    <a:cubicBezTo>
                      <a:pt x="36" y="11"/>
                      <a:pt x="29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46" name="Freeform 30"/>
              <p:cNvSpPr/>
              <p:nvPr/>
            </p:nvSpPr>
            <p:spPr bwMode="auto">
              <a:xfrm>
                <a:off x="669925" y="6330950"/>
                <a:ext cx="417513" cy="517525"/>
              </a:xfrm>
              <a:custGeom>
                <a:avLst/>
                <a:gdLst/>
                <a:ahLst/>
                <a:cxnLst/>
                <a:rect l="0" t="0" r="r" b="b"/>
                <a:pathLst>
                  <a:path w="263" h="326">
                    <a:moveTo>
                      <a:pt x="15" y="326"/>
                    </a:moveTo>
                    <a:lnTo>
                      <a:pt x="0" y="320"/>
                    </a:lnTo>
                    <a:lnTo>
                      <a:pt x="45" y="206"/>
                    </a:lnTo>
                    <a:lnTo>
                      <a:pt x="48" y="206"/>
                    </a:lnTo>
                    <a:lnTo>
                      <a:pt x="254" y="0"/>
                    </a:lnTo>
                    <a:lnTo>
                      <a:pt x="263" y="12"/>
                    </a:lnTo>
                    <a:lnTo>
                      <a:pt x="60" y="215"/>
                    </a:lnTo>
                    <a:lnTo>
                      <a:pt x="15" y="326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47" name="Freeform 31"/>
              <p:cNvSpPr>
                <a:spLocks noEditPoints="1"/>
              </p:cNvSpPr>
              <p:nvPr/>
            </p:nvSpPr>
            <p:spPr bwMode="auto">
              <a:xfrm>
                <a:off x="1049337" y="6221413"/>
                <a:ext cx="157163" cy="147638"/>
              </a:xfrm>
              <a:custGeom>
                <a:avLst/>
                <a:gdLst/>
                <a:ahLst/>
                <a:cxnLst/>
                <a:rect l="0" t="0" r="r" b="b"/>
                <a:pathLst>
                  <a:path w="33" h="31">
                    <a:moveTo>
                      <a:pt x="16" y="31"/>
                    </a:moveTo>
                    <a:cubicBezTo>
                      <a:pt x="12" y="31"/>
                      <a:pt x="8" y="29"/>
                      <a:pt x="5" y="26"/>
                    </a:cubicBezTo>
                    <a:cubicBezTo>
                      <a:pt x="2" y="24"/>
                      <a:pt x="0" y="20"/>
                      <a:pt x="0" y="15"/>
                    </a:cubicBezTo>
                    <a:cubicBezTo>
                      <a:pt x="0" y="11"/>
                      <a:pt x="2" y="7"/>
                      <a:pt x="5" y="4"/>
                    </a:cubicBezTo>
                    <a:cubicBezTo>
                      <a:pt x="8" y="1"/>
                      <a:pt x="12" y="0"/>
                      <a:pt x="16" y="0"/>
                    </a:cubicBezTo>
                    <a:cubicBezTo>
                      <a:pt x="20" y="0"/>
                      <a:pt x="24" y="1"/>
                      <a:pt x="27" y="4"/>
                    </a:cubicBezTo>
                    <a:cubicBezTo>
                      <a:pt x="33" y="10"/>
                      <a:pt x="33" y="20"/>
                      <a:pt x="27" y="26"/>
                    </a:cubicBezTo>
                    <a:cubicBezTo>
                      <a:pt x="24" y="29"/>
                      <a:pt x="20" y="31"/>
                      <a:pt x="16" y="31"/>
                    </a:cubicBezTo>
                    <a:close/>
                    <a:moveTo>
                      <a:pt x="16" y="4"/>
                    </a:moveTo>
                    <a:cubicBezTo>
                      <a:pt x="13" y="4"/>
                      <a:pt x="10" y="5"/>
                      <a:pt x="8" y="7"/>
                    </a:cubicBezTo>
                    <a:cubicBezTo>
                      <a:pt x="6" y="9"/>
                      <a:pt x="4" y="12"/>
                      <a:pt x="4" y="15"/>
                    </a:cubicBezTo>
                    <a:cubicBezTo>
                      <a:pt x="4" y="19"/>
                      <a:pt x="6" y="21"/>
                      <a:pt x="8" y="24"/>
                    </a:cubicBezTo>
                    <a:cubicBezTo>
                      <a:pt x="10" y="26"/>
                      <a:pt x="13" y="27"/>
                      <a:pt x="16" y="27"/>
                    </a:cubicBezTo>
                    <a:cubicBezTo>
                      <a:pt x="19" y="27"/>
                      <a:pt x="22" y="26"/>
                      <a:pt x="24" y="24"/>
                    </a:cubicBezTo>
                    <a:cubicBezTo>
                      <a:pt x="29" y="19"/>
                      <a:pt x="29" y="12"/>
                      <a:pt x="24" y="7"/>
                    </a:cubicBezTo>
                    <a:cubicBezTo>
                      <a:pt x="22" y="5"/>
                      <a:pt x="19" y="4"/>
                      <a:pt x="16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</p:grpSp>
        <p:grpSp>
          <p:nvGrpSpPr>
            <p:cNvPr id="10" name="Group 9"/>
            <p:cNvGrpSpPr/>
            <p:nvPr/>
          </p:nvGrpSpPr>
          <p:grpSpPr>
            <a:xfrm>
              <a:off x="11364912" y="0"/>
              <a:ext cx="674688" cy="6848476"/>
              <a:chOff x="11364912" y="0"/>
              <a:chExt cx="674688" cy="6848476"/>
            </a:xfrm>
            <a:grpFill/>
          </p:grpSpPr>
          <p:sp>
            <p:nvSpPr>
              <p:cNvPr id="11" name="Freeform 32"/>
              <p:cNvSpPr/>
              <p:nvPr/>
            </p:nvSpPr>
            <p:spPr bwMode="auto">
              <a:xfrm>
                <a:off x="11483975" y="0"/>
                <a:ext cx="417513" cy="512763"/>
              </a:xfrm>
              <a:custGeom>
                <a:avLst/>
                <a:gdLst/>
                <a:ahLst/>
                <a:cxnLst/>
                <a:rect l="0" t="0" r="r" b="b"/>
                <a:pathLst>
                  <a:path w="263" h="323">
                    <a:moveTo>
                      <a:pt x="12" y="323"/>
                    </a:moveTo>
                    <a:lnTo>
                      <a:pt x="0" y="314"/>
                    </a:lnTo>
                    <a:lnTo>
                      <a:pt x="203" y="108"/>
                    </a:lnTo>
                    <a:lnTo>
                      <a:pt x="248" y="0"/>
                    </a:lnTo>
                    <a:lnTo>
                      <a:pt x="263" y="6"/>
                    </a:lnTo>
                    <a:lnTo>
                      <a:pt x="218" y="117"/>
                    </a:lnTo>
                    <a:lnTo>
                      <a:pt x="218" y="117"/>
                    </a:lnTo>
                    <a:lnTo>
                      <a:pt x="12" y="323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12" name="Freeform 33"/>
              <p:cNvSpPr>
                <a:spLocks noEditPoints="1"/>
              </p:cNvSpPr>
              <p:nvPr/>
            </p:nvSpPr>
            <p:spPr bwMode="auto">
              <a:xfrm>
                <a:off x="11364912" y="474663"/>
                <a:ext cx="157163" cy="152400"/>
              </a:xfrm>
              <a:custGeom>
                <a:avLst/>
                <a:gdLst/>
                <a:ahLst/>
                <a:cxnLst/>
                <a:rect l="0" t="0" r="r" b="b"/>
                <a:pathLst>
                  <a:path w="33" h="32">
                    <a:moveTo>
                      <a:pt x="17" y="32"/>
                    </a:moveTo>
                    <a:cubicBezTo>
                      <a:pt x="13" y="32"/>
                      <a:pt x="9" y="30"/>
                      <a:pt x="6" y="27"/>
                    </a:cubicBezTo>
                    <a:cubicBezTo>
                      <a:pt x="0" y="21"/>
                      <a:pt x="0" y="11"/>
                      <a:pt x="6" y="5"/>
                    </a:cubicBezTo>
                    <a:cubicBezTo>
                      <a:pt x="9" y="2"/>
                      <a:pt x="13" y="0"/>
                      <a:pt x="17" y="0"/>
                    </a:cubicBezTo>
                    <a:cubicBezTo>
                      <a:pt x="21" y="0"/>
                      <a:pt x="25" y="2"/>
                      <a:pt x="28" y="5"/>
                    </a:cubicBezTo>
                    <a:cubicBezTo>
                      <a:pt x="31" y="8"/>
                      <a:pt x="33" y="12"/>
                      <a:pt x="33" y="16"/>
                    </a:cubicBezTo>
                    <a:cubicBezTo>
                      <a:pt x="33" y="20"/>
                      <a:pt x="31" y="24"/>
                      <a:pt x="28" y="27"/>
                    </a:cubicBezTo>
                    <a:cubicBezTo>
                      <a:pt x="25" y="30"/>
                      <a:pt x="21" y="32"/>
                      <a:pt x="17" y="32"/>
                    </a:cubicBezTo>
                    <a:close/>
                    <a:moveTo>
                      <a:pt x="17" y="4"/>
                    </a:moveTo>
                    <a:cubicBezTo>
                      <a:pt x="14" y="4"/>
                      <a:pt x="11" y="6"/>
                      <a:pt x="9" y="8"/>
                    </a:cubicBezTo>
                    <a:cubicBezTo>
                      <a:pt x="4" y="12"/>
                      <a:pt x="4" y="20"/>
                      <a:pt x="9" y="24"/>
                    </a:cubicBezTo>
                    <a:cubicBezTo>
                      <a:pt x="11" y="27"/>
                      <a:pt x="14" y="28"/>
                      <a:pt x="17" y="28"/>
                    </a:cubicBezTo>
                    <a:cubicBezTo>
                      <a:pt x="20" y="28"/>
                      <a:pt x="23" y="27"/>
                      <a:pt x="26" y="24"/>
                    </a:cubicBezTo>
                    <a:cubicBezTo>
                      <a:pt x="30" y="20"/>
                      <a:pt x="30" y="12"/>
                      <a:pt x="26" y="8"/>
                    </a:cubicBezTo>
                    <a:cubicBezTo>
                      <a:pt x="23" y="6"/>
                      <a:pt x="20" y="4"/>
                      <a:pt x="17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13" name="Freeform 34"/>
              <p:cNvSpPr>
                <a:spLocks noEditPoints="1"/>
              </p:cNvSpPr>
              <p:nvPr/>
            </p:nvSpPr>
            <p:spPr bwMode="auto">
              <a:xfrm>
                <a:off x="11631612" y="1539875"/>
                <a:ext cx="188913" cy="190500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1" y="4"/>
                      <a:pt x="4" y="11"/>
                      <a:pt x="4" y="20"/>
                    </a:cubicBezTo>
                    <a:cubicBezTo>
                      <a:pt x="4" y="29"/>
                      <a:pt x="11" y="36"/>
                      <a:pt x="20" y="36"/>
                    </a:cubicBezTo>
                    <a:cubicBezTo>
                      <a:pt x="29" y="36"/>
                      <a:pt x="36" y="29"/>
                      <a:pt x="36" y="20"/>
                    </a:cubicBezTo>
                    <a:cubicBezTo>
                      <a:pt x="36" y="11"/>
                      <a:pt x="29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14" name="Freeform 35"/>
              <p:cNvSpPr/>
              <p:nvPr/>
            </p:nvSpPr>
            <p:spPr bwMode="auto">
              <a:xfrm>
                <a:off x="11531600" y="5694363"/>
                <a:ext cx="298450" cy="1154113"/>
              </a:xfrm>
              <a:custGeom>
                <a:avLst/>
                <a:gdLst/>
                <a:ahLst/>
                <a:cxnLst/>
                <a:rect l="0" t="0" r="r" b="b"/>
                <a:pathLst>
                  <a:path w="188" h="727">
                    <a:moveTo>
                      <a:pt x="15" y="727"/>
                    </a:moveTo>
                    <a:lnTo>
                      <a:pt x="0" y="727"/>
                    </a:lnTo>
                    <a:lnTo>
                      <a:pt x="0" y="407"/>
                    </a:lnTo>
                    <a:lnTo>
                      <a:pt x="0" y="407"/>
                    </a:lnTo>
                    <a:lnTo>
                      <a:pt x="176" y="0"/>
                    </a:lnTo>
                    <a:lnTo>
                      <a:pt x="188" y="6"/>
                    </a:lnTo>
                    <a:lnTo>
                      <a:pt x="15" y="410"/>
                    </a:lnTo>
                    <a:lnTo>
                      <a:pt x="15" y="727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15" name="Freeform 36"/>
              <p:cNvSpPr>
                <a:spLocks noEditPoints="1"/>
              </p:cNvSpPr>
              <p:nvPr/>
            </p:nvSpPr>
            <p:spPr bwMode="auto">
              <a:xfrm>
                <a:off x="11772900" y="5551488"/>
                <a:ext cx="157163" cy="155575"/>
              </a:xfrm>
              <a:custGeom>
                <a:avLst/>
                <a:gdLst/>
                <a:ahLst/>
                <a:cxnLst/>
                <a:rect l="0" t="0" r="r" b="b"/>
                <a:pathLst>
                  <a:path w="33" h="33">
                    <a:moveTo>
                      <a:pt x="17" y="33"/>
                    </a:moveTo>
                    <a:cubicBezTo>
                      <a:pt x="8" y="33"/>
                      <a:pt x="0" y="25"/>
                      <a:pt x="0" y="16"/>
                    </a:cubicBezTo>
                    <a:cubicBezTo>
                      <a:pt x="0" y="7"/>
                      <a:pt x="8" y="0"/>
                      <a:pt x="17" y="0"/>
                    </a:cubicBezTo>
                    <a:cubicBezTo>
                      <a:pt x="26" y="0"/>
                      <a:pt x="33" y="7"/>
                      <a:pt x="33" y="16"/>
                    </a:cubicBezTo>
                    <a:cubicBezTo>
                      <a:pt x="33" y="25"/>
                      <a:pt x="26" y="33"/>
                      <a:pt x="17" y="33"/>
                    </a:cubicBezTo>
                    <a:close/>
                    <a:moveTo>
                      <a:pt x="17" y="4"/>
                    </a:moveTo>
                    <a:cubicBezTo>
                      <a:pt x="10" y="4"/>
                      <a:pt x="4" y="9"/>
                      <a:pt x="4" y="16"/>
                    </a:cubicBezTo>
                    <a:cubicBezTo>
                      <a:pt x="4" y="23"/>
                      <a:pt x="10" y="29"/>
                      <a:pt x="17" y="29"/>
                    </a:cubicBezTo>
                    <a:cubicBezTo>
                      <a:pt x="23" y="29"/>
                      <a:pt x="29" y="23"/>
                      <a:pt x="29" y="16"/>
                    </a:cubicBezTo>
                    <a:cubicBezTo>
                      <a:pt x="29" y="9"/>
                      <a:pt x="23" y="4"/>
                      <a:pt x="17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16" name="Freeform 37"/>
              <p:cNvSpPr/>
              <p:nvPr/>
            </p:nvSpPr>
            <p:spPr bwMode="auto">
              <a:xfrm>
                <a:off x="11710987" y="4763"/>
                <a:ext cx="304800" cy="1544638"/>
              </a:xfrm>
              <a:custGeom>
                <a:avLst/>
                <a:gdLst/>
                <a:ahLst/>
                <a:cxnLst/>
                <a:rect l="0" t="0" r="r" b="b"/>
                <a:pathLst>
                  <a:path w="192" h="973">
                    <a:moveTo>
                      <a:pt x="15" y="973"/>
                    </a:moveTo>
                    <a:lnTo>
                      <a:pt x="0" y="973"/>
                    </a:lnTo>
                    <a:lnTo>
                      <a:pt x="0" y="790"/>
                    </a:lnTo>
                    <a:lnTo>
                      <a:pt x="174" y="614"/>
                    </a:lnTo>
                    <a:lnTo>
                      <a:pt x="174" y="0"/>
                    </a:lnTo>
                    <a:lnTo>
                      <a:pt x="192" y="0"/>
                    </a:lnTo>
                    <a:lnTo>
                      <a:pt x="192" y="620"/>
                    </a:lnTo>
                    <a:lnTo>
                      <a:pt x="15" y="796"/>
                    </a:lnTo>
                    <a:lnTo>
                      <a:pt x="15" y="973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17" name="Freeform 38"/>
              <p:cNvSpPr>
                <a:spLocks noEditPoints="1"/>
              </p:cNvSpPr>
              <p:nvPr/>
            </p:nvSpPr>
            <p:spPr bwMode="auto">
              <a:xfrm>
                <a:off x="11636375" y="4867275"/>
                <a:ext cx="188913" cy="188913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1" y="4"/>
                      <a:pt x="4" y="11"/>
                      <a:pt x="4" y="20"/>
                    </a:cubicBezTo>
                    <a:cubicBezTo>
                      <a:pt x="4" y="29"/>
                      <a:pt x="11" y="36"/>
                      <a:pt x="20" y="36"/>
                    </a:cubicBezTo>
                    <a:cubicBezTo>
                      <a:pt x="29" y="36"/>
                      <a:pt x="36" y="29"/>
                      <a:pt x="36" y="20"/>
                    </a:cubicBezTo>
                    <a:cubicBezTo>
                      <a:pt x="36" y="11"/>
                      <a:pt x="29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18" name="Freeform 39"/>
              <p:cNvSpPr/>
              <p:nvPr/>
            </p:nvSpPr>
            <p:spPr bwMode="auto">
              <a:xfrm>
                <a:off x="11441112" y="5046663"/>
                <a:ext cx="307975" cy="1801813"/>
              </a:xfrm>
              <a:custGeom>
                <a:avLst/>
                <a:gdLst/>
                <a:ahLst/>
                <a:cxnLst/>
                <a:rect l="0" t="0" r="r" b="b"/>
                <a:pathLst>
                  <a:path w="194" h="1135">
                    <a:moveTo>
                      <a:pt x="18" y="1135"/>
                    </a:moveTo>
                    <a:lnTo>
                      <a:pt x="0" y="1135"/>
                    </a:lnTo>
                    <a:lnTo>
                      <a:pt x="0" y="354"/>
                    </a:lnTo>
                    <a:lnTo>
                      <a:pt x="176" y="177"/>
                    </a:lnTo>
                    <a:lnTo>
                      <a:pt x="176" y="0"/>
                    </a:lnTo>
                    <a:lnTo>
                      <a:pt x="194" y="0"/>
                    </a:lnTo>
                    <a:lnTo>
                      <a:pt x="194" y="183"/>
                    </a:lnTo>
                    <a:lnTo>
                      <a:pt x="18" y="360"/>
                    </a:lnTo>
                    <a:lnTo>
                      <a:pt x="18" y="1135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19" name="Freeform 40"/>
              <p:cNvSpPr>
                <a:spLocks noEditPoints="1"/>
              </p:cNvSpPr>
              <p:nvPr/>
            </p:nvSpPr>
            <p:spPr bwMode="auto">
              <a:xfrm>
                <a:off x="11849100" y="6416675"/>
                <a:ext cx="190500" cy="188913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2" y="4"/>
                      <a:pt x="4" y="11"/>
                      <a:pt x="4" y="20"/>
                    </a:cubicBezTo>
                    <a:cubicBezTo>
                      <a:pt x="4" y="29"/>
                      <a:pt x="12" y="36"/>
                      <a:pt x="20" y="36"/>
                    </a:cubicBezTo>
                    <a:cubicBezTo>
                      <a:pt x="29" y="36"/>
                      <a:pt x="36" y="29"/>
                      <a:pt x="36" y="20"/>
                    </a:cubicBezTo>
                    <a:cubicBezTo>
                      <a:pt x="36" y="11"/>
                      <a:pt x="29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20" name="Rectangle 41"/>
              <p:cNvSpPr>
                <a:spLocks noChangeArrowheads="1"/>
              </p:cNvSpPr>
              <p:nvPr/>
            </p:nvSpPr>
            <p:spPr bwMode="auto">
              <a:xfrm>
                <a:off x="11939587" y="6596063"/>
                <a:ext cx="23813" cy="252413"/>
              </a:xfrm>
              <a:prstGeom prst="rect">
                <a:avLst/>
              </a:pr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</p:sp>
        </p:grpSp>
      </p:grpSp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1141413" y="618518"/>
            <a:ext cx="9905998" cy="147857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141412" y="2249487"/>
            <a:ext cx="9905999" cy="3541714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7456921" y="5883276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05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92FF8978-FE14-CC4A-93A6-934EB06543C0}" type="datetime1">
              <a:rPr lang="en-US" smtClean="0"/>
              <a:t>10/22/26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1141411" y="5883275"/>
            <a:ext cx="623930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050" cap="all" baseline="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10276321" y="5883274"/>
            <a:ext cx="77108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05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3D91E88-2515-D24B-B4EA-67D975D0853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14260183"/>
      </p:ext>
    </p:extLst>
  </p:cSld>
  <p:clrMap bg1="dk1" tx1="lt1" bg2="dk2" tx2="lt2" accent1="accent1" accent2="accent2" accent3="accent3" accent4="accent4" accent5="accent5" accent6="accent6" hlink="hlink" folHlink="folHlink"/>
  <p:sldLayoutIdLst>
    <p:sldLayoutId id="2147484007" r:id="rId1"/>
    <p:sldLayoutId id="2147484008" r:id="rId2"/>
    <p:sldLayoutId id="2147484009" r:id="rId3"/>
    <p:sldLayoutId id="2147484010" r:id="rId4"/>
    <p:sldLayoutId id="2147484011" r:id="rId5"/>
    <p:sldLayoutId id="2147484012" r:id="rId6"/>
    <p:sldLayoutId id="2147484013" r:id="rId7"/>
    <p:sldLayoutId id="2147484014" r:id="rId8"/>
    <p:sldLayoutId id="2147484015" r:id="rId9"/>
    <p:sldLayoutId id="2147484016" r:id="rId10"/>
    <p:sldLayoutId id="2147484017" r:id="rId11"/>
    <p:sldLayoutId id="2147484018" r:id="rId12"/>
    <p:sldLayoutId id="2147484019" r:id="rId13"/>
    <p:sldLayoutId id="2147484020" r:id="rId14"/>
    <p:sldLayoutId id="2147484021" r:id="rId15"/>
    <p:sldLayoutId id="2147484022" r:id="rId16"/>
    <p:sldLayoutId id="2147484023" r:id="rId17"/>
  </p:sldLayoutIdLst>
  <p:hf sldNum="0" hdr="0" ftr="0" dt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3600" kern="1200" cap="all" baseline="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120000"/>
        </a:lnSpc>
        <a:spcBef>
          <a:spcPts val="1000"/>
        </a:spcBef>
        <a:buSzPct val="125000"/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120000"/>
        </a:lnSpc>
        <a:spcBef>
          <a:spcPts val="500"/>
        </a:spcBef>
        <a:buSzPct val="125000"/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120000"/>
        </a:lnSpc>
        <a:spcBef>
          <a:spcPts val="500"/>
        </a:spcBef>
        <a:buSzPct val="125000"/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120000"/>
        </a:lnSpc>
        <a:spcBef>
          <a:spcPts val="500"/>
        </a:spcBef>
        <a:buSzPct val="125000"/>
        <a:buFont typeface="Arial" panose="020B0604020202020204" pitchFamily="34" charset="0"/>
        <a:buChar char="•"/>
        <a:defRPr sz="16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120000"/>
        </a:lnSpc>
        <a:spcBef>
          <a:spcPts val="500"/>
        </a:spcBef>
        <a:buSzPct val="125000"/>
        <a:buFont typeface="Arial" panose="020B0604020202020204" pitchFamily="34" charset="0"/>
        <a:buChar char="•"/>
        <a:defRPr sz="16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120000"/>
        </a:lnSpc>
        <a:spcBef>
          <a:spcPts val="500"/>
        </a:spcBef>
        <a:buSzPct val="125000"/>
        <a:buFont typeface="Arial" panose="020B0604020202020204" pitchFamily="34" charset="0"/>
        <a:buChar char="•"/>
        <a:defRPr sz="14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120000"/>
        </a:lnSpc>
        <a:spcBef>
          <a:spcPts val="500"/>
        </a:spcBef>
        <a:buSzPct val="125000"/>
        <a:buFont typeface="Arial" panose="020B0604020202020204" pitchFamily="34" charset="0"/>
        <a:buChar char="•"/>
        <a:defRPr sz="14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120000"/>
        </a:lnSpc>
        <a:spcBef>
          <a:spcPts val="500"/>
        </a:spcBef>
        <a:buSzPct val="125000"/>
        <a:buFont typeface="Arial" panose="020B0604020202020204" pitchFamily="34" charset="0"/>
        <a:buChar char="•"/>
        <a:defRPr sz="14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120000"/>
        </a:lnSpc>
        <a:spcBef>
          <a:spcPts val="500"/>
        </a:spcBef>
        <a:buSzPct val="125000"/>
        <a:buFont typeface="Arial" panose="020B0604020202020204" pitchFamily="34" charset="0"/>
        <a:buChar char="•"/>
        <a:defRPr sz="14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/>
    </p:ext>
  </p:extLst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2.xml"/><Relationship Id="rId2" Type="http://schemas.openxmlformats.org/officeDocument/2006/relationships/tags" Target="../tags/tag2.xml"/><Relationship Id="rId1" Type="http://schemas.openxmlformats.org/officeDocument/2006/relationships/tags" Target="../tags/tag1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2.xml"/><Relationship Id="rId2" Type="http://schemas.openxmlformats.org/officeDocument/2006/relationships/tags" Target="../tags/tag4.xml"/><Relationship Id="rId1" Type="http://schemas.openxmlformats.org/officeDocument/2006/relationships/tags" Target="../tags/tag3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2.xml"/><Relationship Id="rId2" Type="http://schemas.openxmlformats.org/officeDocument/2006/relationships/tags" Target="../tags/tag6.xml"/><Relationship Id="rId1" Type="http://schemas.openxmlformats.org/officeDocument/2006/relationships/tags" Target="../tags/tag5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2.xml"/><Relationship Id="rId2" Type="http://schemas.openxmlformats.org/officeDocument/2006/relationships/tags" Target="../tags/tag8.xml"/><Relationship Id="rId1" Type="http://schemas.openxmlformats.org/officeDocument/2006/relationships/tags" Target="../tags/tag7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2.xml"/><Relationship Id="rId2" Type="http://schemas.openxmlformats.org/officeDocument/2006/relationships/tags" Target="../tags/tag10.xml"/><Relationship Id="rId1" Type="http://schemas.openxmlformats.org/officeDocument/2006/relationships/tags" Target="../tags/tag9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2.xml"/><Relationship Id="rId2" Type="http://schemas.openxmlformats.org/officeDocument/2006/relationships/tags" Target="../tags/tag12.xml"/><Relationship Id="rId1" Type="http://schemas.openxmlformats.org/officeDocument/2006/relationships/tags" Target="../tags/tag11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2.xml"/><Relationship Id="rId2" Type="http://schemas.openxmlformats.org/officeDocument/2006/relationships/tags" Target="../tags/tag14.xml"/><Relationship Id="rId1" Type="http://schemas.openxmlformats.org/officeDocument/2006/relationships/tags" Target="../tags/tag13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2.xml"/><Relationship Id="rId2" Type="http://schemas.openxmlformats.org/officeDocument/2006/relationships/tags" Target="../tags/tag16.xml"/><Relationship Id="rId1" Type="http://schemas.openxmlformats.org/officeDocument/2006/relationships/tags" Target="../tags/tag15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2.xml"/><Relationship Id="rId2" Type="http://schemas.openxmlformats.org/officeDocument/2006/relationships/tags" Target="../tags/tag18.xml"/><Relationship Id="rId1" Type="http://schemas.openxmlformats.org/officeDocument/2006/relationships/tags" Target="../tags/tag17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2.xml"/><Relationship Id="rId2" Type="http://schemas.openxmlformats.org/officeDocument/2006/relationships/tags" Target="../tags/tag20.xml"/><Relationship Id="rId1" Type="http://schemas.openxmlformats.org/officeDocument/2006/relationships/tags" Target="../tags/tag19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2.xml"/><Relationship Id="rId2" Type="http://schemas.openxmlformats.org/officeDocument/2006/relationships/tags" Target="../tags/tag22.xml"/><Relationship Id="rId1" Type="http://schemas.openxmlformats.org/officeDocument/2006/relationships/tags" Target="../tags/tag21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2.xml"/><Relationship Id="rId2" Type="http://schemas.openxmlformats.org/officeDocument/2006/relationships/tags" Target="../tags/tag24.xml"/><Relationship Id="rId1" Type="http://schemas.openxmlformats.org/officeDocument/2006/relationships/tags" Target="../tags/tag23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2.xml"/><Relationship Id="rId2" Type="http://schemas.openxmlformats.org/officeDocument/2006/relationships/tags" Target="../tags/tag26.xml"/><Relationship Id="rId1" Type="http://schemas.openxmlformats.org/officeDocument/2006/relationships/tags" Target="../tags/tag25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2.xml"/><Relationship Id="rId2" Type="http://schemas.openxmlformats.org/officeDocument/2006/relationships/tags" Target="../tags/tag28.xml"/><Relationship Id="rId1" Type="http://schemas.openxmlformats.org/officeDocument/2006/relationships/tags" Target="../tags/tag27.xml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2.xml"/><Relationship Id="rId2" Type="http://schemas.openxmlformats.org/officeDocument/2006/relationships/tags" Target="../tags/tag30.xml"/><Relationship Id="rId1" Type="http://schemas.openxmlformats.org/officeDocument/2006/relationships/tags" Target="../tags/tag29.xml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2.xml"/><Relationship Id="rId2" Type="http://schemas.openxmlformats.org/officeDocument/2006/relationships/tags" Target="../tags/tag32.xml"/><Relationship Id="rId1" Type="http://schemas.openxmlformats.org/officeDocument/2006/relationships/tags" Target="../tags/tag31.xml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2.xml"/><Relationship Id="rId2" Type="http://schemas.openxmlformats.org/officeDocument/2006/relationships/tags" Target="../tags/tag34.xml"/><Relationship Id="rId1" Type="http://schemas.openxmlformats.org/officeDocument/2006/relationships/tags" Target="../tags/tag33.xml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2.xml"/><Relationship Id="rId2" Type="http://schemas.openxmlformats.org/officeDocument/2006/relationships/tags" Target="../tags/tag36.xml"/><Relationship Id="rId1" Type="http://schemas.openxmlformats.org/officeDocument/2006/relationships/tags" Target="../tags/tag35.xml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2.xml"/><Relationship Id="rId2" Type="http://schemas.openxmlformats.org/officeDocument/2006/relationships/tags" Target="../tags/tag38.xml"/><Relationship Id="rId1" Type="http://schemas.openxmlformats.org/officeDocument/2006/relationships/tags" Target="../tags/tag37.xml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2.xml"/><Relationship Id="rId2" Type="http://schemas.openxmlformats.org/officeDocument/2006/relationships/tags" Target="../tags/tag40.xml"/><Relationship Id="rId1" Type="http://schemas.openxmlformats.org/officeDocument/2006/relationships/tags" Target="../tags/tag39.xml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tags" Target="../tags/tag43.xml"/><Relationship Id="rId7" Type="http://schemas.openxmlformats.org/officeDocument/2006/relationships/slideLayout" Target="../slideLayouts/slideLayout2.xml"/><Relationship Id="rId2" Type="http://schemas.openxmlformats.org/officeDocument/2006/relationships/tags" Target="../tags/tag42.xml"/><Relationship Id="rId1" Type="http://schemas.openxmlformats.org/officeDocument/2006/relationships/tags" Target="../tags/tag41.xml"/><Relationship Id="rId6" Type="http://schemas.openxmlformats.org/officeDocument/2006/relationships/tags" Target="../tags/tag46.xml"/><Relationship Id="rId5" Type="http://schemas.openxmlformats.org/officeDocument/2006/relationships/tags" Target="../tags/tag45.xml"/><Relationship Id="rId4" Type="http://schemas.openxmlformats.org/officeDocument/2006/relationships/tags" Target="../tags/tag4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38F7A2C-CECB-EA45-9A8F-28914F6ACB98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pPr algn="ctr"/>
            <a:r>
              <a:rPr lang="en-US" dirty="0"/>
              <a:t>CS3120 (DMT2)</a:t>
            </a:r>
            <a:br>
              <a:rPr lang="en-US" dirty="0"/>
            </a:br>
            <a:r>
              <a:rPr lang="en-US" dirty="0"/>
              <a:t>Daily Announcements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4CC3BA16-EE93-B74E-A27C-2B68B596BB53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pPr algn="ctr"/>
            <a:r>
              <a:rPr lang="en-US" dirty="0"/>
              <a:t>Discrete Mathematics and Theory 2</a:t>
            </a:r>
            <a:br>
              <a:rPr lang="en-US" dirty="0"/>
            </a:br>
            <a:r>
              <a:rPr lang="en-US" dirty="0"/>
              <a:t>Mark Floryan</a:t>
            </a:r>
            <a:br>
              <a:rPr lang="en-US" dirty="0"/>
            </a:br>
            <a:br>
              <a:rPr lang="en-US" dirty="0"/>
            </a:b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43730503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46" name="Rectangle 2"/>
          <p:cNvSpPr>
            <a:spLocks noGrp="1" noChangeArrowheads="1"/>
          </p:cNvSpPr>
          <p:nvPr>
            <p:ph type="title"/>
            <p:custDataLst>
              <p:tags r:id="rId1"/>
            </p:custDataLst>
          </p:nvPr>
        </p:nvSpPr>
        <p:spPr>
          <a:xfrm>
            <a:off x="1141413" y="284084"/>
            <a:ext cx="9905998" cy="620791"/>
          </a:xfrm>
        </p:spPr>
        <p:txBody>
          <a:bodyPr/>
          <a:lstStyle/>
          <a:p>
            <a:pPr algn="ctr"/>
            <a:r>
              <a:rPr lang="en-US" dirty="0"/>
              <a:t>Lecture 2 - Thursday, Aug. 27</a:t>
            </a:r>
          </a:p>
        </p:txBody>
      </p:sp>
      <p:sp>
        <p:nvSpPr>
          <p:cNvPr id="6147" name="Rectangle 3"/>
          <p:cNvSpPr>
            <a:spLocks noGrp="1" noChangeArrowheads="1"/>
          </p:cNvSpPr>
          <p:nvPr>
            <p:ph idx="1"/>
            <p:custDataLst>
              <p:tags r:id="rId2"/>
            </p:custDataLst>
          </p:nvPr>
        </p:nvSpPr>
        <p:spPr>
          <a:xfrm>
            <a:off x="1294151" y="1098549"/>
            <a:ext cx="9600522" cy="5149850"/>
          </a:xfrm>
        </p:spPr>
        <p:txBody>
          <a:bodyPr>
            <a:normAutofit/>
          </a:bodyPr>
          <a:lstStyle/>
          <a:p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Any questions about course policies from last time?</a:t>
            </a:r>
          </a:p>
          <a:p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Please remember </a:t>
            </a:r>
            <a:r>
              <a:rPr lang="en-US" b="1" i="1" u="sng" dirty="0">
                <a:latin typeface="Arial" panose="020B0604020202020204" pitchFamily="34" charset="0"/>
                <a:cs typeface="Arial" panose="020B0604020202020204" pitchFamily="34" charset="0"/>
              </a:rPr>
              <a:t>no laptops / phones</a:t>
            </a:r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 and </a:t>
            </a:r>
            <a:r>
              <a:rPr lang="en-US" b="1" i="1" u="sng" dirty="0">
                <a:latin typeface="Arial" panose="020B0604020202020204" pitchFamily="34" charset="0"/>
                <a:cs typeface="Arial" panose="020B0604020202020204" pitchFamily="34" charset="0"/>
              </a:rPr>
              <a:t>attendance policy</a:t>
            </a:r>
          </a:p>
          <a:p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First homework  is due one week from today (Thursday)</a:t>
            </a:r>
          </a:p>
          <a:p>
            <a:pPr lvl="1"/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Remember you can get an extension by filling out form linked on HW page</a:t>
            </a:r>
          </a:p>
          <a:p>
            <a:pPr lvl="1"/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Hopefully we get through enough material. Might be tight.</a:t>
            </a:r>
          </a:p>
          <a:p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First quiz is 9/22 (but we have some time before that arrives)</a:t>
            </a:r>
          </a:p>
          <a:p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These slides are linked on the course webpage “slides” page.</a:t>
            </a:r>
          </a:p>
          <a:p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Today we will start module 0 which is a half review, half overview of what to expect in the course.</a:t>
            </a:r>
          </a:p>
          <a:p>
            <a:endParaRPr lang="en-US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431754002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0419291-25F8-18DA-FFB0-F2D78FAFA6E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46" name="Rectangle 2">
            <a:extLst>
              <a:ext uri="{FF2B5EF4-FFF2-40B4-BE49-F238E27FC236}">
                <a16:creationId xmlns:a16="http://schemas.microsoft.com/office/drawing/2014/main" id="{BC245597-867F-85D8-54E8-C994C2B86CC0}"/>
              </a:ext>
            </a:extLst>
          </p:cNvPr>
          <p:cNvSpPr>
            <a:spLocks noGrp="1" noChangeArrowheads="1"/>
          </p:cNvSpPr>
          <p:nvPr>
            <p:ph type="title"/>
            <p:custDataLst>
              <p:tags r:id="rId1"/>
            </p:custDataLst>
          </p:nvPr>
        </p:nvSpPr>
        <p:spPr>
          <a:xfrm>
            <a:off x="1141413" y="284084"/>
            <a:ext cx="9905998" cy="620791"/>
          </a:xfrm>
        </p:spPr>
        <p:txBody>
          <a:bodyPr/>
          <a:lstStyle/>
          <a:p>
            <a:pPr algn="ctr"/>
            <a:r>
              <a:rPr lang="en-US" dirty="0"/>
              <a:t>Lecture 3 - Tuesday, Sep. 1</a:t>
            </a:r>
          </a:p>
        </p:txBody>
      </p:sp>
      <p:sp>
        <p:nvSpPr>
          <p:cNvPr id="6147" name="Rectangle 3">
            <a:extLst>
              <a:ext uri="{FF2B5EF4-FFF2-40B4-BE49-F238E27FC236}">
                <a16:creationId xmlns:a16="http://schemas.microsoft.com/office/drawing/2014/main" id="{CADA2C73-9E49-295C-F482-FE94D3E2E9E2}"/>
              </a:ext>
            </a:extLst>
          </p:cNvPr>
          <p:cNvSpPr>
            <a:spLocks noGrp="1" noChangeArrowheads="1"/>
          </p:cNvSpPr>
          <p:nvPr>
            <p:ph idx="1"/>
            <p:custDataLst>
              <p:tags r:id="rId2"/>
            </p:custDataLst>
          </p:nvPr>
        </p:nvSpPr>
        <p:spPr>
          <a:xfrm>
            <a:off x="1294151" y="1098549"/>
            <a:ext cx="9600522" cy="5149850"/>
          </a:xfrm>
        </p:spPr>
        <p:txBody>
          <a:bodyPr>
            <a:normAutofit fontScale="92500" lnSpcReduction="20000"/>
          </a:bodyPr>
          <a:lstStyle/>
          <a:p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Welcome to September, hopefully temp cools down soon?</a:t>
            </a:r>
          </a:p>
          <a:p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Please remember </a:t>
            </a:r>
            <a:r>
              <a:rPr lang="en-US" b="1" i="1" u="sng" dirty="0">
                <a:latin typeface="Arial" panose="020B0604020202020204" pitchFamily="34" charset="0"/>
                <a:cs typeface="Arial" panose="020B0604020202020204" pitchFamily="34" charset="0"/>
              </a:rPr>
              <a:t>no laptops / phones</a:t>
            </a:r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 and </a:t>
            </a:r>
            <a:r>
              <a:rPr lang="en-US" b="1" i="1" u="sng" dirty="0">
                <a:latin typeface="Arial" panose="020B0604020202020204" pitchFamily="34" charset="0"/>
                <a:cs typeface="Arial" panose="020B0604020202020204" pitchFamily="34" charset="0"/>
              </a:rPr>
              <a:t>attendance policy</a:t>
            </a:r>
          </a:p>
          <a:p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First homework  is due </a:t>
            </a:r>
            <a:r>
              <a:rPr lang="en-US" b="1" i="1" u="sng" dirty="0">
                <a:latin typeface="Arial" panose="020B0604020202020204" pitchFamily="34" charset="0"/>
                <a:cs typeface="Arial" panose="020B0604020202020204" pitchFamily="34" charset="0"/>
              </a:rPr>
              <a:t>THIS Thursday</a:t>
            </a:r>
          </a:p>
          <a:p>
            <a:pPr lvl="1"/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Remember you can get an extension by filling out form linked on HW page</a:t>
            </a:r>
          </a:p>
          <a:p>
            <a:pPr lvl="1"/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Hopefully we get through enough material. Might be tight.</a:t>
            </a:r>
          </a:p>
          <a:p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CBTF Practice Quiz</a:t>
            </a:r>
          </a:p>
          <a:p>
            <a:pPr lvl="1"/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Please make a </a:t>
            </a:r>
            <a:r>
              <a:rPr lang="en-US" dirty="0" err="1">
                <a:latin typeface="Arial" panose="020B0604020202020204" pitchFamily="34" charset="0"/>
                <a:cs typeface="Arial" panose="020B0604020202020204" pitchFamily="34" charset="0"/>
              </a:rPr>
              <a:t>PrairieLearn</a:t>
            </a:r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/</a:t>
            </a:r>
            <a:r>
              <a:rPr lang="en-US" dirty="0" err="1">
                <a:latin typeface="Arial" panose="020B0604020202020204" pitchFamily="34" charset="0"/>
                <a:cs typeface="Arial" panose="020B0604020202020204" pitchFamily="34" charset="0"/>
              </a:rPr>
              <a:t>PrairieTest</a:t>
            </a:r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 account NOW</a:t>
            </a:r>
          </a:p>
          <a:p>
            <a:pPr lvl="1"/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Practice Quiz is LIVE now. Make a reservation. You have until 9/11!!!</a:t>
            </a:r>
          </a:p>
          <a:p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First real quiz is 9/22 (but we have some time before that arrives)</a:t>
            </a:r>
          </a:p>
          <a:p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These slides are linked on the course webpage “slides” page.</a:t>
            </a:r>
          </a:p>
          <a:p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Today we will try to finish module 0 which is a half review, half overview of what to expect in the course.</a:t>
            </a:r>
          </a:p>
          <a:p>
            <a:endParaRPr lang="en-US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593160646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07B1675-49DF-67C9-1FAF-5C90913689D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46" name="Rectangle 2">
            <a:extLst>
              <a:ext uri="{FF2B5EF4-FFF2-40B4-BE49-F238E27FC236}">
                <a16:creationId xmlns:a16="http://schemas.microsoft.com/office/drawing/2014/main" id="{ABFB7E90-8A54-F2EA-2394-86E45E5E40AC}"/>
              </a:ext>
            </a:extLst>
          </p:cNvPr>
          <p:cNvSpPr>
            <a:spLocks noGrp="1" noChangeArrowheads="1"/>
          </p:cNvSpPr>
          <p:nvPr>
            <p:ph type="title"/>
            <p:custDataLst>
              <p:tags r:id="rId1"/>
            </p:custDataLst>
          </p:nvPr>
        </p:nvSpPr>
        <p:spPr>
          <a:xfrm>
            <a:off x="1141413" y="284084"/>
            <a:ext cx="9905998" cy="620791"/>
          </a:xfrm>
        </p:spPr>
        <p:txBody>
          <a:bodyPr/>
          <a:lstStyle/>
          <a:p>
            <a:pPr algn="ctr"/>
            <a:r>
              <a:rPr lang="en-US" dirty="0"/>
              <a:t>Lecture 4 - Thursday, Sep. 3</a:t>
            </a:r>
          </a:p>
        </p:txBody>
      </p:sp>
      <p:sp>
        <p:nvSpPr>
          <p:cNvPr id="6147" name="Rectangle 3">
            <a:extLst>
              <a:ext uri="{FF2B5EF4-FFF2-40B4-BE49-F238E27FC236}">
                <a16:creationId xmlns:a16="http://schemas.microsoft.com/office/drawing/2014/main" id="{7211D196-1060-AFCA-137B-4611930C381A}"/>
              </a:ext>
            </a:extLst>
          </p:cNvPr>
          <p:cNvSpPr>
            <a:spLocks noGrp="1" noChangeArrowheads="1"/>
          </p:cNvSpPr>
          <p:nvPr>
            <p:ph idx="1"/>
            <p:custDataLst>
              <p:tags r:id="rId2"/>
            </p:custDataLst>
          </p:nvPr>
        </p:nvSpPr>
        <p:spPr>
          <a:xfrm>
            <a:off x="1294151" y="1098549"/>
            <a:ext cx="9600522" cy="5149850"/>
          </a:xfrm>
        </p:spPr>
        <p:txBody>
          <a:bodyPr>
            <a:normAutofit fontScale="92500" lnSpcReduction="20000"/>
          </a:bodyPr>
          <a:lstStyle/>
          <a:p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Welcome to September, hopefully temp cools down soon?</a:t>
            </a:r>
          </a:p>
          <a:p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Please remember </a:t>
            </a:r>
            <a:r>
              <a:rPr lang="en-US" b="1" i="1" u="sng" dirty="0">
                <a:latin typeface="Arial" panose="020B0604020202020204" pitchFamily="34" charset="0"/>
                <a:cs typeface="Arial" panose="020B0604020202020204" pitchFamily="34" charset="0"/>
              </a:rPr>
              <a:t>no laptops / phones</a:t>
            </a:r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 and </a:t>
            </a:r>
            <a:r>
              <a:rPr lang="en-US" b="1" i="1" u="sng" dirty="0">
                <a:latin typeface="Arial" panose="020B0604020202020204" pitchFamily="34" charset="0"/>
                <a:cs typeface="Arial" panose="020B0604020202020204" pitchFamily="34" charset="0"/>
              </a:rPr>
              <a:t>attendance policy</a:t>
            </a:r>
          </a:p>
          <a:p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First homework  is due </a:t>
            </a:r>
            <a:r>
              <a:rPr lang="en-US" b="1" i="1" u="sng" dirty="0">
                <a:latin typeface="Arial" panose="020B0604020202020204" pitchFamily="34" charset="0"/>
                <a:cs typeface="Arial" panose="020B0604020202020204" pitchFamily="34" charset="0"/>
              </a:rPr>
              <a:t>Tonight!</a:t>
            </a:r>
          </a:p>
          <a:p>
            <a:pPr lvl="1"/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Remember you can get an extension by filling out form linked on HW page</a:t>
            </a:r>
          </a:p>
          <a:p>
            <a:pPr lvl="1"/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Remember that we want count(</a:t>
            </a:r>
            <a:r>
              <a:rPr lang="en-US" dirty="0" err="1">
                <a:latin typeface="Arial" panose="020B0604020202020204" pitchFamily="34" charset="0"/>
                <a:cs typeface="Arial" panose="020B0604020202020204" pitchFamily="34" charset="0"/>
              </a:rPr>
              <a:t>on_time_submissions</a:t>
            </a:r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)/</a:t>
            </a:r>
            <a:r>
              <a:rPr lang="en-US" dirty="0" err="1">
                <a:latin typeface="Arial" panose="020B0604020202020204" pitchFamily="34" charset="0"/>
                <a:cs typeface="Arial" panose="020B0604020202020204" pitchFamily="34" charset="0"/>
              </a:rPr>
              <a:t>num_students</a:t>
            </a:r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 &gt;= -.75</a:t>
            </a:r>
          </a:p>
          <a:p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CBTF Practice Quiz</a:t>
            </a:r>
          </a:p>
          <a:p>
            <a:pPr lvl="1"/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Please make a </a:t>
            </a:r>
            <a:r>
              <a:rPr lang="en-US" dirty="0" err="1">
                <a:latin typeface="Arial" panose="020B0604020202020204" pitchFamily="34" charset="0"/>
                <a:cs typeface="Arial" panose="020B0604020202020204" pitchFamily="34" charset="0"/>
              </a:rPr>
              <a:t>PrairieLearn</a:t>
            </a:r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/</a:t>
            </a:r>
            <a:r>
              <a:rPr lang="en-US" dirty="0" err="1">
                <a:latin typeface="Arial" panose="020B0604020202020204" pitchFamily="34" charset="0"/>
                <a:cs typeface="Arial" panose="020B0604020202020204" pitchFamily="34" charset="0"/>
              </a:rPr>
              <a:t>PrairieTest</a:t>
            </a:r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 account NOW</a:t>
            </a:r>
          </a:p>
          <a:p>
            <a:pPr lvl="1"/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Practice Quiz is LIVE now. Make a reservation. You have until 9/11!!!</a:t>
            </a:r>
          </a:p>
          <a:p>
            <a:pPr lvl="1"/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On the subject of changing / </a:t>
            </a:r>
            <a:r>
              <a:rPr lang="en-US">
                <a:latin typeface="Arial" panose="020B0604020202020204" pitchFamily="34" charset="0"/>
                <a:cs typeface="Arial" panose="020B0604020202020204" pitchFamily="34" charset="0"/>
              </a:rPr>
              <a:t>missing reservations…</a:t>
            </a:r>
            <a:endParaRPr lang="en-US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First real quiz is 9/22 (but we have some time before that arrives)</a:t>
            </a:r>
          </a:p>
          <a:p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These slides are linked on the course webpage “slides” page.</a:t>
            </a:r>
          </a:p>
          <a:p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Today we will continue with module 1 on regular languages.</a:t>
            </a:r>
          </a:p>
          <a:p>
            <a:endParaRPr lang="en-US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993108104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EEC5B83-0D05-973D-10B8-618E407513D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46" name="Rectangle 2">
            <a:extLst>
              <a:ext uri="{FF2B5EF4-FFF2-40B4-BE49-F238E27FC236}">
                <a16:creationId xmlns:a16="http://schemas.microsoft.com/office/drawing/2014/main" id="{E00A8CCF-6475-47C1-2674-1A77A783997F}"/>
              </a:ext>
            </a:extLst>
          </p:cNvPr>
          <p:cNvSpPr>
            <a:spLocks noGrp="1" noChangeArrowheads="1"/>
          </p:cNvSpPr>
          <p:nvPr>
            <p:ph type="title"/>
            <p:custDataLst>
              <p:tags r:id="rId1"/>
            </p:custDataLst>
          </p:nvPr>
        </p:nvSpPr>
        <p:spPr>
          <a:xfrm>
            <a:off x="1141413" y="284084"/>
            <a:ext cx="9905998" cy="620791"/>
          </a:xfrm>
        </p:spPr>
        <p:txBody>
          <a:bodyPr/>
          <a:lstStyle/>
          <a:p>
            <a:pPr algn="ctr"/>
            <a:r>
              <a:rPr lang="en-US" dirty="0"/>
              <a:t>Lecture 5 - Tuesday, Sep. 8</a:t>
            </a:r>
          </a:p>
        </p:txBody>
      </p:sp>
      <p:sp>
        <p:nvSpPr>
          <p:cNvPr id="6147" name="Rectangle 3">
            <a:extLst>
              <a:ext uri="{FF2B5EF4-FFF2-40B4-BE49-F238E27FC236}">
                <a16:creationId xmlns:a16="http://schemas.microsoft.com/office/drawing/2014/main" id="{6AD7214A-D852-5E38-8C7E-1CA40550B5C7}"/>
              </a:ext>
            </a:extLst>
          </p:cNvPr>
          <p:cNvSpPr>
            <a:spLocks noGrp="1" noChangeArrowheads="1"/>
          </p:cNvSpPr>
          <p:nvPr>
            <p:ph idx="1"/>
            <p:custDataLst>
              <p:tags r:id="rId2"/>
            </p:custDataLst>
          </p:nvPr>
        </p:nvSpPr>
        <p:spPr>
          <a:xfrm>
            <a:off x="1294151" y="1098549"/>
            <a:ext cx="9600522" cy="5149850"/>
          </a:xfrm>
        </p:spPr>
        <p:txBody>
          <a:bodyPr>
            <a:normAutofit fontScale="77500" lnSpcReduction="20000"/>
          </a:bodyPr>
          <a:lstStyle/>
          <a:p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Weather is actually nice today! Hooray!</a:t>
            </a:r>
          </a:p>
          <a:p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Please remember </a:t>
            </a:r>
            <a:r>
              <a:rPr lang="en-US" b="1" i="1" u="sng" dirty="0">
                <a:latin typeface="Arial" panose="020B0604020202020204" pitchFamily="34" charset="0"/>
                <a:cs typeface="Arial" panose="020B0604020202020204" pitchFamily="34" charset="0"/>
              </a:rPr>
              <a:t>no laptops / phones</a:t>
            </a:r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 and </a:t>
            </a:r>
            <a:r>
              <a:rPr lang="en-US" b="1" i="1" u="sng" dirty="0">
                <a:latin typeface="Arial" panose="020B0604020202020204" pitchFamily="34" charset="0"/>
                <a:cs typeface="Arial" panose="020B0604020202020204" pitchFamily="34" charset="0"/>
              </a:rPr>
              <a:t>attendance policy</a:t>
            </a:r>
          </a:p>
          <a:p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First homework is past due</a:t>
            </a:r>
          </a:p>
          <a:p>
            <a:pPr lvl="1"/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Unless you took extension in which case you have until tonight</a:t>
            </a:r>
          </a:p>
          <a:p>
            <a:pPr lvl="1"/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It is currently being graded. We will be spot grading some Qs for correctness.</a:t>
            </a:r>
          </a:p>
          <a:p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This week:</a:t>
            </a:r>
          </a:p>
          <a:p>
            <a:pPr lvl="1"/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No homework, but you can start working on module 1 written assignment!</a:t>
            </a:r>
          </a:p>
          <a:p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CBTF Practice Quiz</a:t>
            </a:r>
          </a:p>
          <a:p>
            <a:pPr lvl="1"/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Please make a </a:t>
            </a:r>
            <a:r>
              <a:rPr lang="en-US" dirty="0" err="1">
                <a:latin typeface="Arial" panose="020B0604020202020204" pitchFamily="34" charset="0"/>
                <a:cs typeface="Arial" panose="020B0604020202020204" pitchFamily="34" charset="0"/>
              </a:rPr>
              <a:t>PrairieLearn</a:t>
            </a:r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/</a:t>
            </a:r>
            <a:r>
              <a:rPr lang="en-US" dirty="0" err="1">
                <a:latin typeface="Arial" panose="020B0604020202020204" pitchFamily="34" charset="0"/>
                <a:cs typeface="Arial" panose="020B0604020202020204" pitchFamily="34" charset="0"/>
              </a:rPr>
              <a:t>PrairieTest</a:t>
            </a:r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 account NOW</a:t>
            </a:r>
          </a:p>
          <a:p>
            <a:pPr lvl="1"/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Practice Quiz is LIVE now. Make a reservation. You have until 9/11!!!</a:t>
            </a:r>
          </a:p>
          <a:p>
            <a:pPr lvl="1"/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I added a CBTF FAQ, contains info about changing reservations (check webpage)</a:t>
            </a:r>
          </a:p>
          <a:p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First real quiz is 9/22 (but we have some time before that arrives)</a:t>
            </a:r>
          </a:p>
          <a:p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These slides are linked on the course webpage “slides” page.</a:t>
            </a:r>
          </a:p>
          <a:p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Today we will continue with module 1 on regular languages.</a:t>
            </a:r>
          </a:p>
          <a:p>
            <a:endParaRPr lang="en-US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812451809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E7F56D7-6C7F-69E1-753E-9EE25F64A71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46" name="Rectangle 2">
            <a:extLst>
              <a:ext uri="{FF2B5EF4-FFF2-40B4-BE49-F238E27FC236}">
                <a16:creationId xmlns:a16="http://schemas.microsoft.com/office/drawing/2014/main" id="{D65F6D1A-0C39-2701-2A7D-5A983C8D9AA9}"/>
              </a:ext>
            </a:extLst>
          </p:cNvPr>
          <p:cNvSpPr>
            <a:spLocks noGrp="1" noChangeArrowheads="1"/>
          </p:cNvSpPr>
          <p:nvPr>
            <p:ph type="title"/>
            <p:custDataLst>
              <p:tags r:id="rId1"/>
            </p:custDataLst>
          </p:nvPr>
        </p:nvSpPr>
        <p:spPr>
          <a:xfrm>
            <a:off x="1141413" y="284084"/>
            <a:ext cx="9905998" cy="620791"/>
          </a:xfrm>
        </p:spPr>
        <p:txBody>
          <a:bodyPr/>
          <a:lstStyle/>
          <a:p>
            <a:pPr algn="ctr"/>
            <a:r>
              <a:rPr lang="en-US" dirty="0"/>
              <a:t>Lecture 6 - Thursday, Sep. 10</a:t>
            </a:r>
          </a:p>
        </p:txBody>
      </p:sp>
      <p:sp>
        <p:nvSpPr>
          <p:cNvPr id="6147" name="Rectangle 3">
            <a:extLst>
              <a:ext uri="{FF2B5EF4-FFF2-40B4-BE49-F238E27FC236}">
                <a16:creationId xmlns:a16="http://schemas.microsoft.com/office/drawing/2014/main" id="{1BD10984-63D9-8622-4339-6AC9C6AE47D3}"/>
              </a:ext>
            </a:extLst>
          </p:cNvPr>
          <p:cNvSpPr>
            <a:spLocks noGrp="1" noChangeArrowheads="1"/>
          </p:cNvSpPr>
          <p:nvPr>
            <p:ph idx="1"/>
            <p:custDataLst>
              <p:tags r:id="rId2"/>
            </p:custDataLst>
          </p:nvPr>
        </p:nvSpPr>
        <p:spPr>
          <a:xfrm>
            <a:off x="1294151" y="1098549"/>
            <a:ext cx="9600522" cy="5149850"/>
          </a:xfrm>
        </p:spPr>
        <p:txBody>
          <a:bodyPr>
            <a:normAutofit fontScale="85000" lnSpcReduction="20000"/>
          </a:bodyPr>
          <a:lstStyle/>
          <a:p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Please remember </a:t>
            </a:r>
            <a:r>
              <a:rPr lang="en-US" b="1" i="1" u="sng" dirty="0">
                <a:latin typeface="Arial" panose="020B0604020202020204" pitchFamily="34" charset="0"/>
                <a:cs typeface="Arial" panose="020B0604020202020204" pitchFamily="34" charset="0"/>
              </a:rPr>
              <a:t>no laptops / phones</a:t>
            </a:r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 and </a:t>
            </a:r>
            <a:r>
              <a:rPr lang="en-US" b="1" i="1" u="sng" dirty="0">
                <a:latin typeface="Arial" panose="020B0604020202020204" pitchFamily="34" charset="0"/>
                <a:cs typeface="Arial" panose="020B0604020202020204" pitchFamily="34" charset="0"/>
              </a:rPr>
              <a:t>attendance policy</a:t>
            </a:r>
          </a:p>
          <a:p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Module 0 homework is almost graded. Sit tight.</a:t>
            </a:r>
          </a:p>
          <a:p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This week:</a:t>
            </a:r>
          </a:p>
          <a:p>
            <a:pPr lvl="1"/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No homework, but you can start working on module 1 written assignment!</a:t>
            </a:r>
          </a:p>
          <a:p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CBTF Practice Quiz</a:t>
            </a:r>
          </a:p>
          <a:p>
            <a:pPr lvl="1"/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You have been invited to the Prairie Learn / Test classes now. Please go in and accept the invitation ASAP!</a:t>
            </a:r>
          </a:p>
          <a:p>
            <a:pPr lvl="1"/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Practice Quiz extended through 9/15 if you want to do it still.</a:t>
            </a:r>
          </a:p>
          <a:p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First real quiz is 9/22 (week after next)</a:t>
            </a:r>
          </a:p>
          <a:p>
            <a:pPr lvl="1"/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I will release a practice quiz on Prairie Learn. It is for controls / procedure mostly, not really meant to be content rich. Will be released early next week.</a:t>
            </a:r>
          </a:p>
          <a:p>
            <a:pPr lvl="1"/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Sign ups for the first real quiz in CBTF should start next week as well.</a:t>
            </a:r>
          </a:p>
          <a:p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These slides are linked on the course webpage “slides” page.</a:t>
            </a:r>
          </a:p>
          <a:p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Today we will continue with module 1 on regular languages.</a:t>
            </a:r>
          </a:p>
          <a:p>
            <a:endParaRPr lang="en-US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050830353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6B2F0E4-C58F-C5FB-CF85-889969DC27C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46" name="Rectangle 2">
            <a:extLst>
              <a:ext uri="{FF2B5EF4-FFF2-40B4-BE49-F238E27FC236}">
                <a16:creationId xmlns:a16="http://schemas.microsoft.com/office/drawing/2014/main" id="{E20399C6-7F38-7C99-A332-AB14ABCE2E53}"/>
              </a:ext>
            </a:extLst>
          </p:cNvPr>
          <p:cNvSpPr>
            <a:spLocks noGrp="1" noChangeArrowheads="1"/>
          </p:cNvSpPr>
          <p:nvPr>
            <p:ph type="title"/>
            <p:custDataLst>
              <p:tags r:id="rId1"/>
            </p:custDataLst>
          </p:nvPr>
        </p:nvSpPr>
        <p:spPr>
          <a:xfrm>
            <a:off x="1141413" y="284084"/>
            <a:ext cx="9905998" cy="620791"/>
          </a:xfrm>
        </p:spPr>
        <p:txBody>
          <a:bodyPr/>
          <a:lstStyle/>
          <a:p>
            <a:pPr algn="ctr"/>
            <a:r>
              <a:rPr lang="en-US" dirty="0"/>
              <a:t>Lecture 7 - Tuesday, Sep. 15</a:t>
            </a:r>
          </a:p>
        </p:txBody>
      </p:sp>
      <p:sp>
        <p:nvSpPr>
          <p:cNvPr id="6147" name="Rectangle 3">
            <a:extLst>
              <a:ext uri="{FF2B5EF4-FFF2-40B4-BE49-F238E27FC236}">
                <a16:creationId xmlns:a16="http://schemas.microsoft.com/office/drawing/2014/main" id="{A51177BB-7848-6E8A-D293-654E3D3D78AD}"/>
              </a:ext>
            </a:extLst>
          </p:cNvPr>
          <p:cNvSpPr>
            <a:spLocks noGrp="1" noChangeArrowheads="1"/>
          </p:cNvSpPr>
          <p:nvPr>
            <p:ph idx="1"/>
            <p:custDataLst>
              <p:tags r:id="rId2"/>
            </p:custDataLst>
          </p:nvPr>
        </p:nvSpPr>
        <p:spPr>
          <a:xfrm>
            <a:off x="1294151" y="1098548"/>
            <a:ext cx="9600522" cy="5475367"/>
          </a:xfrm>
        </p:spPr>
        <p:txBody>
          <a:bodyPr>
            <a:normAutofit fontScale="77500" lnSpcReduction="20000"/>
          </a:bodyPr>
          <a:lstStyle/>
          <a:p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Please remember </a:t>
            </a:r>
            <a:r>
              <a:rPr lang="en-US" b="1" i="1" u="sng" dirty="0">
                <a:latin typeface="Arial" panose="020B0604020202020204" pitchFamily="34" charset="0"/>
                <a:cs typeface="Arial" panose="020B0604020202020204" pitchFamily="34" charset="0"/>
              </a:rPr>
              <a:t>no laptops / phones</a:t>
            </a:r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 and </a:t>
            </a:r>
            <a:r>
              <a:rPr lang="en-US" b="1" i="1" u="sng" dirty="0">
                <a:latin typeface="Arial" panose="020B0604020202020204" pitchFamily="34" charset="0"/>
                <a:cs typeface="Arial" panose="020B0604020202020204" pitchFamily="34" charset="0"/>
              </a:rPr>
              <a:t>attendance policy</a:t>
            </a:r>
          </a:p>
          <a:p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Module 0 homework has been returned! Let Thomas know if you have any questions or concerns</a:t>
            </a:r>
          </a:p>
          <a:p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This week:</a:t>
            </a:r>
          </a:p>
          <a:p>
            <a:pPr lvl="1"/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Written Assignment for Module 1 is due on Thursday!!</a:t>
            </a:r>
          </a:p>
          <a:p>
            <a:pPr lvl="1"/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Study for the first quiz!</a:t>
            </a:r>
          </a:p>
          <a:p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Module 1 Practice Quiz</a:t>
            </a:r>
          </a:p>
          <a:p>
            <a:pPr lvl="1"/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You have been invited to the Prairie Learn / Test. Please go in and accept the invitation ASAP!</a:t>
            </a:r>
          </a:p>
          <a:p>
            <a:pPr lvl="1"/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Prairie Learn now has a practice quiz that you can take to get used to the mechanics of the questions.</a:t>
            </a:r>
          </a:p>
          <a:p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First real quiz is NEXT week</a:t>
            </a:r>
          </a:p>
          <a:p>
            <a:pPr lvl="1"/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Reservations are open NOW on Prairie Test. Please login and make your reservation ASAP!</a:t>
            </a:r>
          </a:p>
          <a:p>
            <a:pPr lvl="1"/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Overview of the questions is on the next slide</a:t>
            </a:r>
          </a:p>
          <a:p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These slides are linked on the course webpage “slides” page.</a:t>
            </a:r>
          </a:p>
          <a:p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Today we will continue with module 1 on regular languages.</a:t>
            </a:r>
          </a:p>
        </p:txBody>
      </p:sp>
    </p:spTree>
    <p:extLst>
      <p:ext uri="{BB962C8B-B14F-4D97-AF65-F5344CB8AC3E}">
        <p14:creationId xmlns:p14="http://schemas.microsoft.com/office/powerpoint/2010/main" val="2166409388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D983385-6C8F-46CD-2B07-00E8119F8A3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46" name="Rectangle 2">
            <a:extLst>
              <a:ext uri="{FF2B5EF4-FFF2-40B4-BE49-F238E27FC236}">
                <a16:creationId xmlns:a16="http://schemas.microsoft.com/office/drawing/2014/main" id="{32A1F65C-6252-AE60-522B-8F061101A2E7}"/>
              </a:ext>
            </a:extLst>
          </p:cNvPr>
          <p:cNvSpPr>
            <a:spLocks noGrp="1" noChangeArrowheads="1"/>
          </p:cNvSpPr>
          <p:nvPr>
            <p:ph type="title"/>
            <p:custDataLst>
              <p:tags r:id="rId1"/>
            </p:custDataLst>
          </p:nvPr>
        </p:nvSpPr>
        <p:spPr>
          <a:xfrm>
            <a:off x="1141413" y="284084"/>
            <a:ext cx="9905998" cy="620791"/>
          </a:xfrm>
        </p:spPr>
        <p:txBody>
          <a:bodyPr/>
          <a:lstStyle/>
          <a:p>
            <a:pPr algn="ctr"/>
            <a:r>
              <a:rPr lang="en-US" dirty="0"/>
              <a:t>Quiz 1 – Question Summary</a:t>
            </a:r>
          </a:p>
        </p:txBody>
      </p:sp>
      <p:sp>
        <p:nvSpPr>
          <p:cNvPr id="6147" name="Rectangle 3">
            <a:extLst>
              <a:ext uri="{FF2B5EF4-FFF2-40B4-BE49-F238E27FC236}">
                <a16:creationId xmlns:a16="http://schemas.microsoft.com/office/drawing/2014/main" id="{3417B98D-521A-B9E3-4522-F6B1F5050BA4}"/>
              </a:ext>
            </a:extLst>
          </p:cNvPr>
          <p:cNvSpPr>
            <a:spLocks noGrp="1" noChangeArrowheads="1"/>
          </p:cNvSpPr>
          <p:nvPr>
            <p:ph idx="1"/>
            <p:custDataLst>
              <p:tags r:id="rId2"/>
            </p:custDataLst>
          </p:nvPr>
        </p:nvSpPr>
        <p:spPr>
          <a:xfrm>
            <a:off x="1664842" y="1311217"/>
            <a:ext cx="8859140" cy="5202315"/>
          </a:xfrm>
        </p:spPr>
        <p:txBody>
          <a:bodyPr>
            <a:normAutofit/>
          </a:bodyPr>
          <a:lstStyle/>
          <a:p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Q1: True / False Questions (10 of them)</a:t>
            </a:r>
          </a:p>
          <a:p>
            <a:pPr lvl="1"/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Span the entire module, may reference module 0 material</a:t>
            </a:r>
          </a:p>
          <a:p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Q2-3: Draw a DFA from description (2 of these)</a:t>
            </a:r>
          </a:p>
          <a:p>
            <a:pPr lvl="1"/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Given a language description, draw the DFA for that language</a:t>
            </a:r>
          </a:p>
          <a:p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Q4-5: Write out regular expression from DFA (2 of these)</a:t>
            </a:r>
          </a:p>
          <a:p>
            <a:pPr lvl="1"/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Given an image of a DFA, write the equivalent regular expression for it</a:t>
            </a:r>
          </a:p>
          <a:p>
            <a:pPr lvl="1"/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We will study this concept TODAY</a:t>
            </a:r>
          </a:p>
          <a:p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Q6: Pumping Lemma</a:t>
            </a:r>
          </a:p>
          <a:p>
            <a:pPr lvl="1"/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Prove a language is not regular by using the pumping lemma</a:t>
            </a:r>
          </a:p>
          <a:p>
            <a:pPr lvl="1"/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We will study this concept on THURSDAY</a:t>
            </a:r>
          </a:p>
        </p:txBody>
      </p:sp>
    </p:spTree>
    <p:extLst>
      <p:ext uri="{BB962C8B-B14F-4D97-AF65-F5344CB8AC3E}">
        <p14:creationId xmlns:p14="http://schemas.microsoft.com/office/powerpoint/2010/main" val="2190362403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A1838D9-B8D7-F507-D47B-1AF6B185D3D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46" name="Rectangle 2">
            <a:extLst>
              <a:ext uri="{FF2B5EF4-FFF2-40B4-BE49-F238E27FC236}">
                <a16:creationId xmlns:a16="http://schemas.microsoft.com/office/drawing/2014/main" id="{793D2CD9-D310-A2CA-CA72-21A0F92B43CE}"/>
              </a:ext>
            </a:extLst>
          </p:cNvPr>
          <p:cNvSpPr>
            <a:spLocks noGrp="1" noChangeArrowheads="1"/>
          </p:cNvSpPr>
          <p:nvPr>
            <p:ph type="title"/>
            <p:custDataLst>
              <p:tags r:id="rId1"/>
            </p:custDataLst>
          </p:nvPr>
        </p:nvSpPr>
        <p:spPr>
          <a:xfrm>
            <a:off x="1141413" y="284084"/>
            <a:ext cx="9905998" cy="620791"/>
          </a:xfrm>
        </p:spPr>
        <p:txBody>
          <a:bodyPr/>
          <a:lstStyle/>
          <a:p>
            <a:pPr algn="ctr"/>
            <a:r>
              <a:rPr lang="en-US" dirty="0"/>
              <a:t>Lecture 8 - Thursday, Sep. 17</a:t>
            </a:r>
          </a:p>
        </p:txBody>
      </p:sp>
      <p:sp>
        <p:nvSpPr>
          <p:cNvPr id="6147" name="Rectangle 3">
            <a:extLst>
              <a:ext uri="{FF2B5EF4-FFF2-40B4-BE49-F238E27FC236}">
                <a16:creationId xmlns:a16="http://schemas.microsoft.com/office/drawing/2014/main" id="{E6CF8E07-0366-E560-1D68-CEDF596389F4}"/>
              </a:ext>
            </a:extLst>
          </p:cNvPr>
          <p:cNvSpPr>
            <a:spLocks noGrp="1" noChangeArrowheads="1"/>
          </p:cNvSpPr>
          <p:nvPr>
            <p:ph idx="1"/>
            <p:custDataLst>
              <p:tags r:id="rId2"/>
            </p:custDataLst>
          </p:nvPr>
        </p:nvSpPr>
        <p:spPr>
          <a:xfrm>
            <a:off x="1294151" y="1098548"/>
            <a:ext cx="9600522" cy="5475367"/>
          </a:xfrm>
        </p:spPr>
        <p:txBody>
          <a:bodyPr>
            <a:normAutofit fontScale="85000" lnSpcReduction="10000"/>
          </a:bodyPr>
          <a:lstStyle/>
          <a:p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Please remember </a:t>
            </a:r>
            <a:r>
              <a:rPr lang="en-US" b="1" i="1" u="sng" dirty="0">
                <a:latin typeface="Arial" panose="020B0604020202020204" pitchFamily="34" charset="0"/>
                <a:cs typeface="Arial" panose="020B0604020202020204" pitchFamily="34" charset="0"/>
              </a:rPr>
              <a:t>no laptops / phones</a:t>
            </a:r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 and </a:t>
            </a:r>
            <a:r>
              <a:rPr lang="en-US" b="1" i="1" u="sng" dirty="0">
                <a:latin typeface="Arial" panose="020B0604020202020204" pitchFamily="34" charset="0"/>
                <a:cs typeface="Arial" panose="020B0604020202020204" pitchFamily="34" charset="0"/>
              </a:rPr>
              <a:t>attendance policy</a:t>
            </a:r>
            <a:endParaRPr lang="en-US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This week:</a:t>
            </a:r>
          </a:p>
          <a:p>
            <a:pPr lvl="1"/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Written Assignment for Module 1 is due TONIGHT!!</a:t>
            </a:r>
          </a:p>
          <a:p>
            <a:pPr lvl="1"/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Study for the first quiz!</a:t>
            </a:r>
          </a:p>
          <a:p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Module 1 Practice Quiz</a:t>
            </a:r>
          </a:p>
          <a:p>
            <a:pPr lvl="1"/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You have been invited to the Prairie Learn / Test. Please accept the invitation ASAP!</a:t>
            </a:r>
          </a:p>
          <a:p>
            <a:pPr lvl="1"/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Prairie Learn now has a practice quiz you can take to get used to the mechanics of the questions.</a:t>
            </a:r>
          </a:p>
          <a:p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First real quiz is NEXT week</a:t>
            </a:r>
          </a:p>
          <a:p>
            <a:pPr lvl="1"/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Reservations are open NOW on Prairie Test. Please login and make your reservation!</a:t>
            </a:r>
          </a:p>
          <a:p>
            <a:pPr lvl="1"/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Overview of the questions is on the next slide</a:t>
            </a:r>
          </a:p>
          <a:p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These slides are linked on the course webpage “slides” page.</a:t>
            </a:r>
          </a:p>
          <a:p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Today we will finish module 1 on regular languages.</a:t>
            </a:r>
          </a:p>
        </p:txBody>
      </p:sp>
    </p:spTree>
    <p:extLst>
      <p:ext uri="{BB962C8B-B14F-4D97-AF65-F5344CB8AC3E}">
        <p14:creationId xmlns:p14="http://schemas.microsoft.com/office/powerpoint/2010/main" val="3814814765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7F361D6-9202-84D1-E2E7-BEA1121F76B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46" name="Rectangle 2">
            <a:extLst>
              <a:ext uri="{FF2B5EF4-FFF2-40B4-BE49-F238E27FC236}">
                <a16:creationId xmlns:a16="http://schemas.microsoft.com/office/drawing/2014/main" id="{A28F14D2-1243-1FB6-5A32-4EE1964E5790}"/>
              </a:ext>
            </a:extLst>
          </p:cNvPr>
          <p:cNvSpPr>
            <a:spLocks noGrp="1" noChangeArrowheads="1"/>
          </p:cNvSpPr>
          <p:nvPr>
            <p:ph type="title"/>
            <p:custDataLst>
              <p:tags r:id="rId1"/>
            </p:custDataLst>
          </p:nvPr>
        </p:nvSpPr>
        <p:spPr>
          <a:xfrm>
            <a:off x="1141413" y="284084"/>
            <a:ext cx="9905998" cy="620791"/>
          </a:xfrm>
        </p:spPr>
        <p:txBody>
          <a:bodyPr/>
          <a:lstStyle/>
          <a:p>
            <a:pPr algn="ctr"/>
            <a:r>
              <a:rPr lang="en-US" dirty="0"/>
              <a:t>Quiz 1 – Question Summary</a:t>
            </a:r>
          </a:p>
        </p:txBody>
      </p:sp>
      <p:sp>
        <p:nvSpPr>
          <p:cNvPr id="6147" name="Rectangle 3">
            <a:extLst>
              <a:ext uri="{FF2B5EF4-FFF2-40B4-BE49-F238E27FC236}">
                <a16:creationId xmlns:a16="http://schemas.microsoft.com/office/drawing/2014/main" id="{CB7CA8AC-9611-9E9D-5F1E-A8227E9644FC}"/>
              </a:ext>
            </a:extLst>
          </p:cNvPr>
          <p:cNvSpPr>
            <a:spLocks noGrp="1" noChangeArrowheads="1"/>
          </p:cNvSpPr>
          <p:nvPr>
            <p:ph idx="1"/>
            <p:custDataLst>
              <p:tags r:id="rId2"/>
            </p:custDataLst>
          </p:nvPr>
        </p:nvSpPr>
        <p:spPr>
          <a:xfrm>
            <a:off x="1664842" y="1311217"/>
            <a:ext cx="8859140" cy="5202315"/>
          </a:xfrm>
        </p:spPr>
        <p:txBody>
          <a:bodyPr>
            <a:normAutofit/>
          </a:bodyPr>
          <a:lstStyle/>
          <a:p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Q1: True / False Questions (10 of them)</a:t>
            </a:r>
          </a:p>
          <a:p>
            <a:pPr lvl="1"/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Span the entire module, may reference module 0 material</a:t>
            </a:r>
          </a:p>
          <a:p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Q2-3: Draw a DFA from description (2 of these)</a:t>
            </a:r>
          </a:p>
          <a:p>
            <a:pPr lvl="1"/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Given a language description, draw the DFA for that language</a:t>
            </a:r>
          </a:p>
          <a:p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Q4-5: Write out regular expression from DFA (2 of these)</a:t>
            </a:r>
          </a:p>
          <a:p>
            <a:pPr lvl="1"/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Given an image of a DFA, write the equivalent regular expression for it</a:t>
            </a:r>
          </a:p>
          <a:p>
            <a:pPr lvl="1"/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We will study this concept TODAY</a:t>
            </a:r>
          </a:p>
          <a:p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Q6: Pumping Lemma</a:t>
            </a:r>
          </a:p>
          <a:p>
            <a:pPr lvl="1"/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Prove a language is not regular by using the pumping lemma</a:t>
            </a:r>
          </a:p>
          <a:p>
            <a:pPr lvl="1"/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We will study this concept on THURSDAY</a:t>
            </a:r>
          </a:p>
        </p:txBody>
      </p:sp>
    </p:spTree>
    <p:extLst>
      <p:ext uri="{BB962C8B-B14F-4D97-AF65-F5344CB8AC3E}">
        <p14:creationId xmlns:p14="http://schemas.microsoft.com/office/powerpoint/2010/main" val="2230955824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949C366-68C6-B99E-A0D0-678FDE6340E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46" name="Rectangle 2">
            <a:extLst>
              <a:ext uri="{FF2B5EF4-FFF2-40B4-BE49-F238E27FC236}">
                <a16:creationId xmlns:a16="http://schemas.microsoft.com/office/drawing/2014/main" id="{C1217C3C-6FB3-06C0-0FD1-3530A32B8CC7}"/>
              </a:ext>
            </a:extLst>
          </p:cNvPr>
          <p:cNvSpPr>
            <a:spLocks noGrp="1" noChangeArrowheads="1"/>
          </p:cNvSpPr>
          <p:nvPr>
            <p:ph type="title"/>
            <p:custDataLst>
              <p:tags r:id="rId1"/>
            </p:custDataLst>
          </p:nvPr>
        </p:nvSpPr>
        <p:spPr>
          <a:xfrm>
            <a:off x="1141413" y="284084"/>
            <a:ext cx="9905998" cy="620791"/>
          </a:xfrm>
        </p:spPr>
        <p:txBody>
          <a:bodyPr/>
          <a:lstStyle/>
          <a:p>
            <a:pPr algn="ctr"/>
            <a:r>
              <a:rPr lang="en-US" dirty="0"/>
              <a:t>Lecture 9 - Tuesday, Sep. 22</a:t>
            </a:r>
          </a:p>
        </p:txBody>
      </p:sp>
      <p:sp>
        <p:nvSpPr>
          <p:cNvPr id="6147" name="Rectangle 3">
            <a:extLst>
              <a:ext uri="{FF2B5EF4-FFF2-40B4-BE49-F238E27FC236}">
                <a16:creationId xmlns:a16="http://schemas.microsoft.com/office/drawing/2014/main" id="{1B64CE9E-5521-80ED-A7CE-CF16BF5644C9}"/>
              </a:ext>
            </a:extLst>
          </p:cNvPr>
          <p:cNvSpPr>
            <a:spLocks noGrp="1" noChangeArrowheads="1"/>
          </p:cNvSpPr>
          <p:nvPr>
            <p:ph idx="1"/>
            <p:custDataLst>
              <p:tags r:id="rId2"/>
            </p:custDataLst>
          </p:nvPr>
        </p:nvSpPr>
        <p:spPr>
          <a:xfrm>
            <a:off x="1294151" y="1098548"/>
            <a:ext cx="9600522" cy="5475367"/>
          </a:xfrm>
        </p:spPr>
        <p:txBody>
          <a:bodyPr>
            <a:normAutofit fontScale="70000" lnSpcReduction="20000"/>
          </a:bodyPr>
          <a:lstStyle/>
          <a:p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Please remember </a:t>
            </a:r>
            <a:r>
              <a:rPr lang="en-US" b="1" i="1" u="sng" dirty="0">
                <a:latin typeface="Arial" panose="020B0604020202020204" pitchFamily="34" charset="0"/>
                <a:cs typeface="Arial" panose="020B0604020202020204" pitchFamily="34" charset="0"/>
              </a:rPr>
              <a:t>no laptops / phones</a:t>
            </a:r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 and </a:t>
            </a:r>
            <a:r>
              <a:rPr lang="en-US" b="1" i="1" u="sng" dirty="0">
                <a:latin typeface="Arial" panose="020B0604020202020204" pitchFamily="34" charset="0"/>
                <a:cs typeface="Arial" panose="020B0604020202020204" pitchFamily="34" charset="0"/>
              </a:rPr>
              <a:t>attendance policy</a:t>
            </a:r>
            <a:endParaRPr lang="en-US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This week:</a:t>
            </a:r>
          </a:p>
          <a:p>
            <a:pPr lvl="1"/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Quiz 1 is </a:t>
            </a:r>
            <a:r>
              <a:rPr lang="en-US" dirty="0" err="1">
                <a:latin typeface="Arial" panose="020B0604020202020204" pitchFamily="34" charset="0"/>
                <a:cs typeface="Arial" panose="020B0604020202020204" pitchFamily="34" charset="0"/>
              </a:rPr>
              <a:t>Mon,Tue,Wed</a:t>
            </a:r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 at CBTF (good luck!)</a:t>
            </a:r>
          </a:p>
          <a:p>
            <a:pPr lvl="1"/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Mod. 1 Programming Assignment is due this Thursday!</a:t>
            </a:r>
          </a:p>
          <a:p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Module 1 Quiz</a:t>
            </a:r>
          </a:p>
          <a:p>
            <a:pPr lvl="1"/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Already completed it? How did it go? Any logistics issues or software bugs?</a:t>
            </a:r>
          </a:p>
          <a:p>
            <a:pPr lvl="1"/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Have not already taken it? Good luck! You got this!</a:t>
            </a:r>
          </a:p>
          <a:p>
            <a:pPr lvl="1"/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Everybody should have a reservation by now. If you don’t then you need to do that ASAP!</a:t>
            </a:r>
          </a:p>
          <a:p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Mod. 1 homework is being graded right now. </a:t>
            </a:r>
          </a:p>
          <a:p>
            <a:pPr lvl="1"/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Looks like we generally won’t be able to get that back to you in time for quizzes due to the quick turnaround time. </a:t>
            </a:r>
          </a:p>
          <a:p>
            <a:pPr lvl="1"/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It is your responsibility to check your answers with others, use AI if necessary, or come to OH to talk to course staff to ensure you understand the concepts.</a:t>
            </a:r>
          </a:p>
          <a:p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OH Check-Ins</a:t>
            </a:r>
          </a:p>
          <a:p>
            <a:pPr lvl="1"/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We have started working on the schedule for this. Stay tuned but be ready for this to begin very soon!</a:t>
            </a:r>
          </a:p>
          <a:p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These slides are linked on the course webpage “slides” page.</a:t>
            </a:r>
          </a:p>
          <a:p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Today we will begin Module 2 – Context-Free Grammars.</a:t>
            </a:r>
          </a:p>
        </p:txBody>
      </p:sp>
    </p:spTree>
    <p:extLst>
      <p:ext uri="{BB962C8B-B14F-4D97-AF65-F5344CB8AC3E}">
        <p14:creationId xmlns:p14="http://schemas.microsoft.com/office/powerpoint/2010/main" val="714086908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1F345D5-A940-D9D4-B5C4-5763246CE78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46" name="Rectangle 2">
            <a:extLst>
              <a:ext uri="{FF2B5EF4-FFF2-40B4-BE49-F238E27FC236}">
                <a16:creationId xmlns:a16="http://schemas.microsoft.com/office/drawing/2014/main" id="{B768AEF2-414F-377F-6BA6-07B3ACC80F4B}"/>
              </a:ext>
            </a:extLst>
          </p:cNvPr>
          <p:cNvSpPr>
            <a:spLocks noGrp="1" noChangeArrowheads="1"/>
          </p:cNvSpPr>
          <p:nvPr>
            <p:ph type="title"/>
            <p:custDataLst>
              <p:tags r:id="rId1"/>
            </p:custDataLst>
          </p:nvPr>
        </p:nvSpPr>
        <p:spPr>
          <a:xfrm>
            <a:off x="1141413" y="284084"/>
            <a:ext cx="9905998" cy="620791"/>
          </a:xfrm>
        </p:spPr>
        <p:txBody>
          <a:bodyPr/>
          <a:lstStyle/>
          <a:p>
            <a:pPr algn="ctr"/>
            <a:r>
              <a:rPr lang="en-US" dirty="0"/>
              <a:t>Lecture 10 - Thursday, Sep. 24</a:t>
            </a:r>
          </a:p>
        </p:txBody>
      </p:sp>
      <p:sp>
        <p:nvSpPr>
          <p:cNvPr id="6147" name="Rectangle 3">
            <a:extLst>
              <a:ext uri="{FF2B5EF4-FFF2-40B4-BE49-F238E27FC236}">
                <a16:creationId xmlns:a16="http://schemas.microsoft.com/office/drawing/2014/main" id="{2EF9F8FD-27B6-A362-EADF-4FC308C3CDCC}"/>
              </a:ext>
            </a:extLst>
          </p:cNvPr>
          <p:cNvSpPr>
            <a:spLocks noGrp="1" noChangeArrowheads="1"/>
          </p:cNvSpPr>
          <p:nvPr>
            <p:ph idx="1"/>
            <p:custDataLst>
              <p:tags r:id="rId2"/>
            </p:custDataLst>
          </p:nvPr>
        </p:nvSpPr>
        <p:spPr>
          <a:xfrm>
            <a:off x="1294151" y="1098548"/>
            <a:ext cx="9600522" cy="5475367"/>
          </a:xfrm>
        </p:spPr>
        <p:txBody>
          <a:bodyPr>
            <a:normAutofit fontScale="70000" lnSpcReduction="20000"/>
          </a:bodyPr>
          <a:lstStyle/>
          <a:p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Please remember </a:t>
            </a:r>
            <a:r>
              <a:rPr lang="en-US" b="1" i="1" u="sng" dirty="0">
                <a:latin typeface="Arial" panose="020B0604020202020204" pitchFamily="34" charset="0"/>
                <a:cs typeface="Arial" panose="020B0604020202020204" pitchFamily="34" charset="0"/>
              </a:rPr>
              <a:t>no laptops / phones</a:t>
            </a:r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 and </a:t>
            </a:r>
            <a:r>
              <a:rPr lang="en-US" b="1" i="1" u="sng" dirty="0">
                <a:latin typeface="Arial" panose="020B0604020202020204" pitchFamily="34" charset="0"/>
                <a:cs typeface="Arial" panose="020B0604020202020204" pitchFamily="34" charset="0"/>
              </a:rPr>
              <a:t>attendance policy</a:t>
            </a:r>
            <a:endParaRPr lang="en-US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This week:</a:t>
            </a:r>
          </a:p>
          <a:p>
            <a:pPr lvl="1"/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Quiz 1 is </a:t>
            </a:r>
            <a:r>
              <a:rPr lang="en-US" dirty="0" err="1">
                <a:latin typeface="Arial" panose="020B0604020202020204" pitchFamily="34" charset="0"/>
                <a:cs typeface="Arial" panose="020B0604020202020204" pitchFamily="34" charset="0"/>
              </a:rPr>
              <a:t>Mon,Tue,Wed</a:t>
            </a:r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 at CBTF (good luck!)</a:t>
            </a:r>
          </a:p>
          <a:p>
            <a:pPr lvl="1"/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Mod. 1 Programming Assignment is due TONIGHT!</a:t>
            </a:r>
          </a:p>
          <a:p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Module 1 Quiz</a:t>
            </a:r>
          </a:p>
          <a:p>
            <a:pPr lvl="1"/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Is done! How did it go?</a:t>
            </a:r>
          </a:p>
          <a:p>
            <a:pPr lvl="1"/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We need to grade one question manually. Grades will be returned next Thursday.</a:t>
            </a:r>
          </a:p>
          <a:p>
            <a:pPr lvl="1"/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Need to brainstorm a regrades process which I will notify you about eventually</a:t>
            </a:r>
          </a:p>
          <a:p>
            <a:pPr lvl="1"/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You may have seen signups open for a makeup tomorrow. That is for students with prior permission only!</a:t>
            </a:r>
          </a:p>
          <a:p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Mod. 1 homework is being graded right now. </a:t>
            </a:r>
          </a:p>
          <a:p>
            <a:pPr lvl="1"/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Should be able to get that back to you shortly…</a:t>
            </a:r>
          </a:p>
          <a:p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OH Check-Ins</a:t>
            </a:r>
          </a:p>
          <a:p>
            <a:pPr lvl="1"/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We have started working on the schedule for this. Stay tuned but be ready for this to begin very soon!</a:t>
            </a:r>
          </a:p>
          <a:p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These slides are linked on the course webpage “slides” page.</a:t>
            </a:r>
          </a:p>
          <a:p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Today we will continue with Module 2 – Context-Free Grammars.</a:t>
            </a:r>
          </a:p>
        </p:txBody>
      </p:sp>
    </p:spTree>
    <p:extLst>
      <p:ext uri="{BB962C8B-B14F-4D97-AF65-F5344CB8AC3E}">
        <p14:creationId xmlns:p14="http://schemas.microsoft.com/office/powerpoint/2010/main" val="2034906325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827E86E-46F1-D49E-DD52-52080C80B0B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46" name="Rectangle 2">
            <a:extLst>
              <a:ext uri="{FF2B5EF4-FFF2-40B4-BE49-F238E27FC236}">
                <a16:creationId xmlns:a16="http://schemas.microsoft.com/office/drawing/2014/main" id="{B59EEE50-39CE-F54C-CEF6-D1A30575F7A4}"/>
              </a:ext>
            </a:extLst>
          </p:cNvPr>
          <p:cNvSpPr>
            <a:spLocks noGrp="1" noChangeArrowheads="1"/>
          </p:cNvSpPr>
          <p:nvPr>
            <p:ph type="title"/>
            <p:custDataLst>
              <p:tags r:id="rId1"/>
            </p:custDataLst>
          </p:nvPr>
        </p:nvSpPr>
        <p:spPr>
          <a:xfrm>
            <a:off x="1141413" y="284084"/>
            <a:ext cx="9905998" cy="620791"/>
          </a:xfrm>
        </p:spPr>
        <p:txBody>
          <a:bodyPr/>
          <a:lstStyle/>
          <a:p>
            <a:pPr algn="ctr"/>
            <a:r>
              <a:rPr lang="en-US" dirty="0"/>
              <a:t>Lecture 11 - Tuesday, Sep. 28</a:t>
            </a:r>
          </a:p>
        </p:txBody>
      </p:sp>
      <p:sp>
        <p:nvSpPr>
          <p:cNvPr id="6147" name="Rectangle 3">
            <a:extLst>
              <a:ext uri="{FF2B5EF4-FFF2-40B4-BE49-F238E27FC236}">
                <a16:creationId xmlns:a16="http://schemas.microsoft.com/office/drawing/2014/main" id="{5212EBB3-5733-042E-DCB3-686852125871}"/>
              </a:ext>
            </a:extLst>
          </p:cNvPr>
          <p:cNvSpPr>
            <a:spLocks noGrp="1" noChangeArrowheads="1"/>
          </p:cNvSpPr>
          <p:nvPr>
            <p:ph idx="1"/>
            <p:custDataLst>
              <p:tags r:id="rId2"/>
            </p:custDataLst>
          </p:nvPr>
        </p:nvSpPr>
        <p:spPr>
          <a:xfrm>
            <a:off x="1294151" y="1098548"/>
            <a:ext cx="9600522" cy="5475367"/>
          </a:xfrm>
        </p:spPr>
        <p:txBody>
          <a:bodyPr>
            <a:normAutofit fontScale="70000" lnSpcReduction="20000"/>
          </a:bodyPr>
          <a:lstStyle/>
          <a:p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Please remember </a:t>
            </a:r>
            <a:r>
              <a:rPr lang="en-US" b="1" i="1" u="sng" dirty="0">
                <a:latin typeface="Arial" panose="020B0604020202020204" pitchFamily="34" charset="0"/>
                <a:cs typeface="Arial" panose="020B0604020202020204" pitchFamily="34" charset="0"/>
              </a:rPr>
              <a:t>no laptops / phones</a:t>
            </a:r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 and </a:t>
            </a:r>
            <a:r>
              <a:rPr lang="en-US" b="1" i="1" u="sng" dirty="0">
                <a:latin typeface="Arial" panose="020B0604020202020204" pitchFamily="34" charset="0"/>
                <a:cs typeface="Arial" panose="020B0604020202020204" pitchFamily="34" charset="0"/>
              </a:rPr>
              <a:t>attendance policy</a:t>
            </a:r>
            <a:endParaRPr lang="en-US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This week:</a:t>
            </a:r>
          </a:p>
          <a:p>
            <a:pPr lvl="1"/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Mod 2 written assignment is due on Thursday!</a:t>
            </a:r>
          </a:p>
          <a:p>
            <a:pPr lvl="1"/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Fall break is next week (woohoo!)</a:t>
            </a:r>
          </a:p>
          <a:p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Module 1 Quiz</a:t>
            </a:r>
          </a:p>
          <a:p>
            <a:pPr lvl="1"/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Being graded right now. Will release on Thursday.</a:t>
            </a:r>
          </a:p>
          <a:p>
            <a:pPr lvl="1"/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I’m making an adjustment to the DFA question grades due to the “delete” issue</a:t>
            </a:r>
          </a:p>
          <a:p>
            <a:pPr lvl="2"/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Both of your DFA scores will be set to the max of your DFA scores.</a:t>
            </a:r>
          </a:p>
          <a:p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Mod. 1 homework is being graded right now. </a:t>
            </a:r>
          </a:p>
          <a:p>
            <a:pPr lvl="1"/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Should be able to get that back to you shortly…</a:t>
            </a:r>
          </a:p>
          <a:p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Quiz 2</a:t>
            </a:r>
          </a:p>
          <a:p>
            <a:pPr lvl="1"/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Is in two weeks! You will start signing up for your reservations for this NEXT week.</a:t>
            </a:r>
          </a:p>
          <a:p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OH Check-Ins</a:t>
            </a:r>
          </a:p>
          <a:p>
            <a:pPr lvl="1"/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This is shaping up but I won’t have more concrete information until next week!</a:t>
            </a:r>
          </a:p>
          <a:p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These slides are linked on the course webpage “slides” page.</a:t>
            </a:r>
          </a:p>
          <a:p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Today we will continue with Module 2 – Context-Free Grammars.</a:t>
            </a:r>
          </a:p>
        </p:txBody>
      </p:sp>
    </p:spTree>
    <p:extLst>
      <p:ext uri="{BB962C8B-B14F-4D97-AF65-F5344CB8AC3E}">
        <p14:creationId xmlns:p14="http://schemas.microsoft.com/office/powerpoint/2010/main" val="3257908011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A303C0C-304D-B99E-1C1F-EC74554DFDD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46" name="Rectangle 2">
            <a:extLst>
              <a:ext uri="{FF2B5EF4-FFF2-40B4-BE49-F238E27FC236}">
                <a16:creationId xmlns:a16="http://schemas.microsoft.com/office/drawing/2014/main" id="{3802D250-089E-6EED-6DCD-A9305CA473F7}"/>
              </a:ext>
            </a:extLst>
          </p:cNvPr>
          <p:cNvSpPr>
            <a:spLocks noGrp="1" noChangeArrowheads="1"/>
          </p:cNvSpPr>
          <p:nvPr>
            <p:ph type="title"/>
            <p:custDataLst>
              <p:tags r:id="rId1"/>
            </p:custDataLst>
          </p:nvPr>
        </p:nvSpPr>
        <p:spPr>
          <a:xfrm>
            <a:off x="1141413" y="284084"/>
            <a:ext cx="9905998" cy="620791"/>
          </a:xfrm>
        </p:spPr>
        <p:txBody>
          <a:bodyPr/>
          <a:lstStyle/>
          <a:p>
            <a:pPr algn="ctr"/>
            <a:r>
              <a:rPr lang="en-US" dirty="0"/>
              <a:t>Lecture 12 - Thursday, Oct. 1</a:t>
            </a:r>
          </a:p>
        </p:txBody>
      </p:sp>
      <p:sp>
        <p:nvSpPr>
          <p:cNvPr id="6147" name="Rectangle 3">
            <a:extLst>
              <a:ext uri="{FF2B5EF4-FFF2-40B4-BE49-F238E27FC236}">
                <a16:creationId xmlns:a16="http://schemas.microsoft.com/office/drawing/2014/main" id="{D2E55A73-4B71-D946-0490-88B2C052B654}"/>
              </a:ext>
            </a:extLst>
          </p:cNvPr>
          <p:cNvSpPr>
            <a:spLocks noGrp="1" noChangeArrowheads="1"/>
          </p:cNvSpPr>
          <p:nvPr>
            <p:ph idx="1"/>
            <p:custDataLst>
              <p:tags r:id="rId2"/>
            </p:custDataLst>
          </p:nvPr>
        </p:nvSpPr>
        <p:spPr>
          <a:xfrm>
            <a:off x="1294151" y="1098548"/>
            <a:ext cx="9600522" cy="5475367"/>
          </a:xfrm>
        </p:spPr>
        <p:txBody>
          <a:bodyPr>
            <a:normAutofit fontScale="55000" lnSpcReduction="20000"/>
          </a:bodyPr>
          <a:lstStyle/>
          <a:p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Please remember </a:t>
            </a:r>
            <a:r>
              <a:rPr lang="en-US" b="1" i="1" u="sng" dirty="0">
                <a:latin typeface="Arial" panose="020B0604020202020204" pitchFamily="34" charset="0"/>
                <a:cs typeface="Arial" panose="020B0604020202020204" pitchFamily="34" charset="0"/>
              </a:rPr>
              <a:t>no laptops / phones</a:t>
            </a:r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 and </a:t>
            </a:r>
            <a:r>
              <a:rPr lang="en-US" b="1" i="1" u="sng" dirty="0">
                <a:latin typeface="Arial" panose="020B0604020202020204" pitchFamily="34" charset="0"/>
                <a:cs typeface="Arial" panose="020B0604020202020204" pitchFamily="34" charset="0"/>
              </a:rPr>
              <a:t>attendance policy</a:t>
            </a:r>
            <a:endParaRPr lang="en-US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October! Best month of the year! Woo!</a:t>
            </a:r>
          </a:p>
          <a:p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This week:</a:t>
            </a:r>
          </a:p>
          <a:p>
            <a:pPr lvl="1"/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Mod 2 written assignment is due TONIGHT!</a:t>
            </a:r>
          </a:p>
          <a:p>
            <a:pPr lvl="1"/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Fall break is next week (woohoo!)</a:t>
            </a:r>
          </a:p>
          <a:p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Grading</a:t>
            </a:r>
          </a:p>
          <a:p>
            <a:pPr lvl="1"/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Quiz module 1 is graded! You will get it back automatically at noon today. Questions available until next Tue.</a:t>
            </a:r>
          </a:p>
          <a:p>
            <a:pPr lvl="1"/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Module 1 homework is graded! Regrades open if you need it.</a:t>
            </a:r>
          </a:p>
          <a:p>
            <a:pPr lvl="1"/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Module 0 homework has been graded, but regrades are opened up as well if you need it</a:t>
            </a:r>
          </a:p>
          <a:p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Module 1 Quiz Details</a:t>
            </a:r>
          </a:p>
          <a:p>
            <a:pPr lvl="1"/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Remember that your DFA scores should be equal. If not let Gustavo know.</a:t>
            </a:r>
          </a:p>
          <a:p>
            <a:pPr lvl="1"/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Average was a 78% (so pretty good. Not bad, not amazing…nothing to worry about I think). Remember you have a retake during final</a:t>
            </a:r>
          </a:p>
          <a:p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Quiz 2</a:t>
            </a:r>
          </a:p>
          <a:p>
            <a:pPr lvl="1"/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Reservations are available now. Please sign up on </a:t>
            </a:r>
            <a:r>
              <a:rPr lang="en-US" dirty="0" err="1">
                <a:latin typeface="Arial" panose="020B0604020202020204" pitchFamily="34" charset="0"/>
                <a:cs typeface="Arial" panose="020B0604020202020204" pitchFamily="34" charset="0"/>
              </a:rPr>
              <a:t>PrairieTest</a:t>
            </a:r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 ASAP!</a:t>
            </a:r>
          </a:p>
          <a:p>
            <a:pPr lvl="1"/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There will be practice test again so you can become familiar with question format (not for question content…just format)</a:t>
            </a:r>
          </a:p>
          <a:p>
            <a:pPr lvl="1"/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Question summary is on the next slide</a:t>
            </a:r>
          </a:p>
          <a:p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OH Check-Ins</a:t>
            </a:r>
          </a:p>
          <a:p>
            <a:pPr lvl="1"/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This is shaping up but I won’t have more concrete information until next week!</a:t>
            </a:r>
          </a:p>
          <a:p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These slides are linked on the course webpage “slides” page.</a:t>
            </a:r>
          </a:p>
          <a:p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Today we </a:t>
            </a:r>
            <a:r>
              <a:rPr lang="en-US">
                <a:latin typeface="Arial" panose="020B0604020202020204" pitchFamily="34" charset="0"/>
                <a:cs typeface="Arial" panose="020B0604020202020204" pitchFamily="34" charset="0"/>
              </a:rPr>
              <a:t>will finish </a:t>
            </a:r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Module 2 – Context-Free Grammars.</a:t>
            </a:r>
          </a:p>
        </p:txBody>
      </p:sp>
    </p:spTree>
    <p:extLst>
      <p:ext uri="{BB962C8B-B14F-4D97-AF65-F5344CB8AC3E}">
        <p14:creationId xmlns:p14="http://schemas.microsoft.com/office/powerpoint/2010/main" val="1393696115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05AF98F-5D4C-C155-02CF-379A3F22AE3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46" name="Rectangle 2">
            <a:extLst>
              <a:ext uri="{FF2B5EF4-FFF2-40B4-BE49-F238E27FC236}">
                <a16:creationId xmlns:a16="http://schemas.microsoft.com/office/drawing/2014/main" id="{DBCC9806-9A4D-06A7-D9B6-6564A6C3C253}"/>
              </a:ext>
            </a:extLst>
          </p:cNvPr>
          <p:cNvSpPr>
            <a:spLocks noGrp="1" noChangeArrowheads="1"/>
          </p:cNvSpPr>
          <p:nvPr>
            <p:ph type="title"/>
            <p:custDataLst>
              <p:tags r:id="rId1"/>
            </p:custDataLst>
          </p:nvPr>
        </p:nvSpPr>
        <p:spPr>
          <a:xfrm>
            <a:off x="1141413" y="284084"/>
            <a:ext cx="9905998" cy="620791"/>
          </a:xfrm>
        </p:spPr>
        <p:txBody>
          <a:bodyPr/>
          <a:lstStyle/>
          <a:p>
            <a:pPr algn="ctr"/>
            <a:r>
              <a:rPr lang="en-US" dirty="0"/>
              <a:t>Quiz 2 – Question Summary</a:t>
            </a:r>
          </a:p>
        </p:txBody>
      </p:sp>
      <p:sp>
        <p:nvSpPr>
          <p:cNvPr id="6147" name="Rectangle 3">
            <a:extLst>
              <a:ext uri="{FF2B5EF4-FFF2-40B4-BE49-F238E27FC236}">
                <a16:creationId xmlns:a16="http://schemas.microsoft.com/office/drawing/2014/main" id="{56968B68-3646-056B-2418-C9C325B57086}"/>
              </a:ext>
            </a:extLst>
          </p:cNvPr>
          <p:cNvSpPr>
            <a:spLocks noGrp="1" noChangeArrowheads="1"/>
          </p:cNvSpPr>
          <p:nvPr>
            <p:ph idx="1"/>
            <p:custDataLst>
              <p:tags r:id="rId2"/>
            </p:custDataLst>
          </p:nvPr>
        </p:nvSpPr>
        <p:spPr>
          <a:xfrm>
            <a:off x="1664842" y="1311217"/>
            <a:ext cx="8859140" cy="5202315"/>
          </a:xfrm>
        </p:spPr>
        <p:txBody>
          <a:bodyPr>
            <a:normAutofit/>
          </a:bodyPr>
          <a:lstStyle/>
          <a:p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Q1: True / False Questions (10 of them)</a:t>
            </a:r>
          </a:p>
          <a:p>
            <a:pPr lvl="1"/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Span the entire module, may reference module 0 material</a:t>
            </a:r>
          </a:p>
          <a:p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Q2-3: Grammar Derivation</a:t>
            </a:r>
          </a:p>
          <a:p>
            <a:pPr lvl="1"/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Given a grammar and string to derive, show the full derivation</a:t>
            </a:r>
          </a:p>
          <a:p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Q4-5: Grammar Creation</a:t>
            </a:r>
          </a:p>
          <a:p>
            <a:pPr lvl="1"/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Given a language, construct a context-free grammar for it</a:t>
            </a:r>
          </a:p>
          <a:p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Q6: PDA</a:t>
            </a:r>
          </a:p>
          <a:p>
            <a:pPr lvl="1"/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Given a language, draw a working PDA for it </a:t>
            </a:r>
          </a:p>
          <a:p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Q7: Closure Question (T/F style)</a:t>
            </a:r>
          </a:p>
          <a:p>
            <a:pPr lvl="1"/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Given set X and Y and operation O. Does (X O Y) result in set Z</a:t>
            </a:r>
          </a:p>
        </p:txBody>
      </p:sp>
    </p:spTree>
    <p:extLst>
      <p:ext uri="{BB962C8B-B14F-4D97-AF65-F5344CB8AC3E}">
        <p14:creationId xmlns:p14="http://schemas.microsoft.com/office/powerpoint/2010/main" val="3631093413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39F154A-AF40-1B7F-5FF2-FD761E0530C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46" name="Rectangle 2">
            <a:extLst>
              <a:ext uri="{FF2B5EF4-FFF2-40B4-BE49-F238E27FC236}">
                <a16:creationId xmlns:a16="http://schemas.microsoft.com/office/drawing/2014/main" id="{5B811BF6-01C9-2DEA-B252-3B0D0A562D41}"/>
              </a:ext>
            </a:extLst>
          </p:cNvPr>
          <p:cNvSpPr>
            <a:spLocks noGrp="1" noChangeArrowheads="1"/>
          </p:cNvSpPr>
          <p:nvPr>
            <p:ph type="title"/>
            <p:custDataLst>
              <p:tags r:id="rId1"/>
            </p:custDataLst>
          </p:nvPr>
        </p:nvSpPr>
        <p:spPr>
          <a:xfrm>
            <a:off x="1141413" y="284084"/>
            <a:ext cx="9905998" cy="620791"/>
          </a:xfrm>
        </p:spPr>
        <p:txBody>
          <a:bodyPr/>
          <a:lstStyle/>
          <a:p>
            <a:pPr algn="ctr"/>
            <a:r>
              <a:rPr lang="en-US" dirty="0"/>
              <a:t>Lecture 13 - Thursday, Oct. 7</a:t>
            </a:r>
          </a:p>
        </p:txBody>
      </p:sp>
      <p:sp>
        <p:nvSpPr>
          <p:cNvPr id="6147" name="Rectangle 3">
            <a:extLst>
              <a:ext uri="{FF2B5EF4-FFF2-40B4-BE49-F238E27FC236}">
                <a16:creationId xmlns:a16="http://schemas.microsoft.com/office/drawing/2014/main" id="{F57FAE94-CA45-881D-F502-2BB27E98AC87}"/>
              </a:ext>
            </a:extLst>
          </p:cNvPr>
          <p:cNvSpPr>
            <a:spLocks noGrp="1" noChangeArrowheads="1"/>
          </p:cNvSpPr>
          <p:nvPr>
            <p:ph idx="1"/>
            <p:custDataLst>
              <p:tags r:id="rId2"/>
            </p:custDataLst>
          </p:nvPr>
        </p:nvSpPr>
        <p:spPr>
          <a:xfrm>
            <a:off x="1294151" y="904876"/>
            <a:ext cx="9600522" cy="5953124"/>
          </a:xfrm>
        </p:spPr>
        <p:txBody>
          <a:bodyPr>
            <a:normAutofit fontScale="62500" lnSpcReduction="20000"/>
          </a:bodyPr>
          <a:lstStyle/>
          <a:p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Please remember </a:t>
            </a:r>
            <a:r>
              <a:rPr lang="en-US" b="1" i="1" u="sng" dirty="0">
                <a:latin typeface="Arial" panose="020B0604020202020204" pitchFamily="34" charset="0"/>
                <a:cs typeface="Arial" panose="020B0604020202020204" pitchFamily="34" charset="0"/>
              </a:rPr>
              <a:t>no laptops / phones</a:t>
            </a:r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 and </a:t>
            </a:r>
            <a:r>
              <a:rPr lang="en-US" b="1" i="1" u="sng" dirty="0">
                <a:latin typeface="Arial" panose="020B0604020202020204" pitchFamily="34" charset="0"/>
                <a:cs typeface="Arial" panose="020B0604020202020204" pitchFamily="34" charset="0"/>
              </a:rPr>
              <a:t>attendance policy</a:t>
            </a:r>
            <a:endParaRPr lang="en-US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October! Best month of the year! Woo!</a:t>
            </a:r>
          </a:p>
          <a:p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This week:</a:t>
            </a:r>
          </a:p>
          <a:p>
            <a:pPr lvl="1"/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Nothing due. Study for your quiz!</a:t>
            </a:r>
          </a:p>
          <a:p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Grading</a:t>
            </a:r>
          </a:p>
          <a:p>
            <a:pPr lvl="1"/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Module 2 homework is being graded right now.</a:t>
            </a:r>
          </a:p>
          <a:p>
            <a:pPr lvl="1"/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Extensions given through today due to Fall Break, so many will come in tonight too.</a:t>
            </a:r>
          </a:p>
          <a:p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Module 1 Quiz Regrades</a:t>
            </a:r>
          </a:p>
          <a:p>
            <a:pPr lvl="1"/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Contact Gustavo (or visit his OH) if you want something looked at on your quiz. You can come to my OH too but please do not email me.</a:t>
            </a:r>
          </a:p>
          <a:p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Quiz 2</a:t>
            </a:r>
          </a:p>
          <a:p>
            <a:pPr lvl="1"/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Reservations are available now. Please sign up on </a:t>
            </a:r>
            <a:r>
              <a:rPr lang="en-US" dirty="0" err="1">
                <a:latin typeface="Arial" panose="020B0604020202020204" pitchFamily="34" charset="0"/>
                <a:cs typeface="Arial" panose="020B0604020202020204" pitchFamily="34" charset="0"/>
              </a:rPr>
              <a:t>PrairieTest</a:t>
            </a:r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 ASAP if you haven’t already!</a:t>
            </a:r>
          </a:p>
          <a:p>
            <a:pPr lvl="1"/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There is a practice test live now so you can become familiar with question format (not for question content…just format)</a:t>
            </a:r>
          </a:p>
          <a:p>
            <a:pPr lvl="1"/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Question summary is on the next slide</a:t>
            </a:r>
          </a:p>
          <a:p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OH Check-Ins</a:t>
            </a:r>
          </a:p>
          <a:p>
            <a:pPr lvl="1"/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This is going to start NEXT week. If you are in the first group you will receive an email to sign up today.</a:t>
            </a:r>
          </a:p>
          <a:p>
            <a:pPr lvl="1"/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…and every week moving forward.</a:t>
            </a:r>
          </a:p>
          <a:p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These slides are linked on the course webpage “slides” page.</a:t>
            </a:r>
          </a:p>
          <a:p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Today we will begin Module 3 – Turing Machines.</a:t>
            </a:r>
          </a:p>
        </p:txBody>
      </p:sp>
    </p:spTree>
    <p:extLst>
      <p:ext uri="{BB962C8B-B14F-4D97-AF65-F5344CB8AC3E}">
        <p14:creationId xmlns:p14="http://schemas.microsoft.com/office/powerpoint/2010/main" val="4271825892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C90C10B-929E-07F4-E925-2FB913C57E2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46" name="Rectangle 2">
            <a:extLst>
              <a:ext uri="{FF2B5EF4-FFF2-40B4-BE49-F238E27FC236}">
                <a16:creationId xmlns:a16="http://schemas.microsoft.com/office/drawing/2014/main" id="{73F996A0-D807-66FC-065A-2E1FAE17996A}"/>
              </a:ext>
            </a:extLst>
          </p:cNvPr>
          <p:cNvSpPr>
            <a:spLocks noGrp="1" noChangeArrowheads="1"/>
          </p:cNvSpPr>
          <p:nvPr>
            <p:ph type="title"/>
            <p:custDataLst>
              <p:tags r:id="rId1"/>
            </p:custDataLst>
          </p:nvPr>
        </p:nvSpPr>
        <p:spPr>
          <a:xfrm>
            <a:off x="1141413" y="284084"/>
            <a:ext cx="9905998" cy="620791"/>
          </a:xfrm>
        </p:spPr>
        <p:txBody>
          <a:bodyPr/>
          <a:lstStyle/>
          <a:p>
            <a:pPr algn="ctr"/>
            <a:r>
              <a:rPr lang="en-US" dirty="0"/>
              <a:t>Quiz 2 – Question Summary</a:t>
            </a:r>
          </a:p>
        </p:txBody>
      </p:sp>
      <p:sp>
        <p:nvSpPr>
          <p:cNvPr id="6147" name="Rectangle 3">
            <a:extLst>
              <a:ext uri="{FF2B5EF4-FFF2-40B4-BE49-F238E27FC236}">
                <a16:creationId xmlns:a16="http://schemas.microsoft.com/office/drawing/2014/main" id="{8CFF7C8A-7558-7C4A-E331-036DAB13627D}"/>
              </a:ext>
            </a:extLst>
          </p:cNvPr>
          <p:cNvSpPr>
            <a:spLocks noGrp="1" noChangeArrowheads="1"/>
          </p:cNvSpPr>
          <p:nvPr>
            <p:ph idx="1"/>
            <p:custDataLst>
              <p:tags r:id="rId2"/>
            </p:custDataLst>
          </p:nvPr>
        </p:nvSpPr>
        <p:spPr>
          <a:xfrm>
            <a:off x="1664842" y="1311217"/>
            <a:ext cx="8859140" cy="5202315"/>
          </a:xfrm>
        </p:spPr>
        <p:txBody>
          <a:bodyPr>
            <a:normAutofit lnSpcReduction="10000"/>
          </a:bodyPr>
          <a:lstStyle/>
          <a:p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Q1: True / False Questions (10 of them)</a:t>
            </a:r>
          </a:p>
          <a:p>
            <a:pPr lvl="1"/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Span the entire module, may reference module 0 material</a:t>
            </a:r>
          </a:p>
          <a:p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Q2-3: Grammar Derivation</a:t>
            </a:r>
          </a:p>
          <a:p>
            <a:pPr lvl="1"/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Given a grammar and string to derive, show the full derivation</a:t>
            </a:r>
          </a:p>
          <a:p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Q4-5: Grammar Creation</a:t>
            </a:r>
          </a:p>
          <a:p>
            <a:pPr lvl="1"/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Given a language, construct a context-free grammar for it</a:t>
            </a:r>
          </a:p>
          <a:p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Q6: PDA</a:t>
            </a:r>
          </a:p>
          <a:p>
            <a:pPr lvl="1"/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Given a language, draw a working PDA for it </a:t>
            </a:r>
          </a:p>
          <a:p>
            <a:pPr lvl="1"/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Note there are new delete options (delete key, escape, right click)</a:t>
            </a:r>
          </a:p>
          <a:p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Q7: Closure Question (T/F style)</a:t>
            </a:r>
          </a:p>
          <a:p>
            <a:pPr lvl="1"/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Given set X and Y and operation O. Does (X O Y) result in set Z</a:t>
            </a:r>
          </a:p>
        </p:txBody>
      </p:sp>
    </p:spTree>
    <p:extLst>
      <p:ext uri="{BB962C8B-B14F-4D97-AF65-F5344CB8AC3E}">
        <p14:creationId xmlns:p14="http://schemas.microsoft.com/office/powerpoint/2010/main" val="2002638986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B856FAB-5D2E-4D8E-B411-7E285EE6CED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46" name="Rectangle 2">
            <a:extLst>
              <a:ext uri="{FF2B5EF4-FFF2-40B4-BE49-F238E27FC236}">
                <a16:creationId xmlns:a16="http://schemas.microsoft.com/office/drawing/2014/main" id="{F5C926FF-CDDE-AC42-17E7-D298616E844A}"/>
              </a:ext>
            </a:extLst>
          </p:cNvPr>
          <p:cNvSpPr>
            <a:spLocks noGrp="1" noChangeArrowheads="1"/>
          </p:cNvSpPr>
          <p:nvPr>
            <p:ph type="title"/>
            <p:custDataLst>
              <p:tags r:id="rId1"/>
            </p:custDataLst>
          </p:nvPr>
        </p:nvSpPr>
        <p:spPr>
          <a:xfrm>
            <a:off x="1141413" y="284084"/>
            <a:ext cx="9905998" cy="620791"/>
          </a:xfrm>
        </p:spPr>
        <p:txBody>
          <a:bodyPr/>
          <a:lstStyle/>
          <a:p>
            <a:pPr algn="ctr"/>
            <a:r>
              <a:rPr lang="en-US" dirty="0"/>
              <a:t>Lecture 14 - Tuesday, Oct. 13</a:t>
            </a:r>
          </a:p>
        </p:txBody>
      </p:sp>
      <p:sp>
        <p:nvSpPr>
          <p:cNvPr id="6147" name="Rectangle 3">
            <a:extLst>
              <a:ext uri="{FF2B5EF4-FFF2-40B4-BE49-F238E27FC236}">
                <a16:creationId xmlns:a16="http://schemas.microsoft.com/office/drawing/2014/main" id="{80BFC038-0D0C-4D31-F0FC-8BE9D80053DF}"/>
              </a:ext>
            </a:extLst>
          </p:cNvPr>
          <p:cNvSpPr>
            <a:spLocks noGrp="1" noChangeArrowheads="1"/>
          </p:cNvSpPr>
          <p:nvPr>
            <p:ph idx="1"/>
            <p:custDataLst>
              <p:tags r:id="rId2"/>
            </p:custDataLst>
          </p:nvPr>
        </p:nvSpPr>
        <p:spPr>
          <a:xfrm>
            <a:off x="1294151" y="904876"/>
            <a:ext cx="9600522" cy="5953124"/>
          </a:xfrm>
        </p:spPr>
        <p:txBody>
          <a:bodyPr>
            <a:normAutofit fontScale="62500" lnSpcReduction="20000"/>
          </a:bodyPr>
          <a:lstStyle/>
          <a:p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Please remember </a:t>
            </a:r>
            <a:r>
              <a:rPr lang="en-US" b="1" i="1" u="sng" dirty="0">
                <a:latin typeface="Arial" panose="020B0604020202020204" pitchFamily="34" charset="0"/>
                <a:cs typeface="Arial" panose="020B0604020202020204" pitchFamily="34" charset="0"/>
              </a:rPr>
              <a:t>no laptops / phones</a:t>
            </a:r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 and </a:t>
            </a:r>
            <a:r>
              <a:rPr lang="en-US" b="1" i="1" u="sng" dirty="0">
                <a:latin typeface="Arial" panose="020B0604020202020204" pitchFamily="34" charset="0"/>
                <a:cs typeface="Arial" panose="020B0604020202020204" pitchFamily="34" charset="0"/>
              </a:rPr>
              <a:t>attendance policy</a:t>
            </a:r>
            <a:endParaRPr lang="en-US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October! Best month of the year! Woo!</a:t>
            </a:r>
          </a:p>
          <a:p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This week:</a:t>
            </a:r>
          </a:p>
          <a:p>
            <a:pPr lvl="1"/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Take your quiz! Good luck!</a:t>
            </a:r>
          </a:p>
          <a:p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Grading</a:t>
            </a:r>
          </a:p>
          <a:p>
            <a:pPr lvl="1"/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Module 2 homework is being graded right now.</a:t>
            </a:r>
          </a:p>
          <a:p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Module 1 Quiz Regrades</a:t>
            </a:r>
          </a:p>
          <a:p>
            <a:pPr lvl="1"/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Contact Gustavo (or visit his OH) if you want something looked at on your quiz. You can come to my OH too but please do not email me.</a:t>
            </a:r>
          </a:p>
          <a:p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Quiz 2</a:t>
            </a:r>
          </a:p>
          <a:p>
            <a:pPr lvl="1"/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…is happening this week. Some have already taken it but most will today and tomorrow.</a:t>
            </a:r>
          </a:p>
          <a:p>
            <a:pPr lvl="1"/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There is a practice test live now so you can become familiar with question format (not for question content…just format)</a:t>
            </a:r>
          </a:p>
          <a:p>
            <a:pPr lvl="1"/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Question summary is on previous slide if you still need it</a:t>
            </a:r>
          </a:p>
          <a:p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OH Check-Ins</a:t>
            </a:r>
          </a:p>
          <a:p>
            <a:pPr lvl="1"/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This is going to start THIS week. Did everybody receive the information about this? Any questions?</a:t>
            </a:r>
          </a:p>
          <a:p>
            <a:pPr lvl="1"/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If you need to change weeks for a legitimate reason, email Elina (our OH head TA)</a:t>
            </a:r>
          </a:p>
          <a:p>
            <a:pPr lvl="1"/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One change from what I told you: You will NOT be allowed to glance at your submission. Sorry.</a:t>
            </a:r>
          </a:p>
          <a:p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These slides are linked on the course webpage “slides” page.</a:t>
            </a:r>
          </a:p>
          <a:p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Today we will continue Module 3 – Turing Machines.</a:t>
            </a:r>
          </a:p>
        </p:txBody>
      </p:sp>
    </p:spTree>
    <p:extLst>
      <p:ext uri="{BB962C8B-B14F-4D97-AF65-F5344CB8AC3E}">
        <p14:creationId xmlns:p14="http://schemas.microsoft.com/office/powerpoint/2010/main" val="3939114034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93B3724-0C9F-9E3E-9AB4-BDB001948D7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46" name="Rectangle 2">
            <a:extLst>
              <a:ext uri="{FF2B5EF4-FFF2-40B4-BE49-F238E27FC236}">
                <a16:creationId xmlns:a16="http://schemas.microsoft.com/office/drawing/2014/main" id="{9D58DADC-48F3-23A8-6519-646245E548EA}"/>
              </a:ext>
            </a:extLst>
          </p:cNvPr>
          <p:cNvSpPr>
            <a:spLocks noGrp="1" noChangeArrowheads="1"/>
          </p:cNvSpPr>
          <p:nvPr>
            <p:ph type="title"/>
            <p:custDataLst>
              <p:tags r:id="rId1"/>
            </p:custDataLst>
          </p:nvPr>
        </p:nvSpPr>
        <p:spPr>
          <a:xfrm>
            <a:off x="1141413" y="284084"/>
            <a:ext cx="9905998" cy="620791"/>
          </a:xfrm>
        </p:spPr>
        <p:txBody>
          <a:bodyPr/>
          <a:lstStyle/>
          <a:p>
            <a:pPr algn="ctr"/>
            <a:r>
              <a:rPr lang="en-US" dirty="0"/>
              <a:t>Lecture 15 - Thursday, Oct. 15</a:t>
            </a:r>
          </a:p>
        </p:txBody>
      </p:sp>
      <p:sp>
        <p:nvSpPr>
          <p:cNvPr id="6147" name="Rectangle 3">
            <a:extLst>
              <a:ext uri="{FF2B5EF4-FFF2-40B4-BE49-F238E27FC236}">
                <a16:creationId xmlns:a16="http://schemas.microsoft.com/office/drawing/2014/main" id="{8E23B269-3FD5-28F1-6537-E9AA7A5DC1AB}"/>
              </a:ext>
            </a:extLst>
          </p:cNvPr>
          <p:cNvSpPr>
            <a:spLocks noGrp="1" noChangeArrowheads="1"/>
          </p:cNvSpPr>
          <p:nvPr>
            <p:ph idx="1"/>
            <p:custDataLst>
              <p:tags r:id="rId2"/>
            </p:custDataLst>
          </p:nvPr>
        </p:nvSpPr>
        <p:spPr>
          <a:xfrm>
            <a:off x="1294151" y="904876"/>
            <a:ext cx="9600522" cy="5953124"/>
          </a:xfrm>
        </p:spPr>
        <p:txBody>
          <a:bodyPr>
            <a:normAutofit fontScale="70000" lnSpcReduction="20000"/>
          </a:bodyPr>
          <a:lstStyle/>
          <a:p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Please remember </a:t>
            </a:r>
            <a:r>
              <a:rPr lang="en-US" b="1" i="1" u="sng" dirty="0">
                <a:latin typeface="Arial" panose="020B0604020202020204" pitchFamily="34" charset="0"/>
                <a:cs typeface="Arial" panose="020B0604020202020204" pitchFamily="34" charset="0"/>
              </a:rPr>
              <a:t>no laptops / phones</a:t>
            </a:r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 and </a:t>
            </a:r>
            <a:r>
              <a:rPr lang="en-US" b="1" i="1" u="sng" dirty="0">
                <a:latin typeface="Arial" panose="020B0604020202020204" pitchFamily="34" charset="0"/>
                <a:cs typeface="Arial" panose="020B0604020202020204" pitchFamily="34" charset="0"/>
              </a:rPr>
              <a:t>attendance policy</a:t>
            </a:r>
            <a:endParaRPr lang="en-US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October! Best month of the year! Woo!</a:t>
            </a:r>
          </a:p>
          <a:p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This week:</a:t>
            </a:r>
          </a:p>
          <a:p>
            <a:pPr lvl="1"/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Take (took) your quiz! How did it go?!</a:t>
            </a:r>
          </a:p>
          <a:p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Next week:</a:t>
            </a:r>
          </a:p>
          <a:p>
            <a:pPr lvl="1"/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Nothing! No quiz or assignments. Enjoy a little break (but keep coming to lecture!).</a:t>
            </a:r>
          </a:p>
          <a:p>
            <a:pPr lvl="1"/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You are able to begin your assignment for the following week, so why not get ahead of it!!</a:t>
            </a:r>
          </a:p>
          <a:p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Grading</a:t>
            </a:r>
          </a:p>
          <a:p>
            <a:pPr lvl="1"/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Module 2 homework has been returned</a:t>
            </a:r>
          </a:p>
          <a:p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Quiz 2</a:t>
            </a:r>
          </a:p>
          <a:p>
            <a:pPr lvl="1"/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…is happening this week. Most of you have already taken it. Any issues?</a:t>
            </a:r>
          </a:p>
          <a:p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OH Check-Ins</a:t>
            </a:r>
          </a:p>
          <a:p>
            <a:pPr lvl="1"/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Have started THIS week. Any issues so far?</a:t>
            </a:r>
          </a:p>
          <a:p>
            <a:pPr lvl="1"/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If you need to change weeks for a legitimate reason, email Elina (our OH head TA)</a:t>
            </a:r>
          </a:p>
          <a:p>
            <a:pPr lvl="1"/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One change from what I told you: You will NOT be allowed to glance at your submission. Sorry.</a:t>
            </a:r>
          </a:p>
          <a:p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These slides are linked on the course webpage “slides” page.</a:t>
            </a:r>
          </a:p>
          <a:p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Today we will continue Module 3 – Turing Machines.</a:t>
            </a:r>
          </a:p>
        </p:txBody>
      </p:sp>
    </p:spTree>
    <p:extLst>
      <p:ext uri="{BB962C8B-B14F-4D97-AF65-F5344CB8AC3E}">
        <p14:creationId xmlns:p14="http://schemas.microsoft.com/office/powerpoint/2010/main" val="233690679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5C99F73-633F-DEE4-EAE3-10527E86ABF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46" name="Rectangle 2">
            <a:extLst>
              <a:ext uri="{FF2B5EF4-FFF2-40B4-BE49-F238E27FC236}">
                <a16:creationId xmlns:a16="http://schemas.microsoft.com/office/drawing/2014/main" id="{30126199-B56C-0B66-BBEE-CAE6E886E5DB}"/>
              </a:ext>
            </a:extLst>
          </p:cNvPr>
          <p:cNvSpPr>
            <a:spLocks noGrp="1" noChangeArrowheads="1"/>
          </p:cNvSpPr>
          <p:nvPr>
            <p:ph type="title"/>
            <p:custDataLst>
              <p:tags r:id="rId1"/>
            </p:custDataLst>
          </p:nvPr>
        </p:nvSpPr>
        <p:spPr>
          <a:xfrm>
            <a:off x="1141413" y="284084"/>
            <a:ext cx="9905998" cy="620791"/>
          </a:xfrm>
        </p:spPr>
        <p:txBody>
          <a:bodyPr/>
          <a:lstStyle/>
          <a:p>
            <a:pPr algn="ctr"/>
            <a:r>
              <a:rPr lang="en-US" dirty="0"/>
              <a:t>Lecture 16 - Tuesday, Oct. 20</a:t>
            </a:r>
          </a:p>
        </p:txBody>
      </p:sp>
      <p:sp>
        <p:nvSpPr>
          <p:cNvPr id="6147" name="Rectangle 3">
            <a:extLst>
              <a:ext uri="{FF2B5EF4-FFF2-40B4-BE49-F238E27FC236}">
                <a16:creationId xmlns:a16="http://schemas.microsoft.com/office/drawing/2014/main" id="{6D6B7AFA-4355-DFE5-C67E-692D97E68165}"/>
              </a:ext>
            </a:extLst>
          </p:cNvPr>
          <p:cNvSpPr>
            <a:spLocks noGrp="1" noChangeArrowheads="1"/>
          </p:cNvSpPr>
          <p:nvPr>
            <p:ph idx="1"/>
            <p:custDataLst>
              <p:tags r:id="rId2"/>
            </p:custDataLst>
          </p:nvPr>
        </p:nvSpPr>
        <p:spPr>
          <a:xfrm>
            <a:off x="1294151" y="904876"/>
            <a:ext cx="9600522" cy="5749924"/>
          </a:xfrm>
        </p:spPr>
        <p:txBody>
          <a:bodyPr>
            <a:normAutofit fontScale="77500" lnSpcReduction="20000"/>
          </a:bodyPr>
          <a:lstStyle/>
          <a:p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Please remember </a:t>
            </a:r>
            <a:r>
              <a:rPr lang="en-US" b="1" i="1" u="sng" dirty="0">
                <a:latin typeface="Arial" panose="020B0604020202020204" pitchFamily="34" charset="0"/>
                <a:cs typeface="Arial" panose="020B0604020202020204" pitchFamily="34" charset="0"/>
              </a:rPr>
              <a:t>no laptops / phones</a:t>
            </a:r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 and </a:t>
            </a:r>
            <a:r>
              <a:rPr lang="en-US" b="1" i="1" u="sng" dirty="0">
                <a:latin typeface="Arial" panose="020B0604020202020204" pitchFamily="34" charset="0"/>
                <a:cs typeface="Arial" panose="020B0604020202020204" pitchFamily="34" charset="0"/>
              </a:rPr>
              <a:t>attendance policy</a:t>
            </a:r>
            <a:endParaRPr lang="en-US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October! Best month of the year! Woo!</a:t>
            </a:r>
          </a:p>
          <a:p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This week:</a:t>
            </a:r>
          </a:p>
          <a:p>
            <a:pPr lvl="1"/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Nothing due! I **might** send you some Turing Machine practice for the upcoming quiz 3 though</a:t>
            </a:r>
          </a:p>
          <a:p>
            <a:pPr lvl="1"/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You can get started on your module 3 written assignment if you want.</a:t>
            </a:r>
          </a:p>
          <a:p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Next week:</a:t>
            </a:r>
          </a:p>
          <a:p>
            <a:pPr lvl="1"/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Module 3 written assignment is due</a:t>
            </a:r>
          </a:p>
          <a:p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Grading</a:t>
            </a:r>
          </a:p>
          <a:p>
            <a:pPr lvl="1"/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Quiz is being graded right now. </a:t>
            </a:r>
          </a:p>
          <a:p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OH Check-Ins</a:t>
            </a:r>
          </a:p>
          <a:p>
            <a:pPr lvl="1"/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Have started. This is week 2. Any issues so far?</a:t>
            </a:r>
          </a:p>
          <a:p>
            <a:pPr lvl="1"/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If you need to change weeks for a legitimate reason, email Elina (our OH head TA)</a:t>
            </a:r>
          </a:p>
          <a:p>
            <a:pPr lvl="1"/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One change from what I told you: You will NOT be allowed to glance at your submission. Sorry.</a:t>
            </a:r>
          </a:p>
          <a:p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These slides are linked on the course webpage “slides” page.</a:t>
            </a:r>
          </a:p>
          <a:p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Today we will continue Module 3 – Turing Machines.</a:t>
            </a:r>
          </a:p>
        </p:txBody>
      </p:sp>
    </p:spTree>
    <p:extLst>
      <p:ext uri="{BB962C8B-B14F-4D97-AF65-F5344CB8AC3E}">
        <p14:creationId xmlns:p14="http://schemas.microsoft.com/office/powerpoint/2010/main" val="3276402320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CDC3FD1-9453-8F40-90ED-F94E192F083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46" name="Rectangle 2">
            <a:extLst>
              <a:ext uri="{FF2B5EF4-FFF2-40B4-BE49-F238E27FC236}">
                <a16:creationId xmlns:a16="http://schemas.microsoft.com/office/drawing/2014/main" id="{8E74F5C0-8BC5-156D-1775-199724E8A0BF}"/>
              </a:ext>
            </a:extLst>
          </p:cNvPr>
          <p:cNvSpPr>
            <a:spLocks noGrp="1" noChangeArrowheads="1"/>
          </p:cNvSpPr>
          <p:nvPr>
            <p:ph type="title"/>
            <p:custDataLst>
              <p:tags r:id="rId1"/>
            </p:custDataLst>
          </p:nvPr>
        </p:nvSpPr>
        <p:spPr>
          <a:xfrm>
            <a:off x="1141413" y="284084"/>
            <a:ext cx="9905998" cy="620791"/>
          </a:xfrm>
        </p:spPr>
        <p:txBody>
          <a:bodyPr/>
          <a:lstStyle/>
          <a:p>
            <a:pPr algn="ctr"/>
            <a:r>
              <a:rPr lang="en-US" dirty="0"/>
              <a:t>Lecture 17 - Thursday, Oct. 22</a:t>
            </a:r>
          </a:p>
        </p:txBody>
      </p:sp>
      <p:sp>
        <p:nvSpPr>
          <p:cNvPr id="6147" name="Rectangle 3">
            <a:extLst>
              <a:ext uri="{FF2B5EF4-FFF2-40B4-BE49-F238E27FC236}">
                <a16:creationId xmlns:a16="http://schemas.microsoft.com/office/drawing/2014/main" id="{681E031E-59BF-C8F6-FF32-BA05D16BCB1D}"/>
              </a:ext>
            </a:extLst>
          </p:cNvPr>
          <p:cNvSpPr>
            <a:spLocks noGrp="1" noChangeArrowheads="1"/>
          </p:cNvSpPr>
          <p:nvPr>
            <p:ph idx="1"/>
            <p:custDataLst>
              <p:tags r:id="rId2"/>
            </p:custDataLst>
          </p:nvPr>
        </p:nvSpPr>
        <p:spPr>
          <a:xfrm>
            <a:off x="1294151" y="904876"/>
            <a:ext cx="9600522" cy="5749924"/>
          </a:xfrm>
        </p:spPr>
        <p:txBody>
          <a:bodyPr>
            <a:normAutofit fontScale="70000" lnSpcReduction="20000"/>
          </a:bodyPr>
          <a:lstStyle/>
          <a:p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Please remember </a:t>
            </a:r>
            <a:r>
              <a:rPr lang="en-US" b="1" i="1" u="sng" dirty="0">
                <a:latin typeface="Arial" panose="020B0604020202020204" pitchFamily="34" charset="0"/>
                <a:cs typeface="Arial" panose="020B0604020202020204" pitchFamily="34" charset="0"/>
              </a:rPr>
              <a:t>no laptops / phones</a:t>
            </a:r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 and </a:t>
            </a:r>
            <a:r>
              <a:rPr lang="en-US" b="1" i="1" u="sng" dirty="0">
                <a:latin typeface="Arial" panose="020B0604020202020204" pitchFamily="34" charset="0"/>
                <a:cs typeface="Arial" panose="020B0604020202020204" pitchFamily="34" charset="0"/>
              </a:rPr>
              <a:t>attendance policy</a:t>
            </a:r>
            <a:endParaRPr lang="en-US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October! Best month of the year! Woo!</a:t>
            </a:r>
          </a:p>
          <a:p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This week:</a:t>
            </a:r>
          </a:p>
          <a:p>
            <a:pPr lvl="1"/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Nothing due!</a:t>
            </a:r>
          </a:p>
          <a:p>
            <a:pPr lvl="1"/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I **will be** sending you some Turing Machine practice for the upcoming quiz 3 though</a:t>
            </a:r>
          </a:p>
          <a:p>
            <a:pPr lvl="1"/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You can get started on your module 3 written assignment if you want.</a:t>
            </a:r>
          </a:p>
          <a:p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Next week:</a:t>
            </a:r>
          </a:p>
          <a:p>
            <a:pPr lvl="1"/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Module 3 written assignment is due</a:t>
            </a:r>
          </a:p>
          <a:p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Grading</a:t>
            </a:r>
          </a:p>
          <a:p>
            <a:pPr lvl="1"/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Quiz is graded! Will release automatically at noon today. Average was a 77%</a:t>
            </a:r>
          </a:p>
          <a:p>
            <a:pPr lvl="1"/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You can see the questions for 5 days like before. </a:t>
            </a:r>
          </a:p>
          <a:p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OH Check-Ins</a:t>
            </a:r>
          </a:p>
          <a:p>
            <a:pPr lvl="1"/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Have started. This is week 2. Any issues so far?</a:t>
            </a:r>
          </a:p>
          <a:p>
            <a:pPr lvl="1"/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If you need to change weeks for a legitimate reason, email Elina (our OH head TA)</a:t>
            </a:r>
          </a:p>
          <a:p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These slides are linked on the course webpage “slides” page.</a:t>
            </a:r>
          </a:p>
          <a:p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Today we will continue Module 3 – Turing Machines.</a:t>
            </a:r>
          </a:p>
        </p:txBody>
      </p:sp>
    </p:spTree>
    <p:extLst>
      <p:ext uri="{BB962C8B-B14F-4D97-AF65-F5344CB8AC3E}">
        <p14:creationId xmlns:p14="http://schemas.microsoft.com/office/powerpoint/2010/main" val="1090913192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46" name="Rectangle 2"/>
          <p:cNvSpPr>
            <a:spLocks noGrp="1" noChangeArrowheads="1"/>
          </p:cNvSpPr>
          <p:nvPr>
            <p:ph type="title"/>
            <p:custDataLst>
              <p:tags r:id="rId1"/>
            </p:custDataLst>
          </p:nvPr>
        </p:nvSpPr>
        <p:spPr>
          <a:xfrm>
            <a:off x="1141413" y="284084"/>
            <a:ext cx="9905998" cy="620791"/>
          </a:xfrm>
        </p:spPr>
        <p:txBody>
          <a:bodyPr/>
          <a:lstStyle/>
          <a:p>
            <a:pPr algn="ctr"/>
            <a:r>
              <a:rPr lang="en-US" dirty="0"/>
              <a:t>Status of Attendance Grade</a:t>
            </a:r>
          </a:p>
        </p:txBody>
      </p:sp>
      <p:sp>
        <p:nvSpPr>
          <p:cNvPr id="6147" name="Rectangle 3"/>
          <p:cNvSpPr>
            <a:spLocks noGrp="1" noChangeArrowheads="1"/>
          </p:cNvSpPr>
          <p:nvPr>
            <p:ph idx="1"/>
            <p:custDataLst>
              <p:tags r:id="rId2"/>
            </p:custDataLst>
          </p:nvPr>
        </p:nvSpPr>
        <p:spPr>
          <a:xfrm>
            <a:off x="1129082" y="1040465"/>
            <a:ext cx="1995777" cy="733064"/>
          </a:xfrm>
        </p:spPr>
        <p:txBody>
          <a:bodyPr>
            <a:normAutofit/>
          </a:bodyPr>
          <a:lstStyle/>
          <a:p>
            <a:pPr marL="0" indent="0" algn="ctr">
              <a:buNone/>
            </a:pPr>
            <a:r>
              <a:rPr lang="en-US" b="1" i="1" u="sng" dirty="0">
                <a:latin typeface="Arial" panose="020B0604020202020204" pitchFamily="34" charset="0"/>
                <a:cs typeface="Arial" panose="020B0604020202020204" pitchFamily="34" charset="0"/>
              </a:rPr>
              <a:t>9:30 </a:t>
            </a:r>
            <a:r>
              <a:rPr lang="en-US" b="1" i="1" u="sng" dirty="0" err="1">
                <a:latin typeface="Arial" panose="020B0604020202020204" pitchFamily="34" charset="0"/>
                <a:cs typeface="Arial" panose="020B0604020202020204" pitchFamily="34" charset="0"/>
              </a:rPr>
              <a:t>Att</a:t>
            </a:r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:</a:t>
            </a:r>
          </a:p>
        </p:txBody>
      </p:sp>
      <p:sp>
        <p:nvSpPr>
          <p:cNvPr id="5" name="Rectangle 3">
            <a:extLst>
              <a:ext uri="{FF2B5EF4-FFF2-40B4-BE49-F238E27FC236}">
                <a16:creationId xmlns:a16="http://schemas.microsoft.com/office/drawing/2014/main" id="{EDF2E0C1-FE2C-6A4C-AC9C-AF830C636549}"/>
              </a:ext>
            </a:extLst>
          </p:cNvPr>
          <p:cNvSpPr txBox="1">
            <a:spLocks noChangeArrowheads="1"/>
          </p:cNvSpPr>
          <p:nvPr>
            <p:custDataLst>
              <p:tags r:id="rId3"/>
            </p:custDataLst>
          </p:nvPr>
        </p:nvSpPr>
        <p:spPr>
          <a:xfrm>
            <a:off x="1200647" y="2779149"/>
            <a:ext cx="4214192" cy="687622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120000"/>
              </a:lnSpc>
              <a:spcBef>
                <a:spcPts val="1000"/>
              </a:spcBef>
              <a:buSzPct val="125000"/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Font typeface="Arial" panose="020B0604020202020204" pitchFamily="34" charset="0"/>
              <a:buNone/>
            </a:pPr>
            <a:r>
              <a:rPr lang="en-US" b="1" i="1" u="sng" dirty="0">
                <a:latin typeface="Arial" panose="020B0604020202020204" pitchFamily="34" charset="0"/>
                <a:cs typeface="Arial" panose="020B0604020202020204" pitchFamily="34" charset="0"/>
              </a:rPr>
              <a:t>HW On-Time Submissions</a:t>
            </a:r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:</a:t>
            </a:r>
          </a:p>
        </p:txBody>
      </p:sp>
      <p:graphicFrame>
        <p:nvGraphicFramePr>
          <p:cNvPr id="2" name="Table 1">
            <a:extLst>
              <a:ext uri="{FF2B5EF4-FFF2-40B4-BE49-F238E27FC236}">
                <a16:creationId xmlns:a16="http://schemas.microsoft.com/office/drawing/2014/main" id="{C55BF833-0DB4-B04F-B026-932C0FF8EC3B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941164392"/>
              </p:ext>
            </p:extLst>
          </p:nvPr>
        </p:nvGraphicFramePr>
        <p:xfrm>
          <a:off x="3053295" y="965059"/>
          <a:ext cx="3291843" cy="7416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574358">
                  <a:extLst>
                    <a:ext uri="{9D8B030D-6E8A-4147-A177-3AD203B41FA5}">
                      <a16:colId xmlns:a16="http://schemas.microsoft.com/office/drawing/2014/main" val="659906099"/>
                    </a:ext>
                  </a:extLst>
                </a:gridCol>
                <a:gridCol w="787180">
                  <a:extLst>
                    <a:ext uri="{9D8B030D-6E8A-4147-A177-3AD203B41FA5}">
                      <a16:colId xmlns:a16="http://schemas.microsoft.com/office/drawing/2014/main" val="2842208557"/>
                    </a:ext>
                  </a:extLst>
                </a:gridCol>
                <a:gridCol w="930305">
                  <a:extLst>
                    <a:ext uri="{9D8B030D-6E8A-4147-A177-3AD203B41FA5}">
                      <a16:colId xmlns:a16="http://schemas.microsoft.com/office/drawing/2014/main" val="2881465603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b="1" i="0" u="none" dirty="0"/>
                        <a:t>Above 50 %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b="1" i="0" u="none" dirty="0"/>
                        <a:t>Total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b="1" i="0" u="none" dirty="0"/>
                        <a:t>%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8638146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i="0" dirty="0"/>
                        <a:t>14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i="0" dirty="0"/>
                        <a:t>15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b="1" i="0" dirty="0"/>
                        <a:t>93.3%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437585930"/>
                  </a:ext>
                </a:extLst>
              </a:tr>
            </a:tbl>
          </a:graphicData>
        </a:graphic>
      </p:graphicFrame>
      <p:graphicFrame>
        <p:nvGraphicFramePr>
          <p:cNvPr id="3" name="Table 2">
            <a:extLst>
              <a:ext uri="{FF2B5EF4-FFF2-40B4-BE49-F238E27FC236}">
                <a16:creationId xmlns:a16="http://schemas.microsoft.com/office/drawing/2014/main" id="{0BEE8E84-72F1-424D-90EC-32A0B6B6C591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350943963"/>
              </p:ext>
            </p:extLst>
          </p:nvPr>
        </p:nvGraphicFramePr>
        <p:xfrm>
          <a:off x="2548834" y="3478771"/>
          <a:ext cx="7255124" cy="29667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301461">
                  <a:extLst>
                    <a:ext uri="{9D8B030D-6E8A-4147-A177-3AD203B41FA5}">
                      <a16:colId xmlns:a16="http://schemas.microsoft.com/office/drawing/2014/main" val="3153816687"/>
                    </a:ext>
                  </a:extLst>
                </a:gridCol>
                <a:gridCol w="1582310">
                  <a:extLst>
                    <a:ext uri="{9D8B030D-6E8A-4147-A177-3AD203B41FA5}">
                      <a16:colId xmlns:a16="http://schemas.microsoft.com/office/drawing/2014/main" val="218493645"/>
                    </a:ext>
                  </a:extLst>
                </a:gridCol>
                <a:gridCol w="1661822">
                  <a:extLst>
                    <a:ext uri="{9D8B030D-6E8A-4147-A177-3AD203B41FA5}">
                      <a16:colId xmlns:a16="http://schemas.microsoft.com/office/drawing/2014/main" val="356281106"/>
                    </a:ext>
                  </a:extLst>
                </a:gridCol>
                <a:gridCol w="1709531">
                  <a:extLst>
                    <a:ext uri="{9D8B030D-6E8A-4147-A177-3AD203B41FA5}">
                      <a16:colId xmlns:a16="http://schemas.microsoft.com/office/drawing/2014/main" val="2034024725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HW Name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On-Time Subs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Total Subs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Percentage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911568015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Mod 0 Written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142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201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b="0" i="0" dirty="0"/>
                        <a:t>70.65%</a:t>
                      </a:r>
                      <a:endParaRPr lang="en-US" b="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566071351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Mod 1 Written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78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195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b="0" i="0" dirty="0"/>
                        <a:t>40.00%</a:t>
                      </a:r>
                      <a:endParaRPr lang="en-US" b="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089653866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Mod 1: Programming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116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233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b="0" i="0" dirty="0"/>
                        <a:t>49.78%</a:t>
                      </a:r>
                      <a:endParaRPr lang="en-US" b="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643707577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Mod 2 Written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56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194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b="0" i="0" dirty="0"/>
                        <a:t>28.87%</a:t>
                      </a:r>
                      <a:endParaRPr lang="en-US" b="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660444648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Mod 3 Written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-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-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b="0" i="0" dirty="0"/>
                        <a:t>N/A</a:t>
                      </a:r>
                      <a:endParaRPr lang="en-US" b="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999239085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Mod 4 Written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-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-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b="0" dirty="0"/>
                        <a:t>N/A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784064154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r"/>
                      <a:r>
                        <a:rPr lang="en-US" b="1" dirty="0"/>
                        <a:t>TOTAL: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b="1" dirty="0"/>
                        <a:t>392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b="1" dirty="0"/>
                        <a:t>823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b="1" i="0" dirty="0"/>
                        <a:t>47.63%</a:t>
                      </a:r>
                      <a:endParaRPr lang="en-US" b="1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96459917"/>
                  </a:ext>
                </a:extLst>
              </a:tr>
            </a:tbl>
          </a:graphicData>
        </a:graphic>
      </p:graphicFrame>
      <p:sp>
        <p:nvSpPr>
          <p:cNvPr id="8" name="Rectangle 3">
            <a:extLst>
              <a:ext uri="{FF2B5EF4-FFF2-40B4-BE49-F238E27FC236}">
                <a16:creationId xmlns:a16="http://schemas.microsoft.com/office/drawing/2014/main" id="{B978E73F-4A42-474F-AD3F-6BBF1391C7E2}"/>
              </a:ext>
            </a:extLst>
          </p:cNvPr>
          <p:cNvSpPr txBox="1">
            <a:spLocks noChangeArrowheads="1"/>
          </p:cNvSpPr>
          <p:nvPr>
            <p:custDataLst>
              <p:tags r:id="rId4"/>
            </p:custDataLst>
          </p:nvPr>
        </p:nvSpPr>
        <p:spPr>
          <a:xfrm>
            <a:off x="6914097" y="1078065"/>
            <a:ext cx="1251889" cy="733064"/>
          </a:xfrm>
          <a:prstGeom prst="rect">
            <a:avLst/>
          </a:prstGeom>
        </p:spPr>
        <p:txBody>
          <a:bodyPr vert="horz" lIns="91440" tIns="45720" rIns="91440" bIns="45720" rtlCol="0">
            <a:normAutofit fontScale="92500"/>
          </a:bodyPr>
          <a:lstStyle>
            <a:lvl1pPr marL="228600" indent="-228600" algn="l" defTabSz="914400" rtl="0" eaLnBrk="1" latinLnBrk="0" hangingPunct="1">
              <a:lnSpc>
                <a:spcPct val="120000"/>
              </a:lnSpc>
              <a:spcBef>
                <a:spcPts val="1000"/>
              </a:spcBef>
              <a:buSzPct val="125000"/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Font typeface="Arial" panose="020B0604020202020204" pitchFamily="34" charset="0"/>
              <a:buNone/>
            </a:pPr>
            <a:r>
              <a:rPr lang="en-US" b="1" i="1" u="sng" dirty="0" err="1">
                <a:latin typeface="Arial" panose="020B0604020202020204" pitchFamily="34" charset="0"/>
                <a:cs typeface="Arial" panose="020B0604020202020204" pitchFamily="34" charset="0"/>
              </a:rPr>
              <a:t>Wordle</a:t>
            </a:r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:</a:t>
            </a:r>
          </a:p>
        </p:txBody>
      </p:sp>
      <p:graphicFrame>
        <p:nvGraphicFramePr>
          <p:cNvPr id="9" name="Table 8">
            <a:extLst>
              <a:ext uri="{FF2B5EF4-FFF2-40B4-BE49-F238E27FC236}">
                <a16:creationId xmlns:a16="http://schemas.microsoft.com/office/drawing/2014/main" id="{26D59FFC-9847-3D4A-A64C-B398DB590DB1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029766422"/>
              </p:ext>
            </p:extLst>
          </p:nvPr>
        </p:nvGraphicFramePr>
        <p:xfrm>
          <a:off x="8062617" y="1002659"/>
          <a:ext cx="2751151" cy="7416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985962">
                  <a:extLst>
                    <a:ext uri="{9D8B030D-6E8A-4147-A177-3AD203B41FA5}">
                      <a16:colId xmlns:a16="http://schemas.microsoft.com/office/drawing/2014/main" val="659906099"/>
                    </a:ext>
                  </a:extLst>
                </a:gridCol>
                <a:gridCol w="811033">
                  <a:extLst>
                    <a:ext uri="{9D8B030D-6E8A-4147-A177-3AD203B41FA5}">
                      <a16:colId xmlns:a16="http://schemas.microsoft.com/office/drawing/2014/main" val="2842208557"/>
                    </a:ext>
                  </a:extLst>
                </a:gridCol>
                <a:gridCol w="954156">
                  <a:extLst>
                    <a:ext uri="{9D8B030D-6E8A-4147-A177-3AD203B41FA5}">
                      <a16:colId xmlns:a16="http://schemas.microsoft.com/office/drawing/2014/main" val="2881465603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b="1" i="0" u="none" dirty="0"/>
                        <a:t>Success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b="1" i="0" u="none" dirty="0"/>
                        <a:t>Total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b="1" i="0" u="none" dirty="0"/>
                        <a:t>%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8638146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i="0" dirty="0"/>
                        <a:t>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i="0" dirty="0"/>
                        <a:t>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b="1" i="0" dirty="0"/>
                        <a:t>100%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437585930"/>
                  </a:ext>
                </a:extLst>
              </a:tr>
            </a:tbl>
          </a:graphicData>
        </a:graphic>
      </p:graphicFrame>
      <p:sp>
        <p:nvSpPr>
          <p:cNvPr id="4" name="Rectangle 3">
            <a:extLst>
              <a:ext uri="{FF2B5EF4-FFF2-40B4-BE49-F238E27FC236}">
                <a16:creationId xmlns:a16="http://schemas.microsoft.com/office/drawing/2014/main" id="{F261EF31-6054-E2A5-1B38-CE7F8FAA8C64}"/>
              </a:ext>
            </a:extLst>
          </p:cNvPr>
          <p:cNvSpPr txBox="1">
            <a:spLocks noChangeArrowheads="1"/>
          </p:cNvSpPr>
          <p:nvPr>
            <p:custDataLst>
              <p:tags r:id="rId5"/>
            </p:custDataLst>
          </p:nvPr>
        </p:nvSpPr>
        <p:spPr>
          <a:xfrm>
            <a:off x="1129082" y="1979295"/>
            <a:ext cx="1995777" cy="733064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120000"/>
              </a:lnSpc>
              <a:spcBef>
                <a:spcPts val="1000"/>
              </a:spcBef>
              <a:buSzPct val="125000"/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Font typeface="Arial" panose="020B0604020202020204" pitchFamily="34" charset="0"/>
              <a:buNone/>
            </a:pPr>
            <a:r>
              <a:rPr lang="en-US" b="1" i="1" u="sng" dirty="0">
                <a:latin typeface="Arial" panose="020B0604020202020204" pitchFamily="34" charset="0"/>
                <a:cs typeface="Arial" panose="020B0604020202020204" pitchFamily="34" charset="0"/>
              </a:rPr>
              <a:t>11:00 </a:t>
            </a:r>
            <a:r>
              <a:rPr lang="en-US" b="1" i="1" u="sng" dirty="0" err="1">
                <a:latin typeface="Arial" panose="020B0604020202020204" pitchFamily="34" charset="0"/>
                <a:cs typeface="Arial" panose="020B0604020202020204" pitchFamily="34" charset="0"/>
              </a:rPr>
              <a:t>Att</a:t>
            </a:r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:</a:t>
            </a:r>
          </a:p>
        </p:txBody>
      </p:sp>
      <p:graphicFrame>
        <p:nvGraphicFramePr>
          <p:cNvPr id="6" name="Table 5">
            <a:extLst>
              <a:ext uri="{FF2B5EF4-FFF2-40B4-BE49-F238E27FC236}">
                <a16:creationId xmlns:a16="http://schemas.microsoft.com/office/drawing/2014/main" id="{60053670-A7F1-B4AB-DDE6-53F76EEC6864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742533954"/>
              </p:ext>
            </p:extLst>
          </p:nvPr>
        </p:nvGraphicFramePr>
        <p:xfrm>
          <a:off x="3053295" y="1903889"/>
          <a:ext cx="3291843" cy="7416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574358">
                  <a:extLst>
                    <a:ext uri="{9D8B030D-6E8A-4147-A177-3AD203B41FA5}">
                      <a16:colId xmlns:a16="http://schemas.microsoft.com/office/drawing/2014/main" val="659906099"/>
                    </a:ext>
                  </a:extLst>
                </a:gridCol>
                <a:gridCol w="787180">
                  <a:extLst>
                    <a:ext uri="{9D8B030D-6E8A-4147-A177-3AD203B41FA5}">
                      <a16:colId xmlns:a16="http://schemas.microsoft.com/office/drawing/2014/main" val="2842208557"/>
                    </a:ext>
                  </a:extLst>
                </a:gridCol>
                <a:gridCol w="930305">
                  <a:extLst>
                    <a:ext uri="{9D8B030D-6E8A-4147-A177-3AD203B41FA5}">
                      <a16:colId xmlns:a16="http://schemas.microsoft.com/office/drawing/2014/main" val="2881465603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b="1" i="0" u="none" dirty="0"/>
                        <a:t>Above 50 %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b="1" i="0" u="none" dirty="0"/>
                        <a:t>Total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b="1" i="0" u="none" dirty="0"/>
                        <a:t>%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8638146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i="0" dirty="0"/>
                        <a:t>15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i="0" dirty="0"/>
                        <a:t>15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b="1" i="0" dirty="0"/>
                        <a:t>100%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437585930"/>
                  </a:ext>
                </a:extLst>
              </a:tr>
            </a:tbl>
          </a:graphicData>
        </a:graphic>
      </p:graphicFrame>
      <p:sp>
        <p:nvSpPr>
          <p:cNvPr id="7" name="Rectangle 3">
            <a:extLst>
              <a:ext uri="{FF2B5EF4-FFF2-40B4-BE49-F238E27FC236}">
                <a16:creationId xmlns:a16="http://schemas.microsoft.com/office/drawing/2014/main" id="{43CE6A2D-8C72-768E-6CFF-93DD583C6C20}"/>
              </a:ext>
            </a:extLst>
          </p:cNvPr>
          <p:cNvSpPr txBox="1">
            <a:spLocks noChangeArrowheads="1"/>
          </p:cNvSpPr>
          <p:nvPr>
            <p:custDataLst>
              <p:tags r:id="rId6"/>
            </p:custDataLst>
          </p:nvPr>
        </p:nvSpPr>
        <p:spPr>
          <a:xfrm>
            <a:off x="6787301" y="1994037"/>
            <a:ext cx="1436816" cy="733064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120000"/>
              </a:lnSpc>
              <a:spcBef>
                <a:spcPts val="1000"/>
              </a:spcBef>
              <a:buSzPct val="125000"/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Font typeface="Arial" panose="020B0604020202020204" pitchFamily="34" charset="0"/>
              <a:buNone/>
            </a:pPr>
            <a:r>
              <a:rPr lang="en-US" sz="1400" b="1" i="1" u="sng" dirty="0">
                <a:latin typeface="Arial" panose="020B0604020202020204" pitchFamily="34" charset="0"/>
                <a:cs typeface="Arial" panose="020B0604020202020204" pitchFamily="34" charset="0"/>
              </a:rPr>
              <a:t>Connections</a:t>
            </a:r>
            <a:r>
              <a:rPr lang="en-US" sz="1400" dirty="0">
                <a:latin typeface="Arial" panose="020B0604020202020204" pitchFamily="34" charset="0"/>
                <a:cs typeface="Arial" panose="020B0604020202020204" pitchFamily="34" charset="0"/>
              </a:rPr>
              <a:t>:</a:t>
            </a:r>
          </a:p>
        </p:txBody>
      </p:sp>
      <p:graphicFrame>
        <p:nvGraphicFramePr>
          <p:cNvPr id="10" name="Table 9">
            <a:extLst>
              <a:ext uri="{FF2B5EF4-FFF2-40B4-BE49-F238E27FC236}">
                <a16:creationId xmlns:a16="http://schemas.microsoft.com/office/drawing/2014/main" id="{39CEB34F-A4E3-4330-CEB1-A4F0D4DE6DA6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935608766"/>
              </p:ext>
            </p:extLst>
          </p:nvPr>
        </p:nvGraphicFramePr>
        <p:xfrm>
          <a:off x="8054758" y="1918631"/>
          <a:ext cx="2751151" cy="7416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985962">
                  <a:extLst>
                    <a:ext uri="{9D8B030D-6E8A-4147-A177-3AD203B41FA5}">
                      <a16:colId xmlns:a16="http://schemas.microsoft.com/office/drawing/2014/main" val="659906099"/>
                    </a:ext>
                  </a:extLst>
                </a:gridCol>
                <a:gridCol w="811033">
                  <a:extLst>
                    <a:ext uri="{9D8B030D-6E8A-4147-A177-3AD203B41FA5}">
                      <a16:colId xmlns:a16="http://schemas.microsoft.com/office/drawing/2014/main" val="2842208557"/>
                    </a:ext>
                  </a:extLst>
                </a:gridCol>
                <a:gridCol w="954156">
                  <a:extLst>
                    <a:ext uri="{9D8B030D-6E8A-4147-A177-3AD203B41FA5}">
                      <a16:colId xmlns:a16="http://schemas.microsoft.com/office/drawing/2014/main" val="2881465603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b="1" i="0" u="none" dirty="0"/>
                        <a:t>Success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b="1" i="0" u="none" dirty="0"/>
                        <a:t>Total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b="1" i="0" u="none" dirty="0"/>
                        <a:t>%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8638146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i="0" dirty="0"/>
                        <a:t>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i="0" dirty="0"/>
                        <a:t>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b="1" i="0" dirty="0"/>
                        <a:t>100%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437585930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748716362"/>
      </p:ext>
    </p:extLst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INSTRUCTOR VIEW19C14C36-AC8E-43BC-9DB6-C2AAF774C7DC|PANE__TAG" val="_"/>
</p:tagLst>
</file>

<file path=ppt/tags/tag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INSTRUCTOR VIEW19C14C36-AC8E-43BC-9DB6-C2AAF774C7DC|PANE__TAG" val="_"/>
</p:tagLst>
</file>

<file path=ppt/tags/tag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INSTRUCTOR VIEW19C14C36-AC8E-43BC-9DB6-C2AAF774C7DC|PANE__TAG" val="_"/>
</p:tagLst>
</file>

<file path=ppt/tags/tag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INSTRUCTOR VIEW19C14C36-AC8E-43BC-9DB6-C2AAF774C7DC|PANE__TAG" val="_"/>
</p:tagLst>
</file>

<file path=ppt/tags/tag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INSTRUCTOR VIEW19C14C36-AC8E-43BC-9DB6-C2AAF774C7DC|PANE__TAG" val="_"/>
</p:tagLst>
</file>

<file path=ppt/tags/tag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INSTRUCTOR VIEW19C14C36-AC8E-43BC-9DB6-C2AAF774C7DC|PANE__TAG" val="_"/>
</p:tagLst>
</file>

<file path=ppt/tags/tag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INSTRUCTOR VIEW19C14C36-AC8E-43BC-9DB6-C2AAF774C7DC|PANE__TAG" val="_"/>
</p:tagLst>
</file>

<file path=ppt/tags/tag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INSTRUCTOR VIEW19C14C36-AC8E-43BC-9DB6-C2AAF774C7DC|PANE__TAG" val="_"/>
</p:tagLst>
</file>

<file path=ppt/tags/tag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INSTRUCTOR VIEW19C14C36-AC8E-43BC-9DB6-C2AAF774C7DC|PANE__TAG" val="_"/>
</p:tagLst>
</file>

<file path=ppt/tags/tag1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INSTRUCTOR VIEW19C14C36-AC8E-43BC-9DB6-C2AAF774C7DC|PANE__TAG" val="_"/>
</p:tagLst>
</file>

<file path=ppt/tags/tag1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INSTRUCTOR VIEW19C14C36-AC8E-43BC-9DB6-C2AAF774C7DC|PANE__TAG" val="_"/>
</p:tagLst>
</file>

<file path=ppt/tags/tag1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INSTRUCTOR VIEW19C14C36-AC8E-43BC-9DB6-C2AAF774C7DC|PANE__TAG" val="_"/>
</p:tagLst>
</file>

<file path=ppt/tags/tag1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INSTRUCTOR VIEW19C14C36-AC8E-43BC-9DB6-C2AAF774C7DC|PANE__TAG" val="_"/>
</p:tagLst>
</file>

<file path=ppt/tags/tag1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INSTRUCTOR VIEW19C14C36-AC8E-43BC-9DB6-C2AAF774C7DC|PANE__TAG" val="_"/>
</p:tagLst>
</file>

<file path=ppt/tags/tag1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INSTRUCTOR VIEW19C14C36-AC8E-43BC-9DB6-C2AAF774C7DC|PANE__TAG" val="_"/>
</p:tagLst>
</file>

<file path=ppt/tags/tag1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INSTRUCTOR VIEW19C14C36-AC8E-43BC-9DB6-C2AAF774C7DC|PANE__TAG" val="_"/>
</p:tagLst>
</file>

<file path=ppt/tags/tag1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INSTRUCTOR VIEW19C14C36-AC8E-43BC-9DB6-C2AAF774C7DC|PANE__TAG" val="_"/>
</p:tagLst>
</file>

<file path=ppt/tags/tag1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INSTRUCTOR VIEW19C14C36-AC8E-43BC-9DB6-C2AAF774C7DC|PANE__TAG" val="_"/>
</p:tagLst>
</file>

<file path=ppt/tags/tag1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INSTRUCTOR VIEW19C14C36-AC8E-43BC-9DB6-C2AAF774C7DC|PANE__TAG" val="_"/>
</p:tagLst>
</file>

<file path=ppt/tags/tag2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INSTRUCTOR VIEW19C14C36-AC8E-43BC-9DB6-C2AAF774C7DC|PANE__TAG" val="_"/>
</p:tagLst>
</file>

<file path=ppt/tags/tag2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INSTRUCTOR VIEW19C14C36-AC8E-43BC-9DB6-C2AAF774C7DC|PANE__TAG" val="_"/>
</p:tagLst>
</file>

<file path=ppt/tags/tag2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INSTRUCTOR VIEW19C14C36-AC8E-43BC-9DB6-C2AAF774C7DC|PANE__TAG" val="_"/>
</p:tagLst>
</file>

<file path=ppt/tags/tag2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INSTRUCTOR VIEW19C14C36-AC8E-43BC-9DB6-C2AAF774C7DC|PANE__TAG" val="_"/>
</p:tagLst>
</file>

<file path=ppt/tags/tag2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INSTRUCTOR VIEW19C14C36-AC8E-43BC-9DB6-C2AAF774C7DC|PANE__TAG" val="_"/>
</p:tagLst>
</file>

<file path=ppt/tags/tag2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INSTRUCTOR VIEW19C14C36-AC8E-43BC-9DB6-C2AAF774C7DC|PANE__TAG" val="_"/>
</p:tagLst>
</file>

<file path=ppt/tags/tag2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INSTRUCTOR VIEW19C14C36-AC8E-43BC-9DB6-C2AAF774C7DC|PANE__TAG" val="_"/>
</p:tagLst>
</file>

<file path=ppt/tags/tag2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INSTRUCTOR VIEW19C14C36-AC8E-43BC-9DB6-C2AAF774C7DC|PANE__TAG" val="_"/>
</p:tagLst>
</file>

<file path=ppt/tags/tag2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INSTRUCTOR VIEW19C14C36-AC8E-43BC-9DB6-C2AAF774C7DC|PANE__TAG" val="_"/>
</p:tagLst>
</file>

<file path=ppt/tags/tag2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INSTRUCTOR VIEW19C14C36-AC8E-43BC-9DB6-C2AAF774C7DC|PANE__TAG" val="_"/>
</p:tagLst>
</file>

<file path=ppt/tags/tag3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INSTRUCTOR VIEW19C14C36-AC8E-43BC-9DB6-C2AAF774C7DC|PANE__TAG" val="_"/>
</p:tagLst>
</file>

<file path=ppt/tags/tag3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INSTRUCTOR VIEW19C14C36-AC8E-43BC-9DB6-C2AAF774C7DC|PANE__TAG" val="_"/>
</p:tagLst>
</file>

<file path=ppt/tags/tag3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INSTRUCTOR VIEW19C14C36-AC8E-43BC-9DB6-C2AAF774C7DC|PANE__TAG" val="_"/>
</p:tagLst>
</file>

<file path=ppt/tags/tag3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INSTRUCTOR VIEW19C14C36-AC8E-43BC-9DB6-C2AAF774C7DC|PANE__TAG" val="_"/>
</p:tagLst>
</file>

<file path=ppt/tags/tag3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INSTRUCTOR VIEW19C14C36-AC8E-43BC-9DB6-C2AAF774C7DC|PANE__TAG" val="_"/>
</p:tagLst>
</file>

<file path=ppt/tags/tag3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INSTRUCTOR VIEW19C14C36-AC8E-43BC-9DB6-C2AAF774C7DC|PANE__TAG" val="_"/>
</p:tagLst>
</file>

<file path=ppt/tags/tag3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INSTRUCTOR VIEW19C14C36-AC8E-43BC-9DB6-C2AAF774C7DC|PANE__TAG" val="_"/>
</p:tagLst>
</file>

<file path=ppt/tags/tag3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INSTRUCTOR VIEW19C14C36-AC8E-43BC-9DB6-C2AAF774C7DC|PANE__TAG" val="_"/>
</p:tagLst>
</file>

<file path=ppt/tags/tag3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INSTRUCTOR VIEW19C14C36-AC8E-43BC-9DB6-C2AAF774C7DC|PANE__TAG" val="_"/>
</p:tagLst>
</file>

<file path=ppt/tags/tag3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INSTRUCTOR VIEW19C14C36-AC8E-43BC-9DB6-C2AAF774C7DC|PANE__TAG" val="_"/>
</p:tagLst>
</file>

<file path=ppt/tags/tag4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INSTRUCTOR VIEW19C14C36-AC8E-43BC-9DB6-C2AAF774C7DC|PANE__TAG" val="_"/>
</p:tagLst>
</file>

<file path=ppt/tags/tag4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INSTRUCTOR VIEW19C14C36-AC8E-43BC-9DB6-C2AAF774C7DC|PANE__TAG" val="_"/>
</p:tagLst>
</file>

<file path=ppt/tags/tag4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INSTRUCTOR VIEW19C14C36-AC8E-43BC-9DB6-C2AAF774C7DC|PANE__TAG" val="_"/>
</p:tagLst>
</file>

<file path=ppt/tags/tag4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INSTRUCTOR VIEW19C14C36-AC8E-43BC-9DB6-C2AAF774C7DC|PANE__TAG" val="_"/>
</p:tagLst>
</file>

<file path=ppt/tags/tag4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INSTRUCTOR VIEW19C14C36-AC8E-43BC-9DB6-C2AAF774C7DC|PANE__TAG" val="_"/>
</p:tagLst>
</file>

<file path=ppt/tags/tag4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INSTRUCTOR VIEW19C14C36-AC8E-43BC-9DB6-C2AAF774C7DC|PANE__TAG" val="_"/>
</p:tagLst>
</file>

<file path=ppt/tags/tag4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INSTRUCTOR VIEW19C14C36-AC8E-43BC-9DB6-C2AAF774C7DC|PANE__TAG" val="_"/>
</p:tagLst>
</file>

<file path=ppt/theme/_rels/them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1.jpeg"/></Relationships>
</file>

<file path=ppt/theme/theme1.xml><?xml version="1.0" encoding="utf-8"?>
<a:theme xmlns:a="http://schemas.openxmlformats.org/drawingml/2006/main" name="Circuit">
  <a:themeElements>
    <a:clrScheme name="Circuit">
      <a:dk1>
        <a:sysClr val="windowText" lastClr="000000"/>
      </a:dk1>
      <a:lt1>
        <a:sysClr val="window" lastClr="FFFFFF"/>
      </a:lt1>
      <a:dk2>
        <a:srgbClr val="252C36"/>
      </a:dk2>
      <a:lt2>
        <a:srgbClr val="7C96A3"/>
      </a:lt2>
      <a:accent1>
        <a:srgbClr val="4FD093"/>
      </a:accent1>
      <a:accent2>
        <a:srgbClr val="54BCDF"/>
      </a:accent2>
      <a:accent3>
        <a:srgbClr val="A262D0"/>
      </a:accent3>
      <a:accent4>
        <a:srgbClr val="D7537B"/>
      </a:accent4>
      <a:accent5>
        <a:srgbClr val="E78045"/>
      </a:accent5>
      <a:accent6>
        <a:srgbClr val="84C350"/>
      </a:accent6>
      <a:hlink>
        <a:srgbClr val="22FFFF"/>
      </a:hlink>
      <a:folHlink>
        <a:srgbClr val="9BF3FD"/>
      </a:folHlink>
    </a:clrScheme>
    <a:fontScheme name="Circuit">
      <a:majorFont>
        <a:latin typeface="Tw Cen MT" panose="020B0602020104020603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Tw Cen MT" panose="020B0602020104020603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Circuit">
      <a:fillStyleLst>
        <a:solidFill>
          <a:schemeClr val="phClr"/>
        </a:solidFill>
        <a:gradFill rotWithShape="1">
          <a:gsLst>
            <a:gs pos="0">
              <a:schemeClr val="phClr">
                <a:tint val="58000"/>
                <a:satMod val="108000"/>
                <a:lumMod val="110000"/>
              </a:schemeClr>
            </a:gs>
            <a:gs pos="100000">
              <a:schemeClr val="phClr">
                <a:tint val="81000"/>
                <a:satMod val="109000"/>
                <a:lumMod val="105000"/>
              </a:schemeClr>
            </a:gs>
          </a:gsLst>
          <a:lin ang="5040000" scaled="0"/>
        </a:gradFill>
        <a:gradFill rotWithShape="1">
          <a:gsLst>
            <a:gs pos="0">
              <a:schemeClr val="phClr">
                <a:tint val="94000"/>
                <a:satMod val="105000"/>
                <a:lumMod val="102000"/>
              </a:schemeClr>
            </a:gs>
            <a:gs pos="100000">
              <a:schemeClr val="phClr">
                <a:shade val="74000"/>
                <a:satMod val="128000"/>
                <a:lumMod val="100000"/>
              </a:schemeClr>
            </a:gs>
          </a:gsLst>
          <a:lin ang="5400000" scaled="0"/>
        </a:gradFill>
      </a:fillStyleLst>
      <a:lnStyleLst>
        <a:ln w="9525" cap="flat" cmpd="sng" algn="ctr">
          <a:solidFill>
            <a:schemeClr val="phClr"/>
          </a:solidFill>
          <a:prstDash val="solid"/>
        </a:ln>
        <a:ln w="15875" cap="flat" cmpd="sng" algn="ctr">
          <a:solidFill>
            <a:schemeClr val="phClr"/>
          </a:solidFill>
          <a:prstDash val="solid"/>
        </a:ln>
        <a:ln w="22225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98000"/>
                <a:hueMod val="94000"/>
                <a:satMod val="148000"/>
                <a:lumMod val="140000"/>
              </a:schemeClr>
            </a:gs>
            <a:gs pos="100000">
              <a:schemeClr val="phClr">
                <a:shade val="92000"/>
                <a:hueMod val="104000"/>
                <a:satMod val="140000"/>
                <a:lumMod val="48000"/>
              </a:schemeClr>
            </a:gs>
          </a:gsLst>
          <a:lin ang="5040000" scaled="0"/>
        </a:gradFill>
        <a:blipFill>
          <a:blip xmlns:r="http://schemas.openxmlformats.org/officeDocument/2006/relationships" r:embed="rId1">
            <a:duotone>
              <a:schemeClr val="phClr">
                <a:shade val="48000"/>
                <a:hueMod val="106000"/>
                <a:satMod val="140000"/>
                <a:lumMod val="42000"/>
              </a:schemeClr>
              <a:schemeClr val="phClr">
                <a:tint val="98000"/>
                <a:hueMod val="92000"/>
                <a:satMod val="220000"/>
                <a:lumMod val="90000"/>
              </a:schemeClr>
            </a:duotone>
          </a:blip>
          <a:stretch/>
        </a:blip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Circuit" id="{0AC2F7E7-15F5-431C-B2A2-456FE929F56C}" vid="{142578CA-DEC9-49C3-80AF-C113973CC9A9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{78731ABC-CB82-E74D-A429-13D3326A7E5D}tf10001122</Template>
  <TotalTime>26684</TotalTime>
  <Words>3237</Words>
  <Application>Microsoft Macintosh PowerPoint</Application>
  <PresentationFormat>Widescreen</PresentationFormat>
  <Paragraphs>358</Paragraphs>
  <Slides>22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22</vt:i4>
      </vt:variant>
    </vt:vector>
  </HeadingPairs>
  <TitlesOfParts>
    <vt:vector size="26" baseType="lpstr">
      <vt:lpstr>Arial</vt:lpstr>
      <vt:lpstr>Calibri</vt:lpstr>
      <vt:lpstr>Tw Cen MT</vt:lpstr>
      <vt:lpstr>Circuit</vt:lpstr>
      <vt:lpstr>CS3120 (DMT2) Daily Announcements</vt:lpstr>
      <vt:lpstr>Lecture 2 - Thursday, Aug. 27</vt:lpstr>
      <vt:lpstr>Lecture 3 - Tuesday, Sep. 1</vt:lpstr>
      <vt:lpstr>Lecture 4 - Thursday, Sep. 3</vt:lpstr>
      <vt:lpstr>Lecture 5 - Tuesday, Sep. 8</vt:lpstr>
      <vt:lpstr>Lecture 6 - Thursday, Sep. 10</vt:lpstr>
      <vt:lpstr>Lecture 7 - Tuesday, Sep. 15</vt:lpstr>
      <vt:lpstr>Quiz 1 – Question Summary</vt:lpstr>
      <vt:lpstr>Lecture 8 - Thursday, Sep. 17</vt:lpstr>
      <vt:lpstr>Quiz 1 – Question Summary</vt:lpstr>
      <vt:lpstr>Lecture 9 - Tuesday, Sep. 22</vt:lpstr>
      <vt:lpstr>Lecture 10 - Thursday, Sep. 24</vt:lpstr>
      <vt:lpstr>Lecture 11 - Tuesday, Sep. 28</vt:lpstr>
      <vt:lpstr>Lecture 12 - Thursday, Oct. 1</vt:lpstr>
      <vt:lpstr>Quiz 2 – Question Summary</vt:lpstr>
      <vt:lpstr>Lecture 13 - Thursday, Oct. 7</vt:lpstr>
      <vt:lpstr>Quiz 2 – Question Summary</vt:lpstr>
      <vt:lpstr>Lecture 14 - Tuesday, Oct. 13</vt:lpstr>
      <vt:lpstr>Lecture 15 - Thursday, Oct. 15</vt:lpstr>
      <vt:lpstr>Lecture 16 - Tuesday, Oct. 20</vt:lpstr>
      <vt:lpstr>Lecture 17 - Thursday, Oct. 22</vt:lpstr>
      <vt:lpstr>Status of Attendance Grade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Linear Programming</dc:title>
  <dc:creator>Mark Floryan</dc:creator>
  <cp:lastModifiedBy>Floryan, Mark Richard (mrf8t)</cp:lastModifiedBy>
  <cp:revision>383</cp:revision>
  <dcterms:created xsi:type="dcterms:W3CDTF">2023-02-24T14:15:53Z</dcterms:created>
  <dcterms:modified xsi:type="dcterms:W3CDTF">2026-10-22T13:03:45Z</dcterms:modified>
</cp:coreProperties>
</file>