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18"/>
  </p:notesMasterIdLst>
  <p:sldIdLst>
    <p:sldId id="256" r:id="rId2"/>
    <p:sldId id="505" r:id="rId3"/>
    <p:sldId id="516" r:id="rId4"/>
    <p:sldId id="517" r:id="rId5"/>
    <p:sldId id="518" r:id="rId6"/>
    <p:sldId id="519" r:id="rId7"/>
    <p:sldId id="520" r:id="rId8"/>
    <p:sldId id="521" r:id="rId9"/>
    <p:sldId id="522" r:id="rId10"/>
    <p:sldId id="523" r:id="rId11"/>
    <p:sldId id="524" r:id="rId12"/>
    <p:sldId id="525" r:id="rId13"/>
    <p:sldId id="526" r:id="rId14"/>
    <p:sldId id="527" r:id="rId15"/>
    <p:sldId id="528" r:id="rId16"/>
    <p:sldId id="515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51"/>
    <p:restoredTop sz="94223"/>
  </p:normalViewPr>
  <p:slideViewPr>
    <p:cSldViewPr snapToGrid="0" snapToObjects="1">
      <p:cViewPr varScale="1">
        <p:scale>
          <a:sx n="154" d="100"/>
          <a:sy n="154" d="100"/>
        </p:scale>
        <p:origin x="216" y="6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8/4/26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313F670-7F9A-774D-B73D-573401E44297}" type="datetime1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DFB37-B0AE-9449-85EC-14F9C83B6084}" type="datetime1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124A-616E-6944-A21A-1839F5DBE7BB}" type="datetime1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9A026-D48C-FD43-8676-CD625DD5D84B}" type="datetime1">
              <a:rPr lang="en-US" smtClean="0"/>
              <a:t>8/4/26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111E-23A3-1440-99A3-C4C665908E3D}" type="datetime1">
              <a:rPr lang="en-US" smtClean="0"/>
              <a:t>8/4/26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983B9-88EF-D74B-BA6D-6A3BF17C2B38}" type="datetime1">
              <a:rPr lang="en-US" smtClean="0"/>
              <a:t>8/4/26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00AEF-B4EC-084A-8DB8-A225C7981CBB}" type="datetime1">
              <a:rPr lang="en-US" smtClean="0"/>
              <a:t>8/4/26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60299-21CD-A94A-A7B0-44E787F8D42C}" type="datetime1">
              <a:rPr lang="en-US" smtClean="0"/>
              <a:t>8/4/26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D19CF-4E62-D246-BA61-7B528271315F}" type="datetime1">
              <a:rPr lang="en-US" smtClean="0"/>
              <a:t>8/4/26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F9669-A8A7-2D40-9D01-B35FC337AA30}" type="datetime1">
              <a:rPr lang="en-US" smtClean="0"/>
              <a:t>8/4/26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6CF18-F41B-6B48-B3E5-599E9795C2C3}" type="datetime1">
              <a:rPr lang="en-US" smtClean="0"/>
              <a:t>8/4/26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54854-6457-164F-A077-6B3035079B82}" type="datetime1">
              <a:rPr lang="en-US" smtClean="0"/>
              <a:t>8/4/26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DBFD7-E611-8C40-AC73-0C29FF63F0CD}" type="datetime1">
              <a:rPr lang="en-US" smtClean="0"/>
              <a:t>8/4/26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B06-0493-2840-9F37-30C9412BBF17}" type="datetime1">
              <a:rPr lang="en-US" smtClean="0"/>
              <a:t>8/4/26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C0FA-8C46-E84D-B6D7-B673F2CA0A0E}" type="datetime1">
              <a:rPr lang="en-US" smtClean="0"/>
              <a:t>8/4/26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9CDE1-97B4-BF46-B69C-B86855B18820}" type="datetime1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1D3A4-F9E5-FD49-AA87-B395F50451DC}" type="datetime1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FF8978-FE14-CC4A-93A6-934EB06543C0}" type="datetime1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8.xml"/><Relationship Id="rId1" Type="http://schemas.openxmlformats.org/officeDocument/2006/relationships/tags" Target="../tags/tag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0.xml"/><Relationship Id="rId1" Type="http://schemas.openxmlformats.org/officeDocument/2006/relationships/tags" Target="../tags/tag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2.xml"/><Relationship Id="rId1" Type="http://schemas.openxmlformats.org/officeDocument/2006/relationships/tags" Target="../tags/tag2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4.xml"/><Relationship Id="rId1" Type="http://schemas.openxmlformats.org/officeDocument/2006/relationships/tags" Target="../tags/tag2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6.xml"/><Relationship Id="rId1" Type="http://schemas.openxmlformats.org/officeDocument/2006/relationships/tags" Target="../tags/tag2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8.xml"/><Relationship Id="rId1" Type="http://schemas.openxmlformats.org/officeDocument/2006/relationships/tags" Target="../tags/tag2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tags" Target="../tags/tag29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33.xml"/><Relationship Id="rId4" Type="http://schemas.openxmlformats.org/officeDocument/2006/relationships/tags" Target="../tags/tag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CS3120 (DMT2)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Tuesday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Tomorrow evening (Wednesday)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day extension if you really need it but you really should try not to use it for this one.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I’ll start properly taking attendance today.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finish our warm-up / module 0 material today and hopefully begin module 1 (where the class REALLY begins)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32411-328E-66E8-E6F4-EF539979C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6CDF740-7CD2-4A8A-F4A5-5B9BBC68854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Wednesday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9392D12-A499-BDA8-BD1E-87BBE9A531A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Tonight! (Wednesday)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day extension if you really need it but you really should try not to use it for this one.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begin module 1 today (the real class begins).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will likely take us at least the rest of this week to get through.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2553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DD5C3-86C3-C7EE-D5BD-294A52F15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53FBB78A-EE2B-4915-3BB5-0642F7776F8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Thursday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96409BF-2B2C-9B95-39C5-A3B9EEEF888A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was due last night! (Wednesday)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How’d it go?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day extension if you really need it but you really should try not to use it for this one.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continue module 1 today.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will likely take us at least the rest of this week to get through.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72149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3EF14-B052-5E3A-8D08-B0118A24F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15323A48-AB50-B349-6F02-2114F4A6D31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Friday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B9696856-70BF-C0BE-54A8-02E39A481C9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End of week 1!!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in extension period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How’d it go?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Written HW is due next Tuesday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probably finish the module on Monday but you can get started over the weekend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Be aware there is a programming assignment due on Thursday as well!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continue module 1 today.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doubt we will finish it today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40394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60D86-CB61-694B-AA47-6AB7A1979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377F11AF-F344-C8D4-C139-9305CB2B84C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2: Monday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AB649171-4125-074F-B3EE-CC029B85A7F8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2!!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“graded”. Remember that this was a spot-check grade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Mod. 2 assignment due Tuesday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due Thursday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Midterm is on Friday (no lecture on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should finish module 1 today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8786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534A6-C91A-6236-8C47-1EE87A38E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8FA1C635-2C54-9B7E-1432-EEA3313AAA24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2: Tuesday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A2A40684-18FF-B302-48CF-E12AF1B700D6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2!!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Mod. 2 assignment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TONIGHT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due Thursday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Midterm is on Friday (no lecture on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begin Module 2! The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Context-Free Languages!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1400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C3DD8-4F8B-8749-5855-A11573B83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E24F0431-C398-C850-F3EC-F25D9C4D7F3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2: Wednesday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40F36F83-327D-A4E3-9A28-E1CB7B524CE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2!!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due Thursday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Midterm is on Friday (no lecture on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we continue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2! The Context-Free Languages!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33087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D8F547-80A0-B12F-366F-50F54D4D3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80FFDE4-28E6-0BF7-0008-3ED194373D16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2: Thursday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99F7EF8C-18CE-1D0E-479E-3E9FC7C83090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2!!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Tonight!!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Midterm is on Friday (no lecture on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I’ve decided to drop the midterm time limit to 1hr 15min.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More in line with the length of a midterm during the normal semester.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finish Module 2 and begin Module 3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09986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6F58D-69F9-3FD8-B596-684A1EE33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FE0E98E-440D-A6DC-4BB5-67CCF9090E62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3: Monday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CDEF098-3261-365D-A7B1-B2749ECA313A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3!! Halfway done with the course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(CFGs) Written Assignment Due Tuesday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Midterm on Friday (Same procedure as last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Exams are graded. I’ll go over it a bit today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Average was 17.49/29 (60.3%). Std. Deviation was 5.35/29 (18.4%).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Module 3 and the Turing Machine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49322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B1DC1-D043-BCC2-19DD-FAAB1A48F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F890841-263F-5C8C-2DFD-FC060A248FCA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3: Tuesday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4BA29AE7-1631-7B6D-8956-0225A60DB4E2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3!! Halfway done with the course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(CFGs) Written Assignment Due </a:t>
            </a:r>
            <a:r>
              <a:rPr lang="en-US" b="1" i="1" dirty="0">
                <a:latin typeface="Arial" panose="020B0604020202020204" pitchFamily="34" charset="0"/>
                <a:cs typeface="Arial" panose="020B0604020202020204" pitchFamily="34" charset="0"/>
              </a:rPr>
              <a:t>TONIGHT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Midterm on Friday (Same procedure as last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Exams are graded. I’ll go over it a bit today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Average was 17.49/29 (60.3%). Std. Deviation was 5.35/29 (18.4%).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Module 3 and the Turing Machine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62937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35108-5DE0-F56C-A093-6B9881249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F0084C3-7F85-DE07-9B8B-D0EB83CD271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3: Wednesday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D0298A0A-9001-9A51-0658-572427FE3EF4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Week 3 going strong!! More than halfway done with the course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(CFGs) Written Assignment Due </a:t>
            </a:r>
            <a:r>
              <a:rPr lang="en-US" b="1" i="1" dirty="0">
                <a:latin typeface="Arial" panose="020B0604020202020204" pitchFamily="34" charset="0"/>
                <a:cs typeface="Arial" panose="020B0604020202020204" pitchFamily="34" charset="0"/>
              </a:rPr>
              <a:t>Yesterday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Midterm on Friday (Same procedure as last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Exams are graded. Swing by OH if you want/need to discuss.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Average was 17.49/29 (60.3%). Std. Deviation was 5.35/29 (18.4%).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(and likely finish) Module 3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06160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B8D8E0-B735-8684-FF09-D3F676BF9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233A718E-398E-54E8-A22D-9E35487F9D4D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3: Thursday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427CEE8E-A31C-8018-BDDC-F65ABA484A10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Week 3 going strong!! More than halfway done with the course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  <a:endParaRPr lang="en-US" b="1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Midterm on Friday (Same procedure as last Friday)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decided to have 2/3 module 2 material, only 1/3 module 3.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won’t be able to hold my OH after class today (sorry!)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Another meeting came up that I cannot miss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pause and review for the exam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87161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F574A-7DD4-13AA-21AE-C41D6DC66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86E6182E-FB84-1025-DD07-D031D935218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4: Monday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93AD5080-21F1-77E4-2468-4EF17E752A9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817641"/>
          </a:xfrm>
        </p:spPr>
        <p:txBody>
          <a:bodyPr>
            <a:normAutofit fontScale="6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Final week! You got this!!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Exam is graded, we will go over it today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Average was 21.8/29 (~75%). Much better. Std. Dev. Was 6.43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  <a:endParaRPr lang="en-US" b="1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3 Written Assignment is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TONIGHT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4 Written Assignment Due THURSDAY NIGHT!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Final Exam is on Friday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4 Written Assignment.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Extension is only through Friday night (sorry) because I want to get final grades in Saturday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Final Exam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will have the full class period (10:30-12:45)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cover the entire course, with an emphasis on modules 3 (Turing Machines) and 4 (Complexity Theory)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begin the last module</a:t>
            </a:r>
          </a:p>
        </p:txBody>
      </p:sp>
    </p:spTree>
    <p:extLst>
      <p:ext uri="{BB962C8B-B14F-4D97-AF65-F5344CB8AC3E}">
        <p14:creationId xmlns:p14="http://schemas.microsoft.com/office/powerpoint/2010/main" val="29646963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5EF10-6888-E692-EC0E-E22AA95EE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CD13B91B-2499-5DD1-51FA-8147BD4394A5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4: Tuesday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3AAE769C-A2E8-39C0-5203-E8796D9F1BEE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475368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Final week! You got this!!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  <a:endParaRPr lang="en-US" b="1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3 Written Assignment was Due Yesterday!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4 Written Assignment Due THURSDAY NIGHT!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Final Exam is on Friday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4 Written Assignment.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Extension is only through Friday night (sorry) because I want to get final grades in Saturday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Final Exam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will have the full class period (10:30-12:45)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cover the entire course, with an emphasis on modules 3 (Turing Machines) and 4 (Complexity Theory)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we continue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 last module</a:t>
            </a:r>
          </a:p>
        </p:txBody>
      </p:sp>
    </p:spTree>
    <p:extLst>
      <p:ext uri="{BB962C8B-B14F-4D97-AF65-F5344CB8AC3E}">
        <p14:creationId xmlns:p14="http://schemas.microsoft.com/office/powerpoint/2010/main" val="26235734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Status of Curve Data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29082" y="1040465"/>
            <a:ext cx="1995777" cy="7330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9:30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DF2E0C1-FE2C-6A4C-AC9C-AF830C636549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200647" y="2779149"/>
            <a:ext cx="4214192" cy="687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HW On-Time 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55BF833-0DB4-B04F-B026-932C0FF8E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0329912"/>
              </p:ext>
            </p:extLst>
          </p:nvPr>
        </p:nvGraphicFramePr>
        <p:xfrm>
          <a:off x="3053295" y="96505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71.4%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EE8E84-72F1-424D-90EC-32A0B6B6C5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9840390"/>
              </p:ext>
            </p:extLst>
          </p:nvPr>
        </p:nvGraphicFramePr>
        <p:xfrm>
          <a:off x="2548834" y="3478771"/>
          <a:ext cx="7255124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461">
                  <a:extLst>
                    <a:ext uri="{9D8B030D-6E8A-4147-A177-3AD203B41FA5}">
                      <a16:colId xmlns:a16="http://schemas.microsoft.com/office/drawing/2014/main" val="3153816687"/>
                    </a:ext>
                  </a:extLst>
                </a:gridCol>
                <a:gridCol w="1582310">
                  <a:extLst>
                    <a:ext uri="{9D8B030D-6E8A-4147-A177-3AD203B41FA5}">
                      <a16:colId xmlns:a16="http://schemas.microsoft.com/office/drawing/2014/main" val="218493645"/>
                    </a:ext>
                  </a:extLst>
                </a:gridCol>
                <a:gridCol w="1661822">
                  <a:extLst>
                    <a:ext uri="{9D8B030D-6E8A-4147-A177-3AD203B41FA5}">
                      <a16:colId xmlns:a16="http://schemas.microsoft.com/office/drawing/2014/main" val="356281106"/>
                    </a:ext>
                  </a:extLst>
                </a:gridCol>
                <a:gridCol w="1709531">
                  <a:extLst>
                    <a:ext uri="{9D8B030D-6E8A-4147-A177-3AD203B41FA5}">
                      <a16:colId xmlns:a16="http://schemas.microsoft.com/office/drawing/2014/main" val="2034024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HW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On-Time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Total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1568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71.4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071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48.0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9653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2: Programming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48.3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707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3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52.5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044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4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45.5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239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/>
                        <a:t>TOTAL: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1082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53.0%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459917"/>
                  </a:ext>
                </a:extLst>
              </a:tr>
            </a:tbl>
          </a:graphicData>
        </a:graphic>
      </p:graphicFrame>
      <p:sp>
        <p:nvSpPr>
          <p:cNvPr id="8" name="Rectangle 3">
            <a:extLst>
              <a:ext uri="{FF2B5EF4-FFF2-40B4-BE49-F238E27FC236}">
                <a16:creationId xmlns:a16="http://schemas.microsoft.com/office/drawing/2014/main" id="{B978E73F-4A42-474F-AD3F-6BBF1391C7E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914097" y="1455136"/>
            <a:ext cx="1251889" cy="73306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Wordle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6D59FFC-9847-3D4A-A64C-B398DB590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1723403"/>
              </p:ext>
            </p:extLst>
          </p:nvPr>
        </p:nvGraphicFramePr>
        <p:xfrm>
          <a:off x="8062617" y="1379730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F261EF31-6054-E2A5-1B38-CE7F8FAA8C6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29082" y="1979295"/>
            <a:ext cx="1995777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3:30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0053670-A7F1-B4AB-DDE6-53F76EEC68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929332"/>
              </p:ext>
            </p:extLst>
          </p:nvPr>
        </p:nvGraphicFramePr>
        <p:xfrm>
          <a:off x="3053295" y="190388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19.0%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3FCAE82-CCB9-8659-B5FE-5D1BF385BBC8}"/>
              </a:ext>
            </a:extLst>
          </p:cNvPr>
          <p:cNvSpPr txBox="1"/>
          <p:nvPr/>
        </p:nvSpPr>
        <p:spPr>
          <a:xfrm>
            <a:off x="7156351" y="2877504"/>
            <a:ext cx="37082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Need to find updated numbers for this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D07ADA1-B890-D978-E211-014AAEC1357B}"/>
              </a:ext>
            </a:extLst>
          </p:cNvPr>
          <p:cNvCxnSpPr>
            <a:endCxn id="7" idx="1"/>
          </p:cNvCxnSpPr>
          <p:nvPr/>
        </p:nvCxnSpPr>
        <p:spPr>
          <a:xfrm>
            <a:off x="6345138" y="2712359"/>
            <a:ext cx="811213" cy="34981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87163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22424</TotalTime>
  <Words>1826</Words>
  <Application>Microsoft Macintosh PowerPoint</Application>
  <PresentationFormat>Widescreen</PresentationFormat>
  <Paragraphs>238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Tw Cen MT</vt:lpstr>
      <vt:lpstr>Circuit</vt:lpstr>
      <vt:lpstr>CS3120 (DMT2) Daily Announcements</vt:lpstr>
      <vt:lpstr>Week 1: Tuesday</vt:lpstr>
      <vt:lpstr>Week 1: Wednesday</vt:lpstr>
      <vt:lpstr>Week 1: Thursday</vt:lpstr>
      <vt:lpstr>Week 1: Friday</vt:lpstr>
      <vt:lpstr>Week 2: Monday</vt:lpstr>
      <vt:lpstr>Week 2: Tuesday</vt:lpstr>
      <vt:lpstr>Week 2: Wednesday</vt:lpstr>
      <vt:lpstr>Week 2: Thursday</vt:lpstr>
      <vt:lpstr>Week 3: Monday</vt:lpstr>
      <vt:lpstr>Week 3: Tuesday</vt:lpstr>
      <vt:lpstr>Week 3: Wednesday</vt:lpstr>
      <vt:lpstr>Week 3: Thursday</vt:lpstr>
      <vt:lpstr>Week 4: Monday</vt:lpstr>
      <vt:lpstr>Week 4: Tuesday</vt:lpstr>
      <vt:lpstr>Status of Curve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340</cp:revision>
  <dcterms:created xsi:type="dcterms:W3CDTF">2023-02-24T14:15:53Z</dcterms:created>
  <dcterms:modified xsi:type="dcterms:W3CDTF">2026-08-04T12:46:47Z</dcterms:modified>
</cp:coreProperties>
</file>