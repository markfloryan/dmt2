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20"/>
  </p:notesMasterIdLst>
  <p:sldIdLst>
    <p:sldId id="256" r:id="rId2"/>
    <p:sldId id="505" r:id="rId3"/>
    <p:sldId id="516" r:id="rId4"/>
    <p:sldId id="517" r:id="rId5"/>
    <p:sldId id="518" r:id="rId6"/>
    <p:sldId id="519" r:id="rId7"/>
    <p:sldId id="520" r:id="rId8"/>
    <p:sldId id="521" r:id="rId9"/>
    <p:sldId id="522" r:id="rId10"/>
    <p:sldId id="523" r:id="rId11"/>
    <p:sldId id="524" r:id="rId12"/>
    <p:sldId id="525" r:id="rId13"/>
    <p:sldId id="526" r:id="rId14"/>
    <p:sldId id="527" r:id="rId15"/>
    <p:sldId id="528" r:id="rId16"/>
    <p:sldId id="529" r:id="rId17"/>
    <p:sldId id="530" r:id="rId18"/>
    <p:sldId id="515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51"/>
    <p:restoredTop sz="94249"/>
  </p:normalViewPr>
  <p:slideViewPr>
    <p:cSldViewPr snapToGrid="0" snapToObjects="1">
      <p:cViewPr varScale="1">
        <p:scale>
          <a:sx n="136" d="100"/>
          <a:sy n="136" d="100"/>
        </p:scale>
        <p:origin x="912" y="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8/6/26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1BDE956-AECE-4A49-8BC2-51A8C013B72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577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4313F670-7F9A-774D-B73D-573401E44297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DFB37-B0AE-9449-85EC-14F9C83B6084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39124A-616E-6944-A21A-1839F5DBE7BB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E9A026-D48C-FD43-8676-CD625DD5D84B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35111E-23A3-1440-99A3-C4C665908E3D}" type="datetime1">
              <a:rPr lang="en-US" smtClean="0"/>
              <a:t>8/6/26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9983B9-88EF-D74B-BA6D-6A3BF17C2B38}" type="datetime1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A00AEF-B4EC-084A-8DB8-A225C7981CBB}" type="datetime1">
              <a:rPr lang="en-US" smtClean="0"/>
              <a:t>8/6/26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860299-21CD-A94A-A7B0-44E787F8D42C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D19CF-4E62-D246-BA61-7B528271315F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6F9669-A8A7-2D40-9D01-B35FC337AA30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76CF18-F41B-6B48-B3E5-599E9795C2C3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654854-6457-164F-A077-6B3035079B82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DBFD7-E611-8C40-AC73-0C29FF63F0CD}" type="datetime1">
              <a:rPr lang="en-US" smtClean="0"/>
              <a:t>8/6/26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63B06-0493-2840-9F37-30C9412BBF17}" type="datetime1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B5C0FA-8C46-E84D-B6D7-B673F2CA0A0E}" type="datetime1">
              <a:rPr lang="en-US" smtClean="0"/>
              <a:t>8/6/26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B9CDE1-97B4-BF46-B69C-B86855B18820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1D3A4-F9E5-FD49-AA87-B395F50451DC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FF8978-FE14-CC4A-93A6-934EB06543C0}" type="datetime1">
              <a:rPr lang="en-US" smtClean="0"/>
              <a:t>8/6/26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ags" Target="../tags/tag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6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.xml"/><Relationship Id="rId1" Type="http://schemas.openxmlformats.org/officeDocument/2006/relationships/tags" Target="../tags/tag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.xml"/><Relationship Id="rId1" Type="http://schemas.openxmlformats.org/officeDocument/2006/relationships/tags" Target="../tags/tag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.xml"/><Relationship Id="rId1" Type="http://schemas.openxmlformats.org/officeDocument/2006/relationships/tags" Target="../tags/tag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4.xml"/><Relationship Id="rId1" Type="http://schemas.openxmlformats.org/officeDocument/2006/relationships/tags" Target="../tags/tag1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8.xml"/><Relationship Id="rId1" Type="http://schemas.openxmlformats.org/officeDocument/2006/relationships/tags" Target="../tags/tag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0.xml"/><Relationship Id="rId1" Type="http://schemas.openxmlformats.org/officeDocument/2006/relationships/tags" Target="../tags/tag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4.xml"/><Relationship Id="rId1" Type="http://schemas.openxmlformats.org/officeDocument/2006/relationships/tags" Target="../tags/tag2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6.xml"/><Relationship Id="rId1" Type="http://schemas.openxmlformats.org/officeDocument/2006/relationships/tags" Target="../tags/tag2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8.xml"/><Relationship Id="rId1" Type="http://schemas.openxmlformats.org/officeDocument/2006/relationships/tags" Target="../tags/tag2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0.xml"/><Relationship Id="rId1" Type="http://schemas.openxmlformats.org/officeDocument/2006/relationships/tags" Target="../tags/tag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2.xml"/><Relationship Id="rId1" Type="http://schemas.openxmlformats.org/officeDocument/2006/relationships/tags" Target="../tags/tag3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tags" Target="../tags/tag3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7.xml"/><Relationship Id="rId4" Type="http://schemas.openxmlformats.org/officeDocument/2006/relationships/tags" Target="../tags/tag3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F7A2C-CECB-EA45-9A8F-28914F6ACB9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/>
            <a:r>
              <a:rPr lang="en-US" dirty="0"/>
              <a:t>CS3120 (DMT2)</a:t>
            </a:r>
            <a:br>
              <a:rPr lang="en-US" dirty="0"/>
            </a:br>
            <a:r>
              <a:rPr lang="en-US" dirty="0"/>
              <a:t>Daily Announcements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CC3BA16-EE93-B74E-A27C-2B68B596BB5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/>
            <a:r>
              <a:rPr lang="en-US" dirty="0"/>
              <a:t>Discrete Mathematics and Theory 2</a:t>
            </a:r>
            <a:br>
              <a:rPr lang="en-US" dirty="0"/>
            </a:br>
            <a:r>
              <a:rPr lang="en-US" dirty="0"/>
              <a:t>Mark Floryan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305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Tuesday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Tomorrow evening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I’ll start properly taking attendance today.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finish our warm-up / module 0 material today and hopefully begin module 1 (where the class REALLY begins)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3175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A32411-328E-66E8-E6F4-EF539979C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6CDF740-7CD2-4A8A-F4A5-5B9BBC68854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79392D12-A499-BDA8-BD1E-87BBE9A531A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due Tonight!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begin module 1 today (the real class begins).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8425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DD5C3-86C3-C7EE-D5BD-294A52F15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53FBB78A-EE2B-4915-3BB5-0642F7776F8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696409BF-2B2C-9B95-39C5-A3B9EEEF888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was due last night! (Wednesday)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3 day extension if you really need it but you really should try not to use it for this one.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It will likely take us at least the rest of this week to get through.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72149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73EF14-B052-5E3A-8D08-B0118A24F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323A48-AB50-B349-6F02-2114F4A6D311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1: Friday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B9696856-70BF-C0BE-54A8-02E39A481C9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149850"/>
          </a:xfrm>
        </p:spPr>
        <p:txBody>
          <a:bodyPr>
            <a:normAutofit fontScale="77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End of week 1!!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in extension period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How’d it go?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1 Written HW is due next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will probably finish the module on Monday but you can get started over the weekend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Be aware there is a programming assignment due on Thursday as well!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continue module 1 today.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doubt we will finish it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40394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60D86-CB61-694B-AA47-6AB7A1979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377F11AF-F344-C8D4-C139-9305CB2B84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B649171-4125-074F-B3EE-CC029B85A7F8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homework is “graded”. Remember that this was a spot-check grade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Tuesday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 should finish module 1 today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87866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A534A6-C91A-6236-8C47-1EE87A38E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FA1C635-2C54-9B7E-1432-EEA3313AAA2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A40684-18FF-B302-48CF-E12AF1B700D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Written Mod. 2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Module 2! The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Context-Free Languages!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1400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DC3DD8-4F8B-8749-5855-A11573B83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24F0431-C398-C850-F3EC-F25D9C4D7F3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0F36F83-327D-A4E3-9A28-E1CB7B524CE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Thursday evening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2! The Context-Free Languages!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3087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D8F547-80A0-B12F-366F-50F54D4D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80FFDE4-28E6-0BF7-0008-3ED194373D1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2: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9F7EF8C-18CE-1D0E-479E-3E9FC7C8309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2!!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Programming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Tonight!!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First Midterm is on Friday (no lecture on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I’ve decided to drop the midterm time limit to 1hr 15min.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More in line with the length of a midterm during the normal semester.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For this module, you watch from oldest through “Pump. Lemma + Begin Mod 3”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Module 2 and begin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0998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6F58D-69F9-3FD8-B596-684A1EE33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DFE0E98E-440D-A6DC-4BB5-67CCF9090E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8CDEF098-3261-365D-A7B1-B2749ECA313A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Tuesday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49322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B1DC1-D043-BCC2-19DD-FAAB1A48F1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AF890841-263F-5C8C-2DFD-FC060A248FC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BA29AE7-1631-7B6D-8956-0225A60DB4E2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Welcome to week 3!!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I’ll go over it a bit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Module 3 and the Turing Machine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629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035108-5DE0-F56C-A093-6B9881249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BF0084C3-7F85-DE07-9B8B-D0EB83CD271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D0298A0A-9001-9A51-0658-572427FE3EF4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Module 2 (CFGs) Written Assignment Due </a:t>
            </a:r>
            <a:r>
              <a:rPr lang="en-US" b="1" i="1" dirty="0">
                <a:latin typeface="Arial" panose="020B0604020202020204" pitchFamily="34" charset="0"/>
                <a:cs typeface="Arial" panose="020B0604020202020204" pitchFamily="34" charset="0"/>
              </a:rPr>
              <a:t>Yesterday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Exams are graded. Swing by OH if you want/need to discuss.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17.49/29 (60.3%). Std. Deviation was 5.35/29 (18.4%).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(and likely finish) Module 3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006160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B8D8E0-B735-8684-FF09-D3F676BF96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233A718E-398E-54E8-A22D-9E35487F9D4D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3: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427CEE8E-A31C-8018-BDDC-F65ABA484A10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475367"/>
          </a:xfrm>
        </p:spPr>
        <p:txBody>
          <a:bodyPr>
            <a:normAutofit fontScale="92500" lnSpcReduction="1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Week 3 going strong!! More than halfway done with the course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Second Midterm on Friday (Same procedure as last Friday)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decided to have 2/3 module 2 material, only 1/3 module 3.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won’t be able to hold my OH after class today (sorry!)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Another meeting came up that I cannot miss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pause and review for the exam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587161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DF574A-7DD4-13AA-21AE-C41D6DC66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86E6182E-FB84-1025-DD07-D031D935218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Monday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3AD5080-21F1-77E4-2468-4EF17E752A9D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8"/>
            <a:ext cx="9600522" cy="5817641"/>
          </a:xfrm>
        </p:spPr>
        <p:txBody>
          <a:bodyPr>
            <a:normAutofit fontScale="625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Exam is graded, we will go over it today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Average was 21.8/29 (~75%). Much better. Std. Dev. Was 6.43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is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begin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9646963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5EF10-6888-E692-EC0E-E22AA95EE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CD13B91B-2499-5DD1-51FA-8147BD4394A5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Tuesday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3AAE769C-A2E8-39C0-5203-E8796D9F1BEE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  <a:endParaRPr lang="en-US" b="1" i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3 Written Assignment was Due Yesterday!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</a:t>
            </a:r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we continue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2623573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AA09B-DA9F-894B-F506-51083C339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C33BCF7-B01D-80BC-4B64-D376CA2C1983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Wednesday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9F41845A-8A12-2A3F-54E8-B921FD223F8B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week! You got this!!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THURSDAY NIGHT!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on Friday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continue the last module</a:t>
            </a:r>
          </a:p>
        </p:txBody>
      </p:sp>
    </p:spTree>
    <p:extLst>
      <p:ext uri="{BB962C8B-B14F-4D97-AF65-F5344CB8AC3E}">
        <p14:creationId xmlns:p14="http://schemas.microsoft.com/office/powerpoint/2010/main" val="34145540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1A3B7-0E46-46DA-743E-0F0F408BB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15E3CEFF-4634-D587-57D8-9D6DA9ACB8F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Week 4: Thursday</a:t>
            </a:r>
          </a:p>
        </p:txBody>
      </p:sp>
      <p:sp>
        <p:nvSpPr>
          <p:cNvPr id="6147" name="Rectangle 3">
            <a:extLst>
              <a:ext uri="{FF2B5EF4-FFF2-40B4-BE49-F238E27FC236}">
                <a16:creationId xmlns:a16="http://schemas.microsoft.com/office/drawing/2014/main" id="{A262A1FE-7504-C23A-9807-32B849709643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4151" y="1098549"/>
            <a:ext cx="9600522" cy="5475368"/>
          </a:xfrm>
        </p:spPr>
        <p:txBody>
          <a:bodyPr>
            <a:normAutofit fontScale="70000" lnSpcReduction="20000"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Last Lecture Day!!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week: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 Due </a:t>
            </a: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TONIGHT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 is TOMORROW!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Mod 4 Written Assignment.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Extension is only through Friday night (sorry) because I want to get final grades in Saturday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Final Exam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You will have the full class period (10:30-12:45)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Will cover the entire course, with an emphasis on modules 3 (Turing Machines) and 4 (Complexity Theory)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Lecture recordings from last Fall are posted on Panopto on Canvas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I posted ALL the videos FYI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Please remember that I am asking for NO laptop / phones!</a:t>
            </a:r>
          </a:p>
          <a:p>
            <a:pPr lvl="1"/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This makes the learning environment better for everybody. I appreciate it!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Attendance continues today as usual.</a:t>
            </a:r>
          </a:p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Today we finish the last module and possibly review if time.</a:t>
            </a:r>
          </a:p>
        </p:txBody>
      </p:sp>
    </p:spTree>
    <p:extLst>
      <p:ext uri="{BB962C8B-B14F-4D97-AF65-F5344CB8AC3E}">
        <p14:creationId xmlns:p14="http://schemas.microsoft.com/office/powerpoint/2010/main" val="6690738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4084"/>
            <a:ext cx="9905998" cy="620791"/>
          </a:xfrm>
        </p:spPr>
        <p:txBody>
          <a:bodyPr/>
          <a:lstStyle/>
          <a:p>
            <a:pPr algn="ctr"/>
            <a:r>
              <a:rPr lang="en-US" dirty="0"/>
              <a:t>Status of Curve Data</a:t>
            </a:r>
          </a:p>
        </p:txBody>
      </p:sp>
      <p:sp>
        <p:nvSpPr>
          <p:cNvPr id="614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29082" y="1040465"/>
            <a:ext cx="1995777" cy="7330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9:30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EDF2E0C1-FE2C-6A4C-AC9C-AF830C636549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200647" y="2779149"/>
            <a:ext cx="4214192" cy="6876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HW On-Time Submissions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55BF833-0DB4-B04F-B026-932C0FF8E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0329912"/>
              </p:ext>
            </p:extLst>
          </p:nvPr>
        </p:nvGraphicFramePr>
        <p:xfrm>
          <a:off x="3053295" y="96505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71.4%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0BEE8E84-72F1-424D-90EC-32A0B6B6C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9840390"/>
              </p:ext>
            </p:extLst>
          </p:nvPr>
        </p:nvGraphicFramePr>
        <p:xfrm>
          <a:off x="2548834" y="3478771"/>
          <a:ext cx="7255124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461">
                  <a:extLst>
                    <a:ext uri="{9D8B030D-6E8A-4147-A177-3AD203B41FA5}">
                      <a16:colId xmlns:a16="http://schemas.microsoft.com/office/drawing/2014/main" val="3153816687"/>
                    </a:ext>
                  </a:extLst>
                </a:gridCol>
                <a:gridCol w="1582310">
                  <a:extLst>
                    <a:ext uri="{9D8B030D-6E8A-4147-A177-3AD203B41FA5}">
                      <a16:colId xmlns:a16="http://schemas.microsoft.com/office/drawing/2014/main" val="218493645"/>
                    </a:ext>
                  </a:extLst>
                </a:gridCol>
                <a:gridCol w="1661822">
                  <a:extLst>
                    <a:ext uri="{9D8B030D-6E8A-4147-A177-3AD203B41FA5}">
                      <a16:colId xmlns:a16="http://schemas.microsoft.com/office/drawing/2014/main" val="356281106"/>
                    </a:ext>
                  </a:extLst>
                </a:gridCol>
                <a:gridCol w="1709531">
                  <a:extLst>
                    <a:ext uri="{9D8B030D-6E8A-4147-A177-3AD203B41FA5}">
                      <a16:colId xmlns:a16="http://schemas.microsoft.com/office/drawing/2014/main" val="203402472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HW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On-Time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Total Subs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Percentage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156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1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71.4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071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48.0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8965386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2: Programming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48.3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7075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3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52.5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044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 4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0" i="0" dirty="0"/>
                        <a:t>45.5</a:t>
                      </a:r>
                      <a:r>
                        <a:rPr lang="en-US" b="0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992390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b="1" dirty="0"/>
                        <a:t>TOTAL: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1082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53.0%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96459917"/>
                  </a:ext>
                </a:extLst>
              </a:tr>
            </a:tbl>
          </a:graphicData>
        </a:graphic>
      </p:graphicFrame>
      <p:sp>
        <p:nvSpPr>
          <p:cNvPr id="8" name="Rectangle 3">
            <a:extLst>
              <a:ext uri="{FF2B5EF4-FFF2-40B4-BE49-F238E27FC236}">
                <a16:creationId xmlns:a16="http://schemas.microsoft.com/office/drawing/2014/main" id="{B978E73F-4A42-474F-AD3F-6BBF1391C7E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914097" y="1455136"/>
            <a:ext cx="1251889" cy="733064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Wordle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26D59FFC-9847-3D4A-A64C-B398DB590D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1723403"/>
              </p:ext>
            </p:extLst>
          </p:nvPr>
        </p:nvGraphicFramePr>
        <p:xfrm>
          <a:off x="8062617" y="1379730"/>
          <a:ext cx="2751151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5962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811033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54156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Success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100%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F261EF31-6054-E2A5-1B38-CE7F8FAA8C6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29082" y="1979295"/>
            <a:ext cx="1995777" cy="73306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i="1" u="sng" dirty="0">
                <a:latin typeface="Arial" panose="020B0604020202020204" pitchFamily="34" charset="0"/>
                <a:cs typeface="Arial" panose="020B0604020202020204" pitchFamily="34" charset="0"/>
              </a:rPr>
              <a:t>3:30 </a:t>
            </a:r>
            <a:r>
              <a:rPr lang="en-US" b="1" i="1" u="sng" dirty="0" err="1">
                <a:latin typeface="Arial" panose="020B0604020202020204" pitchFamily="34" charset="0"/>
                <a:cs typeface="Arial" panose="020B0604020202020204" pitchFamily="34" charset="0"/>
              </a:rPr>
              <a:t>Att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0053670-A7F1-B4AB-DDE6-53F76EEC68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29332"/>
              </p:ext>
            </p:extLst>
          </p:nvPr>
        </p:nvGraphicFramePr>
        <p:xfrm>
          <a:off x="3053295" y="1903889"/>
          <a:ext cx="3291843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74358">
                  <a:extLst>
                    <a:ext uri="{9D8B030D-6E8A-4147-A177-3AD203B41FA5}">
                      <a16:colId xmlns:a16="http://schemas.microsoft.com/office/drawing/2014/main" val="659906099"/>
                    </a:ext>
                  </a:extLst>
                </a:gridCol>
                <a:gridCol w="787180">
                  <a:extLst>
                    <a:ext uri="{9D8B030D-6E8A-4147-A177-3AD203B41FA5}">
                      <a16:colId xmlns:a16="http://schemas.microsoft.com/office/drawing/2014/main" val="2842208557"/>
                    </a:ext>
                  </a:extLst>
                </a:gridCol>
                <a:gridCol w="930305">
                  <a:extLst>
                    <a:ext uri="{9D8B030D-6E8A-4147-A177-3AD203B41FA5}">
                      <a16:colId xmlns:a16="http://schemas.microsoft.com/office/drawing/2014/main" val="2881465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Above 50 %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u="none" dirty="0"/>
                        <a:t>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3814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0" dirty="0"/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i="0" dirty="0"/>
                        <a:t>19.0%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758593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3FCAE82-CCB9-8659-B5FE-5D1BF385BBC8}"/>
              </a:ext>
            </a:extLst>
          </p:cNvPr>
          <p:cNvSpPr txBox="1"/>
          <p:nvPr/>
        </p:nvSpPr>
        <p:spPr>
          <a:xfrm>
            <a:off x="7156351" y="2877504"/>
            <a:ext cx="370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Need to find updated numbers for this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07ADA1-B890-D978-E211-014AAEC1357B}"/>
              </a:ext>
            </a:extLst>
          </p:cNvPr>
          <p:cNvCxnSpPr>
            <a:endCxn id="7" idx="1"/>
          </p:cNvCxnSpPr>
          <p:nvPr/>
        </p:nvCxnSpPr>
        <p:spPr>
          <a:xfrm>
            <a:off x="6345138" y="2712359"/>
            <a:ext cx="811213" cy="349811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7163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22424</TotalTime>
  <Words>2104</Words>
  <Application>Microsoft Macintosh PowerPoint</Application>
  <PresentationFormat>Widescreen</PresentationFormat>
  <Paragraphs>270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Tw Cen MT</vt:lpstr>
      <vt:lpstr>Circuit</vt:lpstr>
      <vt:lpstr>CS3120 (DMT2) Daily Announcements</vt:lpstr>
      <vt:lpstr>Week 1: Tuesday</vt:lpstr>
      <vt:lpstr>Week 1: Wednesday</vt:lpstr>
      <vt:lpstr>Week 1: Thursday</vt:lpstr>
      <vt:lpstr>Week 1: Friday</vt:lpstr>
      <vt:lpstr>Week 2: Monday</vt:lpstr>
      <vt:lpstr>Week 2: Tuesday</vt:lpstr>
      <vt:lpstr>Week 2: Wednesday</vt:lpstr>
      <vt:lpstr>Week 2: Thursday</vt:lpstr>
      <vt:lpstr>Week 3: Monday</vt:lpstr>
      <vt:lpstr>Week 3: Tuesday</vt:lpstr>
      <vt:lpstr>Week 3: Wednesday</vt:lpstr>
      <vt:lpstr>Week 3: Thursday</vt:lpstr>
      <vt:lpstr>Week 4: Monday</vt:lpstr>
      <vt:lpstr>Week 4: Tuesday</vt:lpstr>
      <vt:lpstr>Week 4: Wednesday</vt:lpstr>
      <vt:lpstr>Week 4: Thursday</vt:lpstr>
      <vt:lpstr>Status of Curve Data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342</cp:revision>
  <dcterms:created xsi:type="dcterms:W3CDTF">2023-02-24T14:15:53Z</dcterms:created>
  <dcterms:modified xsi:type="dcterms:W3CDTF">2026-08-06T14:09:10Z</dcterms:modified>
</cp:coreProperties>
</file>