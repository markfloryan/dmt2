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2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6"/>
  </p:notesMasterIdLst>
  <p:sldIdLst>
    <p:sldId id="256" r:id="rId2"/>
    <p:sldId id="505" r:id="rId3"/>
    <p:sldId id="513" r:id="rId4"/>
    <p:sldId id="507" r:id="rId5"/>
    <p:sldId id="508" r:id="rId6"/>
    <p:sldId id="511" r:id="rId7"/>
    <p:sldId id="512" r:id="rId8"/>
    <p:sldId id="510" r:id="rId9"/>
    <p:sldId id="504" r:id="rId10"/>
    <p:sldId id="426" r:id="rId11"/>
    <p:sldId id="516" r:id="rId12"/>
    <p:sldId id="519" r:id="rId13"/>
    <p:sldId id="520" r:id="rId14"/>
    <p:sldId id="403" r:id="rId15"/>
    <p:sldId id="470" r:id="rId16"/>
    <p:sldId id="495" r:id="rId17"/>
    <p:sldId id="474" r:id="rId18"/>
    <p:sldId id="497" r:id="rId19"/>
    <p:sldId id="487" r:id="rId20"/>
    <p:sldId id="517" r:id="rId21"/>
    <p:sldId id="498" r:id="rId22"/>
    <p:sldId id="490" r:id="rId23"/>
    <p:sldId id="488" r:id="rId24"/>
    <p:sldId id="489" r:id="rId25"/>
    <p:sldId id="501" r:id="rId26"/>
    <p:sldId id="506" r:id="rId27"/>
    <p:sldId id="518" r:id="rId28"/>
    <p:sldId id="491" r:id="rId29"/>
    <p:sldId id="496" r:id="rId30"/>
    <p:sldId id="463" r:id="rId31"/>
    <p:sldId id="502" r:id="rId32"/>
    <p:sldId id="464" r:id="rId33"/>
    <p:sldId id="521" r:id="rId34"/>
    <p:sldId id="51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83"/>
    <p:restoredTop sz="94734"/>
  </p:normalViewPr>
  <p:slideViewPr>
    <p:cSldViewPr snapToGrid="0" snapToObjects="1">
      <p:cViewPr varScale="1">
        <p:scale>
          <a:sx n="137" d="100"/>
          <a:sy n="137" d="100"/>
        </p:scale>
        <p:origin x="8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1890EBB-E05E-4685-8A9C-8E0AC45FB38E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42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02D7A8C-E8C9-C044-B17F-4F3BDC02CA13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537B-242B-6E4B-B3AA-5700AD130DAB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0DB53-1439-2E4C-8FEF-8A4982596F3C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8B4C4-E214-B54E-A5C2-DF036DC63B34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C456D-E6B2-0642-9BEB-83D0B9BAC47F}" type="datetime1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A1968-45EA-A240-A17F-44B2A8A0BB1D}" type="datetime1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FB313-9C91-AB4A-9BD3-BE60645D454E}" type="datetime1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DE57A-C1B2-FD48-B4C3-5BEA75776498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2DE63-F783-CF4C-A886-D3D65D6D3AA3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A4E9-907E-024F-942D-1027DBDB6B95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75626-F07C-1141-9EC1-D81C02E85261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2032B-A565-A745-AD03-A3A1AE898D44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DFA05-D8BC-F743-AAC8-830078F9EC2E}" type="datetime1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ACE03-F6AA-B648-AEDA-6D288BF5F57D}" type="datetime1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C296A-FFCD-5143-BB88-7498A31860D8}" type="datetime1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5FF73-2E33-5542-B000-2DC2E7840EBF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42606-263B-9C4F-8747-C46201865648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3DD1-A275-4445-AB1E-9DFF752BE39B}" type="datetime1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hyperlink" Target="https://markfloryan.github.io/dmt2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5" Type="http://schemas.openxmlformats.org/officeDocument/2006/relationships/image" Target="../media/image3.png"/><Relationship Id="rId4" Type="http://schemas.openxmlformats.org/officeDocument/2006/relationships/tags" Target="../tags/tag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Course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Quick Polls (Agree or Not?)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473200"/>
            <a:ext cx="9970724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My Answers (1 to 10)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219199"/>
            <a:ext cx="9970724" cy="53209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8: Yes, the material is hard. There is no way around it </a:t>
            </a:r>
            <a:r>
              <a:rPr lang="en-US" i="1" u="sng" dirty="0">
                <a:sym typeface="Wingdings" pitchFamily="2" charset="2"/>
              </a:rPr>
              <a:t>&lt;sad face&gt;</a:t>
            </a:r>
            <a:endParaRPr lang="en-US" i="1" u="sng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6: A lot of work to understand the concepts, but not a pile of work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3: This material is universal and timeless…I’ll explain a bit more verbally</a:t>
            </a:r>
          </a:p>
        </p:txBody>
      </p:sp>
    </p:spTree>
    <p:extLst>
      <p:ext uri="{BB962C8B-B14F-4D97-AF65-F5344CB8AC3E}">
        <p14:creationId xmlns:p14="http://schemas.microsoft.com/office/powerpoint/2010/main" val="374905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40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</a:t>
            </a:r>
            <a:r>
              <a:rPr lang="en-US" dirty="0" err="1"/>
              <a:t>OBjectives</a:t>
            </a:r>
            <a:endParaRPr 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96721" y="1473200"/>
            <a:ext cx="9365064" cy="48006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u="sng" dirty="0"/>
              <a:t>Students who complete the course will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Improve their mathematical thinking skill and habits, including thinking precisely about definitions, stating assumptions carefully, critically reading arguments, and being able to write convincingly.</a:t>
            </a:r>
          </a:p>
          <a:p>
            <a:r>
              <a:rPr lang="en-US" dirty="0"/>
              <a:t>Be able to understand both finite and infinite formal models of computation and to reason about what they can and cannot compute.</a:t>
            </a:r>
          </a:p>
          <a:p>
            <a:r>
              <a:rPr lang="en-US" dirty="0"/>
              <a:t>Understand both intuitively and formally what makes some problems too expensive to solve, and what can be done in practice when an unsolvable or intractable problem is encountered.</a:t>
            </a:r>
          </a:p>
          <a:p>
            <a:r>
              <a:rPr lang="en-US" dirty="0"/>
              <a:t>Reason formally about the cost of computation, and be able to prove useful bounds on the costs of solving problems, including showing that certain problems are intractable.</a:t>
            </a:r>
          </a:p>
          <a:p>
            <a:r>
              <a:rPr lang="en-US" dirty="0"/>
              <a:t>Learn about some interesting aspects of theoretical computer science, including cryptography and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13164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72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See syllabus on course website for general information</a:t>
            </a:r>
          </a:p>
          <a:p>
            <a:r>
              <a:rPr lang="en-US" dirty="0"/>
              <a:t>Pre-requisites:</a:t>
            </a:r>
          </a:p>
          <a:p>
            <a:pPr lvl="1"/>
            <a:r>
              <a:rPr lang="en-US" dirty="0"/>
              <a:t>CS 3100 (DSA2) if you are in the new curriculum (most of you, probably)</a:t>
            </a:r>
          </a:p>
          <a:p>
            <a:pPr lvl="1"/>
            <a:r>
              <a:rPr lang="en-US" dirty="0"/>
              <a:t>CS 4102 (</a:t>
            </a:r>
            <a:r>
              <a:rPr lang="en-US" dirty="0" err="1"/>
              <a:t>Algo</a:t>
            </a:r>
            <a:r>
              <a:rPr lang="en-US" dirty="0"/>
              <a:t>) if you are in the old curriculum (Maybe a few of you)</a:t>
            </a:r>
          </a:p>
          <a:p>
            <a:pPr lvl="1"/>
            <a:r>
              <a:rPr lang="en-US" dirty="0"/>
              <a:t>Math topics: proof by induction, proof by contradiction, etc. (Basically everything in DMT 1)</a:t>
            </a:r>
          </a:p>
          <a:p>
            <a:pPr lvl="1"/>
            <a:r>
              <a:rPr lang="en-US" dirty="0"/>
              <a:t>Data Structures: Graphs and generally maturity proving things, etc.</a:t>
            </a:r>
          </a:p>
          <a:p>
            <a:r>
              <a:rPr lang="en-US" dirty="0"/>
              <a:t>Teaching Assistants</a:t>
            </a:r>
          </a:p>
          <a:p>
            <a:pPr lvl="1"/>
            <a:r>
              <a:rPr lang="en-US" dirty="0"/>
              <a:t>Graduates (1):</a:t>
            </a:r>
          </a:p>
          <a:p>
            <a:pPr lvl="2"/>
            <a:r>
              <a:rPr lang="en-US" dirty="0"/>
              <a:t>Gustavo Moreira(See course website for contact info)</a:t>
            </a:r>
          </a:p>
          <a:p>
            <a:pPr lvl="1"/>
            <a:r>
              <a:rPr lang="en-US" dirty="0"/>
              <a:t>Undergraduates (~15)</a:t>
            </a:r>
          </a:p>
          <a:p>
            <a:pPr lvl="2"/>
            <a:r>
              <a:rPr lang="en-US" dirty="0"/>
              <a:t>We have a good sized staff this year!</a:t>
            </a:r>
          </a:p>
          <a:p>
            <a:pPr lvl="1"/>
            <a:r>
              <a:rPr lang="en-US" dirty="0"/>
              <a:t>Both will hold office hours, which will start next week</a:t>
            </a:r>
          </a:p>
          <a:p>
            <a:pPr lvl="2"/>
            <a:r>
              <a:rPr lang="en-US" dirty="0"/>
              <a:t>Locations and hours mostly set on course website</a:t>
            </a:r>
          </a:p>
          <a:p>
            <a:pPr lvl="1"/>
            <a:r>
              <a:rPr lang="en-US" dirty="0"/>
              <a:t>Also, we’ll use Piazza for questions.</a:t>
            </a:r>
          </a:p>
          <a:p>
            <a:pPr lvl="2"/>
            <a:r>
              <a:rPr lang="en-US" dirty="0"/>
              <a:t>Post all questions about HW, topics, etc. to Piazza NOT email to instructors!</a:t>
            </a:r>
          </a:p>
        </p:txBody>
      </p:sp>
    </p:spTree>
    <p:extLst>
      <p:ext uri="{BB962C8B-B14F-4D97-AF65-F5344CB8AC3E}">
        <p14:creationId xmlns:p14="http://schemas.microsoft.com/office/powerpoint/2010/main" val="3929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Website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4"/>
              </a:rPr>
              <a:t>https://markfloryan.github.io/dmt2/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Contains most of the important info for the course:</a:t>
            </a:r>
          </a:p>
          <a:p>
            <a:pPr lvl="1">
              <a:buFontTx/>
              <a:buChar char="-"/>
            </a:pPr>
            <a:r>
              <a:rPr lang="en-US" dirty="0"/>
              <a:t>Homework</a:t>
            </a:r>
          </a:p>
          <a:p>
            <a:pPr lvl="1">
              <a:buFontTx/>
              <a:buChar char="-"/>
            </a:pPr>
            <a:r>
              <a:rPr lang="en-US" dirty="0"/>
              <a:t>Slides</a:t>
            </a:r>
          </a:p>
          <a:p>
            <a:pPr lvl="1">
              <a:buFontTx/>
              <a:buChar char="-"/>
            </a:pPr>
            <a:r>
              <a:rPr lang="en-US" dirty="0"/>
              <a:t>Syllabus</a:t>
            </a:r>
          </a:p>
          <a:p>
            <a:pPr lvl="1">
              <a:buFontTx/>
              <a:buChar char="-"/>
            </a:pP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31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14F9-F01E-7B4D-8EB0-3B151FAE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71091"/>
            <a:ext cx="9905998" cy="917045"/>
          </a:xfrm>
        </p:spPr>
        <p:txBody>
          <a:bodyPr/>
          <a:lstStyle/>
          <a:p>
            <a:pPr algn="ctr"/>
            <a:r>
              <a:rPr lang="en-US" dirty="0"/>
              <a:t>Other Course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851DE-8B7D-3A4B-A735-7873D309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1611762"/>
            <a:ext cx="9482328" cy="4560438"/>
          </a:xfrm>
        </p:spPr>
        <p:txBody>
          <a:bodyPr>
            <a:normAutofit/>
          </a:bodyPr>
          <a:lstStyle/>
          <a:p>
            <a:r>
              <a:rPr lang="en-US" b="1" i="1" u="sng" dirty="0"/>
              <a:t>Piazza</a:t>
            </a:r>
            <a:r>
              <a:rPr lang="en-US" dirty="0"/>
              <a:t>: Use for course discussion among students and </a:t>
            </a:r>
            <a:r>
              <a:rPr lang="en-US" dirty="0" err="1"/>
              <a:t>Tas</a:t>
            </a:r>
            <a:r>
              <a:rPr lang="en-US" dirty="0"/>
              <a:t> regarding course content</a:t>
            </a:r>
          </a:p>
          <a:p>
            <a:r>
              <a:rPr lang="en-US" b="1" i="1" u="sng" dirty="0" err="1"/>
              <a:t>Gradescope</a:t>
            </a:r>
            <a:r>
              <a:rPr lang="en-US" dirty="0"/>
              <a:t>: For submitting homework and seeing your grades, etc.</a:t>
            </a:r>
          </a:p>
          <a:p>
            <a:r>
              <a:rPr lang="en-US" b="1" i="1" u="sng" dirty="0"/>
              <a:t>Google Forms</a:t>
            </a:r>
            <a:r>
              <a:rPr lang="en-US" dirty="0"/>
              <a:t>: Homework extension requests will be submitted through a form.</a:t>
            </a:r>
          </a:p>
          <a:p>
            <a:r>
              <a:rPr lang="en-US" dirty="0"/>
              <a:t>All of these will be linked from Collab and from course website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63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Expectations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Of you: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When asked, prepare for things in advance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 NOT use laptops or phones in class!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Participate in class activities when asked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Act mature, professional.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Please do not use a laptop in class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Plan ahead.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Don’t take advantage.  Follow the Honor Code. (See the BOCM.)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Of me: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fair, open, and considerate.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Seek and listen to your feedback.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Not to waste your time.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effective in letting you know how you’re doing</a:t>
            </a:r>
          </a:p>
        </p:txBody>
      </p:sp>
    </p:spTree>
    <p:extLst>
      <p:ext uri="{BB962C8B-B14F-4D97-AF65-F5344CB8AC3E}">
        <p14:creationId xmlns:p14="http://schemas.microsoft.com/office/powerpoint/2010/main" val="1613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2DBD6-6723-6A69-41BF-05CFF0F6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2B94CF66-3237-7D53-3C0F-1D4FC801942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Laptops / Phones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735FD3FE-3DE4-F5C8-B5D1-A35B4FE4792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When you are in lecture, you are NOT allowed to use laptops or phones.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One exception: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Tablets if you are very obviously taking notes on them and paying attention.</a:t>
            </a:r>
          </a:p>
          <a:p>
            <a:pPr lvl="1"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Why: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Studies show that laptops and phones cause significant drops in grades even if they are being used to take notes.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Studies also show that handwritten notes are more effective for memorization and learning.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It is also quite obvious to me that students with laptops are not paying attention. It distracts me and hurts the classroom environment for everyone.</a:t>
            </a:r>
          </a:p>
        </p:txBody>
      </p:sp>
    </p:spTree>
    <p:extLst>
      <p:ext uri="{BB962C8B-B14F-4D97-AF65-F5344CB8AC3E}">
        <p14:creationId xmlns:p14="http://schemas.microsoft.com/office/powerpoint/2010/main" val="28857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8431-7499-E908-C16F-9E4D2AA88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3DDA6D38-BA12-31AF-ED45-3A1A417920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73622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Attendance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342FFA0A-D9E5-70F3-B31F-0BE0D38EFA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52962" y="1204112"/>
            <a:ext cx="9905998" cy="549997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b="1" i="1" u="sng" dirty="0"/>
              <a:t>Attendance is REQUIRED</a:t>
            </a:r>
            <a:r>
              <a:rPr lang="en-US" dirty="0"/>
              <a:t>. This is an </a:t>
            </a:r>
            <a:r>
              <a:rPr lang="en-US" b="1" i="1" u="sng" dirty="0"/>
              <a:t>IN-PERSON class </a:t>
            </a:r>
            <a:r>
              <a:rPr lang="en-US" dirty="0"/>
              <a:t>and there is no guarantee / expectation / officially supported option to take this class remotely. 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i="1" u="sng" dirty="0"/>
              <a:t>If you don’t attend class you may (all of these have happened)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important announcements (I don’t record daily announcements)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exams because dates were changed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solutions or hints for test questions that are given off the recording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Not be granted a favor when you ask me for something and I’ve never seen you before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Miss the chance to play fun games like Wordle with your peers (most important one)</a:t>
            </a:r>
          </a:p>
          <a:p>
            <a:pPr lvl="1"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i="1" u="sng" dirty="0"/>
              <a:t>Benefits of coming to class</a:t>
            </a:r>
            <a:r>
              <a:rPr lang="en-US" dirty="0"/>
              <a:t>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Practice WORKING YOUR BRAIN muscles. Makes you smarter. Improves your patience.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Hear all the important announcements so you won’t miss anything.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Get some of your study time out of the way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Gives the material more time to digest before you study for quizzes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If you ask for a favor and you are an engaged member of our community who I recognize, I am MUCH more likely to grant you that favor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You get to play Wordle with the group and see how well we do!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Contributes to your attendance score!</a:t>
            </a:r>
          </a:p>
        </p:txBody>
      </p:sp>
    </p:spTree>
    <p:extLst>
      <p:ext uri="{BB962C8B-B14F-4D97-AF65-F5344CB8AC3E}">
        <p14:creationId xmlns:p14="http://schemas.microsoft.com/office/powerpoint/2010/main" val="2665990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FC99-366D-A803-6C52-76CFA2EB8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3AF46158-204F-C7F8-1E47-18C2B746CEB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73622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Attendance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03" name="Rectangle 3">
                <a:extLst>
                  <a:ext uri="{FF2B5EF4-FFF2-40B4-BE49-F238E27FC236}">
                    <a16:creationId xmlns:a16="http://schemas.microsoft.com/office/drawing/2014/main" id="{51F2CB0C-3790-16B7-E0F3-9FBDD71A54B7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252962" y="1204112"/>
                <a:ext cx="9905998" cy="549997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In this class, each </a:t>
                </a:r>
                <a:r>
                  <a:rPr lang="en-US" b="1" i="1" u="sng" dirty="0"/>
                  <a:t>section will receive a communal, shared attendance score</a:t>
                </a:r>
                <a:r>
                  <a:rPr lang="en-US" dirty="0"/>
                  <a:t> 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everyone in the section receives the same attendance grade at end of semester.</a:t>
                </a:r>
              </a:p>
              <a:p>
                <a:pPr lvl="1"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i="1" u="sng" dirty="0"/>
                  <a:t>How does it work?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Each lecture I will count the number of students present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If attendance &gt; 50 percent then ALL of you get attendance point for that day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If attendance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50 percent then ALL of you LOSE attendance point for that day.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Attendance grade is simply the percentage of lectures that you earn your attendance point.</a:t>
                </a:r>
              </a:p>
              <a:p>
                <a:pPr lvl="1"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 couple notes: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 will count sometimes at beginning, sometimes mid, and sometimes at end of lecture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I will update you every day on your current attendance score during announcements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Let’s work together to ensure we ALL get a 100% attendance score!!</a:t>
                </a:r>
              </a:p>
            </p:txBody>
          </p:sp>
        </mc:Choice>
        <mc:Fallback xmlns="">
          <p:sp>
            <p:nvSpPr>
              <p:cNvPr id="307203" name="Rectangle 3">
                <a:extLst>
                  <a:ext uri="{FF2B5EF4-FFF2-40B4-BE49-F238E27FC236}">
                    <a16:creationId xmlns:a16="http://schemas.microsoft.com/office/drawing/2014/main" id="{51F2CB0C-3790-16B7-E0F3-9FBDD71A54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1252962" y="1204112"/>
                <a:ext cx="9905998" cy="5499979"/>
              </a:xfrm>
              <a:blipFill>
                <a:blip r:embed="rId5"/>
                <a:stretch>
                  <a:fillRect l="-1280" t="-30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769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8818"/>
            <a:ext cx="9905998" cy="855280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828800" y="1567652"/>
            <a:ext cx="8741339" cy="4482292"/>
          </a:xfrm>
        </p:spPr>
        <p:txBody>
          <a:bodyPr/>
          <a:lstStyle/>
          <a:p>
            <a:r>
              <a:rPr lang="en-US" dirty="0"/>
              <a:t>Textbook:</a:t>
            </a:r>
          </a:p>
          <a:p>
            <a:pPr lvl="1"/>
            <a:r>
              <a:rPr lang="en-US" dirty="0"/>
              <a:t>Introduction to the Theory of Computation, 2</a:t>
            </a:r>
            <a:r>
              <a:rPr lang="en-US" baseline="30000" dirty="0"/>
              <a:t>nd</a:t>
            </a:r>
            <a:r>
              <a:rPr lang="en-US" dirty="0"/>
              <a:t> edition, by Michael </a:t>
            </a:r>
            <a:r>
              <a:rPr lang="en-US" dirty="0" err="1"/>
              <a:t>Sipser</a:t>
            </a:r>
            <a:endParaRPr lang="en-US" dirty="0"/>
          </a:p>
          <a:p>
            <a:r>
              <a:rPr lang="en-US" dirty="0"/>
              <a:t>Other references:</a:t>
            </a:r>
          </a:p>
          <a:p>
            <a:pPr lvl="1"/>
            <a:r>
              <a:rPr lang="en-US" dirty="0"/>
              <a:t>Your DMT 1 course materials if you need them, but we will review proof techniques early in the semester.</a:t>
            </a:r>
          </a:p>
          <a:p>
            <a:r>
              <a:rPr lang="en-US" dirty="0"/>
              <a:t>Other readings may be assigned</a:t>
            </a:r>
          </a:p>
          <a:p>
            <a:pPr lvl="1"/>
            <a:r>
              <a:rPr lang="en-US" dirty="0"/>
              <a:t>We’ll see…</a:t>
            </a:r>
          </a:p>
        </p:txBody>
      </p:sp>
    </p:spTree>
    <p:extLst>
      <p:ext uri="{BB962C8B-B14F-4D97-AF65-F5344CB8AC3E}">
        <p14:creationId xmlns:p14="http://schemas.microsoft.com/office/powerpoint/2010/main" val="3037356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itle 1"/>
          <p:cNvSpPr>
            <a:spLocks noGrp="1"/>
          </p:cNvSpPr>
          <p:nvPr>
            <p:ph type="title"/>
          </p:nvPr>
        </p:nvSpPr>
        <p:spPr>
          <a:xfrm>
            <a:off x="1141413" y="338818"/>
            <a:ext cx="9905998" cy="705581"/>
          </a:xfrm>
        </p:spPr>
        <p:txBody>
          <a:bodyPr/>
          <a:lstStyle/>
          <a:p>
            <a:pPr algn="ctr"/>
            <a:r>
              <a:rPr lang="en-US" dirty="0"/>
              <a:t>Textbook</a:t>
            </a:r>
          </a:p>
        </p:txBody>
      </p:sp>
      <p:sp>
        <p:nvSpPr>
          <p:cNvPr id="10244" name="Content Placeholder 5"/>
          <p:cNvSpPr>
            <a:spLocks noGrp="1"/>
          </p:cNvSpPr>
          <p:nvPr>
            <p:ph sz="half" idx="1"/>
          </p:nvPr>
        </p:nvSpPr>
        <p:spPr>
          <a:xfrm>
            <a:off x="1992351" y="1825052"/>
            <a:ext cx="5867400" cy="2174789"/>
          </a:xfrm>
        </p:spPr>
        <p:txBody>
          <a:bodyPr>
            <a:normAutofit/>
          </a:bodyPr>
          <a:lstStyle/>
          <a:p>
            <a:r>
              <a:rPr lang="en-US" dirty="0"/>
              <a:t>You will very likely need to read and study material other than the slides.</a:t>
            </a:r>
          </a:p>
          <a:p>
            <a:r>
              <a:rPr lang="en-US" dirty="0"/>
              <a:t>There are options, but a textbook is the easiest option.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01BA1-20E0-2A4D-9885-AF5ECD5908BF}"/>
              </a:ext>
            </a:extLst>
          </p:cNvPr>
          <p:cNvSpPr txBox="1">
            <a:spLocks/>
          </p:cNvSpPr>
          <p:nvPr/>
        </p:nvSpPr>
        <p:spPr>
          <a:xfrm>
            <a:off x="2273704" y="4843304"/>
            <a:ext cx="7696200" cy="175822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Introduction to the Theory of Computation </a:t>
            </a:r>
            <a:r>
              <a:rPr lang="en-US" dirty="0"/>
              <a:t>by </a:t>
            </a:r>
            <a:r>
              <a:rPr lang="en-US" dirty="0" err="1"/>
              <a:t>Sipser</a:t>
            </a:r>
            <a:endParaRPr lang="en-US" dirty="0"/>
          </a:p>
          <a:p>
            <a:pPr lvl="1" algn="l" fontAlgn="auto">
              <a:spcAft>
                <a:spcPts val="0"/>
              </a:spcAft>
            </a:pPr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edition!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51F44-70BF-6943-8AC2-30E482424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246" y="1406138"/>
            <a:ext cx="1883748" cy="26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200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624E-6BA1-BB4D-8A7A-500B5099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47214"/>
            <a:ext cx="9905998" cy="697816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F38866-4BB8-1749-AF0C-AB089AECC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3" y="1244204"/>
            <a:ext cx="9905997" cy="511193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Back to traditional, in-person lectures.</a:t>
            </a:r>
          </a:p>
          <a:p>
            <a:pPr lvl="1"/>
            <a:r>
              <a:rPr lang="en-US" dirty="0"/>
              <a:t>Tu / Th 9:30 – 10:45 am @ Rice Hall 130(Floryan)</a:t>
            </a:r>
          </a:p>
          <a:p>
            <a:pPr lvl="1"/>
            <a:r>
              <a:rPr lang="en-US" dirty="0"/>
              <a:t>Tu / Th 11:00 – 12:15 pm @ Mec 205 (Floryan)</a:t>
            </a:r>
          </a:p>
          <a:p>
            <a:pPr lvl="1"/>
            <a:endParaRPr lang="en-US" dirty="0"/>
          </a:p>
          <a:p>
            <a:r>
              <a:rPr lang="en-US" dirty="0"/>
              <a:t>Lectures will be recorded and posted on Canvas -&gt; Lecture Recordings</a:t>
            </a:r>
          </a:p>
          <a:p>
            <a:pPr lvl="1"/>
            <a:r>
              <a:rPr lang="en-US" dirty="0"/>
              <a:t>Using Panopto, so no live broadcast</a:t>
            </a:r>
          </a:p>
          <a:p>
            <a:pPr lvl="1"/>
            <a:r>
              <a:rPr lang="en-US" dirty="0"/>
              <a:t>A note about recordings…they are a privilege, not a right. If less than half of you are present in class, then I may choose not to record the lecture.</a:t>
            </a:r>
          </a:p>
          <a:p>
            <a:pPr lvl="1"/>
            <a:r>
              <a:rPr lang="en-US" b="1" i="1" u="sng" dirty="0"/>
              <a:t>Some material (like announcements, extra examples, or homework help) will NOT be in the recording</a:t>
            </a:r>
          </a:p>
          <a:p>
            <a:pPr lvl="1"/>
            <a:endParaRPr lang="en-US" dirty="0"/>
          </a:p>
          <a:p>
            <a:r>
              <a:rPr lang="en-US" dirty="0"/>
              <a:t>Lectures will cover course topics, example problems, proofs, etc.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0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7166"/>
            <a:ext cx="9905998" cy="6308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7122" y="2168652"/>
            <a:ext cx="5614579" cy="2813539"/>
          </a:xfrm>
        </p:spPr>
        <p:txBody>
          <a:bodyPr>
            <a:normAutofit fontScale="92500" lnSpcReduction="10000"/>
          </a:bodyPr>
          <a:lstStyle/>
          <a:p>
            <a:r>
              <a:rPr lang="en-US" i="1" dirty="0"/>
              <a:t>The course is divided into 4 modules (5 if you count the review module)</a:t>
            </a:r>
          </a:p>
          <a:p>
            <a:pPr lvl="1"/>
            <a:r>
              <a:rPr lang="en-US" i="1" dirty="0"/>
              <a:t>0: Introduction, Cardinality (Warmup and review)</a:t>
            </a:r>
          </a:p>
          <a:p>
            <a:pPr lvl="1"/>
            <a:r>
              <a:rPr lang="en-US" i="1" dirty="0"/>
              <a:t>1: Regular Languages</a:t>
            </a:r>
          </a:p>
          <a:p>
            <a:pPr lvl="1"/>
            <a:r>
              <a:rPr lang="en-US" i="1" dirty="0"/>
              <a:t>2: Context-Free Grammars</a:t>
            </a:r>
          </a:p>
          <a:p>
            <a:pPr lvl="1"/>
            <a:r>
              <a:rPr lang="en-US" i="1" dirty="0"/>
              <a:t>3: Turing Machines and Decidability</a:t>
            </a:r>
          </a:p>
          <a:p>
            <a:pPr lvl="1"/>
            <a:r>
              <a:rPr lang="en-US" i="1" dirty="0"/>
              <a:t>4: Complexity Theory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921696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17551"/>
            <a:ext cx="9905998" cy="7832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1600200"/>
            <a:ext cx="8665139" cy="4449744"/>
          </a:xfrm>
        </p:spPr>
        <p:txBody>
          <a:bodyPr>
            <a:normAutofit/>
          </a:bodyPr>
          <a:lstStyle/>
          <a:p>
            <a:r>
              <a:rPr lang="en-US" i="1" dirty="0"/>
              <a:t>Most modules are 4-6 lectures worth of content, some are a bit more.</a:t>
            </a:r>
          </a:p>
          <a:p>
            <a:endParaRPr lang="en-US" i="1" dirty="0"/>
          </a:p>
          <a:p>
            <a:r>
              <a:rPr lang="en-US" i="1" dirty="0"/>
              <a:t>Each module involves:</a:t>
            </a:r>
          </a:p>
          <a:p>
            <a:pPr lvl="1"/>
            <a:r>
              <a:rPr lang="en-US" i="1" dirty="0"/>
              <a:t>~5 lectures worth of content</a:t>
            </a:r>
          </a:p>
          <a:p>
            <a:pPr lvl="1"/>
            <a:r>
              <a:rPr lang="en-US" i="1" dirty="0"/>
              <a:t>1 or 2 </a:t>
            </a:r>
            <a:r>
              <a:rPr lang="en-US" dirty="0"/>
              <a:t>homework assignments (usually just one though)</a:t>
            </a:r>
          </a:p>
          <a:p>
            <a:pPr lvl="1"/>
            <a:r>
              <a:rPr lang="en-US" i="1" dirty="0"/>
              <a:t>1 quiz (assessment), but module 0 does NOT have a quiz</a:t>
            </a:r>
          </a:p>
          <a:p>
            <a:pPr lvl="1"/>
            <a:endParaRPr lang="en-US" i="1" dirty="0"/>
          </a:p>
          <a:p>
            <a:r>
              <a:rPr lang="en-US" i="1" dirty="0"/>
              <a:t>In addition there is one other quiz, the final exam quiz (more on this later)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198794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Medium size assessments of your knowledge in each module</a:t>
            </a:r>
          </a:p>
          <a:p>
            <a:pPr lvl="1"/>
            <a:r>
              <a:rPr lang="en-US" dirty="0"/>
              <a:t>Meant to ensure you have knowledge of the individual topics from lecture to a sufficient degree.</a:t>
            </a:r>
          </a:p>
          <a:p>
            <a:pPr lvl="1"/>
            <a:r>
              <a:rPr lang="en-US" dirty="0"/>
              <a:t>Usually about two pages worth of traditional exam material.</a:t>
            </a:r>
          </a:p>
          <a:p>
            <a:pPr lvl="1"/>
            <a:r>
              <a:rPr lang="en-US" dirty="0"/>
              <a:t>Are given over a three day period (more on next slide)</a:t>
            </a:r>
          </a:p>
          <a:p>
            <a:endParaRPr lang="en-US" dirty="0"/>
          </a:p>
          <a:p>
            <a:r>
              <a:rPr lang="en-US" dirty="0"/>
              <a:t>Quiz Schedule (I wanted this to be similar / modeled after a midterm schedule)</a:t>
            </a:r>
          </a:p>
          <a:p>
            <a:pPr lvl="1"/>
            <a:r>
              <a:rPr lang="en-US" sz="2000" dirty="0"/>
              <a:t>Week 5 (9/21)	Mon-Tue-Wed			Mod 1</a:t>
            </a:r>
          </a:p>
          <a:p>
            <a:pPr lvl="1"/>
            <a:r>
              <a:rPr lang="en-US" dirty="0"/>
              <a:t>Week 8 (10/12)	Mon-Tue-Wed</a:t>
            </a:r>
            <a:r>
              <a:rPr lang="en-US" sz="2000" dirty="0"/>
              <a:t>			Mod </a:t>
            </a:r>
            <a:r>
              <a:rPr lang="en-US" dirty="0"/>
              <a:t>2</a:t>
            </a:r>
          </a:p>
          <a:p>
            <a:pPr lvl="1"/>
            <a:r>
              <a:rPr lang="en-US" dirty="0"/>
              <a:t>Week 12 (11/9)	Mon-Tue-Wed</a:t>
            </a:r>
            <a:r>
              <a:rPr lang="en-US" sz="2000" dirty="0"/>
              <a:t>			Mod 3</a:t>
            </a:r>
          </a:p>
          <a:p>
            <a:pPr lvl="1"/>
            <a:r>
              <a:rPr lang="en-US" dirty="0"/>
              <a:t>Week 15 (11/30)	Mon-Tue-Wed			Mod 4</a:t>
            </a:r>
            <a:endParaRPr lang="en-US" sz="2000" dirty="0"/>
          </a:p>
          <a:p>
            <a:pPr lvl="1"/>
            <a:r>
              <a:rPr lang="en-US" dirty="0"/>
              <a:t>TBD	</a:t>
            </a:r>
            <a:r>
              <a:rPr lang="en-US" sz="2000" dirty="0"/>
              <a:t>	</a:t>
            </a:r>
            <a:r>
              <a:rPr lang="en-US" dirty="0"/>
              <a:t>			</a:t>
            </a:r>
            <a:r>
              <a:rPr lang="en-US" sz="2000" dirty="0"/>
              <a:t>Final Exam Quiz, and optional 1-4 retakes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14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A34F-733C-427E-8C20-4B9DDAB4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94BC5B71-1107-CFED-9845-9D0750FE70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6BD24BF3-A13E-C38A-8FFC-0A49099763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12263" y="1245995"/>
            <a:ext cx="10221795" cy="5245239"/>
          </a:xfrm>
        </p:spPr>
        <p:txBody>
          <a:bodyPr>
            <a:normAutofit/>
          </a:bodyPr>
          <a:lstStyle/>
          <a:p>
            <a:r>
              <a:rPr lang="en-US" dirty="0"/>
              <a:t>Quizzes are administered at the </a:t>
            </a:r>
            <a:r>
              <a:rPr lang="en-US" b="1" i="1" u="sng" dirty="0"/>
              <a:t>Computer-Based Testing Facility</a:t>
            </a:r>
            <a:r>
              <a:rPr lang="en-US" dirty="0"/>
              <a:t> in Gilmer Hall.</a:t>
            </a:r>
          </a:p>
          <a:p>
            <a:endParaRPr lang="en-US" sz="2000" dirty="0"/>
          </a:p>
          <a:p>
            <a:r>
              <a:rPr lang="en-US" sz="2000" dirty="0"/>
              <a:t>Pre-requisite:</a:t>
            </a:r>
          </a:p>
          <a:p>
            <a:pPr lvl="1"/>
            <a:r>
              <a:rPr lang="en-US" sz="1600" dirty="0"/>
              <a:t>Everyone will need to create an account of Prairie Learn / Prairie Test, the online system we will be using</a:t>
            </a:r>
          </a:p>
          <a:p>
            <a:pPr lvl="1"/>
            <a:endParaRPr lang="en-US" sz="1600" dirty="0"/>
          </a:p>
          <a:p>
            <a:r>
              <a:rPr lang="en-US" sz="2000" dirty="0"/>
              <a:t>During a Testing Week:</a:t>
            </a:r>
          </a:p>
          <a:p>
            <a:pPr lvl="1"/>
            <a:r>
              <a:rPr lang="en-US" sz="1600" dirty="0"/>
              <a:t>Before the testing period, you will login to Prairie Test to make a reservation for a specific time in the testing period</a:t>
            </a:r>
          </a:p>
          <a:p>
            <a:pPr lvl="1"/>
            <a:r>
              <a:rPr lang="en-US" sz="1600" dirty="0"/>
              <a:t>When your time arrives, you will arrive at the testing center to take your exam and take the quiz on the computer</a:t>
            </a:r>
          </a:p>
          <a:p>
            <a:pPr lvl="1"/>
            <a:r>
              <a:rPr lang="en-US" sz="1600" dirty="0"/>
              <a:t>Once everyone has taken a quiz, the scores will be released to everybody</a:t>
            </a:r>
          </a:p>
          <a:p>
            <a:endParaRPr lang="en-US" sz="2000" dirty="0"/>
          </a:p>
          <a:p>
            <a:r>
              <a:rPr lang="en-US" sz="2000" dirty="0"/>
              <a:t>There will be a Practice Test within the first couple of weeks of the semester to ensure everybody knows the process, etc.</a:t>
            </a:r>
          </a:p>
          <a:p>
            <a:pPr lvl="1"/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93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1000"/>
            <a:ext cx="8229600" cy="944545"/>
          </a:xfrm>
        </p:spPr>
        <p:txBody>
          <a:bodyPr/>
          <a:lstStyle/>
          <a:p>
            <a:pPr algn="ctr"/>
            <a:r>
              <a:rPr lang="en-US" dirty="0"/>
              <a:t>Quizzes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391978" y="1539892"/>
            <a:ext cx="9470290" cy="4525944"/>
          </a:xfrm>
        </p:spPr>
        <p:txBody>
          <a:bodyPr>
            <a:normAutofit/>
          </a:bodyPr>
          <a:lstStyle/>
          <a:p>
            <a:r>
              <a:rPr lang="en-US" dirty="0"/>
              <a:t>You always receive the highest grade over your attempts (e.g., final exam retakes</a:t>
            </a:r>
          </a:p>
          <a:p>
            <a:pPr lvl="1"/>
            <a:r>
              <a:rPr lang="en-US" dirty="0"/>
              <a:t>E.g., if you receive a 16/20 during midterm, and 13/20 during retake you still earn the 16/20 on that quiz.</a:t>
            </a:r>
          </a:p>
          <a:p>
            <a:pPr lvl="1"/>
            <a:endParaRPr lang="en-US" dirty="0"/>
          </a:p>
          <a:p>
            <a:r>
              <a:rPr lang="en-US" dirty="0"/>
              <a:t>You should always prioritize retaking quizzes with the lowest grades (somewhat obvious).</a:t>
            </a:r>
          </a:p>
        </p:txBody>
      </p:sp>
    </p:spTree>
    <p:extLst>
      <p:ext uri="{BB962C8B-B14F-4D97-AF65-F5344CB8AC3E}">
        <p14:creationId xmlns:p14="http://schemas.microsoft.com/office/powerpoint/2010/main" val="29402043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357262"/>
            <a:ext cx="9905998" cy="707027"/>
          </a:xfrm>
        </p:spPr>
        <p:txBody>
          <a:bodyPr/>
          <a:lstStyle/>
          <a:p>
            <a:pPr algn="ctr"/>
            <a:r>
              <a:rPr lang="en-US" dirty="0"/>
              <a:t>Final Exam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743670" y="1524000"/>
            <a:ext cx="8826469" cy="4525944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/>
              <a:t>Our final exam time will be used to:</a:t>
            </a:r>
          </a:p>
          <a:p>
            <a:pPr lvl="1" algn="l"/>
            <a:r>
              <a:rPr lang="en-US" dirty="0"/>
              <a:t>Take the </a:t>
            </a:r>
            <a:r>
              <a:rPr lang="en-US" b="1" i="1" u="sng" dirty="0"/>
              <a:t>Final Exam Quiz</a:t>
            </a:r>
            <a:r>
              <a:rPr lang="en-US" dirty="0"/>
              <a:t> (Only attempt by design)</a:t>
            </a:r>
          </a:p>
          <a:p>
            <a:pPr lvl="1" algn="l"/>
            <a:r>
              <a:rPr lang="en-US" b="1" dirty="0"/>
              <a:t>OPTIONAL</a:t>
            </a:r>
            <a:r>
              <a:rPr lang="en-US" dirty="0"/>
              <a:t>: Retake </a:t>
            </a:r>
            <a:r>
              <a:rPr lang="en-US" b="1" i="1" u="sng" dirty="0"/>
              <a:t>up to three of quizzes 1-4</a:t>
            </a:r>
            <a:endParaRPr lang="en-US" dirty="0"/>
          </a:p>
          <a:p>
            <a:pPr lvl="1" algn="l"/>
            <a:endParaRPr lang="en-US" b="1" i="1" u="sng" dirty="0"/>
          </a:p>
          <a:p>
            <a:r>
              <a:rPr lang="en-US" dirty="0"/>
              <a:t>You can attempt all four retakes if you want, but the exams are designed for there to be enough time to do two (maybe three) retakes.</a:t>
            </a:r>
          </a:p>
          <a:p>
            <a:endParaRPr lang="en-US" dirty="0"/>
          </a:p>
          <a:p>
            <a:r>
              <a:rPr lang="en-US" dirty="0"/>
              <a:t>I still need to figure out how to administer this properly at the CBTF, but I’m confident that I have a plan/way to do so.</a:t>
            </a:r>
          </a:p>
        </p:txBody>
      </p:sp>
    </p:spTree>
    <p:extLst>
      <p:ext uri="{BB962C8B-B14F-4D97-AF65-F5344CB8AC3E}">
        <p14:creationId xmlns:p14="http://schemas.microsoft.com/office/powerpoint/2010/main" val="10952643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 err="1"/>
              <a:t>Homeworks</a:t>
            </a:r>
            <a:endParaRPr lang="en-US" dirty="0"/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523999"/>
            <a:ext cx="9198985" cy="472439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Each of the modules has 1 or 2 </a:t>
            </a:r>
            <a:r>
              <a:rPr lang="en-US" dirty="0" err="1"/>
              <a:t>homeworks</a:t>
            </a:r>
            <a:r>
              <a:rPr lang="en-US" dirty="0"/>
              <a:t> associated (usually 1)</a:t>
            </a:r>
          </a:p>
          <a:p>
            <a:r>
              <a:rPr lang="en-US" b="1" i="1" u="sng" dirty="0"/>
              <a:t>Written HW</a:t>
            </a:r>
          </a:p>
          <a:p>
            <a:pPr lvl="1"/>
            <a:r>
              <a:rPr lang="en-US" dirty="0"/>
              <a:t>Solving small problems, analyzing runtimes, etc.</a:t>
            </a:r>
          </a:p>
          <a:p>
            <a:pPr lvl="1"/>
            <a:r>
              <a:rPr lang="en-US" dirty="0"/>
              <a:t>Writing proofs, etc.</a:t>
            </a:r>
          </a:p>
          <a:p>
            <a:pPr lvl="1"/>
            <a:r>
              <a:rPr lang="en-US" dirty="0"/>
              <a:t>Written in Latex (tutorial on course webpage)</a:t>
            </a:r>
          </a:p>
          <a:p>
            <a:pPr lvl="1"/>
            <a:r>
              <a:rPr lang="en-US" i="1" dirty="0"/>
              <a:t>These are meant to be challenging!</a:t>
            </a:r>
          </a:p>
          <a:p>
            <a:r>
              <a:rPr lang="en-US" b="1" i="1" u="sng" dirty="0"/>
              <a:t>Programming HW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Is written in Java</a:t>
            </a:r>
          </a:p>
          <a:p>
            <a:pPr lvl="1" algn="l"/>
            <a:r>
              <a:rPr lang="en-US" dirty="0"/>
              <a:t>We won’t have many of these (probably just 1)</a:t>
            </a:r>
          </a:p>
        </p:txBody>
      </p:sp>
    </p:spTree>
    <p:extLst>
      <p:ext uri="{BB962C8B-B14F-4D97-AF65-F5344CB8AC3E}">
        <p14:creationId xmlns:p14="http://schemas.microsoft.com/office/powerpoint/2010/main" val="2802976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6862"/>
            <a:ext cx="8229600" cy="768699"/>
          </a:xfrm>
        </p:spPr>
        <p:txBody>
          <a:bodyPr/>
          <a:lstStyle/>
          <a:p>
            <a:pPr algn="ctr"/>
            <a:r>
              <a:rPr lang="en-US" dirty="0"/>
              <a:t>Homework Grades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24000" y="1406769"/>
            <a:ext cx="9046139" cy="5070231"/>
          </a:xfrm>
        </p:spPr>
        <p:txBody>
          <a:bodyPr>
            <a:normAutofit/>
          </a:bodyPr>
          <a:lstStyle/>
          <a:p>
            <a:r>
              <a:rPr lang="en-US" dirty="0" err="1"/>
              <a:t>Homeworks</a:t>
            </a:r>
            <a:r>
              <a:rPr lang="en-US" dirty="0"/>
              <a:t> will be graded on a traditional percentage scale:</a:t>
            </a:r>
          </a:p>
          <a:p>
            <a:pPr lvl="1"/>
            <a:r>
              <a:rPr lang="en-US" b="1" i="1" u="sng" dirty="0"/>
              <a:t>Out of 10 points (or similar)</a:t>
            </a:r>
            <a:endParaRPr lang="en-US" dirty="0"/>
          </a:p>
          <a:p>
            <a:pPr lvl="1"/>
            <a:r>
              <a:rPr lang="en-US" dirty="0"/>
              <a:t>Regrades will be available (probably)</a:t>
            </a:r>
          </a:p>
          <a:p>
            <a:endParaRPr lang="en-US" dirty="0"/>
          </a:p>
          <a:p>
            <a:r>
              <a:rPr lang="en-US" b="1" i="1" u="sng" dirty="0"/>
              <a:t>Deadlines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 will have </a:t>
            </a:r>
            <a:r>
              <a:rPr lang="en-US" b="1" i="1" dirty="0"/>
              <a:t>traditional homework deadlines</a:t>
            </a:r>
            <a:r>
              <a:rPr lang="en-US" dirty="0"/>
              <a:t>, however…</a:t>
            </a:r>
          </a:p>
          <a:p>
            <a:pPr lvl="1"/>
            <a:r>
              <a:rPr lang="en-US" dirty="0"/>
              <a:t>Anyone can fill out an online form to request a 5 day extension. Extensions will be granted for any reason as long as you articulate why you need extra time and when you plan to finish the homework by.</a:t>
            </a:r>
          </a:p>
          <a:p>
            <a:pPr lvl="1"/>
            <a:r>
              <a:rPr lang="en-US" dirty="0"/>
              <a:t>NO submissions beyond this already generous 5 day window for any reason. That window IS your flexibility should anything arise.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1645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Collaboration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643027"/>
            <a:ext cx="8969939" cy="4599511"/>
          </a:xfrm>
        </p:spPr>
        <p:txBody>
          <a:bodyPr>
            <a:normAutofit/>
          </a:bodyPr>
          <a:lstStyle/>
          <a:p>
            <a:r>
              <a:rPr lang="en-US" dirty="0"/>
              <a:t>You may work in groups of up to 3 on written assignments</a:t>
            </a:r>
          </a:p>
          <a:p>
            <a:pPr lvl="1"/>
            <a:r>
              <a:rPr lang="en-US" dirty="0"/>
              <a:t>This is most of the assignments</a:t>
            </a:r>
          </a:p>
          <a:p>
            <a:pPr lvl="1"/>
            <a:r>
              <a:rPr lang="en-US" dirty="0"/>
              <a:t>Once submission per group is fine. </a:t>
            </a:r>
            <a:r>
              <a:rPr lang="en-US" dirty="0" err="1"/>
              <a:t>Gradescope</a:t>
            </a:r>
            <a:r>
              <a:rPr lang="en-US" dirty="0"/>
              <a:t> supports this quite easily.</a:t>
            </a:r>
          </a:p>
          <a:p>
            <a:pPr lvl="1"/>
            <a:endParaRPr lang="en-US" dirty="0"/>
          </a:p>
          <a:p>
            <a:r>
              <a:rPr lang="en-US" dirty="0"/>
              <a:t>On programming assignments (currently, just 1) you are expected to work independently.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93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Grade Philosophy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572689"/>
            <a:ext cx="8969939" cy="5036341"/>
          </a:xfrm>
        </p:spPr>
        <p:txBody>
          <a:bodyPr>
            <a:normAutofit/>
          </a:bodyPr>
          <a:lstStyle/>
          <a:p>
            <a:r>
              <a:rPr lang="en-US" dirty="0"/>
              <a:t>The purpose of homework is to PRACTICE!</a:t>
            </a:r>
          </a:p>
          <a:p>
            <a:endParaRPr lang="en-US" dirty="0"/>
          </a:p>
          <a:p>
            <a:r>
              <a:rPr lang="en-US" dirty="0"/>
              <a:t>I want you to:</a:t>
            </a:r>
          </a:p>
          <a:p>
            <a:pPr lvl="1"/>
            <a:r>
              <a:rPr lang="en-US" dirty="0"/>
              <a:t>Attempt every problem on your own</a:t>
            </a:r>
          </a:p>
          <a:p>
            <a:pPr lvl="1"/>
            <a:r>
              <a:rPr lang="en-US" dirty="0"/>
              <a:t>Then work with your group to get the solutions figured out</a:t>
            </a:r>
          </a:p>
          <a:p>
            <a:pPr lvl="1"/>
            <a:r>
              <a:rPr lang="en-US" dirty="0"/>
              <a:t>Study the solutions for </a:t>
            </a:r>
            <a:r>
              <a:rPr lang="en-US" dirty="0" err="1"/>
              <a:t>homeworks</a:t>
            </a:r>
            <a:r>
              <a:rPr lang="en-US" dirty="0"/>
              <a:t> (these homework problems WILL appear on quizzes).</a:t>
            </a:r>
          </a:p>
          <a:p>
            <a:endParaRPr lang="en-US" dirty="0"/>
          </a:p>
          <a:p>
            <a:r>
              <a:rPr lang="en-US" dirty="0"/>
              <a:t>Grading will be lenient. Our plan is to check your HW for completion, effort, and skim to see if it is mostly correct. However…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866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0667B-EEC6-2E7F-4D1B-F3D0FE4CA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5B5D8CC4-DC42-89A7-E6B2-481525C8CE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Check-Ins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2AADC454-16AF-F1FB-4E70-1F3326ED98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600200" y="1572689"/>
            <a:ext cx="8969939" cy="5036341"/>
          </a:xfrm>
        </p:spPr>
        <p:txBody>
          <a:bodyPr>
            <a:normAutofit/>
          </a:bodyPr>
          <a:lstStyle/>
          <a:p>
            <a:r>
              <a:rPr lang="en-US" dirty="0"/>
              <a:t>Everyone is required to do </a:t>
            </a:r>
            <a:r>
              <a:rPr lang="en-US" b="1" i="1" u="sng" dirty="0"/>
              <a:t>ONE homework check-in </a:t>
            </a:r>
            <a:r>
              <a:rPr lang="en-US" dirty="0"/>
              <a:t>at some point throughout the semester.</a:t>
            </a:r>
          </a:p>
          <a:p>
            <a:endParaRPr lang="en-US" dirty="0"/>
          </a:p>
          <a:p>
            <a:r>
              <a:rPr lang="en-US" dirty="0"/>
              <a:t>How it works:</a:t>
            </a:r>
          </a:p>
          <a:p>
            <a:pPr lvl="1"/>
            <a:r>
              <a:rPr lang="en-US" dirty="0"/>
              <a:t>You will be given a week assigned to do this check-in</a:t>
            </a:r>
          </a:p>
          <a:p>
            <a:pPr lvl="1"/>
            <a:r>
              <a:rPr lang="en-US" dirty="0"/>
              <a:t>You will sign up for an OH slot</a:t>
            </a:r>
          </a:p>
          <a:p>
            <a:pPr lvl="1"/>
            <a:r>
              <a:rPr lang="en-US" dirty="0"/>
              <a:t>Come to Office Hours</a:t>
            </a:r>
          </a:p>
          <a:p>
            <a:pPr lvl="1"/>
            <a:r>
              <a:rPr lang="en-US" dirty="0"/>
              <a:t>TA will pull up a random homework problem and ask you to explain</a:t>
            </a:r>
          </a:p>
          <a:p>
            <a:pPr lvl="1"/>
            <a:r>
              <a:rPr lang="en-US" dirty="0"/>
              <a:t>You explain the solution to the HW problem</a:t>
            </a:r>
          </a:p>
          <a:p>
            <a:pPr lvl="1"/>
            <a:r>
              <a:rPr lang="en-US" dirty="0"/>
              <a:t>TA grades you on a scale of 1-4 (not proficient to mastered)</a:t>
            </a:r>
          </a:p>
        </p:txBody>
      </p:sp>
    </p:spTree>
    <p:extLst>
      <p:ext uri="{BB962C8B-B14F-4D97-AF65-F5344CB8AC3E}">
        <p14:creationId xmlns:p14="http://schemas.microsoft.com/office/powerpoint/2010/main" val="18459088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998858" y="327866"/>
            <a:ext cx="7958331" cy="887986"/>
          </a:xfrm>
        </p:spPr>
        <p:txBody>
          <a:bodyPr/>
          <a:lstStyle/>
          <a:p>
            <a:pPr algn="ctr"/>
            <a:r>
              <a:rPr lang="en-US" dirty="0"/>
              <a:t>Grading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FEF5-BEAA-974F-B91B-2D8B6E94C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7572" y="1481365"/>
            <a:ext cx="8109617" cy="4950367"/>
          </a:xfrm>
        </p:spPr>
        <p:txBody>
          <a:bodyPr>
            <a:normAutofit/>
          </a:bodyPr>
          <a:lstStyle/>
          <a:p>
            <a:r>
              <a:rPr lang="en-US" dirty="0"/>
              <a:t>Final letter grade will be a weighted average:</a:t>
            </a:r>
          </a:p>
          <a:p>
            <a:endParaRPr lang="en-US" dirty="0"/>
          </a:p>
          <a:p>
            <a:r>
              <a:rPr lang="en-US" b="1" i="1" u="sng" dirty="0"/>
              <a:t>Homework (6-7)</a:t>
            </a:r>
            <a:r>
              <a:rPr lang="en-US" dirty="0"/>
              <a:t>: 		15 percent</a:t>
            </a:r>
          </a:p>
          <a:p>
            <a:r>
              <a:rPr lang="en-US" b="1" i="1" u="sng" dirty="0"/>
              <a:t>OH Check-In (1)</a:t>
            </a:r>
            <a:r>
              <a:rPr lang="en-US" dirty="0"/>
              <a:t>:		5 percent</a:t>
            </a:r>
          </a:p>
          <a:p>
            <a:r>
              <a:rPr lang="en-US" b="1" i="1" u="sng" dirty="0"/>
              <a:t>Attendance</a:t>
            </a:r>
            <a:r>
              <a:rPr lang="en-US" dirty="0"/>
              <a:t>:			8 percent</a:t>
            </a:r>
          </a:p>
          <a:p>
            <a:r>
              <a:rPr lang="en-US" b="1" i="1" u="sng" dirty="0"/>
              <a:t>Quizzes (Mods 1-4)</a:t>
            </a:r>
            <a:r>
              <a:rPr lang="en-US" dirty="0"/>
              <a:t>: 		60 percent (15 percent each)</a:t>
            </a:r>
          </a:p>
          <a:p>
            <a:r>
              <a:rPr lang="en-US" b="1" i="1" u="sng" dirty="0"/>
              <a:t>Final Exam Quiz</a:t>
            </a:r>
            <a:r>
              <a:rPr lang="en-US" dirty="0"/>
              <a:t>: 		12 percent</a:t>
            </a:r>
          </a:p>
        </p:txBody>
      </p:sp>
    </p:spTree>
    <p:extLst>
      <p:ext uri="{BB962C8B-B14F-4D97-AF65-F5344CB8AC3E}">
        <p14:creationId xmlns:p14="http://schemas.microsoft.com/office/powerpoint/2010/main" val="160555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97938"/>
            <a:ext cx="9905998" cy="969122"/>
          </a:xfrm>
        </p:spPr>
        <p:txBody>
          <a:bodyPr/>
          <a:lstStyle/>
          <a:p>
            <a:pPr algn="ctr"/>
            <a:r>
              <a:rPr lang="en-US" dirty="0"/>
              <a:t>Office Hours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Let’s discuss office hours by looking at the course website.</a:t>
            </a:r>
          </a:p>
        </p:txBody>
      </p:sp>
    </p:spTree>
    <p:extLst>
      <p:ext uri="{BB962C8B-B14F-4D97-AF65-F5344CB8AC3E}">
        <p14:creationId xmlns:p14="http://schemas.microsoft.com/office/powerpoint/2010/main" val="34815225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1141413" y="457745"/>
            <a:ext cx="9905998" cy="874078"/>
          </a:xfrm>
        </p:spPr>
        <p:txBody>
          <a:bodyPr/>
          <a:lstStyle/>
          <a:p>
            <a:pPr algn="ctr"/>
            <a:r>
              <a:rPr lang="en-US" dirty="0"/>
              <a:t>Homework: Written</a:t>
            </a:r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1621861" y="1644997"/>
            <a:ext cx="9274739" cy="4755803"/>
          </a:xfrm>
        </p:spPr>
        <p:txBody>
          <a:bodyPr/>
          <a:lstStyle/>
          <a:p>
            <a:r>
              <a:rPr lang="en-US" dirty="0"/>
              <a:t>These assignments must be typeset in </a:t>
            </a:r>
            <a:r>
              <a:rPr lang="en-US" dirty="0" err="1"/>
              <a:t>LaTeX</a:t>
            </a:r>
            <a:endParaRPr lang="en-US" dirty="0"/>
          </a:p>
          <a:p>
            <a:endParaRPr lang="en-US" dirty="0"/>
          </a:p>
          <a:p>
            <a:r>
              <a:rPr lang="en-US" dirty="0"/>
              <a:t>I will provide a couple tutorials, guides, and templates when the first assignment is given out</a:t>
            </a:r>
          </a:p>
          <a:p>
            <a:endParaRPr lang="en-US" dirty="0"/>
          </a:p>
          <a:p>
            <a:r>
              <a:rPr lang="en-US" b="1" i="1" u="sng" dirty="0"/>
              <a:t>You may not embed images of text or formulas</a:t>
            </a:r>
            <a:r>
              <a:rPr lang="en-US" dirty="0"/>
              <a:t>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25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C06E-652D-CD40-8782-E878E11BC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38132"/>
            <a:ext cx="9905998" cy="799137"/>
          </a:xfrm>
        </p:spPr>
        <p:txBody>
          <a:bodyPr/>
          <a:lstStyle/>
          <a:p>
            <a:pPr algn="ctr"/>
            <a:r>
              <a:rPr lang="en-US" dirty="0"/>
              <a:t>Use of Online Code Etc.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2A69A9-9079-244C-BEAE-11CF7ACAB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0" y="1722456"/>
            <a:ext cx="9420888" cy="4830744"/>
          </a:xfrm>
        </p:spPr>
        <p:txBody>
          <a:bodyPr>
            <a:normAutofit fontScale="92500"/>
          </a:bodyPr>
          <a:lstStyle/>
          <a:p>
            <a:r>
              <a:rPr lang="en-US" u="sng" dirty="0"/>
              <a:t>Studying</a:t>
            </a:r>
            <a:r>
              <a:rPr lang="en-US" dirty="0"/>
              <a:t> code or proofs online is permitted </a:t>
            </a:r>
            <a:r>
              <a:rPr lang="en-US" u="sng" dirty="0"/>
              <a:t>but only</a:t>
            </a:r>
            <a:r>
              <a:rPr lang="en-US" dirty="0"/>
              <a:t> for getting ideas</a:t>
            </a:r>
          </a:p>
          <a:p>
            <a:r>
              <a:rPr lang="en-US" dirty="0"/>
              <a:t>Copying or reusing code or proofs from an online source violates the pledge</a:t>
            </a:r>
          </a:p>
          <a:p>
            <a:pPr lvl="1"/>
            <a:r>
              <a:rPr lang="en-US" dirty="0"/>
              <a:t>You must cite sources of any online code you use in this way in a comment in your source file(s)</a:t>
            </a:r>
          </a:p>
          <a:p>
            <a:pPr lvl="1"/>
            <a:endParaRPr lang="en-US" dirty="0"/>
          </a:p>
          <a:p>
            <a:r>
              <a:rPr lang="en-US" dirty="0"/>
              <a:t>Remember:  the purpose of the homework is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practice</a:t>
            </a:r>
            <a:r>
              <a:rPr lang="en-US" dirty="0"/>
              <a:t> in an environment that is lower-stress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push yourself </a:t>
            </a:r>
            <a:r>
              <a:rPr lang="en-US" dirty="0"/>
              <a:t>to solve think about the theory of computation and to prepare you for the quizzes, NOT just to get a grade.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work out the logical part </a:t>
            </a:r>
            <a:r>
              <a:rPr lang="en-US" dirty="0"/>
              <a:t>of your brain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  <a:p>
            <a:pPr lvl="1"/>
            <a:r>
              <a:rPr lang="en-US" dirty="0"/>
              <a:t>To focus on </a:t>
            </a:r>
            <a:r>
              <a:rPr lang="en-US" b="1" i="1" u="sng" dirty="0"/>
              <a:t>attempting to solve problems yourself </a:t>
            </a:r>
            <a:r>
              <a:rPr lang="en-US" dirty="0"/>
              <a:t>before asking others for assistance.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6391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Working in groups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For the homework, you may work together in groups of 3 or less (written assignments)</a:t>
            </a:r>
          </a:p>
          <a:p>
            <a:pPr lvl="1"/>
            <a:r>
              <a:rPr lang="en-US" dirty="0"/>
              <a:t>Submit one homework per group (I believe </a:t>
            </a:r>
            <a:r>
              <a:rPr lang="en-US" dirty="0" err="1"/>
              <a:t>Gradescope</a:t>
            </a:r>
            <a:r>
              <a:rPr lang="en-US" dirty="0"/>
              <a:t> supports this)</a:t>
            </a:r>
          </a:p>
          <a:p>
            <a:endParaRPr lang="en-US" dirty="0"/>
          </a:p>
          <a:p>
            <a:r>
              <a:rPr lang="en-US" dirty="0"/>
              <a:t>For the programming homework, you may discuss the problems with your group of 3 or less, but you must:</a:t>
            </a:r>
          </a:p>
          <a:p>
            <a:pPr lvl="1"/>
            <a:r>
              <a:rPr lang="en-US" dirty="0"/>
              <a:t>State who you worked with</a:t>
            </a:r>
          </a:p>
          <a:p>
            <a:pPr lvl="1"/>
            <a:r>
              <a:rPr lang="en-US" dirty="0"/>
              <a:t>Type up your own implementation!</a:t>
            </a:r>
          </a:p>
        </p:txBody>
      </p:sp>
    </p:spTree>
    <p:extLst>
      <p:ext uri="{BB962C8B-B14F-4D97-AF65-F5344CB8AC3E}">
        <p14:creationId xmlns:p14="http://schemas.microsoft.com/office/powerpoint/2010/main" val="12923680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53C7-DA38-58A0-62B1-0D28173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8D2444A4-E005-9DE7-1639-67494304F7F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On the Subject of Effort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941A19F4-0DA1-C94E-272C-CD4C77EEF8F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DMT2 is a difficult course with a lot of abstract conceptual content.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To be successful, you should at minimum be prepared to: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Attend Lecture Every Single Day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 NOT use your free extensions unless you absolutely need to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Spend at least 1 hour per day on the course (7 hours per week)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I truly believe smaller 1 hour chunks is better than one big 3-4 hour chunk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What to spend your time on: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Lecture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Working on homework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Read the textbook (it is better than almost ALL </a:t>
            </a:r>
            <a:r>
              <a:rPr lang="en-US" dirty="0" err="1"/>
              <a:t>youtube</a:t>
            </a:r>
            <a:r>
              <a:rPr lang="en-US" dirty="0"/>
              <a:t> videos in my opinion)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Reviewing lecture recordings (this should NOT be the first time you see the lecture)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 homework problems AFTER they are submitted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Review old quizzes on course website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Attend OH and discuss problems with TAs</a:t>
            </a:r>
          </a:p>
        </p:txBody>
      </p:sp>
    </p:spTree>
    <p:extLst>
      <p:ext uri="{BB962C8B-B14F-4D97-AF65-F5344CB8AC3E}">
        <p14:creationId xmlns:p14="http://schemas.microsoft.com/office/powerpoint/2010/main" val="447773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I think that is all…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Any questions…</a:t>
            </a:r>
          </a:p>
        </p:txBody>
      </p:sp>
    </p:spTree>
    <p:extLst>
      <p:ext uri="{BB962C8B-B14F-4D97-AF65-F5344CB8AC3E}">
        <p14:creationId xmlns:p14="http://schemas.microsoft.com/office/powerpoint/2010/main" val="7552088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11968</TotalTime>
  <Words>2649</Words>
  <Application>Microsoft Macintosh PowerPoint</Application>
  <PresentationFormat>Widescreen</PresentationFormat>
  <Paragraphs>284</Paragraphs>
  <Slides>34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Cambria Math</vt:lpstr>
      <vt:lpstr>Tw Cen MT</vt:lpstr>
      <vt:lpstr>Wingdings</vt:lpstr>
      <vt:lpstr>Circuit</vt:lpstr>
      <vt:lpstr>CS3120 (DMT2) Course Introduction</vt:lpstr>
      <vt:lpstr>Quick Polls (Agree or Not?)</vt:lpstr>
      <vt:lpstr>My Answers (1 to 10)</vt:lpstr>
      <vt:lpstr>Course Objectives</vt:lpstr>
      <vt:lpstr>Course OBjectives</vt:lpstr>
      <vt:lpstr>Course introduction</vt:lpstr>
      <vt:lpstr>General Info</vt:lpstr>
      <vt:lpstr>Course Website</vt:lpstr>
      <vt:lpstr>Other Course Tools</vt:lpstr>
      <vt:lpstr>Expectations</vt:lpstr>
      <vt:lpstr>On the Subject of Laptops / Phones</vt:lpstr>
      <vt:lpstr>On the Subject of Attendance</vt:lpstr>
      <vt:lpstr>Attendance Score</vt:lpstr>
      <vt:lpstr>General Info</vt:lpstr>
      <vt:lpstr>Textbook</vt:lpstr>
      <vt:lpstr>Lectures</vt:lpstr>
      <vt:lpstr>Modules</vt:lpstr>
      <vt:lpstr>Modules (Cont’d)</vt:lpstr>
      <vt:lpstr>Quizzes</vt:lpstr>
      <vt:lpstr>Quizzes</vt:lpstr>
      <vt:lpstr>Quizzes</vt:lpstr>
      <vt:lpstr>Final Exam</vt:lpstr>
      <vt:lpstr>Homeworks</vt:lpstr>
      <vt:lpstr>Homework Grades</vt:lpstr>
      <vt:lpstr>Homework Collaboration</vt:lpstr>
      <vt:lpstr>Homework Grade Philosophy</vt:lpstr>
      <vt:lpstr>Homework Check-Ins</vt:lpstr>
      <vt:lpstr>Grading Overview</vt:lpstr>
      <vt:lpstr>Office Hours</vt:lpstr>
      <vt:lpstr>Homework: Written</vt:lpstr>
      <vt:lpstr>Use of Online Code Etc.</vt:lpstr>
      <vt:lpstr>Working in groups</vt:lpstr>
      <vt:lpstr>On the Subject of Effort</vt:lpstr>
      <vt:lpstr>I think that is all…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139</cp:revision>
  <dcterms:created xsi:type="dcterms:W3CDTF">2023-02-24T14:15:53Z</dcterms:created>
  <dcterms:modified xsi:type="dcterms:W3CDTF">2026-08-25T13:21:50Z</dcterms:modified>
</cp:coreProperties>
</file>