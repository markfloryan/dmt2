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notesSlides/notesSlide2.xml" ContentType="application/vnd.openxmlformats-officedocument.presentationml.notesSlide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006" r:id="rId1"/>
  </p:sldMasterIdLst>
  <p:notesMasterIdLst>
    <p:notesMasterId r:id="rId36"/>
  </p:notesMasterIdLst>
  <p:sldIdLst>
    <p:sldId id="256" r:id="rId2"/>
    <p:sldId id="505" r:id="rId3"/>
    <p:sldId id="513" r:id="rId4"/>
    <p:sldId id="507" r:id="rId5"/>
    <p:sldId id="508" r:id="rId6"/>
    <p:sldId id="511" r:id="rId7"/>
    <p:sldId id="512" r:id="rId8"/>
    <p:sldId id="510" r:id="rId9"/>
    <p:sldId id="504" r:id="rId10"/>
    <p:sldId id="426" r:id="rId11"/>
    <p:sldId id="516" r:id="rId12"/>
    <p:sldId id="519" r:id="rId13"/>
    <p:sldId id="520" r:id="rId14"/>
    <p:sldId id="403" r:id="rId15"/>
    <p:sldId id="470" r:id="rId16"/>
    <p:sldId id="495" r:id="rId17"/>
    <p:sldId id="474" r:id="rId18"/>
    <p:sldId id="497" r:id="rId19"/>
    <p:sldId id="487" r:id="rId20"/>
    <p:sldId id="517" r:id="rId21"/>
    <p:sldId id="498" r:id="rId22"/>
    <p:sldId id="490" r:id="rId23"/>
    <p:sldId id="488" r:id="rId24"/>
    <p:sldId id="489" r:id="rId25"/>
    <p:sldId id="501" r:id="rId26"/>
    <p:sldId id="506" r:id="rId27"/>
    <p:sldId id="518" r:id="rId28"/>
    <p:sldId id="491" r:id="rId29"/>
    <p:sldId id="496" r:id="rId30"/>
    <p:sldId id="463" r:id="rId31"/>
    <p:sldId id="502" r:id="rId32"/>
    <p:sldId id="464" r:id="rId33"/>
    <p:sldId id="521" r:id="rId34"/>
    <p:sldId id="514" r:id="rId3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111"/>
    <p:restoredTop sz="94739"/>
  </p:normalViewPr>
  <p:slideViewPr>
    <p:cSldViewPr snapToGrid="0" snapToObjects="1">
      <p:cViewPr varScale="1">
        <p:scale>
          <a:sx n="153" d="100"/>
          <a:sy n="153" d="100"/>
        </p:scale>
        <p:origin x="184" y="6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B45307-6ED4-B142-BD64-10F739779302}" type="datetimeFigureOut">
              <a:rPr lang="en-US" smtClean="0"/>
              <a:t>9/28/26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BDE956-AECE-4A49-8BC2-51A8C013B7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39781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BDE956-AECE-4A49-8BC2-51A8C013B72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94577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57200" y="720725"/>
            <a:ext cx="6400800" cy="36004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1890EBB-E05E-4685-8A9C-8E0AC45FB38E}" type="slidenum">
              <a:rPr lang="en-US" smtClean="0"/>
              <a:pPr>
                <a:defRPr/>
              </a:pPr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16426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02D7A8C-E8C9-C044-B17F-4F3BDC02CA13}" type="datetime1">
              <a:rPr lang="en-US" smtClean="0"/>
              <a:t>9/28/26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3446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D537B-242B-6E4B-B3AA-5700AD130DAB}" type="datetime1">
              <a:rPr lang="en-US" smtClean="0"/>
              <a:t>9/28/26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54007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0DB53-1439-2E4C-8FEF-8A4982596F3C}" type="datetime1">
              <a:rPr lang="en-US" smtClean="0"/>
              <a:t>9/28/26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2796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68B4C4-E214-B54E-A5C2-DF036DC63B34}" type="datetime1">
              <a:rPr lang="en-US" smtClean="0"/>
              <a:t>9/28/26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30751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C456D-E6B2-0642-9BEB-83D0B9BAC47F}" type="datetime1">
              <a:rPr lang="en-US" smtClean="0"/>
              <a:t>9/28/26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572076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AA1968-45EA-A240-A17F-44B2A8A0BB1D}" type="datetime1">
              <a:rPr lang="en-US" smtClean="0"/>
              <a:t>9/28/26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41163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CFB313-9C91-AB4A-9BD3-BE60645D454E}" type="datetime1">
              <a:rPr lang="en-US" smtClean="0"/>
              <a:t>9/28/26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43014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0DE57A-C1B2-FD48-B4C3-5BEA75776498}" type="datetime1">
              <a:rPr lang="en-US" smtClean="0"/>
              <a:t>9/28/26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550312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82DE63-F783-CF4C-A886-D3D65D6D3AA3}" type="datetime1">
              <a:rPr lang="en-US" smtClean="0"/>
              <a:t>9/28/26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47550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F8A4E9-907E-024F-942D-1027DBDB6B95}" type="datetime1">
              <a:rPr lang="en-US" smtClean="0"/>
              <a:t>9/28/26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3797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E75626-F07C-1141-9EC1-D81C02E85261}" type="datetime1">
              <a:rPr lang="en-US" smtClean="0"/>
              <a:t>9/28/26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11801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42032B-A565-A745-AD03-A3A1AE898D44}" type="datetime1">
              <a:rPr lang="en-US" smtClean="0"/>
              <a:t>9/28/26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1338760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7DFA05-D8BC-F743-AAC8-830078F9EC2E}" type="datetime1">
              <a:rPr lang="en-US" smtClean="0"/>
              <a:t>9/28/26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169598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ACE03-F6AA-B648-AEDA-6D288BF5F57D}" type="datetime1">
              <a:rPr lang="en-US" smtClean="0"/>
              <a:t>9/28/26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096692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CC296A-FFCD-5143-BB88-7498A31860D8}" type="datetime1">
              <a:rPr lang="en-US" smtClean="0"/>
              <a:t>9/28/26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074458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5FF73-2E33-5542-B000-2DC2E7840EBF}" type="datetime1">
              <a:rPr lang="en-US" smtClean="0"/>
              <a:t>9/28/26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976783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F42606-263B-9C4F-8747-C46201865648}" type="datetime1">
              <a:rPr lang="en-US" smtClean="0"/>
              <a:t>9/28/26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0532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173DD1-A275-4445-AB1E-9DFF752BE39B}" type="datetime1">
              <a:rPr lang="en-US" smtClean="0"/>
              <a:t>9/28/26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426018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007" r:id="rId1"/>
    <p:sldLayoutId id="2147484008" r:id="rId2"/>
    <p:sldLayoutId id="2147484009" r:id="rId3"/>
    <p:sldLayoutId id="2147484010" r:id="rId4"/>
    <p:sldLayoutId id="2147484011" r:id="rId5"/>
    <p:sldLayoutId id="2147484012" r:id="rId6"/>
    <p:sldLayoutId id="2147484013" r:id="rId7"/>
    <p:sldLayoutId id="2147484014" r:id="rId8"/>
    <p:sldLayoutId id="2147484015" r:id="rId9"/>
    <p:sldLayoutId id="2147484016" r:id="rId10"/>
    <p:sldLayoutId id="2147484017" r:id="rId11"/>
    <p:sldLayoutId id="2147484018" r:id="rId12"/>
    <p:sldLayoutId id="2147484019" r:id="rId13"/>
    <p:sldLayoutId id="2147484020" r:id="rId14"/>
    <p:sldLayoutId id="2147484021" r:id="rId15"/>
    <p:sldLayoutId id="2147484022" r:id="rId16"/>
    <p:sldLayoutId id="2147484023" r:id="rId17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4.xml"/><Relationship Id="rId1" Type="http://schemas.openxmlformats.org/officeDocument/2006/relationships/tags" Target="../tags/tag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.xml"/><Relationship Id="rId1" Type="http://schemas.openxmlformats.org/officeDocument/2006/relationships/tags" Target="../tags/tag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8.xml"/><Relationship Id="rId1" Type="http://schemas.openxmlformats.org/officeDocument/2006/relationships/tags" Target="../tags/tag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0.xml"/><Relationship Id="rId1" Type="http://schemas.openxmlformats.org/officeDocument/2006/relationships/tags" Target="../tags/tag9.xml"/><Relationship Id="rId4" Type="http://schemas.openxmlformats.org/officeDocument/2006/relationships/hyperlink" Target="https://markfloryan.github.io/dmt2/" TargetMode="Externa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2.xml"/><Relationship Id="rId1" Type="http://schemas.openxmlformats.org/officeDocument/2006/relationships/tags" Target="../tags/tag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4.xml"/><Relationship Id="rId1" Type="http://schemas.openxmlformats.org/officeDocument/2006/relationships/tags" Target="../tags/tag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6.xml"/><Relationship Id="rId1" Type="http://schemas.openxmlformats.org/officeDocument/2006/relationships/tags" Target="../tags/tag1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5" Type="http://schemas.openxmlformats.org/officeDocument/2006/relationships/image" Target="../media/image3.png"/><Relationship Id="rId4" Type="http://schemas.openxmlformats.org/officeDocument/2006/relationships/tags" Target="../tags/tag1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0.xml"/><Relationship Id="rId1" Type="http://schemas.openxmlformats.org/officeDocument/2006/relationships/tags" Target="../tags/tag1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2.xml"/><Relationship Id="rId1" Type="http://schemas.openxmlformats.org/officeDocument/2006/relationships/tags" Target="../tags/tag2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8F7A2C-CECB-EA45-9A8F-28914F6ACB9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dirty="0"/>
              <a:t>CS3120 (DMT2)</a:t>
            </a:r>
            <a:br>
              <a:rPr lang="en-US" dirty="0"/>
            </a:br>
            <a:r>
              <a:rPr lang="en-US" dirty="0"/>
              <a:t>Course Introduction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CC3BA16-EE93-B74E-A27C-2B68B596BB5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/>
            <a:r>
              <a:rPr lang="en-US" dirty="0"/>
              <a:t>Discrete Mathematics and Theory 2</a:t>
            </a:r>
            <a:br>
              <a:rPr lang="en-US" dirty="0"/>
            </a:br>
            <a:r>
              <a:rPr lang="en-US" dirty="0"/>
              <a:t>Mark Floryan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37305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1141413" y="322184"/>
            <a:ext cx="9905998" cy="897015"/>
          </a:xfrm>
        </p:spPr>
        <p:txBody>
          <a:bodyPr/>
          <a:lstStyle/>
          <a:p>
            <a:pPr algn="ctr"/>
            <a:r>
              <a:rPr lang="en-US" dirty="0"/>
              <a:t>Quick Polls (Agree or Not?)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idx="1"/>
            <p:custDataLst>
              <p:tags r:id="rId2"/>
            </p:custDataLst>
          </p:nvPr>
        </p:nvSpPr>
        <p:spPr>
          <a:xfrm>
            <a:off x="1141413" y="1473200"/>
            <a:ext cx="9970724" cy="48006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i="1" u="sng" dirty="0"/>
              <a:t>Q1</a:t>
            </a:r>
            <a:r>
              <a:rPr lang="en-US" dirty="0"/>
              <a:t>: I have heard that DMT 2 is like…a really hard class!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i="1" u="sng" dirty="0"/>
              <a:t>Q2</a:t>
            </a:r>
            <a:r>
              <a:rPr lang="en-US" dirty="0"/>
              <a:t>: I have heard that DMT 2 is a lot of work!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i="1" u="sng" dirty="0"/>
              <a:t>Q3</a:t>
            </a:r>
            <a:r>
              <a:rPr lang="en-US" dirty="0"/>
              <a:t>: I have heard that DMT 2 material isn’t that important and that you will never really use it!</a:t>
            </a:r>
          </a:p>
        </p:txBody>
      </p:sp>
    </p:spTree>
    <p:extLst>
      <p:ext uri="{BB962C8B-B14F-4D97-AF65-F5344CB8AC3E}">
        <p14:creationId xmlns:p14="http://schemas.microsoft.com/office/powerpoint/2010/main" val="24317540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1141413" y="322184"/>
            <a:ext cx="9905998" cy="897015"/>
          </a:xfrm>
        </p:spPr>
        <p:txBody>
          <a:bodyPr/>
          <a:lstStyle/>
          <a:p>
            <a:pPr algn="ctr"/>
            <a:r>
              <a:rPr lang="en-US" dirty="0"/>
              <a:t>My Answers (1 to 10)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idx="1"/>
            <p:custDataLst>
              <p:tags r:id="rId2"/>
            </p:custDataLst>
          </p:nvPr>
        </p:nvSpPr>
        <p:spPr>
          <a:xfrm>
            <a:off x="1141413" y="1219199"/>
            <a:ext cx="9970724" cy="53209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i="1" u="sng" dirty="0"/>
              <a:t>Q1</a:t>
            </a:r>
            <a:r>
              <a:rPr lang="en-US" dirty="0"/>
              <a:t>: I have heard that DMT 2 is like…a really hard class!</a:t>
            </a:r>
            <a:br>
              <a:rPr lang="en-US" dirty="0"/>
            </a:br>
            <a:r>
              <a:rPr lang="en-US" dirty="0"/>
              <a:t>	</a:t>
            </a:r>
            <a:r>
              <a:rPr lang="en-US" i="1" u="sng" dirty="0"/>
              <a:t>8: Yes, the material is hard. There is no way around it </a:t>
            </a:r>
            <a:r>
              <a:rPr lang="en-US" i="1" u="sng" dirty="0">
                <a:sym typeface="Wingdings" pitchFamily="2" charset="2"/>
              </a:rPr>
              <a:t>&lt;sad face&gt;</a:t>
            </a:r>
            <a:endParaRPr lang="en-US" i="1" u="sng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i="1" u="sng" dirty="0"/>
              <a:t>Q2</a:t>
            </a:r>
            <a:r>
              <a:rPr lang="en-US" dirty="0"/>
              <a:t>: I have heard that DMT 2 is a lot of work!</a:t>
            </a:r>
            <a:br>
              <a:rPr lang="en-US" dirty="0"/>
            </a:br>
            <a:r>
              <a:rPr lang="en-US" dirty="0"/>
              <a:t>	</a:t>
            </a:r>
            <a:r>
              <a:rPr lang="en-US" i="1" u="sng" dirty="0"/>
              <a:t>6: A lot of work to understand the concepts, but not a pile of work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i="1" u="sng" dirty="0"/>
              <a:t>Q3</a:t>
            </a:r>
            <a:r>
              <a:rPr lang="en-US" dirty="0"/>
              <a:t>: I have heard that DMT 2 material isn’t that important and that you will never really use it!</a:t>
            </a:r>
            <a:br>
              <a:rPr lang="en-US" dirty="0"/>
            </a:br>
            <a:r>
              <a:rPr lang="en-US" dirty="0"/>
              <a:t>	</a:t>
            </a:r>
            <a:r>
              <a:rPr lang="en-US" i="1" u="sng" dirty="0"/>
              <a:t>3: This material is universal and timeless…I’ll explain a bit more verbally</a:t>
            </a:r>
          </a:p>
        </p:txBody>
      </p:sp>
    </p:spTree>
    <p:extLst>
      <p:ext uri="{BB962C8B-B14F-4D97-AF65-F5344CB8AC3E}">
        <p14:creationId xmlns:p14="http://schemas.microsoft.com/office/powerpoint/2010/main" val="37490582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Course Objectives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99408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1141413" y="322184"/>
            <a:ext cx="9905998" cy="897015"/>
          </a:xfrm>
        </p:spPr>
        <p:txBody>
          <a:bodyPr/>
          <a:lstStyle/>
          <a:p>
            <a:pPr algn="ctr"/>
            <a:r>
              <a:rPr lang="en-US" dirty="0"/>
              <a:t>Course </a:t>
            </a:r>
            <a:r>
              <a:rPr lang="en-US" dirty="0" err="1"/>
              <a:t>OBjectives</a:t>
            </a:r>
            <a:endParaRPr lang="en-US" dirty="0"/>
          </a:p>
        </p:txBody>
      </p:sp>
      <p:sp>
        <p:nvSpPr>
          <p:cNvPr id="6147" name="Rectangle 3"/>
          <p:cNvSpPr>
            <a:spLocks noGrp="1" noChangeArrowheads="1"/>
          </p:cNvSpPr>
          <p:nvPr>
            <p:ph idx="1"/>
            <p:custDataLst>
              <p:tags r:id="rId2"/>
            </p:custDataLst>
          </p:nvPr>
        </p:nvSpPr>
        <p:spPr>
          <a:xfrm>
            <a:off x="1396721" y="1473200"/>
            <a:ext cx="9365064" cy="4800600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u="sng" dirty="0"/>
              <a:t>Students who complete the course will</a:t>
            </a:r>
            <a:r>
              <a:rPr lang="en-US" dirty="0"/>
              <a:t>: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Improve their mathematical thinking skill and habits, including thinking precisely about definitions, stating assumptions carefully, critically reading arguments, and being able to write convincingly.</a:t>
            </a:r>
          </a:p>
          <a:p>
            <a:r>
              <a:rPr lang="en-US" dirty="0"/>
              <a:t>Be able to understand both finite and infinite formal models of computation and to reason about what they can and cannot compute.</a:t>
            </a:r>
          </a:p>
          <a:p>
            <a:r>
              <a:rPr lang="en-US" dirty="0"/>
              <a:t>Understand both intuitively and formally what makes some problems too expensive to solve, and what can be done in practice when an unsolvable or intractable problem is encountered.</a:t>
            </a:r>
          </a:p>
          <a:p>
            <a:r>
              <a:rPr lang="en-US" dirty="0"/>
              <a:t>Reason formally about the cost of computation, and be able to prove useful bounds on the costs of solving problems, including showing that certain problems are intractable.</a:t>
            </a:r>
          </a:p>
          <a:p>
            <a:r>
              <a:rPr lang="en-US" dirty="0"/>
              <a:t>Learn about some interesting aspects of theoretical computer science, including cryptography and machine learning.</a:t>
            </a:r>
          </a:p>
        </p:txBody>
      </p:sp>
    </p:spTree>
    <p:extLst>
      <p:ext uri="{BB962C8B-B14F-4D97-AF65-F5344CB8AC3E}">
        <p14:creationId xmlns:p14="http://schemas.microsoft.com/office/powerpoint/2010/main" val="131640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Course introduction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77724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1141413" y="322184"/>
            <a:ext cx="9905998" cy="897015"/>
          </a:xfrm>
        </p:spPr>
        <p:txBody>
          <a:bodyPr/>
          <a:lstStyle/>
          <a:p>
            <a:pPr algn="ctr"/>
            <a:r>
              <a:rPr lang="en-US" dirty="0"/>
              <a:t>General Info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idx="1"/>
            <p:custDataLst>
              <p:tags r:id="rId2"/>
            </p:custDataLst>
          </p:nvPr>
        </p:nvSpPr>
        <p:spPr>
          <a:xfrm>
            <a:off x="1905000" y="1473200"/>
            <a:ext cx="8255000" cy="4800600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See syllabus on course website for general information</a:t>
            </a:r>
          </a:p>
          <a:p>
            <a:r>
              <a:rPr lang="en-US" dirty="0"/>
              <a:t>Pre-requisites:</a:t>
            </a:r>
          </a:p>
          <a:p>
            <a:pPr lvl="1"/>
            <a:r>
              <a:rPr lang="en-US" dirty="0"/>
              <a:t>CS 3100 (DSA2) if you are in the new curriculum (most of you, probably)</a:t>
            </a:r>
          </a:p>
          <a:p>
            <a:pPr lvl="1"/>
            <a:r>
              <a:rPr lang="en-US" dirty="0"/>
              <a:t>CS 4102 (</a:t>
            </a:r>
            <a:r>
              <a:rPr lang="en-US" dirty="0" err="1"/>
              <a:t>Algo</a:t>
            </a:r>
            <a:r>
              <a:rPr lang="en-US" dirty="0"/>
              <a:t>) if you are in the old curriculum (Maybe a few of you)</a:t>
            </a:r>
          </a:p>
          <a:p>
            <a:pPr lvl="1"/>
            <a:r>
              <a:rPr lang="en-US" dirty="0"/>
              <a:t>Math topics: proof by induction, proof by contradiction, etc. (Basically everything in DMT 1)</a:t>
            </a:r>
          </a:p>
          <a:p>
            <a:pPr lvl="1"/>
            <a:r>
              <a:rPr lang="en-US" dirty="0"/>
              <a:t>Data Structures: Graphs and generally maturity proving things, etc.</a:t>
            </a:r>
          </a:p>
          <a:p>
            <a:r>
              <a:rPr lang="en-US" dirty="0"/>
              <a:t>Teaching Assistants</a:t>
            </a:r>
          </a:p>
          <a:p>
            <a:pPr lvl="1"/>
            <a:r>
              <a:rPr lang="en-US" dirty="0"/>
              <a:t>Graduates (1):</a:t>
            </a:r>
          </a:p>
          <a:p>
            <a:pPr lvl="2"/>
            <a:r>
              <a:rPr lang="en-US" dirty="0"/>
              <a:t>Gustavo Moreira(See course website for contact info)</a:t>
            </a:r>
          </a:p>
          <a:p>
            <a:pPr lvl="1"/>
            <a:r>
              <a:rPr lang="en-US" dirty="0"/>
              <a:t>Undergraduates (~15)</a:t>
            </a:r>
          </a:p>
          <a:p>
            <a:pPr lvl="2"/>
            <a:r>
              <a:rPr lang="en-US" dirty="0"/>
              <a:t>We have a good sized staff this year!</a:t>
            </a:r>
          </a:p>
          <a:p>
            <a:pPr lvl="1"/>
            <a:r>
              <a:rPr lang="en-US" dirty="0"/>
              <a:t>Both will hold office hours, which will start next week</a:t>
            </a:r>
          </a:p>
          <a:p>
            <a:pPr lvl="2"/>
            <a:r>
              <a:rPr lang="en-US" dirty="0"/>
              <a:t>Locations and hours mostly set on course website</a:t>
            </a:r>
          </a:p>
          <a:p>
            <a:pPr lvl="1"/>
            <a:r>
              <a:rPr lang="en-US" dirty="0"/>
              <a:t>Also, we’ll use Piazza for questions.</a:t>
            </a:r>
          </a:p>
          <a:p>
            <a:pPr lvl="2"/>
            <a:r>
              <a:rPr lang="en-US" dirty="0"/>
              <a:t>Post all questions about HW, topics, etc. to Piazza NOT email to instructors!</a:t>
            </a:r>
          </a:p>
        </p:txBody>
      </p:sp>
    </p:spTree>
    <p:extLst>
      <p:ext uri="{BB962C8B-B14F-4D97-AF65-F5344CB8AC3E}">
        <p14:creationId xmlns:p14="http://schemas.microsoft.com/office/powerpoint/2010/main" val="39293884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1141413" y="322184"/>
            <a:ext cx="9905998" cy="897015"/>
          </a:xfrm>
        </p:spPr>
        <p:txBody>
          <a:bodyPr/>
          <a:lstStyle/>
          <a:p>
            <a:pPr algn="ctr"/>
            <a:r>
              <a:rPr lang="en-US" dirty="0"/>
              <a:t>Course Website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idx="1"/>
            <p:custDataLst>
              <p:tags r:id="rId2"/>
            </p:custDataLst>
          </p:nvPr>
        </p:nvSpPr>
        <p:spPr>
          <a:xfrm>
            <a:off x="1905000" y="1473200"/>
            <a:ext cx="8255000" cy="48006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hlinkClick r:id="rId4"/>
              </a:rPr>
              <a:t>https://markfloryan.github.io/dmt2/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Contains most of the important info for the course:</a:t>
            </a:r>
          </a:p>
          <a:p>
            <a:pPr lvl="1">
              <a:buFontTx/>
              <a:buChar char="-"/>
            </a:pPr>
            <a:r>
              <a:rPr lang="en-US" dirty="0"/>
              <a:t>Homework</a:t>
            </a:r>
          </a:p>
          <a:p>
            <a:pPr lvl="1">
              <a:buFontTx/>
              <a:buChar char="-"/>
            </a:pPr>
            <a:r>
              <a:rPr lang="en-US" dirty="0"/>
              <a:t>Slides</a:t>
            </a:r>
          </a:p>
          <a:p>
            <a:pPr lvl="1">
              <a:buFontTx/>
              <a:buChar char="-"/>
            </a:pPr>
            <a:r>
              <a:rPr lang="en-US" dirty="0"/>
              <a:t>Syllabus</a:t>
            </a:r>
          </a:p>
          <a:p>
            <a:pPr lvl="1">
              <a:buFontTx/>
              <a:buChar char="-"/>
            </a:pPr>
            <a:r>
              <a:rPr lang="en-US" dirty="0" err="1"/>
              <a:t>Etc</a:t>
            </a:r>
            <a:r>
              <a:rPr lang="en-US" dirty="0"/>
              <a:t>…</a:t>
            </a:r>
          </a:p>
          <a:p>
            <a:pPr>
              <a:buFontTx/>
              <a:buChar char="-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21315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714F9-F01E-7B4D-8EB0-3B151FAE66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371091"/>
            <a:ext cx="9905998" cy="917045"/>
          </a:xfrm>
        </p:spPr>
        <p:txBody>
          <a:bodyPr/>
          <a:lstStyle/>
          <a:p>
            <a:pPr algn="ctr"/>
            <a:r>
              <a:rPr lang="en-US" dirty="0"/>
              <a:t>Other Course Tools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0851DE-8B7D-3A4B-A735-7873D3097E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0160" y="1611762"/>
            <a:ext cx="9482328" cy="4560438"/>
          </a:xfrm>
        </p:spPr>
        <p:txBody>
          <a:bodyPr>
            <a:normAutofit/>
          </a:bodyPr>
          <a:lstStyle/>
          <a:p>
            <a:r>
              <a:rPr lang="en-US" b="1" i="1" u="sng" dirty="0"/>
              <a:t>Piazza</a:t>
            </a:r>
            <a:r>
              <a:rPr lang="en-US" dirty="0"/>
              <a:t>: Use for course discussion among students and </a:t>
            </a:r>
            <a:r>
              <a:rPr lang="en-US" dirty="0" err="1"/>
              <a:t>Tas</a:t>
            </a:r>
            <a:r>
              <a:rPr lang="en-US" dirty="0"/>
              <a:t> regarding course content</a:t>
            </a:r>
          </a:p>
          <a:p>
            <a:r>
              <a:rPr lang="en-US" b="1" i="1" u="sng" dirty="0" err="1"/>
              <a:t>Gradescope</a:t>
            </a:r>
            <a:r>
              <a:rPr lang="en-US" dirty="0"/>
              <a:t>: For submitting homework and seeing your grades, etc.</a:t>
            </a:r>
          </a:p>
          <a:p>
            <a:r>
              <a:rPr lang="en-US" b="1" i="1" u="sng" dirty="0"/>
              <a:t>Google Forms</a:t>
            </a:r>
            <a:r>
              <a:rPr lang="en-US" dirty="0"/>
              <a:t>: Homework extension requests will be submitted through a form.</a:t>
            </a:r>
          </a:p>
          <a:p>
            <a:r>
              <a:rPr lang="en-US" dirty="0"/>
              <a:t>All of these will be linked from Collab and from course website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06395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1141413" y="381849"/>
            <a:ext cx="9905998" cy="812249"/>
          </a:xfrm>
        </p:spPr>
        <p:txBody>
          <a:bodyPr/>
          <a:lstStyle/>
          <a:p>
            <a:pPr algn="ctr"/>
            <a:r>
              <a:rPr lang="en-US" dirty="0"/>
              <a:t>Expectations</a:t>
            </a:r>
          </a:p>
        </p:txBody>
      </p:sp>
      <p:sp>
        <p:nvSpPr>
          <p:cNvPr id="307203" name="Rectangle 3"/>
          <p:cNvSpPr>
            <a:spLocks noGrp="1" noChangeArrowheads="1"/>
          </p:cNvSpPr>
          <p:nvPr>
            <p:ph idx="1"/>
            <p:custDataLst>
              <p:tags r:id="rId2"/>
            </p:custDataLst>
          </p:nvPr>
        </p:nvSpPr>
        <p:spPr>
          <a:xfrm>
            <a:off x="1752600" y="1473798"/>
            <a:ext cx="8817539" cy="4800167"/>
          </a:xfrm>
        </p:spPr>
        <p:txBody>
          <a:bodyPr>
            <a:normAutofit lnSpcReduction="10000"/>
          </a:bodyPr>
          <a:lstStyle/>
          <a:p>
            <a:pPr>
              <a:lnSpc>
                <a:spcPct val="90000"/>
              </a:lnSpc>
            </a:pPr>
            <a:r>
              <a:rPr lang="en-US" dirty="0"/>
              <a:t>Of you: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When asked, prepare for things in advance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Do NOT use laptops or phones in class!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Participate in class activities when asked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Act mature, professional.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Please do not use a laptop in class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Plan ahead.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Don’t take advantage.  Follow the Honor Code. (See the BOCM.)</a:t>
            </a:r>
          </a:p>
          <a:p>
            <a:pPr>
              <a:lnSpc>
                <a:spcPct val="90000"/>
              </a:lnSpc>
            </a:pPr>
            <a:endParaRPr lang="en-US" dirty="0"/>
          </a:p>
          <a:p>
            <a:pPr>
              <a:lnSpc>
                <a:spcPct val="90000"/>
              </a:lnSpc>
            </a:pPr>
            <a:r>
              <a:rPr lang="en-US" dirty="0"/>
              <a:t>Of me: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Be fair, open, and considerate.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Seek and listen to your feedback.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Not to waste your time.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Be effective in letting you know how you’re doing</a:t>
            </a:r>
          </a:p>
        </p:txBody>
      </p:sp>
    </p:spTree>
    <p:extLst>
      <p:ext uri="{BB962C8B-B14F-4D97-AF65-F5344CB8AC3E}">
        <p14:creationId xmlns:p14="http://schemas.microsoft.com/office/powerpoint/2010/main" val="161334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0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0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0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0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0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32DBD6-6723-6A69-41BF-05CFF0F680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2B94CF66-3237-7D53-3C0F-1D4FC801942F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1141413" y="381849"/>
            <a:ext cx="9905998" cy="812249"/>
          </a:xfrm>
        </p:spPr>
        <p:txBody>
          <a:bodyPr/>
          <a:lstStyle/>
          <a:p>
            <a:pPr algn="ctr"/>
            <a:r>
              <a:rPr lang="en-US" dirty="0"/>
              <a:t>On the Subject of Laptops / Phones</a:t>
            </a:r>
          </a:p>
        </p:txBody>
      </p:sp>
      <p:sp>
        <p:nvSpPr>
          <p:cNvPr id="307203" name="Rectangle 3">
            <a:extLst>
              <a:ext uri="{FF2B5EF4-FFF2-40B4-BE49-F238E27FC236}">
                <a16:creationId xmlns:a16="http://schemas.microsoft.com/office/drawing/2014/main" id="{735FD3FE-3DE4-F5C8-B5D1-A35B4FE4792E}"/>
              </a:ext>
            </a:extLst>
          </p:cNvPr>
          <p:cNvSpPr>
            <a:spLocks noGrp="1" noChangeArrowheads="1"/>
          </p:cNvSpPr>
          <p:nvPr>
            <p:ph idx="1"/>
            <p:custDataLst>
              <p:tags r:id="rId2"/>
            </p:custDataLst>
          </p:nvPr>
        </p:nvSpPr>
        <p:spPr>
          <a:xfrm>
            <a:off x="1752600" y="1473798"/>
            <a:ext cx="8817539" cy="4800167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dirty="0"/>
              <a:t>When you are in lecture, you are NOT allowed to use laptops or phones.</a:t>
            </a:r>
          </a:p>
          <a:p>
            <a:pPr>
              <a:lnSpc>
                <a:spcPct val="90000"/>
              </a:lnSpc>
            </a:pPr>
            <a:endParaRPr lang="en-US" dirty="0"/>
          </a:p>
          <a:p>
            <a:pPr>
              <a:lnSpc>
                <a:spcPct val="90000"/>
              </a:lnSpc>
            </a:pPr>
            <a:r>
              <a:rPr lang="en-US" dirty="0"/>
              <a:t>One exception: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Tablets if you are very obviously taking notes on them and paying attention.</a:t>
            </a:r>
          </a:p>
          <a:p>
            <a:pPr lvl="1">
              <a:lnSpc>
                <a:spcPct val="90000"/>
              </a:lnSpc>
            </a:pPr>
            <a:endParaRPr lang="en-US" dirty="0"/>
          </a:p>
          <a:p>
            <a:pPr>
              <a:lnSpc>
                <a:spcPct val="90000"/>
              </a:lnSpc>
            </a:pPr>
            <a:r>
              <a:rPr lang="en-US" dirty="0"/>
              <a:t>Why: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Studies show that laptops and phones cause significant drops in grades even if they are being used to take notes.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Studies also show that handwritten notes are more effective for memorization and learning.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It is also quite obvious to me that students with laptops are not paying attention. It distracts me and hurts the classroom environment for everyone.</a:t>
            </a:r>
          </a:p>
        </p:txBody>
      </p:sp>
    </p:spTree>
    <p:extLst>
      <p:ext uri="{BB962C8B-B14F-4D97-AF65-F5344CB8AC3E}">
        <p14:creationId xmlns:p14="http://schemas.microsoft.com/office/powerpoint/2010/main" val="2885767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B38431-7499-E908-C16F-9E4D2AA880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3DDA6D38-BA12-31AF-ED45-3A1A417920B2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1141413" y="173622"/>
            <a:ext cx="9905998" cy="812249"/>
          </a:xfrm>
        </p:spPr>
        <p:txBody>
          <a:bodyPr/>
          <a:lstStyle/>
          <a:p>
            <a:pPr algn="ctr"/>
            <a:r>
              <a:rPr lang="en-US" dirty="0"/>
              <a:t>On the Subject of Attendance</a:t>
            </a:r>
          </a:p>
        </p:txBody>
      </p:sp>
      <p:sp>
        <p:nvSpPr>
          <p:cNvPr id="307203" name="Rectangle 3">
            <a:extLst>
              <a:ext uri="{FF2B5EF4-FFF2-40B4-BE49-F238E27FC236}">
                <a16:creationId xmlns:a16="http://schemas.microsoft.com/office/drawing/2014/main" id="{342FFA0A-D9E5-70F3-B31F-0BE0D38EFA7D}"/>
              </a:ext>
            </a:extLst>
          </p:cNvPr>
          <p:cNvSpPr>
            <a:spLocks noGrp="1" noChangeArrowheads="1"/>
          </p:cNvSpPr>
          <p:nvPr>
            <p:ph idx="1"/>
            <p:custDataLst>
              <p:tags r:id="rId2"/>
            </p:custDataLst>
          </p:nvPr>
        </p:nvSpPr>
        <p:spPr>
          <a:xfrm>
            <a:off x="1252962" y="1204112"/>
            <a:ext cx="9905998" cy="5499979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90000"/>
              </a:lnSpc>
            </a:pPr>
            <a:r>
              <a:rPr lang="en-US" b="1" i="1" u="sng" dirty="0"/>
              <a:t>Attendance is REQUIRED</a:t>
            </a:r>
            <a:r>
              <a:rPr lang="en-US" dirty="0"/>
              <a:t>. This is an </a:t>
            </a:r>
            <a:r>
              <a:rPr lang="en-US" b="1" i="1" u="sng" dirty="0"/>
              <a:t>IN-PERSON class </a:t>
            </a:r>
            <a:r>
              <a:rPr lang="en-US" dirty="0"/>
              <a:t>and there is no guarantee / expectation / officially supported option to take this class remotely. </a:t>
            </a:r>
          </a:p>
          <a:p>
            <a:pPr>
              <a:lnSpc>
                <a:spcPct val="90000"/>
              </a:lnSpc>
            </a:pPr>
            <a:endParaRPr lang="en-US" dirty="0"/>
          </a:p>
          <a:p>
            <a:pPr>
              <a:lnSpc>
                <a:spcPct val="90000"/>
              </a:lnSpc>
            </a:pPr>
            <a:r>
              <a:rPr lang="en-US" i="1" u="sng" dirty="0"/>
              <a:t>If you don’t attend class you may (all of these have happened)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Miss important announcements (I don’t record daily announcements)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Miss exams because dates were changed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Miss solutions or hints for test questions that are given off the recording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Not be granted a favor when you ask me for something and I’ve never seen you before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Miss the chance to play fun games like Wordle with your peers (most important one)</a:t>
            </a:r>
          </a:p>
          <a:p>
            <a:pPr lvl="1">
              <a:lnSpc>
                <a:spcPct val="90000"/>
              </a:lnSpc>
            </a:pPr>
            <a:endParaRPr lang="en-US" dirty="0"/>
          </a:p>
          <a:p>
            <a:pPr>
              <a:lnSpc>
                <a:spcPct val="90000"/>
              </a:lnSpc>
            </a:pPr>
            <a:r>
              <a:rPr lang="en-US" i="1" u="sng" dirty="0"/>
              <a:t>Benefits of coming to class</a:t>
            </a:r>
            <a:r>
              <a:rPr lang="en-US" dirty="0"/>
              <a:t>: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Practice WORKING YOUR BRAIN muscles. Makes you smarter. Improves your patience.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Hear all the important announcements so you won’t miss anything.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Get some of your study time out of the way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Gives the material more time to digest before you study for quizzes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If you ask for a favor and you are an engaged member of our community who I recognize, I am MUCH more likely to grant you that favor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You get to play Wordle with the group and see how well we do!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Contributes to your attendance score!</a:t>
            </a:r>
          </a:p>
        </p:txBody>
      </p:sp>
    </p:spTree>
    <p:extLst>
      <p:ext uri="{BB962C8B-B14F-4D97-AF65-F5344CB8AC3E}">
        <p14:creationId xmlns:p14="http://schemas.microsoft.com/office/powerpoint/2010/main" val="26659908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C9FC99-366D-A803-6C52-76CFA2EB82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3AF46158-204F-C7F8-1E47-18C2B746CEB7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1141413" y="173622"/>
            <a:ext cx="9905998" cy="812249"/>
          </a:xfrm>
        </p:spPr>
        <p:txBody>
          <a:bodyPr/>
          <a:lstStyle/>
          <a:p>
            <a:pPr algn="ctr"/>
            <a:r>
              <a:rPr lang="en-US" dirty="0"/>
              <a:t>Attendance Score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7203" name="Rectangle 3">
                <a:extLst>
                  <a:ext uri="{FF2B5EF4-FFF2-40B4-BE49-F238E27FC236}">
                    <a16:creationId xmlns:a16="http://schemas.microsoft.com/office/drawing/2014/main" id="{51F2CB0C-3790-16B7-E0F3-9FBDD71A54B7}"/>
                  </a:ext>
                </a:extLst>
              </p:cNvPr>
              <p:cNvSpPr>
                <a:spLocks noGrp="1" noChangeArrowheads="1"/>
              </p:cNvSpPr>
              <p:nvPr>
                <p:ph idx="1"/>
                <p:custDataLst>
                  <p:tags r:id="rId2"/>
                </p:custDataLst>
              </p:nvPr>
            </p:nvSpPr>
            <p:spPr>
              <a:xfrm>
                <a:off x="1252962" y="1204112"/>
                <a:ext cx="9905998" cy="5499979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90000"/>
                  </a:lnSpc>
                </a:pPr>
                <a:r>
                  <a:rPr lang="en-US" dirty="0"/>
                  <a:t>In this class, each </a:t>
                </a:r>
                <a:r>
                  <a:rPr lang="en-US" b="1" i="1" u="sng" dirty="0"/>
                  <a:t>section will receive a communal, shared attendance score</a:t>
                </a:r>
                <a:r>
                  <a:rPr lang="en-US" dirty="0"/>
                  <a:t> </a:t>
                </a:r>
              </a:p>
              <a:p>
                <a:pPr lvl="1">
                  <a:lnSpc>
                    <a:spcPct val="90000"/>
                  </a:lnSpc>
                </a:pPr>
                <a:r>
                  <a:rPr lang="en-US" dirty="0"/>
                  <a:t>Meaning everyone in the section receives the same attendance grade at end of semester.</a:t>
                </a:r>
              </a:p>
              <a:p>
                <a:pPr lvl="1">
                  <a:lnSpc>
                    <a:spcPct val="90000"/>
                  </a:lnSpc>
                </a:pPr>
                <a:endParaRPr lang="en-US" dirty="0"/>
              </a:p>
              <a:p>
                <a:pPr>
                  <a:lnSpc>
                    <a:spcPct val="90000"/>
                  </a:lnSpc>
                </a:pPr>
                <a:r>
                  <a:rPr lang="en-US" i="1" u="sng" dirty="0"/>
                  <a:t>How does it work?</a:t>
                </a:r>
              </a:p>
              <a:p>
                <a:pPr lvl="1">
                  <a:lnSpc>
                    <a:spcPct val="90000"/>
                  </a:lnSpc>
                </a:pPr>
                <a:r>
                  <a:rPr lang="en-US" dirty="0"/>
                  <a:t>Each lecture I will count the number of students present</a:t>
                </a:r>
              </a:p>
              <a:p>
                <a:pPr lvl="1">
                  <a:lnSpc>
                    <a:spcPct val="90000"/>
                  </a:lnSpc>
                </a:pPr>
                <a:r>
                  <a:rPr lang="en-US" dirty="0"/>
                  <a:t>If attendance &gt; 50 percent then ALL of you get attendance point for that day</a:t>
                </a:r>
              </a:p>
              <a:p>
                <a:pPr lvl="1">
                  <a:lnSpc>
                    <a:spcPct val="90000"/>
                  </a:lnSpc>
                </a:pPr>
                <a:r>
                  <a:rPr lang="en-US" dirty="0"/>
                  <a:t>If attendance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US" dirty="0"/>
                  <a:t> 50 percent then ALL of you LOSE attendance point for that day.</a:t>
                </a:r>
              </a:p>
              <a:p>
                <a:pPr lvl="1">
                  <a:lnSpc>
                    <a:spcPct val="90000"/>
                  </a:lnSpc>
                </a:pPr>
                <a:r>
                  <a:rPr lang="en-US" dirty="0"/>
                  <a:t>Attendance grade is simply the percentage of lectures that you earn your attendance point.</a:t>
                </a:r>
              </a:p>
              <a:p>
                <a:pPr lvl="1">
                  <a:lnSpc>
                    <a:spcPct val="90000"/>
                  </a:lnSpc>
                </a:pPr>
                <a:endParaRPr lang="en-US" dirty="0"/>
              </a:p>
              <a:p>
                <a:pPr>
                  <a:lnSpc>
                    <a:spcPct val="90000"/>
                  </a:lnSpc>
                </a:pPr>
                <a:r>
                  <a:rPr lang="en-US" dirty="0"/>
                  <a:t>A couple notes:</a:t>
                </a:r>
              </a:p>
              <a:p>
                <a:pPr lvl="1">
                  <a:lnSpc>
                    <a:spcPct val="90000"/>
                  </a:lnSpc>
                </a:pPr>
                <a:r>
                  <a:rPr lang="en-US" dirty="0"/>
                  <a:t>I will count sometimes at beginning, sometimes mid, and sometimes at end of lecture</a:t>
                </a:r>
              </a:p>
              <a:p>
                <a:pPr lvl="1">
                  <a:lnSpc>
                    <a:spcPct val="90000"/>
                  </a:lnSpc>
                </a:pPr>
                <a:r>
                  <a:rPr lang="en-US" dirty="0"/>
                  <a:t>I will update you every day on your current attendance score during announcements</a:t>
                </a:r>
              </a:p>
              <a:p>
                <a:pPr lvl="1">
                  <a:lnSpc>
                    <a:spcPct val="90000"/>
                  </a:lnSpc>
                </a:pPr>
                <a:r>
                  <a:rPr lang="en-US" dirty="0"/>
                  <a:t>Let’s work together to ensure we ALL get a 100% attendance score!!</a:t>
                </a:r>
              </a:p>
            </p:txBody>
          </p:sp>
        </mc:Choice>
        <mc:Fallback xmlns="">
          <p:sp>
            <p:nvSpPr>
              <p:cNvPr id="307203" name="Rectangle 3">
                <a:extLst>
                  <a:ext uri="{FF2B5EF4-FFF2-40B4-BE49-F238E27FC236}">
                    <a16:creationId xmlns:a16="http://schemas.microsoft.com/office/drawing/2014/main" id="{51F2CB0C-3790-16B7-E0F3-9FBDD71A54B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  <p:custDataLst>
                  <p:tags r:id="rId4"/>
                </p:custDataLst>
              </p:nvPr>
            </p:nvSpPr>
            <p:spPr>
              <a:xfrm>
                <a:off x="1252962" y="1204112"/>
                <a:ext cx="9905998" cy="5499979"/>
              </a:xfrm>
              <a:blipFill>
                <a:blip r:embed="rId5"/>
                <a:stretch>
                  <a:fillRect l="-1280" t="-30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177699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1141413" y="338818"/>
            <a:ext cx="9905998" cy="855280"/>
          </a:xfrm>
        </p:spPr>
        <p:txBody>
          <a:bodyPr/>
          <a:lstStyle/>
          <a:p>
            <a:pPr algn="ctr"/>
            <a:r>
              <a:rPr lang="en-US" dirty="0"/>
              <a:t>General Info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idx="1"/>
            <p:custDataLst>
              <p:tags r:id="rId2"/>
            </p:custDataLst>
          </p:nvPr>
        </p:nvSpPr>
        <p:spPr>
          <a:xfrm>
            <a:off x="1828800" y="1567652"/>
            <a:ext cx="8741339" cy="4482292"/>
          </a:xfrm>
        </p:spPr>
        <p:txBody>
          <a:bodyPr/>
          <a:lstStyle/>
          <a:p>
            <a:r>
              <a:rPr lang="en-US" dirty="0"/>
              <a:t>Textbook:</a:t>
            </a:r>
          </a:p>
          <a:p>
            <a:pPr lvl="1"/>
            <a:r>
              <a:rPr lang="en-US" dirty="0"/>
              <a:t>Introduction to the Theory of Computation, 2</a:t>
            </a:r>
            <a:r>
              <a:rPr lang="en-US" baseline="30000" dirty="0"/>
              <a:t>nd</a:t>
            </a:r>
            <a:r>
              <a:rPr lang="en-US" dirty="0"/>
              <a:t> edition, by Michael </a:t>
            </a:r>
            <a:r>
              <a:rPr lang="en-US" dirty="0" err="1"/>
              <a:t>Sipser</a:t>
            </a:r>
            <a:endParaRPr lang="en-US" dirty="0"/>
          </a:p>
          <a:p>
            <a:r>
              <a:rPr lang="en-US" dirty="0"/>
              <a:t>Other references:</a:t>
            </a:r>
          </a:p>
          <a:p>
            <a:pPr lvl="1"/>
            <a:r>
              <a:rPr lang="en-US" dirty="0"/>
              <a:t>Your DMT 1 course materials if you need them, but we will review proof techniques early in the semester.</a:t>
            </a:r>
          </a:p>
          <a:p>
            <a:r>
              <a:rPr lang="en-US" dirty="0"/>
              <a:t>Other readings may be assigned</a:t>
            </a:r>
          </a:p>
          <a:p>
            <a:pPr lvl="1"/>
            <a:r>
              <a:rPr lang="en-US" dirty="0"/>
              <a:t>We’ll see…</a:t>
            </a:r>
          </a:p>
        </p:txBody>
      </p:sp>
    </p:spTree>
    <p:extLst>
      <p:ext uri="{BB962C8B-B14F-4D97-AF65-F5344CB8AC3E}">
        <p14:creationId xmlns:p14="http://schemas.microsoft.com/office/powerpoint/2010/main" val="30373560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Title 1"/>
          <p:cNvSpPr>
            <a:spLocks noGrp="1"/>
          </p:cNvSpPr>
          <p:nvPr>
            <p:ph type="title"/>
          </p:nvPr>
        </p:nvSpPr>
        <p:spPr>
          <a:xfrm>
            <a:off x="1141413" y="338818"/>
            <a:ext cx="9905998" cy="705581"/>
          </a:xfrm>
        </p:spPr>
        <p:txBody>
          <a:bodyPr/>
          <a:lstStyle/>
          <a:p>
            <a:pPr algn="ctr"/>
            <a:r>
              <a:rPr lang="en-US" dirty="0"/>
              <a:t>Textbook</a:t>
            </a:r>
          </a:p>
        </p:txBody>
      </p:sp>
      <p:sp>
        <p:nvSpPr>
          <p:cNvPr id="10244" name="Content Placeholder 5"/>
          <p:cNvSpPr>
            <a:spLocks noGrp="1"/>
          </p:cNvSpPr>
          <p:nvPr>
            <p:ph sz="half" idx="1"/>
          </p:nvPr>
        </p:nvSpPr>
        <p:spPr>
          <a:xfrm>
            <a:off x="1992351" y="1825052"/>
            <a:ext cx="5867400" cy="2174789"/>
          </a:xfrm>
        </p:spPr>
        <p:txBody>
          <a:bodyPr>
            <a:normAutofit/>
          </a:bodyPr>
          <a:lstStyle/>
          <a:p>
            <a:r>
              <a:rPr lang="en-US" dirty="0"/>
              <a:t>You will very likely need to read and study material other than the slides.</a:t>
            </a:r>
          </a:p>
          <a:p>
            <a:r>
              <a:rPr lang="en-US" dirty="0"/>
              <a:t>There are options, but a textbook is the easiest option.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F201BA1-20E0-2A4D-9885-AF5ECD5908BF}"/>
              </a:ext>
            </a:extLst>
          </p:cNvPr>
          <p:cNvSpPr txBox="1">
            <a:spLocks/>
          </p:cNvSpPr>
          <p:nvPr/>
        </p:nvSpPr>
        <p:spPr>
          <a:xfrm>
            <a:off x="2273704" y="4843304"/>
            <a:ext cx="7696200" cy="1758225"/>
          </a:xfrm>
          <a:prstGeom prst="rect">
            <a:avLst/>
          </a:prstGeom>
        </p:spPr>
        <p:txBody>
          <a:bodyPr vert="horz">
            <a:normAutofit/>
          </a:bodyPr>
          <a:lstStyle>
            <a:lvl1pPr marL="274320" indent="-274320" algn="just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74320" algn="just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3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22960" indent="-228600" algn="just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just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just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auto">
              <a:spcAft>
                <a:spcPts val="0"/>
              </a:spcAft>
            </a:pPr>
            <a:r>
              <a:rPr lang="en-US" i="1" dirty="0"/>
              <a:t>Introduction to the Theory of Computation </a:t>
            </a:r>
            <a:r>
              <a:rPr lang="en-US" dirty="0"/>
              <a:t>by </a:t>
            </a:r>
            <a:r>
              <a:rPr lang="en-US" dirty="0" err="1"/>
              <a:t>Sipser</a:t>
            </a:r>
            <a:endParaRPr lang="en-US" dirty="0"/>
          </a:p>
          <a:p>
            <a:pPr lvl="1" algn="l" fontAlgn="auto">
              <a:spcAft>
                <a:spcPts val="0"/>
              </a:spcAft>
            </a:pPr>
            <a:r>
              <a:rPr lang="en-US" dirty="0"/>
              <a:t>2</a:t>
            </a:r>
            <a:r>
              <a:rPr lang="en-US" baseline="30000" dirty="0"/>
              <a:t>nd</a:t>
            </a:r>
            <a:r>
              <a:rPr lang="en-US" dirty="0"/>
              <a:t> edition!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F051F44-70BF-6943-8AC2-30E4824240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6246" y="1406138"/>
            <a:ext cx="1883748" cy="2691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22005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E4624E-6BA1-BB4D-8A7A-500B5099EC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347214"/>
            <a:ext cx="9905998" cy="697816"/>
          </a:xfrm>
        </p:spPr>
        <p:txBody>
          <a:bodyPr/>
          <a:lstStyle/>
          <a:p>
            <a:pPr algn="ctr"/>
            <a:r>
              <a:rPr lang="en-US" dirty="0"/>
              <a:t>Lectures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F38866-4BB8-1749-AF0C-AB089AECC89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41413" y="1244204"/>
            <a:ext cx="9905997" cy="511193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Back to traditional, in-person lectures.</a:t>
            </a:r>
          </a:p>
          <a:p>
            <a:pPr lvl="1"/>
            <a:r>
              <a:rPr lang="en-US" dirty="0"/>
              <a:t>Tu / Th 9:30 – 10:45 am @ Rice Hall 130(Floryan)</a:t>
            </a:r>
          </a:p>
          <a:p>
            <a:pPr lvl="1"/>
            <a:r>
              <a:rPr lang="en-US" dirty="0"/>
              <a:t>Tu / Th 11:00 – 12:15 pm @ Mec 205 (Floryan)</a:t>
            </a:r>
          </a:p>
          <a:p>
            <a:pPr lvl="1"/>
            <a:endParaRPr lang="en-US" dirty="0"/>
          </a:p>
          <a:p>
            <a:r>
              <a:rPr lang="en-US" dirty="0"/>
              <a:t>Lectures will be recorded and posted on Canvas -&gt; Lecture Recordings</a:t>
            </a:r>
          </a:p>
          <a:p>
            <a:pPr lvl="1"/>
            <a:r>
              <a:rPr lang="en-US" dirty="0"/>
              <a:t>Using Panopto, so no live broadcast</a:t>
            </a:r>
          </a:p>
          <a:p>
            <a:pPr lvl="1"/>
            <a:r>
              <a:rPr lang="en-US" dirty="0"/>
              <a:t>A note about recordings…they are a privilege, not a right. If less than half of you are present in class, then I may choose not to record the lecture.</a:t>
            </a:r>
          </a:p>
          <a:p>
            <a:pPr lvl="1"/>
            <a:r>
              <a:rPr lang="en-US" b="1" i="1" u="sng" dirty="0"/>
              <a:t>Some material (like announcements, extra examples, or homework help) will NOT be in the recording</a:t>
            </a:r>
          </a:p>
          <a:p>
            <a:pPr lvl="1"/>
            <a:endParaRPr lang="en-US" dirty="0"/>
          </a:p>
          <a:p>
            <a:r>
              <a:rPr lang="en-US" dirty="0"/>
              <a:t>Lectures will cover course topics, example problems, proofs, etc.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75000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337166"/>
            <a:ext cx="9905998" cy="630827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Modules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87122" y="2168652"/>
            <a:ext cx="5614579" cy="2813539"/>
          </a:xfrm>
        </p:spPr>
        <p:txBody>
          <a:bodyPr>
            <a:normAutofit fontScale="92500" lnSpcReduction="10000"/>
          </a:bodyPr>
          <a:lstStyle/>
          <a:p>
            <a:r>
              <a:rPr lang="en-US" i="1" dirty="0"/>
              <a:t>The course is divided into 4 modules (5 if you count the review module)</a:t>
            </a:r>
          </a:p>
          <a:p>
            <a:pPr lvl="1"/>
            <a:r>
              <a:rPr lang="en-US" i="1" dirty="0"/>
              <a:t>0: Introduction, Cardinality (Warmup and review)</a:t>
            </a:r>
          </a:p>
          <a:p>
            <a:pPr lvl="1"/>
            <a:r>
              <a:rPr lang="en-US" i="1" dirty="0"/>
              <a:t>1: Regular Languages</a:t>
            </a:r>
          </a:p>
          <a:p>
            <a:pPr lvl="1"/>
            <a:r>
              <a:rPr lang="en-US" i="1" dirty="0"/>
              <a:t>2: Context-Free Grammars</a:t>
            </a:r>
          </a:p>
          <a:p>
            <a:pPr lvl="1"/>
            <a:r>
              <a:rPr lang="en-US" i="1" dirty="0"/>
              <a:t>3: Turing Machines and Decidability</a:t>
            </a:r>
          </a:p>
          <a:p>
            <a:pPr lvl="1"/>
            <a:r>
              <a:rPr lang="en-US" i="1" dirty="0"/>
              <a:t>4: Complexity Theory</a:t>
            </a:r>
          </a:p>
          <a:p>
            <a:pPr lvl="1"/>
            <a:endParaRPr lang="en-US" i="1" dirty="0"/>
          </a:p>
          <a:p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392169645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417551"/>
            <a:ext cx="9905998" cy="783227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Modules (Cont’d)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05000" y="1600200"/>
            <a:ext cx="8665139" cy="4449744"/>
          </a:xfrm>
        </p:spPr>
        <p:txBody>
          <a:bodyPr>
            <a:normAutofit/>
          </a:bodyPr>
          <a:lstStyle/>
          <a:p>
            <a:r>
              <a:rPr lang="en-US" i="1" dirty="0"/>
              <a:t>Most modules are 4-6 lectures worth of content, some are a bit more.</a:t>
            </a:r>
          </a:p>
          <a:p>
            <a:endParaRPr lang="en-US" i="1" dirty="0"/>
          </a:p>
          <a:p>
            <a:r>
              <a:rPr lang="en-US" i="1" dirty="0"/>
              <a:t>Each module involves:</a:t>
            </a:r>
          </a:p>
          <a:p>
            <a:pPr lvl="1"/>
            <a:r>
              <a:rPr lang="en-US" i="1" dirty="0"/>
              <a:t>~5 lectures worth of content</a:t>
            </a:r>
          </a:p>
          <a:p>
            <a:pPr lvl="1"/>
            <a:r>
              <a:rPr lang="en-US" i="1" dirty="0"/>
              <a:t>1 or 2 </a:t>
            </a:r>
            <a:r>
              <a:rPr lang="en-US" dirty="0"/>
              <a:t>homework assignments (usually just one though)</a:t>
            </a:r>
          </a:p>
          <a:p>
            <a:pPr lvl="1"/>
            <a:r>
              <a:rPr lang="en-US" i="1" dirty="0"/>
              <a:t>1 quiz (assessment), but module 0 does NOT have a quiz</a:t>
            </a:r>
          </a:p>
          <a:p>
            <a:pPr lvl="1"/>
            <a:endParaRPr lang="en-US" i="1" dirty="0"/>
          </a:p>
          <a:p>
            <a:r>
              <a:rPr lang="en-US" i="1" dirty="0"/>
              <a:t>In addition there is one other quiz, the final exam quiz (more on this later)</a:t>
            </a:r>
          </a:p>
          <a:p>
            <a:pPr lvl="1"/>
            <a:endParaRPr lang="en-US" i="1" dirty="0"/>
          </a:p>
          <a:p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31987940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312337"/>
            <a:ext cx="8229600" cy="715945"/>
          </a:xfrm>
        </p:spPr>
        <p:txBody>
          <a:bodyPr/>
          <a:lstStyle/>
          <a:p>
            <a:pPr algn="ctr"/>
            <a:r>
              <a:rPr lang="en-US" dirty="0"/>
              <a:t>Quizzes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idx="1"/>
          </p:nvPr>
        </p:nvSpPr>
        <p:spPr>
          <a:xfrm>
            <a:off x="1012263" y="1245995"/>
            <a:ext cx="10221795" cy="5245239"/>
          </a:xfrm>
        </p:spPr>
        <p:txBody>
          <a:bodyPr>
            <a:normAutofit lnSpcReduction="10000"/>
          </a:bodyPr>
          <a:lstStyle/>
          <a:p>
            <a:r>
              <a:rPr lang="en-US" dirty="0"/>
              <a:t>Medium size assessments of your knowledge in each module</a:t>
            </a:r>
          </a:p>
          <a:p>
            <a:pPr lvl="1"/>
            <a:r>
              <a:rPr lang="en-US" dirty="0"/>
              <a:t>Meant to ensure you have knowledge of the individual topics from lecture to a sufficient degree.</a:t>
            </a:r>
          </a:p>
          <a:p>
            <a:pPr lvl="1"/>
            <a:r>
              <a:rPr lang="en-US" dirty="0"/>
              <a:t>Usually about two pages worth of traditional exam material.</a:t>
            </a:r>
          </a:p>
          <a:p>
            <a:pPr lvl="1"/>
            <a:r>
              <a:rPr lang="en-US" dirty="0"/>
              <a:t>Are given over a three day period (more on next slide)</a:t>
            </a:r>
          </a:p>
          <a:p>
            <a:endParaRPr lang="en-US" dirty="0"/>
          </a:p>
          <a:p>
            <a:r>
              <a:rPr lang="en-US" dirty="0"/>
              <a:t>Quiz Schedule (I wanted this to be similar / modeled after a midterm schedule)</a:t>
            </a:r>
          </a:p>
          <a:p>
            <a:pPr lvl="1"/>
            <a:r>
              <a:rPr lang="en-US" sz="2000" dirty="0"/>
              <a:t>Week 5 (9/21)	Mon-Tue-Wed			Mod 1</a:t>
            </a:r>
          </a:p>
          <a:p>
            <a:pPr lvl="1"/>
            <a:r>
              <a:rPr lang="en-US" dirty="0"/>
              <a:t>Week 8 (10/12)	Mon-Tue-Wed</a:t>
            </a:r>
            <a:r>
              <a:rPr lang="en-US" sz="2000" dirty="0"/>
              <a:t>			Mod </a:t>
            </a:r>
            <a:r>
              <a:rPr lang="en-US" dirty="0"/>
              <a:t>2</a:t>
            </a:r>
          </a:p>
          <a:p>
            <a:pPr lvl="1"/>
            <a:r>
              <a:rPr lang="en-US" dirty="0"/>
              <a:t>Week 12 (11/9)	Mon-Tue-Wed</a:t>
            </a:r>
            <a:r>
              <a:rPr lang="en-US" sz="2000" dirty="0"/>
              <a:t>			Mod 3</a:t>
            </a:r>
          </a:p>
          <a:p>
            <a:pPr lvl="1"/>
            <a:r>
              <a:rPr lang="en-US" dirty="0"/>
              <a:t>Week 15 (11/30)	Mon-Tue-Wed			Mod 4</a:t>
            </a:r>
            <a:endParaRPr lang="en-US" sz="2000" dirty="0"/>
          </a:p>
          <a:p>
            <a:pPr lvl="1"/>
            <a:r>
              <a:rPr lang="en-US" dirty="0"/>
              <a:t>TBD	</a:t>
            </a:r>
            <a:r>
              <a:rPr lang="en-US" sz="2000" dirty="0"/>
              <a:t>	</a:t>
            </a:r>
            <a:r>
              <a:rPr lang="en-US" dirty="0"/>
              <a:t>			</a:t>
            </a:r>
            <a:r>
              <a:rPr lang="en-US" sz="2000" dirty="0"/>
              <a:t>Final Exam Quiz, and optional 1-4 retakes</a:t>
            </a:r>
          </a:p>
          <a:p>
            <a:pPr lvl="1"/>
            <a:endParaRPr lang="en-US" sz="2000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551494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9BA34F-733C-427E-8C20-4B9DDAB4EC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94BC5B71-1107-CFED-9845-9D0750FE701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312337"/>
            <a:ext cx="8229600" cy="715945"/>
          </a:xfrm>
        </p:spPr>
        <p:txBody>
          <a:bodyPr/>
          <a:lstStyle/>
          <a:p>
            <a:pPr algn="ctr"/>
            <a:r>
              <a:rPr lang="en-US" dirty="0"/>
              <a:t>Quizzes</a:t>
            </a:r>
          </a:p>
        </p:txBody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6BD24BF3-A13E-C38A-8FFC-0A490997637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012263" y="1245995"/>
            <a:ext cx="10221795" cy="5245239"/>
          </a:xfrm>
        </p:spPr>
        <p:txBody>
          <a:bodyPr>
            <a:normAutofit/>
          </a:bodyPr>
          <a:lstStyle/>
          <a:p>
            <a:r>
              <a:rPr lang="en-US" dirty="0"/>
              <a:t>Quizzes are administered at the </a:t>
            </a:r>
            <a:r>
              <a:rPr lang="en-US" b="1" i="1" u="sng" dirty="0"/>
              <a:t>Computer-Based Testing Facility</a:t>
            </a:r>
            <a:r>
              <a:rPr lang="en-US" dirty="0"/>
              <a:t> in Gilmer Hall.</a:t>
            </a:r>
          </a:p>
          <a:p>
            <a:endParaRPr lang="en-US" sz="2000" dirty="0"/>
          </a:p>
          <a:p>
            <a:r>
              <a:rPr lang="en-US" sz="2000" dirty="0"/>
              <a:t>Pre-requisite:</a:t>
            </a:r>
          </a:p>
          <a:p>
            <a:pPr lvl="1"/>
            <a:r>
              <a:rPr lang="en-US" sz="1600" dirty="0"/>
              <a:t>Everyone will need to create an account of Prairie Learn / Prairie Test, the online system we will be using</a:t>
            </a:r>
          </a:p>
          <a:p>
            <a:pPr lvl="1"/>
            <a:endParaRPr lang="en-US" sz="1600" dirty="0"/>
          </a:p>
          <a:p>
            <a:r>
              <a:rPr lang="en-US" sz="2000" dirty="0"/>
              <a:t>During a Testing Week:</a:t>
            </a:r>
          </a:p>
          <a:p>
            <a:pPr lvl="1"/>
            <a:r>
              <a:rPr lang="en-US" sz="1600" dirty="0"/>
              <a:t>Before the testing period, you will login to Prairie Test to make a reservation for a specific time in the testing period</a:t>
            </a:r>
          </a:p>
          <a:p>
            <a:pPr lvl="1"/>
            <a:r>
              <a:rPr lang="en-US" sz="1600" dirty="0"/>
              <a:t>When your time arrives, you will arrive at the testing center to take your exam and take the quiz on the computer</a:t>
            </a:r>
          </a:p>
          <a:p>
            <a:pPr lvl="1"/>
            <a:r>
              <a:rPr lang="en-US" sz="1600" dirty="0"/>
              <a:t>Once everyone has taken a quiz, the scores will be released to everybody</a:t>
            </a:r>
          </a:p>
          <a:p>
            <a:endParaRPr lang="en-US" sz="2000" dirty="0"/>
          </a:p>
          <a:p>
            <a:r>
              <a:rPr lang="en-US" sz="2000" dirty="0"/>
              <a:t>There will be a Practice Test within the first couple of weeks of the semester to ensure everybody knows the process, etc.</a:t>
            </a:r>
          </a:p>
          <a:p>
            <a:pPr lvl="1"/>
            <a:endParaRPr lang="en-US" sz="2000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2937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381000"/>
            <a:ext cx="8229600" cy="944545"/>
          </a:xfrm>
        </p:spPr>
        <p:txBody>
          <a:bodyPr/>
          <a:lstStyle/>
          <a:p>
            <a:pPr algn="ctr"/>
            <a:r>
              <a:rPr lang="en-US" dirty="0"/>
              <a:t>Quizzes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idx="1"/>
          </p:nvPr>
        </p:nvSpPr>
        <p:spPr>
          <a:xfrm>
            <a:off x="1391978" y="1539892"/>
            <a:ext cx="9470290" cy="4525944"/>
          </a:xfrm>
        </p:spPr>
        <p:txBody>
          <a:bodyPr>
            <a:normAutofit/>
          </a:bodyPr>
          <a:lstStyle/>
          <a:p>
            <a:r>
              <a:rPr lang="en-US" dirty="0"/>
              <a:t>You always receive the highest grade over your attempts (e.g., final exam retakes</a:t>
            </a:r>
          </a:p>
          <a:p>
            <a:pPr lvl="1"/>
            <a:r>
              <a:rPr lang="en-US" dirty="0"/>
              <a:t>E.g., if you receive a 16/20 during midterm, and 13/20 during retake you still earn the 16/20 on that quiz.</a:t>
            </a:r>
          </a:p>
          <a:p>
            <a:pPr lvl="1"/>
            <a:endParaRPr lang="en-US" dirty="0"/>
          </a:p>
          <a:p>
            <a:r>
              <a:rPr lang="en-US" dirty="0"/>
              <a:t>You should always prioritize retaking quizzes with the lowest grades (somewhat obvious).</a:t>
            </a:r>
          </a:p>
        </p:txBody>
      </p:sp>
    </p:spTree>
    <p:extLst>
      <p:ext uri="{BB962C8B-B14F-4D97-AF65-F5344CB8AC3E}">
        <p14:creationId xmlns:p14="http://schemas.microsoft.com/office/powerpoint/2010/main" val="294020437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>
          <a:xfrm>
            <a:off x="1141413" y="357262"/>
            <a:ext cx="9905998" cy="707027"/>
          </a:xfrm>
        </p:spPr>
        <p:txBody>
          <a:bodyPr/>
          <a:lstStyle/>
          <a:p>
            <a:pPr algn="ctr"/>
            <a:r>
              <a:rPr lang="en-US" dirty="0"/>
              <a:t>Final Exam</a:t>
            </a:r>
          </a:p>
        </p:txBody>
      </p:sp>
      <p:sp>
        <p:nvSpPr>
          <p:cNvPr id="18435" name="Content Placeholder 2"/>
          <p:cNvSpPr>
            <a:spLocks noGrp="1"/>
          </p:cNvSpPr>
          <p:nvPr>
            <p:ph idx="1"/>
          </p:nvPr>
        </p:nvSpPr>
        <p:spPr>
          <a:xfrm>
            <a:off x="1743670" y="1524000"/>
            <a:ext cx="8826469" cy="4525944"/>
          </a:xfrm>
        </p:spPr>
        <p:txBody>
          <a:bodyPr>
            <a:normAutofit lnSpcReduction="10000"/>
          </a:bodyPr>
          <a:lstStyle/>
          <a:p>
            <a:pPr algn="l"/>
            <a:r>
              <a:rPr lang="en-US" dirty="0"/>
              <a:t>Our final exam time will be used to:</a:t>
            </a:r>
          </a:p>
          <a:p>
            <a:pPr lvl="1" algn="l"/>
            <a:r>
              <a:rPr lang="en-US" dirty="0"/>
              <a:t>Take the </a:t>
            </a:r>
            <a:r>
              <a:rPr lang="en-US" b="1" i="1" u="sng" dirty="0"/>
              <a:t>Final Exam Quiz</a:t>
            </a:r>
            <a:r>
              <a:rPr lang="en-US" dirty="0"/>
              <a:t> (Only attempt by design)</a:t>
            </a:r>
          </a:p>
          <a:p>
            <a:pPr lvl="1" algn="l"/>
            <a:r>
              <a:rPr lang="en-US" b="1" dirty="0"/>
              <a:t>OPTIONAL</a:t>
            </a:r>
            <a:r>
              <a:rPr lang="en-US" dirty="0"/>
              <a:t>: Retake </a:t>
            </a:r>
            <a:r>
              <a:rPr lang="en-US" b="1" i="1" u="sng" dirty="0"/>
              <a:t>up to three of quizzes 1-4</a:t>
            </a:r>
            <a:endParaRPr lang="en-US" dirty="0"/>
          </a:p>
          <a:p>
            <a:pPr lvl="1" algn="l"/>
            <a:endParaRPr lang="en-US" b="1" i="1" u="sng" dirty="0"/>
          </a:p>
          <a:p>
            <a:r>
              <a:rPr lang="en-US" dirty="0"/>
              <a:t>You can attempt all four retakes if you want, but the exams are designed for there to be enough time to do two (maybe three) retakes.</a:t>
            </a:r>
          </a:p>
          <a:p>
            <a:endParaRPr lang="en-US" dirty="0"/>
          </a:p>
          <a:p>
            <a:r>
              <a:rPr lang="en-US" dirty="0"/>
              <a:t>I still need to figure out how to administer this properly at the CBTF, but I’m confident that I have a plan/way to do so.</a:t>
            </a:r>
          </a:p>
        </p:txBody>
      </p:sp>
    </p:spTree>
    <p:extLst>
      <p:ext uri="{BB962C8B-B14F-4D97-AF65-F5344CB8AC3E}">
        <p14:creationId xmlns:p14="http://schemas.microsoft.com/office/powerpoint/2010/main" val="109526430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382674"/>
            <a:ext cx="8229600" cy="792145"/>
          </a:xfrm>
        </p:spPr>
        <p:txBody>
          <a:bodyPr/>
          <a:lstStyle/>
          <a:p>
            <a:pPr algn="ctr"/>
            <a:r>
              <a:rPr lang="en-US" dirty="0" err="1"/>
              <a:t>Homeworks</a:t>
            </a:r>
            <a:endParaRPr lang="en-US" dirty="0"/>
          </a:p>
        </p:txBody>
      </p:sp>
      <p:sp>
        <p:nvSpPr>
          <p:cNvPr id="12291" name="Rectangle 3"/>
          <p:cNvSpPr>
            <a:spLocks noGrp="1" noChangeArrowheads="1"/>
          </p:cNvSpPr>
          <p:nvPr>
            <p:ph idx="1"/>
          </p:nvPr>
        </p:nvSpPr>
        <p:spPr>
          <a:xfrm>
            <a:off x="1502511" y="1523999"/>
            <a:ext cx="9198985" cy="4724399"/>
          </a:xfrm>
        </p:spPr>
        <p:txBody>
          <a:bodyPr>
            <a:normAutofit/>
          </a:bodyPr>
          <a:lstStyle/>
          <a:p>
            <a:pPr algn="l"/>
            <a:r>
              <a:rPr lang="en-US" dirty="0"/>
              <a:t>Each of the modules has 1 or 2 </a:t>
            </a:r>
            <a:r>
              <a:rPr lang="en-US" dirty="0" err="1"/>
              <a:t>homeworks</a:t>
            </a:r>
            <a:r>
              <a:rPr lang="en-US" dirty="0"/>
              <a:t> associated (usually 1)</a:t>
            </a:r>
          </a:p>
          <a:p>
            <a:r>
              <a:rPr lang="en-US" b="1" i="1" u="sng" dirty="0"/>
              <a:t>Written HW</a:t>
            </a:r>
          </a:p>
          <a:p>
            <a:pPr lvl="1"/>
            <a:r>
              <a:rPr lang="en-US" dirty="0"/>
              <a:t>Solving small problems, analyzing runtimes, etc.</a:t>
            </a:r>
          </a:p>
          <a:p>
            <a:pPr lvl="1"/>
            <a:r>
              <a:rPr lang="en-US" dirty="0"/>
              <a:t>Writing proofs, etc.</a:t>
            </a:r>
          </a:p>
          <a:p>
            <a:pPr lvl="1"/>
            <a:r>
              <a:rPr lang="en-US" dirty="0"/>
              <a:t>Written in Latex (tutorial on course webpage)</a:t>
            </a:r>
          </a:p>
          <a:p>
            <a:pPr lvl="1"/>
            <a:r>
              <a:rPr lang="en-US" i="1" dirty="0"/>
              <a:t>These are meant to be challenging!</a:t>
            </a:r>
          </a:p>
          <a:p>
            <a:r>
              <a:rPr lang="en-US" b="1" i="1" u="sng" dirty="0"/>
              <a:t>Programming HW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Is written in Java</a:t>
            </a:r>
          </a:p>
          <a:p>
            <a:pPr lvl="1" algn="l"/>
            <a:r>
              <a:rPr lang="en-US" dirty="0"/>
              <a:t>We won’t have many of these (probably just 1)</a:t>
            </a:r>
          </a:p>
        </p:txBody>
      </p:sp>
    </p:spTree>
    <p:extLst>
      <p:ext uri="{BB962C8B-B14F-4D97-AF65-F5344CB8AC3E}">
        <p14:creationId xmlns:p14="http://schemas.microsoft.com/office/powerpoint/2010/main" val="280297619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386862"/>
            <a:ext cx="8229600" cy="768699"/>
          </a:xfrm>
        </p:spPr>
        <p:txBody>
          <a:bodyPr/>
          <a:lstStyle/>
          <a:p>
            <a:pPr algn="ctr"/>
            <a:r>
              <a:rPr lang="en-US" dirty="0"/>
              <a:t>Homework Grades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idx="1"/>
          </p:nvPr>
        </p:nvSpPr>
        <p:spPr>
          <a:xfrm>
            <a:off x="1524000" y="1406769"/>
            <a:ext cx="9046139" cy="5070231"/>
          </a:xfrm>
        </p:spPr>
        <p:txBody>
          <a:bodyPr>
            <a:normAutofit/>
          </a:bodyPr>
          <a:lstStyle/>
          <a:p>
            <a:r>
              <a:rPr lang="en-US" dirty="0" err="1"/>
              <a:t>Homeworks</a:t>
            </a:r>
            <a:r>
              <a:rPr lang="en-US" dirty="0"/>
              <a:t> will be graded on a traditional percentage scale:</a:t>
            </a:r>
          </a:p>
          <a:p>
            <a:pPr lvl="1"/>
            <a:r>
              <a:rPr lang="en-US" b="1" i="1" u="sng" dirty="0"/>
              <a:t>Out of 10 points (or similar)</a:t>
            </a:r>
            <a:endParaRPr lang="en-US" dirty="0"/>
          </a:p>
          <a:p>
            <a:pPr lvl="1"/>
            <a:r>
              <a:rPr lang="en-US" dirty="0"/>
              <a:t>Regrades will be available (probably)</a:t>
            </a:r>
          </a:p>
          <a:p>
            <a:endParaRPr lang="en-US" dirty="0"/>
          </a:p>
          <a:p>
            <a:r>
              <a:rPr lang="en-US" b="1" i="1" u="sng" dirty="0"/>
              <a:t>Deadlines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We will have </a:t>
            </a:r>
            <a:r>
              <a:rPr lang="en-US" b="1" i="1" dirty="0"/>
              <a:t>traditional homework deadlines</a:t>
            </a:r>
            <a:r>
              <a:rPr lang="en-US" dirty="0"/>
              <a:t>, however…</a:t>
            </a:r>
          </a:p>
          <a:p>
            <a:pPr lvl="1"/>
            <a:r>
              <a:rPr lang="en-US" dirty="0"/>
              <a:t>Anyone can fill out an online form to request a 5 day extension. Extensions will be granted for any reason as long as you articulate why you need extra time and when you plan to finish the homework by.</a:t>
            </a:r>
          </a:p>
          <a:p>
            <a:pPr lvl="1"/>
            <a:r>
              <a:rPr lang="en-US" dirty="0"/>
              <a:t>NO submissions beyond this already generous 5 day window for any reason. That window IS your flexibility should anything arise.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216451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1778558" y="398586"/>
            <a:ext cx="8432242" cy="886890"/>
          </a:xfrm>
        </p:spPr>
        <p:txBody>
          <a:bodyPr/>
          <a:lstStyle/>
          <a:p>
            <a:pPr algn="ctr"/>
            <a:r>
              <a:rPr lang="en-US" dirty="0"/>
              <a:t>Homework Collaboration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idx="1"/>
          </p:nvPr>
        </p:nvSpPr>
        <p:spPr>
          <a:xfrm>
            <a:off x="1600200" y="1643027"/>
            <a:ext cx="8969939" cy="4599511"/>
          </a:xfrm>
        </p:spPr>
        <p:txBody>
          <a:bodyPr>
            <a:normAutofit/>
          </a:bodyPr>
          <a:lstStyle/>
          <a:p>
            <a:r>
              <a:rPr lang="en-US" dirty="0"/>
              <a:t>You may work in groups of up to 3 on written assignments</a:t>
            </a:r>
          </a:p>
          <a:p>
            <a:pPr lvl="1"/>
            <a:r>
              <a:rPr lang="en-US" dirty="0"/>
              <a:t>This is most of the assignments</a:t>
            </a:r>
          </a:p>
          <a:p>
            <a:pPr lvl="1"/>
            <a:r>
              <a:rPr lang="en-US" dirty="0"/>
              <a:t>Once submission per group is fine. </a:t>
            </a:r>
            <a:r>
              <a:rPr lang="en-US" dirty="0" err="1"/>
              <a:t>Gradescope</a:t>
            </a:r>
            <a:r>
              <a:rPr lang="en-US" dirty="0"/>
              <a:t> supports this quite easily.</a:t>
            </a:r>
          </a:p>
          <a:p>
            <a:pPr lvl="1"/>
            <a:endParaRPr lang="en-US" dirty="0"/>
          </a:p>
          <a:p>
            <a:r>
              <a:rPr lang="en-US" dirty="0"/>
              <a:t>On programming assignments (currently, just 1) you are expected to work independently.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793471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1778558" y="398586"/>
            <a:ext cx="8432242" cy="886890"/>
          </a:xfrm>
        </p:spPr>
        <p:txBody>
          <a:bodyPr/>
          <a:lstStyle/>
          <a:p>
            <a:pPr algn="ctr"/>
            <a:r>
              <a:rPr lang="en-US" dirty="0"/>
              <a:t>Homework Grade Philosophy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idx="1"/>
          </p:nvPr>
        </p:nvSpPr>
        <p:spPr>
          <a:xfrm>
            <a:off x="1600200" y="1572689"/>
            <a:ext cx="8969939" cy="5036341"/>
          </a:xfrm>
        </p:spPr>
        <p:txBody>
          <a:bodyPr>
            <a:normAutofit/>
          </a:bodyPr>
          <a:lstStyle/>
          <a:p>
            <a:r>
              <a:rPr lang="en-US" dirty="0"/>
              <a:t>The purpose of homework is to PRACTICE!</a:t>
            </a:r>
          </a:p>
          <a:p>
            <a:endParaRPr lang="en-US" dirty="0"/>
          </a:p>
          <a:p>
            <a:r>
              <a:rPr lang="en-US" dirty="0"/>
              <a:t>I want you to:</a:t>
            </a:r>
          </a:p>
          <a:p>
            <a:pPr lvl="1"/>
            <a:r>
              <a:rPr lang="en-US" dirty="0"/>
              <a:t>Attempt every problem on your own</a:t>
            </a:r>
          </a:p>
          <a:p>
            <a:pPr lvl="1"/>
            <a:r>
              <a:rPr lang="en-US" dirty="0"/>
              <a:t>Then work with your group to get the solutions figured out</a:t>
            </a:r>
          </a:p>
          <a:p>
            <a:pPr lvl="1"/>
            <a:r>
              <a:rPr lang="en-US" dirty="0"/>
              <a:t>Study the solutions for </a:t>
            </a:r>
            <a:r>
              <a:rPr lang="en-US" dirty="0" err="1"/>
              <a:t>homeworks</a:t>
            </a:r>
            <a:r>
              <a:rPr lang="en-US" dirty="0"/>
              <a:t> (these homework problems WILL appear on quizzes).</a:t>
            </a:r>
          </a:p>
          <a:p>
            <a:endParaRPr lang="en-US" dirty="0"/>
          </a:p>
          <a:p>
            <a:r>
              <a:rPr lang="en-US" dirty="0"/>
              <a:t>Grading will be lenient. Our plan is to check your HW for completion, effort, and skim to see if it is mostly correct. However…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486670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C0667B-EEC6-2E7F-4D1B-F3D0FE4CA7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5B5D8CC4-DC42-89A7-E6B2-481525C8CE1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778558" y="398586"/>
            <a:ext cx="8432242" cy="886890"/>
          </a:xfrm>
        </p:spPr>
        <p:txBody>
          <a:bodyPr/>
          <a:lstStyle/>
          <a:p>
            <a:pPr algn="ctr"/>
            <a:r>
              <a:rPr lang="en-US" dirty="0"/>
              <a:t>Homework Check-Ins</a:t>
            </a:r>
          </a:p>
        </p:txBody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2AADC454-16AF-F1FB-4E70-1F3326ED985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600200" y="1572689"/>
            <a:ext cx="8969939" cy="5036341"/>
          </a:xfrm>
        </p:spPr>
        <p:txBody>
          <a:bodyPr>
            <a:normAutofit/>
          </a:bodyPr>
          <a:lstStyle/>
          <a:p>
            <a:r>
              <a:rPr lang="en-US" dirty="0"/>
              <a:t>Everyone is required to do </a:t>
            </a:r>
            <a:r>
              <a:rPr lang="en-US" b="1" i="1" u="sng" dirty="0"/>
              <a:t>ONE homework check-in </a:t>
            </a:r>
            <a:r>
              <a:rPr lang="en-US" dirty="0"/>
              <a:t>at some point throughout the semester.</a:t>
            </a:r>
          </a:p>
          <a:p>
            <a:endParaRPr lang="en-US" dirty="0"/>
          </a:p>
          <a:p>
            <a:r>
              <a:rPr lang="en-US" dirty="0"/>
              <a:t>How it works:</a:t>
            </a:r>
          </a:p>
          <a:p>
            <a:pPr lvl="1"/>
            <a:r>
              <a:rPr lang="en-US" dirty="0"/>
              <a:t>You will be given a week assigned to do this check-in</a:t>
            </a:r>
          </a:p>
          <a:p>
            <a:pPr lvl="1"/>
            <a:r>
              <a:rPr lang="en-US" dirty="0"/>
              <a:t>You will sign up for an OH slot</a:t>
            </a:r>
          </a:p>
          <a:p>
            <a:pPr lvl="1"/>
            <a:r>
              <a:rPr lang="en-US" dirty="0"/>
              <a:t>Come to Office Hours</a:t>
            </a:r>
          </a:p>
          <a:p>
            <a:pPr lvl="1"/>
            <a:r>
              <a:rPr lang="en-US" dirty="0"/>
              <a:t>TA will pull up a random homework problem and ask you to explain</a:t>
            </a:r>
          </a:p>
          <a:p>
            <a:pPr lvl="1"/>
            <a:r>
              <a:rPr lang="en-US" dirty="0"/>
              <a:t>You explain the solution to the HW problem</a:t>
            </a:r>
          </a:p>
          <a:p>
            <a:pPr lvl="1"/>
            <a:r>
              <a:rPr lang="en-US" dirty="0"/>
              <a:t>TA grades you on a scale of 1-4 (not proficient to mastered)</a:t>
            </a:r>
          </a:p>
        </p:txBody>
      </p:sp>
    </p:spTree>
    <p:extLst>
      <p:ext uri="{BB962C8B-B14F-4D97-AF65-F5344CB8AC3E}">
        <p14:creationId xmlns:p14="http://schemas.microsoft.com/office/powerpoint/2010/main" val="184590886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>
          <a:xfrm>
            <a:off x="1998858" y="327866"/>
            <a:ext cx="7958331" cy="887986"/>
          </a:xfrm>
        </p:spPr>
        <p:txBody>
          <a:bodyPr/>
          <a:lstStyle/>
          <a:p>
            <a:pPr algn="ctr"/>
            <a:r>
              <a:rPr lang="en-US" dirty="0"/>
              <a:t>Grading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7DFEF5-BEAA-974F-B91B-2D8B6E94C7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47572" y="1481365"/>
            <a:ext cx="8109617" cy="4950367"/>
          </a:xfrm>
        </p:spPr>
        <p:txBody>
          <a:bodyPr>
            <a:normAutofit/>
          </a:bodyPr>
          <a:lstStyle/>
          <a:p>
            <a:r>
              <a:rPr lang="en-US" dirty="0"/>
              <a:t>Final letter grade will be a weighted average:</a:t>
            </a:r>
          </a:p>
          <a:p>
            <a:endParaRPr lang="en-US" dirty="0"/>
          </a:p>
          <a:p>
            <a:r>
              <a:rPr lang="en-US" b="1" i="1" u="sng" dirty="0"/>
              <a:t>Homework (6-7)</a:t>
            </a:r>
            <a:r>
              <a:rPr lang="en-US" dirty="0"/>
              <a:t>: 		15 percent</a:t>
            </a:r>
          </a:p>
          <a:p>
            <a:r>
              <a:rPr lang="en-US" b="1" i="1" u="sng" dirty="0"/>
              <a:t>OH Check-In (1)</a:t>
            </a:r>
            <a:r>
              <a:rPr lang="en-US" dirty="0"/>
              <a:t>:		5 percent</a:t>
            </a:r>
          </a:p>
          <a:p>
            <a:r>
              <a:rPr lang="en-US" b="1" i="1" u="sng" dirty="0"/>
              <a:t>Attendance</a:t>
            </a:r>
            <a:r>
              <a:rPr lang="en-US" dirty="0"/>
              <a:t>:			8 percent</a:t>
            </a:r>
          </a:p>
          <a:p>
            <a:r>
              <a:rPr lang="en-US" b="1" i="1" u="sng" dirty="0"/>
              <a:t>Quizzes (Mods 1-4)</a:t>
            </a:r>
            <a:r>
              <a:rPr lang="en-US" dirty="0"/>
              <a:t>: 		60 percent (15 percent each)</a:t>
            </a:r>
          </a:p>
          <a:p>
            <a:r>
              <a:rPr lang="en-US" b="1" i="1" u="sng" dirty="0"/>
              <a:t>Final Exam Quiz</a:t>
            </a:r>
            <a:r>
              <a:rPr lang="en-US" dirty="0"/>
              <a:t>: 		12 percent</a:t>
            </a:r>
          </a:p>
        </p:txBody>
      </p:sp>
    </p:spTree>
    <p:extLst>
      <p:ext uri="{BB962C8B-B14F-4D97-AF65-F5344CB8AC3E}">
        <p14:creationId xmlns:p14="http://schemas.microsoft.com/office/powerpoint/2010/main" val="16055541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>
          <a:xfrm>
            <a:off x="1141413" y="497938"/>
            <a:ext cx="9905998" cy="969122"/>
          </a:xfrm>
        </p:spPr>
        <p:txBody>
          <a:bodyPr/>
          <a:lstStyle/>
          <a:p>
            <a:pPr algn="ctr"/>
            <a:r>
              <a:rPr lang="en-US" dirty="0"/>
              <a:t>Office Hours</a:t>
            </a:r>
          </a:p>
        </p:txBody>
      </p:sp>
      <p:sp>
        <p:nvSpPr>
          <p:cNvPr id="18435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/>
            <a:r>
              <a:rPr lang="en-US" dirty="0"/>
              <a:t>Let’s discuss office hours by looking at the course website.</a:t>
            </a:r>
          </a:p>
        </p:txBody>
      </p:sp>
    </p:spTree>
    <p:extLst>
      <p:ext uri="{BB962C8B-B14F-4D97-AF65-F5344CB8AC3E}">
        <p14:creationId xmlns:p14="http://schemas.microsoft.com/office/powerpoint/2010/main" val="348152259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/>
          <p:cNvSpPr>
            <a:spLocks noGrp="1"/>
          </p:cNvSpPr>
          <p:nvPr>
            <p:ph type="title"/>
          </p:nvPr>
        </p:nvSpPr>
        <p:spPr>
          <a:xfrm>
            <a:off x="1141413" y="457745"/>
            <a:ext cx="9905998" cy="874078"/>
          </a:xfrm>
        </p:spPr>
        <p:txBody>
          <a:bodyPr/>
          <a:lstStyle/>
          <a:p>
            <a:pPr algn="ctr"/>
            <a:r>
              <a:rPr lang="en-US" dirty="0"/>
              <a:t>Homework: Written</a:t>
            </a:r>
          </a:p>
        </p:txBody>
      </p:sp>
      <p:sp>
        <p:nvSpPr>
          <p:cNvPr id="17411" name="Content Placeholder 2"/>
          <p:cNvSpPr>
            <a:spLocks noGrp="1"/>
          </p:cNvSpPr>
          <p:nvPr>
            <p:ph idx="1"/>
          </p:nvPr>
        </p:nvSpPr>
        <p:spPr>
          <a:xfrm>
            <a:off x="1621861" y="1644997"/>
            <a:ext cx="9274739" cy="4755803"/>
          </a:xfrm>
        </p:spPr>
        <p:txBody>
          <a:bodyPr/>
          <a:lstStyle/>
          <a:p>
            <a:r>
              <a:rPr lang="en-US" dirty="0"/>
              <a:t>These assignments must be typeset in </a:t>
            </a:r>
            <a:r>
              <a:rPr lang="en-US" dirty="0" err="1"/>
              <a:t>LaTeX</a:t>
            </a:r>
            <a:endParaRPr lang="en-US" dirty="0"/>
          </a:p>
          <a:p>
            <a:endParaRPr lang="en-US" dirty="0"/>
          </a:p>
          <a:p>
            <a:r>
              <a:rPr lang="en-US" dirty="0"/>
              <a:t>I will provide a couple tutorials, guides, and templates when the first assignment is given out</a:t>
            </a:r>
          </a:p>
          <a:p>
            <a:endParaRPr lang="en-US" dirty="0"/>
          </a:p>
          <a:p>
            <a:r>
              <a:rPr lang="en-US" b="1" i="1" u="sng" dirty="0"/>
              <a:t>You may not embed images of text or formulas</a:t>
            </a:r>
            <a:r>
              <a:rPr lang="en-US" i="1" u="sng" dirty="0"/>
              <a:t>!</a:t>
            </a:r>
            <a:r>
              <a:rPr lang="en-US" b="1" i="1" u="sng" dirty="0"/>
              <a:t> You may NOT submit handwritten work!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882547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5DC06E-652D-CD40-8782-E878E11BC0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538132"/>
            <a:ext cx="9905998" cy="799137"/>
          </a:xfrm>
        </p:spPr>
        <p:txBody>
          <a:bodyPr/>
          <a:lstStyle/>
          <a:p>
            <a:pPr algn="ctr"/>
            <a:r>
              <a:rPr lang="en-US" dirty="0"/>
              <a:t>Use of Online Code Etc.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2A69A9-9079-244C-BEAE-11CF7ACAB2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47800" y="1722456"/>
            <a:ext cx="9420888" cy="4830744"/>
          </a:xfrm>
        </p:spPr>
        <p:txBody>
          <a:bodyPr>
            <a:normAutofit fontScale="92500"/>
          </a:bodyPr>
          <a:lstStyle/>
          <a:p>
            <a:r>
              <a:rPr lang="en-US" u="sng" dirty="0"/>
              <a:t>Studying</a:t>
            </a:r>
            <a:r>
              <a:rPr lang="en-US" dirty="0"/>
              <a:t> code or proofs online is permitted </a:t>
            </a:r>
            <a:r>
              <a:rPr lang="en-US" u="sng" dirty="0"/>
              <a:t>but only</a:t>
            </a:r>
            <a:r>
              <a:rPr lang="en-US" dirty="0"/>
              <a:t> for getting ideas</a:t>
            </a:r>
          </a:p>
          <a:p>
            <a:r>
              <a:rPr lang="en-US" dirty="0"/>
              <a:t>Copying or reusing code or proofs from an online source violates the pledge</a:t>
            </a:r>
          </a:p>
          <a:p>
            <a:pPr lvl="1"/>
            <a:r>
              <a:rPr lang="en-US" dirty="0"/>
              <a:t>You must cite sources of any online code you use in this way in a comment in your source file(s)</a:t>
            </a:r>
          </a:p>
          <a:p>
            <a:pPr lvl="1"/>
            <a:endParaRPr lang="en-US" dirty="0"/>
          </a:p>
          <a:p>
            <a:r>
              <a:rPr lang="en-US" dirty="0"/>
              <a:t>Remember:  the purpose of the homework is</a:t>
            </a:r>
          </a:p>
          <a:p>
            <a:pPr lvl="1"/>
            <a:r>
              <a:rPr lang="en-US" dirty="0"/>
              <a:t>To </a:t>
            </a:r>
            <a:r>
              <a:rPr lang="en-US" b="1" i="1" u="sng" dirty="0"/>
              <a:t>practice</a:t>
            </a:r>
            <a:r>
              <a:rPr lang="en-US" dirty="0"/>
              <a:t> in an environment that is lower-stress</a:t>
            </a:r>
          </a:p>
          <a:p>
            <a:pPr lvl="1"/>
            <a:r>
              <a:rPr lang="en-US" dirty="0"/>
              <a:t>To </a:t>
            </a:r>
            <a:r>
              <a:rPr lang="en-US" b="1" i="1" u="sng" dirty="0"/>
              <a:t>push yourself </a:t>
            </a:r>
            <a:r>
              <a:rPr lang="en-US" dirty="0"/>
              <a:t>to solve think about the theory of computation and to prepare you for the quizzes, NOT just to get a grade.</a:t>
            </a:r>
          </a:p>
          <a:p>
            <a:pPr lvl="1"/>
            <a:r>
              <a:rPr lang="en-US" dirty="0"/>
              <a:t>To </a:t>
            </a:r>
            <a:r>
              <a:rPr lang="en-US" b="1" i="1" u="sng" dirty="0"/>
              <a:t>work out the logical part </a:t>
            </a:r>
            <a:r>
              <a:rPr lang="en-US" dirty="0"/>
              <a:t>of your brain </a:t>
            </a:r>
            <a:r>
              <a:rPr lang="en-US" dirty="0">
                <a:sym typeface="Wingdings" pitchFamily="2" charset="2"/>
              </a:rPr>
              <a:t></a:t>
            </a:r>
            <a:endParaRPr lang="en-US" dirty="0"/>
          </a:p>
          <a:p>
            <a:pPr lvl="1"/>
            <a:r>
              <a:rPr lang="en-US" dirty="0"/>
              <a:t>To focus on </a:t>
            </a:r>
            <a:r>
              <a:rPr lang="en-US" b="1" i="1" u="sng" dirty="0"/>
              <a:t>attempting to solve problems yourself </a:t>
            </a:r>
            <a:r>
              <a:rPr lang="en-US" dirty="0"/>
              <a:t>before asking others for assistance.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663913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>
          <a:xfrm>
            <a:off x="1141413" y="427600"/>
            <a:ext cx="9905998" cy="823212"/>
          </a:xfrm>
        </p:spPr>
        <p:txBody>
          <a:bodyPr/>
          <a:lstStyle/>
          <a:p>
            <a:pPr algn="ctr"/>
            <a:r>
              <a:rPr lang="en-US" dirty="0"/>
              <a:t>Working in groups</a:t>
            </a:r>
          </a:p>
        </p:txBody>
      </p:sp>
      <p:sp>
        <p:nvSpPr>
          <p:cNvPr id="18435" name="Content Placeholder 2"/>
          <p:cNvSpPr>
            <a:spLocks noGrp="1"/>
          </p:cNvSpPr>
          <p:nvPr>
            <p:ph idx="1"/>
          </p:nvPr>
        </p:nvSpPr>
        <p:spPr>
          <a:xfrm>
            <a:off x="1305446" y="1441730"/>
            <a:ext cx="9819754" cy="5035270"/>
          </a:xfrm>
        </p:spPr>
        <p:txBody>
          <a:bodyPr>
            <a:normAutofit/>
          </a:bodyPr>
          <a:lstStyle/>
          <a:p>
            <a:r>
              <a:rPr lang="en-US" dirty="0"/>
              <a:t>For the homework, you may work together in groups of 3 or less (written assignments)</a:t>
            </a:r>
          </a:p>
          <a:p>
            <a:pPr lvl="1"/>
            <a:r>
              <a:rPr lang="en-US" dirty="0"/>
              <a:t>Submit one homework per group (I believe </a:t>
            </a:r>
            <a:r>
              <a:rPr lang="en-US" dirty="0" err="1"/>
              <a:t>Gradescope</a:t>
            </a:r>
            <a:r>
              <a:rPr lang="en-US" dirty="0"/>
              <a:t> supports this)</a:t>
            </a:r>
          </a:p>
          <a:p>
            <a:endParaRPr lang="en-US" dirty="0"/>
          </a:p>
          <a:p>
            <a:r>
              <a:rPr lang="en-US" dirty="0"/>
              <a:t>For the programming homework, you may discuss the problems with your group of 3 or less, but you must:</a:t>
            </a:r>
          </a:p>
          <a:p>
            <a:pPr lvl="1"/>
            <a:r>
              <a:rPr lang="en-US" dirty="0"/>
              <a:t>State who you worked with</a:t>
            </a:r>
          </a:p>
          <a:p>
            <a:pPr lvl="1"/>
            <a:r>
              <a:rPr lang="en-US" dirty="0"/>
              <a:t>Type up your own implementation!</a:t>
            </a:r>
          </a:p>
        </p:txBody>
      </p:sp>
    </p:spTree>
    <p:extLst>
      <p:ext uri="{BB962C8B-B14F-4D97-AF65-F5344CB8AC3E}">
        <p14:creationId xmlns:p14="http://schemas.microsoft.com/office/powerpoint/2010/main" val="129236805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7253C7-DA38-58A0-62B1-0D28173D41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8D2444A4-E005-9DE7-1639-67494304F7FD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1141413" y="381849"/>
            <a:ext cx="9905998" cy="812249"/>
          </a:xfrm>
        </p:spPr>
        <p:txBody>
          <a:bodyPr/>
          <a:lstStyle/>
          <a:p>
            <a:pPr algn="ctr"/>
            <a:r>
              <a:rPr lang="en-US" dirty="0"/>
              <a:t>On the Subject of Effort</a:t>
            </a:r>
          </a:p>
        </p:txBody>
      </p:sp>
      <p:sp>
        <p:nvSpPr>
          <p:cNvPr id="307203" name="Rectangle 3">
            <a:extLst>
              <a:ext uri="{FF2B5EF4-FFF2-40B4-BE49-F238E27FC236}">
                <a16:creationId xmlns:a16="http://schemas.microsoft.com/office/drawing/2014/main" id="{941A19F4-0DA1-C94E-272C-CD4C77EEF8F2}"/>
              </a:ext>
            </a:extLst>
          </p:cNvPr>
          <p:cNvSpPr>
            <a:spLocks noGrp="1" noChangeArrowheads="1"/>
          </p:cNvSpPr>
          <p:nvPr>
            <p:ph idx="1"/>
            <p:custDataLst>
              <p:tags r:id="rId2"/>
            </p:custDataLst>
          </p:nvPr>
        </p:nvSpPr>
        <p:spPr>
          <a:xfrm>
            <a:off x="1752600" y="1473798"/>
            <a:ext cx="8817539" cy="4800167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90000"/>
              </a:lnSpc>
            </a:pPr>
            <a:r>
              <a:rPr lang="en-US" dirty="0"/>
              <a:t>DMT2 is a difficult course with a lot of abstract conceptual content.</a:t>
            </a:r>
          </a:p>
          <a:p>
            <a:pPr>
              <a:lnSpc>
                <a:spcPct val="90000"/>
              </a:lnSpc>
            </a:pPr>
            <a:endParaRPr lang="en-US" dirty="0"/>
          </a:p>
          <a:p>
            <a:pPr>
              <a:lnSpc>
                <a:spcPct val="90000"/>
              </a:lnSpc>
            </a:pPr>
            <a:r>
              <a:rPr lang="en-US" dirty="0"/>
              <a:t>To be successful, you should at minimum be prepared to: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Attend Lecture Every Single Day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Do NOT use your free extensions unless you absolutely need to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Spend at least 1 hour per day on the course (7 hours per week)</a:t>
            </a:r>
          </a:p>
          <a:p>
            <a:pPr lvl="2">
              <a:lnSpc>
                <a:spcPct val="90000"/>
              </a:lnSpc>
            </a:pPr>
            <a:r>
              <a:rPr lang="en-US" dirty="0"/>
              <a:t>I truly believe smaller 1 hour chunks is better than one big 3-4 hour chunk</a:t>
            </a:r>
          </a:p>
          <a:p>
            <a:pPr>
              <a:lnSpc>
                <a:spcPct val="90000"/>
              </a:lnSpc>
            </a:pPr>
            <a:endParaRPr lang="en-US" dirty="0"/>
          </a:p>
          <a:p>
            <a:pPr>
              <a:lnSpc>
                <a:spcPct val="90000"/>
              </a:lnSpc>
            </a:pPr>
            <a:r>
              <a:rPr lang="en-US" dirty="0"/>
              <a:t>What to spend your time on: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Lecture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Working on homework problems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Read the textbook (it is better than almost ALL </a:t>
            </a:r>
            <a:r>
              <a:rPr lang="en-US" dirty="0" err="1"/>
              <a:t>youtube</a:t>
            </a:r>
            <a:r>
              <a:rPr lang="en-US" dirty="0"/>
              <a:t> videos in my opinion)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Reviewing lecture recordings (this should NOT be the first time you see the lecture)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Review homework problems AFTER they are submitted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Review old quizzes on course website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Attend OH and discuss problems with TAs</a:t>
            </a:r>
          </a:p>
        </p:txBody>
      </p:sp>
    </p:spTree>
    <p:extLst>
      <p:ext uri="{BB962C8B-B14F-4D97-AF65-F5344CB8AC3E}">
        <p14:creationId xmlns:p14="http://schemas.microsoft.com/office/powerpoint/2010/main" val="44777384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>
          <a:xfrm>
            <a:off x="1141413" y="427600"/>
            <a:ext cx="9905998" cy="823212"/>
          </a:xfrm>
        </p:spPr>
        <p:txBody>
          <a:bodyPr/>
          <a:lstStyle/>
          <a:p>
            <a:pPr algn="ctr"/>
            <a:r>
              <a:rPr lang="en-US" dirty="0"/>
              <a:t>I think that is all…</a:t>
            </a:r>
          </a:p>
        </p:txBody>
      </p:sp>
      <p:sp>
        <p:nvSpPr>
          <p:cNvPr id="18435" name="Content Placeholder 2"/>
          <p:cNvSpPr>
            <a:spLocks noGrp="1"/>
          </p:cNvSpPr>
          <p:nvPr>
            <p:ph idx="1"/>
          </p:nvPr>
        </p:nvSpPr>
        <p:spPr>
          <a:xfrm>
            <a:off x="1305446" y="1441730"/>
            <a:ext cx="9819754" cy="5035270"/>
          </a:xfrm>
        </p:spPr>
        <p:txBody>
          <a:bodyPr>
            <a:normAutofit/>
          </a:bodyPr>
          <a:lstStyle/>
          <a:p>
            <a:r>
              <a:rPr lang="en-US" dirty="0"/>
              <a:t>Any questions…</a:t>
            </a:r>
          </a:p>
        </p:txBody>
      </p:sp>
    </p:spTree>
    <p:extLst>
      <p:ext uri="{BB962C8B-B14F-4D97-AF65-F5344CB8AC3E}">
        <p14:creationId xmlns:p14="http://schemas.microsoft.com/office/powerpoint/2010/main" val="75520888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252C36"/>
      </a:dk2>
      <a:lt2>
        <a:srgbClr val="7C96A3"/>
      </a:lt2>
      <a:accent1>
        <a:srgbClr val="4FD093"/>
      </a:accent1>
      <a:accent2>
        <a:srgbClr val="54BCDF"/>
      </a:accent2>
      <a:accent3>
        <a:srgbClr val="A262D0"/>
      </a:accent3>
      <a:accent4>
        <a:srgbClr val="D7537B"/>
      </a:accent4>
      <a:accent5>
        <a:srgbClr val="E78045"/>
      </a:accent5>
      <a:accent6>
        <a:srgbClr val="84C350"/>
      </a:accent6>
      <a:hlink>
        <a:srgbClr val="22FFFF"/>
      </a:hlink>
      <a:folHlink>
        <a:srgbClr val="9BF3FD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4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4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  <a:hueMod val="106000"/>
                <a:satMod val="140000"/>
                <a:lumMod val="42000"/>
              </a:schemeClr>
              <a:schemeClr val="phClr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142578CA-DEC9-49C3-80AF-C113973CC9A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{78731ABC-CB82-E74D-A429-13D3326A7E5D}tf10001122</Template>
  <TotalTime>11974</TotalTime>
  <Words>2656</Words>
  <Application>Microsoft Macintosh PowerPoint</Application>
  <PresentationFormat>Widescreen</PresentationFormat>
  <Paragraphs>284</Paragraphs>
  <Slides>34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0" baseType="lpstr">
      <vt:lpstr>Arial</vt:lpstr>
      <vt:lpstr>Calibri</vt:lpstr>
      <vt:lpstr>Cambria Math</vt:lpstr>
      <vt:lpstr>Tw Cen MT</vt:lpstr>
      <vt:lpstr>Wingdings</vt:lpstr>
      <vt:lpstr>Circuit</vt:lpstr>
      <vt:lpstr>CS3120 (DMT2) Course Introduction</vt:lpstr>
      <vt:lpstr>Quick Polls (Agree or Not?)</vt:lpstr>
      <vt:lpstr>My Answers (1 to 10)</vt:lpstr>
      <vt:lpstr>Course Objectives</vt:lpstr>
      <vt:lpstr>Course OBjectives</vt:lpstr>
      <vt:lpstr>Course introduction</vt:lpstr>
      <vt:lpstr>General Info</vt:lpstr>
      <vt:lpstr>Course Website</vt:lpstr>
      <vt:lpstr>Other Course Tools</vt:lpstr>
      <vt:lpstr>Expectations</vt:lpstr>
      <vt:lpstr>On the Subject of Laptops / Phones</vt:lpstr>
      <vt:lpstr>On the Subject of Attendance</vt:lpstr>
      <vt:lpstr>Attendance Score</vt:lpstr>
      <vt:lpstr>General Info</vt:lpstr>
      <vt:lpstr>Textbook</vt:lpstr>
      <vt:lpstr>Lectures</vt:lpstr>
      <vt:lpstr>Modules</vt:lpstr>
      <vt:lpstr>Modules (Cont’d)</vt:lpstr>
      <vt:lpstr>Quizzes</vt:lpstr>
      <vt:lpstr>Quizzes</vt:lpstr>
      <vt:lpstr>Quizzes</vt:lpstr>
      <vt:lpstr>Final Exam</vt:lpstr>
      <vt:lpstr>Homeworks</vt:lpstr>
      <vt:lpstr>Homework Grades</vt:lpstr>
      <vt:lpstr>Homework Collaboration</vt:lpstr>
      <vt:lpstr>Homework Grade Philosophy</vt:lpstr>
      <vt:lpstr>Homework Check-Ins</vt:lpstr>
      <vt:lpstr>Grading Overview</vt:lpstr>
      <vt:lpstr>Office Hours</vt:lpstr>
      <vt:lpstr>Homework: Written</vt:lpstr>
      <vt:lpstr>Use of Online Code Etc.</vt:lpstr>
      <vt:lpstr>Working in groups</vt:lpstr>
      <vt:lpstr>On the Subject of Effort</vt:lpstr>
      <vt:lpstr>I think that is all…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Linear Programming</dc:title>
  <dc:creator>Mark Floryan</dc:creator>
  <cp:lastModifiedBy>Floryan, Mark Richard (mrf8t)</cp:lastModifiedBy>
  <cp:revision>140</cp:revision>
  <dcterms:created xsi:type="dcterms:W3CDTF">2023-02-24T14:15:53Z</dcterms:created>
  <dcterms:modified xsi:type="dcterms:W3CDTF">2026-09-28T16:38:47Z</dcterms:modified>
</cp:coreProperties>
</file>