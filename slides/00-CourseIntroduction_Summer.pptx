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29"/>
  </p:notesMasterIdLst>
  <p:sldIdLst>
    <p:sldId id="256" r:id="rId2"/>
    <p:sldId id="505" r:id="rId3"/>
    <p:sldId id="513" r:id="rId4"/>
    <p:sldId id="507" r:id="rId5"/>
    <p:sldId id="508" r:id="rId6"/>
    <p:sldId id="511" r:id="rId7"/>
    <p:sldId id="512" r:id="rId8"/>
    <p:sldId id="510" r:id="rId9"/>
    <p:sldId id="504" r:id="rId10"/>
    <p:sldId id="426" r:id="rId11"/>
    <p:sldId id="516" r:id="rId12"/>
    <p:sldId id="403" r:id="rId13"/>
    <p:sldId id="470" r:id="rId14"/>
    <p:sldId id="495" r:id="rId15"/>
    <p:sldId id="474" r:id="rId16"/>
    <p:sldId id="497" r:id="rId17"/>
    <p:sldId id="487" r:id="rId18"/>
    <p:sldId id="488" r:id="rId19"/>
    <p:sldId id="489" r:id="rId20"/>
    <p:sldId id="501" r:id="rId21"/>
    <p:sldId id="506" r:id="rId22"/>
    <p:sldId id="491" r:id="rId23"/>
    <p:sldId id="496" r:id="rId24"/>
    <p:sldId id="463" r:id="rId25"/>
    <p:sldId id="502" r:id="rId26"/>
    <p:sldId id="464" r:id="rId27"/>
    <p:sldId id="514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092"/>
    <p:restoredTop sz="94739"/>
  </p:normalViewPr>
  <p:slideViewPr>
    <p:cSldViewPr snapToGrid="0" snapToObjects="1">
      <p:cViewPr varScale="1">
        <p:scale>
          <a:sx n="161" d="100"/>
          <a:sy n="161" d="100"/>
        </p:scale>
        <p:origin x="248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1890EBB-E05E-4685-8A9C-8E0AC45FB38E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6426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02D7A8C-E8C9-C044-B17F-4F3BDC02CA13}" type="datetime1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537B-242B-6E4B-B3AA-5700AD130DAB}" type="datetime1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E0DB53-1439-2E4C-8FEF-8A4982596F3C}" type="datetime1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8B4C4-E214-B54E-A5C2-DF036DC63B34}" type="datetime1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C456D-E6B2-0642-9BEB-83D0B9BAC47F}" type="datetime1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A1968-45EA-A240-A17F-44B2A8A0BB1D}" type="datetime1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FB313-9C91-AB4A-9BD3-BE60645D454E}" type="datetime1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0DE57A-C1B2-FD48-B4C3-5BEA75776498}" type="datetime1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82DE63-F783-CF4C-A886-D3D65D6D3AA3}" type="datetime1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8A4E9-907E-024F-942D-1027DBDB6B95}" type="datetime1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E75626-F07C-1141-9EC1-D81C02E85261}" type="datetime1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42032B-A565-A745-AD03-A3A1AE898D44}" type="datetime1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7DFA05-D8BC-F743-AAC8-830078F9EC2E}" type="datetime1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ACE03-F6AA-B648-AEDA-6D288BF5F57D}" type="datetime1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CC296A-FFCD-5143-BB88-7498A31860D8}" type="datetime1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5FF73-2E33-5542-B000-2DC2E7840EBF}" type="datetime1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F42606-263B-9C4F-8747-C46201865648}" type="datetime1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173DD1-A275-4445-AB1E-9DFF752BE39B}" type="datetime1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4" Type="http://schemas.openxmlformats.org/officeDocument/2006/relationships/hyperlink" Target="https://markfloryan.github.io/dmt2/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Course Introduction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Floryan, Ray Pettit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Quick Polls (Agree or Not?)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41413" y="1473200"/>
            <a:ext cx="9970724" cy="4800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u="sng" dirty="0"/>
              <a:t>Q1</a:t>
            </a:r>
            <a:r>
              <a:rPr lang="en-US" dirty="0"/>
              <a:t>: I have heard that DMT 2 is like…a really hard class!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u="sng" dirty="0"/>
              <a:t>Q2</a:t>
            </a:r>
            <a:r>
              <a:rPr lang="en-US" dirty="0"/>
              <a:t>: I have heard that DMT 2 is a lot of work!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u="sng" dirty="0"/>
              <a:t>Q3</a:t>
            </a:r>
            <a:r>
              <a:rPr lang="en-US" dirty="0"/>
              <a:t>: I have heard that DMT 2 material isn’t that important and that you will never really use it!</a:t>
            </a: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My Answers (1 to 10)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41413" y="1219199"/>
            <a:ext cx="9970724" cy="53209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i="1" u="sng" dirty="0"/>
              <a:t>Q1</a:t>
            </a:r>
            <a:r>
              <a:rPr lang="en-US" dirty="0"/>
              <a:t>: I have heard that DMT 2 is like…a really hard class!</a:t>
            </a:r>
            <a:br>
              <a:rPr lang="en-US" dirty="0"/>
            </a:br>
            <a:r>
              <a:rPr lang="en-US" dirty="0"/>
              <a:t>	</a:t>
            </a:r>
            <a:r>
              <a:rPr lang="en-US" i="1" u="sng" dirty="0"/>
              <a:t>8: Yes, the material is hard. There is no way around it </a:t>
            </a:r>
            <a:r>
              <a:rPr lang="en-US" i="1" u="sng" dirty="0">
                <a:sym typeface="Wingdings" pitchFamily="2" charset="2"/>
              </a:rPr>
              <a:t>&lt;sad face&gt;</a:t>
            </a:r>
            <a:endParaRPr lang="en-US" i="1" u="sng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u="sng" dirty="0"/>
              <a:t>Q2</a:t>
            </a:r>
            <a:r>
              <a:rPr lang="en-US" dirty="0"/>
              <a:t>: I have heard that DMT 2 is a lot of work!</a:t>
            </a:r>
            <a:br>
              <a:rPr lang="en-US" dirty="0"/>
            </a:br>
            <a:r>
              <a:rPr lang="en-US" dirty="0"/>
              <a:t>	</a:t>
            </a:r>
            <a:r>
              <a:rPr lang="en-US" i="1" u="sng" dirty="0"/>
              <a:t>6: A lot of work to understand the concepts, but not a pile of work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u="sng" dirty="0"/>
              <a:t>Q3</a:t>
            </a:r>
            <a:r>
              <a:rPr lang="en-US" dirty="0"/>
              <a:t>: I have heard that DMT 2 material isn’t that important and that you will never really use it!</a:t>
            </a:r>
            <a:br>
              <a:rPr lang="en-US" dirty="0"/>
            </a:br>
            <a:r>
              <a:rPr lang="en-US" dirty="0"/>
              <a:t>	</a:t>
            </a:r>
            <a:r>
              <a:rPr lang="en-US" i="1" u="sng" dirty="0"/>
              <a:t>3: This material is universal and timeless…I’ll explain a bit more verbally</a:t>
            </a:r>
          </a:p>
        </p:txBody>
      </p:sp>
    </p:spTree>
    <p:extLst>
      <p:ext uri="{BB962C8B-B14F-4D97-AF65-F5344CB8AC3E}">
        <p14:creationId xmlns:p14="http://schemas.microsoft.com/office/powerpoint/2010/main" val="3749058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Objectives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9408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Course </a:t>
            </a:r>
            <a:r>
              <a:rPr lang="en-US" dirty="0" err="1"/>
              <a:t>OBjectives</a:t>
            </a:r>
            <a:endParaRPr lang="en-US" dirty="0"/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396721" y="1473200"/>
            <a:ext cx="9365064" cy="4800600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u="sng" dirty="0"/>
              <a:t>Students who complete the course will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Improve their mathematical thinking skill and habits, including thinking precisely about definitions, stating assumptions carefully, critically reading arguments, and being able to write convincingly.</a:t>
            </a:r>
          </a:p>
          <a:p>
            <a:r>
              <a:rPr lang="en-US" dirty="0"/>
              <a:t>Be able to understand both finite and infinite formal models of computation and to reason about what they can and cannot compute.</a:t>
            </a:r>
          </a:p>
          <a:p>
            <a:r>
              <a:rPr lang="en-US" dirty="0"/>
              <a:t>Understand both intuitively and formally what makes some problems too expensive to solve, and what can be done in practice when an unsolvable or intractable problem is encountered.</a:t>
            </a:r>
          </a:p>
          <a:p>
            <a:r>
              <a:rPr lang="en-US" dirty="0"/>
              <a:t>Reason formally about the cost of computation, and be able to prove useful bounds on the costs of solving problems, including showing that certain problems are intractable.</a:t>
            </a:r>
          </a:p>
          <a:p>
            <a:r>
              <a:rPr lang="en-US" dirty="0"/>
              <a:t>Learn about some interesting aspects of theoretical computer science, including cryptography and machine learning.</a:t>
            </a:r>
          </a:p>
        </p:txBody>
      </p:sp>
    </p:spTree>
    <p:extLst>
      <p:ext uri="{BB962C8B-B14F-4D97-AF65-F5344CB8AC3E}">
        <p14:creationId xmlns:p14="http://schemas.microsoft.com/office/powerpoint/2010/main" val="13164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introduction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772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General Info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905000" y="1473200"/>
            <a:ext cx="8255000" cy="4800600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See syllabus on course website for general information</a:t>
            </a:r>
          </a:p>
          <a:p>
            <a:r>
              <a:rPr lang="en-US" dirty="0"/>
              <a:t>Pre-requisites:</a:t>
            </a:r>
          </a:p>
          <a:p>
            <a:pPr lvl="1"/>
            <a:r>
              <a:rPr lang="en-US" dirty="0"/>
              <a:t>CS 3100 (DSA2) if you are in the new curriculum (most of you, probably)</a:t>
            </a:r>
          </a:p>
          <a:p>
            <a:pPr lvl="1"/>
            <a:r>
              <a:rPr lang="en-US" dirty="0"/>
              <a:t>CS 4102 (</a:t>
            </a:r>
            <a:r>
              <a:rPr lang="en-US" dirty="0" err="1"/>
              <a:t>Algo</a:t>
            </a:r>
            <a:r>
              <a:rPr lang="en-US" dirty="0"/>
              <a:t>) if you are in the old curriculum (Maybe a few of you)</a:t>
            </a:r>
          </a:p>
          <a:p>
            <a:pPr lvl="1"/>
            <a:r>
              <a:rPr lang="en-US" dirty="0"/>
              <a:t>Math topics: proof by induction, proof by contradiction, etc. (Basically everything in DMT 1)</a:t>
            </a:r>
          </a:p>
          <a:p>
            <a:pPr lvl="1"/>
            <a:r>
              <a:rPr lang="en-US" dirty="0"/>
              <a:t>Data Structures: Graphs and generally maturity proving things, etc.</a:t>
            </a:r>
          </a:p>
          <a:p>
            <a:r>
              <a:rPr lang="en-US" dirty="0"/>
              <a:t>Teaching Assistants</a:t>
            </a:r>
          </a:p>
          <a:p>
            <a:pPr lvl="1"/>
            <a:r>
              <a:rPr lang="en-US" dirty="0"/>
              <a:t>Graduates (0):</a:t>
            </a:r>
          </a:p>
          <a:p>
            <a:pPr lvl="2"/>
            <a:r>
              <a:rPr lang="en-US" dirty="0"/>
              <a:t>N/A</a:t>
            </a:r>
          </a:p>
          <a:p>
            <a:pPr lvl="1"/>
            <a:r>
              <a:rPr lang="en-US" dirty="0"/>
              <a:t>Undergraduates (1)</a:t>
            </a:r>
          </a:p>
          <a:p>
            <a:pPr lvl="2"/>
            <a:r>
              <a:rPr lang="en-US" dirty="0"/>
              <a:t>Michael Sy</a:t>
            </a:r>
          </a:p>
          <a:p>
            <a:pPr lvl="1"/>
            <a:r>
              <a:rPr lang="en-US" dirty="0"/>
              <a:t>Both will hold office hours, which will start today</a:t>
            </a:r>
          </a:p>
          <a:p>
            <a:pPr lvl="2"/>
            <a:r>
              <a:rPr lang="en-US" dirty="0"/>
              <a:t>Locations and hours mostly set on course website</a:t>
            </a:r>
          </a:p>
          <a:p>
            <a:pPr lvl="1"/>
            <a:r>
              <a:rPr lang="en-US" dirty="0"/>
              <a:t>Also, we’ll use Piazza for questions.</a:t>
            </a:r>
          </a:p>
          <a:p>
            <a:pPr lvl="2"/>
            <a:r>
              <a:rPr lang="en-US" dirty="0"/>
              <a:t>Post all questions about HW, topics, etc. to Piazza NOT email to instructors!</a:t>
            </a:r>
          </a:p>
        </p:txBody>
      </p:sp>
    </p:spTree>
    <p:extLst>
      <p:ext uri="{BB962C8B-B14F-4D97-AF65-F5344CB8AC3E}">
        <p14:creationId xmlns:p14="http://schemas.microsoft.com/office/powerpoint/2010/main" val="3929388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2184"/>
            <a:ext cx="9905998" cy="897015"/>
          </a:xfrm>
        </p:spPr>
        <p:txBody>
          <a:bodyPr/>
          <a:lstStyle/>
          <a:p>
            <a:pPr algn="ctr"/>
            <a:r>
              <a:rPr lang="en-US" dirty="0"/>
              <a:t>Course Website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905000" y="1473200"/>
            <a:ext cx="8255000" cy="4800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hlinkClick r:id="rId4"/>
              </a:rPr>
              <a:t>https://markfloryan.github.io/dmt2/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Contains most of the important info for the course:</a:t>
            </a:r>
          </a:p>
          <a:p>
            <a:pPr lvl="1">
              <a:buFontTx/>
              <a:buChar char="-"/>
            </a:pPr>
            <a:r>
              <a:rPr lang="en-US" dirty="0"/>
              <a:t>Homework</a:t>
            </a:r>
          </a:p>
          <a:p>
            <a:pPr lvl="1">
              <a:buFontTx/>
              <a:buChar char="-"/>
            </a:pPr>
            <a:r>
              <a:rPr lang="en-US" dirty="0"/>
              <a:t>Slides</a:t>
            </a:r>
          </a:p>
          <a:p>
            <a:pPr lvl="1">
              <a:buFontTx/>
              <a:buChar char="-"/>
            </a:pPr>
            <a:r>
              <a:rPr lang="en-US" dirty="0"/>
              <a:t>Syllabus</a:t>
            </a:r>
          </a:p>
          <a:p>
            <a:pPr lvl="1">
              <a:buFontTx/>
              <a:buChar char="-"/>
            </a:pP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21315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714F9-F01E-7B4D-8EB0-3B151FAE6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71091"/>
            <a:ext cx="9905998" cy="917045"/>
          </a:xfrm>
        </p:spPr>
        <p:txBody>
          <a:bodyPr/>
          <a:lstStyle/>
          <a:p>
            <a:pPr algn="ctr"/>
            <a:r>
              <a:rPr lang="en-US" dirty="0"/>
              <a:t>Other Course Tools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0851DE-8B7D-3A4B-A735-7873D3097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0160" y="1611762"/>
            <a:ext cx="9482328" cy="4560438"/>
          </a:xfrm>
        </p:spPr>
        <p:txBody>
          <a:bodyPr>
            <a:normAutofit/>
          </a:bodyPr>
          <a:lstStyle/>
          <a:p>
            <a:r>
              <a:rPr lang="en-US" b="1" i="1" u="sng" dirty="0"/>
              <a:t>Piazza</a:t>
            </a:r>
            <a:r>
              <a:rPr lang="en-US" dirty="0"/>
              <a:t>: Use for course discussion among students and </a:t>
            </a:r>
            <a:r>
              <a:rPr lang="en-US" dirty="0" err="1"/>
              <a:t>Tas</a:t>
            </a:r>
            <a:r>
              <a:rPr lang="en-US" dirty="0"/>
              <a:t> regarding course content</a:t>
            </a:r>
          </a:p>
          <a:p>
            <a:r>
              <a:rPr lang="en-US" b="1" i="1" u="sng" dirty="0" err="1"/>
              <a:t>Gradescope</a:t>
            </a:r>
            <a:r>
              <a:rPr lang="en-US" dirty="0"/>
              <a:t>: For submitting homework and seeing your grades, etc.</a:t>
            </a:r>
          </a:p>
          <a:p>
            <a:r>
              <a:rPr lang="en-US" b="1" i="1" u="sng" dirty="0"/>
              <a:t>Google Forms</a:t>
            </a:r>
            <a:r>
              <a:rPr lang="en-US" dirty="0"/>
              <a:t>: Homework extension requests will be submitted through a form.</a:t>
            </a:r>
          </a:p>
          <a:p>
            <a:r>
              <a:rPr lang="en-US" dirty="0"/>
              <a:t>All of these will be linked from Collab and from course website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0639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81849"/>
            <a:ext cx="9905998" cy="812249"/>
          </a:xfrm>
        </p:spPr>
        <p:txBody>
          <a:bodyPr/>
          <a:lstStyle/>
          <a:p>
            <a:pPr algn="ctr"/>
            <a:r>
              <a:rPr lang="en-US" dirty="0"/>
              <a:t>Expectations</a:t>
            </a:r>
          </a:p>
        </p:txBody>
      </p:sp>
      <p:sp>
        <p:nvSpPr>
          <p:cNvPr id="30720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752600" y="1473798"/>
            <a:ext cx="8817539" cy="4800167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dirty="0"/>
              <a:t>Of you: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When asked, prepare for things in advance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Do NOT use laptops or phones in class!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Participate in class activities when asked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Act mature, professional.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Please do not use a laptop in class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Plan ahead.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Don’t take advantage.  Follow the Honor Code. (See the BOCM.)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Of me: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Be fair, open, and considerate.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Seek and listen to your feedback.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Not to waste your time.</a:t>
            </a:r>
          </a:p>
          <a:p>
            <a:pPr lvl="1">
              <a:lnSpc>
                <a:spcPct val="90000"/>
              </a:lnSpc>
            </a:pPr>
            <a:r>
              <a:rPr lang="en-US" dirty="0"/>
              <a:t>Be effective in letting you know how you’re doing</a:t>
            </a:r>
          </a:p>
        </p:txBody>
      </p:sp>
    </p:spTree>
    <p:extLst>
      <p:ext uri="{BB962C8B-B14F-4D97-AF65-F5344CB8AC3E}">
        <p14:creationId xmlns:p14="http://schemas.microsoft.com/office/powerpoint/2010/main" val="16133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0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0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0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0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20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192B8-08C2-FF11-11CD-8EDD4AD3E8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C384E979-67BA-C231-431A-B6C811F72527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81849"/>
            <a:ext cx="9905998" cy="812249"/>
          </a:xfrm>
        </p:spPr>
        <p:txBody>
          <a:bodyPr/>
          <a:lstStyle/>
          <a:p>
            <a:pPr algn="ctr"/>
            <a:r>
              <a:rPr lang="en-US" dirty="0"/>
              <a:t>Attendance</a:t>
            </a:r>
          </a:p>
        </p:txBody>
      </p:sp>
      <p:sp>
        <p:nvSpPr>
          <p:cNvPr id="307203" name="Rectangle 3">
            <a:extLst>
              <a:ext uri="{FF2B5EF4-FFF2-40B4-BE49-F238E27FC236}">
                <a16:creationId xmlns:a16="http://schemas.microsoft.com/office/drawing/2014/main" id="{868DF8FF-F17C-C785-2F14-EBEFC424C48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752600" y="1789043"/>
            <a:ext cx="8817539" cy="448492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/>
              <a:t>Attendance in-person is REQUIRED and is a substantial portion of your grade. I will justify this policy verbally now.</a:t>
            </a:r>
          </a:p>
          <a:p>
            <a:pPr>
              <a:lnSpc>
                <a:spcPct val="90000"/>
              </a:lnSpc>
            </a:pP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If you are on a phone/laptop, you aren’t really here and you will lose your attendance points.</a:t>
            </a:r>
            <a:br>
              <a:rPr lang="en-US" dirty="0"/>
            </a:br>
            <a:endParaRPr lang="en-US" dirty="0"/>
          </a:p>
          <a:p>
            <a:pPr>
              <a:lnSpc>
                <a:spcPct val="90000"/>
              </a:lnSpc>
            </a:pPr>
            <a:r>
              <a:rPr lang="en-US" dirty="0"/>
              <a:t>I will take attendance every single day. Your grade will be deducted 2 percentage points for every absence.</a:t>
            </a:r>
          </a:p>
        </p:txBody>
      </p:sp>
    </p:spTree>
    <p:extLst>
      <p:ext uri="{BB962C8B-B14F-4D97-AF65-F5344CB8AC3E}">
        <p14:creationId xmlns:p14="http://schemas.microsoft.com/office/powerpoint/2010/main" val="1125185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38818"/>
            <a:ext cx="9905998" cy="855280"/>
          </a:xfrm>
        </p:spPr>
        <p:txBody>
          <a:bodyPr/>
          <a:lstStyle/>
          <a:p>
            <a:pPr algn="ctr"/>
            <a:r>
              <a:rPr lang="en-US" dirty="0"/>
              <a:t>General Info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828800" y="1567652"/>
            <a:ext cx="8741339" cy="4482292"/>
          </a:xfrm>
        </p:spPr>
        <p:txBody>
          <a:bodyPr/>
          <a:lstStyle/>
          <a:p>
            <a:r>
              <a:rPr lang="en-US" dirty="0"/>
              <a:t>Textbook:</a:t>
            </a:r>
          </a:p>
          <a:p>
            <a:pPr lvl="1"/>
            <a:r>
              <a:rPr lang="en-US" dirty="0"/>
              <a:t>Introduction to the Theory of Computation, 2</a:t>
            </a:r>
            <a:r>
              <a:rPr lang="en-US" baseline="30000" dirty="0"/>
              <a:t>nd</a:t>
            </a:r>
            <a:r>
              <a:rPr lang="en-US" dirty="0"/>
              <a:t> edition, by Michael </a:t>
            </a:r>
            <a:r>
              <a:rPr lang="en-US" dirty="0" err="1"/>
              <a:t>Sipser</a:t>
            </a:r>
            <a:endParaRPr lang="en-US" dirty="0"/>
          </a:p>
          <a:p>
            <a:r>
              <a:rPr lang="en-US" dirty="0"/>
              <a:t>Other references:</a:t>
            </a:r>
          </a:p>
          <a:p>
            <a:pPr lvl="1"/>
            <a:r>
              <a:rPr lang="en-US" dirty="0"/>
              <a:t>Your DMT 1 course materials if you need them, but we will review proof techniques early in the semester.</a:t>
            </a:r>
          </a:p>
          <a:p>
            <a:r>
              <a:rPr lang="en-US" dirty="0"/>
              <a:t>Other readings may be assigned</a:t>
            </a:r>
          </a:p>
          <a:p>
            <a:pPr lvl="1"/>
            <a:r>
              <a:rPr lang="en-US" dirty="0"/>
              <a:t>We’ll see…</a:t>
            </a:r>
          </a:p>
        </p:txBody>
      </p:sp>
    </p:spTree>
    <p:extLst>
      <p:ext uri="{BB962C8B-B14F-4D97-AF65-F5344CB8AC3E}">
        <p14:creationId xmlns:p14="http://schemas.microsoft.com/office/powerpoint/2010/main" val="30373560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3" name="Title 1"/>
          <p:cNvSpPr>
            <a:spLocks noGrp="1"/>
          </p:cNvSpPr>
          <p:nvPr>
            <p:ph type="title"/>
          </p:nvPr>
        </p:nvSpPr>
        <p:spPr>
          <a:xfrm>
            <a:off x="1141413" y="338818"/>
            <a:ext cx="9905998" cy="705581"/>
          </a:xfrm>
        </p:spPr>
        <p:txBody>
          <a:bodyPr/>
          <a:lstStyle/>
          <a:p>
            <a:pPr algn="ctr"/>
            <a:r>
              <a:rPr lang="en-US" dirty="0"/>
              <a:t>Textbook</a:t>
            </a:r>
          </a:p>
        </p:txBody>
      </p:sp>
      <p:sp>
        <p:nvSpPr>
          <p:cNvPr id="10244" name="Content Placeholder 5"/>
          <p:cNvSpPr>
            <a:spLocks noGrp="1"/>
          </p:cNvSpPr>
          <p:nvPr>
            <p:ph sz="half" idx="1"/>
          </p:nvPr>
        </p:nvSpPr>
        <p:spPr>
          <a:xfrm>
            <a:off x="1992351" y="1825052"/>
            <a:ext cx="5867400" cy="2174789"/>
          </a:xfrm>
        </p:spPr>
        <p:txBody>
          <a:bodyPr>
            <a:normAutofit/>
          </a:bodyPr>
          <a:lstStyle/>
          <a:p>
            <a:r>
              <a:rPr lang="en-US" dirty="0"/>
              <a:t>You will very likely need to read and study material other than the slides.</a:t>
            </a:r>
          </a:p>
          <a:p>
            <a:r>
              <a:rPr lang="en-US" dirty="0"/>
              <a:t>There are options, but a textbook is the easiest option.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F201BA1-20E0-2A4D-9885-AF5ECD5908BF}"/>
              </a:ext>
            </a:extLst>
          </p:cNvPr>
          <p:cNvSpPr txBox="1">
            <a:spLocks/>
          </p:cNvSpPr>
          <p:nvPr/>
        </p:nvSpPr>
        <p:spPr>
          <a:xfrm>
            <a:off x="2273704" y="4843304"/>
            <a:ext cx="7696200" cy="1758225"/>
          </a:xfrm>
          <a:prstGeom prst="rect">
            <a:avLst/>
          </a:prstGeom>
        </p:spPr>
        <p:txBody>
          <a:bodyPr vert="horz">
            <a:normAutofit/>
          </a:bodyPr>
          <a:lstStyle>
            <a:lvl1pPr marL="274320" indent="-274320" algn="just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just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just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just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just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Aft>
                <a:spcPts val="0"/>
              </a:spcAft>
            </a:pPr>
            <a:r>
              <a:rPr lang="en-US" i="1" dirty="0"/>
              <a:t>Introduction to the Theory of Computation </a:t>
            </a:r>
            <a:r>
              <a:rPr lang="en-US" dirty="0"/>
              <a:t>by </a:t>
            </a:r>
            <a:r>
              <a:rPr lang="en-US" dirty="0" err="1"/>
              <a:t>Sipser</a:t>
            </a:r>
            <a:endParaRPr lang="en-US" dirty="0"/>
          </a:p>
          <a:p>
            <a:pPr lvl="1" algn="l" fontAlgn="auto">
              <a:spcAft>
                <a:spcPts val="0"/>
              </a:spcAft>
            </a:pPr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edition!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051F44-70BF-6943-8AC2-30E482424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6246" y="1406138"/>
            <a:ext cx="1883748" cy="2691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2200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E4624E-6BA1-BB4D-8A7A-500B5099E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47214"/>
            <a:ext cx="9905998" cy="697816"/>
          </a:xfrm>
        </p:spPr>
        <p:txBody>
          <a:bodyPr/>
          <a:lstStyle/>
          <a:p>
            <a:pPr algn="ctr"/>
            <a:r>
              <a:rPr lang="en-US" dirty="0"/>
              <a:t>Lectures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F38866-4BB8-1749-AF0C-AB089AECC8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049649" y="1701579"/>
            <a:ext cx="8089525" cy="4352014"/>
          </a:xfrm>
        </p:spPr>
        <p:txBody>
          <a:bodyPr>
            <a:normAutofit/>
          </a:bodyPr>
          <a:lstStyle/>
          <a:p>
            <a:r>
              <a:rPr lang="en-US" dirty="0"/>
              <a:t>Lecture is in-person.</a:t>
            </a:r>
          </a:p>
          <a:p>
            <a:pPr lvl="1"/>
            <a:r>
              <a:rPr lang="en-US" dirty="0"/>
              <a:t>MTWRF 10:30 am – 12:45 pm @ Rice Hall 340</a:t>
            </a:r>
          </a:p>
          <a:p>
            <a:pPr lvl="1"/>
            <a:endParaRPr lang="en-US" dirty="0"/>
          </a:p>
          <a:p>
            <a:r>
              <a:rPr lang="en-US" dirty="0"/>
              <a:t>I am NOT planning to record lectures…</a:t>
            </a:r>
            <a:endParaRPr lang="en-US" b="1" i="1" u="sng" dirty="0"/>
          </a:p>
          <a:p>
            <a:pPr lvl="1"/>
            <a:endParaRPr lang="en-US" dirty="0"/>
          </a:p>
          <a:p>
            <a:r>
              <a:rPr lang="en-US" dirty="0"/>
              <a:t>Lectures will cover course topics, example problems, proofs, etc.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5000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337166"/>
            <a:ext cx="9905998" cy="63082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48102" y="2096697"/>
            <a:ext cx="5692620" cy="2813539"/>
          </a:xfrm>
        </p:spPr>
        <p:txBody>
          <a:bodyPr>
            <a:normAutofit/>
          </a:bodyPr>
          <a:lstStyle/>
          <a:p>
            <a:r>
              <a:rPr lang="en-US" i="1" dirty="0"/>
              <a:t>The course is divided into 4 modules</a:t>
            </a:r>
          </a:p>
          <a:p>
            <a:pPr lvl="1"/>
            <a:r>
              <a:rPr lang="en-US" i="1" dirty="0"/>
              <a:t>1: Introduction, Cardinality, Regular Languages</a:t>
            </a:r>
          </a:p>
          <a:p>
            <a:pPr lvl="1"/>
            <a:r>
              <a:rPr lang="en-US" i="1" dirty="0"/>
              <a:t>2: Context-Free Grammars</a:t>
            </a:r>
          </a:p>
          <a:p>
            <a:pPr lvl="1"/>
            <a:r>
              <a:rPr lang="en-US" i="1" dirty="0"/>
              <a:t>3: </a:t>
            </a:r>
            <a:r>
              <a:rPr lang="en-US" i="1" dirty="0" err="1"/>
              <a:t>Tdability</a:t>
            </a:r>
            <a:endParaRPr lang="en-US" i="1" dirty="0"/>
          </a:p>
          <a:p>
            <a:pPr lvl="1"/>
            <a:r>
              <a:rPr lang="en-US" i="1" dirty="0"/>
              <a:t>4: Complexity </a:t>
            </a:r>
            <a:r>
              <a:rPr lang="en-US" i="1" dirty="0" err="1"/>
              <a:t>uring</a:t>
            </a:r>
            <a:r>
              <a:rPr lang="en-US" i="1" dirty="0"/>
              <a:t> Machines and </a:t>
            </a:r>
            <a:r>
              <a:rPr lang="en-US" i="1" dirty="0" err="1"/>
              <a:t>DeciTheory</a:t>
            </a:r>
            <a:endParaRPr lang="en-US" i="1" dirty="0"/>
          </a:p>
          <a:p>
            <a:pPr lvl="1"/>
            <a:endParaRPr lang="en-US" i="1" dirty="0"/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9216964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17551"/>
            <a:ext cx="9905998" cy="783227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Modules (Cont’d)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05000" y="1600200"/>
            <a:ext cx="8665139" cy="4449744"/>
          </a:xfrm>
        </p:spPr>
        <p:txBody>
          <a:bodyPr>
            <a:normAutofit/>
          </a:bodyPr>
          <a:lstStyle/>
          <a:p>
            <a:r>
              <a:rPr lang="en-US" i="1" dirty="0"/>
              <a:t>Most modules are 4-6 (traditional) lectures worth of content, some are a bit more.</a:t>
            </a:r>
          </a:p>
          <a:p>
            <a:endParaRPr lang="en-US" i="1" dirty="0"/>
          </a:p>
          <a:p>
            <a:r>
              <a:rPr lang="en-US" i="1" dirty="0"/>
              <a:t>Each module involves:</a:t>
            </a:r>
          </a:p>
          <a:p>
            <a:pPr lvl="1"/>
            <a:r>
              <a:rPr lang="en-US" i="1" dirty="0"/>
              <a:t>~5 lectures worth of content</a:t>
            </a:r>
          </a:p>
          <a:p>
            <a:pPr lvl="1"/>
            <a:r>
              <a:rPr lang="en-US" i="1" dirty="0"/>
              <a:t>1 or 2 </a:t>
            </a:r>
            <a:r>
              <a:rPr lang="en-US" dirty="0"/>
              <a:t>homework assignments (usually just one though)</a:t>
            </a:r>
          </a:p>
          <a:p>
            <a:pPr lvl="1"/>
            <a:endParaRPr lang="en-US" i="1" dirty="0"/>
          </a:p>
          <a:p>
            <a:r>
              <a:rPr lang="en-US" i="1" dirty="0"/>
              <a:t>We will have traditional exams (more on that in a moment)</a:t>
            </a:r>
          </a:p>
          <a:p>
            <a:pPr lvl="1"/>
            <a:endParaRPr lang="en-US" i="1" dirty="0"/>
          </a:p>
          <a:p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1987940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12337"/>
            <a:ext cx="8229600" cy="715945"/>
          </a:xfrm>
        </p:spPr>
        <p:txBody>
          <a:bodyPr/>
          <a:lstStyle/>
          <a:p>
            <a:pPr algn="ctr"/>
            <a:r>
              <a:rPr lang="en-US" dirty="0"/>
              <a:t>Exams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716055" y="1786685"/>
            <a:ext cx="8759890" cy="3485031"/>
          </a:xfrm>
        </p:spPr>
        <p:txBody>
          <a:bodyPr>
            <a:normAutofit/>
          </a:bodyPr>
          <a:lstStyle/>
          <a:p>
            <a:r>
              <a:rPr lang="en-US" dirty="0"/>
              <a:t>During summer courses, I do traditional exams due to time constraints</a:t>
            </a:r>
          </a:p>
          <a:p>
            <a:endParaRPr lang="en-US" dirty="0"/>
          </a:p>
          <a:p>
            <a:r>
              <a:rPr lang="en-US" dirty="0"/>
              <a:t>Quiz Schedule</a:t>
            </a:r>
          </a:p>
          <a:p>
            <a:pPr lvl="1"/>
            <a:r>
              <a:rPr lang="en-US" sz="2000" dirty="0"/>
              <a:t>Fri., July 24			Midterm 1 (Covers module 1)</a:t>
            </a:r>
          </a:p>
          <a:p>
            <a:pPr lvl="1"/>
            <a:r>
              <a:rPr lang="en-US" sz="2000" dirty="0"/>
              <a:t>Fri., July 31</a:t>
            </a:r>
            <a:r>
              <a:rPr lang="en-US" dirty="0"/>
              <a:t>	</a:t>
            </a:r>
            <a:r>
              <a:rPr lang="en-US" sz="2000" dirty="0"/>
              <a:t>		</a:t>
            </a:r>
            <a:r>
              <a:rPr lang="en-US" dirty="0"/>
              <a:t>Midterm 2 (Covers modules 2-3)</a:t>
            </a:r>
          </a:p>
          <a:p>
            <a:pPr lvl="1"/>
            <a:r>
              <a:rPr lang="en-US" sz="2000" dirty="0"/>
              <a:t>Fri., Aug. 7				</a:t>
            </a:r>
            <a:r>
              <a:rPr lang="en-US" dirty="0"/>
              <a:t>Final Exam (Module 4 + Cumulative)</a:t>
            </a:r>
            <a:endParaRPr lang="en-US" sz="2000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5149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82674"/>
            <a:ext cx="8229600" cy="792145"/>
          </a:xfrm>
        </p:spPr>
        <p:txBody>
          <a:bodyPr/>
          <a:lstStyle/>
          <a:p>
            <a:pPr algn="ctr"/>
            <a:r>
              <a:rPr lang="en-US" dirty="0" err="1"/>
              <a:t>Homeworks</a:t>
            </a:r>
            <a:endParaRPr lang="en-US" dirty="0"/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502511" y="1523999"/>
            <a:ext cx="9198985" cy="4724399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Each of the modules has 1 or 2 </a:t>
            </a:r>
            <a:r>
              <a:rPr lang="en-US" dirty="0" err="1"/>
              <a:t>homeworks</a:t>
            </a:r>
            <a:r>
              <a:rPr lang="en-US" dirty="0"/>
              <a:t> associated (usually 1)</a:t>
            </a:r>
          </a:p>
          <a:p>
            <a:r>
              <a:rPr lang="en-US" b="1" i="1" u="sng" dirty="0"/>
              <a:t>Written HW</a:t>
            </a:r>
          </a:p>
          <a:p>
            <a:pPr lvl="1"/>
            <a:r>
              <a:rPr lang="en-US" dirty="0"/>
              <a:t>Solving small problems, analyzing runtimes, etc.</a:t>
            </a:r>
          </a:p>
          <a:p>
            <a:pPr lvl="1"/>
            <a:r>
              <a:rPr lang="en-US" dirty="0"/>
              <a:t>Writing proofs, etc.</a:t>
            </a:r>
          </a:p>
          <a:p>
            <a:pPr lvl="1"/>
            <a:r>
              <a:rPr lang="en-US" dirty="0"/>
              <a:t>Written in Latex (tutorial on course webpage)</a:t>
            </a:r>
          </a:p>
          <a:p>
            <a:pPr lvl="1"/>
            <a:r>
              <a:rPr lang="en-US" i="1" dirty="0"/>
              <a:t>These are meant to be challenging!</a:t>
            </a:r>
          </a:p>
          <a:p>
            <a:r>
              <a:rPr lang="en-US" b="1" i="1" u="sng" dirty="0"/>
              <a:t>Programming HW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Is written in Java</a:t>
            </a:r>
          </a:p>
          <a:p>
            <a:pPr lvl="1" algn="l"/>
            <a:r>
              <a:rPr lang="en-US" dirty="0"/>
              <a:t>We won’t have many of these (probably just 1)</a:t>
            </a:r>
          </a:p>
        </p:txBody>
      </p:sp>
    </p:spTree>
    <p:extLst>
      <p:ext uri="{BB962C8B-B14F-4D97-AF65-F5344CB8AC3E}">
        <p14:creationId xmlns:p14="http://schemas.microsoft.com/office/powerpoint/2010/main" val="28029761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386862"/>
            <a:ext cx="8229600" cy="768699"/>
          </a:xfrm>
        </p:spPr>
        <p:txBody>
          <a:bodyPr/>
          <a:lstStyle/>
          <a:p>
            <a:pPr algn="ctr"/>
            <a:r>
              <a:rPr lang="en-US" dirty="0"/>
              <a:t>Homework Grades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176793" y="1400907"/>
            <a:ext cx="9838414" cy="5070231"/>
          </a:xfrm>
        </p:spPr>
        <p:txBody>
          <a:bodyPr>
            <a:normAutofit/>
          </a:bodyPr>
          <a:lstStyle/>
          <a:p>
            <a:r>
              <a:rPr lang="en-US" dirty="0" err="1"/>
              <a:t>Homeworks</a:t>
            </a:r>
            <a:r>
              <a:rPr lang="en-US" dirty="0"/>
              <a:t> will be graded on a traditional percentage scale:</a:t>
            </a:r>
          </a:p>
          <a:p>
            <a:pPr lvl="1"/>
            <a:r>
              <a:rPr lang="en-US" b="1" i="1" u="sng" dirty="0"/>
              <a:t>Out of 10 points (or similar)</a:t>
            </a:r>
            <a:endParaRPr lang="en-US" dirty="0"/>
          </a:p>
          <a:p>
            <a:pPr lvl="1"/>
            <a:r>
              <a:rPr lang="en-US" dirty="0"/>
              <a:t>Regrades will be available (probably)</a:t>
            </a:r>
          </a:p>
          <a:p>
            <a:pPr lvl="1"/>
            <a:r>
              <a:rPr lang="en-US" dirty="0"/>
              <a:t>Plan is to not grade these harshly at all, but to treat them as practice / preparation</a:t>
            </a:r>
          </a:p>
          <a:p>
            <a:endParaRPr lang="en-US" dirty="0"/>
          </a:p>
          <a:p>
            <a:r>
              <a:rPr lang="en-US" b="1" i="1" u="sng" dirty="0"/>
              <a:t>Deadlines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We will have </a:t>
            </a:r>
            <a:r>
              <a:rPr lang="en-US" b="1" i="1" dirty="0"/>
              <a:t>traditional homework deadlines</a:t>
            </a:r>
            <a:r>
              <a:rPr lang="en-US" dirty="0"/>
              <a:t>, however…</a:t>
            </a:r>
          </a:p>
          <a:p>
            <a:pPr lvl="1"/>
            <a:r>
              <a:rPr lang="en-US" dirty="0"/>
              <a:t>Everyone receives an automatic 3 day extension on each homework. There will be no additional time given for homework beyond this 3 day “extension” for any reason. You are meant to turn in your homework on time.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21645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778558" y="398586"/>
            <a:ext cx="8432242" cy="886890"/>
          </a:xfrm>
        </p:spPr>
        <p:txBody>
          <a:bodyPr/>
          <a:lstStyle/>
          <a:p>
            <a:pPr algn="ctr"/>
            <a:r>
              <a:rPr lang="en-US" dirty="0"/>
              <a:t>Homework Collaboration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600200" y="1643027"/>
            <a:ext cx="8969939" cy="4599511"/>
          </a:xfrm>
        </p:spPr>
        <p:txBody>
          <a:bodyPr>
            <a:normAutofit/>
          </a:bodyPr>
          <a:lstStyle/>
          <a:p>
            <a:r>
              <a:rPr lang="en-US" dirty="0"/>
              <a:t>You may work in groups of up to 3 on written assignments</a:t>
            </a:r>
          </a:p>
          <a:p>
            <a:pPr lvl="1"/>
            <a:r>
              <a:rPr lang="en-US" dirty="0"/>
              <a:t>This is most of the assignments</a:t>
            </a:r>
          </a:p>
          <a:p>
            <a:pPr lvl="1"/>
            <a:r>
              <a:rPr lang="en-US" dirty="0"/>
              <a:t>Once submission per group is fine. </a:t>
            </a:r>
            <a:r>
              <a:rPr lang="en-US" dirty="0" err="1"/>
              <a:t>Gradescope</a:t>
            </a:r>
            <a:r>
              <a:rPr lang="en-US" dirty="0"/>
              <a:t> supports this quite easily.</a:t>
            </a:r>
          </a:p>
          <a:p>
            <a:pPr lvl="1"/>
            <a:endParaRPr lang="en-US" dirty="0"/>
          </a:p>
          <a:p>
            <a:r>
              <a:rPr lang="en-US" dirty="0"/>
              <a:t>On programming assignments (currently, just 1) you are expected to work independently.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79347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1778558" y="398586"/>
            <a:ext cx="8432242" cy="886890"/>
          </a:xfrm>
        </p:spPr>
        <p:txBody>
          <a:bodyPr/>
          <a:lstStyle/>
          <a:p>
            <a:pPr algn="ctr"/>
            <a:r>
              <a:rPr lang="en-US" dirty="0"/>
              <a:t>Homework Grade Philosophy</a:t>
            </a:r>
          </a:p>
        </p:txBody>
      </p:sp>
      <p:sp>
        <p:nvSpPr>
          <p:cNvPr id="12291" name="Rectangle 3"/>
          <p:cNvSpPr>
            <a:spLocks noGrp="1" noChangeArrowheads="1"/>
          </p:cNvSpPr>
          <p:nvPr>
            <p:ph idx="1"/>
          </p:nvPr>
        </p:nvSpPr>
        <p:spPr>
          <a:xfrm>
            <a:off x="1600200" y="1572689"/>
            <a:ext cx="8969939" cy="4599511"/>
          </a:xfrm>
        </p:spPr>
        <p:txBody>
          <a:bodyPr>
            <a:normAutofit/>
          </a:bodyPr>
          <a:lstStyle/>
          <a:p>
            <a:r>
              <a:rPr lang="en-US" dirty="0"/>
              <a:t>The purpose of homework is to PRACTICE!</a:t>
            </a:r>
          </a:p>
          <a:p>
            <a:endParaRPr lang="en-US" dirty="0"/>
          </a:p>
          <a:p>
            <a:r>
              <a:rPr lang="en-US" dirty="0"/>
              <a:t>I want you to:</a:t>
            </a:r>
          </a:p>
          <a:p>
            <a:pPr lvl="1"/>
            <a:r>
              <a:rPr lang="en-US" dirty="0"/>
              <a:t>Attempt every problem on your own</a:t>
            </a:r>
          </a:p>
          <a:p>
            <a:pPr lvl="1"/>
            <a:r>
              <a:rPr lang="en-US" dirty="0"/>
              <a:t>Then work with your group to get the solutions figured out</a:t>
            </a:r>
          </a:p>
          <a:p>
            <a:pPr lvl="1"/>
            <a:r>
              <a:rPr lang="en-US" dirty="0"/>
              <a:t>Study the solutions for </a:t>
            </a:r>
            <a:r>
              <a:rPr lang="en-US" dirty="0" err="1"/>
              <a:t>homeworks</a:t>
            </a:r>
            <a:r>
              <a:rPr lang="en-US" dirty="0"/>
              <a:t> (these homework problems WILL appear on quizzes).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48667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998858" y="327866"/>
            <a:ext cx="7958331" cy="887986"/>
          </a:xfrm>
        </p:spPr>
        <p:txBody>
          <a:bodyPr/>
          <a:lstStyle/>
          <a:p>
            <a:pPr algn="ctr"/>
            <a:r>
              <a:rPr lang="en-US" dirty="0"/>
              <a:t>Grading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DFEF5-BEAA-974F-B91B-2D8B6E94C7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37258" y="1486877"/>
            <a:ext cx="7717484" cy="4950367"/>
          </a:xfrm>
        </p:spPr>
        <p:txBody>
          <a:bodyPr>
            <a:normAutofit/>
          </a:bodyPr>
          <a:lstStyle/>
          <a:p>
            <a:r>
              <a:rPr lang="en-US" dirty="0"/>
              <a:t>Final letter grade will be a weighted average:</a:t>
            </a:r>
          </a:p>
          <a:p>
            <a:endParaRPr lang="en-US" dirty="0"/>
          </a:p>
          <a:p>
            <a:r>
              <a:rPr lang="en-US" b="1" i="1" u="sng" dirty="0"/>
              <a:t>Homework</a:t>
            </a:r>
            <a:r>
              <a:rPr lang="en-US" dirty="0"/>
              <a:t>: 20 percent (split over about 6 or 7 </a:t>
            </a:r>
            <a:r>
              <a:rPr lang="en-US" dirty="0" err="1"/>
              <a:t>homeworks</a:t>
            </a:r>
            <a:r>
              <a:rPr lang="en-US" dirty="0"/>
              <a:t>)</a:t>
            </a:r>
          </a:p>
          <a:p>
            <a:r>
              <a:rPr lang="en-US" b="1" i="1" u="sng" dirty="0"/>
              <a:t>Attendance</a:t>
            </a:r>
            <a:r>
              <a:rPr lang="en-US" dirty="0"/>
              <a:t>: 20 percent (2 percent deduction per absence)</a:t>
            </a:r>
          </a:p>
          <a:p>
            <a:r>
              <a:rPr lang="en-US" b="1" i="1" u="sng" dirty="0"/>
              <a:t>Midterms</a:t>
            </a:r>
            <a:r>
              <a:rPr lang="en-US" dirty="0"/>
              <a:t>: 30 percent (15 percent each over two midterms)</a:t>
            </a:r>
          </a:p>
          <a:p>
            <a:r>
              <a:rPr lang="en-US" b="1" i="1" u="sng" dirty="0"/>
              <a:t>Final Exam</a:t>
            </a:r>
            <a:r>
              <a:rPr lang="en-US" dirty="0"/>
              <a:t>: 30 percent</a:t>
            </a:r>
          </a:p>
        </p:txBody>
      </p:sp>
    </p:spTree>
    <p:extLst>
      <p:ext uri="{BB962C8B-B14F-4D97-AF65-F5344CB8AC3E}">
        <p14:creationId xmlns:p14="http://schemas.microsoft.com/office/powerpoint/2010/main" val="1605554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141413" y="497938"/>
            <a:ext cx="9905998" cy="969122"/>
          </a:xfrm>
        </p:spPr>
        <p:txBody>
          <a:bodyPr/>
          <a:lstStyle/>
          <a:p>
            <a:pPr algn="ctr"/>
            <a:r>
              <a:rPr lang="en-US" dirty="0"/>
              <a:t>Office Hours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2454902" y="2034802"/>
            <a:ext cx="7279019" cy="3541714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My office hours are informal. I’ll make myself available after class every day if you want to chat briefly.</a:t>
            </a:r>
          </a:p>
          <a:p>
            <a:pPr algn="l"/>
            <a:endParaRPr lang="en-US" dirty="0"/>
          </a:p>
          <a:p>
            <a:pPr algn="l"/>
            <a:r>
              <a:rPr lang="en-US" dirty="0"/>
              <a:t>TA will have office hours around 2pm every day </a:t>
            </a:r>
          </a:p>
        </p:txBody>
      </p:sp>
    </p:spTree>
    <p:extLst>
      <p:ext uri="{BB962C8B-B14F-4D97-AF65-F5344CB8AC3E}">
        <p14:creationId xmlns:p14="http://schemas.microsoft.com/office/powerpoint/2010/main" val="34815225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le 1"/>
          <p:cNvSpPr>
            <a:spLocks noGrp="1"/>
          </p:cNvSpPr>
          <p:nvPr>
            <p:ph type="title"/>
          </p:nvPr>
        </p:nvSpPr>
        <p:spPr>
          <a:xfrm>
            <a:off x="1141413" y="457745"/>
            <a:ext cx="9905998" cy="874078"/>
          </a:xfrm>
        </p:spPr>
        <p:txBody>
          <a:bodyPr/>
          <a:lstStyle/>
          <a:p>
            <a:pPr algn="ctr"/>
            <a:r>
              <a:rPr lang="en-US" dirty="0"/>
              <a:t>Homework: Written</a:t>
            </a:r>
          </a:p>
        </p:txBody>
      </p:sp>
      <p:sp>
        <p:nvSpPr>
          <p:cNvPr id="17411" name="Content Placeholder 2"/>
          <p:cNvSpPr>
            <a:spLocks noGrp="1"/>
          </p:cNvSpPr>
          <p:nvPr>
            <p:ph idx="1"/>
          </p:nvPr>
        </p:nvSpPr>
        <p:spPr>
          <a:xfrm>
            <a:off x="1621861" y="1644997"/>
            <a:ext cx="9274739" cy="4755803"/>
          </a:xfrm>
        </p:spPr>
        <p:txBody>
          <a:bodyPr/>
          <a:lstStyle/>
          <a:p>
            <a:r>
              <a:rPr lang="en-US" dirty="0"/>
              <a:t>These assignments must be typeset in </a:t>
            </a:r>
            <a:r>
              <a:rPr lang="en-US" dirty="0" err="1"/>
              <a:t>LaTeX</a:t>
            </a:r>
            <a:endParaRPr lang="en-US" dirty="0"/>
          </a:p>
          <a:p>
            <a:endParaRPr lang="en-US" dirty="0"/>
          </a:p>
          <a:p>
            <a:r>
              <a:rPr lang="en-US" dirty="0"/>
              <a:t>I will provide a couple tutorials, guides, and templates when the first assignment is given out</a:t>
            </a:r>
          </a:p>
          <a:p>
            <a:endParaRPr lang="en-US" dirty="0"/>
          </a:p>
          <a:p>
            <a:r>
              <a:rPr lang="en-US" b="1" i="1" u="sng" dirty="0"/>
              <a:t>You may not embed images of text or formulas</a:t>
            </a:r>
            <a:r>
              <a:rPr lang="en-US" dirty="0"/>
              <a:t>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88254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DC06E-652D-CD40-8782-E878E11BC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538132"/>
            <a:ext cx="9905998" cy="799137"/>
          </a:xfrm>
        </p:spPr>
        <p:txBody>
          <a:bodyPr/>
          <a:lstStyle/>
          <a:p>
            <a:pPr algn="ctr"/>
            <a:r>
              <a:rPr lang="en-US" dirty="0"/>
              <a:t>Use of Online Code Etc.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2A69A9-9079-244C-BEAE-11CF7ACAB2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7800" y="1722456"/>
            <a:ext cx="9420888" cy="4830744"/>
          </a:xfrm>
        </p:spPr>
        <p:txBody>
          <a:bodyPr>
            <a:normAutofit fontScale="92500"/>
          </a:bodyPr>
          <a:lstStyle/>
          <a:p>
            <a:r>
              <a:rPr lang="en-US" u="sng" dirty="0"/>
              <a:t>Studying</a:t>
            </a:r>
            <a:r>
              <a:rPr lang="en-US" dirty="0"/>
              <a:t> code or proofs online is permitted </a:t>
            </a:r>
            <a:r>
              <a:rPr lang="en-US" u="sng" dirty="0"/>
              <a:t>but only</a:t>
            </a:r>
            <a:r>
              <a:rPr lang="en-US" dirty="0"/>
              <a:t> for getting ideas</a:t>
            </a:r>
          </a:p>
          <a:p>
            <a:r>
              <a:rPr lang="en-US" dirty="0"/>
              <a:t>Copying or reusing code or proofs from an online source violates the pledge</a:t>
            </a:r>
          </a:p>
          <a:p>
            <a:pPr lvl="1"/>
            <a:r>
              <a:rPr lang="en-US" dirty="0"/>
              <a:t>You must cite sources of any online code you use in this way in a comment in your source file(s)</a:t>
            </a:r>
          </a:p>
          <a:p>
            <a:pPr lvl="1"/>
            <a:endParaRPr lang="en-US" dirty="0"/>
          </a:p>
          <a:p>
            <a:r>
              <a:rPr lang="en-US" dirty="0"/>
              <a:t>Remember:  the purpose of the homework is</a:t>
            </a:r>
          </a:p>
          <a:p>
            <a:pPr lvl="1"/>
            <a:r>
              <a:rPr lang="en-US" dirty="0"/>
              <a:t>To </a:t>
            </a:r>
            <a:r>
              <a:rPr lang="en-US" b="1" i="1" u="sng" dirty="0"/>
              <a:t>practice</a:t>
            </a:r>
            <a:r>
              <a:rPr lang="en-US" dirty="0"/>
              <a:t> in an environment that is lower-stress</a:t>
            </a:r>
          </a:p>
          <a:p>
            <a:pPr lvl="1"/>
            <a:r>
              <a:rPr lang="en-US" dirty="0"/>
              <a:t>To </a:t>
            </a:r>
            <a:r>
              <a:rPr lang="en-US" b="1" i="1" u="sng" dirty="0"/>
              <a:t>push yourself </a:t>
            </a:r>
            <a:r>
              <a:rPr lang="en-US" dirty="0"/>
              <a:t>to solve think about the theory of computation and to prepare you for the quizzes, NOT just to get a grade.</a:t>
            </a:r>
          </a:p>
          <a:p>
            <a:pPr lvl="1"/>
            <a:r>
              <a:rPr lang="en-US" dirty="0"/>
              <a:t>To </a:t>
            </a:r>
            <a:r>
              <a:rPr lang="en-US" b="1" i="1" u="sng" dirty="0"/>
              <a:t>work out the logical part </a:t>
            </a:r>
            <a:r>
              <a:rPr lang="en-US" dirty="0"/>
              <a:t>of your brain </a:t>
            </a:r>
            <a:r>
              <a:rPr lang="en-US" dirty="0">
                <a:sym typeface="Wingdings" pitchFamily="2" charset="2"/>
              </a:rPr>
              <a:t></a:t>
            </a:r>
            <a:endParaRPr lang="en-US" dirty="0"/>
          </a:p>
          <a:p>
            <a:pPr lvl="1"/>
            <a:r>
              <a:rPr lang="en-US" dirty="0"/>
              <a:t>To focus on </a:t>
            </a:r>
            <a:r>
              <a:rPr lang="en-US" b="1" i="1" u="sng" dirty="0"/>
              <a:t>attempting to solve problems yourself </a:t>
            </a:r>
            <a:r>
              <a:rPr lang="en-US" dirty="0"/>
              <a:t>before asking others for assistance.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66391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141413" y="427600"/>
            <a:ext cx="9905998" cy="823212"/>
          </a:xfrm>
        </p:spPr>
        <p:txBody>
          <a:bodyPr/>
          <a:lstStyle/>
          <a:p>
            <a:pPr algn="ctr"/>
            <a:r>
              <a:rPr lang="en-US" dirty="0"/>
              <a:t>Working in groups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1305446" y="1441730"/>
            <a:ext cx="9819754" cy="5035270"/>
          </a:xfrm>
        </p:spPr>
        <p:txBody>
          <a:bodyPr>
            <a:normAutofit/>
          </a:bodyPr>
          <a:lstStyle/>
          <a:p>
            <a:r>
              <a:rPr lang="en-US" dirty="0"/>
              <a:t>For the homework, you may work together in groups of 3 or less (written assignments)</a:t>
            </a:r>
          </a:p>
          <a:p>
            <a:pPr lvl="1"/>
            <a:r>
              <a:rPr lang="en-US" dirty="0"/>
              <a:t>Submit one homework per group (I believe </a:t>
            </a:r>
            <a:r>
              <a:rPr lang="en-US" dirty="0" err="1"/>
              <a:t>Gradescope</a:t>
            </a:r>
            <a:r>
              <a:rPr lang="en-US" dirty="0"/>
              <a:t> supports this)</a:t>
            </a:r>
          </a:p>
          <a:p>
            <a:endParaRPr lang="en-US" dirty="0"/>
          </a:p>
          <a:p>
            <a:r>
              <a:rPr lang="en-US" dirty="0"/>
              <a:t>For the programming homework, you may discuss the problems with your group of 3 or less, but you must:</a:t>
            </a:r>
          </a:p>
          <a:p>
            <a:pPr lvl="1"/>
            <a:r>
              <a:rPr lang="en-US" dirty="0"/>
              <a:t>State who you worked with</a:t>
            </a:r>
          </a:p>
          <a:p>
            <a:pPr lvl="1"/>
            <a:r>
              <a:rPr lang="en-US" dirty="0"/>
              <a:t>Type up your own implementation!</a:t>
            </a:r>
          </a:p>
        </p:txBody>
      </p:sp>
    </p:spTree>
    <p:extLst>
      <p:ext uri="{BB962C8B-B14F-4D97-AF65-F5344CB8AC3E}">
        <p14:creationId xmlns:p14="http://schemas.microsoft.com/office/powerpoint/2010/main" val="129236805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>
          <a:xfrm>
            <a:off x="1141413" y="427600"/>
            <a:ext cx="9905998" cy="823212"/>
          </a:xfrm>
        </p:spPr>
        <p:txBody>
          <a:bodyPr/>
          <a:lstStyle/>
          <a:p>
            <a:pPr algn="ctr"/>
            <a:r>
              <a:rPr lang="en-US" dirty="0"/>
              <a:t>I think that is all…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>
          <a:xfrm>
            <a:off x="1305446" y="1441730"/>
            <a:ext cx="9819754" cy="5035270"/>
          </a:xfrm>
        </p:spPr>
        <p:txBody>
          <a:bodyPr>
            <a:normAutofit/>
          </a:bodyPr>
          <a:lstStyle/>
          <a:p>
            <a:r>
              <a:rPr lang="en-US" dirty="0"/>
              <a:t>Any questions…</a:t>
            </a:r>
          </a:p>
        </p:txBody>
      </p:sp>
    </p:spTree>
    <p:extLst>
      <p:ext uri="{BB962C8B-B14F-4D97-AF65-F5344CB8AC3E}">
        <p14:creationId xmlns:p14="http://schemas.microsoft.com/office/powerpoint/2010/main" val="75520888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11908</TotalTime>
  <Words>1556</Words>
  <Application>Microsoft Macintosh PowerPoint</Application>
  <PresentationFormat>Widescreen</PresentationFormat>
  <Paragraphs>183</Paragraphs>
  <Slides>27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Tw Cen MT</vt:lpstr>
      <vt:lpstr>Wingdings</vt:lpstr>
      <vt:lpstr>Circuit</vt:lpstr>
      <vt:lpstr>CS3120 (DMT2) Course Introduction</vt:lpstr>
      <vt:lpstr>Quick Polls (Agree or Not?)</vt:lpstr>
      <vt:lpstr>My Answers (1 to 10)</vt:lpstr>
      <vt:lpstr>Course Objectives</vt:lpstr>
      <vt:lpstr>Course OBjectives</vt:lpstr>
      <vt:lpstr>Course introduction</vt:lpstr>
      <vt:lpstr>General Info</vt:lpstr>
      <vt:lpstr>Course Website</vt:lpstr>
      <vt:lpstr>Other Course Tools</vt:lpstr>
      <vt:lpstr>Expectations</vt:lpstr>
      <vt:lpstr>Attendance</vt:lpstr>
      <vt:lpstr>General Info</vt:lpstr>
      <vt:lpstr>Textbook</vt:lpstr>
      <vt:lpstr>Lectures</vt:lpstr>
      <vt:lpstr>Modules</vt:lpstr>
      <vt:lpstr>Modules (Cont’d)</vt:lpstr>
      <vt:lpstr>Exams</vt:lpstr>
      <vt:lpstr>Homeworks</vt:lpstr>
      <vt:lpstr>Homework Grades</vt:lpstr>
      <vt:lpstr>Homework Collaboration</vt:lpstr>
      <vt:lpstr>Homework Grade Philosophy</vt:lpstr>
      <vt:lpstr>Grading Overview</vt:lpstr>
      <vt:lpstr>Office Hours</vt:lpstr>
      <vt:lpstr>Homework: Written</vt:lpstr>
      <vt:lpstr>Use of Online Code Etc.</vt:lpstr>
      <vt:lpstr>Working in groups</vt:lpstr>
      <vt:lpstr>I think that is all…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137</cp:revision>
  <dcterms:created xsi:type="dcterms:W3CDTF">2023-02-24T14:15:53Z</dcterms:created>
  <dcterms:modified xsi:type="dcterms:W3CDTF">2026-07-06T19:26:22Z</dcterms:modified>
</cp:coreProperties>
</file>