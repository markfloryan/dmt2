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52"/>
  </p:notesMasterIdLst>
  <p:sldIdLst>
    <p:sldId id="256" r:id="rId2"/>
    <p:sldId id="272" r:id="rId3"/>
    <p:sldId id="462" r:id="rId4"/>
    <p:sldId id="258" r:id="rId5"/>
    <p:sldId id="464" r:id="rId6"/>
    <p:sldId id="479" r:id="rId7"/>
    <p:sldId id="480" r:id="rId8"/>
    <p:sldId id="465" r:id="rId9"/>
    <p:sldId id="481" r:id="rId10"/>
    <p:sldId id="466" r:id="rId11"/>
    <p:sldId id="362" r:id="rId12"/>
    <p:sldId id="461" r:id="rId13"/>
    <p:sldId id="482" r:id="rId14"/>
    <p:sldId id="467" r:id="rId15"/>
    <p:sldId id="484" r:id="rId16"/>
    <p:sldId id="485" r:id="rId17"/>
    <p:sldId id="486" r:id="rId18"/>
    <p:sldId id="487" r:id="rId19"/>
    <p:sldId id="488" r:id="rId20"/>
    <p:sldId id="489" r:id="rId21"/>
    <p:sldId id="483" r:id="rId22"/>
    <p:sldId id="491" r:id="rId23"/>
    <p:sldId id="490" r:id="rId24"/>
    <p:sldId id="463" r:id="rId25"/>
    <p:sldId id="470" r:id="rId26"/>
    <p:sldId id="496" r:id="rId27"/>
    <p:sldId id="493" r:id="rId28"/>
    <p:sldId id="494" r:id="rId29"/>
    <p:sldId id="492" r:id="rId30"/>
    <p:sldId id="495" r:id="rId31"/>
    <p:sldId id="497" r:id="rId32"/>
    <p:sldId id="498" r:id="rId33"/>
    <p:sldId id="471" r:id="rId34"/>
    <p:sldId id="499" r:id="rId35"/>
    <p:sldId id="472" r:id="rId36"/>
    <p:sldId id="512" r:id="rId37"/>
    <p:sldId id="500" r:id="rId38"/>
    <p:sldId id="511" r:id="rId39"/>
    <p:sldId id="474" r:id="rId40"/>
    <p:sldId id="502" r:id="rId41"/>
    <p:sldId id="503" r:id="rId42"/>
    <p:sldId id="504" r:id="rId43"/>
    <p:sldId id="476" r:id="rId44"/>
    <p:sldId id="505" r:id="rId45"/>
    <p:sldId id="506" r:id="rId46"/>
    <p:sldId id="507" r:id="rId47"/>
    <p:sldId id="477" r:id="rId48"/>
    <p:sldId id="508" r:id="rId49"/>
    <p:sldId id="509" r:id="rId50"/>
    <p:sldId id="510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/>
    <p:restoredTop sz="94673"/>
  </p:normalViewPr>
  <p:slideViewPr>
    <p:cSldViewPr snapToGrid="0" snapToObjects="1">
      <p:cViewPr varScale="1">
        <p:scale>
          <a:sx n="137" d="100"/>
          <a:sy n="137" d="100"/>
        </p:scale>
        <p:origin x="10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72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54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347D3-4C9A-C240-8F14-750059DFEEB0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Decidability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Discrete Mathematics and Theory 2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Goals!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8F5F-F936-6145-9FF8-704886F1A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59371"/>
            <a:ext cx="9905999" cy="108932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1. Let’s revisit the concept of </a:t>
            </a:r>
            <a:r>
              <a:rPr lang="en-US" b="1" i="1" u="sng" dirty="0">
                <a:solidFill>
                  <a:schemeClr val="bg1"/>
                </a:solidFill>
              </a:rPr>
              <a:t>decidable languages</a:t>
            </a:r>
            <a:r>
              <a:rPr lang="en-US" dirty="0">
                <a:solidFill>
                  <a:schemeClr val="bg1"/>
                </a:solidFill>
              </a:rPr>
              <a:t>, and find some.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CBD30C-EB51-C249-A8FC-E343315276A6}"/>
              </a:ext>
            </a:extLst>
          </p:cNvPr>
          <p:cNvSpPr txBox="1">
            <a:spLocks/>
          </p:cNvSpPr>
          <p:nvPr/>
        </p:nvSpPr>
        <p:spPr>
          <a:xfrm>
            <a:off x="1141412" y="2848808"/>
            <a:ext cx="9905999" cy="108932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2. Let’s find some examples of </a:t>
            </a:r>
            <a:r>
              <a:rPr lang="en-US" b="1" i="1" u="sng" dirty="0">
                <a:solidFill>
                  <a:schemeClr val="bg1"/>
                </a:solidFill>
              </a:rPr>
              <a:t>undecidable languages</a:t>
            </a:r>
            <a:r>
              <a:rPr lang="en-US" dirty="0">
                <a:solidFill>
                  <a:schemeClr val="bg1"/>
                </a:solidFill>
              </a:rPr>
              <a:t>, and even some examples of </a:t>
            </a:r>
            <a:r>
              <a:rPr lang="en-US" b="1" i="1" u="sng" dirty="0">
                <a:solidFill>
                  <a:schemeClr val="bg1"/>
                </a:solidFill>
              </a:rPr>
              <a:t>unrecognizable languages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98087DF-8BCB-3D46-8C8D-7FA120BFB404}"/>
              </a:ext>
            </a:extLst>
          </p:cNvPr>
          <p:cNvSpPr txBox="1">
            <a:spLocks/>
          </p:cNvSpPr>
          <p:nvPr/>
        </p:nvSpPr>
        <p:spPr>
          <a:xfrm>
            <a:off x="1141412" y="4138245"/>
            <a:ext cx="9905999" cy="108932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3. Let’s introduce the concept of reductions, which can expedite / simplify proofs that certain problems are </a:t>
            </a:r>
            <a:r>
              <a:rPr lang="en-US" b="1" i="1" u="sng" dirty="0">
                <a:solidFill>
                  <a:schemeClr val="bg1"/>
                </a:solidFill>
              </a:rPr>
              <a:t>undecidable</a:t>
            </a:r>
            <a:r>
              <a:rPr lang="en-US" dirty="0">
                <a:solidFill>
                  <a:schemeClr val="bg1"/>
                </a:solidFill>
              </a:rPr>
              <a:t> or </a:t>
            </a:r>
            <a:r>
              <a:rPr lang="en-US" b="1" i="1" u="sng" dirty="0">
                <a:solidFill>
                  <a:schemeClr val="bg1"/>
                </a:solidFill>
              </a:rPr>
              <a:t>unrecognizable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724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The big Picture!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FB756-DCBF-9A4D-83B2-F657B0A26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03" y="1961420"/>
            <a:ext cx="5069417" cy="326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3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 1: Decidable Languages</a:t>
            </a:r>
          </a:p>
        </p:txBody>
      </p:sp>
    </p:spTree>
    <p:extLst>
      <p:ext uri="{BB962C8B-B14F-4D97-AF65-F5344CB8AC3E}">
        <p14:creationId xmlns:p14="http://schemas.microsoft.com/office/powerpoint/2010/main" val="4149752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Decidable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8F5F-F936-6145-9FF8-704886F1A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59371"/>
            <a:ext cx="9905999" cy="108932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Recall that a </a:t>
            </a:r>
            <a:r>
              <a:rPr lang="en-US" b="1" i="1" u="sng" dirty="0">
                <a:solidFill>
                  <a:schemeClr val="bg1"/>
                </a:solidFill>
              </a:rPr>
              <a:t>decidable language</a:t>
            </a:r>
            <a:r>
              <a:rPr lang="en-US" dirty="0">
                <a:solidFill>
                  <a:schemeClr val="bg1"/>
                </a:solidFill>
              </a:rPr>
              <a:t> is a language for which a Turing Machine exists that computes it and always halts.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1141412" y="2888721"/>
            <a:ext cx="9905999" cy="167422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Let’s look at a few more decidable languages and eventually start discovering some undecidable languages.</a:t>
            </a:r>
          </a:p>
        </p:txBody>
      </p:sp>
    </p:spTree>
    <p:extLst>
      <p:ext uri="{BB962C8B-B14F-4D97-AF65-F5344CB8AC3E}">
        <p14:creationId xmlns:p14="http://schemas.microsoft.com/office/powerpoint/2010/main" val="1105682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Decidable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559371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Example</a:t>
                </a:r>
                <a:r>
                  <a:rPr lang="en-US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𝐷𝐹𝐴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𝐷𝐹𝐴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𝑡h𝑎𝑡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𝑎𝑐𝑐𝑒𝑝𝑡𝑠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𝑖𝑛𝑝𝑢𝑡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𝑠𝑡𝑟𝑖𝑛𝑔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559371"/>
                <a:ext cx="9905999" cy="1089328"/>
              </a:xfrm>
              <a:blipFill>
                <a:blip r:embed="rId2"/>
                <a:stretch>
                  <a:fillRect l="-896"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1141412" y="2888722"/>
            <a:ext cx="9905999" cy="83225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Can you describe a Turing Machine that decides this language?</a:t>
            </a:r>
          </a:p>
        </p:txBody>
      </p:sp>
    </p:spTree>
    <p:extLst>
      <p:ext uri="{BB962C8B-B14F-4D97-AF65-F5344CB8AC3E}">
        <p14:creationId xmlns:p14="http://schemas.microsoft.com/office/powerpoint/2010/main" val="3915205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Decidable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559371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Example</a:t>
                </a:r>
                <a:r>
                  <a:rPr lang="en-US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𝐷𝐹𝐴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𝐷𝐹𝐴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𝑡h𝑎𝑡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𝑎𝑐𝑐𝑒𝑝𝑡𝑠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𝑖𝑛𝑝𝑢𝑡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𝑠𝑡𝑟𝑖𝑛𝑔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559371"/>
                <a:ext cx="9905999" cy="1089328"/>
              </a:xfrm>
              <a:blipFill>
                <a:blip r:embed="rId2"/>
                <a:stretch>
                  <a:fillRect l="-896"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1141412" y="2888722"/>
            <a:ext cx="9905999" cy="16289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M = “On input &lt;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B,w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&gt;: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Simulate B on input w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If B ends in accept state, </a:t>
            </a: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accept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. Otherwise, </a:t>
            </a: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reject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.”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5C1B72-3DDD-6B4D-BF9E-ECF453AC4BA5}"/>
              </a:ext>
            </a:extLst>
          </p:cNvPr>
          <p:cNvSpPr txBox="1">
            <a:spLocks/>
          </p:cNvSpPr>
          <p:nvPr/>
        </p:nvSpPr>
        <p:spPr>
          <a:xfrm>
            <a:off x="5994069" y="5192831"/>
            <a:ext cx="5132639" cy="121249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w is finite, B is also guaranteed to halt. So the simulation must be possible and it must halt.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C84191-74E1-634F-8C81-431F6634FEF6}"/>
              </a:ext>
            </a:extLst>
          </p:cNvPr>
          <p:cNvCxnSpPr>
            <a:cxnSpLocks/>
          </p:cNvCxnSpPr>
          <p:nvPr/>
        </p:nvCxnSpPr>
        <p:spPr>
          <a:xfrm>
            <a:off x="5893806" y="4680642"/>
            <a:ext cx="407406" cy="5432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B96C8C7-4674-BA42-B75B-488355C0A03A}"/>
              </a:ext>
            </a:extLst>
          </p:cNvPr>
          <p:cNvSpPr txBox="1">
            <a:spLocks/>
          </p:cNvSpPr>
          <p:nvPr/>
        </p:nvSpPr>
        <p:spPr>
          <a:xfrm>
            <a:off x="1323157" y="5576935"/>
            <a:ext cx="2633208" cy="121249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i="1" dirty="0">
                <a:solidFill>
                  <a:schemeClr val="tx1">
                    <a:lumMod val="95000"/>
                  </a:schemeClr>
                </a:solidFill>
              </a:rPr>
              <a:t>Let’s briefly discuss some of the implementation details involved in this.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8C7B33-F042-674B-975C-DBB8AB91CBC0}"/>
              </a:ext>
            </a:extLst>
          </p:cNvPr>
          <p:cNvCxnSpPr>
            <a:cxnSpLocks/>
          </p:cNvCxnSpPr>
          <p:nvPr/>
        </p:nvCxnSpPr>
        <p:spPr>
          <a:xfrm flipH="1">
            <a:off x="2842788" y="4665133"/>
            <a:ext cx="479834" cy="9751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668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Decidable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559371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Example</a:t>
                </a:r>
                <a:r>
                  <a:rPr lang="en-US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𝑁𝐹𝐴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𝑁𝐹𝐴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𝑡h𝑎𝑡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𝑎𝑐𝑐𝑒𝑝𝑡𝑠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𝑖𝑛𝑝𝑢𝑡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𝑠𝑡𝑟𝑖𝑛𝑔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559371"/>
                <a:ext cx="9905999" cy="1089328"/>
              </a:xfrm>
              <a:blipFill>
                <a:blip r:embed="rId2"/>
                <a:stretch>
                  <a:fillRect l="-896"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1141412" y="2888722"/>
            <a:ext cx="9905999" cy="10893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How about this one? How would you design the machine this time?</a:t>
            </a:r>
          </a:p>
        </p:txBody>
      </p:sp>
    </p:spTree>
    <p:extLst>
      <p:ext uri="{BB962C8B-B14F-4D97-AF65-F5344CB8AC3E}">
        <p14:creationId xmlns:p14="http://schemas.microsoft.com/office/powerpoint/2010/main" val="3709470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Decidable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559371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Example</a:t>
                </a:r>
                <a:r>
                  <a:rPr lang="en-US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𝑁𝐹𝐴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𝑎𝑛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𝑁𝐹𝐴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𝑡h𝑎𝑡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𝑎𝑐𝑐𝑒𝑝𝑡𝑠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𝑖𝑛𝑝𝑢𝑡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𝑠𝑡𝑟𝑖𝑛𝑔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559371"/>
                <a:ext cx="9905999" cy="1089328"/>
              </a:xfrm>
              <a:blipFill>
                <a:blip r:embed="rId2"/>
                <a:stretch>
                  <a:fillRect l="-896"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A2AA68-8CD7-2247-8791-7B4FA4D95B03}"/>
              </a:ext>
            </a:extLst>
          </p:cNvPr>
          <p:cNvSpPr txBox="1">
            <a:spLocks/>
          </p:cNvSpPr>
          <p:nvPr/>
        </p:nvSpPr>
        <p:spPr>
          <a:xfrm>
            <a:off x="1141412" y="2888722"/>
            <a:ext cx="9905999" cy="22536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N = “On input &lt;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B,w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&gt;: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Convert NFA B into DFA C using procedure given previously.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Run Turing Machine M from previous slide on &lt;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C,w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&gt;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If M accepts, then </a:t>
            </a: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accept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. Otherwise, </a:t>
            </a: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reject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635178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More Decidable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623" y="3255343"/>
                <a:ext cx="5033052" cy="504743"/>
              </a:xfrm>
              <a:solidFill>
                <a:schemeClr val="tx1">
                  <a:lumMod val="95000"/>
                </a:schemeClr>
              </a:solidFill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𝐷𝐹𝐴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𝐷𝐹𝐴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=∅}</m:t>
                      </m:r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623" y="3255343"/>
                <a:ext cx="5033052" cy="50474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D462AC-6592-1747-8C9E-8F9073BD2155}"/>
              </a:ext>
            </a:extLst>
          </p:cNvPr>
          <p:cNvSpPr txBox="1">
            <a:spLocks/>
          </p:cNvSpPr>
          <p:nvPr/>
        </p:nvSpPr>
        <p:spPr>
          <a:xfrm>
            <a:off x="1177623" y="1583216"/>
            <a:ext cx="9905999" cy="56244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All of the following languages are similarly decidable: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556B16-AC67-7B43-920C-1CB67A4BB3C7}"/>
              </a:ext>
            </a:extLst>
          </p:cNvPr>
          <p:cNvSpPr txBox="1">
            <a:spLocks/>
          </p:cNvSpPr>
          <p:nvPr/>
        </p:nvSpPr>
        <p:spPr>
          <a:xfrm>
            <a:off x="6391748" y="3255343"/>
            <a:ext cx="4843604" cy="5047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Is language of the DFA empty?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04970EA8-B535-5A41-AB1A-26C5CEFD27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77623" y="2562296"/>
                <a:ext cx="5033052" cy="50474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𝑅𝐸𝑋</m:t>
                          </m:r>
                        </m:sub>
                      </m:sSub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𝑟𝑒𝑔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𝑒𝑥𝑝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𝑡h𝑎𝑡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𝑔𝑒𝑛𝑒𝑟𝑎𝑡𝑒𝑠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04970EA8-B535-5A41-AB1A-26C5CEFD2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623" y="2562296"/>
                <a:ext cx="5033052" cy="5047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00FBB4-6E81-0443-829F-A0A72650E741}"/>
              </a:ext>
            </a:extLst>
          </p:cNvPr>
          <p:cNvSpPr txBox="1">
            <a:spLocks/>
          </p:cNvSpPr>
          <p:nvPr/>
        </p:nvSpPr>
        <p:spPr>
          <a:xfrm>
            <a:off x="6391748" y="2562296"/>
            <a:ext cx="4843604" cy="5047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Does a given expression generate this string?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436B41A-400D-6149-A3E2-64F144E58D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77623" y="3988414"/>
                <a:ext cx="5033052" cy="50474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𝐸𝑄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𝐷𝐹𝐴</m:t>
                          </m:r>
                        </m:sub>
                      </m:sSub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𝐷𝐹𝐴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436B41A-400D-6149-A3E2-64F144E58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623" y="3988414"/>
                <a:ext cx="5033052" cy="5047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2BBD29E-8C03-3D41-A5FD-E53DC96C7C26}"/>
              </a:ext>
            </a:extLst>
          </p:cNvPr>
          <p:cNvSpPr txBox="1">
            <a:spLocks/>
          </p:cNvSpPr>
          <p:nvPr/>
        </p:nvSpPr>
        <p:spPr>
          <a:xfrm>
            <a:off x="6391748" y="3988414"/>
            <a:ext cx="4843604" cy="5047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Do two DFAs recognize the same language?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DA673CF-268D-6D42-9A52-D72B3BE0F728}"/>
              </a:ext>
            </a:extLst>
          </p:cNvPr>
          <p:cNvSpPr txBox="1">
            <a:spLocks/>
          </p:cNvSpPr>
          <p:nvPr/>
        </p:nvSpPr>
        <p:spPr>
          <a:xfrm>
            <a:off x="1177623" y="4820769"/>
            <a:ext cx="8284676" cy="62619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…and analogous languages for Context-Free Grammars (CFGs)</a:t>
            </a:r>
          </a:p>
        </p:txBody>
      </p:sp>
    </p:spTree>
    <p:extLst>
      <p:ext uri="{BB962C8B-B14F-4D97-AF65-F5344CB8AC3E}">
        <p14:creationId xmlns:p14="http://schemas.microsoft.com/office/powerpoint/2010/main" val="1811628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 2: Undecidable Languages</a:t>
            </a:r>
          </a:p>
        </p:txBody>
      </p:sp>
    </p:spTree>
    <p:extLst>
      <p:ext uri="{BB962C8B-B14F-4D97-AF65-F5344CB8AC3E}">
        <p14:creationId xmlns:p14="http://schemas.microsoft.com/office/powerpoint/2010/main" val="1632347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Do undecidable languages </a:t>
            </a:r>
            <a:r>
              <a:rPr lang="en-US" dirty="0" err="1"/>
              <a:t>exiSt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8F5F-F936-6145-9FF8-704886F1A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328910"/>
            <a:ext cx="9905999" cy="68588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Are there problems that are unsolvable by computers (Turing Machines)? </a:t>
            </a:r>
          </a:p>
        </p:txBody>
      </p:sp>
    </p:spTree>
    <p:extLst>
      <p:ext uri="{BB962C8B-B14F-4D97-AF65-F5344CB8AC3E}">
        <p14:creationId xmlns:p14="http://schemas.microsoft.com/office/powerpoint/2010/main" val="2248046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Do undecidable languages </a:t>
            </a:r>
            <a:r>
              <a:rPr lang="en-US" dirty="0" err="1"/>
              <a:t>exiSt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8F5F-F936-6145-9FF8-704886F1A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808740"/>
            <a:ext cx="9905999" cy="68588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Are there problems that are unsolvable by computers (Turing Machines)?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B1E021-F9EB-5747-908C-0F77137635FF}"/>
              </a:ext>
            </a:extLst>
          </p:cNvPr>
          <p:cNvSpPr txBox="1">
            <a:spLocks/>
          </p:cNvSpPr>
          <p:nvPr/>
        </p:nvSpPr>
        <p:spPr>
          <a:xfrm>
            <a:off x="1041824" y="5115205"/>
            <a:ext cx="4010010" cy="96871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i="1" dirty="0">
                <a:solidFill>
                  <a:schemeClr val="tx1">
                    <a:lumMod val="95000"/>
                  </a:schemeClr>
                </a:solidFill>
              </a:rPr>
              <a:t>Yes! In fact, many simple and common problems are undecidable.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7CFF1B-FFCE-7242-9CFD-43AF46BCF2B2}"/>
              </a:ext>
            </a:extLst>
          </p:cNvPr>
          <p:cNvCxnSpPr>
            <a:cxnSpLocks/>
          </p:cNvCxnSpPr>
          <p:nvPr/>
        </p:nvCxnSpPr>
        <p:spPr>
          <a:xfrm flipH="1">
            <a:off x="2381062" y="3675703"/>
            <a:ext cx="1013988" cy="15209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D805703-059C-C84C-86D2-16CBE747D4D1}"/>
              </a:ext>
            </a:extLst>
          </p:cNvPr>
          <p:cNvSpPr txBox="1">
            <a:spLocks/>
          </p:cNvSpPr>
          <p:nvPr/>
        </p:nvSpPr>
        <p:spPr>
          <a:xfrm>
            <a:off x="7042762" y="1188163"/>
            <a:ext cx="3486418" cy="102304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i="1" dirty="0">
                <a:solidFill>
                  <a:schemeClr val="tx1">
                    <a:lumMod val="95000"/>
                  </a:schemeClr>
                </a:solidFill>
              </a:rPr>
              <a:t>Many of these problems are recognizable, but not decidable.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2C15C6A-898E-0144-9DE4-028F680CB5A9}"/>
              </a:ext>
            </a:extLst>
          </p:cNvPr>
          <p:cNvSpPr txBox="1">
            <a:spLocks/>
          </p:cNvSpPr>
          <p:nvPr/>
        </p:nvSpPr>
        <p:spPr>
          <a:xfrm>
            <a:off x="7231374" y="4611235"/>
            <a:ext cx="3904387" cy="213359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i="1" dirty="0">
                <a:solidFill>
                  <a:schemeClr val="tx1">
                    <a:lumMod val="95000"/>
                  </a:schemeClr>
                </a:solidFill>
              </a:rPr>
              <a:t>This has profound philosophical implications in Computer Science. Some things are fundamental limitations that computers cannot overcome.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57D5B9-71E9-7F45-A801-178636BBD0B1}"/>
              </a:ext>
            </a:extLst>
          </p:cNvPr>
          <p:cNvCxnSpPr>
            <a:cxnSpLocks/>
          </p:cNvCxnSpPr>
          <p:nvPr/>
        </p:nvCxnSpPr>
        <p:spPr>
          <a:xfrm>
            <a:off x="7514376" y="3634963"/>
            <a:ext cx="307818" cy="9762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A4F2A9-4145-B047-9FDC-90A4384EC2AF}"/>
              </a:ext>
            </a:extLst>
          </p:cNvPr>
          <p:cNvCxnSpPr>
            <a:cxnSpLocks/>
          </p:cNvCxnSpPr>
          <p:nvPr/>
        </p:nvCxnSpPr>
        <p:spPr>
          <a:xfrm flipV="1">
            <a:off x="6708618" y="2102569"/>
            <a:ext cx="522756" cy="5561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362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Do undecidable languages exist?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239174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Theorem</a:t>
                </a:r>
                <a:r>
                  <a:rPr lang="en-US" dirty="0">
                    <a:solidFill>
                      <a:schemeClr val="bg1"/>
                    </a:solidFill>
                  </a:rPr>
                  <a:t>: The language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𝑎𝑐𝑐𝑒𝑝𝑡𝑠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undecidable.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239174"/>
                <a:ext cx="9905999" cy="1089328"/>
              </a:xfrm>
              <a:blipFill>
                <a:blip r:embed="rId2"/>
                <a:stretch>
                  <a:fillRect l="-896"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24A6B9-1572-D642-A654-E4B56D7625FF}"/>
              </a:ext>
            </a:extLst>
          </p:cNvPr>
          <p:cNvSpPr txBox="1">
            <a:spLocks/>
          </p:cNvSpPr>
          <p:nvPr/>
        </p:nvSpPr>
        <p:spPr>
          <a:xfrm>
            <a:off x="2539204" y="2636069"/>
            <a:ext cx="7110411" cy="61879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This language </a:t>
            </a: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is Turing-Recognizable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though. Here is how: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E328480-F8AC-B84E-8634-A51EEAE8125B}"/>
              </a:ext>
            </a:extLst>
          </p:cNvPr>
          <p:cNvSpPr txBox="1">
            <a:spLocks/>
          </p:cNvSpPr>
          <p:nvPr/>
        </p:nvSpPr>
        <p:spPr>
          <a:xfrm>
            <a:off x="3765283" y="3176587"/>
            <a:ext cx="4658255" cy="1886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U = “On input &lt;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M,w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&gt;: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Simulate M on input w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If M ever accepts, then </a:t>
            </a: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accept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If M ever reject, then </a:t>
            </a: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reject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D977EE-96F8-634F-9432-264414F1D904}"/>
              </a:ext>
            </a:extLst>
          </p:cNvPr>
          <p:cNvSpPr txBox="1">
            <a:spLocks/>
          </p:cNvSpPr>
          <p:nvPr/>
        </p:nvSpPr>
        <p:spPr>
          <a:xfrm>
            <a:off x="8961370" y="5300133"/>
            <a:ext cx="2284411" cy="9059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i="1" dirty="0">
                <a:solidFill>
                  <a:schemeClr val="tx1">
                    <a:lumMod val="95000"/>
                  </a:schemeClr>
                </a:solidFill>
              </a:rPr>
              <a:t>Note that if M loops forever, then so will U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B45564-895E-D04A-9EE1-28C4A4746C15}"/>
              </a:ext>
            </a:extLst>
          </p:cNvPr>
          <p:cNvCxnSpPr>
            <a:cxnSpLocks/>
          </p:cNvCxnSpPr>
          <p:nvPr/>
        </p:nvCxnSpPr>
        <p:spPr>
          <a:xfrm>
            <a:off x="8585200" y="4580467"/>
            <a:ext cx="752341" cy="7196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135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Do undecidable languages exist?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984242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Theorem</a:t>
                </a:r>
                <a:r>
                  <a:rPr lang="en-US" dirty="0">
                    <a:solidFill>
                      <a:schemeClr val="bg1"/>
                    </a:solidFill>
                  </a:rPr>
                  <a:t>: The language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𝑎𝑐𝑐𝑒𝑝𝑡𝑠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undecidable.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984242"/>
                <a:ext cx="9905999" cy="1089328"/>
              </a:xfrm>
              <a:blipFill>
                <a:blip r:embed="rId2"/>
                <a:stretch>
                  <a:fillRect l="-896"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24A6B9-1572-D642-A654-E4B56D7625FF}"/>
              </a:ext>
            </a:extLst>
          </p:cNvPr>
          <p:cNvSpPr txBox="1">
            <a:spLocks/>
          </p:cNvSpPr>
          <p:nvPr/>
        </p:nvSpPr>
        <p:spPr>
          <a:xfrm>
            <a:off x="1573213" y="4368799"/>
            <a:ext cx="2922588" cy="145626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>
                <a:solidFill>
                  <a:schemeClr val="tx1">
                    <a:lumMod val="95000"/>
                  </a:schemeClr>
                </a:solidFill>
              </a:rPr>
              <a:t>Okay, let’s prove it. Intuitively, what is the potential issue here?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161923-8DAE-6149-BF2F-97DDBC9C9823}"/>
              </a:ext>
            </a:extLst>
          </p:cNvPr>
          <p:cNvSpPr txBox="1">
            <a:spLocks/>
          </p:cNvSpPr>
          <p:nvPr/>
        </p:nvSpPr>
        <p:spPr>
          <a:xfrm>
            <a:off x="7525278" y="4673599"/>
            <a:ext cx="3168121" cy="145626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>
                <a:solidFill>
                  <a:schemeClr val="tx1">
                    <a:lumMod val="95000"/>
                  </a:schemeClr>
                </a:solidFill>
              </a:rPr>
              <a:t>This is one of the most famous proofs in Computer Science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F813D4-B467-2C46-AE75-FBFF9A7EE6BB}"/>
              </a:ext>
            </a:extLst>
          </p:cNvPr>
          <p:cNvCxnSpPr>
            <a:cxnSpLocks/>
          </p:cNvCxnSpPr>
          <p:nvPr/>
        </p:nvCxnSpPr>
        <p:spPr>
          <a:xfrm flipH="1">
            <a:off x="3234267" y="3200400"/>
            <a:ext cx="1176867" cy="116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0AA95A-3152-3C4C-8A7B-E66E59925E95}"/>
              </a:ext>
            </a:extLst>
          </p:cNvPr>
          <p:cNvCxnSpPr>
            <a:cxnSpLocks/>
          </p:cNvCxnSpPr>
          <p:nvPr/>
        </p:nvCxnSpPr>
        <p:spPr>
          <a:xfrm>
            <a:off x="7586134" y="3200400"/>
            <a:ext cx="897466" cy="14731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553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Do undecidable languages exist?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129108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Theorem</a:t>
                </a:r>
                <a:r>
                  <a:rPr lang="en-US" dirty="0">
                    <a:solidFill>
                      <a:schemeClr val="bg1"/>
                    </a:solidFill>
                  </a:rPr>
                  <a:t>: The language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𝑎𝑐𝑐𝑒𝑝𝑡𝑠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undecidable.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129108"/>
                <a:ext cx="9905999" cy="1089328"/>
              </a:xfrm>
              <a:blipFill>
                <a:blip r:embed="rId2"/>
                <a:stretch>
                  <a:fillRect l="-896"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924A6B9-1572-D642-A654-E4B56D7625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9045" y="2904148"/>
                <a:ext cx="4573588" cy="863602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2000" i="1" u="sng" dirty="0">
                    <a:solidFill>
                      <a:schemeClr val="tx1">
                        <a:lumMod val="95000"/>
                      </a:schemeClr>
                    </a:solidFill>
                  </a:rPr>
                  <a:t>Step 1</a:t>
                </a:r>
                <a:r>
                  <a:rPr lang="en-US" sz="2000" i="1" dirty="0">
                    <a:solidFill>
                      <a:schemeClr val="tx1">
                        <a:lumMod val="95000"/>
                      </a:schemeClr>
                    </a:solidFill>
                  </a:rPr>
                  <a:t>: For the sake of contradiction,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tx1">
                        <a:lumMod val="95000"/>
                      </a:schemeClr>
                    </a:solidFill>
                  </a:rPr>
                  <a:t> is decidable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924A6B9-1572-D642-A654-E4B56D762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045" y="2904148"/>
                <a:ext cx="4573588" cy="863602"/>
              </a:xfrm>
              <a:prstGeom prst="rect">
                <a:avLst/>
              </a:prstGeom>
              <a:blipFill>
                <a:blip r:embed="rId3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5161923-8DAE-6149-BF2F-97DDBC9C98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92543" y="3200400"/>
                <a:ext cx="3168121" cy="1456268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2000" i="1" dirty="0">
                    <a:solidFill>
                      <a:schemeClr val="tx1">
                        <a:lumMod val="95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tx1">
                        <a:lumMod val="95000"/>
                      </a:schemeClr>
                    </a:solidFill>
                  </a:rPr>
                  <a:t> is decidable, then there must exist a machine that decides it. Let’s call that machine H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5161923-8DAE-6149-BF2F-97DDBC9C9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543" y="3200400"/>
                <a:ext cx="3168121" cy="1456268"/>
              </a:xfrm>
              <a:prstGeom prst="rect">
                <a:avLst/>
              </a:prstGeom>
              <a:blipFill>
                <a:blip r:embed="rId4"/>
                <a:stretch>
                  <a:fillRect t="-1739" r="-4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0AA95A-3152-3C4C-8A7B-E66E59925E95}"/>
              </a:ext>
            </a:extLst>
          </p:cNvPr>
          <p:cNvCxnSpPr>
            <a:cxnSpLocks/>
          </p:cNvCxnSpPr>
          <p:nvPr/>
        </p:nvCxnSpPr>
        <p:spPr>
          <a:xfrm flipV="1">
            <a:off x="6917267" y="3928534"/>
            <a:ext cx="1261533" cy="296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61D0BCC-A179-D648-B316-6267E1A1BE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412" y="3819333"/>
            <a:ext cx="5648855" cy="99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340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Do undecidable languages exist?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129108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Theorem</a:t>
                </a:r>
                <a:r>
                  <a:rPr lang="en-US" dirty="0">
                    <a:solidFill>
                      <a:schemeClr val="bg1"/>
                    </a:solidFill>
                  </a:rPr>
                  <a:t>: The language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𝑎𝑐𝑐𝑒𝑝𝑡𝑠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undecidable.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129108"/>
                <a:ext cx="9905999" cy="1089328"/>
              </a:xfrm>
              <a:blipFill>
                <a:blip r:embed="rId2"/>
                <a:stretch>
                  <a:fillRect l="-896"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24A6B9-1572-D642-A654-E4B56D7625FF}"/>
              </a:ext>
            </a:extLst>
          </p:cNvPr>
          <p:cNvSpPr txBox="1">
            <a:spLocks/>
          </p:cNvSpPr>
          <p:nvPr/>
        </p:nvSpPr>
        <p:spPr>
          <a:xfrm>
            <a:off x="366711" y="3110020"/>
            <a:ext cx="4573588" cy="86360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u="sng" dirty="0">
                <a:solidFill>
                  <a:schemeClr val="tx1">
                    <a:lumMod val="95000"/>
                  </a:schemeClr>
                </a:solidFill>
              </a:rPr>
              <a:t>Step 2</a:t>
            </a:r>
            <a:r>
              <a:rPr lang="en-US" sz="2000" i="1" dirty="0">
                <a:solidFill>
                  <a:schemeClr val="tx1">
                    <a:lumMod val="95000"/>
                  </a:schemeClr>
                </a:solidFill>
              </a:rPr>
              <a:t>: Construct a new machine D that uses H as a subroutine.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1D0BCC-A179-D648-B316-6267E1A1B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2" y="3973622"/>
            <a:ext cx="4471987" cy="78656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0E47F2-89F9-AC4B-AB5E-8130812A2E6C}"/>
              </a:ext>
            </a:extLst>
          </p:cNvPr>
          <p:cNvCxnSpPr>
            <a:cxnSpLocks/>
          </p:cNvCxnSpPr>
          <p:nvPr/>
        </p:nvCxnSpPr>
        <p:spPr>
          <a:xfrm flipH="1">
            <a:off x="5232400" y="2497838"/>
            <a:ext cx="1" cy="3902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F0750F0-20EE-8A48-A643-C4E0645E39BD}"/>
              </a:ext>
            </a:extLst>
          </p:cNvPr>
          <p:cNvGrpSpPr/>
          <p:nvPr/>
        </p:nvGrpSpPr>
        <p:grpSpPr>
          <a:xfrm>
            <a:off x="5308859" y="3427296"/>
            <a:ext cx="6122328" cy="1627304"/>
            <a:chOff x="5249592" y="3427296"/>
            <a:chExt cx="6122328" cy="16273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761EDCA-604F-0346-993C-DCA742D5C8A1}"/>
                </a:ext>
              </a:extLst>
            </p:cNvPr>
            <p:cNvSpPr/>
            <p:nvPr/>
          </p:nvSpPr>
          <p:spPr>
            <a:xfrm>
              <a:off x="6915679" y="3427296"/>
              <a:ext cx="3371322" cy="162730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DB7E8E-F388-D94E-9C9B-2FF9672F12C5}"/>
                </a:ext>
              </a:extLst>
            </p:cNvPr>
            <p:cNvSpPr txBox="1"/>
            <p:nvPr/>
          </p:nvSpPr>
          <p:spPr>
            <a:xfrm>
              <a:off x="6915678" y="3427296"/>
              <a:ext cx="359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9A7174-0E2C-7148-A092-DC419B542092}"/>
                </a:ext>
              </a:extLst>
            </p:cNvPr>
            <p:cNvSpPr txBox="1"/>
            <p:nvPr/>
          </p:nvSpPr>
          <p:spPr>
            <a:xfrm>
              <a:off x="5249592" y="3712737"/>
              <a:ext cx="15152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Input &lt;M&gt;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B5D208E-C790-9D41-AB07-A7253C7E3354}"/>
                </a:ext>
              </a:extLst>
            </p:cNvPr>
            <p:cNvSpPr txBox="1"/>
            <p:nvPr/>
          </p:nvSpPr>
          <p:spPr>
            <a:xfrm>
              <a:off x="7135810" y="4218486"/>
              <a:ext cx="15933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H(&lt;M, M&gt;)</a:t>
              </a:r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BFD7F514-B37B-2B45-99A8-C517F992F2FC}"/>
                </a:ext>
              </a:extLst>
            </p:cNvPr>
            <p:cNvCxnSpPr>
              <a:cxnSpLocks/>
            </p:cNvCxnSpPr>
            <p:nvPr/>
          </p:nvCxnSpPr>
          <p:spPr>
            <a:xfrm>
              <a:off x="6790268" y="3943570"/>
              <a:ext cx="1041400" cy="349030"/>
            </a:xfrm>
            <a:prstGeom prst="bentConnector3">
              <a:avLst>
                <a:gd name="adj1" fmla="val 9959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27D873C-A75F-3248-BF41-04DC0F7766B3}"/>
                </a:ext>
              </a:extLst>
            </p:cNvPr>
            <p:cNvCxnSpPr>
              <a:cxnSpLocks/>
            </p:cNvCxnSpPr>
            <p:nvPr/>
          </p:nvCxnSpPr>
          <p:spPr>
            <a:xfrm>
              <a:off x="7162803" y="3943570"/>
              <a:ext cx="1041400" cy="349030"/>
            </a:xfrm>
            <a:prstGeom prst="bentConnector3">
              <a:avLst>
                <a:gd name="adj1" fmla="val 9959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310842BA-B247-6741-9DC9-65773AB7A299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flipV="1">
              <a:off x="8729132" y="4114800"/>
              <a:ext cx="685801" cy="334519"/>
            </a:xfrm>
            <a:prstGeom prst="bentConnector3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lbow Connector 26">
              <a:extLst>
                <a:ext uri="{FF2B5EF4-FFF2-40B4-BE49-F238E27FC236}">
                  <a16:creationId xmlns:a16="http://schemas.microsoft.com/office/drawing/2014/main" id="{AEF6C99D-78BE-BC40-83FA-28C9441555CD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8729132" y="4449319"/>
              <a:ext cx="685801" cy="310866"/>
            </a:xfrm>
            <a:prstGeom prst="bentConnector3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9561BD3-18C2-1140-8030-9ACDE26F7773}"/>
                </a:ext>
              </a:extLst>
            </p:cNvPr>
            <p:cNvSpPr txBox="1"/>
            <p:nvPr/>
          </p:nvSpPr>
          <p:spPr>
            <a:xfrm>
              <a:off x="9346011" y="3912727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accept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D72C30-B448-1D4C-A011-D16D3223A32E}"/>
                </a:ext>
              </a:extLst>
            </p:cNvPr>
            <p:cNvSpPr txBox="1"/>
            <p:nvPr/>
          </p:nvSpPr>
          <p:spPr>
            <a:xfrm>
              <a:off x="9329077" y="4555727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reject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28A997A-C0E0-2E44-BA25-0677C51C70D8}"/>
                </a:ext>
              </a:extLst>
            </p:cNvPr>
            <p:cNvSpPr/>
            <p:nvPr/>
          </p:nvSpPr>
          <p:spPr>
            <a:xfrm>
              <a:off x="7162803" y="3888962"/>
              <a:ext cx="1786460" cy="943944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FCDB39F-7A67-4649-98FA-ED43974686A2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0161195" y="4097393"/>
              <a:ext cx="464472" cy="118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3DFFE88-5ED6-6044-9361-330BDCC26132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10144261" y="4740393"/>
              <a:ext cx="4814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B659F75-4B22-BF43-BF96-E67E717A91B2}"/>
                </a:ext>
              </a:extLst>
            </p:cNvPr>
            <p:cNvSpPr txBox="1"/>
            <p:nvPr/>
          </p:nvSpPr>
          <p:spPr>
            <a:xfrm>
              <a:off x="10556736" y="4538793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accept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B3EF38B-DA7B-B348-A95C-F0C4C2A138B6}"/>
                </a:ext>
              </a:extLst>
            </p:cNvPr>
            <p:cNvSpPr txBox="1"/>
            <p:nvPr/>
          </p:nvSpPr>
          <p:spPr>
            <a:xfrm>
              <a:off x="10554356" y="3905894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3573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Some Comments on Machine D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F0750F0-20EE-8A48-A643-C4E0645E39BD}"/>
              </a:ext>
            </a:extLst>
          </p:cNvPr>
          <p:cNvGrpSpPr/>
          <p:nvPr/>
        </p:nvGrpSpPr>
        <p:grpSpPr>
          <a:xfrm>
            <a:off x="2125416" y="1691630"/>
            <a:ext cx="7937991" cy="2109904"/>
            <a:chOff x="5249592" y="3427296"/>
            <a:chExt cx="6122328" cy="16273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761EDCA-604F-0346-993C-DCA742D5C8A1}"/>
                </a:ext>
              </a:extLst>
            </p:cNvPr>
            <p:cNvSpPr/>
            <p:nvPr/>
          </p:nvSpPr>
          <p:spPr>
            <a:xfrm>
              <a:off x="6915679" y="3427296"/>
              <a:ext cx="3371322" cy="162730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DB7E8E-F388-D94E-9C9B-2FF9672F12C5}"/>
                </a:ext>
              </a:extLst>
            </p:cNvPr>
            <p:cNvSpPr txBox="1"/>
            <p:nvPr/>
          </p:nvSpPr>
          <p:spPr>
            <a:xfrm>
              <a:off x="6915678" y="3427296"/>
              <a:ext cx="359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9A7174-0E2C-7148-A092-DC419B542092}"/>
                </a:ext>
              </a:extLst>
            </p:cNvPr>
            <p:cNvSpPr txBox="1"/>
            <p:nvPr/>
          </p:nvSpPr>
          <p:spPr>
            <a:xfrm>
              <a:off x="5249592" y="3712737"/>
              <a:ext cx="15152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Input &lt;M&gt;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B5D208E-C790-9D41-AB07-A7253C7E3354}"/>
                </a:ext>
              </a:extLst>
            </p:cNvPr>
            <p:cNvSpPr txBox="1"/>
            <p:nvPr/>
          </p:nvSpPr>
          <p:spPr>
            <a:xfrm>
              <a:off x="7135810" y="4218486"/>
              <a:ext cx="15933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H(&lt;M, M&gt;)</a:t>
              </a:r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BFD7F514-B37B-2B45-99A8-C517F992F2FC}"/>
                </a:ext>
              </a:extLst>
            </p:cNvPr>
            <p:cNvCxnSpPr>
              <a:cxnSpLocks/>
            </p:cNvCxnSpPr>
            <p:nvPr/>
          </p:nvCxnSpPr>
          <p:spPr>
            <a:xfrm>
              <a:off x="6790268" y="3943570"/>
              <a:ext cx="1041400" cy="349030"/>
            </a:xfrm>
            <a:prstGeom prst="bentConnector3">
              <a:avLst>
                <a:gd name="adj1" fmla="val 9959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27D873C-A75F-3248-BF41-04DC0F7766B3}"/>
                </a:ext>
              </a:extLst>
            </p:cNvPr>
            <p:cNvCxnSpPr>
              <a:cxnSpLocks/>
            </p:cNvCxnSpPr>
            <p:nvPr/>
          </p:nvCxnSpPr>
          <p:spPr>
            <a:xfrm>
              <a:off x="7110560" y="3943570"/>
              <a:ext cx="1041400" cy="349030"/>
            </a:xfrm>
            <a:prstGeom prst="bentConnector3">
              <a:avLst>
                <a:gd name="adj1" fmla="val 9959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310842BA-B247-6741-9DC9-65773AB7A299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flipV="1">
              <a:off x="8729132" y="4114800"/>
              <a:ext cx="685801" cy="334519"/>
            </a:xfrm>
            <a:prstGeom prst="bentConnector3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lbow Connector 26">
              <a:extLst>
                <a:ext uri="{FF2B5EF4-FFF2-40B4-BE49-F238E27FC236}">
                  <a16:creationId xmlns:a16="http://schemas.microsoft.com/office/drawing/2014/main" id="{AEF6C99D-78BE-BC40-83FA-28C9441555CD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8729132" y="4449319"/>
              <a:ext cx="685801" cy="310866"/>
            </a:xfrm>
            <a:prstGeom prst="bentConnector3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9561BD3-18C2-1140-8030-9ACDE26F7773}"/>
                </a:ext>
              </a:extLst>
            </p:cNvPr>
            <p:cNvSpPr txBox="1"/>
            <p:nvPr/>
          </p:nvSpPr>
          <p:spPr>
            <a:xfrm>
              <a:off x="9346011" y="3912727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accept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D72C30-B448-1D4C-A011-D16D3223A32E}"/>
                </a:ext>
              </a:extLst>
            </p:cNvPr>
            <p:cNvSpPr txBox="1"/>
            <p:nvPr/>
          </p:nvSpPr>
          <p:spPr>
            <a:xfrm>
              <a:off x="9329077" y="4555727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reject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28A997A-C0E0-2E44-BA25-0677C51C70D8}"/>
                </a:ext>
              </a:extLst>
            </p:cNvPr>
            <p:cNvSpPr/>
            <p:nvPr/>
          </p:nvSpPr>
          <p:spPr>
            <a:xfrm>
              <a:off x="7162803" y="3888962"/>
              <a:ext cx="1786460" cy="943944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FCDB39F-7A67-4649-98FA-ED43974686A2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0161195" y="4097393"/>
              <a:ext cx="464472" cy="118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3DFFE88-5ED6-6044-9361-330BDCC26132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10144261" y="4740393"/>
              <a:ext cx="4814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B659F75-4B22-BF43-BF96-E67E717A91B2}"/>
                </a:ext>
              </a:extLst>
            </p:cNvPr>
            <p:cNvSpPr txBox="1"/>
            <p:nvPr/>
          </p:nvSpPr>
          <p:spPr>
            <a:xfrm>
              <a:off x="10556736" y="4538793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accept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B3EF38B-DA7B-B348-A95C-F0C4C2A138B6}"/>
                </a:ext>
              </a:extLst>
            </p:cNvPr>
            <p:cNvSpPr txBox="1"/>
            <p:nvPr/>
          </p:nvSpPr>
          <p:spPr>
            <a:xfrm>
              <a:off x="10554356" y="3905894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reject</a:t>
              </a:r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CB7886C-88A2-D542-A809-DC8E663C5373}"/>
              </a:ext>
            </a:extLst>
          </p:cNvPr>
          <p:cNvSpPr txBox="1">
            <a:spLocks/>
          </p:cNvSpPr>
          <p:nvPr/>
        </p:nvSpPr>
        <p:spPr>
          <a:xfrm>
            <a:off x="1581680" y="5176584"/>
            <a:ext cx="2922588" cy="145626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>
                <a:solidFill>
                  <a:schemeClr val="tx1">
                    <a:lumMod val="95000"/>
                  </a:schemeClr>
                </a:solidFill>
              </a:rPr>
              <a:t>What does it mean to run a machine with itself as input? Is this even possible?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13C497D-BCC7-5B4A-9ECE-16108998905F}"/>
              </a:ext>
            </a:extLst>
          </p:cNvPr>
          <p:cNvCxnSpPr>
            <a:cxnSpLocks/>
          </p:cNvCxnSpPr>
          <p:nvPr/>
        </p:nvCxnSpPr>
        <p:spPr>
          <a:xfrm flipH="1">
            <a:off x="3242734" y="4008185"/>
            <a:ext cx="1176867" cy="1168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54F9A2B4-7C95-8049-95BD-B5B1C63B9B89}"/>
              </a:ext>
            </a:extLst>
          </p:cNvPr>
          <p:cNvSpPr txBox="1">
            <a:spLocks/>
          </p:cNvSpPr>
          <p:nvPr/>
        </p:nvSpPr>
        <p:spPr>
          <a:xfrm>
            <a:off x="8493624" y="4755776"/>
            <a:ext cx="2922588" cy="145626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>
                <a:solidFill>
                  <a:schemeClr val="tx1">
                    <a:lumMod val="95000"/>
                  </a:schemeClr>
                </a:solidFill>
              </a:rPr>
              <a:t>Notice that we flip the output here. This will be important for creating the contradiction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8A1A89E-853C-D745-A75E-53C2DC268B5C}"/>
              </a:ext>
            </a:extLst>
          </p:cNvPr>
          <p:cNvCxnSpPr>
            <a:cxnSpLocks/>
          </p:cNvCxnSpPr>
          <p:nvPr/>
        </p:nvCxnSpPr>
        <p:spPr>
          <a:xfrm>
            <a:off x="9516533" y="3747484"/>
            <a:ext cx="347134" cy="872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175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Some Comments on Machine D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F0750F0-20EE-8A48-A643-C4E0645E39BD}"/>
              </a:ext>
            </a:extLst>
          </p:cNvPr>
          <p:cNvGrpSpPr/>
          <p:nvPr/>
        </p:nvGrpSpPr>
        <p:grpSpPr>
          <a:xfrm>
            <a:off x="2125416" y="1691630"/>
            <a:ext cx="7937991" cy="2109904"/>
            <a:chOff x="5249592" y="3427296"/>
            <a:chExt cx="6122328" cy="16273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761EDCA-604F-0346-993C-DCA742D5C8A1}"/>
                </a:ext>
              </a:extLst>
            </p:cNvPr>
            <p:cNvSpPr/>
            <p:nvPr/>
          </p:nvSpPr>
          <p:spPr>
            <a:xfrm>
              <a:off x="6915679" y="3427296"/>
              <a:ext cx="3371322" cy="162730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DB7E8E-F388-D94E-9C9B-2FF9672F12C5}"/>
                </a:ext>
              </a:extLst>
            </p:cNvPr>
            <p:cNvSpPr txBox="1"/>
            <p:nvPr/>
          </p:nvSpPr>
          <p:spPr>
            <a:xfrm>
              <a:off x="6915678" y="3427296"/>
              <a:ext cx="359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9A7174-0E2C-7148-A092-DC419B542092}"/>
                </a:ext>
              </a:extLst>
            </p:cNvPr>
            <p:cNvSpPr txBox="1"/>
            <p:nvPr/>
          </p:nvSpPr>
          <p:spPr>
            <a:xfrm>
              <a:off x="5249592" y="3712737"/>
              <a:ext cx="1515275" cy="356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Input &lt;</a:t>
              </a:r>
              <a:r>
                <a:rPr lang="en-US" sz="2400" b="1" u="sng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  <a:r>
                <a:rPr lang="en-US" sz="2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B5D208E-C790-9D41-AB07-A7253C7E3354}"/>
                </a:ext>
              </a:extLst>
            </p:cNvPr>
            <p:cNvSpPr txBox="1"/>
            <p:nvPr/>
          </p:nvSpPr>
          <p:spPr>
            <a:xfrm>
              <a:off x="7135810" y="4218486"/>
              <a:ext cx="1593322" cy="356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H(&lt;</a:t>
              </a:r>
              <a:r>
                <a:rPr lang="en-US" sz="2400" b="1" u="sng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  <a:r>
                <a:rPr lang="en-US" sz="2400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en-US" sz="2400" b="1" u="sng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  <a:r>
                <a:rPr lang="en-US" sz="2400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&gt;)</a:t>
              </a:r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BFD7F514-B37B-2B45-99A8-C517F992F2FC}"/>
                </a:ext>
              </a:extLst>
            </p:cNvPr>
            <p:cNvCxnSpPr>
              <a:cxnSpLocks/>
            </p:cNvCxnSpPr>
            <p:nvPr/>
          </p:nvCxnSpPr>
          <p:spPr>
            <a:xfrm>
              <a:off x="6790268" y="3943570"/>
              <a:ext cx="1041400" cy="349030"/>
            </a:xfrm>
            <a:prstGeom prst="bentConnector3">
              <a:avLst>
                <a:gd name="adj1" fmla="val 9959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27D873C-A75F-3248-BF41-04DC0F7766B3}"/>
                </a:ext>
              </a:extLst>
            </p:cNvPr>
            <p:cNvCxnSpPr>
              <a:cxnSpLocks/>
            </p:cNvCxnSpPr>
            <p:nvPr/>
          </p:nvCxnSpPr>
          <p:spPr>
            <a:xfrm>
              <a:off x="7110560" y="3943570"/>
              <a:ext cx="1041400" cy="349030"/>
            </a:xfrm>
            <a:prstGeom prst="bentConnector3">
              <a:avLst>
                <a:gd name="adj1" fmla="val 9959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310842BA-B247-6741-9DC9-65773AB7A299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flipV="1">
              <a:off x="8729132" y="4114801"/>
              <a:ext cx="685801" cy="281720"/>
            </a:xfrm>
            <a:prstGeom prst="bentConnector3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lbow Connector 26">
              <a:extLst>
                <a:ext uri="{FF2B5EF4-FFF2-40B4-BE49-F238E27FC236}">
                  <a16:creationId xmlns:a16="http://schemas.microsoft.com/office/drawing/2014/main" id="{AEF6C99D-78BE-BC40-83FA-28C9441555CD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8729132" y="4396521"/>
              <a:ext cx="685801" cy="363664"/>
            </a:xfrm>
            <a:prstGeom prst="bentConnector3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9561BD3-18C2-1140-8030-9ACDE26F7773}"/>
                </a:ext>
              </a:extLst>
            </p:cNvPr>
            <p:cNvSpPr txBox="1"/>
            <p:nvPr/>
          </p:nvSpPr>
          <p:spPr>
            <a:xfrm>
              <a:off x="9346011" y="3912727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accept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D72C30-B448-1D4C-A011-D16D3223A32E}"/>
                </a:ext>
              </a:extLst>
            </p:cNvPr>
            <p:cNvSpPr txBox="1"/>
            <p:nvPr/>
          </p:nvSpPr>
          <p:spPr>
            <a:xfrm>
              <a:off x="9329077" y="4555727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reject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28A997A-C0E0-2E44-BA25-0677C51C70D8}"/>
                </a:ext>
              </a:extLst>
            </p:cNvPr>
            <p:cNvSpPr/>
            <p:nvPr/>
          </p:nvSpPr>
          <p:spPr>
            <a:xfrm>
              <a:off x="7162803" y="3888962"/>
              <a:ext cx="1786460" cy="943944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FCDB39F-7A67-4649-98FA-ED43974686A2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0161195" y="4097393"/>
              <a:ext cx="464472" cy="118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3DFFE88-5ED6-6044-9361-330BDCC26132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10144261" y="4740393"/>
              <a:ext cx="4814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B659F75-4B22-BF43-BF96-E67E717A91B2}"/>
                </a:ext>
              </a:extLst>
            </p:cNvPr>
            <p:cNvSpPr txBox="1"/>
            <p:nvPr/>
          </p:nvSpPr>
          <p:spPr>
            <a:xfrm>
              <a:off x="10556736" y="4538793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accept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B3EF38B-DA7B-B348-A95C-F0C4C2A138B6}"/>
                </a:ext>
              </a:extLst>
            </p:cNvPr>
            <p:cNvSpPr txBox="1"/>
            <p:nvPr/>
          </p:nvSpPr>
          <p:spPr>
            <a:xfrm>
              <a:off x="10554356" y="3905894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reject</a:t>
              </a:r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CB7886C-88A2-D542-A809-DC8E663C5373}"/>
              </a:ext>
            </a:extLst>
          </p:cNvPr>
          <p:cNvSpPr txBox="1">
            <a:spLocks/>
          </p:cNvSpPr>
          <p:nvPr/>
        </p:nvSpPr>
        <p:spPr>
          <a:xfrm>
            <a:off x="2543395" y="1078100"/>
            <a:ext cx="6690253" cy="52148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u="sng" dirty="0">
                <a:solidFill>
                  <a:schemeClr val="tx1">
                    <a:lumMod val="95000"/>
                  </a:schemeClr>
                </a:solidFill>
              </a:rPr>
              <a:t>Step 3</a:t>
            </a:r>
            <a:r>
              <a:rPr lang="en-US" sz="2000" i="1" dirty="0">
                <a:solidFill>
                  <a:schemeClr val="tx1">
                    <a:lumMod val="95000"/>
                  </a:schemeClr>
                </a:solidFill>
              </a:rPr>
              <a:t>: Run the machine D with itself (D) as input. What happens?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54F9A2B4-7C95-8049-95BD-B5B1C63B9B89}"/>
              </a:ext>
            </a:extLst>
          </p:cNvPr>
          <p:cNvSpPr txBox="1">
            <a:spLocks/>
          </p:cNvSpPr>
          <p:nvPr/>
        </p:nvSpPr>
        <p:spPr>
          <a:xfrm>
            <a:off x="1141413" y="4730375"/>
            <a:ext cx="3286654" cy="167042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>
                <a:solidFill>
                  <a:schemeClr val="tx1">
                    <a:lumMod val="95000"/>
                  </a:schemeClr>
                </a:solidFill>
              </a:rPr>
              <a:t>Notice that D is running with itself as input in two places, once overall (green square) and once simulated inside of H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8A1A89E-853C-D745-A75E-53C2DC268B5C}"/>
              </a:ext>
            </a:extLst>
          </p:cNvPr>
          <p:cNvCxnSpPr>
            <a:cxnSpLocks/>
          </p:cNvCxnSpPr>
          <p:nvPr/>
        </p:nvCxnSpPr>
        <p:spPr>
          <a:xfrm flipH="1">
            <a:off x="2667001" y="2568110"/>
            <a:ext cx="731407" cy="20800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CD999AE-5855-7941-9B77-588715D9D7BA}"/>
              </a:ext>
            </a:extLst>
          </p:cNvPr>
          <p:cNvCxnSpPr>
            <a:cxnSpLocks/>
          </p:cNvCxnSpPr>
          <p:nvPr/>
        </p:nvCxnSpPr>
        <p:spPr>
          <a:xfrm flipH="1">
            <a:off x="2667000" y="3192949"/>
            <a:ext cx="2658533" cy="1455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D87C3EF6-5803-7740-BE1B-F7091445E530}"/>
              </a:ext>
            </a:extLst>
          </p:cNvPr>
          <p:cNvSpPr txBox="1">
            <a:spLocks/>
          </p:cNvSpPr>
          <p:nvPr/>
        </p:nvSpPr>
        <p:spPr>
          <a:xfrm>
            <a:off x="6865539" y="4648200"/>
            <a:ext cx="3858387" cy="167042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>
                <a:solidFill>
                  <a:schemeClr val="tx1">
                    <a:lumMod val="95000"/>
                  </a:schemeClr>
                </a:solidFill>
              </a:rPr>
              <a:t>Which means these outputs should match because they are the output of the exact same thing (D running on D as input)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A49E949-0EDD-B644-9363-8AD6004C0C20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8071780" y="3544392"/>
            <a:ext cx="722953" cy="11038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27528E9-5CC4-6645-B432-5AB111948DFA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8794733" y="3514094"/>
            <a:ext cx="679322" cy="113410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386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Some Comments on Machine D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F0750F0-20EE-8A48-A643-C4E0645E39BD}"/>
              </a:ext>
            </a:extLst>
          </p:cNvPr>
          <p:cNvGrpSpPr/>
          <p:nvPr/>
        </p:nvGrpSpPr>
        <p:grpSpPr>
          <a:xfrm>
            <a:off x="2125416" y="1691630"/>
            <a:ext cx="7937991" cy="2109904"/>
            <a:chOff x="5249592" y="3427296"/>
            <a:chExt cx="6122328" cy="16273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761EDCA-604F-0346-993C-DCA742D5C8A1}"/>
                </a:ext>
              </a:extLst>
            </p:cNvPr>
            <p:cNvSpPr/>
            <p:nvPr/>
          </p:nvSpPr>
          <p:spPr>
            <a:xfrm>
              <a:off x="6915679" y="3427296"/>
              <a:ext cx="3371322" cy="162730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DB7E8E-F388-D94E-9C9B-2FF9672F12C5}"/>
                </a:ext>
              </a:extLst>
            </p:cNvPr>
            <p:cNvSpPr txBox="1"/>
            <p:nvPr/>
          </p:nvSpPr>
          <p:spPr>
            <a:xfrm>
              <a:off x="6915678" y="3427296"/>
              <a:ext cx="359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9A7174-0E2C-7148-A092-DC419B542092}"/>
                </a:ext>
              </a:extLst>
            </p:cNvPr>
            <p:cNvSpPr txBox="1"/>
            <p:nvPr/>
          </p:nvSpPr>
          <p:spPr>
            <a:xfrm>
              <a:off x="5249592" y="3712737"/>
              <a:ext cx="1515275" cy="356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Input &lt;</a:t>
              </a:r>
              <a:r>
                <a:rPr lang="en-US" sz="2400" b="1" u="sng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  <a:r>
                <a:rPr lang="en-US" sz="240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B5D208E-C790-9D41-AB07-A7253C7E3354}"/>
                </a:ext>
              </a:extLst>
            </p:cNvPr>
            <p:cNvSpPr txBox="1"/>
            <p:nvPr/>
          </p:nvSpPr>
          <p:spPr>
            <a:xfrm>
              <a:off x="7135810" y="4218486"/>
              <a:ext cx="1593322" cy="356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H(&lt;</a:t>
              </a:r>
              <a:r>
                <a:rPr lang="en-US" sz="2400" b="1" u="sng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  <a:r>
                <a:rPr lang="en-US" sz="2400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 </a:t>
              </a:r>
              <a:r>
                <a:rPr lang="en-US" sz="2400" b="1" u="sng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</a:t>
              </a:r>
              <a:r>
                <a:rPr lang="en-US" sz="2400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&gt;)</a:t>
              </a:r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BFD7F514-B37B-2B45-99A8-C517F992F2FC}"/>
                </a:ext>
              </a:extLst>
            </p:cNvPr>
            <p:cNvCxnSpPr>
              <a:cxnSpLocks/>
            </p:cNvCxnSpPr>
            <p:nvPr/>
          </p:nvCxnSpPr>
          <p:spPr>
            <a:xfrm>
              <a:off x="6790268" y="3943570"/>
              <a:ext cx="1041400" cy="349030"/>
            </a:xfrm>
            <a:prstGeom prst="bentConnector3">
              <a:avLst>
                <a:gd name="adj1" fmla="val 9959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27D873C-A75F-3248-BF41-04DC0F7766B3}"/>
                </a:ext>
              </a:extLst>
            </p:cNvPr>
            <p:cNvCxnSpPr>
              <a:cxnSpLocks/>
            </p:cNvCxnSpPr>
            <p:nvPr/>
          </p:nvCxnSpPr>
          <p:spPr>
            <a:xfrm>
              <a:off x="7110560" y="3943570"/>
              <a:ext cx="1041400" cy="349030"/>
            </a:xfrm>
            <a:prstGeom prst="bentConnector3">
              <a:avLst>
                <a:gd name="adj1" fmla="val 9959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310842BA-B247-6741-9DC9-65773AB7A299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flipV="1">
              <a:off x="8729132" y="4114801"/>
              <a:ext cx="685801" cy="281720"/>
            </a:xfrm>
            <a:prstGeom prst="bentConnector3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lbow Connector 26">
              <a:extLst>
                <a:ext uri="{FF2B5EF4-FFF2-40B4-BE49-F238E27FC236}">
                  <a16:creationId xmlns:a16="http://schemas.microsoft.com/office/drawing/2014/main" id="{AEF6C99D-78BE-BC40-83FA-28C9441555CD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8729132" y="4396521"/>
              <a:ext cx="685801" cy="363664"/>
            </a:xfrm>
            <a:prstGeom prst="bentConnector3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9561BD3-18C2-1140-8030-9ACDE26F7773}"/>
                </a:ext>
              </a:extLst>
            </p:cNvPr>
            <p:cNvSpPr txBox="1"/>
            <p:nvPr/>
          </p:nvSpPr>
          <p:spPr>
            <a:xfrm>
              <a:off x="9346011" y="3912727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accept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D72C30-B448-1D4C-A011-D16D3223A32E}"/>
                </a:ext>
              </a:extLst>
            </p:cNvPr>
            <p:cNvSpPr txBox="1"/>
            <p:nvPr/>
          </p:nvSpPr>
          <p:spPr>
            <a:xfrm>
              <a:off x="9329077" y="4555727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tx1">
                      <a:lumMod val="9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reject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28A997A-C0E0-2E44-BA25-0677C51C70D8}"/>
                </a:ext>
              </a:extLst>
            </p:cNvPr>
            <p:cNvSpPr/>
            <p:nvPr/>
          </p:nvSpPr>
          <p:spPr>
            <a:xfrm>
              <a:off x="7162803" y="3888962"/>
              <a:ext cx="1786460" cy="943944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FCDB39F-7A67-4649-98FA-ED43974686A2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10161195" y="4097393"/>
              <a:ext cx="464472" cy="118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3DFFE88-5ED6-6044-9361-330BDCC26132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10144261" y="4740393"/>
              <a:ext cx="4814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B659F75-4B22-BF43-BF96-E67E717A91B2}"/>
                </a:ext>
              </a:extLst>
            </p:cNvPr>
            <p:cNvSpPr txBox="1"/>
            <p:nvPr/>
          </p:nvSpPr>
          <p:spPr>
            <a:xfrm>
              <a:off x="10556736" y="4538793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accept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B3EF38B-DA7B-B348-A95C-F0C4C2A138B6}"/>
                </a:ext>
              </a:extLst>
            </p:cNvPr>
            <p:cNvSpPr txBox="1"/>
            <p:nvPr/>
          </p:nvSpPr>
          <p:spPr>
            <a:xfrm>
              <a:off x="10554356" y="3905894"/>
              <a:ext cx="815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reject</a:t>
              </a:r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CB7886C-88A2-D542-A809-DC8E663C5373}"/>
              </a:ext>
            </a:extLst>
          </p:cNvPr>
          <p:cNvSpPr txBox="1">
            <a:spLocks/>
          </p:cNvSpPr>
          <p:nvPr/>
        </p:nvSpPr>
        <p:spPr>
          <a:xfrm>
            <a:off x="2543395" y="1078100"/>
            <a:ext cx="6690253" cy="52148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i="1" u="sng" dirty="0">
                <a:solidFill>
                  <a:schemeClr val="tx1">
                    <a:lumMod val="95000"/>
                  </a:schemeClr>
                </a:solidFill>
              </a:rPr>
              <a:t>Step 3</a:t>
            </a:r>
            <a:r>
              <a:rPr lang="en-US" sz="2000" i="1" dirty="0">
                <a:solidFill>
                  <a:schemeClr val="tx1">
                    <a:lumMod val="95000"/>
                  </a:schemeClr>
                </a:solidFill>
              </a:rPr>
              <a:t>: Run the machine D with itself (D) as input. What happens?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2">
                <a:extLst>
                  <a:ext uri="{FF2B5EF4-FFF2-40B4-BE49-F238E27FC236}">
                    <a16:creationId xmlns:a16="http://schemas.microsoft.com/office/drawing/2014/main" id="{54F9A2B4-7C95-8049-95BD-B5B1C63B9B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2853" y="4489230"/>
                <a:ext cx="8984720" cy="167042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2000" b="1" i="1" u="sng" dirty="0">
                    <a:solidFill>
                      <a:schemeClr val="tx1">
                        <a:lumMod val="95000"/>
                      </a:schemeClr>
                    </a:solidFill>
                  </a:rPr>
                  <a:t>Q.E.D</a:t>
                </a:r>
                <a:r>
                  <a:rPr lang="en-US" sz="2000" i="1" dirty="0">
                    <a:solidFill>
                      <a:schemeClr val="tx1">
                        <a:lumMod val="95000"/>
                      </a:schemeClr>
                    </a:solidFill>
                  </a:rPr>
                  <a:t>: This is a contradiction because if H exists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chemeClr val="tx1">
                        <a:lumMod val="95000"/>
                      </a:schemeClr>
                    </a:solidFill>
                  </a:rPr>
                  <a:t> is decidable), then there is at least one set of inputs where H produces the wrong answer (well, it cannot produce the right answer by definition).</a:t>
                </a:r>
              </a:p>
            </p:txBody>
          </p:sp>
        </mc:Choice>
        <mc:Fallback xmlns="">
          <p:sp>
            <p:nvSpPr>
              <p:cNvPr id="29" name="Content Placeholder 2">
                <a:extLst>
                  <a:ext uri="{FF2B5EF4-FFF2-40B4-BE49-F238E27FC236}">
                    <a16:creationId xmlns:a16="http://schemas.microsoft.com/office/drawing/2014/main" id="{54F9A2B4-7C95-8049-95BD-B5B1C63B9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853" y="4489230"/>
                <a:ext cx="8984720" cy="1670425"/>
              </a:xfrm>
              <a:prstGeom prst="rect">
                <a:avLst/>
              </a:prstGeom>
              <a:blipFill>
                <a:blip r:embed="rId2"/>
                <a:stretch>
                  <a:fillRect r="-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218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Do undecidable languages exist?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1141412" y="1026054"/>
            <a:ext cx="9905999" cy="57414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This is really a proof by diagonalization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3D01F3-CA6D-BB4E-8056-A11CE2760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999" y="2152668"/>
            <a:ext cx="6434667" cy="331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175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Do undecidable languages exist?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1141412" y="1026054"/>
            <a:ext cx="9905999" cy="57414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This is really a proof by diagonalization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C49111-D986-FB42-BE2D-3BC7982C0573}"/>
              </a:ext>
            </a:extLst>
          </p:cNvPr>
          <p:cNvSpPr txBox="1">
            <a:spLocks/>
          </p:cNvSpPr>
          <p:nvPr/>
        </p:nvSpPr>
        <p:spPr>
          <a:xfrm>
            <a:off x="222777" y="1836483"/>
            <a:ext cx="2270656" cy="171528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>
                <a:solidFill>
                  <a:schemeClr val="tx1">
                    <a:lumMod val="95000"/>
                  </a:schemeClr>
                </a:solidFill>
              </a:rPr>
              <a:t>Each entry is a machine’s output when another machine’s description is given as input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2E3D0B-7EF4-BC4C-9348-7619F798B687}"/>
              </a:ext>
            </a:extLst>
          </p:cNvPr>
          <p:cNvSpPr txBox="1">
            <a:spLocks/>
          </p:cNvSpPr>
          <p:nvPr/>
        </p:nvSpPr>
        <p:spPr>
          <a:xfrm>
            <a:off x="2076977" y="5875867"/>
            <a:ext cx="6211890" cy="83421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>
                <a:solidFill>
                  <a:schemeClr val="accent1"/>
                </a:solidFill>
              </a:rPr>
              <a:t>D is defined to be the machine that has the opposite output from the corresponding diagonal (see green outlines)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15B6E7F-06F4-454B-802C-841BFCC6E77E}"/>
              </a:ext>
            </a:extLst>
          </p:cNvPr>
          <p:cNvGrpSpPr/>
          <p:nvPr/>
        </p:nvGrpSpPr>
        <p:grpSpPr>
          <a:xfrm>
            <a:off x="2362197" y="2152668"/>
            <a:ext cx="6866466" cy="3314152"/>
            <a:chOff x="2362200" y="2152668"/>
            <a:chExt cx="6866466" cy="331415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93D01F3-CA6D-BB4E-8056-A11CE2760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93999" y="2152668"/>
              <a:ext cx="6434667" cy="3314152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C0F791A-D53F-DA47-B97A-773F5970EE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62200" y="2607733"/>
              <a:ext cx="262466" cy="1727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07B185-16A1-E643-88A7-8DAD101D8881}"/>
                </a:ext>
              </a:extLst>
            </p:cNvPr>
            <p:cNvSpPr/>
            <p:nvPr/>
          </p:nvSpPr>
          <p:spPr>
            <a:xfrm>
              <a:off x="3496734" y="4377266"/>
              <a:ext cx="719666" cy="30981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C5A0151-DA7D-A24D-8E30-AF5BA67BF1CC}"/>
                </a:ext>
              </a:extLst>
            </p:cNvPr>
            <p:cNvSpPr/>
            <p:nvPr/>
          </p:nvSpPr>
          <p:spPr>
            <a:xfrm>
              <a:off x="4385733" y="4377266"/>
              <a:ext cx="719666" cy="30981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B5D6ADD-BC19-7C46-8C3B-31597DD60EE6}"/>
                </a:ext>
              </a:extLst>
            </p:cNvPr>
            <p:cNvSpPr/>
            <p:nvPr/>
          </p:nvSpPr>
          <p:spPr>
            <a:xfrm>
              <a:off x="5333999" y="4377266"/>
              <a:ext cx="719666" cy="30981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C458BE-2C72-B24D-AE18-4103B019736D}"/>
                </a:ext>
              </a:extLst>
            </p:cNvPr>
            <p:cNvSpPr/>
            <p:nvPr/>
          </p:nvSpPr>
          <p:spPr>
            <a:xfrm>
              <a:off x="6256865" y="4377266"/>
              <a:ext cx="719666" cy="30981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A8E8968-CCF3-104D-BC95-C9CDD6E45FB3}"/>
                </a:ext>
              </a:extLst>
            </p:cNvPr>
            <p:cNvSpPr/>
            <p:nvPr/>
          </p:nvSpPr>
          <p:spPr>
            <a:xfrm>
              <a:off x="7742765" y="4377266"/>
              <a:ext cx="719666" cy="30981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C4BD289-EEA6-6E46-B97A-4580B5F6497F}"/>
                </a:ext>
              </a:extLst>
            </p:cNvPr>
            <p:cNvSpPr/>
            <p:nvPr/>
          </p:nvSpPr>
          <p:spPr>
            <a:xfrm>
              <a:off x="3496734" y="2530749"/>
              <a:ext cx="719666" cy="30981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08D4BA-14A5-F149-9833-DA205483ADCA}"/>
                </a:ext>
              </a:extLst>
            </p:cNvPr>
            <p:cNvSpPr/>
            <p:nvPr/>
          </p:nvSpPr>
          <p:spPr>
            <a:xfrm>
              <a:off x="4411134" y="2822446"/>
              <a:ext cx="719666" cy="30981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E625740-ECAB-DC4E-9196-32D94BAF4FA2}"/>
                </a:ext>
              </a:extLst>
            </p:cNvPr>
            <p:cNvSpPr/>
            <p:nvPr/>
          </p:nvSpPr>
          <p:spPr>
            <a:xfrm>
              <a:off x="5321829" y="3129754"/>
              <a:ext cx="719666" cy="30981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9D2EA2E-249D-6748-B9EE-1838BB8E5A4D}"/>
                </a:ext>
              </a:extLst>
            </p:cNvPr>
            <p:cNvSpPr/>
            <p:nvPr/>
          </p:nvSpPr>
          <p:spPr>
            <a:xfrm>
              <a:off x="6256865" y="3460101"/>
              <a:ext cx="719666" cy="30981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F0CD3B5-8CB7-3F41-8149-D30B6E5CF183}"/>
                </a:ext>
              </a:extLst>
            </p:cNvPr>
            <p:cNvCxnSpPr>
              <a:cxnSpLocks/>
              <a:stCxn id="14" idx="2"/>
              <a:endCxn id="4" idx="0"/>
            </p:cNvCxnSpPr>
            <p:nvPr/>
          </p:nvCxnSpPr>
          <p:spPr>
            <a:xfrm>
              <a:off x="3856567" y="2840565"/>
              <a:ext cx="0" cy="15367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5320CE4-7DD1-3E46-98C9-6FADBDF83FAF}"/>
                </a:ext>
              </a:extLst>
            </p:cNvPr>
            <p:cNvCxnSpPr>
              <a:cxnSpLocks/>
              <a:stCxn id="15" idx="2"/>
              <a:endCxn id="10" idx="0"/>
            </p:cNvCxnSpPr>
            <p:nvPr/>
          </p:nvCxnSpPr>
          <p:spPr>
            <a:xfrm flipH="1">
              <a:off x="4745566" y="3132262"/>
              <a:ext cx="25401" cy="12450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C1F1F83-AEF8-4B48-BA49-AE34CDAABAB9}"/>
                </a:ext>
              </a:extLst>
            </p:cNvPr>
            <p:cNvCxnSpPr>
              <a:cxnSpLocks/>
              <a:stCxn id="16" idx="2"/>
              <a:endCxn id="11" idx="0"/>
            </p:cNvCxnSpPr>
            <p:nvPr/>
          </p:nvCxnSpPr>
          <p:spPr>
            <a:xfrm>
              <a:off x="5681662" y="3439570"/>
              <a:ext cx="12170" cy="9376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DBBB999-F63B-DC4E-B306-63E465B0AA8C}"/>
                </a:ext>
              </a:extLst>
            </p:cNvPr>
            <p:cNvCxnSpPr>
              <a:cxnSpLocks/>
              <a:stCxn id="17" idx="2"/>
              <a:endCxn id="12" idx="0"/>
            </p:cNvCxnSpPr>
            <p:nvPr/>
          </p:nvCxnSpPr>
          <p:spPr>
            <a:xfrm>
              <a:off x="6616698" y="3769917"/>
              <a:ext cx="0" cy="6073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>
              <a:extLst>
                <a:ext uri="{FF2B5EF4-FFF2-40B4-BE49-F238E27FC236}">
                  <a16:creationId xmlns:a16="http://schemas.microsoft.com/office/drawing/2014/main" id="{49F181D4-3AA3-F24D-B9A8-874AB33670D5}"/>
                </a:ext>
              </a:extLst>
            </p:cNvPr>
            <p:cNvCxnSpPr>
              <a:cxnSpLocks/>
              <a:stCxn id="13" idx="0"/>
              <a:endCxn id="13" idx="3"/>
            </p:cNvCxnSpPr>
            <p:nvPr/>
          </p:nvCxnSpPr>
          <p:spPr>
            <a:xfrm rot="16200000" flipH="1">
              <a:off x="8205060" y="4274804"/>
              <a:ext cx="154908" cy="359833"/>
            </a:xfrm>
            <a:prstGeom prst="bentConnector4">
              <a:avLst>
                <a:gd name="adj1" fmla="val -306075"/>
                <a:gd name="adj2" fmla="val 60117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0105D33D-C935-7D4B-97F9-ACCFB901ECFA}"/>
              </a:ext>
            </a:extLst>
          </p:cNvPr>
          <p:cNvSpPr txBox="1">
            <a:spLocks/>
          </p:cNvSpPr>
          <p:nvPr/>
        </p:nvSpPr>
        <p:spPr>
          <a:xfrm>
            <a:off x="9527645" y="2051183"/>
            <a:ext cx="2274887" cy="193343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i="1" dirty="0">
                <a:solidFill>
                  <a:schemeClr val="accent1"/>
                </a:solidFill>
              </a:rPr>
              <a:t>But this entry has to be both accept and reject at the same time, leading to the contradiction</a:t>
            </a:r>
          </a:p>
        </p:txBody>
      </p:sp>
    </p:spTree>
    <p:extLst>
      <p:ext uri="{BB962C8B-B14F-4D97-AF65-F5344CB8AC3E}">
        <p14:creationId xmlns:p14="http://schemas.microsoft.com/office/powerpoint/2010/main" val="3242976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Do undecidable languages exist?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745642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Theorem</a:t>
                </a:r>
                <a:r>
                  <a:rPr lang="en-US" dirty="0">
                    <a:solidFill>
                      <a:schemeClr val="bg1"/>
                    </a:solidFill>
                  </a:rPr>
                  <a:t>: The language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𝑎𝑐𝑐𝑒𝑝𝑡𝑠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undecidable.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745642"/>
                <a:ext cx="9905999" cy="1089328"/>
              </a:xfrm>
              <a:blipFill>
                <a:blip r:embed="rId2"/>
                <a:stretch>
                  <a:fillRect l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1141412" y="2888722"/>
            <a:ext cx="9905999" cy="71807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Thus it is proven, and there is at least one undecidable language</a:t>
            </a:r>
          </a:p>
        </p:txBody>
      </p:sp>
    </p:spTree>
    <p:extLst>
      <p:ext uri="{BB962C8B-B14F-4D97-AF65-F5344CB8AC3E}">
        <p14:creationId xmlns:p14="http://schemas.microsoft.com/office/powerpoint/2010/main" val="3007731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 3: Non-Recognizable Languages?</a:t>
            </a:r>
          </a:p>
        </p:txBody>
      </p:sp>
    </p:spTree>
    <p:extLst>
      <p:ext uri="{BB962C8B-B14F-4D97-AF65-F5344CB8AC3E}">
        <p14:creationId xmlns:p14="http://schemas.microsoft.com/office/powerpoint/2010/main" val="716789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Non-Turing Recognizability?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8F5F-F936-6145-9FF8-704886F1A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01920"/>
            <a:ext cx="9905999" cy="62564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Is it possible to find languages that are NOT Turing recognizable?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1565361" y="3615272"/>
            <a:ext cx="3754784" cy="123104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Yes, but we will need to discuss the idea of the complement of a language first.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B65DED-4FA8-9147-ABAD-D996B70B8C90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3442753" y="2510444"/>
            <a:ext cx="630483" cy="11048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062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Definition: Complement of a Language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169906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The </a:t>
                </a:r>
                <a:r>
                  <a:rPr lang="en-US" b="1" i="1" u="sng" dirty="0">
                    <a:solidFill>
                      <a:schemeClr val="bg1"/>
                    </a:solidFill>
                  </a:rPr>
                  <a:t>complement</a:t>
                </a:r>
                <a:r>
                  <a:rPr lang="en-US" dirty="0">
                    <a:solidFill>
                      <a:schemeClr val="bg1"/>
                    </a:solidFill>
                  </a:rPr>
                  <a:t> of a language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the set of strings that do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. In other words,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169906"/>
                <a:ext cx="9905999" cy="1089328"/>
              </a:xfrm>
              <a:blipFill>
                <a:blip r:embed="rId2"/>
                <a:stretch>
                  <a:fillRect l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1141412" y="2443178"/>
            <a:ext cx="5246348" cy="51024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Some Examples: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7D06038-CEB6-DC4F-B1DB-4046CEB2DE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1385" y="3080983"/>
                <a:ext cx="1423988" cy="51024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7D06038-CEB6-DC4F-B1DB-4046CEB2D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385" y="3080983"/>
                <a:ext cx="1423988" cy="510244"/>
              </a:xfrm>
              <a:prstGeom prst="rect">
                <a:avLst/>
              </a:prstGeom>
              <a:blipFill>
                <a:blip r:embed="rId3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860658E9-7555-624A-9364-37C71ACBFE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76078" y="3080983"/>
                <a:ext cx="1423988" cy="51024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</m:oMath>
                  </m:oMathPara>
                </a14:m>
                <a:endParaRPr lang="en-US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860658E9-7555-624A-9364-37C71ACBF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078" y="3080983"/>
                <a:ext cx="1423988" cy="510244"/>
              </a:xfrm>
              <a:prstGeom prst="rect">
                <a:avLst/>
              </a:prstGeom>
              <a:blipFill>
                <a:blip r:embed="rId4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62FAAF1-38EA-8147-A3D5-FBD79F475D64}"/>
              </a:ext>
            </a:extLst>
          </p:cNvPr>
          <p:cNvSpPr txBox="1">
            <a:spLocks/>
          </p:cNvSpPr>
          <p:nvPr/>
        </p:nvSpPr>
        <p:spPr>
          <a:xfrm>
            <a:off x="1141412" y="3634121"/>
            <a:ext cx="4658255" cy="51024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Strings containing less than ten 1’s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4BD8D14-C749-3A47-91FB-9E6BC61EC702}"/>
              </a:ext>
            </a:extLst>
          </p:cNvPr>
          <p:cNvSpPr txBox="1">
            <a:spLocks/>
          </p:cNvSpPr>
          <p:nvPr/>
        </p:nvSpPr>
        <p:spPr>
          <a:xfrm>
            <a:off x="5958945" y="3634122"/>
            <a:ext cx="4658255" cy="51024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Strings containing ten or more 1’s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FC58D8B-1236-AF43-913E-ECC9D94EA5CB}"/>
              </a:ext>
            </a:extLst>
          </p:cNvPr>
          <p:cNvSpPr txBox="1">
            <a:spLocks/>
          </p:cNvSpPr>
          <p:nvPr/>
        </p:nvSpPr>
        <p:spPr>
          <a:xfrm>
            <a:off x="1141412" y="4333596"/>
            <a:ext cx="4658255" cy="51024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DFA &lt;D&gt; accepts string &lt;w&gt;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84E35DA-A24D-974A-BC11-665FBB31A7F2}"/>
              </a:ext>
            </a:extLst>
          </p:cNvPr>
          <p:cNvSpPr txBox="1">
            <a:spLocks/>
          </p:cNvSpPr>
          <p:nvPr/>
        </p:nvSpPr>
        <p:spPr>
          <a:xfrm>
            <a:off x="5958945" y="4333597"/>
            <a:ext cx="4658255" cy="51024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DFA &lt;D&gt; rejects string &lt;w&gt;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B689D5D-1519-AF40-BFA0-47A37FA733E1}"/>
              </a:ext>
            </a:extLst>
          </p:cNvPr>
          <p:cNvSpPr txBox="1">
            <a:spLocks/>
          </p:cNvSpPr>
          <p:nvPr/>
        </p:nvSpPr>
        <p:spPr>
          <a:xfrm>
            <a:off x="1141412" y="5033071"/>
            <a:ext cx="4658255" cy="51024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TM &lt;M&gt; halts on input &lt;w&gt;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76ADD65-1985-944F-9EB6-24B0C903DD89}"/>
              </a:ext>
            </a:extLst>
          </p:cNvPr>
          <p:cNvSpPr txBox="1">
            <a:spLocks/>
          </p:cNvSpPr>
          <p:nvPr/>
        </p:nvSpPr>
        <p:spPr>
          <a:xfrm>
            <a:off x="5958945" y="5033072"/>
            <a:ext cx="4658255" cy="51024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TM &lt;M&gt; loops forever on input &lt;w&gt;</a:t>
            </a:r>
          </a:p>
        </p:txBody>
      </p:sp>
    </p:spTree>
    <p:extLst>
      <p:ext uri="{BB962C8B-B14F-4D97-AF65-F5344CB8AC3E}">
        <p14:creationId xmlns:p14="http://schemas.microsoft.com/office/powerpoint/2010/main" val="32611092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More on complements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1C36DA-CABD-004A-B03B-891AFD28712B}"/>
              </a:ext>
            </a:extLst>
          </p:cNvPr>
          <p:cNvGrpSpPr/>
          <p:nvPr/>
        </p:nvGrpSpPr>
        <p:grpSpPr>
          <a:xfrm>
            <a:off x="279402" y="2406143"/>
            <a:ext cx="11612880" cy="3541904"/>
            <a:chOff x="457200" y="2609346"/>
            <a:chExt cx="11612880" cy="354190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ABC8F2D-2D8D-AE48-86D4-EA929FF28D3B}"/>
                </a:ext>
              </a:extLst>
            </p:cNvPr>
            <p:cNvSpPr/>
            <p:nvPr/>
          </p:nvSpPr>
          <p:spPr>
            <a:xfrm>
              <a:off x="457200" y="3081528"/>
              <a:ext cx="2779776" cy="19747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Some Turing Machine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Executes on input / tape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B366BFA-E1E7-8C49-B2E6-32E599F3CAB9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3236976" y="2919891"/>
              <a:ext cx="457200" cy="11490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D326D52-1F44-3846-A9A1-1996B4A1AFA5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3236976" y="4068894"/>
              <a:ext cx="45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E97FA14-9454-2647-A94E-50F3E1916F49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3236976" y="4068894"/>
              <a:ext cx="530352" cy="10440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3714B189-6BDE-7C4C-B32B-6A489BB7CDBC}"/>
                </a:ext>
              </a:extLst>
            </p:cNvPr>
            <p:cNvSpPr txBox="1">
              <a:spLocks/>
            </p:cNvSpPr>
            <p:nvPr/>
          </p:nvSpPr>
          <p:spPr>
            <a:xfrm>
              <a:off x="3666744" y="2609346"/>
              <a:ext cx="4206240" cy="484281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800" b="1" u="sng" dirty="0">
                  <a:solidFill>
                    <a:schemeClr val="tx1">
                      <a:lumMod val="95000"/>
                    </a:schemeClr>
                  </a:solidFill>
                </a:rPr>
                <a:t>Accept</a:t>
              </a:r>
              <a:r>
                <a:rPr lang="en-US" sz="1800" i="1" dirty="0">
                  <a:solidFill>
                    <a:schemeClr val="tx1">
                      <a:lumMod val="95000"/>
                    </a:schemeClr>
                  </a:solidFill>
                </a:rPr>
                <a:t>: Input on tape is in language</a:t>
              </a:r>
            </a:p>
          </p:txBody>
        </p:sp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79B45B96-E9A9-1E46-BE0F-47CFCC045CB5}"/>
                </a:ext>
              </a:extLst>
            </p:cNvPr>
            <p:cNvSpPr txBox="1">
              <a:spLocks/>
            </p:cNvSpPr>
            <p:nvPr/>
          </p:nvSpPr>
          <p:spPr>
            <a:xfrm>
              <a:off x="3703320" y="3826753"/>
              <a:ext cx="4206240" cy="484281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800" b="1" u="sng" dirty="0">
                  <a:solidFill>
                    <a:schemeClr val="tx1">
                      <a:lumMod val="95000"/>
                    </a:schemeClr>
                  </a:solidFill>
                </a:rPr>
                <a:t>Reject</a:t>
              </a:r>
              <a:r>
                <a:rPr lang="en-US" sz="1800" i="1" dirty="0">
                  <a:solidFill>
                    <a:schemeClr val="tx1">
                      <a:lumMod val="95000"/>
                    </a:schemeClr>
                  </a:solidFill>
                </a:rPr>
                <a:t>: Input on tape is NOT in language</a:t>
              </a:r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56471E9F-FD78-4B4F-B5A7-77AEE8EBCF3E}"/>
                </a:ext>
              </a:extLst>
            </p:cNvPr>
            <p:cNvSpPr txBox="1">
              <a:spLocks/>
            </p:cNvSpPr>
            <p:nvPr/>
          </p:nvSpPr>
          <p:spPr>
            <a:xfrm>
              <a:off x="3712464" y="5067195"/>
              <a:ext cx="4206240" cy="583797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800" b="1" u="sng" dirty="0">
                  <a:solidFill>
                    <a:schemeClr val="tx1">
                      <a:lumMod val="95000"/>
                    </a:schemeClr>
                  </a:solidFill>
                </a:rPr>
                <a:t>Loop</a:t>
              </a:r>
              <a:r>
                <a:rPr lang="en-US" sz="1800" i="1" dirty="0">
                  <a:solidFill>
                    <a:schemeClr val="tx1">
                      <a:lumMod val="95000"/>
                    </a:schemeClr>
                  </a:solidFill>
                </a:rPr>
                <a:t>: TM runs forever, never reaching accept or reject state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18786C1-802C-F04A-86FD-DA679166C193}"/>
                </a:ext>
              </a:extLst>
            </p:cNvPr>
            <p:cNvSpPr/>
            <p:nvPr/>
          </p:nvSpPr>
          <p:spPr>
            <a:xfrm>
              <a:off x="3749040" y="2609346"/>
              <a:ext cx="3877056" cy="15986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D3AA05EC-4869-1348-8DBA-536C26FC9B4E}"/>
                </a:ext>
              </a:extLst>
            </p:cNvPr>
            <p:cNvSpPr txBox="1">
              <a:spLocks/>
            </p:cNvSpPr>
            <p:nvPr/>
          </p:nvSpPr>
          <p:spPr>
            <a:xfrm>
              <a:off x="7872984" y="3014461"/>
              <a:ext cx="4087368" cy="679329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txBody>
            <a:bodyPr vert="horz" lIns="91440" tIns="45720" rIns="91440" bIns="45720" rtlCol="0"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</a:rPr>
                <a:t>In language above, Accepts (Yes) is easy because if machine halts we are sure it is a Yes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5B60A1-9A83-5042-AB5E-36CE7656BEF3}"/>
                </a:ext>
              </a:extLst>
            </p:cNvPr>
            <p:cNvSpPr/>
            <p:nvPr/>
          </p:nvSpPr>
          <p:spPr>
            <a:xfrm>
              <a:off x="3749040" y="4937249"/>
              <a:ext cx="4123944" cy="8783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ontent Placeholder 2">
              <a:extLst>
                <a:ext uri="{FF2B5EF4-FFF2-40B4-BE49-F238E27FC236}">
                  <a16:creationId xmlns:a16="http://schemas.microsoft.com/office/drawing/2014/main" id="{94831E3E-9F77-E444-94ED-AFE6C3708CFD}"/>
                </a:ext>
              </a:extLst>
            </p:cNvPr>
            <p:cNvSpPr txBox="1">
              <a:spLocks/>
            </p:cNvSpPr>
            <p:nvPr/>
          </p:nvSpPr>
          <p:spPr>
            <a:xfrm>
              <a:off x="7955280" y="4752053"/>
              <a:ext cx="4114800" cy="1399197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</a:rPr>
                <a:t>However, detecting the Looping Forever case is difficult to ascertain. Is the machine just taking a long time?</a:t>
              </a:r>
            </a:p>
          </p:txBody>
        </p:sp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E87F3DD-9F24-754C-A415-829ED11735D6}"/>
              </a:ext>
            </a:extLst>
          </p:cNvPr>
          <p:cNvSpPr txBox="1">
            <a:spLocks/>
          </p:cNvSpPr>
          <p:nvPr/>
        </p:nvSpPr>
        <p:spPr>
          <a:xfrm>
            <a:off x="3644053" y="1109855"/>
            <a:ext cx="4658255" cy="51024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TM &lt;M&gt; halts on input &lt;w&gt;</a:t>
            </a:r>
          </a:p>
        </p:txBody>
      </p:sp>
    </p:spTree>
    <p:extLst>
      <p:ext uri="{BB962C8B-B14F-4D97-AF65-F5344CB8AC3E}">
        <p14:creationId xmlns:p14="http://schemas.microsoft.com/office/powerpoint/2010/main" val="9526562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More on complements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BC8F2D-2D8D-AE48-86D4-EA929FF28D3B}"/>
              </a:ext>
            </a:extLst>
          </p:cNvPr>
          <p:cNvSpPr/>
          <p:nvPr/>
        </p:nvSpPr>
        <p:spPr>
          <a:xfrm>
            <a:off x="279402" y="2878325"/>
            <a:ext cx="2779776" cy="19747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Some Turing Machine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Executes on input / tape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B366BFA-E1E7-8C49-B2E6-32E599F3CAB9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3059178" y="2673752"/>
            <a:ext cx="1397075" cy="1191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326D52-1F44-3846-A9A1-1996B4A1AFA5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059178" y="3865691"/>
            <a:ext cx="1397075" cy="6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97FA14-9454-2647-A94E-50F3E1916F49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059178" y="3865691"/>
            <a:ext cx="530352" cy="1044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14B189-6BDE-7C4C-B32B-6A489BB7CDBC}"/>
              </a:ext>
            </a:extLst>
          </p:cNvPr>
          <p:cNvSpPr txBox="1">
            <a:spLocks/>
          </p:cNvSpPr>
          <p:nvPr/>
        </p:nvSpPr>
        <p:spPr>
          <a:xfrm>
            <a:off x="4576967" y="2412943"/>
            <a:ext cx="2513921" cy="48428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u="sng" dirty="0">
                <a:solidFill>
                  <a:schemeClr val="tx1">
                    <a:lumMod val="95000"/>
                  </a:schemeClr>
                </a:solidFill>
              </a:rPr>
              <a:t>Accept</a:t>
            </a:r>
            <a:r>
              <a:rPr lang="en-US" sz="1800" i="1" dirty="0">
                <a:solidFill>
                  <a:schemeClr val="tx1">
                    <a:lumMod val="95000"/>
                  </a:schemeClr>
                </a:solidFill>
              </a:rPr>
              <a:t>: Input in language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9B45B96-E9A9-1E46-BE0F-47CFCC045CB5}"/>
              </a:ext>
            </a:extLst>
          </p:cNvPr>
          <p:cNvSpPr txBox="1">
            <a:spLocks/>
          </p:cNvSpPr>
          <p:nvPr/>
        </p:nvSpPr>
        <p:spPr>
          <a:xfrm>
            <a:off x="4560103" y="3623550"/>
            <a:ext cx="3066631" cy="48428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u="sng" dirty="0">
                <a:solidFill>
                  <a:schemeClr val="tx1">
                    <a:lumMod val="95000"/>
                  </a:schemeClr>
                </a:solidFill>
              </a:rPr>
              <a:t>Reject</a:t>
            </a:r>
            <a:r>
              <a:rPr lang="en-US" sz="1800" i="1" dirty="0">
                <a:solidFill>
                  <a:schemeClr val="tx1">
                    <a:lumMod val="95000"/>
                  </a:schemeClr>
                </a:solidFill>
              </a:rPr>
              <a:t>: Input Not in language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6471E9F-FD78-4B4F-B5A7-77AEE8EBCF3E}"/>
              </a:ext>
            </a:extLst>
          </p:cNvPr>
          <p:cNvSpPr txBox="1">
            <a:spLocks/>
          </p:cNvSpPr>
          <p:nvPr/>
        </p:nvSpPr>
        <p:spPr>
          <a:xfrm>
            <a:off x="3534666" y="4863992"/>
            <a:ext cx="2298867" cy="58379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u="sng" dirty="0">
                <a:solidFill>
                  <a:schemeClr val="tx1">
                    <a:lumMod val="95000"/>
                  </a:schemeClr>
                </a:solidFill>
              </a:rPr>
              <a:t>Loop</a:t>
            </a:r>
            <a:r>
              <a:rPr lang="en-US" sz="1800" i="1" dirty="0">
                <a:solidFill>
                  <a:schemeClr val="tx1">
                    <a:lumMod val="95000"/>
                  </a:schemeClr>
                </a:solidFill>
              </a:rPr>
              <a:t>: TM runs forever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8786C1-802C-F04A-86FD-DA679166C193}"/>
              </a:ext>
            </a:extLst>
          </p:cNvPr>
          <p:cNvSpPr/>
          <p:nvPr/>
        </p:nvSpPr>
        <p:spPr>
          <a:xfrm>
            <a:off x="4560103" y="2443905"/>
            <a:ext cx="2774024" cy="17684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3AA05EC-4869-1348-8DBA-536C26FC9B4E}"/>
              </a:ext>
            </a:extLst>
          </p:cNvPr>
          <p:cNvSpPr txBox="1">
            <a:spLocks/>
          </p:cNvSpPr>
          <p:nvPr/>
        </p:nvSpPr>
        <p:spPr>
          <a:xfrm>
            <a:off x="7548838" y="2986727"/>
            <a:ext cx="2584708" cy="679329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Now, Rejecting (No) is easy. If we halt then we output Reject (No).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5B60A1-9A83-5042-AB5E-36CE7656BEF3}"/>
              </a:ext>
            </a:extLst>
          </p:cNvPr>
          <p:cNvSpPr/>
          <p:nvPr/>
        </p:nvSpPr>
        <p:spPr>
          <a:xfrm>
            <a:off x="3395814" y="4909712"/>
            <a:ext cx="2601633" cy="4199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4831E3E-9F77-E444-94ED-AFE6C3708CFD}"/>
              </a:ext>
            </a:extLst>
          </p:cNvPr>
          <p:cNvSpPr txBox="1">
            <a:spLocks/>
          </p:cNvSpPr>
          <p:nvPr/>
        </p:nvSpPr>
        <p:spPr>
          <a:xfrm>
            <a:off x="6094411" y="4863992"/>
            <a:ext cx="3938589" cy="179080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Now, distinguishing between Halt (Yes) and Looping Forever is hard. Is the machine just taking a long time and we should really reject or is it actually looping forever?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5B37190-75FC-2B4E-BA23-8CEC1B5743AC}"/>
              </a:ext>
            </a:extLst>
          </p:cNvPr>
          <p:cNvSpPr txBox="1">
            <a:spLocks/>
          </p:cNvSpPr>
          <p:nvPr/>
        </p:nvSpPr>
        <p:spPr>
          <a:xfrm>
            <a:off x="3765284" y="1131780"/>
            <a:ext cx="4658255" cy="51024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TM &lt;M&gt; loops forever on input &lt;w&gt;</a:t>
            </a:r>
          </a:p>
        </p:txBody>
      </p:sp>
    </p:spTree>
    <p:extLst>
      <p:ext uri="{BB962C8B-B14F-4D97-AF65-F5344CB8AC3E}">
        <p14:creationId xmlns:p14="http://schemas.microsoft.com/office/powerpoint/2010/main" val="28506954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Co-Turing Recognizable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559371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A language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</a:t>
                </a:r>
                <a:r>
                  <a:rPr lang="en-US" b="1" i="1" u="sng" dirty="0">
                    <a:solidFill>
                      <a:schemeClr val="bg1"/>
                    </a:solidFill>
                  </a:rPr>
                  <a:t>co-Turing recognizable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</a:rPr>
                  <a:t>iff</a:t>
                </a:r>
                <a:r>
                  <a:rPr lang="en-US" dirty="0">
                    <a:solidFill>
                      <a:schemeClr val="bg1"/>
                    </a:solidFill>
                  </a:rPr>
                  <a:t> the complement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Turing recognizable.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559371"/>
                <a:ext cx="9905999" cy="1089328"/>
              </a:xfrm>
              <a:blipFill>
                <a:blip r:embed="rId2"/>
                <a:stretch>
                  <a:fillRect l="-896"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1AB4AE0-9143-C34D-B965-4033C921D6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47498" y="3542470"/>
                <a:ext cx="903519" cy="53201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1AB4AE0-9143-C34D-B965-4033C921D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498" y="3542470"/>
                <a:ext cx="903519" cy="532015"/>
              </a:xfrm>
              <a:prstGeom prst="rect">
                <a:avLst/>
              </a:prstGeom>
              <a:blipFill>
                <a:blip r:embed="rId3"/>
                <a:stretch>
                  <a:fillRect l="-1389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756979-541C-0E42-BE30-E8C94C02BE31}"/>
              </a:ext>
            </a:extLst>
          </p:cNvPr>
          <p:cNvSpPr txBox="1">
            <a:spLocks/>
          </p:cNvSpPr>
          <p:nvPr/>
        </p:nvSpPr>
        <p:spPr>
          <a:xfrm>
            <a:off x="1141412" y="4074485"/>
            <a:ext cx="2715693" cy="106278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TM &lt;M&gt; loops forever on input &lt;w&gt;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E12B559-DFF0-EC44-8280-EC5D40183C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82436" y="3542470"/>
                <a:ext cx="903519" cy="532015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acc>
                    </m:oMath>
                  </m:oMathPara>
                </a14:m>
                <a:endParaRPr lang="en-US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E12B559-DFF0-EC44-8280-EC5D40183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436" y="3542470"/>
                <a:ext cx="903519" cy="532015"/>
              </a:xfrm>
              <a:prstGeom prst="rect">
                <a:avLst/>
              </a:prstGeom>
              <a:blipFill>
                <a:blip r:embed="rId4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A839B4F-548C-0B4E-B367-1BD4B0C1D8D5}"/>
              </a:ext>
            </a:extLst>
          </p:cNvPr>
          <p:cNvSpPr txBox="1">
            <a:spLocks/>
          </p:cNvSpPr>
          <p:nvPr/>
        </p:nvSpPr>
        <p:spPr>
          <a:xfrm>
            <a:off x="4976350" y="4074485"/>
            <a:ext cx="2715693" cy="106278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TM &lt;M&gt; halts on input &lt;w&gt;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F7287F-A0FE-0A4F-8E12-02B67316625A}"/>
              </a:ext>
            </a:extLst>
          </p:cNvPr>
          <p:cNvSpPr txBox="1">
            <a:spLocks/>
          </p:cNvSpPr>
          <p:nvPr/>
        </p:nvSpPr>
        <p:spPr>
          <a:xfrm>
            <a:off x="8935978" y="4073860"/>
            <a:ext cx="2111433" cy="106340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Is recognizable as shown earlier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C59843D9-C1F7-694C-A64C-1B2CE7D47F5F}"/>
              </a:ext>
            </a:extLst>
          </p:cNvPr>
          <p:cNvSpPr/>
          <p:nvPr/>
        </p:nvSpPr>
        <p:spPr>
          <a:xfrm>
            <a:off x="4031673" y="4447309"/>
            <a:ext cx="839585" cy="274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17F8ADEC-59A4-A247-BE91-D2B7B3634D9E}"/>
              </a:ext>
            </a:extLst>
          </p:cNvPr>
          <p:cNvSpPr/>
          <p:nvPr/>
        </p:nvSpPr>
        <p:spPr>
          <a:xfrm>
            <a:off x="7880261" y="4447309"/>
            <a:ext cx="839585" cy="2743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54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Another way to define decidability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8F5F-F936-6145-9FF8-704886F1A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59371"/>
            <a:ext cx="9905999" cy="108932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is decidable if and only if it is Turing-recognizable and it is co-Turing-recognizable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2055814" y="3230059"/>
            <a:ext cx="8169566" cy="51443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How to prove this?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4CBEF4-43FA-F340-AE00-421CC7CD67E6}"/>
              </a:ext>
            </a:extLst>
          </p:cNvPr>
          <p:cNvSpPr txBox="1">
            <a:spLocks/>
          </p:cNvSpPr>
          <p:nvPr/>
        </p:nvSpPr>
        <p:spPr>
          <a:xfrm>
            <a:off x="2055813" y="3730298"/>
            <a:ext cx="8169566" cy="136592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Direction 1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: If language is decidable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sym typeface="Wingdings" pitchFamily="2" charset="2"/>
              </a:rPr>
              <a:t> It is T-Rec. and Co-T-Rec.</a:t>
            </a:r>
            <a:endParaRPr lang="en-US" b="1" i="1" u="sng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Direction 2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: If language is T-Rec. and Co-T-Rec.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sym typeface="Wingdings" pitchFamily="2" charset="2"/>
              </a:rPr>
              <a:t> It is decidable</a:t>
            </a:r>
          </a:p>
        </p:txBody>
      </p:sp>
    </p:spTree>
    <p:extLst>
      <p:ext uri="{BB962C8B-B14F-4D97-AF65-F5344CB8AC3E}">
        <p14:creationId xmlns:p14="http://schemas.microsoft.com/office/powerpoint/2010/main" val="3400088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8074"/>
            <a:ext cx="9905998" cy="685496"/>
          </a:xfrm>
        </p:spPr>
        <p:txBody>
          <a:bodyPr/>
          <a:lstStyle/>
          <a:p>
            <a:pPr algn="ctr"/>
            <a:r>
              <a:rPr lang="en-US" dirty="0"/>
              <a:t>Proving the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8F5F-F936-6145-9FF8-704886F1A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692677"/>
            <a:ext cx="9905999" cy="108932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is decidable if and only if it is Turing-recognizable and it is co-Turing-recognizable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4CBEF4-43FA-F340-AE00-421CC7CD67E6}"/>
              </a:ext>
            </a:extLst>
          </p:cNvPr>
          <p:cNvSpPr txBox="1">
            <a:spLocks/>
          </p:cNvSpPr>
          <p:nvPr/>
        </p:nvSpPr>
        <p:spPr>
          <a:xfrm>
            <a:off x="2008105" y="1877644"/>
            <a:ext cx="8169566" cy="63496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Direction 1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: If language is decidable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sym typeface="Wingdings" pitchFamily="2" charset="2"/>
              </a:rPr>
              <a:t> It is T-Rec. and Co-T-Rec.</a:t>
            </a:r>
            <a:endParaRPr lang="en-US" b="1" i="1" u="sng" dirty="0">
              <a:solidFill>
                <a:schemeClr val="tx1">
                  <a:lumMod val="9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C6462F-6596-944A-941C-160652FBEC33}"/>
              </a:ext>
            </a:extLst>
          </p:cNvPr>
          <p:cNvCxnSpPr/>
          <p:nvPr/>
        </p:nvCxnSpPr>
        <p:spPr>
          <a:xfrm>
            <a:off x="540689" y="2703444"/>
            <a:ext cx="11060265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E5B1F20-E8A1-0948-ACA0-06B75C430261}"/>
              </a:ext>
            </a:extLst>
          </p:cNvPr>
          <p:cNvSpPr txBox="1">
            <a:spLocks/>
          </p:cNvSpPr>
          <p:nvPr/>
        </p:nvSpPr>
        <p:spPr>
          <a:xfrm>
            <a:off x="310500" y="3912044"/>
            <a:ext cx="2345634" cy="117679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Assume language A is decidable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B02B526-710D-9B4C-81DD-4E5FC8D6F283}"/>
              </a:ext>
            </a:extLst>
          </p:cNvPr>
          <p:cNvSpPr/>
          <p:nvPr/>
        </p:nvSpPr>
        <p:spPr>
          <a:xfrm>
            <a:off x="2854516" y="4333461"/>
            <a:ext cx="310103" cy="1669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D5A8C91-1F63-F04F-B66B-442EE404EA37}"/>
              </a:ext>
            </a:extLst>
          </p:cNvPr>
          <p:cNvSpPr txBox="1">
            <a:spLocks/>
          </p:cNvSpPr>
          <p:nvPr/>
        </p:nvSpPr>
        <p:spPr>
          <a:xfrm>
            <a:off x="3363001" y="3912044"/>
            <a:ext cx="2345634" cy="117679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Thus, a machine that decides A (let’s call it D) must exist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10F245B-8635-9144-A68A-035FA4AE3F23}"/>
              </a:ext>
            </a:extLst>
          </p:cNvPr>
          <p:cNvGrpSpPr/>
          <p:nvPr/>
        </p:nvGrpSpPr>
        <p:grpSpPr>
          <a:xfrm>
            <a:off x="6835314" y="2855483"/>
            <a:ext cx="4683782" cy="1128223"/>
            <a:chOff x="6996685" y="2672500"/>
            <a:chExt cx="4683782" cy="1128223"/>
          </a:xfrm>
        </p:grpSpPr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45A1A77D-DCAF-FB4C-8676-10BDE4196AD9}"/>
                </a:ext>
              </a:extLst>
            </p:cNvPr>
            <p:cNvSpPr txBox="1">
              <a:spLocks/>
            </p:cNvSpPr>
            <p:nvPr/>
          </p:nvSpPr>
          <p:spPr>
            <a:xfrm>
              <a:off x="8277307" y="3020590"/>
              <a:ext cx="914401" cy="780133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0730C435-12FD-E04A-B1E1-E9C26F4CB556}"/>
                </a:ext>
              </a:extLst>
            </p:cNvPr>
            <p:cNvSpPr txBox="1">
              <a:spLocks/>
            </p:cNvSpPr>
            <p:nvPr/>
          </p:nvSpPr>
          <p:spPr>
            <a:xfrm>
              <a:off x="8453161" y="3084198"/>
              <a:ext cx="484227" cy="51020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50C46B22-1C09-2648-82EF-2C80A5FDCCEB}"/>
                </a:ext>
              </a:extLst>
            </p:cNvPr>
            <p:cNvSpPr txBox="1">
              <a:spLocks/>
            </p:cNvSpPr>
            <p:nvPr/>
          </p:nvSpPr>
          <p:spPr>
            <a:xfrm>
              <a:off x="8396699" y="3020590"/>
              <a:ext cx="421297" cy="49480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solidFill>
                    <a:schemeClr val="accent1"/>
                  </a:solidFill>
                </a:rPr>
                <a:t>D</a:t>
              </a:r>
            </a:p>
          </p:txBody>
        </p:sp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5B104830-CBCF-464A-8D50-3E760C91CD0A}"/>
                </a:ext>
              </a:extLst>
            </p:cNvPr>
            <p:cNvSpPr txBox="1">
              <a:spLocks/>
            </p:cNvSpPr>
            <p:nvPr/>
          </p:nvSpPr>
          <p:spPr>
            <a:xfrm>
              <a:off x="6996685" y="3199040"/>
              <a:ext cx="929500" cy="39051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</a:rPr>
                <a:t>Input w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C145314-FF69-804A-B935-7DF31296AF19}"/>
                </a:ext>
              </a:extLst>
            </p:cNvPr>
            <p:cNvCxnSpPr>
              <a:cxnSpLocks/>
            </p:cNvCxnSpPr>
            <p:nvPr/>
          </p:nvCxnSpPr>
          <p:spPr>
            <a:xfrm>
              <a:off x="7874442" y="3394299"/>
              <a:ext cx="6215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3E7211CE-9EA7-2A43-9020-C954AF192B70}"/>
                </a:ext>
              </a:extLst>
            </p:cNvPr>
            <p:cNvSpPr txBox="1">
              <a:spLocks/>
            </p:cNvSpPr>
            <p:nvPr/>
          </p:nvSpPr>
          <p:spPr>
            <a:xfrm>
              <a:off x="8107587" y="2672500"/>
              <a:ext cx="1253839" cy="39051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</a:rPr>
                <a:t>Recognizer</a:t>
              </a:r>
            </a:p>
          </p:txBody>
        </p: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679899CB-C580-6549-A7DB-84A1F68D70C6}"/>
                </a:ext>
              </a:extLst>
            </p:cNvPr>
            <p:cNvCxnSpPr>
              <a:stCxn id="13" idx="3"/>
            </p:cNvCxnSpPr>
            <p:nvPr/>
          </p:nvCxnSpPr>
          <p:spPr>
            <a:xfrm flipV="1">
              <a:off x="8937388" y="3084198"/>
              <a:ext cx="802960" cy="25510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06CBF120-C131-9240-B166-F01FE21B483C}"/>
                </a:ext>
              </a:extLst>
            </p:cNvPr>
            <p:cNvSpPr txBox="1">
              <a:spLocks/>
            </p:cNvSpPr>
            <p:nvPr/>
          </p:nvSpPr>
          <p:spPr>
            <a:xfrm>
              <a:off x="9774683" y="2897346"/>
              <a:ext cx="1905784" cy="3697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</a:rPr>
                <a:t>If D accepts, </a:t>
              </a:r>
              <a:r>
                <a:rPr lang="en-US" sz="1800" b="1" i="1" u="sng" dirty="0">
                  <a:solidFill>
                    <a:schemeClr val="tx1">
                      <a:lumMod val="95000"/>
                    </a:schemeClr>
                  </a:solidFill>
                </a:rPr>
                <a:t>accept</a:t>
              </a:r>
            </a:p>
          </p:txBody>
        </p:sp>
        <p:sp>
          <p:nvSpPr>
            <p:cNvPr id="25" name="Content Placeholder 2">
              <a:extLst>
                <a:ext uri="{FF2B5EF4-FFF2-40B4-BE49-F238E27FC236}">
                  <a16:creationId xmlns:a16="http://schemas.microsoft.com/office/drawing/2014/main" id="{284BFACB-1C27-C145-8982-971711F30B29}"/>
                </a:ext>
              </a:extLst>
            </p:cNvPr>
            <p:cNvSpPr txBox="1">
              <a:spLocks/>
            </p:cNvSpPr>
            <p:nvPr/>
          </p:nvSpPr>
          <p:spPr>
            <a:xfrm>
              <a:off x="9774683" y="3421716"/>
              <a:ext cx="1905784" cy="3697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</a:rPr>
                <a:t>If D rejects, </a:t>
              </a:r>
              <a:r>
                <a:rPr lang="en-US" sz="1800" b="1" i="1" u="sng" dirty="0">
                  <a:solidFill>
                    <a:schemeClr val="tx1">
                      <a:lumMod val="95000"/>
                    </a:schemeClr>
                  </a:solidFill>
                </a:rPr>
                <a:t>reject</a:t>
              </a:r>
            </a:p>
          </p:txBody>
        </p: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F521DFC6-A691-9247-847D-2E03085F061A}"/>
                </a:ext>
              </a:extLst>
            </p:cNvPr>
            <p:cNvCxnSpPr>
              <a:cxnSpLocks/>
              <a:stCxn id="13" idx="3"/>
              <a:endCxn id="25" idx="1"/>
            </p:cNvCxnSpPr>
            <p:nvPr/>
          </p:nvCxnSpPr>
          <p:spPr>
            <a:xfrm>
              <a:off x="8937388" y="3339302"/>
              <a:ext cx="837295" cy="267279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00B137C-9B21-3A4E-B37C-25557D557D94}"/>
              </a:ext>
            </a:extLst>
          </p:cNvPr>
          <p:cNvGrpSpPr/>
          <p:nvPr/>
        </p:nvGrpSpPr>
        <p:grpSpPr>
          <a:xfrm>
            <a:off x="6841708" y="4806121"/>
            <a:ext cx="4683782" cy="1128223"/>
            <a:chOff x="7053669" y="4780921"/>
            <a:chExt cx="4683782" cy="1128223"/>
          </a:xfrm>
        </p:grpSpPr>
        <p:sp>
          <p:nvSpPr>
            <p:cNvPr id="30" name="Content Placeholder 2">
              <a:extLst>
                <a:ext uri="{FF2B5EF4-FFF2-40B4-BE49-F238E27FC236}">
                  <a16:creationId xmlns:a16="http://schemas.microsoft.com/office/drawing/2014/main" id="{523F9628-F15A-9544-A956-5E85ED39EACE}"/>
                </a:ext>
              </a:extLst>
            </p:cNvPr>
            <p:cNvSpPr txBox="1">
              <a:spLocks/>
            </p:cNvSpPr>
            <p:nvPr/>
          </p:nvSpPr>
          <p:spPr>
            <a:xfrm>
              <a:off x="8334291" y="5129011"/>
              <a:ext cx="914401" cy="780133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31" name="Content Placeholder 2">
              <a:extLst>
                <a:ext uri="{FF2B5EF4-FFF2-40B4-BE49-F238E27FC236}">
                  <a16:creationId xmlns:a16="http://schemas.microsoft.com/office/drawing/2014/main" id="{54D94BF5-F29C-6346-84E8-AD4C3F493B5D}"/>
                </a:ext>
              </a:extLst>
            </p:cNvPr>
            <p:cNvSpPr txBox="1">
              <a:spLocks/>
            </p:cNvSpPr>
            <p:nvPr/>
          </p:nvSpPr>
          <p:spPr>
            <a:xfrm>
              <a:off x="8510145" y="5192619"/>
              <a:ext cx="484227" cy="51020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32" name="Content Placeholder 2">
              <a:extLst>
                <a:ext uri="{FF2B5EF4-FFF2-40B4-BE49-F238E27FC236}">
                  <a16:creationId xmlns:a16="http://schemas.microsoft.com/office/drawing/2014/main" id="{F5840921-8DD8-2F4B-8526-4B25099C04AF}"/>
                </a:ext>
              </a:extLst>
            </p:cNvPr>
            <p:cNvSpPr txBox="1">
              <a:spLocks/>
            </p:cNvSpPr>
            <p:nvPr/>
          </p:nvSpPr>
          <p:spPr>
            <a:xfrm>
              <a:off x="8453683" y="5129011"/>
              <a:ext cx="421297" cy="49480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solidFill>
                    <a:schemeClr val="accent1"/>
                  </a:solidFill>
                </a:rPr>
                <a:t>D</a:t>
              </a:r>
            </a:p>
          </p:txBody>
        </p:sp>
        <p:sp>
          <p:nvSpPr>
            <p:cNvPr id="33" name="Content Placeholder 2">
              <a:extLst>
                <a:ext uri="{FF2B5EF4-FFF2-40B4-BE49-F238E27FC236}">
                  <a16:creationId xmlns:a16="http://schemas.microsoft.com/office/drawing/2014/main" id="{7250E752-2563-714F-8FAC-7EF6A10E4658}"/>
                </a:ext>
              </a:extLst>
            </p:cNvPr>
            <p:cNvSpPr txBox="1">
              <a:spLocks/>
            </p:cNvSpPr>
            <p:nvPr/>
          </p:nvSpPr>
          <p:spPr>
            <a:xfrm>
              <a:off x="7053669" y="5307461"/>
              <a:ext cx="929500" cy="39051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</a:rPr>
                <a:t>Input w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8FB9AF0-2010-4943-B8FF-3F5B89F574AF}"/>
                </a:ext>
              </a:extLst>
            </p:cNvPr>
            <p:cNvCxnSpPr>
              <a:cxnSpLocks/>
            </p:cNvCxnSpPr>
            <p:nvPr/>
          </p:nvCxnSpPr>
          <p:spPr>
            <a:xfrm>
              <a:off x="7931426" y="5502720"/>
              <a:ext cx="6215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ontent Placeholder 2">
              <a:extLst>
                <a:ext uri="{FF2B5EF4-FFF2-40B4-BE49-F238E27FC236}">
                  <a16:creationId xmlns:a16="http://schemas.microsoft.com/office/drawing/2014/main" id="{5F52D765-30EB-FA4C-8BFD-DA400B8CE0E9}"/>
                </a:ext>
              </a:extLst>
            </p:cNvPr>
            <p:cNvSpPr txBox="1">
              <a:spLocks/>
            </p:cNvSpPr>
            <p:nvPr/>
          </p:nvSpPr>
          <p:spPr>
            <a:xfrm>
              <a:off x="8164571" y="4780921"/>
              <a:ext cx="1253839" cy="39051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775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</a:rPr>
                <a:t>Co-Recognizer</a:t>
              </a:r>
            </a:p>
          </p:txBody>
        </p:sp>
        <p:cxnSp>
          <p:nvCxnSpPr>
            <p:cNvPr id="36" name="Elbow Connector 35">
              <a:extLst>
                <a:ext uri="{FF2B5EF4-FFF2-40B4-BE49-F238E27FC236}">
                  <a16:creationId xmlns:a16="http://schemas.microsoft.com/office/drawing/2014/main" id="{5414E911-4D30-F54E-A9D2-651BDB49690E}"/>
                </a:ext>
              </a:extLst>
            </p:cNvPr>
            <p:cNvCxnSpPr>
              <a:stCxn id="31" idx="3"/>
            </p:cNvCxnSpPr>
            <p:nvPr/>
          </p:nvCxnSpPr>
          <p:spPr>
            <a:xfrm flipV="1">
              <a:off x="8994372" y="5192619"/>
              <a:ext cx="802960" cy="25510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Content Placeholder 2">
              <a:extLst>
                <a:ext uri="{FF2B5EF4-FFF2-40B4-BE49-F238E27FC236}">
                  <a16:creationId xmlns:a16="http://schemas.microsoft.com/office/drawing/2014/main" id="{1EE31C28-F11D-B943-81A3-E15D33AE39F2}"/>
                </a:ext>
              </a:extLst>
            </p:cNvPr>
            <p:cNvSpPr txBox="1">
              <a:spLocks/>
            </p:cNvSpPr>
            <p:nvPr/>
          </p:nvSpPr>
          <p:spPr>
            <a:xfrm>
              <a:off x="9831667" y="5005767"/>
              <a:ext cx="1905784" cy="3697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</a:rPr>
                <a:t>If D accepts, </a:t>
              </a:r>
              <a:r>
                <a:rPr lang="en-US" sz="1800" b="1" i="1" u="sng" dirty="0">
                  <a:solidFill>
                    <a:schemeClr val="tx1">
                      <a:lumMod val="95000"/>
                    </a:schemeClr>
                  </a:solidFill>
                </a:rPr>
                <a:t>reject</a:t>
              </a:r>
            </a:p>
          </p:txBody>
        </p:sp>
        <p:sp>
          <p:nvSpPr>
            <p:cNvPr id="38" name="Content Placeholder 2">
              <a:extLst>
                <a:ext uri="{FF2B5EF4-FFF2-40B4-BE49-F238E27FC236}">
                  <a16:creationId xmlns:a16="http://schemas.microsoft.com/office/drawing/2014/main" id="{21CE4EF9-90D3-DD42-B022-FAAD489E07B0}"/>
                </a:ext>
              </a:extLst>
            </p:cNvPr>
            <p:cNvSpPr txBox="1">
              <a:spLocks/>
            </p:cNvSpPr>
            <p:nvPr/>
          </p:nvSpPr>
          <p:spPr>
            <a:xfrm>
              <a:off x="9831667" y="5530137"/>
              <a:ext cx="1905784" cy="3697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</a:rPr>
                <a:t>If D rejects, </a:t>
              </a:r>
              <a:r>
                <a:rPr lang="en-US" sz="1800" b="1" i="1" u="sng" dirty="0">
                  <a:solidFill>
                    <a:schemeClr val="tx1">
                      <a:lumMod val="95000"/>
                    </a:schemeClr>
                  </a:solidFill>
                </a:rPr>
                <a:t>accept</a:t>
              </a:r>
            </a:p>
          </p:txBody>
        </p: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64DD20A4-6880-2443-88EC-D6DC60CAF084}"/>
                </a:ext>
              </a:extLst>
            </p:cNvPr>
            <p:cNvCxnSpPr>
              <a:cxnSpLocks/>
              <a:stCxn id="31" idx="3"/>
              <a:endCxn id="38" idx="1"/>
            </p:cNvCxnSpPr>
            <p:nvPr/>
          </p:nvCxnSpPr>
          <p:spPr>
            <a:xfrm>
              <a:off x="8994372" y="5447723"/>
              <a:ext cx="837295" cy="267279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ight Arrow 39">
            <a:extLst>
              <a:ext uri="{FF2B5EF4-FFF2-40B4-BE49-F238E27FC236}">
                <a16:creationId xmlns:a16="http://schemas.microsoft.com/office/drawing/2014/main" id="{208043C7-DA61-EA4F-857F-B7158CE7C523}"/>
              </a:ext>
            </a:extLst>
          </p:cNvPr>
          <p:cNvSpPr/>
          <p:nvPr/>
        </p:nvSpPr>
        <p:spPr>
          <a:xfrm rot="20091274" flipV="1">
            <a:off x="5884553" y="3710330"/>
            <a:ext cx="1013266" cy="231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25E321CF-AEB5-AB4A-9B34-DEE8E3148F8B}"/>
              </a:ext>
            </a:extLst>
          </p:cNvPr>
          <p:cNvSpPr/>
          <p:nvPr/>
        </p:nvSpPr>
        <p:spPr>
          <a:xfrm rot="1540816" flipV="1">
            <a:off x="5828234" y="5062714"/>
            <a:ext cx="1013266" cy="231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3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40" grpId="0" animBg="1"/>
      <p:bldP spid="4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8074"/>
            <a:ext cx="9905998" cy="685496"/>
          </a:xfrm>
        </p:spPr>
        <p:txBody>
          <a:bodyPr/>
          <a:lstStyle/>
          <a:p>
            <a:pPr algn="ctr"/>
            <a:r>
              <a:rPr lang="en-US" dirty="0"/>
              <a:t>Proving the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8F5F-F936-6145-9FF8-704886F1A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692677"/>
            <a:ext cx="9905999" cy="108932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Theorem</a:t>
            </a:r>
            <a:r>
              <a:rPr lang="en-US" dirty="0">
                <a:solidFill>
                  <a:schemeClr val="bg1"/>
                </a:solidFill>
              </a:rPr>
              <a:t>: A language is decidable if and only if it is Turing-recognizable and it is co-Turing-recognizable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4CBEF4-43FA-F340-AE00-421CC7CD67E6}"/>
              </a:ext>
            </a:extLst>
          </p:cNvPr>
          <p:cNvSpPr txBox="1">
            <a:spLocks/>
          </p:cNvSpPr>
          <p:nvPr/>
        </p:nvSpPr>
        <p:spPr>
          <a:xfrm>
            <a:off x="2008105" y="1877644"/>
            <a:ext cx="8169566" cy="634968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Direction 2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: If language is T-Rec. and Co-T-Rec.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sym typeface="Wingdings" pitchFamily="2" charset="2"/>
              </a:rPr>
              <a:t> It is decidable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C6462F-6596-944A-941C-160652FBEC33}"/>
              </a:ext>
            </a:extLst>
          </p:cNvPr>
          <p:cNvCxnSpPr/>
          <p:nvPr/>
        </p:nvCxnSpPr>
        <p:spPr>
          <a:xfrm>
            <a:off x="540689" y="2703444"/>
            <a:ext cx="11060265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E5B1F20-E8A1-0948-ACA0-06B75C430261}"/>
              </a:ext>
            </a:extLst>
          </p:cNvPr>
          <p:cNvSpPr txBox="1">
            <a:spLocks/>
          </p:cNvSpPr>
          <p:nvPr/>
        </p:nvSpPr>
        <p:spPr>
          <a:xfrm>
            <a:off x="752806" y="3798517"/>
            <a:ext cx="1206819" cy="117679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Assume A is TR and Co-TR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B02B526-710D-9B4C-81DD-4E5FC8D6F283}"/>
              </a:ext>
            </a:extLst>
          </p:cNvPr>
          <p:cNvSpPr/>
          <p:nvPr/>
        </p:nvSpPr>
        <p:spPr>
          <a:xfrm>
            <a:off x="2043281" y="4222143"/>
            <a:ext cx="310103" cy="1669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D5A8C91-1F63-F04F-B66B-442EE404EA37}"/>
              </a:ext>
            </a:extLst>
          </p:cNvPr>
          <p:cNvSpPr txBox="1">
            <a:spLocks/>
          </p:cNvSpPr>
          <p:nvPr/>
        </p:nvSpPr>
        <p:spPr>
          <a:xfrm>
            <a:off x="2437040" y="3800726"/>
            <a:ext cx="1527055" cy="117679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Thus, machines that recognize each exists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B9F6DCF-A17D-EA45-AF65-F760FE8F0BBD}"/>
              </a:ext>
            </a:extLst>
          </p:cNvPr>
          <p:cNvGrpSpPr/>
          <p:nvPr/>
        </p:nvGrpSpPr>
        <p:grpSpPr>
          <a:xfrm>
            <a:off x="4130404" y="3066742"/>
            <a:ext cx="2667662" cy="3332602"/>
            <a:chOff x="3828253" y="3178060"/>
            <a:chExt cx="2667662" cy="3332602"/>
          </a:xfrm>
        </p:grpSpPr>
        <p:sp>
          <p:nvSpPr>
            <p:cNvPr id="31" name="Content Placeholder 2">
              <a:extLst>
                <a:ext uri="{FF2B5EF4-FFF2-40B4-BE49-F238E27FC236}">
                  <a16:creationId xmlns:a16="http://schemas.microsoft.com/office/drawing/2014/main" id="{54D94BF5-F29C-6346-84E8-AD4C3F493B5D}"/>
                </a:ext>
              </a:extLst>
            </p:cNvPr>
            <p:cNvSpPr txBox="1">
              <a:spLocks/>
            </p:cNvSpPr>
            <p:nvPr/>
          </p:nvSpPr>
          <p:spPr>
            <a:xfrm>
              <a:off x="4524888" y="3434050"/>
              <a:ext cx="988951" cy="796043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32" name="Content Placeholder 2">
              <a:extLst>
                <a:ext uri="{FF2B5EF4-FFF2-40B4-BE49-F238E27FC236}">
                  <a16:creationId xmlns:a16="http://schemas.microsoft.com/office/drawing/2014/main" id="{F5840921-8DD8-2F4B-8526-4B25099C04AF}"/>
                </a:ext>
              </a:extLst>
            </p:cNvPr>
            <p:cNvSpPr txBox="1">
              <a:spLocks/>
            </p:cNvSpPr>
            <p:nvPr/>
          </p:nvSpPr>
          <p:spPr>
            <a:xfrm>
              <a:off x="4465118" y="3340402"/>
              <a:ext cx="421297" cy="49480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solidFill>
                    <a:schemeClr val="accent1"/>
                  </a:solidFill>
                </a:rPr>
                <a:t>R</a:t>
              </a:r>
            </a:p>
          </p:txBody>
        </p:sp>
        <p:sp>
          <p:nvSpPr>
            <p:cNvPr id="35" name="Content Placeholder 2">
              <a:extLst>
                <a:ext uri="{FF2B5EF4-FFF2-40B4-BE49-F238E27FC236}">
                  <a16:creationId xmlns:a16="http://schemas.microsoft.com/office/drawing/2014/main" id="{5F52D765-30EB-FA4C-8BFD-DA400B8CE0E9}"/>
                </a:ext>
              </a:extLst>
            </p:cNvPr>
            <p:cNvSpPr txBox="1">
              <a:spLocks/>
            </p:cNvSpPr>
            <p:nvPr/>
          </p:nvSpPr>
          <p:spPr>
            <a:xfrm>
              <a:off x="4596448" y="3178060"/>
              <a:ext cx="842241" cy="343454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>
                  <a:solidFill>
                    <a:schemeClr val="accent1"/>
                  </a:solidFill>
                </a:rPr>
                <a:t>Recognizer</a:t>
              </a:r>
            </a:p>
          </p:txBody>
        </p:sp>
        <p:sp>
          <p:nvSpPr>
            <p:cNvPr id="37" name="Content Placeholder 2">
              <a:extLst>
                <a:ext uri="{FF2B5EF4-FFF2-40B4-BE49-F238E27FC236}">
                  <a16:creationId xmlns:a16="http://schemas.microsoft.com/office/drawing/2014/main" id="{1EE31C28-F11D-B943-81A3-E15D33AE39F2}"/>
                </a:ext>
              </a:extLst>
            </p:cNvPr>
            <p:cNvSpPr txBox="1">
              <a:spLocks/>
            </p:cNvSpPr>
            <p:nvPr/>
          </p:nvSpPr>
          <p:spPr>
            <a:xfrm>
              <a:off x="3829111" y="5923611"/>
              <a:ext cx="2666804" cy="587051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85000"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i="1" dirty="0">
                  <a:solidFill>
                    <a:schemeClr val="tx1">
                      <a:lumMod val="95000"/>
                    </a:schemeClr>
                  </a:solidFill>
                </a:rPr>
                <a:t>Use these to construct a decider for A</a:t>
              </a:r>
              <a:endParaRPr lang="en-US" sz="1800" b="1" i="1" u="sng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40" name="Right Arrow 39">
              <a:extLst>
                <a:ext uri="{FF2B5EF4-FFF2-40B4-BE49-F238E27FC236}">
                  <a16:creationId xmlns:a16="http://schemas.microsoft.com/office/drawing/2014/main" id="{208043C7-DA61-EA4F-857F-B7158CE7C523}"/>
                </a:ext>
              </a:extLst>
            </p:cNvPr>
            <p:cNvSpPr/>
            <p:nvPr/>
          </p:nvSpPr>
          <p:spPr>
            <a:xfrm rot="20091274" flipV="1">
              <a:off x="3828253" y="3777419"/>
              <a:ext cx="616820" cy="2319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ight Arrow 40">
              <a:extLst>
                <a:ext uri="{FF2B5EF4-FFF2-40B4-BE49-F238E27FC236}">
                  <a16:creationId xmlns:a16="http://schemas.microsoft.com/office/drawing/2014/main" id="{25E321CF-AEB5-AB4A-9B34-DEE8E3148F8B}"/>
                </a:ext>
              </a:extLst>
            </p:cNvPr>
            <p:cNvSpPr/>
            <p:nvPr/>
          </p:nvSpPr>
          <p:spPr>
            <a:xfrm rot="1540816" flipV="1">
              <a:off x="3852891" y="4882894"/>
              <a:ext cx="535977" cy="2319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Content Placeholder 2">
              <a:extLst>
                <a:ext uri="{FF2B5EF4-FFF2-40B4-BE49-F238E27FC236}">
                  <a16:creationId xmlns:a16="http://schemas.microsoft.com/office/drawing/2014/main" id="{4465B1D8-5A59-F646-A9CA-FF984E57534D}"/>
                </a:ext>
              </a:extLst>
            </p:cNvPr>
            <p:cNvSpPr txBox="1">
              <a:spLocks/>
            </p:cNvSpPr>
            <p:nvPr/>
          </p:nvSpPr>
          <p:spPr>
            <a:xfrm>
              <a:off x="4540965" y="5030967"/>
              <a:ext cx="988951" cy="796043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45" name="Content Placeholder 2">
              <a:extLst>
                <a:ext uri="{FF2B5EF4-FFF2-40B4-BE49-F238E27FC236}">
                  <a16:creationId xmlns:a16="http://schemas.microsoft.com/office/drawing/2014/main" id="{EF2F4D5A-B0DA-5E4F-9DB8-D5D69F067032}"/>
                </a:ext>
              </a:extLst>
            </p:cNvPr>
            <p:cNvSpPr txBox="1">
              <a:spLocks/>
            </p:cNvSpPr>
            <p:nvPr/>
          </p:nvSpPr>
          <p:spPr>
            <a:xfrm>
              <a:off x="4497098" y="4992503"/>
              <a:ext cx="421297" cy="44757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70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solidFill>
                    <a:schemeClr val="accent1"/>
                  </a:solidFill>
                </a:rPr>
                <a:t>CR</a:t>
              </a:r>
            </a:p>
          </p:txBody>
        </p:sp>
        <p:sp>
          <p:nvSpPr>
            <p:cNvPr id="46" name="Content Placeholder 2">
              <a:extLst>
                <a:ext uri="{FF2B5EF4-FFF2-40B4-BE49-F238E27FC236}">
                  <a16:creationId xmlns:a16="http://schemas.microsoft.com/office/drawing/2014/main" id="{01539D70-356B-0044-83E0-59207327D12E}"/>
                </a:ext>
              </a:extLst>
            </p:cNvPr>
            <p:cNvSpPr txBox="1">
              <a:spLocks/>
            </p:cNvSpPr>
            <p:nvPr/>
          </p:nvSpPr>
          <p:spPr>
            <a:xfrm>
              <a:off x="4612525" y="4647009"/>
              <a:ext cx="842241" cy="43961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>
                  <a:solidFill>
                    <a:schemeClr val="accent1"/>
                  </a:solidFill>
                </a:rPr>
                <a:t>Co-Recognizer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0A40A1A-5F95-A840-915C-76A491C49BF2}"/>
              </a:ext>
            </a:extLst>
          </p:cNvPr>
          <p:cNvGrpSpPr/>
          <p:nvPr/>
        </p:nvGrpSpPr>
        <p:grpSpPr>
          <a:xfrm>
            <a:off x="6835454" y="3326369"/>
            <a:ext cx="4854556" cy="2214394"/>
            <a:chOff x="6620764" y="3445638"/>
            <a:chExt cx="4854556" cy="2214394"/>
          </a:xfrm>
        </p:grpSpPr>
        <p:sp>
          <p:nvSpPr>
            <p:cNvPr id="30" name="Content Placeholder 2">
              <a:extLst>
                <a:ext uri="{FF2B5EF4-FFF2-40B4-BE49-F238E27FC236}">
                  <a16:creationId xmlns:a16="http://schemas.microsoft.com/office/drawing/2014/main" id="{523F9628-F15A-9544-A956-5E85ED39EACE}"/>
                </a:ext>
              </a:extLst>
            </p:cNvPr>
            <p:cNvSpPr txBox="1">
              <a:spLocks/>
            </p:cNvSpPr>
            <p:nvPr/>
          </p:nvSpPr>
          <p:spPr>
            <a:xfrm>
              <a:off x="7686736" y="3490381"/>
              <a:ext cx="2490936" cy="2169651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33" name="Content Placeholder 2">
              <a:extLst>
                <a:ext uri="{FF2B5EF4-FFF2-40B4-BE49-F238E27FC236}">
                  <a16:creationId xmlns:a16="http://schemas.microsoft.com/office/drawing/2014/main" id="{7250E752-2563-714F-8FAC-7EF6A10E4658}"/>
                </a:ext>
              </a:extLst>
            </p:cNvPr>
            <p:cNvSpPr txBox="1">
              <a:spLocks/>
            </p:cNvSpPr>
            <p:nvPr/>
          </p:nvSpPr>
          <p:spPr>
            <a:xfrm>
              <a:off x="7802452" y="4054745"/>
              <a:ext cx="965597" cy="892735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i="1" dirty="0">
                  <a:solidFill>
                    <a:schemeClr val="tx1">
                      <a:lumMod val="95000"/>
                    </a:schemeClr>
                  </a:solidFill>
                </a:rPr>
                <a:t>Non-deterministically run R and CR in parallel</a:t>
              </a:r>
            </a:p>
          </p:txBody>
        </p:sp>
        <p:sp>
          <p:nvSpPr>
            <p:cNvPr id="38" name="Content Placeholder 2">
              <a:extLst>
                <a:ext uri="{FF2B5EF4-FFF2-40B4-BE49-F238E27FC236}">
                  <a16:creationId xmlns:a16="http://schemas.microsoft.com/office/drawing/2014/main" id="{21CE4EF9-90D3-DD42-B022-FAAD489E07B0}"/>
                </a:ext>
              </a:extLst>
            </p:cNvPr>
            <p:cNvSpPr txBox="1">
              <a:spLocks/>
            </p:cNvSpPr>
            <p:nvPr/>
          </p:nvSpPr>
          <p:spPr>
            <a:xfrm>
              <a:off x="7686735" y="3445638"/>
              <a:ext cx="398937" cy="36973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</a:rPr>
                <a:t>D</a:t>
              </a:r>
              <a:endParaRPr lang="en-US" sz="1800" b="1" i="1" u="sng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47" name="Content Placeholder 2">
              <a:extLst>
                <a:ext uri="{FF2B5EF4-FFF2-40B4-BE49-F238E27FC236}">
                  <a16:creationId xmlns:a16="http://schemas.microsoft.com/office/drawing/2014/main" id="{8C93CABD-FF96-3846-B690-EAD674C706D1}"/>
                </a:ext>
              </a:extLst>
            </p:cNvPr>
            <p:cNvSpPr txBox="1">
              <a:spLocks/>
            </p:cNvSpPr>
            <p:nvPr/>
          </p:nvSpPr>
          <p:spPr>
            <a:xfrm>
              <a:off x="6620764" y="4341414"/>
              <a:ext cx="880176" cy="322481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i="1" dirty="0">
                  <a:solidFill>
                    <a:schemeClr val="tx1">
                      <a:lumMod val="95000"/>
                    </a:schemeClr>
                  </a:solidFill>
                </a:rPr>
                <a:t>Input w</a:t>
              </a:r>
              <a:endParaRPr lang="en-US" sz="1800" b="1" i="1" u="sng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48" name="Content Placeholder 2">
              <a:extLst>
                <a:ext uri="{FF2B5EF4-FFF2-40B4-BE49-F238E27FC236}">
                  <a16:creationId xmlns:a16="http://schemas.microsoft.com/office/drawing/2014/main" id="{03FC8719-9B47-474B-B864-EEB1655F165E}"/>
                </a:ext>
              </a:extLst>
            </p:cNvPr>
            <p:cNvSpPr txBox="1">
              <a:spLocks/>
            </p:cNvSpPr>
            <p:nvPr/>
          </p:nvSpPr>
          <p:spPr>
            <a:xfrm>
              <a:off x="9044154" y="3938587"/>
              <a:ext cx="913801" cy="40115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49" name="Content Placeholder 2">
              <a:extLst>
                <a:ext uri="{FF2B5EF4-FFF2-40B4-BE49-F238E27FC236}">
                  <a16:creationId xmlns:a16="http://schemas.microsoft.com/office/drawing/2014/main" id="{2967967D-6FD2-374D-9075-4D9E690041EC}"/>
                </a:ext>
              </a:extLst>
            </p:cNvPr>
            <p:cNvSpPr txBox="1">
              <a:spLocks/>
            </p:cNvSpPr>
            <p:nvPr/>
          </p:nvSpPr>
          <p:spPr>
            <a:xfrm>
              <a:off x="8984384" y="3844938"/>
              <a:ext cx="421297" cy="49480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solidFill>
                    <a:schemeClr val="accent1"/>
                  </a:solidFill>
                </a:rPr>
                <a:t>R</a:t>
              </a:r>
            </a:p>
          </p:txBody>
        </p:sp>
        <p:sp>
          <p:nvSpPr>
            <p:cNvPr id="50" name="Content Placeholder 2">
              <a:extLst>
                <a:ext uri="{FF2B5EF4-FFF2-40B4-BE49-F238E27FC236}">
                  <a16:creationId xmlns:a16="http://schemas.microsoft.com/office/drawing/2014/main" id="{7964EEF8-7F16-4E42-819D-7EC4705CFAED}"/>
                </a:ext>
              </a:extLst>
            </p:cNvPr>
            <p:cNvSpPr txBox="1">
              <a:spLocks/>
            </p:cNvSpPr>
            <p:nvPr/>
          </p:nvSpPr>
          <p:spPr>
            <a:xfrm>
              <a:off x="9115714" y="3682596"/>
              <a:ext cx="842241" cy="343454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>
                  <a:solidFill>
                    <a:schemeClr val="accent1"/>
                  </a:solidFill>
                </a:rPr>
                <a:t>Recognizer</a:t>
              </a:r>
            </a:p>
          </p:txBody>
        </p:sp>
        <p:sp>
          <p:nvSpPr>
            <p:cNvPr id="51" name="Content Placeholder 2">
              <a:extLst>
                <a:ext uri="{FF2B5EF4-FFF2-40B4-BE49-F238E27FC236}">
                  <a16:creationId xmlns:a16="http://schemas.microsoft.com/office/drawing/2014/main" id="{D5AC2DBF-125B-CE42-B8E4-AD09F5776BB9}"/>
                </a:ext>
              </a:extLst>
            </p:cNvPr>
            <p:cNvSpPr txBox="1">
              <a:spLocks/>
            </p:cNvSpPr>
            <p:nvPr/>
          </p:nvSpPr>
          <p:spPr>
            <a:xfrm>
              <a:off x="9093056" y="5022559"/>
              <a:ext cx="864900" cy="39802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52" name="Content Placeholder 2">
              <a:extLst>
                <a:ext uri="{FF2B5EF4-FFF2-40B4-BE49-F238E27FC236}">
                  <a16:creationId xmlns:a16="http://schemas.microsoft.com/office/drawing/2014/main" id="{7571E1A5-C752-D544-9585-F1054461F1F9}"/>
                </a:ext>
              </a:extLst>
            </p:cNvPr>
            <p:cNvSpPr txBox="1">
              <a:spLocks/>
            </p:cNvSpPr>
            <p:nvPr/>
          </p:nvSpPr>
          <p:spPr>
            <a:xfrm>
              <a:off x="9049188" y="4984094"/>
              <a:ext cx="421297" cy="44757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70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dirty="0">
                  <a:solidFill>
                    <a:schemeClr val="accent1"/>
                  </a:solidFill>
                </a:rPr>
                <a:t>CR</a:t>
              </a:r>
            </a:p>
          </p:txBody>
        </p:sp>
        <p:sp>
          <p:nvSpPr>
            <p:cNvPr id="53" name="Content Placeholder 2">
              <a:extLst>
                <a:ext uri="{FF2B5EF4-FFF2-40B4-BE49-F238E27FC236}">
                  <a16:creationId xmlns:a16="http://schemas.microsoft.com/office/drawing/2014/main" id="{4A70A341-8851-AB41-BC30-84402825F285}"/>
                </a:ext>
              </a:extLst>
            </p:cNvPr>
            <p:cNvSpPr txBox="1">
              <a:spLocks/>
            </p:cNvSpPr>
            <p:nvPr/>
          </p:nvSpPr>
          <p:spPr>
            <a:xfrm>
              <a:off x="9164615" y="4638600"/>
              <a:ext cx="842241" cy="43961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dirty="0">
                  <a:solidFill>
                    <a:schemeClr val="accent1"/>
                  </a:solidFill>
                </a:rPr>
                <a:t>Co-Recognizer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DEB627B-8352-4B40-88FE-CD8D583CD28A}"/>
                </a:ext>
              </a:extLst>
            </p:cNvPr>
            <p:cNvCxnSpPr>
              <a:cxnSpLocks/>
              <a:stCxn id="47" idx="3"/>
              <a:endCxn id="33" idx="1"/>
            </p:cNvCxnSpPr>
            <p:nvPr/>
          </p:nvCxnSpPr>
          <p:spPr>
            <a:xfrm flipV="1">
              <a:off x="7500940" y="4501113"/>
              <a:ext cx="301512" cy="1542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6D08F8E-BD92-D142-A912-C10038532CB3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 flipV="1">
              <a:off x="8768049" y="4218265"/>
              <a:ext cx="276105" cy="2828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CA35DF3-5FC6-BB40-B542-D6D7B82263C7}"/>
                </a:ext>
              </a:extLst>
            </p:cNvPr>
            <p:cNvCxnSpPr>
              <a:cxnSpLocks/>
              <a:stCxn id="33" idx="3"/>
            </p:cNvCxnSpPr>
            <p:nvPr/>
          </p:nvCxnSpPr>
          <p:spPr>
            <a:xfrm>
              <a:off x="8768049" y="4501113"/>
              <a:ext cx="323812" cy="6009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DAEAF3A-85C7-894F-B713-BAA1708C0198}"/>
                </a:ext>
              </a:extLst>
            </p:cNvPr>
            <p:cNvCxnSpPr>
              <a:cxnSpLocks/>
              <a:stCxn id="48" idx="3"/>
            </p:cNvCxnSpPr>
            <p:nvPr/>
          </p:nvCxnSpPr>
          <p:spPr>
            <a:xfrm>
              <a:off x="9957955" y="4139164"/>
              <a:ext cx="4423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1882D14-191C-CE46-99A1-E6846BCA94C6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>
              <a:off x="9957956" y="5221570"/>
              <a:ext cx="5008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Content Placeholder 2">
              <a:extLst>
                <a:ext uri="{FF2B5EF4-FFF2-40B4-BE49-F238E27FC236}">
                  <a16:creationId xmlns:a16="http://schemas.microsoft.com/office/drawing/2014/main" id="{05D76862-0CB1-4A4B-9615-7106E28A4999}"/>
                </a:ext>
              </a:extLst>
            </p:cNvPr>
            <p:cNvSpPr txBox="1">
              <a:spLocks/>
            </p:cNvSpPr>
            <p:nvPr/>
          </p:nvSpPr>
          <p:spPr>
            <a:xfrm>
              <a:off x="10302639" y="3977923"/>
              <a:ext cx="1172681" cy="5231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775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i="1" dirty="0">
                  <a:solidFill>
                    <a:schemeClr val="tx1">
                      <a:lumMod val="95000"/>
                    </a:schemeClr>
                  </a:solidFill>
                </a:rPr>
                <a:t>If R accepts, </a:t>
              </a:r>
              <a:r>
                <a:rPr lang="en-US" sz="1800" b="1" u="sng" dirty="0">
                  <a:solidFill>
                    <a:schemeClr val="tx1">
                      <a:lumMod val="95000"/>
                    </a:schemeClr>
                  </a:solidFill>
                </a:rPr>
                <a:t>accept</a:t>
              </a:r>
            </a:p>
          </p:txBody>
        </p:sp>
        <p:sp>
          <p:nvSpPr>
            <p:cNvPr id="62" name="Content Placeholder 2">
              <a:extLst>
                <a:ext uri="{FF2B5EF4-FFF2-40B4-BE49-F238E27FC236}">
                  <a16:creationId xmlns:a16="http://schemas.microsoft.com/office/drawing/2014/main" id="{174F877A-D783-DF4F-A55F-0CA21ADD7056}"/>
                </a:ext>
              </a:extLst>
            </p:cNvPr>
            <p:cNvSpPr txBox="1">
              <a:spLocks/>
            </p:cNvSpPr>
            <p:nvPr/>
          </p:nvSpPr>
          <p:spPr>
            <a:xfrm>
              <a:off x="10310259" y="5062320"/>
              <a:ext cx="1165061" cy="51154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rmAutofit fontScale="70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800" i="1" dirty="0">
                  <a:solidFill>
                    <a:schemeClr val="tx1">
                      <a:lumMod val="95000"/>
                    </a:schemeClr>
                  </a:solidFill>
                </a:rPr>
                <a:t>If CR accepts, </a:t>
              </a:r>
              <a:r>
                <a:rPr lang="en-US" sz="1800" b="1" u="sng" dirty="0">
                  <a:solidFill>
                    <a:schemeClr val="tx1">
                      <a:lumMod val="95000"/>
                    </a:schemeClr>
                  </a:solidFill>
                </a:rPr>
                <a:t>reject</a:t>
              </a:r>
            </a:p>
          </p:txBody>
        </p:sp>
      </p:grpSp>
      <p:sp>
        <p:nvSpPr>
          <p:cNvPr id="65" name="Right Arrow 64">
            <a:extLst>
              <a:ext uri="{FF2B5EF4-FFF2-40B4-BE49-F238E27FC236}">
                <a16:creationId xmlns:a16="http://schemas.microsoft.com/office/drawing/2014/main" id="{44A5F2C1-4567-C84F-BB2A-40D3DE34210F}"/>
              </a:ext>
            </a:extLst>
          </p:cNvPr>
          <p:cNvSpPr/>
          <p:nvPr/>
        </p:nvSpPr>
        <p:spPr>
          <a:xfrm>
            <a:off x="6186154" y="4252646"/>
            <a:ext cx="593087" cy="3193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6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6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 err="1"/>
              <a:t>UnRecognizability</a:t>
            </a:r>
            <a:r>
              <a:rPr lang="en-US" dirty="0"/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74495" y="1941033"/>
                <a:ext cx="5839833" cy="706751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Theorem</a:t>
                </a:r>
                <a:r>
                  <a:rPr lang="en-US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𝑻𝑴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unrecognizable.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4495" y="1941033"/>
                <a:ext cx="5839833" cy="70675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3134740" y="1568805"/>
            <a:ext cx="5092410" cy="53034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Finally ready to find an unrecognizable language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A69D5CB-4406-1647-ABD8-A0D7A7050F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45518" y="3883959"/>
                <a:ext cx="9625779" cy="2477083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Recall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𝑎𝑐𝑐𝑒𝑝𝑡𝑠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, thus: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𝑇𝑀</m:t>
                            </m:r>
                          </m:sub>
                        </m:sSub>
                      </m:e>
                    </m:acc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i="1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𝑟𝑒𝑗𝑒𝑐𝑡𝑠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𝑙𝑜𝑜𝑝𝑠</m:t>
                    </m:r>
                    <m:r>
                      <a:rPr lang="en-US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𝑓𝑜𝑟𝑒𝑣𝑒𝑟</m:t>
                    </m:r>
                    <m:r>
                      <a:rPr lang="en-US" i="1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A69D5CB-4406-1647-ABD8-A0D7A7050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518" y="3883959"/>
                <a:ext cx="9625779" cy="2477083"/>
              </a:xfrm>
              <a:prstGeom prst="rect">
                <a:avLst/>
              </a:prstGeom>
              <a:blipFill>
                <a:blip r:embed="rId3"/>
                <a:stretch>
                  <a:fillRect l="-922" t="-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2510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 err="1"/>
              <a:t>UnRecognizability</a:t>
            </a:r>
            <a:r>
              <a:rPr lang="en-US" dirty="0"/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74495" y="1599127"/>
                <a:ext cx="5839833" cy="706751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Theorem</a:t>
                </a:r>
                <a:r>
                  <a:rPr lang="en-US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𝑻𝑴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unrecognizable.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4495" y="1599127"/>
                <a:ext cx="5839833" cy="706751"/>
              </a:xfrm>
              <a:blipFill>
                <a:blip r:embed="rId2"/>
                <a:stretch>
                  <a:fillRect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3134740" y="1226899"/>
            <a:ext cx="5092410" cy="53034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Finally ready to find an unrecognizable language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69D5CB-4406-1647-ABD8-A0D7A7050F56}"/>
              </a:ext>
            </a:extLst>
          </p:cNvPr>
          <p:cNvSpPr txBox="1">
            <a:spLocks/>
          </p:cNvSpPr>
          <p:nvPr/>
        </p:nvSpPr>
        <p:spPr>
          <a:xfrm>
            <a:off x="4907316" y="2476578"/>
            <a:ext cx="2374190" cy="58467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Can you prove it?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A746D8E-935A-6447-8C48-F0A83D73DF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8112" y="3273034"/>
                <a:ext cx="9759299" cy="615155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Assume for sake of contradiction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𝑇𝑀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 is recognizable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A746D8E-935A-6447-8C48-F0A83D73D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112" y="3273034"/>
                <a:ext cx="9759299" cy="615155"/>
              </a:xfrm>
              <a:prstGeom prst="rect">
                <a:avLst/>
              </a:prstGeom>
              <a:blipFill>
                <a:blip r:embed="rId3"/>
                <a:stretch>
                  <a:fillRect t="-2000" b="-2000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C94A343-6015-F748-B246-8A05E3EC51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8112" y="4053587"/>
                <a:ext cx="9759299" cy="615155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This means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𝑇𝑀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 (assumed)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 (proven earlier) are both recognizable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C94A343-6015-F748-B246-8A05E3EC5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112" y="4053587"/>
                <a:ext cx="9759299" cy="6151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A775D6E-1D7F-0348-899B-2016E2901A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8111" y="4834140"/>
                <a:ext cx="9759299" cy="615155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 is decidable by earlier theorem (both it and complement are recognizable)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A775D6E-1D7F-0348-899B-2016E2901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111" y="4834140"/>
                <a:ext cx="9759299" cy="615155"/>
              </a:xfrm>
              <a:prstGeom prst="rect">
                <a:avLst/>
              </a:prstGeom>
              <a:blipFill>
                <a:blip r:embed="rId5"/>
                <a:stretch>
                  <a:fillRect l="-519" r="-389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B7142E2A-A81A-874B-BC0F-3DFA824DC6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8111" y="5614693"/>
                <a:ext cx="9759299" cy="615155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>
                    <a:solidFill>
                      <a:schemeClr val="tx1">
                        <a:lumMod val="95000"/>
                      </a:schemeClr>
                    </a:solidFill>
                  </a:rPr>
                  <a:t>Contradiction!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𝑻𝑴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tx1">
                        <a:lumMod val="95000"/>
                      </a:schemeClr>
                    </a:solidFill>
                  </a:rPr>
                  <a:t> is undecidable as proven earlier.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B7142E2A-A81A-874B-BC0F-3DFA824DC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111" y="5614693"/>
                <a:ext cx="9759299" cy="6151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35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C56-21DC-0A40-AA49-9AF4AF4C9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 4: Introduction to Reducibility</a:t>
            </a:r>
          </a:p>
        </p:txBody>
      </p:sp>
    </p:spTree>
    <p:extLst>
      <p:ext uri="{BB962C8B-B14F-4D97-AF65-F5344CB8AC3E}">
        <p14:creationId xmlns:p14="http://schemas.microsoft.com/office/powerpoint/2010/main" val="26302164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FA58C-0555-0E70-0E8A-F172C85B5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9F0C6-30F0-3F64-A2F5-526A89991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What is Reducibility?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7BF7-C0CB-A3BA-2306-D741A8AED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59371"/>
            <a:ext cx="9905999" cy="1089328"/>
          </a:xfrm>
          <a:solidFill>
            <a:schemeClr val="tx1">
              <a:lumMod val="95000"/>
            </a:schemeClr>
          </a:solidFill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Reduction</a:t>
            </a:r>
            <a:r>
              <a:rPr lang="en-US" dirty="0">
                <a:solidFill>
                  <a:schemeClr val="bg1"/>
                </a:solidFill>
              </a:rPr>
              <a:t>: A process through which problems are related to one another through comparison. This comparison establishes that one problem can be solved if the other is.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11BD98-9929-5A0C-5749-41DC4744F9FD}"/>
              </a:ext>
            </a:extLst>
          </p:cNvPr>
          <p:cNvSpPr txBox="1">
            <a:spLocks/>
          </p:cNvSpPr>
          <p:nvPr/>
        </p:nvSpPr>
        <p:spPr>
          <a:xfrm>
            <a:off x="1213600" y="2872461"/>
            <a:ext cx="3422567" cy="4878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Problem 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: Enter Japan during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Covid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DC6593-C34C-61F3-E7E6-42D15D13576F}"/>
              </a:ext>
            </a:extLst>
          </p:cNvPr>
          <p:cNvSpPr txBox="1">
            <a:spLocks/>
          </p:cNvSpPr>
          <p:nvPr/>
        </p:nvSpPr>
        <p:spPr>
          <a:xfrm>
            <a:off x="1213600" y="3310340"/>
            <a:ext cx="3422567" cy="279368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235AB0-0EA1-6E1E-8C42-818B1E49E164}"/>
              </a:ext>
            </a:extLst>
          </p:cNvPr>
          <p:cNvSpPr txBox="1">
            <a:spLocks/>
          </p:cNvSpPr>
          <p:nvPr/>
        </p:nvSpPr>
        <p:spPr>
          <a:xfrm>
            <a:off x="1382043" y="3470761"/>
            <a:ext cx="3069640" cy="512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Get </a:t>
            </a:r>
            <a:r>
              <a:rPr lang="en-US" dirty="0" err="1">
                <a:solidFill>
                  <a:schemeClr val="bg1"/>
                </a:solidFill>
              </a:rPr>
              <a:t>Covid</a:t>
            </a:r>
            <a:r>
              <a:rPr lang="en-US" dirty="0">
                <a:solidFill>
                  <a:schemeClr val="bg1"/>
                </a:solidFill>
              </a:rPr>
              <a:t> Visa Exception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26B9557-DBC0-B186-BEAA-12DE3759FBBF}"/>
              </a:ext>
            </a:extLst>
          </p:cNvPr>
          <p:cNvSpPr txBox="1">
            <a:spLocks/>
          </p:cNvSpPr>
          <p:nvPr/>
        </p:nvSpPr>
        <p:spPr>
          <a:xfrm>
            <a:off x="1382043" y="4093475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Book ticket(s)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539C219-FEBA-2C05-874E-04A79290556D}"/>
              </a:ext>
            </a:extLst>
          </p:cNvPr>
          <p:cNvSpPr txBox="1">
            <a:spLocks/>
          </p:cNvSpPr>
          <p:nvPr/>
        </p:nvSpPr>
        <p:spPr>
          <a:xfrm>
            <a:off x="1382043" y="4741174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Travel on plane, etc.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DB94F74-A23B-146B-2BC0-B2AB8D5C5E93}"/>
              </a:ext>
            </a:extLst>
          </p:cNvPr>
          <p:cNvSpPr txBox="1">
            <a:spLocks/>
          </p:cNvSpPr>
          <p:nvPr/>
        </p:nvSpPr>
        <p:spPr>
          <a:xfrm>
            <a:off x="1390063" y="5388873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Go visit </a:t>
            </a:r>
            <a:r>
              <a:rPr lang="en-US" dirty="0" err="1">
                <a:solidFill>
                  <a:schemeClr val="bg1"/>
                </a:solidFill>
              </a:rPr>
              <a:t>Obaachan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63FEAF-E92F-4E53-636B-C874FB8573F1}"/>
              </a:ext>
            </a:extLst>
          </p:cNvPr>
          <p:cNvSpPr txBox="1">
            <a:spLocks/>
          </p:cNvSpPr>
          <p:nvPr/>
        </p:nvSpPr>
        <p:spPr>
          <a:xfrm>
            <a:off x="6094411" y="4900672"/>
            <a:ext cx="2452021" cy="4878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These are all </a:t>
            </a: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easy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!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80976AB-260F-ADE6-EB90-0C77E510AF81}"/>
              </a:ext>
            </a:extLst>
          </p:cNvPr>
          <p:cNvSpPr txBox="1">
            <a:spLocks/>
          </p:cNvSpPr>
          <p:nvPr/>
        </p:nvSpPr>
        <p:spPr>
          <a:xfrm>
            <a:off x="6182642" y="3603270"/>
            <a:ext cx="2452021" cy="4878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</a:rPr>
              <a:t>This one was </a:t>
            </a:r>
            <a:r>
              <a:rPr lang="en-US" b="1" i="1" u="sng" dirty="0">
                <a:solidFill>
                  <a:schemeClr val="accent1"/>
                </a:solidFill>
              </a:rPr>
              <a:t>hard</a:t>
            </a:r>
            <a:r>
              <a:rPr lang="en-US" dirty="0">
                <a:solidFill>
                  <a:schemeClr val="accent1"/>
                </a:solidFill>
              </a:rPr>
              <a:t>!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081633-0EAB-592B-0D19-D7F7EDA1291E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4459703" y="3726893"/>
            <a:ext cx="1722939" cy="120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0517E6-030D-36EA-8088-0E0463E35EFF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4451683" y="4342955"/>
            <a:ext cx="1642728" cy="801642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3BE4A7-872E-117F-056B-211408F3B110}"/>
              </a:ext>
            </a:extLst>
          </p:cNvPr>
          <p:cNvCxnSpPr>
            <a:cxnSpLocks/>
            <a:stCxn id="11" idx="1"/>
            <a:endCxn id="9" idx="3"/>
          </p:cNvCxnSpPr>
          <p:nvPr/>
        </p:nvCxnSpPr>
        <p:spPr>
          <a:xfrm flipH="1" flipV="1">
            <a:off x="4451683" y="4997306"/>
            <a:ext cx="1642728" cy="147291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08C436-F076-966A-6771-BB1DA227618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>
            <a:off x="4459703" y="5144597"/>
            <a:ext cx="1634708" cy="500408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271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What is Reducibility?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8F5F-F936-6145-9FF8-704886F1A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59371"/>
            <a:ext cx="9905999" cy="1089328"/>
          </a:xfrm>
          <a:solidFill>
            <a:schemeClr val="tx1">
              <a:lumMod val="95000"/>
            </a:schemeClr>
          </a:solidFill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i="1" u="sng" dirty="0">
                <a:solidFill>
                  <a:schemeClr val="bg1"/>
                </a:solidFill>
              </a:rPr>
              <a:t>Reduction</a:t>
            </a:r>
            <a:r>
              <a:rPr lang="en-US" dirty="0">
                <a:solidFill>
                  <a:schemeClr val="bg1"/>
                </a:solidFill>
              </a:rPr>
              <a:t>: A process through which problems are related to one another through comparison. This comparison establishes that one problem can be solved if the other is.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1213600" y="2872461"/>
            <a:ext cx="3422567" cy="4878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Problem 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: Enter Japan during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Covid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637AFE-B5B2-D841-8AFF-6837F63CB371}"/>
              </a:ext>
            </a:extLst>
          </p:cNvPr>
          <p:cNvSpPr txBox="1">
            <a:spLocks/>
          </p:cNvSpPr>
          <p:nvPr/>
        </p:nvSpPr>
        <p:spPr>
          <a:xfrm>
            <a:off x="1213600" y="3310340"/>
            <a:ext cx="3422567" cy="279368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BB2431-CB7E-EC49-9227-41C303403B44}"/>
              </a:ext>
            </a:extLst>
          </p:cNvPr>
          <p:cNvSpPr txBox="1">
            <a:spLocks/>
          </p:cNvSpPr>
          <p:nvPr/>
        </p:nvSpPr>
        <p:spPr>
          <a:xfrm>
            <a:off x="1382043" y="3470761"/>
            <a:ext cx="3069640" cy="512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Get </a:t>
            </a:r>
            <a:r>
              <a:rPr lang="en-US" dirty="0" err="1">
                <a:solidFill>
                  <a:schemeClr val="bg1"/>
                </a:solidFill>
              </a:rPr>
              <a:t>Covid</a:t>
            </a:r>
            <a:r>
              <a:rPr lang="en-US" dirty="0">
                <a:solidFill>
                  <a:schemeClr val="bg1"/>
                </a:solidFill>
              </a:rPr>
              <a:t> Visa Exception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767C8B9-9E01-5145-B28B-EF94B7E118A1}"/>
              </a:ext>
            </a:extLst>
          </p:cNvPr>
          <p:cNvSpPr txBox="1">
            <a:spLocks/>
          </p:cNvSpPr>
          <p:nvPr/>
        </p:nvSpPr>
        <p:spPr>
          <a:xfrm>
            <a:off x="1382043" y="4093475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Book ticket(s)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FF8A44-73B8-9D4F-9850-4500EB77D1E6}"/>
              </a:ext>
            </a:extLst>
          </p:cNvPr>
          <p:cNvSpPr txBox="1">
            <a:spLocks/>
          </p:cNvSpPr>
          <p:nvPr/>
        </p:nvSpPr>
        <p:spPr>
          <a:xfrm>
            <a:off x="1382043" y="4741174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Travel on plane, etc.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5E219D-1686-C34D-9543-6F7C039DCC07}"/>
              </a:ext>
            </a:extLst>
          </p:cNvPr>
          <p:cNvSpPr txBox="1">
            <a:spLocks/>
          </p:cNvSpPr>
          <p:nvPr/>
        </p:nvSpPr>
        <p:spPr>
          <a:xfrm>
            <a:off x="1390063" y="5388873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Go visit </a:t>
            </a:r>
            <a:r>
              <a:rPr lang="en-US" dirty="0" err="1">
                <a:solidFill>
                  <a:schemeClr val="bg1"/>
                </a:solidFill>
              </a:rPr>
              <a:t>Obaachan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AC04DB-BDAF-D347-A482-3E3FA1840AFC}"/>
              </a:ext>
            </a:extLst>
          </p:cNvPr>
          <p:cNvSpPr txBox="1">
            <a:spLocks/>
          </p:cNvSpPr>
          <p:nvPr/>
        </p:nvSpPr>
        <p:spPr>
          <a:xfrm>
            <a:off x="6090402" y="2872461"/>
            <a:ext cx="3422567" cy="4878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Problem B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: Get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Covid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Visa Exception.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7653097-D0A0-EC4B-81B0-1E705ED3DD67}"/>
              </a:ext>
            </a:extLst>
          </p:cNvPr>
          <p:cNvSpPr txBox="1">
            <a:spLocks/>
          </p:cNvSpPr>
          <p:nvPr/>
        </p:nvSpPr>
        <p:spPr>
          <a:xfrm>
            <a:off x="6090402" y="3310340"/>
            <a:ext cx="3422567" cy="279368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0CCC80F-0C0A-884A-A7AB-7493B7E8AF9A}"/>
              </a:ext>
            </a:extLst>
          </p:cNvPr>
          <p:cNvSpPr txBox="1">
            <a:spLocks/>
          </p:cNvSpPr>
          <p:nvPr/>
        </p:nvSpPr>
        <p:spPr>
          <a:xfrm>
            <a:off x="6258845" y="3470761"/>
            <a:ext cx="3069640" cy="512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Retrieve Marriage Paperwork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(Japan)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7D6A8F8-0EC0-5A4A-81C9-DCE8D571E470}"/>
              </a:ext>
            </a:extLst>
          </p:cNvPr>
          <p:cNvSpPr txBox="1">
            <a:spLocks/>
          </p:cNvSpPr>
          <p:nvPr/>
        </p:nvSpPr>
        <p:spPr>
          <a:xfrm>
            <a:off x="6258845" y="4093475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Acquire invite from citizen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AA53821-F03C-A343-8DEB-FB62F35EA1C0}"/>
              </a:ext>
            </a:extLst>
          </p:cNvPr>
          <p:cNvSpPr txBox="1">
            <a:spLocks/>
          </p:cNvSpPr>
          <p:nvPr/>
        </p:nvSpPr>
        <p:spPr>
          <a:xfrm>
            <a:off x="6258845" y="4741174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Bring paperwork to embassy in DC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8BB1A07-B1D3-4D4C-BB07-93D408CB71AD}"/>
              </a:ext>
            </a:extLst>
          </p:cNvPr>
          <p:cNvSpPr txBox="1">
            <a:spLocks/>
          </p:cNvSpPr>
          <p:nvPr/>
        </p:nvSpPr>
        <p:spPr>
          <a:xfrm>
            <a:off x="6266865" y="5388873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984E58DD-DD73-B74E-B04B-08906DA1F44D}"/>
              </a:ext>
            </a:extLst>
          </p:cNvPr>
          <p:cNvSpPr/>
          <p:nvPr/>
        </p:nvSpPr>
        <p:spPr>
          <a:xfrm>
            <a:off x="4804610" y="4535936"/>
            <a:ext cx="1106906" cy="2309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D2D6FC5-13D7-174F-B5F0-F38B3D879E2E}"/>
              </a:ext>
            </a:extLst>
          </p:cNvPr>
          <p:cNvSpPr txBox="1">
            <a:spLocks/>
          </p:cNvSpPr>
          <p:nvPr/>
        </p:nvSpPr>
        <p:spPr>
          <a:xfrm>
            <a:off x="4772523" y="4276733"/>
            <a:ext cx="1114930" cy="35306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Reduces to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66AB54E-C9B3-DF4A-969C-06599DAA08CC}"/>
              </a:ext>
            </a:extLst>
          </p:cNvPr>
          <p:cNvSpPr txBox="1">
            <a:spLocks/>
          </p:cNvSpPr>
          <p:nvPr/>
        </p:nvSpPr>
        <p:spPr>
          <a:xfrm>
            <a:off x="10162675" y="3843265"/>
            <a:ext cx="1813972" cy="8811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</a:rPr>
              <a:t>Now this one is hard!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E02E14-6658-3549-836B-46CCC2F09529}"/>
              </a:ext>
            </a:extLst>
          </p:cNvPr>
          <p:cNvCxnSpPr>
            <a:cxnSpLocks/>
            <a:stCxn id="25" idx="1"/>
            <a:endCxn id="19" idx="3"/>
          </p:cNvCxnSpPr>
          <p:nvPr/>
        </p:nvCxnSpPr>
        <p:spPr>
          <a:xfrm flipH="1" flipV="1">
            <a:off x="9328485" y="3726893"/>
            <a:ext cx="834190" cy="556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5100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What is Reducibility?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1984875" y="1536640"/>
            <a:ext cx="3422567" cy="4878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Problem 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: Enter Japan during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Covid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637AFE-B5B2-D841-8AFF-6837F63CB371}"/>
              </a:ext>
            </a:extLst>
          </p:cNvPr>
          <p:cNvSpPr txBox="1">
            <a:spLocks/>
          </p:cNvSpPr>
          <p:nvPr/>
        </p:nvSpPr>
        <p:spPr>
          <a:xfrm>
            <a:off x="1984875" y="1974519"/>
            <a:ext cx="3422567" cy="279368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BB2431-CB7E-EC49-9227-41C303403B44}"/>
              </a:ext>
            </a:extLst>
          </p:cNvPr>
          <p:cNvSpPr txBox="1">
            <a:spLocks/>
          </p:cNvSpPr>
          <p:nvPr/>
        </p:nvSpPr>
        <p:spPr>
          <a:xfrm>
            <a:off x="2153318" y="2134940"/>
            <a:ext cx="3069640" cy="512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Get </a:t>
            </a:r>
            <a:r>
              <a:rPr lang="en-US" dirty="0" err="1">
                <a:solidFill>
                  <a:schemeClr val="bg1"/>
                </a:solidFill>
              </a:rPr>
              <a:t>Covid</a:t>
            </a:r>
            <a:r>
              <a:rPr lang="en-US" dirty="0">
                <a:solidFill>
                  <a:schemeClr val="bg1"/>
                </a:solidFill>
              </a:rPr>
              <a:t> Visa Exception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767C8B9-9E01-5145-B28B-EF94B7E118A1}"/>
              </a:ext>
            </a:extLst>
          </p:cNvPr>
          <p:cNvSpPr txBox="1">
            <a:spLocks/>
          </p:cNvSpPr>
          <p:nvPr/>
        </p:nvSpPr>
        <p:spPr>
          <a:xfrm>
            <a:off x="2153318" y="2757654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Book ticket(s)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FF8A44-73B8-9D4F-9850-4500EB77D1E6}"/>
              </a:ext>
            </a:extLst>
          </p:cNvPr>
          <p:cNvSpPr txBox="1">
            <a:spLocks/>
          </p:cNvSpPr>
          <p:nvPr/>
        </p:nvSpPr>
        <p:spPr>
          <a:xfrm>
            <a:off x="2153318" y="3405353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Travel on plane, etc.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5E219D-1686-C34D-9543-6F7C039DCC07}"/>
              </a:ext>
            </a:extLst>
          </p:cNvPr>
          <p:cNvSpPr txBox="1">
            <a:spLocks/>
          </p:cNvSpPr>
          <p:nvPr/>
        </p:nvSpPr>
        <p:spPr>
          <a:xfrm>
            <a:off x="2161338" y="4053052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Go visit </a:t>
            </a:r>
            <a:r>
              <a:rPr lang="en-US" dirty="0" err="1">
                <a:solidFill>
                  <a:schemeClr val="bg1"/>
                </a:solidFill>
              </a:rPr>
              <a:t>Obaachan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AC04DB-BDAF-D347-A482-3E3FA1840AFC}"/>
              </a:ext>
            </a:extLst>
          </p:cNvPr>
          <p:cNvSpPr txBox="1">
            <a:spLocks/>
          </p:cNvSpPr>
          <p:nvPr/>
        </p:nvSpPr>
        <p:spPr>
          <a:xfrm>
            <a:off x="6861677" y="1536640"/>
            <a:ext cx="3422567" cy="4878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Problem B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: Get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Covid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Visa Exception.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7653097-D0A0-EC4B-81B0-1E705ED3DD67}"/>
              </a:ext>
            </a:extLst>
          </p:cNvPr>
          <p:cNvSpPr txBox="1">
            <a:spLocks/>
          </p:cNvSpPr>
          <p:nvPr/>
        </p:nvSpPr>
        <p:spPr>
          <a:xfrm>
            <a:off x="6861677" y="1974519"/>
            <a:ext cx="3422567" cy="279368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0CCC80F-0C0A-884A-A7AB-7493B7E8AF9A}"/>
              </a:ext>
            </a:extLst>
          </p:cNvPr>
          <p:cNvSpPr txBox="1">
            <a:spLocks/>
          </p:cNvSpPr>
          <p:nvPr/>
        </p:nvSpPr>
        <p:spPr>
          <a:xfrm>
            <a:off x="7030120" y="2134940"/>
            <a:ext cx="3069640" cy="512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Retrieve Marriage Paperwork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(Japan)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7D6A8F8-0EC0-5A4A-81C9-DCE8D571E470}"/>
              </a:ext>
            </a:extLst>
          </p:cNvPr>
          <p:cNvSpPr txBox="1">
            <a:spLocks/>
          </p:cNvSpPr>
          <p:nvPr/>
        </p:nvSpPr>
        <p:spPr>
          <a:xfrm>
            <a:off x="7030120" y="2757654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Acquire invite from citizen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AA53821-F03C-A343-8DEB-FB62F35EA1C0}"/>
              </a:ext>
            </a:extLst>
          </p:cNvPr>
          <p:cNvSpPr txBox="1">
            <a:spLocks/>
          </p:cNvSpPr>
          <p:nvPr/>
        </p:nvSpPr>
        <p:spPr>
          <a:xfrm>
            <a:off x="7030120" y="3405353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Bring paperwork to embassy in DC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8BB1A07-B1D3-4D4C-BB07-93D408CB71AD}"/>
              </a:ext>
            </a:extLst>
          </p:cNvPr>
          <p:cNvSpPr txBox="1">
            <a:spLocks/>
          </p:cNvSpPr>
          <p:nvPr/>
        </p:nvSpPr>
        <p:spPr>
          <a:xfrm>
            <a:off x="7038140" y="4053052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984E58DD-DD73-B74E-B04B-08906DA1F44D}"/>
              </a:ext>
            </a:extLst>
          </p:cNvPr>
          <p:cNvSpPr/>
          <p:nvPr/>
        </p:nvSpPr>
        <p:spPr>
          <a:xfrm>
            <a:off x="5575885" y="3200115"/>
            <a:ext cx="1106906" cy="2309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D2D6FC5-13D7-174F-B5F0-F38B3D879E2E}"/>
              </a:ext>
            </a:extLst>
          </p:cNvPr>
          <p:cNvSpPr txBox="1">
            <a:spLocks/>
          </p:cNvSpPr>
          <p:nvPr/>
        </p:nvSpPr>
        <p:spPr>
          <a:xfrm>
            <a:off x="5543798" y="2940912"/>
            <a:ext cx="1114930" cy="35306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Reduces to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BDA79D4-8DA8-364A-B0DF-42FF73F2A0CE}"/>
              </a:ext>
            </a:extLst>
          </p:cNvPr>
          <p:cNvSpPr txBox="1">
            <a:spLocks/>
          </p:cNvSpPr>
          <p:nvPr/>
        </p:nvSpPr>
        <p:spPr>
          <a:xfrm>
            <a:off x="1219406" y="5226184"/>
            <a:ext cx="9883471" cy="70548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</a:rPr>
              <a:t>Question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: What if it is a </a:t>
            </a:r>
            <a:r>
              <a:rPr lang="en-US" b="1" i="1" dirty="0">
                <a:solidFill>
                  <a:schemeClr val="tx1">
                    <a:lumMod val="95000"/>
                  </a:schemeClr>
                </a:solidFill>
              </a:rPr>
              <a:t>FACT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that “Problem A: Enter Japan During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Covid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” is impossible to accomplish? What can you then conclude is also impossible? Why?</a:t>
            </a:r>
          </a:p>
        </p:txBody>
      </p:sp>
    </p:spTree>
    <p:extLst>
      <p:ext uri="{BB962C8B-B14F-4D97-AF65-F5344CB8AC3E}">
        <p14:creationId xmlns:p14="http://schemas.microsoft.com/office/powerpoint/2010/main" val="15245611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Reduction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8F5F-F936-6145-9FF8-704886F1A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59371"/>
            <a:ext cx="9905999" cy="108932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en-US" b="1" i="1" u="sng" dirty="0">
                <a:solidFill>
                  <a:schemeClr val="bg1"/>
                </a:solidFill>
              </a:rPr>
              <a:t>Reduction</a:t>
            </a:r>
            <a:r>
              <a:rPr lang="en-US" dirty="0">
                <a:solidFill>
                  <a:schemeClr val="bg1"/>
                </a:solidFill>
              </a:rPr>
              <a:t>: A reduction exists between problems </a:t>
            </a:r>
            <a:r>
              <a:rPr lang="en-US" b="1" i="1" dirty="0">
                <a:solidFill>
                  <a:schemeClr val="bg1"/>
                </a:solidFill>
              </a:rPr>
              <a:t>A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i="1" dirty="0">
                <a:solidFill>
                  <a:schemeClr val="bg1"/>
                </a:solidFill>
              </a:rPr>
              <a:t>B</a:t>
            </a:r>
            <a:r>
              <a:rPr lang="en-US" dirty="0">
                <a:solidFill>
                  <a:schemeClr val="bg1"/>
                </a:solidFill>
              </a:rPr>
              <a:t> if a solution to </a:t>
            </a:r>
            <a:r>
              <a:rPr lang="en-US" b="1" i="1" dirty="0">
                <a:solidFill>
                  <a:schemeClr val="bg1"/>
                </a:solidFill>
              </a:rPr>
              <a:t>B</a:t>
            </a:r>
            <a:r>
              <a:rPr lang="en-US" dirty="0">
                <a:solidFill>
                  <a:schemeClr val="bg1"/>
                </a:solidFill>
              </a:rPr>
              <a:t> can be used to develop a solution for </a:t>
            </a:r>
            <a:r>
              <a:rPr lang="en-US" b="1" i="1" dirty="0">
                <a:solidFill>
                  <a:schemeClr val="bg1"/>
                </a:solidFill>
              </a:rPr>
              <a:t>A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14889EB-EF30-2147-B73E-154EFBCBA4CA}"/>
              </a:ext>
            </a:extLst>
          </p:cNvPr>
          <p:cNvSpPr txBox="1">
            <a:spLocks/>
          </p:cNvSpPr>
          <p:nvPr/>
        </p:nvSpPr>
        <p:spPr>
          <a:xfrm>
            <a:off x="2248316" y="2792250"/>
            <a:ext cx="3422567" cy="4878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Problem </a:t>
            </a:r>
            <a:r>
              <a:rPr lang="en-US" b="1" i="1" dirty="0">
                <a:solidFill>
                  <a:schemeClr val="tx1">
                    <a:lumMod val="95000"/>
                  </a:schemeClr>
                </a:solidFill>
              </a:rPr>
              <a:t>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F2A420-8040-0345-9243-05F400115AE0}"/>
              </a:ext>
            </a:extLst>
          </p:cNvPr>
          <p:cNvSpPr txBox="1">
            <a:spLocks/>
          </p:cNvSpPr>
          <p:nvPr/>
        </p:nvSpPr>
        <p:spPr>
          <a:xfrm>
            <a:off x="2248316" y="3222108"/>
            <a:ext cx="3422567" cy="2793680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8ED63A6-57CF-2748-B5CC-98712E6FDFDB}"/>
              </a:ext>
            </a:extLst>
          </p:cNvPr>
          <p:cNvSpPr txBox="1">
            <a:spLocks/>
          </p:cNvSpPr>
          <p:nvPr/>
        </p:nvSpPr>
        <p:spPr>
          <a:xfrm>
            <a:off x="2416759" y="3382529"/>
            <a:ext cx="3069640" cy="512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Solve problem B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6822740-1797-444A-9543-A770D02028A2}"/>
              </a:ext>
            </a:extLst>
          </p:cNvPr>
          <p:cNvSpPr txBox="1">
            <a:spLocks/>
          </p:cNvSpPr>
          <p:nvPr/>
        </p:nvSpPr>
        <p:spPr>
          <a:xfrm>
            <a:off x="2416759" y="4005243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Do easy work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582851D-81F1-3B4A-BD49-BCE334138F19}"/>
              </a:ext>
            </a:extLst>
          </p:cNvPr>
          <p:cNvSpPr txBox="1">
            <a:spLocks/>
          </p:cNvSpPr>
          <p:nvPr/>
        </p:nvSpPr>
        <p:spPr>
          <a:xfrm>
            <a:off x="2416759" y="4652942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Do more easy work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46BE0E-7AF6-384F-B630-60A05BF791D7}"/>
              </a:ext>
            </a:extLst>
          </p:cNvPr>
          <p:cNvSpPr txBox="1">
            <a:spLocks/>
          </p:cNvSpPr>
          <p:nvPr/>
        </p:nvSpPr>
        <p:spPr>
          <a:xfrm>
            <a:off x="2424779" y="5300641"/>
            <a:ext cx="3069640" cy="51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C4CBEC9-814C-8C49-986A-DF5F1C8532A1}"/>
              </a:ext>
            </a:extLst>
          </p:cNvPr>
          <p:cNvSpPr txBox="1">
            <a:spLocks/>
          </p:cNvSpPr>
          <p:nvPr/>
        </p:nvSpPr>
        <p:spPr>
          <a:xfrm>
            <a:off x="7207752" y="3789543"/>
            <a:ext cx="3123364" cy="4878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Problem </a:t>
            </a:r>
            <a:r>
              <a:rPr lang="en-US" b="1" i="1" dirty="0">
                <a:solidFill>
                  <a:schemeClr val="tx1">
                    <a:lumMod val="95000"/>
                  </a:schemeClr>
                </a:solidFill>
              </a:rPr>
              <a:t>B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2DF8AE6-EC2C-E644-AA73-9F6A7AC2B113}"/>
              </a:ext>
            </a:extLst>
          </p:cNvPr>
          <p:cNvSpPr txBox="1">
            <a:spLocks/>
          </p:cNvSpPr>
          <p:nvPr/>
        </p:nvSpPr>
        <p:spPr>
          <a:xfrm>
            <a:off x="7253455" y="4261375"/>
            <a:ext cx="3069640" cy="512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Solve problem B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CE71C290-A4EB-B348-B14E-9071BDA78B93}"/>
              </a:ext>
            </a:extLst>
          </p:cNvPr>
          <p:cNvSpPr/>
          <p:nvPr/>
        </p:nvSpPr>
        <p:spPr>
          <a:xfrm>
            <a:off x="5839326" y="4447704"/>
            <a:ext cx="1106906" cy="2309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A1F5251-11D8-9B44-B6F0-EE471C79653C}"/>
              </a:ext>
            </a:extLst>
          </p:cNvPr>
          <p:cNvSpPr txBox="1">
            <a:spLocks/>
          </p:cNvSpPr>
          <p:nvPr/>
        </p:nvSpPr>
        <p:spPr>
          <a:xfrm>
            <a:off x="5807239" y="4188501"/>
            <a:ext cx="1114930" cy="35306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Reduces to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7417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The Halting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230510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The Halting Problem</a:t>
                </a:r>
                <a:r>
                  <a:rPr lang="en-US" dirty="0">
                    <a:solidFill>
                      <a:schemeClr val="bg1"/>
                    </a:solidFill>
                  </a:rPr>
                  <a:t>: Given a Turing machine, does it halt: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𝐻𝑎𝑙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h𝑎𝑙𝑡𝑠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230510"/>
                <a:ext cx="9905999" cy="108932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3BECC60-563F-C946-B1D4-1F492C33213B}"/>
              </a:ext>
            </a:extLst>
          </p:cNvPr>
          <p:cNvGrpSpPr/>
          <p:nvPr/>
        </p:nvGrpSpPr>
        <p:grpSpPr>
          <a:xfrm>
            <a:off x="2192169" y="2615788"/>
            <a:ext cx="8082800" cy="2549771"/>
            <a:chOff x="2192169" y="2615788"/>
            <a:chExt cx="8082800" cy="25497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ontent Placeholder 2">
                  <a:extLst>
                    <a:ext uri="{FF2B5EF4-FFF2-40B4-BE49-F238E27FC236}">
                      <a16:creationId xmlns:a16="http://schemas.microsoft.com/office/drawing/2014/main" id="{C14889EB-EF30-2147-B73E-154EFBCBA4C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2169" y="2615788"/>
                  <a:ext cx="3422567" cy="487850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 fontScale="85000"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𝑻𝑴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i="1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" name="Content Placeholder 2">
                  <a:extLst>
                    <a:ext uri="{FF2B5EF4-FFF2-40B4-BE49-F238E27FC236}">
                      <a16:creationId xmlns:a16="http://schemas.microsoft.com/office/drawing/2014/main" id="{C14889EB-EF30-2147-B73E-154EFBCBA4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2169" y="2615788"/>
                  <a:ext cx="3422567" cy="48785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BAF2A420-8040-0345-9243-05F400115AE0}"/>
                </a:ext>
              </a:extLst>
            </p:cNvPr>
            <p:cNvSpPr txBox="1">
              <a:spLocks/>
            </p:cNvSpPr>
            <p:nvPr/>
          </p:nvSpPr>
          <p:spPr>
            <a:xfrm>
              <a:off x="2192169" y="3045646"/>
              <a:ext cx="3422567" cy="2119913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D8ED63A6-57CF-2748-B5CC-98712E6FDFDB}"/>
                </a:ext>
              </a:extLst>
            </p:cNvPr>
            <p:cNvSpPr txBox="1">
              <a:spLocks/>
            </p:cNvSpPr>
            <p:nvPr/>
          </p:nvSpPr>
          <p:spPr>
            <a:xfrm>
              <a:off x="2360612" y="4447485"/>
              <a:ext cx="3069640" cy="5122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dirty="0">
                  <a:solidFill>
                    <a:schemeClr val="bg1"/>
                  </a:solidFill>
                </a:rPr>
                <a:t>Reject if M loops forever</a:t>
              </a: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B6822740-1797-444A-9543-A770D02028A2}"/>
                </a:ext>
              </a:extLst>
            </p:cNvPr>
            <p:cNvSpPr txBox="1">
              <a:spLocks/>
            </p:cNvSpPr>
            <p:nvPr/>
          </p:nvSpPr>
          <p:spPr>
            <a:xfrm>
              <a:off x="2360612" y="3828781"/>
              <a:ext cx="3069640" cy="51226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dirty="0">
                  <a:solidFill>
                    <a:schemeClr val="bg1"/>
                  </a:solidFill>
                </a:rPr>
                <a:t>Reject if M rejects</a:t>
              </a: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E582851D-81F1-3B4A-BD49-BCE334138F19}"/>
                </a:ext>
              </a:extLst>
            </p:cNvPr>
            <p:cNvSpPr txBox="1">
              <a:spLocks/>
            </p:cNvSpPr>
            <p:nvPr/>
          </p:nvSpPr>
          <p:spPr>
            <a:xfrm>
              <a:off x="2360612" y="3210077"/>
              <a:ext cx="3069640" cy="51226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dirty="0">
                  <a:solidFill>
                    <a:schemeClr val="bg1"/>
                  </a:solidFill>
                </a:rPr>
                <a:t>Accept if M accepts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ontent Placeholder 2">
                  <a:extLst>
                    <a:ext uri="{FF2B5EF4-FFF2-40B4-BE49-F238E27FC236}">
                      <a16:creationId xmlns:a16="http://schemas.microsoft.com/office/drawing/2014/main" id="{4C4CBEC9-814C-8C49-986A-DF5F1C8532A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151605" y="3492766"/>
                  <a:ext cx="3123364" cy="487850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 fontScale="85000"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𝑯𝒂𝒍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𝑻𝑴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i="1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" name="Content Placeholder 2">
                  <a:extLst>
                    <a:ext uri="{FF2B5EF4-FFF2-40B4-BE49-F238E27FC236}">
                      <a16:creationId xmlns:a16="http://schemas.microsoft.com/office/drawing/2014/main" id="{4C4CBEC9-814C-8C49-986A-DF5F1C853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605" y="3492766"/>
                  <a:ext cx="3123364" cy="4878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22DF8AE6-EC2C-E644-AA73-9F6A7AC2B113}"/>
                </a:ext>
              </a:extLst>
            </p:cNvPr>
            <p:cNvSpPr txBox="1">
              <a:spLocks/>
            </p:cNvSpPr>
            <p:nvPr/>
          </p:nvSpPr>
          <p:spPr>
            <a:xfrm>
              <a:off x="7197308" y="3964598"/>
              <a:ext cx="3069640" cy="5122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dirty="0">
                  <a:solidFill>
                    <a:schemeClr val="bg1"/>
                  </a:solidFill>
                </a:rPr>
                <a:t>Does M halt on w?</a:t>
              </a:r>
            </a:p>
          </p:txBody>
        </p:sp>
        <p:sp>
          <p:nvSpPr>
            <p:cNvPr id="18" name="Right Arrow 17">
              <a:extLst>
                <a:ext uri="{FF2B5EF4-FFF2-40B4-BE49-F238E27FC236}">
                  <a16:creationId xmlns:a16="http://schemas.microsoft.com/office/drawing/2014/main" id="{CE71C290-A4EB-B348-B14E-9071BDA78B93}"/>
                </a:ext>
              </a:extLst>
            </p:cNvPr>
            <p:cNvSpPr/>
            <p:nvPr/>
          </p:nvSpPr>
          <p:spPr>
            <a:xfrm>
              <a:off x="5783179" y="4110822"/>
              <a:ext cx="1106906" cy="23095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5A1F5251-11D8-9B44-B6F0-EE471C79653C}"/>
                </a:ext>
              </a:extLst>
            </p:cNvPr>
            <p:cNvSpPr txBox="1">
              <a:spLocks/>
            </p:cNvSpPr>
            <p:nvPr/>
          </p:nvSpPr>
          <p:spPr>
            <a:xfrm>
              <a:off x="5751092" y="3851619"/>
              <a:ext cx="1114930" cy="353069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rmAutofit fontScale="70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i="1" dirty="0">
                  <a:solidFill>
                    <a:schemeClr val="tx1">
                      <a:lumMod val="95000"/>
                    </a:schemeClr>
                  </a:solidFill>
                </a:rPr>
                <a:t>Reduces to</a:t>
              </a: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8D7E35D-F887-4B40-8E0A-83A269E85F38}"/>
              </a:ext>
            </a:extLst>
          </p:cNvPr>
          <p:cNvSpPr txBox="1">
            <a:spLocks/>
          </p:cNvSpPr>
          <p:nvPr/>
        </p:nvSpPr>
        <p:spPr>
          <a:xfrm>
            <a:off x="6866022" y="5518485"/>
            <a:ext cx="2422358" cy="99461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If I can solve the problem in green, then I can solve both of these problems!!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4D9B4A-88B9-F94F-924F-7DC40872399E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4197619" y="5049253"/>
            <a:ext cx="2668403" cy="966537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38D758-5B78-D940-9E12-7A0A37B42524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8077201" y="4580022"/>
            <a:ext cx="636086" cy="93846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69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The Halting Problem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3BECC60-563F-C946-B1D4-1F492C33213B}"/>
              </a:ext>
            </a:extLst>
          </p:cNvPr>
          <p:cNvGrpSpPr/>
          <p:nvPr/>
        </p:nvGrpSpPr>
        <p:grpSpPr>
          <a:xfrm>
            <a:off x="2192169" y="876634"/>
            <a:ext cx="8082800" cy="2549771"/>
            <a:chOff x="2192169" y="2615788"/>
            <a:chExt cx="8082800" cy="25497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ontent Placeholder 2">
                  <a:extLst>
                    <a:ext uri="{FF2B5EF4-FFF2-40B4-BE49-F238E27FC236}">
                      <a16:creationId xmlns:a16="http://schemas.microsoft.com/office/drawing/2014/main" id="{C14889EB-EF30-2147-B73E-154EFBCBA4C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2169" y="2615788"/>
                  <a:ext cx="3422567" cy="487850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 fontScale="85000"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𝑻𝑴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i="1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" name="Content Placeholder 2">
                  <a:extLst>
                    <a:ext uri="{FF2B5EF4-FFF2-40B4-BE49-F238E27FC236}">
                      <a16:creationId xmlns:a16="http://schemas.microsoft.com/office/drawing/2014/main" id="{C14889EB-EF30-2147-B73E-154EFBCBA4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2169" y="2615788"/>
                  <a:ext cx="3422567" cy="487850"/>
                </a:xfrm>
                <a:prstGeom prst="rect">
                  <a:avLst/>
                </a:prstGeom>
                <a:blipFill>
                  <a:blip r:embed="rId2"/>
                  <a:stretch>
                    <a:fillRect b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BAF2A420-8040-0345-9243-05F400115AE0}"/>
                </a:ext>
              </a:extLst>
            </p:cNvPr>
            <p:cNvSpPr txBox="1">
              <a:spLocks/>
            </p:cNvSpPr>
            <p:nvPr/>
          </p:nvSpPr>
          <p:spPr>
            <a:xfrm>
              <a:off x="2192169" y="3045646"/>
              <a:ext cx="3422567" cy="2119913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D8ED63A6-57CF-2748-B5CC-98712E6FDFDB}"/>
                </a:ext>
              </a:extLst>
            </p:cNvPr>
            <p:cNvSpPr txBox="1">
              <a:spLocks/>
            </p:cNvSpPr>
            <p:nvPr/>
          </p:nvSpPr>
          <p:spPr>
            <a:xfrm>
              <a:off x="2360612" y="4447485"/>
              <a:ext cx="3069640" cy="5122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dirty="0">
                  <a:solidFill>
                    <a:schemeClr val="bg1"/>
                  </a:solidFill>
                </a:rPr>
                <a:t>Reject if M loops forever</a:t>
              </a: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B6822740-1797-444A-9543-A770D02028A2}"/>
                </a:ext>
              </a:extLst>
            </p:cNvPr>
            <p:cNvSpPr txBox="1">
              <a:spLocks/>
            </p:cNvSpPr>
            <p:nvPr/>
          </p:nvSpPr>
          <p:spPr>
            <a:xfrm>
              <a:off x="2360612" y="3828781"/>
              <a:ext cx="3069640" cy="51226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dirty="0">
                  <a:solidFill>
                    <a:schemeClr val="bg1"/>
                  </a:solidFill>
                </a:rPr>
                <a:t>Reject if M rejects</a:t>
              </a: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E582851D-81F1-3B4A-BD49-BCE334138F19}"/>
                </a:ext>
              </a:extLst>
            </p:cNvPr>
            <p:cNvSpPr txBox="1">
              <a:spLocks/>
            </p:cNvSpPr>
            <p:nvPr/>
          </p:nvSpPr>
          <p:spPr>
            <a:xfrm>
              <a:off x="2360612" y="3210077"/>
              <a:ext cx="3069640" cy="512264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dirty="0">
                  <a:solidFill>
                    <a:schemeClr val="bg1"/>
                  </a:solidFill>
                </a:rPr>
                <a:t>Accept if M accepts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ontent Placeholder 2">
                  <a:extLst>
                    <a:ext uri="{FF2B5EF4-FFF2-40B4-BE49-F238E27FC236}">
                      <a16:creationId xmlns:a16="http://schemas.microsoft.com/office/drawing/2014/main" id="{4C4CBEC9-814C-8C49-986A-DF5F1C8532A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151605" y="3492766"/>
                  <a:ext cx="3123364" cy="487850"/>
                </a:xfrm>
                <a:prstGeom prst="rect">
                  <a:avLst/>
                </a:prstGeom>
                <a:noFill/>
              </p:spPr>
              <p:txBody>
                <a:bodyPr vert="horz" lIns="91440" tIns="45720" rIns="91440" bIns="45720" rtlCol="0">
                  <a:normAutofit fontScale="85000"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120000"/>
                    </a:lnSpc>
                    <a:spcBef>
                      <a:spcPts val="1000"/>
                    </a:spcBef>
                    <a:buSzPct val="125000"/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120000"/>
                    </a:lnSpc>
                    <a:spcBef>
                      <a:spcPts val="500"/>
                    </a:spcBef>
                    <a:buSzPct val="125000"/>
                    <a:buFont typeface="Arial" panose="020B0604020202020204" pitchFamily="34" charset="0"/>
                    <a:buChar char="•"/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𝑯𝒂𝒍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𝑻𝑴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1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i="1" dirty="0">
                    <a:solidFill>
                      <a:schemeClr val="tx1">
                        <a:lumMod val="9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" name="Content Placeholder 2">
                  <a:extLst>
                    <a:ext uri="{FF2B5EF4-FFF2-40B4-BE49-F238E27FC236}">
                      <a16:creationId xmlns:a16="http://schemas.microsoft.com/office/drawing/2014/main" id="{4C4CBEC9-814C-8C49-986A-DF5F1C853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605" y="3492766"/>
                  <a:ext cx="3123364" cy="487850"/>
                </a:xfrm>
                <a:prstGeom prst="rect">
                  <a:avLst/>
                </a:prstGeom>
                <a:blipFill>
                  <a:blip r:embed="rId3"/>
                  <a:stretch>
                    <a:fillRect b="-25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22DF8AE6-EC2C-E644-AA73-9F6A7AC2B113}"/>
                </a:ext>
              </a:extLst>
            </p:cNvPr>
            <p:cNvSpPr txBox="1">
              <a:spLocks/>
            </p:cNvSpPr>
            <p:nvPr/>
          </p:nvSpPr>
          <p:spPr>
            <a:xfrm>
              <a:off x="7197308" y="3964598"/>
              <a:ext cx="3069640" cy="5122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dirty="0">
                  <a:solidFill>
                    <a:schemeClr val="bg1"/>
                  </a:solidFill>
                </a:rPr>
                <a:t>Does M halt on w?</a:t>
              </a:r>
            </a:p>
          </p:txBody>
        </p:sp>
        <p:sp>
          <p:nvSpPr>
            <p:cNvPr id="18" name="Right Arrow 17">
              <a:extLst>
                <a:ext uri="{FF2B5EF4-FFF2-40B4-BE49-F238E27FC236}">
                  <a16:creationId xmlns:a16="http://schemas.microsoft.com/office/drawing/2014/main" id="{CE71C290-A4EB-B348-B14E-9071BDA78B93}"/>
                </a:ext>
              </a:extLst>
            </p:cNvPr>
            <p:cNvSpPr/>
            <p:nvPr/>
          </p:nvSpPr>
          <p:spPr>
            <a:xfrm>
              <a:off x="5783179" y="4110822"/>
              <a:ext cx="1106906" cy="23095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5A1F5251-11D8-9B44-B6F0-EE471C79653C}"/>
                </a:ext>
              </a:extLst>
            </p:cNvPr>
            <p:cNvSpPr txBox="1">
              <a:spLocks/>
            </p:cNvSpPr>
            <p:nvPr/>
          </p:nvSpPr>
          <p:spPr>
            <a:xfrm>
              <a:off x="5751092" y="3851619"/>
              <a:ext cx="1114930" cy="353069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rmAutofit fontScale="70000" lnSpcReduction="20000"/>
            </a:bodyPr>
            <a:lstStyle>
              <a:lvl1pPr marL="228600" indent="-228600" algn="l" defTabSz="914400" rtl="0" eaLnBrk="1" latinLnBrk="0" hangingPunct="1">
                <a:lnSpc>
                  <a:spcPct val="12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120000"/>
                </a:lnSpc>
                <a:spcBef>
                  <a:spcPts val="500"/>
                </a:spcBef>
                <a:buSzPct val="125000"/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i="1" dirty="0">
                  <a:solidFill>
                    <a:schemeClr val="tx1">
                      <a:lumMod val="95000"/>
                    </a:schemeClr>
                  </a:solidFill>
                </a:rPr>
                <a:t>Reduces to</a:t>
              </a:r>
              <a:endParaRPr lang="en-US" dirty="0">
                <a:solidFill>
                  <a:schemeClr val="tx1">
                    <a:lumMod val="95000"/>
                  </a:schemeClr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48D7E35D-F887-4B40-8E0A-83A269E85F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2404" y="4367241"/>
                <a:ext cx="3056965" cy="1238140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i="1" dirty="0">
                    <a:solidFill>
                      <a:schemeClr val="tx1">
                        <a:lumMod val="95000"/>
                      </a:schemeClr>
                    </a:solidFill>
                  </a:rPr>
                  <a:t>Assume for the sake of contradiction, that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𝐻𝑎𝑙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sz="1600" i="1" dirty="0">
                    <a:solidFill>
                      <a:schemeClr val="tx1">
                        <a:lumMod val="95000"/>
                      </a:schemeClr>
                    </a:solidFill>
                  </a:rPr>
                  <a:t> is decidable. Thus, some machine R exists that decides it.</a:t>
                </a: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48D7E35D-F887-4B40-8E0A-83A269E85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404" y="4367241"/>
                <a:ext cx="3056965" cy="1238140"/>
              </a:xfrm>
              <a:prstGeom prst="rect">
                <a:avLst/>
              </a:prstGeom>
              <a:blipFill>
                <a:blip r:embed="rId4"/>
                <a:stretch>
                  <a:fillRect b="-5051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8DB7711-34AD-C54F-8758-6044A97255D3}"/>
              </a:ext>
            </a:extLst>
          </p:cNvPr>
          <p:cNvSpPr txBox="1">
            <a:spLocks/>
          </p:cNvSpPr>
          <p:nvPr/>
        </p:nvSpPr>
        <p:spPr>
          <a:xfrm>
            <a:off x="5498198" y="5959679"/>
            <a:ext cx="5770441" cy="7377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Then, this machine would decide </a:t>
            </a:r>
            <a:r>
              <a:rPr lang="en-US" sz="1600" i="1" dirty="0" err="1">
                <a:solidFill>
                  <a:schemeClr val="tx1">
                    <a:lumMod val="95000"/>
                  </a:schemeClr>
                </a:solidFill>
              </a:rPr>
              <a:t>Atm</a:t>
            </a: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, but that contradicts our theorem that ATM is undecidable. Thus, halt is also undecidable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68D98E-A5D0-044A-81EC-CEE57ECF4892}"/>
              </a:ext>
            </a:extLst>
          </p:cNvPr>
          <p:cNvCxnSpPr/>
          <p:nvPr/>
        </p:nvCxnSpPr>
        <p:spPr>
          <a:xfrm>
            <a:off x="896471" y="3612776"/>
            <a:ext cx="10488706" cy="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696D2EB-C3EF-774F-9E6A-FB127A0B6D75}"/>
              </a:ext>
            </a:extLst>
          </p:cNvPr>
          <p:cNvSpPr txBox="1">
            <a:spLocks/>
          </p:cNvSpPr>
          <p:nvPr/>
        </p:nvSpPr>
        <p:spPr>
          <a:xfrm>
            <a:off x="6125728" y="3893913"/>
            <a:ext cx="4515382" cy="205865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Machine M, on input w: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  </a:t>
            </a:r>
            <a:r>
              <a:rPr lang="en-US" sz="1600" i="1">
                <a:solidFill>
                  <a:schemeClr val="tx1">
                    <a:lumMod val="95000"/>
                  </a:schemeClr>
                </a:solidFill>
              </a:rPr>
              <a:t>- Invoke </a:t>
            </a: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R on (</a:t>
            </a:r>
            <a:r>
              <a:rPr lang="en-US" sz="1600" i="1" dirty="0" err="1">
                <a:solidFill>
                  <a:schemeClr val="tx1">
                    <a:lumMod val="95000"/>
                  </a:schemeClr>
                </a:solidFill>
              </a:rPr>
              <a:t>M,w</a:t>
            </a: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) to see if M halts. If not, </a:t>
            </a:r>
            <a:r>
              <a:rPr lang="en-US" sz="1600" b="1" i="1" u="sng" dirty="0">
                <a:solidFill>
                  <a:schemeClr val="tx1">
                    <a:lumMod val="95000"/>
                  </a:schemeClr>
                </a:solidFill>
              </a:rPr>
              <a:t>reject</a:t>
            </a: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.</a:t>
            </a:r>
            <a:br>
              <a:rPr lang="en-US" sz="1600" i="1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  - Else simulate M on input w:</a:t>
            </a:r>
            <a:br>
              <a:rPr lang="en-US" sz="1600" i="1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    - If M accepts, then </a:t>
            </a:r>
            <a:r>
              <a:rPr lang="en-US" sz="1600" b="1" i="1" u="sng" dirty="0">
                <a:solidFill>
                  <a:schemeClr val="tx1">
                    <a:lumMod val="95000"/>
                  </a:schemeClr>
                </a:solidFill>
              </a:rPr>
              <a:t>accept</a:t>
            </a: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.</a:t>
            </a:r>
            <a:br>
              <a:rPr lang="en-US" sz="1600" i="1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    - If M rejects, then </a:t>
            </a:r>
            <a:r>
              <a:rPr lang="en-US" sz="1600" b="1" i="1" u="sng" dirty="0">
                <a:solidFill>
                  <a:schemeClr val="tx1">
                    <a:lumMod val="95000"/>
                  </a:schemeClr>
                </a:solidFill>
              </a:rPr>
              <a:t>reject</a:t>
            </a:r>
            <a:r>
              <a:rPr lang="en-US" sz="1600" i="1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053E1B1D-787C-F84C-B5B6-FC9C886B51EC}"/>
              </a:ext>
            </a:extLst>
          </p:cNvPr>
          <p:cNvSpPr/>
          <p:nvPr/>
        </p:nvSpPr>
        <p:spPr>
          <a:xfrm>
            <a:off x="4867840" y="4858629"/>
            <a:ext cx="1118228" cy="224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958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The Halting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3671" y="1856168"/>
                <a:ext cx="4981482" cy="600017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Theorem</a:t>
                </a:r>
                <a:r>
                  <a:rPr lang="en-US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𝐻𝑎𝑙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undecidable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3671" y="1856168"/>
                <a:ext cx="4981482" cy="600017"/>
              </a:xfrm>
              <a:blipFill>
                <a:blip r:embed="rId2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CF5E0782-ED2D-3341-8366-1E484706F5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32336" y="3910040"/>
                <a:ext cx="3056965" cy="12381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sz="1600" i="1" dirty="0">
                    <a:solidFill>
                      <a:schemeClr val="tx1">
                        <a:lumMod val="95000"/>
                      </a:schemeClr>
                    </a:solidFill>
                  </a:rPr>
                  <a:t>Proof was simplified by using a proof by contradiction via a valid reduction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endParaRPr lang="en-US" sz="1600" i="1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CF5E0782-ED2D-3341-8366-1E484706F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336" y="3910040"/>
                <a:ext cx="3056965" cy="12381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B5632CA-05C1-FC48-94C0-9BA4DA505CB8}"/>
              </a:ext>
            </a:extLst>
          </p:cNvPr>
          <p:cNvCxnSpPr>
            <a:cxnSpLocks/>
          </p:cNvCxnSpPr>
          <p:nvPr/>
        </p:nvCxnSpPr>
        <p:spPr>
          <a:xfrm flipV="1">
            <a:off x="4065560" y="2869190"/>
            <a:ext cx="829172" cy="104085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5315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TM Emptiness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559371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Emptiness Test</a:t>
                </a:r>
                <a:r>
                  <a:rPr lang="en-US" dirty="0">
                    <a:solidFill>
                      <a:schemeClr val="bg1"/>
                    </a:solidFill>
                  </a:rPr>
                  <a:t>: Can you use a similar reduction to show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undecidable?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=∅ }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559371"/>
                <a:ext cx="9905999" cy="1089328"/>
              </a:xfrm>
              <a:blipFill>
                <a:blip r:embed="rId2"/>
                <a:stretch>
                  <a:fillRect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6251296" y="3899647"/>
            <a:ext cx="3376800" cy="132329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In other words, test whether the given machine never accepts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724432-6536-4446-8FFB-09B4D3418EBA}"/>
              </a:ext>
            </a:extLst>
          </p:cNvPr>
          <p:cNvCxnSpPr>
            <a:cxnSpLocks/>
          </p:cNvCxnSpPr>
          <p:nvPr/>
        </p:nvCxnSpPr>
        <p:spPr>
          <a:xfrm flipH="1" flipV="1">
            <a:off x="7046259" y="2804941"/>
            <a:ext cx="1039907" cy="118058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4728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TM Emptiness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901451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Emptiness Test</a:t>
                </a:r>
                <a:r>
                  <a:rPr lang="en-US" dirty="0">
                    <a:solidFill>
                      <a:schemeClr val="bg1"/>
                    </a:solidFill>
                  </a:rPr>
                  <a:t>: Can you use a similar reduction to show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undecidable?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=∅ }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901451"/>
                <a:ext cx="9905999" cy="108932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1141412" y="3623551"/>
            <a:ext cx="4183623" cy="6362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Step 1: Modify 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B36FA7E-1576-A64E-8022-C5DF4F97B2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0" y="4099336"/>
                <a:ext cx="5515867" cy="155433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chemeClr val="bg1"/>
                    </a:solidFill>
                  </a:rPr>
                  <a:t> = “on input x:</a:t>
                </a:r>
                <a:br>
                  <a:rPr lang="en-US" b="1" i="1" dirty="0">
                    <a:solidFill>
                      <a:schemeClr val="bg1"/>
                    </a:solidFill>
                  </a:rPr>
                </a:br>
                <a:r>
                  <a:rPr lang="en-US" b="1" i="1" dirty="0">
                    <a:solidFill>
                      <a:schemeClr val="bg1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𝒊𝒇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b="1" i="1" dirty="0">
                    <a:solidFill>
                      <a:schemeClr val="bg1"/>
                    </a:solidFill>
                  </a:rPr>
                  <a:t>, </a:t>
                </a:r>
                <a:r>
                  <a:rPr lang="en-US" b="1" i="1" u="sng" dirty="0">
                    <a:solidFill>
                      <a:schemeClr val="bg1"/>
                    </a:solidFill>
                  </a:rPr>
                  <a:t>reject</a:t>
                </a:r>
                <a:br>
                  <a:rPr lang="en-US" b="1" i="1" u="sng" dirty="0">
                    <a:solidFill>
                      <a:schemeClr val="bg1"/>
                    </a:solidFill>
                  </a:rPr>
                </a:br>
                <a:r>
                  <a:rPr lang="en-US" b="1" i="1" dirty="0">
                    <a:solidFill>
                      <a:schemeClr val="bg1"/>
                    </a:solidFill>
                  </a:rPr>
                  <a:t>    otherwise, run M on w, </a:t>
                </a:r>
                <a:r>
                  <a:rPr lang="en-US" b="1" i="1" u="sng" dirty="0">
                    <a:solidFill>
                      <a:schemeClr val="bg1"/>
                    </a:solidFill>
                  </a:rPr>
                  <a:t>accept</a:t>
                </a:r>
                <a:r>
                  <a:rPr lang="en-US" b="1" i="1" dirty="0">
                    <a:solidFill>
                      <a:schemeClr val="bg1"/>
                    </a:solidFill>
                  </a:rPr>
                  <a:t> </a:t>
                </a:r>
                <a:r>
                  <a:rPr lang="en-US" b="1" i="1" dirty="0" err="1">
                    <a:solidFill>
                      <a:schemeClr val="bg1"/>
                    </a:solidFill>
                  </a:rPr>
                  <a:t>iff</a:t>
                </a:r>
                <a:r>
                  <a:rPr lang="en-US" b="1" i="1" dirty="0">
                    <a:solidFill>
                      <a:schemeClr val="bg1"/>
                    </a:solidFill>
                  </a:rPr>
                  <a:t> M does“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B36FA7E-1576-A64E-8022-C5DF4F97B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0" y="4099336"/>
                <a:ext cx="5515867" cy="1554331"/>
              </a:xfrm>
              <a:prstGeom prst="rect">
                <a:avLst/>
              </a:prstGeom>
              <a:blipFill>
                <a:blip r:embed="rId3"/>
                <a:stretch>
                  <a:fillRect l="-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7F694B7-9FE8-8C41-A16F-85C40B9806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52894" y="3554487"/>
                <a:ext cx="2174218" cy="1089697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i="1" dirty="0">
                    <a:solidFill>
                      <a:schemeClr val="tx1">
                        <a:lumMod val="95000"/>
                      </a:schemeClr>
                    </a:solidFill>
                  </a:rPr>
                  <a:t>*Notice that w is hardcoded into description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7F694B7-9FE8-8C41-A16F-85C40B980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894" y="3554487"/>
                <a:ext cx="2174218" cy="1089697"/>
              </a:xfrm>
              <a:prstGeom prst="rect">
                <a:avLst/>
              </a:prstGeom>
              <a:blipFill>
                <a:blip r:embed="rId4"/>
                <a:stretch>
                  <a:fillRect l="-2907" t="-1149" b="-8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B1664F-C1A3-6247-9958-A8F3BD1410AE}"/>
              </a:ext>
            </a:extLst>
          </p:cNvPr>
          <p:cNvCxnSpPr/>
          <p:nvPr/>
        </p:nvCxnSpPr>
        <p:spPr>
          <a:xfrm flipV="1">
            <a:off x="6869151" y="3941658"/>
            <a:ext cx="1393903" cy="474224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8C1F02-589B-2F42-A614-FB3CA76A35EF}"/>
              </a:ext>
            </a:extLst>
          </p:cNvPr>
          <p:cNvSpPr txBox="1">
            <a:spLocks/>
          </p:cNvSpPr>
          <p:nvPr/>
        </p:nvSpPr>
        <p:spPr>
          <a:xfrm>
            <a:off x="8873193" y="5535700"/>
            <a:ext cx="2174218" cy="108969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Why is this helpful?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5F20F6-7568-E74B-A243-330F54237DAF}"/>
              </a:ext>
            </a:extLst>
          </p:cNvPr>
          <p:cNvCxnSpPr>
            <a:cxnSpLocks/>
          </p:cNvCxnSpPr>
          <p:nvPr/>
        </p:nvCxnSpPr>
        <p:spPr>
          <a:xfrm>
            <a:off x="6869151" y="5148529"/>
            <a:ext cx="1814202" cy="77434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67A3EFFC-A1FF-E44A-959D-F11B3438A3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09" y="2262317"/>
                <a:ext cx="9906001" cy="674524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i="1" dirty="0">
                    <a:solidFill>
                      <a:schemeClr val="tx1">
                        <a:lumMod val="95000"/>
                      </a:schemeClr>
                    </a:solidFill>
                  </a:rPr>
                  <a:t>Step 0: Assume, for sake of contradiction, a machine R decides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67A3EFFC-A1FF-E44A-959D-F11B3438A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09" y="2262317"/>
                <a:ext cx="9906001" cy="674524"/>
              </a:xfrm>
              <a:prstGeom prst="rect">
                <a:avLst/>
              </a:prstGeom>
              <a:blipFill>
                <a:blip r:embed="rId5"/>
                <a:stretch>
                  <a:fillRect l="-895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6315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TM Emptiness Testing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AB4AE0-9143-C34D-B965-4033C921D6B5}"/>
              </a:ext>
            </a:extLst>
          </p:cNvPr>
          <p:cNvSpPr txBox="1">
            <a:spLocks/>
          </p:cNvSpPr>
          <p:nvPr/>
        </p:nvSpPr>
        <p:spPr>
          <a:xfrm>
            <a:off x="293920" y="3277866"/>
            <a:ext cx="4183623" cy="6362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Step 1: Modify 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B36FA7E-1576-A64E-8022-C5DF4F97B2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3918" y="3753651"/>
                <a:ext cx="5515867" cy="155433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chemeClr val="bg1"/>
                    </a:solidFill>
                  </a:rPr>
                  <a:t> = “on input x:</a:t>
                </a:r>
                <a:br>
                  <a:rPr lang="en-US" b="1" i="1" dirty="0">
                    <a:solidFill>
                      <a:schemeClr val="bg1"/>
                    </a:solidFill>
                  </a:rPr>
                </a:br>
                <a:r>
                  <a:rPr lang="en-US" b="1" i="1" dirty="0">
                    <a:solidFill>
                      <a:schemeClr val="bg1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𝒊𝒇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b="1" i="1" dirty="0">
                    <a:solidFill>
                      <a:schemeClr val="bg1"/>
                    </a:solidFill>
                  </a:rPr>
                  <a:t>, </a:t>
                </a:r>
                <a:r>
                  <a:rPr lang="en-US" b="1" i="1" u="sng" dirty="0">
                    <a:solidFill>
                      <a:schemeClr val="bg1"/>
                    </a:solidFill>
                  </a:rPr>
                  <a:t>reject</a:t>
                </a:r>
                <a:br>
                  <a:rPr lang="en-US" b="1" i="1" u="sng" dirty="0">
                    <a:solidFill>
                      <a:schemeClr val="bg1"/>
                    </a:solidFill>
                  </a:rPr>
                </a:br>
                <a:r>
                  <a:rPr lang="en-US" b="1" i="1" dirty="0">
                    <a:solidFill>
                      <a:schemeClr val="bg1"/>
                    </a:solidFill>
                  </a:rPr>
                  <a:t>    otherwise, run M on w, </a:t>
                </a:r>
                <a:r>
                  <a:rPr lang="en-US" b="1" i="1" u="sng" dirty="0">
                    <a:solidFill>
                      <a:schemeClr val="bg1"/>
                    </a:solidFill>
                  </a:rPr>
                  <a:t>accept</a:t>
                </a:r>
                <a:r>
                  <a:rPr lang="en-US" b="1" i="1" dirty="0">
                    <a:solidFill>
                      <a:schemeClr val="bg1"/>
                    </a:solidFill>
                  </a:rPr>
                  <a:t> </a:t>
                </a:r>
                <a:r>
                  <a:rPr lang="en-US" b="1" i="1" dirty="0" err="1">
                    <a:solidFill>
                      <a:schemeClr val="bg1"/>
                    </a:solidFill>
                  </a:rPr>
                  <a:t>iff</a:t>
                </a:r>
                <a:r>
                  <a:rPr lang="en-US" b="1" i="1" dirty="0">
                    <a:solidFill>
                      <a:schemeClr val="bg1"/>
                    </a:solidFill>
                  </a:rPr>
                  <a:t> M does“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B36FA7E-1576-A64E-8022-C5DF4F97B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18" y="3753651"/>
                <a:ext cx="5515867" cy="1554331"/>
              </a:xfrm>
              <a:prstGeom prst="rect">
                <a:avLst/>
              </a:prstGeom>
              <a:blipFill>
                <a:blip r:embed="rId3"/>
                <a:stretch>
                  <a:fillRect t="-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6ED3CA9-B07F-B348-979D-4BD9E8CDBC89}"/>
              </a:ext>
            </a:extLst>
          </p:cNvPr>
          <p:cNvSpPr txBox="1">
            <a:spLocks/>
          </p:cNvSpPr>
          <p:nvPr/>
        </p:nvSpPr>
        <p:spPr>
          <a:xfrm>
            <a:off x="6300711" y="3277866"/>
            <a:ext cx="4183623" cy="6362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Step 2: Solve </a:t>
            </a:r>
            <a:r>
              <a:rPr lang="en-US" i="1" dirty="0" err="1">
                <a:solidFill>
                  <a:schemeClr val="tx1">
                    <a:lumMod val="95000"/>
                  </a:schemeClr>
                </a:solidFill>
              </a:rPr>
              <a:t>Atm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5588BF6D-72E1-284A-950D-78B461B061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0709" y="3753651"/>
                <a:ext cx="5515867" cy="155433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b="1" i="1" dirty="0">
                    <a:solidFill>
                      <a:schemeClr val="bg1"/>
                    </a:solidFill>
                  </a:rPr>
                  <a:t> = “on input (</a:t>
                </a:r>
                <a:r>
                  <a:rPr lang="en-US" b="1" i="1" dirty="0" err="1">
                    <a:solidFill>
                      <a:schemeClr val="bg1"/>
                    </a:solidFill>
                  </a:rPr>
                  <a:t>M,w</a:t>
                </a:r>
                <a:r>
                  <a:rPr lang="en-US" b="1" i="1" dirty="0">
                    <a:solidFill>
                      <a:schemeClr val="bg1"/>
                    </a:solidFill>
                  </a:rPr>
                  <a:t>):</a:t>
                </a:r>
                <a:br>
                  <a:rPr lang="en-US" b="1" i="1" dirty="0">
                    <a:solidFill>
                      <a:schemeClr val="bg1"/>
                    </a:solidFill>
                  </a:rPr>
                </a:br>
                <a:r>
                  <a:rPr lang="en-US" b="1" i="1" dirty="0">
                    <a:solidFill>
                      <a:schemeClr val="bg1"/>
                    </a:solidFill>
                  </a:rPr>
                  <a:t>    Construct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chemeClr val="bg1"/>
                    </a:solidFill>
                  </a:rPr>
                  <a:t> as described</a:t>
                </a:r>
                <a:br>
                  <a:rPr lang="en-US" b="1" i="1" dirty="0">
                    <a:solidFill>
                      <a:schemeClr val="bg1"/>
                    </a:solidFill>
                  </a:rPr>
                </a:br>
                <a:r>
                  <a:rPr lang="en-US" b="1" i="1" dirty="0">
                    <a:solidFill>
                      <a:schemeClr val="bg1"/>
                    </a:solidFill>
                  </a:rPr>
                  <a:t>    Run R on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br>
                  <a:rPr lang="en-US" b="1" i="1" dirty="0">
                    <a:solidFill>
                      <a:schemeClr val="bg1"/>
                    </a:solidFill>
                  </a:rPr>
                </a:br>
                <a:r>
                  <a:rPr lang="en-US" b="1" i="1" dirty="0">
                    <a:solidFill>
                      <a:schemeClr val="bg1"/>
                    </a:solidFill>
                  </a:rPr>
                  <a:t>    Flip the output of R“</a:t>
                </a: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5588BF6D-72E1-284A-950D-78B461B06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709" y="3753651"/>
                <a:ext cx="5515867" cy="1554331"/>
              </a:xfrm>
              <a:prstGeom prst="rect">
                <a:avLst/>
              </a:prstGeom>
              <a:blipFill>
                <a:blip r:embed="rId4"/>
                <a:stretch>
                  <a:fillRect t="-1626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F8580AF2-3B9E-1C46-9328-EC09E456C1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2" y="901451"/>
                <a:ext cx="9905999" cy="108932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Emptiness Test</a:t>
                </a:r>
                <a:r>
                  <a:rPr lang="en-US" dirty="0">
                    <a:solidFill>
                      <a:schemeClr val="bg1"/>
                    </a:solidFill>
                  </a:rPr>
                  <a:t>: Can you use a similar reduction to show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undecidable?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𝑇𝑀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=∅ }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F8580AF2-3B9E-1C46-9328-EC09E456C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2" y="901451"/>
                <a:ext cx="9905999" cy="10893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E85478E2-7C6A-624B-9F7C-8A854C01AC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09" y="2262317"/>
                <a:ext cx="9906001" cy="674524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i="1" dirty="0">
                    <a:solidFill>
                      <a:schemeClr val="tx1">
                        <a:lumMod val="95000"/>
                      </a:schemeClr>
                    </a:solidFill>
                  </a:rPr>
                  <a:t>Step 0: Assume, for sake of contradiction, a machine R decides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E85478E2-7C6A-624B-9F7C-8A854C01A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09" y="2262317"/>
                <a:ext cx="9906001" cy="674524"/>
              </a:xfrm>
              <a:prstGeom prst="rect">
                <a:avLst/>
              </a:prstGeom>
              <a:blipFill>
                <a:blip r:embed="rId6"/>
                <a:stretch>
                  <a:fillRect l="-895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8E342B4-E7F9-3D4D-BFA1-819A65B580BC}"/>
              </a:ext>
            </a:extLst>
          </p:cNvPr>
          <p:cNvSpPr txBox="1">
            <a:spLocks/>
          </p:cNvSpPr>
          <p:nvPr/>
        </p:nvSpPr>
        <p:spPr>
          <a:xfrm>
            <a:off x="2022299" y="5898995"/>
            <a:ext cx="2315526" cy="82796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Key Idea: M1 can </a:t>
            </a:r>
            <a:r>
              <a:rPr lang="en-US" b="1" i="1" dirty="0">
                <a:solidFill>
                  <a:schemeClr val="tx1">
                    <a:lumMod val="95000"/>
                  </a:schemeClr>
                </a:solidFill>
              </a:rPr>
              <a:t>only</a:t>
            </a: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 accept w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CF56BEA-76B8-4B48-9918-08F968914FF3}"/>
              </a:ext>
            </a:extLst>
          </p:cNvPr>
          <p:cNvCxnSpPr/>
          <p:nvPr/>
        </p:nvCxnSpPr>
        <p:spPr>
          <a:xfrm flipH="1" flipV="1">
            <a:off x="2330605" y="5452946"/>
            <a:ext cx="223024" cy="44604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B9925B8-F611-3D4F-A162-AF9E29A3473C}"/>
              </a:ext>
            </a:extLst>
          </p:cNvPr>
          <p:cNvSpPr txBox="1">
            <a:spLocks/>
          </p:cNvSpPr>
          <p:nvPr/>
        </p:nvSpPr>
        <p:spPr>
          <a:xfrm>
            <a:off x="7883911" y="5898995"/>
            <a:ext cx="3601843" cy="82796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So, testing emptiness on M1 = testing acceptance of M on w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DF23018-DF65-364A-8BFD-315C49FE7801}"/>
              </a:ext>
            </a:extLst>
          </p:cNvPr>
          <p:cNvCxnSpPr/>
          <p:nvPr/>
        </p:nvCxnSpPr>
        <p:spPr>
          <a:xfrm flipH="1" flipV="1">
            <a:off x="8281010" y="5436219"/>
            <a:ext cx="223024" cy="446049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824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TM Emptiness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F8580AF2-3B9E-1C46-9328-EC09E456C1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2" y="901451"/>
                <a:ext cx="9905999" cy="108932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Emptiness Test</a:t>
                </a:r>
                <a:r>
                  <a:rPr lang="en-US" dirty="0">
                    <a:solidFill>
                      <a:schemeClr val="bg1"/>
                    </a:solidFill>
                  </a:rPr>
                  <a:t>: Can you use a similar reduction to show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undecidable?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𝑇𝑀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=∅ }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F8580AF2-3B9E-1C46-9328-EC09E456C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2" y="901451"/>
                <a:ext cx="9905999" cy="1089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E85478E2-7C6A-624B-9F7C-8A854C01AC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2" y="2630307"/>
                <a:ext cx="9906001" cy="703908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i="1" dirty="0">
                    <a:solidFill>
                      <a:schemeClr val="tx1">
                        <a:lumMod val="95000"/>
                      </a:schemeClr>
                    </a:solidFill>
                  </a:rPr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tx1">
                        <a:lumMod val="95000"/>
                      </a:schemeClr>
                    </a:solidFill>
                  </a:rPr>
                  <a:t> is undecidable via reduction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chemeClr val="tx1">
                        <a:lumMod val="95000"/>
                      </a:schemeClr>
                    </a:solidFill>
                  </a:rPr>
                  <a:t>!!</a:t>
                </a:r>
                <a:endParaRPr lang="en-US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E85478E2-7C6A-624B-9F7C-8A854C01A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2" y="2630307"/>
                <a:ext cx="9906001" cy="703908"/>
              </a:xfrm>
              <a:prstGeom prst="rect">
                <a:avLst/>
              </a:prstGeom>
              <a:blipFill>
                <a:blip r:embed="rId4"/>
                <a:stretch>
                  <a:fillRect l="-895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0815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One More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559371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Regular?</a:t>
                </a:r>
                <a:r>
                  <a:rPr lang="en-US" dirty="0">
                    <a:solidFill>
                      <a:schemeClr val="bg1"/>
                    </a:solidFill>
                  </a:rPr>
                  <a:t>: Prove this language is undecidable through reduction.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𝑟𝑒𝑔𝑢𝑙𝑎𝑟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𝑙𝑎𝑛𝑔𝑢𝑎𝑔𝑒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559371"/>
                <a:ext cx="9905999" cy="1089328"/>
              </a:xfrm>
              <a:blipFill>
                <a:blip r:embed="rId2"/>
                <a:stretch>
                  <a:fillRect l="-896"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1AB4AE0-9143-C34D-B965-4033C921D6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62001" y="3677615"/>
                <a:ext cx="2883741" cy="1754997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If we can decide this, can we use it to decide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1AB4AE0-9143-C34D-B965-4033C921D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001" y="3677615"/>
                <a:ext cx="2883741" cy="1754997"/>
              </a:xfrm>
              <a:prstGeom prst="rect">
                <a:avLst/>
              </a:prstGeom>
              <a:blipFill>
                <a:blip r:embed="rId3"/>
                <a:stretch>
                  <a:fillRect l="-439" t="-719" r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FECC58-13F9-A148-A000-EF7EF73B9D3A}"/>
              </a:ext>
            </a:extLst>
          </p:cNvPr>
          <p:cNvCxnSpPr>
            <a:cxnSpLocks/>
          </p:cNvCxnSpPr>
          <p:nvPr/>
        </p:nvCxnSpPr>
        <p:spPr>
          <a:xfrm flipV="1">
            <a:off x="3908612" y="2850777"/>
            <a:ext cx="762000" cy="82683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A43E186-4EF0-C64C-A63F-E2342A13943A}"/>
              </a:ext>
            </a:extLst>
          </p:cNvPr>
          <p:cNvSpPr txBox="1">
            <a:spLocks/>
          </p:cNvSpPr>
          <p:nvPr/>
        </p:nvSpPr>
        <p:spPr>
          <a:xfrm>
            <a:off x="6851931" y="3821050"/>
            <a:ext cx="2883741" cy="175499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Similar idea! Construct a machine that recognizes non-regular languages </a:t>
            </a:r>
          </a:p>
        </p:txBody>
      </p:sp>
    </p:spTree>
    <p:extLst>
      <p:ext uri="{BB962C8B-B14F-4D97-AF65-F5344CB8AC3E}">
        <p14:creationId xmlns:p14="http://schemas.microsoft.com/office/powerpoint/2010/main" val="41316282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One More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079870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Regular?</a:t>
                </a:r>
                <a:r>
                  <a:rPr lang="en-US" dirty="0">
                    <a:solidFill>
                      <a:schemeClr val="bg1"/>
                    </a:solidFill>
                  </a:rPr>
                  <a:t>: Prove this language is undecidable through reduction.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𝑟𝑒𝑔𝑢𝑙𝑎𝑟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𝑙𝑎𝑛𝑔𝑢𝑎𝑔𝑒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079870"/>
                <a:ext cx="9905999" cy="1089328"/>
              </a:xfrm>
              <a:blipFill>
                <a:blip r:embed="rId2"/>
                <a:stretch>
                  <a:fillRect l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1AB4AE0-9143-C34D-B965-4033C921D6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2" y="2395227"/>
                <a:ext cx="9905999" cy="905536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Step 0: For sake of contradiction, assume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𝑅𝑒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 is decidable, thus a machine R exists that decides it.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1AB4AE0-9143-C34D-B965-4033C921D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2" y="2395227"/>
                <a:ext cx="9905999" cy="905536"/>
              </a:xfrm>
              <a:prstGeom prst="rect">
                <a:avLst/>
              </a:prstGeom>
              <a:blipFill>
                <a:blip r:embed="rId3"/>
                <a:stretch>
                  <a:fillRect l="-895" t="-4110" r="-767" b="-8219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A43E186-4EF0-C64C-A63F-E2342A13943A}"/>
              </a:ext>
            </a:extLst>
          </p:cNvPr>
          <p:cNvSpPr txBox="1">
            <a:spLocks/>
          </p:cNvSpPr>
          <p:nvPr/>
        </p:nvSpPr>
        <p:spPr>
          <a:xfrm>
            <a:off x="1610859" y="4222492"/>
            <a:ext cx="2883741" cy="175499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Similar idea! Construct a machine that recognizes non-regular languages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DD0553A-2A7A-524E-BAB8-31FFC39537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5422" y="4024991"/>
                <a:ext cx="4183623" cy="6362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i="1" dirty="0">
                    <a:solidFill>
                      <a:schemeClr val="tx1">
                        <a:lumMod val="95000"/>
                      </a:schemeClr>
                    </a:solidFill>
                  </a:rPr>
                  <a:t>Step 1: Construct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DD0553A-2A7A-524E-BAB8-31FFC3953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422" y="4024991"/>
                <a:ext cx="4183623" cy="636214"/>
              </a:xfrm>
              <a:prstGeom prst="rect">
                <a:avLst/>
              </a:prstGeom>
              <a:blipFill>
                <a:blip r:embed="rId4"/>
                <a:stretch>
                  <a:fillRect l="-2121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BFE8881-E1F3-AD41-864B-80A9FF3EA0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5420" y="4500776"/>
                <a:ext cx="5701991" cy="14874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chemeClr val="bg1"/>
                    </a:solidFill>
                  </a:rPr>
                  <a:t> = “on input x:</a:t>
                </a:r>
                <a:br>
                  <a:rPr lang="en-US" b="1" i="1" dirty="0">
                    <a:solidFill>
                      <a:schemeClr val="bg1"/>
                    </a:solidFill>
                  </a:rPr>
                </a:br>
                <a:r>
                  <a:rPr lang="en-US" b="1" i="1" dirty="0">
                    <a:solidFill>
                      <a:schemeClr val="bg1"/>
                    </a:solidFill>
                  </a:rPr>
                  <a:t>    if x has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sSup>
                      <m:s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i="1" dirty="0">
                    <a:solidFill>
                      <a:schemeClr val="bg1"/>
                    </a:solidFill>
                  </a:rPr>
                  <a:t>, </a:t>
                </a:r>
                <a:r>
                  <a:rPr lang="en-US" b="1" i="1" u="sng" dirty="0">
                    <a:solidFill>
                      <a:schemeClr val="bg1"/>
                    </a:solidFill>
                  </a:rPr>
                  <a:t>accept</a:t>
                </a:r>
                <a:br>
                  <a:rPr lang="en-US" b="1" i="1" u="sng" dirty="0">
                    <a:solidFill>
                      <a:schemeClr val="bg1"/>
                    </a:solidFill>
                  </a:rPr>
                </a:br>
                <a:r>
                  <a:rPr lang="en-US" b="1" i="1" dirty="0">
                    <a:solidFill>
                      <a:schemeClr val="bg1"/>
                    </a:solidFill>
                  </a:rPr>
                  <a:t>    else, run M on w and </a:t>
                </a:r>
                <a:r>
                  <a:rPr lang="en-US" b="1" i="1" u="sng" dirty="0">
                    <a:solidFill>
                      <a:schemeClr val="bg1"/>
                    </a:solidFill>
                  </a:rPr>
                  <a:t>accept</a:t>
                </a:r>
                <a:r>
                  <a:rPr lang="en-US" b="1" i="1" dirty="0">
                    <a:solidFill>
                      <a:schemeClr val="bg1"/>
                    </a:solidFill>
                  </a:rPr>
                  <a:t> </a:t>
                </a:r>
                <a:r>
                  <a:rPr lang="en-US" b="1" i="1" dirty="0" err="1">
                    <a:solidFill>
                      <a:schemeClr val="bg1"/>
                    </a:solidFill>
                  </a:rPr>
                  <a:t>iff</a:t>
                </a:r>
                <a:r>
                  <a:rPr lang="en-US" b="1" i="1" dirty="0">
                    <a:solidFill>
                      <a:schemeClr val="bg1"/>
                    </a:solidFill>
                  </a:rPr>
                  <a:t> M accepts“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BFE8881-E1F3-AD41-864B-80A9FF3EA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420" y="4500776"/>
                <a:ext cx="5701991" cy="1487425"/>
              </a:xfrm>
              <a:prstGeom prst="rect">
                <a:avLst/>
              </a:prstGeom>
              <a:blipFill>
                <a:blip r:embed="rId5"/>
                <a:stretch>
                  <a:fillRect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86268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One More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079870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Regular?</a:t>
                </a:r>
                <a:r>
                  <a:rPr lang="en-US" dirty="0">
                    <a:solidFill>
                      <a:schemeClr val="bg1"/>
                    </a:solidFill>
                  </a:rPr>
                  <a:t>: Prove this language is undecidable through reduction.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𝑟𝑒𝑔𝑢𝑙𝑎𝑟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𝑙𝑎𝑛𝑔𝑢𝑎𝑔𝑒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079870"/>
                <a:ext cx="9905999" cy="1089328"/>
              </a:xfrm>
              <a:blipFill>
                <a:blip r:embed="rId2"/>
                <a:stretch>
                  <a:fillRect l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1AB4AE0-9143-C34D-B965-4033C921D6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2" y="2395227"/>
                <a:ext cx="9905999" cy="905536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Step 0: For sake of contradiction, assume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𝑅𝑒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 is decidable, thus a machine R exists that decides it.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1AB4AE0-9143-C34D-B965-4033C921D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2" y="2395227"/>
                <a:ext cx="9905999" cy="905536"/>
              </a:xfrm>
              <a:prstGeom prst="rect">
                <a:avLst/>
              </a:prstGeom>
              <a:blipFill>
                <a:blip r:embed="rId3"/>
                <a:stretch>
                  <a:fillRect l="-895" t="-4110" r="-767" b="-8219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DA43E186-4EF0-C64C-A63F-E2342A1394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24" y="3721084"/>
                <a:ext cx="5137811" cy="1754997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US" b="1" dirty="0">
                    <a:solidFill>
                      <a:schemeClr val="tx1">
                        <a:lumMod val="95000"/>
                      </a:schemeClr>
                    </a:solidFill>
                  </a:rPr>
                  <a:t>Observe:</a:t>
                </a:r>
                <a:br>
                  <a:rPr lang="en-US" b="1" dirty="0">
                    <a:solidFill>
                      <a:schemeClr val="tx1">
                        <a:lumMod val="95000"/>
                      </a:schemeClr>
                    </a:solidFill>
                  </a:rPr>
                </a:br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If M accepts w,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 accepts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b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</a:br>
                <a:b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</a:br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If M rejects/loops w,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 accepts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DA43E186-4EF0-C64C-A63F-E2342A139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24" y="3721084"/>
                <a:ext cx="5137811" cy="1754997"/>
              </a:xfrm>
              <a:prstGeom prst="rect">
                <a:avLst/>
              </a:prstGeom>
              <a:blipFill>
                <a:blip r:embed="rId4"/>
                <a:stretch>
                  <a:fillRect l="-246" b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DD0553A-2A7A-524E-BAB8-31FFC39537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9958" y="3668153"/>
                <a:ext cx="4183623" cy="6362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i="1" dirty="0">
                    <a:solidFill>
                      <a:schemeClr val="tx1">
                        <a:lumMod val="95000"/>
                      </a:schemeClr>
                    </a:solidFill>
                  </a:rPr>
                  <a:t>Step 1: Construct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DD0553A-2A7A-524E-BAB8-31FFC3953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958" y="3668153"/>
                <a:ext cx="4183623" cy="636214"/>
              </a:xfrm>
              <a:prstGeom prst="rect">
                <a:avLst/>
              </a:prstGeom>
              <a:blipFill>
                <a:blip r:embed="rId5"/>
                <a:stretch>
                  <a:fillRect l="-2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BFE8881-E1F3-AD41-864B-80A9FF3EA0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9956" y="4143938"/>
                <a:ext cx="5701991" cy="14874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chemeClr val="bg1"/>
                    </a:solidFill>
                  </a:rPr>
                  <a:t> = “on input x:</a:t>
                </a:r>
                <a:br>
                  <a:rPr lang="en-US" b="1" i="1" dirty="0">
                    <a:solidFill>
                      <a:schemeClr val="bg1"/>
                    </a:solidFill>
                  </a:rPr>
                </a:br>
                <a:r>
                  <a:rPr lang="en-US" b="1" i="1" dirty="0">
                    <a:solidFill>
                      <a:schemeClr val="bg1"/>
                    </a:solidFill>
                  </a:rPr>
                  <a:t>    if x has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sSup>
                      <m:s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i="1" dirty="0">
                    <a:solidFill>
                      <a:schemeClr val="bg1"/>
                    </a:solidFill>
                  </a:rPr>
                  <a:t>, </a:t>
                </a:r>
                <a:r>
                  <a:rPr lang="en-US" b="1" i="1" u="sng" dirty="0">
                    <a:solidFill>
                      <a:schemeClr val="bg1"/>
                    </a:solidFill>
                  </a:rPr>
                  <a:t>accept</a:t>
                </a:r>
                <a:br>
                  <a:rPr lang="en-US" b="1" i="1" u="sng" dirty="0">
                    <a:solidFill>
                      <a:schemeClr val="bg1"/>
                    </a:solidFill>
                  </a:rPr>
                </a:br>
                <a:r>
                  <a:rPr lang="en-US" b="1" i="1" dirty="0">
                    <a:solidFill>
                      <a:schemeClr val="bg1"/>
                    </a:solidFill>
                  </a:rPr>
                  <a:t>    else, run M on w and </a:t>
                </a:r>
                <a:r>
                  <a:rPr lang="en-US" b="1" i="1" u="sng" dirty="0">
                    <a:solidFill>
                      <a:schemeClr val="bg1"/>
                    </a:solidFill>
                  </a:rPr>
                  <a:t>accept</a:t>
                </a:r>
                <a:r>
                  <a:rPr lang="en-US" b="1" i="1" dirty="0">
                    <a:solidFill>
                      <a:schemeClr val="bg1"/>
                    </a:solidFill>
                  </a:rPr>
                  <a:t> </a:t>
                </a:r>
                <a:r>
                  <a:rPr lang="en-US" b="1" i="1" dirty="0" err="1">
                    <a:solidFill>
                      <a:schemeClr val="bg1"/>
                    </a:solidFill>
                  </a:rPr>
                  <a:t>iff</a:t>
                </a:r>
                <a:r>
                  <a:rPr lang="en-US" b="1" i="1" dirty="0">
                    <a:solidFill>
                      <a:schemeClr val="bg1"/>
                    </a:solidFill>
                  </a:rPr>
                  <a:t> M accepts“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BFE8881-E1F3-AD41-864B-80A9FF3EA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956" y="4143938"/>
                <a:ext cx="5701991" cy="1487425"/>
              </a:xfrm>
              <a:prstGeom prst="rect">
                <a:avLst/>
              </a:prstGeom>
              <a:blipFill>
                <a:blip r:embed="rId6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40997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04CD-2329-4D47-84D9-12CB3EDD9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5537"/>
            <a:ext cx="9905998" cy="860425"/>
          </a:xfrm>
        </p:spPr>
        <p:txBody>
          <a:bodyPr/>
          <a:lstStyle/>
          <a:p>
            <a:pPr algn="ctr"/>
            <a:r>
              <a:rPr lang="en-US" dirty="0"/>
              <a:t>One More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1079870"/>
                <a:ext cx="9905999" cy="1089328"/>
              </a:xfrm>
              <a:solidFill>
                <a:schemeClr val="tx1">
                  <a:lumMod val="95000"/>
                </a:schemeClr>
              </a:solid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Regular?</a:t>
                </a:r>
                <a:r>
                  <a:rPr lang="en-US" dirty="0">
                    <a:solidFill>
                      <a:schemeClr val="bg1"/>
                    </a:solidFill>
                  </a:rPr>
                  <a:t>: Prove this language is undecidable through reduction.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𝑇𝑀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𝑟𝑒𝑔𝑢𝑙𝑎𝑟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𝑙𝑎𝑛𝑔𝑢𝑎𝑔𝑒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278F5F-F936-6145-9FF8-704886F1A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1079870"/>
                <a:ext cx="9905999" cy="1089328"/>
              </a:xfrm>
              <a:blipFill>
                <a:blip r:embed="rId2"/>
                <a:stretch>
                  <a:fillRect l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1AB4AE0-9143-C34D-B965-4033C921D6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1412" y="2395227"/>
                <a:ext cx="9905999" cy="905536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Step 0: For sake of contradiction, assume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𝑅𝑒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95000"/>
                      </a:schemeClr>
                    </a:solidFill>
                  </a:rPr>
                  <a:t> is decidable, thus a machine R exists that decides it.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1AB4AE0-9143-C34D-B965-4033C921D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412" y="2395227"/>
                <a:ext cx="9905999" cy="905536"/>
              </a:xfrm>
              <a:prstGeom prst="rect">
                <a:avLst/>
              </a:prstGeom>
              <a:blipFill>
                <a:blip r:embed="rId3"/>
                <a:stretch>
                  <a:fillRect l="-895" t="-4110" r="-767" b="-8219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DD0553A-2A7A-524E-BAB8-31FFC39537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2861" y="3694061"/>
                <a:ext cx="4183623" cy="6362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i="1" dirty="0">
                    <a:solidFill>
                      <a:schemeClr val="tx1">
                        <a:lumMod val="95000"/>
                      </a:schemeClr>
                    </a:solidFill>
                  </a:rPr>
                  <a:t>Step 2: Recognize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𝑇𝑀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DD0553A-2A7A-524E-BAB8-31FFC3953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861" y="3694061"/>
                <a:ext cx="4183623" cy="636214"/>
              </a:xfrm>
              <a:prstGeom prst="rect">
                <a:avLst/>
              </a:prstGeom>
              <a:blipFill>
                <a:blip r:embed="rId4"/>
                <a:stretch>
                  <a:fillRect l="-211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BFE8881-E1F3-AD41-864B-80A9FF3EA0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2859" y="4169846"/>
                <a:ext cx="4679524" cy="196332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i="1" dirty="0">
                    <a:solidFill>
                      <a:schemeClr val="bg1"/>
                    </a:solidFill>
                  </a:rPr>
                  <a:t>S = on input (</a:t>
                </a:r>
                <a:r>
                  <a:rPr lang="en-US" b="1" i="1" dirty="0" err="1">
                    <a:solidFill>
                      <a:schemeClr val="bg1"/>
                    </a:solidFill>
                  </a:rPr>
                  <a:t>M,w</a:t>
                </a:r>
                <a:r>
                  <a:rPr lang="en-US" b="1" i="1" dirty="0">
                    <a:solidFill>
                      <a:schemeClr val="bg1"/>
                    </a:solidFill>
                  </a:rPr>
                  <a:t>):</a:t>
                </a:r>
                <a:br>
                  <a:rPr lang="en-US" b="1" i="1" dirty="0">
                    <a:solidFill>
                      <a:schemeClr val="bg1"/>
                    </a:solidFill>
                  </a:rPr>
                </a:br>
                <a:r>
                  <a:rPr lang="en-US" b="1" i="1" dirty="0">
                    <a:solidFill>
                      <a:schemeClr val="bg1"/>
                    </a:solidFill>
                  </a:rPr>
                  <a:t>    Construct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chemeClr val="bg1"/>
                    </a:solidFill>
                  </a:rPr>
                  <a:t> as described earlier</a:t>
                </a:r>
                <a:br>
                  <a:rPr lang="en-US" b="1" i="1" dirty="0">
                    <a:solidFill>
                      <a:schemeClr val="bg1"/>
                    </a:solidFill>
                  </a:rPr>
                </a:br>
                <a:r>
                  <a:rPr lang="en-US" b="1" i="1" dirty="0">
                    <a:solidFill>
                      <a:schemeClr val="bg1"/>
                    </a:solidFill>
                  </a:rPr>
                  <a:t>    Run R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br>
                  <a:rPr lang="en-US" b="1" i="1" dirty="0">
                    <a:solidFill>
                      <a:schemeClr val="bg1"/>
                    </a:solidFill>
                  </a:rPr>
                </a:br>
                <a:r>
                  <a:rPr lang="en-US" b="1" i="1" dirty="0">
                    <a:solidFill>
                      <a:schemeClr val="bg1"/>
                    </a:solidFill>
                  </a:rPr>
                  <a:t>    Accept IFF R accepts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BFE8881-E1F3-AD41-864B-80A9FF3EA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859" y="4169846"/>
                <a:ext cx="4679524" cy="1963325"/>
              </a:xfrm>
              <a:prstGeom prst="rect">
                <a:avLst/>
              </a:prstGeom>
              <a:blipFill>
                <a:blip r:embed="rId5"/>
                <a:stretch>
                  <a:fillRect l="-1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DAD3CEF-8DBF-0341-B61B-6E731787DE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84549" y="4047182"/>
                <a:ext cx="3188973" cy="140576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i="1" dirty="0">
                    <a:solidFill>
                      <a:schemeClr val="tx1">
                        <a:lumMod val="95000"/>
                      </a:schemeClr>
                    </a:solidFill>
                  </a:rPr>
                  <a:t>Why does this work?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dirty="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solidFill>
                      <a:schemeClr val="tx1">
                        <a:lumMod val="95000"/>
                      </a:schemeClr>
                    </a:solidFill>
                  </a:rPr>
                  <a:t> will be regular if M accepts w?</a:t>
                </a:r>
                <a:endParaRPr lang="en-US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DAD3CEF-8DBF-0341-B61B-6E731787D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549" y="4047182"/>
                <a:ext cx="3188973" cy="1405764"/>
              </a:xfrm>
              <a:prstGeom prst="rect">
                <a:avLst/>
              </a:prstGeom>
              <a:blipFill>
                <a:blip r:embed="rId6"/>
                <a:stretch>
                  <a:fillRect l="-2778" t="-901" r="-794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8335E1-E8AA-D94A-A56E-AEFC19D065B3}"/>
              </a:ext>
            </a:extLst>
          </p:cNvPr>
          <p:cNvCxnSpPr/>
          <p:nvPr/>
        </p:nvCxnSpPr>
        <p:spPr>
          <a:xfrm flipV="1">
            <a:off x="6501161" y="4330275"/>
            <a:ext cx="1393902" cy="665471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9769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70119</TotalTime>
  <Words>3022</Words>
  <Application>Microsoft Macintosh PowerPoint</Application>
  <PresentationFormat>Widescreen</PresentationFormat>
  <Paragraphs>333</Paragraphs>
  <Slides>50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Cambria Math</vt:lpstr>
      <vt:lpstr>Tw Cen MT</vt:lpstr>
      <vt:lpstr>Wingdings</vt:lpstr>
      <vt:lpstr>Circuit</vt:lpstr>
      <vt:lpstr>Decidability</vt:lpstr>
      <vt:lpstr>Goals!</vt:lpstr>
      <vt:lpstr>The big Picture!</vt:lpstr>
      <vt:lpstr>Part 1: Decidable Languages</vt:lpstr>
      <vt:lpstr>Decidable Languages</vt:lpstr>
      <vt:lpstr>Decidable Languages</vt:lpstr>
      <vt:lpstr>Decidable Languages</vt:lpstr>
      <vt:lpstr>Decidable Languages</vt:lpstr>
      <vt:lpstr>Decidable Languages</vt:lpstr>
      <vt:lpstr>More Decidable Languages</vt:lpstr>
      <vt:lpstr>Part 2: Undecidable Languages</vt:lpstr>
      <vt:lpstr>Do undecidable languages exiSt?</vt:lpstr>
      <vt:lpstr>Do undecidable languages exiSt?</vt:lpstr>
      <vt:lpstr>Do undecidable languages exist?</vt:lpstr>
      <vt:lpstr>Do undecidable languages exist?</vt:lpstr>
      <vt:lpstr>Do undecidable languages exist?</vt:lpstr>
      <vt:lpstr>Do undecidable languages exist?</vt:lpstr>
      <vt:lpstr>Some Comments on Machine D</vt:lpstr>
      <vt:lpstr>Some Comments on Machine D</vt:lpstr>
      <vt:lpstr>Some Comments on Machine D</vt:lpstr>
      <vt:lpstr>Do undecidable languages exist?</vt:lpstr>
      <vt:lpstr>Do undecidable languages exist?</vt:lpstr>
      <vt:lpstr>Do undecidable languages exist?</vt:lpstr>
      <vt:lpstr>Part 3: Non-Recognizable Languages?</vt:lpstr>
      <vt:lpstr>Non-Turing Recognizability?</vt:lpstr>
      <vt:lpstr>Definition: Complement of a Language</vt:lpstr>
      <vt:lpstr>More on complements</vt:lpstr>
      <vt:lpstr>More on complements</vt:lpstr>
      <vt:lpstr>Co-Turing Recognizable</vt:lpstr>
      <vt:lpstr>Another way to define decidability</vt:lpstr>
      <vt:lpstr>Proving the theorem</vt:lpstr>
      <vt:lpstr>Proving the theorem</vt:lpstr>
      <vt:lpstr>UnRecognizability!</vt:lpstr>
      <vt:lpstr>UnRecognizability!</vt:lpstr>
      <vt:lpstr>Part 4: Introduction to Reducibility</vt:lpstr>
      <vt:lpstr>What is Reducibility?</vt:lpstr>
      <vt:lpstr>What is Reducibility?</vt:lpstr>
      <vt:lpstr>What is Reducibility?</vt:lpstr>
      <vt:lpstr>Reduction Process</vt:lpstr>
      <vt:lpstr>The Halting Problem</vt:lpstr>
      <vt:lpstr>The Halting Problem</vt:lpstr>
      <vt:lpstr>The Halting Problem</vt:lpstr>
      <vt:lpstr>TM Emptiness Testing</vt:lpstr>
      <vt:lpstr>TM Emptiness Testing</vt:lpstr>
      <vt:lpstr>TM Emptiness Testing</vt:lpstr>
      <vt:lpstr>TM Emptiness Testing</vt:lpstr>
      <vt:lpstr>One More Example</vt:lpstr>
      <vt:lpstr>One More Example</vt:lpstr>
      <vt:lpstr>One More Example</vt:lpstr>
      <vt:lpstr>One More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346</cp:revision>
  <dcterms:created xsi:type="dcterms:W3CDTF">2023-02-24T14:15:53Z</dcterms:created>
  <dcterms:modified xsi:type="dcterms:W3CDTF">2026-10-22T13:21:54Z</dcterms:modified>
</cp:coreProperties>
</file>