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40"/>
  </p:notesMasterIdLst>
  <p:sldIdLst>
    <p:sldId id="256" r:id="rId2"/>
    <p:sldId id="272" r:id="rId3"/>
    <p:sldId id="365" r:id="rId4"/>
    <p:sldId id="300" r:id="rId5"/>
    <p:sldId id="379" r:id="rId6"/>
    <p:sldId id="380" r:id="rId7"/>
    <p:sldId id="381" r:id="rId8"/>
    <p:sldId id="362" r:id="rId9"/>
    <p:sldId id="347" r:id="rId10"/>
    <p:sldId id="359" r:id="rId11"/>
    <p:sldId id="349" r:id="rId12"/>
    <p:sldId id="374" r:id="rId13"/>
    <p:sldId id="315" r:id="rId14"/>
    <p:sldId id="351" r:id="rId15"/>
    <p:sldId id="316" r:id="rId16"/>
    <p:sldId id="368" r:id="rId17"/>
    <p:sldId id="384" r:id="rId18"/>
    <p:sldId id="354" r:id="rId19"/>
    <p:sldId id="356" r:id="rId20"/>
    <p:sldId id="355" r:id="rId21"/>
    <p:sldId id="370" r:id="rId22"/>
    <p:sldId id="357" r:id="rId23"/>
    <p:sldId id="371" r:id="rId24"/>
    <p:sldId id="314" r:id="rId25"/>
    <p:sldId id="375" r:id="rId26"/>
    <p:sldId id="372" r:id="rId27"/>
    <p:sldId id="382" r:id="rId28"/>
    <p:sldId id="319" r:id="rId29"/>
    <p:sldId id="320" r:id="rId30"/>
    <p:sldId id="373" r:id="rId31"/>
    <p:sldId id="321" r:id="rId32"/>
    <p:sldId id="376" r:id="rId33"/>
    <p:sldId id="325" r:id="rId34"/>
    <p:sldId id="322" r:id="rId35"/>
    <p:sldId id="383" r:id="rId36"/>
    <p:sldId id="327" r:id="rId37"/>
    <p:sldId id="328" r:id="rId38"/>
    <p:sldId id="378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26"/>
    <p:restoredTop sz="94794"/>
  </p:normalViewPr>
  <p:slideViewPr>
    <p:cSldViewPr snapToGrid="0" snapToObjects="1">
      <p:cViewPr varScale="1">
        <p:scale>
          <a:sx n="137" d="100"/>
          <a:sy n="137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ln/>
        </p:spPr>
        <p:txBody>
          <a:bodyPr/>
          <a:lstStyle/>
          <a:p>
            <a:fld id="{51B7C5CC-8735-47F3-8FD6-DF4356A08766}" type="slidenum">
              <a:rPr lang="en-US"/>
              <a:pPr/>
              <a:t>3</a:t>
            </a:fld>
            <a:endParaRPr lang="en-US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7388"/>
            <a:ext cx="6096000" cy="3429000"/>
          </a:xfrm>
          <a:prstGeom prst="rect">
            <a:avLst/>
          </a:prstGeom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4343704"/>
            <a:ext cx="5485805" cy="41138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3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Cardinality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Discrete Mathematics and Theory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Goals!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CBD30C-EB51-C249-A8FC-E343315276A6}"/>
              </a:ext>
            </a:extLst>
          </p:cNvPr>
          <p:cNvSpPr txBox="1">
            <a:spLocks/>
          </p:cNvSpPr>
          <p:nvPr/>
        </p:nvSpPr>
        <p:spPr>
          <a:xfrm>
            <a:off x="1141412" y="1738464"/>
            <a:ext cx="9905999" cy="108932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1. How do we use functions to compare the sizes of sets? Why might this be useful as we move forward talking about computation?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8087DF-8BCB-3D46-8C8D-7FA120BFB404}"/>
              </a:ext>
            </a:extLst>
          </p:cNvPr>
          <p:cNvSpPr txBox="1">
            <a:spLocks/>
          </p:cNvSpPr>
          <p:nvPr/>
        </p:nvSpPr>
        <p:spPr>
          <a:xfrm>
            <a:off x="1141412" y="3027901"/>
            <a:ext cx="9905999" cy="108932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2. Do all infinite sets have the same size? What can this tell us (already) about the theory of computation?</a:t>
            </a:r>
          </a:p>
        </p:txBody>
      </p:sp>
    </p:spTree>
    <p:extLst>
      <p:ext uri="{BB962C8B-B14F-4D97-AF65-F5344CB8AC3E}">
        <p14:creationId xmlns:p14="http://schemas.microsoft.com/office/powerpoint/2010/main" val="29872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5751" y="135171"/>
            <a:ext cx="10360501" cy="90273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Reminder: Bijective Functions</a:t>
            </a:r>
            <a:endParaRPr lang="en-US" b="0" dirty="0"/>
          </a:p>
        </p:txBody>
      </p:sp>
      <p:sp>
        <p:nvSpPr>
          <p:cNvPr id="50" name="Slide Number Placeholder 4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A55897-29AF-4974-9C6C-F0FFF579EC8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E9B946-2696-924F-9412-F607B30AB29A}"/>
              </a:ext>
            </a:extLst>
          </p:cNvPr>
          <p:cNvGrpSpPr/>
          <p:nvPr/>
        </p:nvGrpSpPr>
        <p:grpSpPr>
          <a:xfrm>
            <a:off x="3962956" y="1190177"/>
            <a:ext cx="4266089" cy="3717509"/>
            <a:chOff x="204736" y="1015248"/>
            <a:chExt cx="4266089" cy="371750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ED31124-FC7F-9F45-8A2B-6198449D8C96}"/>
                </a:ext>
              </a:extLst>
            </p:cNvPr>
            <p:cNvSpPr/>
            <p:nvPr/>
          </p:nvSpPr>
          <p:spPr>
            <a:xfrm>
              <a:off x="326003" y="1015248"/>
              <a:ext cx="4144822" cy="371750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924" name="Rectangle 4"/>
            <p:cNvSpPr>
              <a:spLocks noChangeArrowheads="1"/>
            </p:cNvSpPr>
            <p:nvPr/>
          </p:nvSpPr>
          <p:spPr bwMode="auto">
            <a:xfrm>
              <a:off x="495447" y="1600200"/>
              <a:ext cx="1218883" cy="2438400"/>
            </a:xfrm>
            <a:prstGeom prst="rect">
              <a:avLst/>
            </a:prstGeom>
            <a:solidFill>
              <a:schemeClr val="bg1">
                <a:lumMod val="75000"/>
                <a:lumOff val="25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25" name="Oval 5"/>
            <p:cNvSpPr>
              <a:spLocks noChangeArrowheads="1"/>
            </p:cNvSpPr>
            <p:nvPr/>
          </p:nvSpPr>
          <p:spPr bwMode="auto">
            <a:xfrm>
              <a:off x="1003315" y="18288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26" name="Oval 6"/>
            <p:cNvSpPr>
              <a:spLocks noChangeArrowheads="1"/>
            </p:cNvSpPr>
            <p:nvPr/>
          </p:nvSpPr>
          <p:spPr bwMode="auto">
            <a:xfrm>
              <a:off x="1003315" y="21336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27" name="Oval 7"/>
            <p:cNvSpPr>
              <a:spLocks noChangeArrowheads="1"/>
            </p:cNvSpPr>
            <p:nvPr/>
          </p:nvSpPr>
          <p:spPr bwMode="auto">
            <a:xfrm>
              <a:off x="1003315" y="24384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28" name="Oval 8"/>
            <p:cNvSpPr>
              <a:spLocks noChangeArrowheads="1"/>
            </p:cNvSpPr>
            <p:nvPr/>
          </p:nvSpPr>
          <p:spPr bwMode="auto">
            <a:xfrm>
              <a:off x="1003315" y="27432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29" name="Oval 9"/>
            <p:cNvSpPr>
              <a:spLocks noChangeArrowheads="1"/>
            </p:cNvSpPr>
            <p:nvPr/>
          </p:nvSpPr>
          <p:spPr bwMode="auto">
            <a:xfrm>
              <a:off x="1003315" y="30480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0" name="Oval 10"/>
            <p:cNvSpPr>
              <a:spLocks noChangeArrowheads="1"/>
            </p:cNvSpPr>
            <p:nvPr/>
          </p:nvSpPr>
          <p:spPr bwMode="auto">
            <a:xfrm>
              <a:off x="1003315" y="33528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1" name="Oval 11"/>
            <p:cNvSpPr>
              <a:spLocks noChangeArrowheads="1"/>
            </p:cNvSpPr>
            <p:nvPr/>
          </p:nvSpPr>
          <p:spPr bwMode="auto">
            <a:xfrm>
              <a:off x="1003315" y="36576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2" name="Rectangle 12"/>
            <p:cNvSpPr>
              <a:spLocks noChangeArrowheads="1"/>
            </p:cNvSpPr>
            <p:nvPr/>
          </p:nvSpPr>
          <p:spPr bwMode="auto">
            <a:xfrm>
              <a:off x="2933212" y="1600200"/>
              <a:ext cx="1218883" cy="2438400"/>
            </a:xfrm>
            <a:prstGeom prst="rect">
              <a:avLst/>
            </a:prstGeom>
            <a:solidFill>
              <a:schemeClr val="bg1">
                <a:lumMod val="75000"/>
                <a:lumOff val="25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3" name="Oval 13"/>
            <p:cNvSpPr>
              <a:spLocks noChangeArrowheads="1"/>
            </p:cNvSpPr>
            <p:nvPr/>
          </p:nvSpPr>
          <p:spPr bwMode="auto">
            <a:xfrm>
              <a:off x="3441080" y="18288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4" name="Oval 14"/>
            <p:cNvSpPr>
              <a:spLocks noChangeArrowheads="1"/>
            </p:cNvSpPr>
            <p:nvPr/>
          </p:nvSpPr>
          <p:spPr bwMode="auto">
            <a:xfrm>
              <a:off x="3441080" y="21336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5" name="Oval 15"/>
            <p:cNvSpPr>
              <a:spLocks noChangeArrowheads="1"/>
            </p:cNvSpPr>
            <p:nvPr/>
          </p:nvSpPr>
          <p:spPr bwMode="auto">
            <a:xfrm>
              <a:off x="3441080" y="24384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6" name="Oval 16"/>
            <p:cNvSpPr>
              <a:spLocks noChangeArrowheads="1"/>
            </p:cNvSpPr>
            <p:nvPr/>
          </p:nvSpPr>
          <p:spPr bwMode="auto">
            <a:xfrm>
              <a:off x="3441080" y="27432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7" name="Oval 17"/>
            <p:cNvSpPr>
              <a:spLocks noChangeArrowheads="1"/>
            </p:cNvSpPr>
            <p:nvPr/>
          </p:nvSpPr>
          <p:spPr bwMode="auto">
            <a:xfrm>
              <a:off x="3441080" y="30480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8" name="Oval 18"/>
            <p:cNvSpPr>
              <a:spLocks noChangeArrowheads="1"/>
            </p:cNvSpPr>
            <p:nvPr/>
          </p:nvSpPr>
          <p:spPr bwMode="auto">
            <a:xfrm>
              <a:off x="3441080" y="33528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9" name="Oval 19"/>
            <p:cNvSpPr>
              <a:spLocks noChangeArrowheads="1"/>
            </p:cNvSpPr>
            <p:nvPr/>
          </p:nvSpPr>
          <p:spPr bwMode="auto">
            <a:xfrm>
              <a:off x="3441080" y="3657600"/>
              <a:ext cx="203147" cy="1524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09940" name="AutoShape 20"/>
            <p:cNvCxnSpPr>
              <a:cxnSpLocks noChangeShapeType="1"/>
              <a:stCxn id="209925" idx="6"/>
              <a:endCxn id="209933" idx="2"/>
            </p:cNvCxnSpPr>
            <p:nvPr/>
          </p:nvCxnSpPr>
          <p:spPr bwMode="auto">
            <a:xfrm>
              <a:off x="1206461" y="1905000"/>
              <a:ext cx="2234618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09941" name="AutoShape 21"/>
            <p:cNvCxnSpPr>
              <a:cxnSpLocks noChangeShapeType="1"/>
              <a:stCxn id="209926" idx="6"/>
              <a:endCxn id="209936" idx="2"/>
            </p:cNvCxnSpPr>
            <p:nvPr/>
          </p:nvCxnSpPr>
          <p:spPr bwMode="auto">
            <a:xfrm>
              <a:off x="1206461" y="2209800"/>
              <a:ext cx="2234618" cy="60960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09942" name="AutoShape 22"/>
            <p:cNvCxnSpPr>
              <a:cxnSpLocks noChangeShapeType="1"/>
              <a:stCxn id="209927" idx="6"/>
              <a:endCxn id="209935" idx="2"/>
            </p:cNvCxnSpPr>
            <p:nvPr/>
          </p:nvCxnSpPr>
          <p:spPr bwMode="auto">
            <a:xfrm>
              <a:off x="1206461" y="2514600"/>
              <a:ext cx="2234618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09943" name="AutoShape 23"/>
            <p:cNvCxnSpPr>
              <a:cxnSpLocks noChangeShapeType="1"/>
              <a:stCxn id="209928" idx="6"/>
              <a:endCxn id="209934" idx="2"/>
            </p:cNvCxnSpPr>
            <p:nvPr/>
          </p:nvCxnSpPr>
          <p:spPr bwMode="auto">
            <a:xfrm flipV="1">
              <a:off x="1206461" y="2209800"/>
              <a:ext cx="2234618" cy="60960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09944" name="AutoShape 24"/>
            <p:cNvCxnSpPr>
              <a:cxnSpLocks noChangeShapeType="1"/>
              <a:stCxn id="209929" idx="6"/>
              <a:endCxn id="209937" idx="2"/>
            </p:cNvCxnSpPr>
            <p:nvPr/>
          </p:nvCxnSpPr>
          <p:spPr bwMode="auto">
            <a:xfrm>
              <a:off x="1206461" y="3124200"/>
              <a:ext cx="2234618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09945" name="AutoShape 25"/>
            <p:cNvCxnSpPr>
              <a:cxnSpLocks noChangeShapeType="1"/>
              <a:stCxn id="209930" idx="6"/>
              <a:endCxn id="209938" idx="2"/>
            </p:cNvCxnSpPr>
            <p:nvPr/>
          </p:nvCxnSpPr>
          <p:spPr bwMode="auto">
            <a:xfrm>
              <a:off x="1206461" y="3429000"/>
              <a:ext cx="2234618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09946" name="AutoShape 26"/>
            <p:cNvCxnSpPr>
              <a:cxnSpLocks noChangeShapeType="1"/>
              <a:stCxn id="209931" idx="6"/>
              <a:endCxn id="209939" idx="2"/>
            </p:cNvCxnSpPr>
            <p:nvPr/>
          </p:nvCxnSpPr>
          <p:spPr bwMode="auto">
            <a:xfrm>
              <a:off x="1206461" y="3733800"/>
              <a:ext cx="2234618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09967" name="Text Box 47"/>
            <p:cNvSpPr txBox="1">
              <a:spLocks noChangeArrowheads="1"/>
            </p:cNvSpPr>
            <p:nvPr/>
          </p:nvSpPr>
          <p:spPr bwMode="auto">
            <a:xfrm>
              <a:off x="204736" y="4126468"/>
              <a:ext cx="4266089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chemeClr val="bg1"/>
                  </a:solidFill>
                </a:rPr>
                <a:t>BIJECTIVE FUNCTION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68710" y="1125770"/>
              <a:ext cx="8723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Domain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947919" y="1134385"/>
              <a:ext cx="1204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Co-Domain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9443950" y="3070529"/>
                <a:ext cx="2435829" cy="1471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Because Onto:</a:t>
                </a:r>
              </a:p>
              <a:p>
                <a:r>
                  <a:rPr lang="en-US" i="1" dirty="0"/>
                  <a:t>Everything in Co-Domain “receives” something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≥|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i="1" dirty="0"/>
                  <a:t> </a:t>
                </a:r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3950" y="3070529"/>
                <a:ext cx="2435829" cy="1471396"/>
              </a:xfrm>
              <a:prstGeom prst="rect">
                <a:avLst/>
              </a:prstGeom>
              <a:blipFill>
                <a:blip r:embed="rId3"/>
                <a:stretch>
                  <a:fillRect l="-2618" t="-1709" r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915751" y="1565400"/>
                <a:ext cx="22344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Because 1-1:</a:t>
                </a:r>
              </a:p>
              <a:p>
                <a:r>
                  <a:rPr lang="en-US" i="1" dirty="0"/>
                  <a:t>Nothing in Co-Domain “receives” two things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≥|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i="1" dirty="0"/>
                  <a:t> 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51" y="1565400"/>
                <a:ext cx="2234416" cy="1200329"/>
              </a:xfrm>
              <a:prstGeom prst="rect">
                <a:avLst/>
              </a:prstGeom>
              <a:blipFill>
                <a:blip r:embed="rId4"/>
                <a:stretch>
                  <a:fillRect l="-2273" t="-2083" r="-1705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151203" y="5321716"/>
                <a:ext cx="82769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Conclusion:</a:t>
                </a:r>
              </a:p>
              <a:p>
                <a:r>
                  <a:rPr lang="en-US" sz="2400" dirty="0"/>
                  <a:t>Things in the Domain exactly “partner” with things in Co-Domain</a:t>
                </a:r>
              </a:p>
              <a:p>
                <a:r>
                  <a:rPr lang="en-US" sz="2400" b="1" i="1" dirty="0"/>
                  <a:t>**Note: This means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b="1" i="1" dirty="0"/>
                  <a:t> </a:t>
                </a: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203" y="5321716"/>
                <a:ext cx="8276982" cy="1200329"/>
              </a:xfrm>
              <a:prstGeom prst="rect">
                <a:avLst/>
              </a:prstGeom>
              <a:blipFill>
                <a:blip r:embed="rId5"/>
                <a:stretch>
                  <a:fillRect l="-1072" t="-3125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348FD84-0D47-E149-8A65-9E4A6FF31FBD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3150167" y="2165565"/>
            <a:ext cx="682362" cy="29536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7FB283-30A8-E646-9C69-6388D2D91245}"/>
              </a:ext>
            </a:extLst>
          </p:cNvPr>
          <p:cNvCxnSpPr>
            <a:cxnSpLocks/>
          </p:cNvCxnSpPr>
          <p:nvPr/>
        </p:nvCxnSpPr>
        <p:spPr>
          <a:xfrm flipH="1" flipV="1">
            <a:off x="8404531" y="2765729"/>
            <a:ext cx="975812" cy="60960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39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44809"/>
                <a:ext cx="9905998" cy="629161"/>
              </a:xfrm>
            </p:spPr>
            <p:txBody>
              <a:bodyPr/>
              <a:lstStyle/>
              <a:p>
                <a:pPr algn="ctr"/>
                <a:r>
                  <a:rPr lang="en-US" b="0" dirty="0"/>
                  <a:t>Practice: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via bijection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44809"/>
                <a:ext cx="9905998" cy="629161"/>
              </a:xfrm>
              <a:blipFill>
                <a:blip r:embed="rId2"/>
                <a:stretch>
                  <a:fillRect t="-17647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9AFF7-20FA-1043-9D54-97A36FEEFDC7}"/>
                  </a:ext>
                </a:extLst>
              </p:cNvPr>
              <p:cNvSpPr txBox="1"/>
              <p:nvPr/>
            </p:nvSpPr>
            <p:spPr>
              <a:xfrm>
                <a:off x="1403287" y="1702048"/>
                <a:ext cx="9008198" cy="52322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1"/>
                    </a:solidFill>
                  </a:rPr>
                  <a:t>Theorem: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9AFF7-20FA-1043-9D54-97A36FEEF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287" y="1702048"/>
                <a:ext cx="9008198" cy="523220"/>
              </a:xfrm>
              <a:prstGeom prst="rect">
                <a:avLst/>
              </a:prstGeom>
              <a:blipFill>
                <a:blip r:embed="rId3"/>
                <a:stretch>
                  <a:fillRect t="-1190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D05E75E-0DD2-B54B-A60D-B7174B3B1A93}"/>
              </a:ext>
            </a:extLst>
          </p:cNvPr>
          <p:cNvSpPr txBox="1"/>
          <p:nvPr/>
        </p:nvSpPr>
        <p:spPr>
          <a:xfrm>
            <a:off x="1542876" y="2507588"/>
            <a:ext cx="3560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do we show this? Any ideas?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75CD6B-9945-564B-A650-4E208B768600}"/>
              </a:ext>
            </a:extLst>
          </p:cNvPr>
          <p:cNvCxnSpPr>
            <a:cxnSpLocks/>
          </p:cNvCxnSpPr>
          <p:nvPr/>
        </p:nvCxnSpPr>
        <p:spPr>
          <a:xfrm flipH="1">
            <a:off x="5103845" y="2341984"/>
            <a:ext cx="550506" cy="37235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63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44809"/>
                <a:ext cx="9905998" cy="629161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via bijection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44809"/>
                <a:ext cx="9905998" cy="629161"/>
              </a:xfrm>
              <a:blipFill>
                <a:blip r:embed="rId2"/>
                <a:stretch>
                  <a:fillRect t="-17647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92368" y="1240324"/>
                <a:ext cx="7804088" cy="518346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Proof idea:</a:t>
                </a:r>
              </a:p>
              <a:p>
                <a:pPr lvl="1"/>
                <a:r>
                  <a:rPr lang="en-US" dirty="0"/>
                  <a:t>Find a bijection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↔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⋅2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1101=1⋅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+0⋅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=13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other words, let each item b map to the natural number corresponding to the binary representation!!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92368" y="1240324"/>
                <a:ext cx="7804088" cy="5183464"/>
              </a:xfrm>
              <a:blipFill>
                <a:blip r:embed="rId3"/>
                <a:stretch>
                  <a:fillRect l="-1626" t="-1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7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44809"/>
                <a:ext cx="9905998" cy="629161"/>
              </a:xfrm>
            </p:spPr>
            <p:txBody>
              <a:bodyPr/>
              <a:lstStyle/>
              <a:p>
                <a:pPr algn="ctr"/>
                <a:r>
                  <a:rPr lang="en-US" b="0" dirty="0"/>
                  <a:t>Practice: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via bijection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44809"/>
                <a:ext cx="9905998" cy="629161"/>
              </a:xfrm>
              <a:blipFill>
                <a:blip r:embed="rId2"/>
                <a:stretch>
                  <a:fillRect t="-17647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9AFF7-20FA-1043-9D54-97A36FEEFDC7}"/>
                  </a:ext>
                </a:extLst>
              </p:cNvPr>
              <p:cNvSpPr txBox="1"/>
              <p:nvPr/>
            </p:nvSpPr>
            <p:spPr>
              <a:xfrm>
                <a:off x="1403287" y="1095557"/>
                <a:ext cx="9008198" cy="52322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1"/>
                    </a:solidFill>
                  </a:rPr>
                  <a:t>Theorem: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9AFF7-20FA-1043-9D54-97A36FEEF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287" y="1095557"/>
                <a:ext cx="9008198" cy="523220"/>
              </a:xfrm>
              <a:prstGeom prst="rect">
                <a:avLst/>
              </a:prstGeom>
              <a:blipFill>
                <a:blip r:embed="rId3"/>
                <a:stretch>
                  <a:fillRect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D05E75E-0DD2-B54B-A60D-B7174B3B1A93}"/>
              </a:ext>
            </a:extLst>
          </p:cNvPr>
          <p:cNvSpPr txBox="1"/>
          <p:nvPr/>
        </p:nvSpPr>
        <p:spPr>
          <a:xfrm>
            <a:off x="597159" y="1817158"/>
            <a:ext cx="3685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Is the mapping we provided injective (Every input has unique output)? Why?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75CD6B-9945-564B-A650-4E208B768600}"/>
              </a:ext>
            </a:extLst>
          </p:cNvPr>
          <p:cNvCxnSpPr>
            <a:cxnSpLocks/>
          </p:cNvCxnSpPr>
          <p:nvPr/>
        </p:nvCxnSpPr>
        <p:spPr>
          <a:xfrm flipH="1">
            <a:off x="3916672" y="1754153"/>
            <a:ext cx="510010" cy="33180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43E790-741B-EE4D-9A99-4EB2BC4F4618}"/>
                  </a:ext>
                </a:extLst>
              </p:cNvPr>
              <p:cNvSpPr txBox="1"/>
              <p:nvPr/>
            </p:nvSpPr>
            <p:spPr>
              <a:xfrm>
                <a:off x="5800836" y="2015413"/>
                <a:ext cx="476671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Is the mapping we provided surjective (Every value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 is covered)? Why?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43E790-741B-EE4D-9A99-4EB2BC4F4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836" y="2015413"/>
                <a:ext cx="4766718" cy="707886"/>
              </a:xfrm>
              <a:prstGeom prst="rect">
                <a:avLst/>
              </a:prstGeom>
              <a:blipFill>
                <a:blip r:embed="rId4"/>
                <a:stretch>
                  <a:fillRect l="-531" t="-3509" r="-2122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904947-8582-8040-821D-95F0017B8002}"/>
              </a:ext>
            </a:extLst>
          </p:cNvPr>
          <p:cNvCxnSpPr>
            <a:cxnSpLocks/>
          </p:cNvCxnSpPr>
          <p:nvPr/>
        </p:nvCxnSpPr>
        <p:spPr>
          <a:xfrm>
            <a:off x="5898055" y="1703063"/>
            <a:ext cx="987937" cy="38289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0C606E-EA90-8042-A71C-F294A5D6717B}"/>
                  </a:ext>
                </a:extLst>
              </p:cNvPr>
              <p:cNvSpPr txBox="1"/>
              <p:nvPr/>
            </p:nvSpPr>
            <p:spPr>
              <a:xfrm>
                <a:off x="37324" y="2831002"/>
                <a:ext cx="7361853" cy="2332370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/>
                  <a:t>&gt; Take two unique inputs B1 and B2</a:t>
                </a:r>
              </a:p>
              <a:p>
                <a:r>
                  <a:rPr lang="en-US" sz="1600" i="1" dirty="0"/>
                  <a:t>&gt; B1 and B2 differ in at least one digit</a:t>
                </a:r>
              </a:p>
              <a:p>
                <a:r>
                  <a:rPr lang="en-US" sz="1600" i="1" dirty="0"/>
                  <a:t>&gt; Consider the HIGHEST bit at index </a:t>
                </a:r>
                <a:r>
                  <a:rPr lang="en-US" sz="1600" i="1" dirty="0" err="1"/>
                  <a:t>i</a:t>
                </a:r>
                <a:r>
                  <a:rPr lang="en-US" sz="1600" i="1" dirty="0"/>
                  <a:t> that differs between the numbers</a:t>
                </a:r>
              </a:p>
              <a:p>
                <a:r>
                  <a:rPr lang="en-US" sz="1600" i="1" dirty="0"/>
                  <a:t>&gt; Higher order bits do not matter (remove them from both B1 and B2 to get B1’ and B2’)</a:t>
                </a:r>
              </a:p>
              <a:p>
                <a:r>
                  <a:rPr lang="en-US" sz="1600" i="1" dirty="0"/>
                  <a:t>&gt; Assume B1’ contains a 1 and B2’ a 0 at bit </a:t>
                </a:r>
                <a:r>
                  <a:rPr lang="en-US" sz="1600" i="1" dirty="0" err="1"/>
                  <a:t>i</a:t>
                </a:r>
                <a:endParaRPr lang="en-US" sz="1600" i="1" dirty="0"/>
              </a:p>
              <a:p>
                <a:r>
                  <a:rPr lang="en-US" sz="1600" b="0" dirty="0"/>
                  <a:t>&gt;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1′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600" i="1" dirty="0"/>
                  <a:t> because bit </a:t>
                </a:r>
                <a:r>
                  <a:rPr lang="en-US" sz="1600" i="1" dirty="0" err="1"/>
                  <a:t>i</a:t>
                </a:r>
                <a:r>
                  <a:rPr lang="en-US" sz="1600" i="1" dirty="0"/>
                  <a:t> is a 1</a:t>
                </a:r>
              </a:p>
              <a:p>
                <a:r>
                  <a:rPr lang="en-US" sz="1600" b="0" dirty="0"/>
                  <a:t>&gt;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600" i="1" dirty="0"/>
                  <a:t> because sum of lower bits cannot equal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600" i="1" dirty="0"/>
                  <a:t> and bit </a:t>
                </a:r>
                <a:r>
                  <a:rPr lang="en-US" sz="1600" i="1" dirty="0" err="1"/>
                  <a:t>i</a:t>
                </a:r>
                <a:r>
                  <a:rPr lang="en-US" sz="1600" i="1" dirty="0"/>
                  <a:t> is a 0</a:t>
                </a:r>
              </a:p>
              <a:p>
                <a:r>
                  <a:rPr lang="en-US" sz="1600" b="0" dirty="0"/>
                  <a:t>&gt;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i="1" dirty="0"/>
              </a:p>
              <a:p>
                <a:r>
                  <a:rPr lang="en-US" sz="1600" i="1" dirty="0"/>
                  <a:t>&gt; Add the higher order bits back in and still different!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0C606E-EA90-8042-A71C-F294A5D67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4" y="2831002"/>
                <a:ext cx="7361853" cy="2332370"/>
              </a:xfrm>
              <a:prstGeom prst="rect">
                <a:avLst/>
              </a:prstGeom>
              <a:blipFill>
                <a:blip r:embed="rId5"/>
                <a:stretch>
                  <a:fillRect l="-344" t="-541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C342F7-EDD6-2A47-B42D-78FB6054C394}"/>
                  </a:ext>
                </a:extLst>
              </p:cNvPr>
              <p:cNvSpPr txBox="1"/>
              <p:nvPr/>
            </p:nvSpPr>
            <p:spPr>
              <a:xfrm>
                <a:off x="7537105" y="2956739"/>
                <a:ext cx="4474923" cy="2308324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/>
                  <a:t>&gt; Take an arbitrary natural num.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1600" i="1" dirty="0"/>
              </a:p>
              <a:p>
                <a:r>
                  <a:rPr lang="en-US" sz="1600" i="1" dirty="0"/>
                  <a:t>&gt; Convert it into a bitstring as per the function on previous slide. Fill in leading zeros to reach n bits if necessary</a:t>
                </a:r>
              </a:p>
              <a:p>
                <a:r>
                  <a:rPr lang="en-US" sz="1600" i="1" dirty="0"/>
                  <a:t>&gt; This bitstring must use exactly n or fewer bits (n once filled with leading zeros)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i="1" dirty="0"/>
                  <a:t> exactly would use the (n+1)</a:t>
                </a:r>
                <a:r>
                  <a:rPr lang="en-US" sz="1600" i="1" dirty="0" err="1"/>
                  <a:t>th</a:t>
                </a:r>
                <a:r>
                  <a:rPr lang="en-US" sz="1600" i="1" dirty="0"/>
                  <a:t> bit.</a:t>
                </a:r>
              </a:p>
              <a:p>
                <a:r>
                  <a:rPr lang="en-US" sz="1600" i="1" dirty="0"/>
                  <a:t>&gt; Thus, every number 0 through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600" i="1" dirty="0"/>
                  <a:t> is mapped onto by some </a:t>
                </a:r>
                <a:r>
                  <a:rPr lang="en-US" sz="1600" i="1" dirty="0" err="1"/>
                  <a:t>bitstring</a:t>
                </a:r>
                <a:r>
                  <a:rPr lang="en-US" sz="1600" i="1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C342F7-EDD6-2A47-B42D-78FB6054C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105" y="2956739"/>
                <a:ext cx="4474923" cy="2308324"/>
              </a:xfrm>
              <a:prstGeom prst="rect">
                <a:avLst/>
              </a:prstGeom>
              <a:blipFill>
                <a:blip r:embed="rId6"/>
                <a:stretch>
                  <a:fillRect l="-850" t="-546" b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547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44809"/>
            <a:ext cx="9905998" cy="629161"/>
          </a:xfrm>
        </p:spPr>
        <p:txBody>
          <a:bodyPr/>
          <a:lstStyle/>
          <a:p>
            <a:pPr algn="ctr"/>
            <a:r>
              <a:rPr lang="en-US" b="0" dirty="0"/>
              <a:t>Practice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9AFF7-20FA-1043-9D54-97A36FEEFDC7}"/>
                  </a:ext>
                </a:extLst>
              </p:cNvPr>
              <p:cNvSpPr txBox="1"/>
              <p:nvPr/>
            </p:nvSpPr>
            <p:spPr>
              <a:xfrm>
                <a:off x="1403287" y="1702048"/>
                <a:ext cx="9008198" cy="56009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1"/>
                    </a:solidFill>
                  </a:rPr>
                  <a:t>Theorem: For a finite set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𝒫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9AFF7-20FA-1043-9D54-97A36FEEF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287" y="1702048"/>
                <a:ext cx="9008198" cy="560090"/>
              </a:xfrm>
              <a:prstGeom prst="rect">
                <a:avLst/>
              </a:prstGeom>
              <a:blipFill>
                <a:blip r:embed="rId2"/>
                <a:stretch>
                  <a:fillRect t="-4348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D05E75E-0DD2-B54B-A60D-B7174B3B1A93}"/>
              </a:ext>
            </a:extLst>
          </p:cNvPr>
          <p:cNvSpPr txBox="1"/>
          <p:nvPr/>
        </p:nvSpPr>
        <p:spPr>
          <a:xfrm>
            <a:off x="1141413" y="2428343"/>
            <a:ext cx="4910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do we show this? Any ideas?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75CD6B-9945-564B-A650-4E208B768600}"/>
              </a:ext>
            </a:extLst>
          </p:cNvPr>
          <p:cNvCxnSpPr>
            <a:cxnSpLocks/>
          </p:cNvCxnSpPr>
          <p:nvPr/>
        </p:nvCxnSpPr>
        <p:spPr>
          <a:xfrm flipH="1">
            <a:off x="5178490" y="2309429"/>
            <a:ext cx="1499182" cy="21916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302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4A4A04-DD1C-45AE-BBAA-84E6EF7E34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340222"/>
                <a:ext cx="9905998" cy="804765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b="0" dirty="0"/>
                  <a:t>For a finite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𝒫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4A4A04-DD1C-45AE-BBAA-84E6EF7E34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340222"/>
                <a:ext cx="9905998" cy="804765"/>
              </a:xfrm>
              <a:blipFill>
                <a:blip r:embed="rId2"/>
                <a:stretch>
                  <a:fillRect t="-3077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6092C2-4212-4D46-9B70-B72CF875A6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5550" y="1724701"/>
                <a:ext cx="8392562" cy="452369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Example: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1,2,3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{1,2,3}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=110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Bijection: give each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an index, for a particular subset of S, make the bit at that index 0 if it is absent, otherwise make it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6092C2-4212-4D46-9B70-B72CF875A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5550" y="1724701"/>
                <a:ext cx="8392562" cy="4523698"/>
              </a:xfrm>
              <a:blipFill>
                <a:blip r:embed="rId3"/>
                <a:stretch>
                  <a:fillRect l="-1360" t="-1401" r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730B5-A1D7-403A-AFA0-2EA1B228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1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18FD-51EA-43C4-A270-19734C1A5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64077"/>
            <a:ext cx="9905998" cy="701399"/>
          </a:xfrm>
        </p:spPr>
        <p:txBody>
          <a:bodyPr/>
          <a:lstStyle/>
          <a:p>
            <a:pPr algn="ctr"/>
            <a:r>
              <a:rPr lang="en-US" dirty="0"/>
              <a:t>Why is this a bijection?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1CE61-DA25-4BF9-85DD-E421FF74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4544006"/>
                <a:ext cx="9905999" cy="1620416"/>
              </a:xfrm>
              <a:solidFill>
                <a:schemeClr val="accent3"/>
              </a:solidFill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Every string is mapped to by some subset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Consider that we have some string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lang="en-US" dirty="0"/>
                  <a:t>. We can find the subset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called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by including the value associated with bit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provided that bit is 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1CE61-DA25-4BF9-85DD-E421FF74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4544006"/>
                <a:ext cx="9905999" cy="1620416"/>
              </a:xfrm>
              <a:blipFill>
                <a:blip r:embed="rId2"/>
                <a:stretch>
                  <a:fillRect t="-3125" r="-640" b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CA5C96-AD6D-F046-8486-B5E4BE00984D}"/>
              </a:ext>
            </a:extLst>
          </p:cNvPr>
          <p:cNvSpPr txBox="1">
            <a:spLocks/>
          </p:cNvSpPr>
          <p:nvPr/>
        </p:nvSpPr>
        <p:spPr>
          <a:xfrm>
            <a:off x="1141412" y="1105824"/>
            <a:ext cx="2858310" cy="56435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ysClr val="windowText" lastClr="000000"/>
                </a:solidFill>
              </a:rPr>
              <a:t>Show that it’s injective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8DAC3AD-9CFC-D847-85ED-CCFE2A96E6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1" y="1724844"/>
                <a:ext cx="9905999" cy="1690160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Different subsets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result in different strings</a:t>
                </a:r>
              </a:p>
              <a:p>
                <a:pPr lvl="1"/>
                <a:r>
                  <a:rPr lang="en-US" dirty="0"/>
                  <a:t>This holds because for two subsets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call them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there must be some value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This means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different from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at the bit associated with element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8DAC3AD-9CFC-D847-85ED-CCFE2A96E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1" y="1724844"/>
                <a:ext cx="9905999" cy="1690160"/>
              </a:xfrm>
              <a:prstGeom prst="rect">
                <a:avLst/>
              </a:prstGeom>
              <a:blipFill>
                <a:blip r:embed="rId3"/>
                <a:stretch>
                  <a:fillRect t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9D73AB-23FF-8847-A146-8346C9AD0E33}"/>
              </a:ext>
            </a:extLst>
          </p:cNvPr>
          <p:cNvSpPr txBox="1">
            <a:spLocks/>
          </p:cNvSpPr>
          <p:nvPr/>
        </p:nvSpPr>
        <p:spPr>
          <a:xfrm>
            <a:off x="1141410" y="3964193"/>
            <a:ext cx="2982721" cy="523832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ysClr val="windowText" lastClr="000000"/>
                </a:solidFill>
              </a:rPr>
              <a:t>Show that it’s surjective</a:t>
            </a:r>
          </a:p>
        </p:txBody>
      </p:sp>
    </p:spTree>
    <p:extLst>
      <p:ext uri="{BB962C8B-B14F-4D97-AF65-F5344CB8AC3E}">
        <p14:creationId xmlns:p14="http://schemas.microsoft.com/office/powerpoint/2010/main" val="2697085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3: Comparing Sizes of Infinite Sets</a:t>
            </a:r>
          </a:p>
        </p:txBody>
      </p:sp>
    </p:spTree>
    <p:extLst>
      <p:ext uri="{BB962C8B-B14F-4D97-AF65-F5344CB8AC3E}">
        <p14:creationId xmlns:p14="http://schemas.microsoft.com/office/powerpoint/2010/main" val="180375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AB02-4A5B-479A-B682-A49E3FFB1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11785"/>
            <a:ext cx="9905998" cy="749106"/>
          </a:xfrm>
        </p:spPr>
        <p:txBody>
          <a:bodyPr/>
          <a:lstStyle/>
          <a:p>
            <a:pPr algn="ctr"/>
            <a:r>
              <a:rPr lang="en-US" dirty="0"/>
              <a:t>Infinite Cardinality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D2B9B-86FF-479B-970F-AC9D82F6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997" y="2209730"/>
            <a:ext cx="9905999" cy="177387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How do we compare the sizes of two infinite sets? Wait…do they not automatically have the same size?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CEBCA-C1D2-4B31-B674-F146F430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18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AB02-4A5B-479A-B682-A49E3FFB1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11785"/>
            <a:ext cx="9905998" cy="749106"/>
          </a:xfrm>
        </p:spPr>
        <p:txBody>
          <a:bodyPr/>
          <a:lstStyle/>
          <a:p>
            <a:pPr algn="ctr"/>
            <a:r>
              <a:rPr lang="en-US" dirty="0"/>
              <a:t>Infinite Cardinality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DD2B9B-86FF-479B-970F-AC9D82F643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1104" y="2218102"/>
                <a:ext cx="8770111" cy="1367074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We say that for (infinite) sets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if there is a bijection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DD2B9B-86FF-479B-970F-AC9D82F64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1104" y="2218102"/>
                <a:ext cx="8770111" cy="1367074"/>
              </a:xfrm>
              <a:blipFill>
                <a:blip r:embed="rId2"/>
                <a:stretch>
                  <a:fillRect t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CEBCA-C1D2-4B31-B674-F146F430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40222"/>
            <a:ext cx="9905998" cy="796814"/>
          </a:xfrm>
        </p:spPr>
        <p:txBody>
          <a:bodyPr/>
          <a:lstStyle/>
          <a:p>
            <a:pPr algn="ctr"/>
            <a:r>
              <a:rPr lang="en-US" dirty="0"/>
              <a:t>Countability and Uncountability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98275" y="1747315"/>
                <a:ext cx="6174599" cy="1394234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A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countable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≤|</m:t>
                    </m:r>
                    <m:r>
                      <m:rPr>
                        <m:nor/>
                      </m:rPr>
                      <a:rPr lang="en-US">
                        <a:solidFill>
                          <a:schemeClr val="bg1"/>
                        </a:solidFill>
                      </a:rPr>
                      <m:t>ℕ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bg1"/>
                        </a:solidFill>
                      </a:rPr>
                      <m:t>|</m:t>
                    </m:r>
                  </m:oMath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=|</m:t>
                    </m:r>
                    <m:r>
                      <m:rPr>
                        <m:nor/>
                      </m:rPr>
                      <a:rPr lang="en-US">
                        <a:solidFill>
                          <a:schemeClr val="bg1"/>
                        </a:solidFill>
                      </a:rPr>
                      <m:t>ℕ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bg1"/>
                        </a:solidFill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“countably infinite”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8275" y="1747315"/>
                <a:ext cx="6174599" cy="1394234"/>
              </a:xfrm>
              <a:blipFill>
                <a:blip r:embed="rId2"/>
                <a:stretch>
                  <a:fillRect t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5ADAF9E-DDA9-114F-A4B6-50FD4C97AA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6880" y="4325323"/>
                <a:ext cx="3215490" cy="11226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800" dirty="0"/>
                  <a:t>A set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sz="1800" dirty="0"/>
                  <a:t> is countable if there is an onto (surjective) function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/>
                      <m:t>ℕ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/>
                      </a:rPr>
                      <m:t>𝑆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5ADAF9E-DDA9-114F-A4B6-50FD4C97A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880" y="4325323"/>
                <a:ext cx="3215490" cy="1122630"/>
              </a:xfrm>
              <a:prstGeom prst="rect">
                <a:avLst/>
              </a:prstGeom>
              <a:blipFill>
                <a:blip r:embed="rId3"/>
                <a:stretch>
                  <a:fillRect l="-787" r="-2362" b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73D5EF-3B55-0B47-A128-E91666DF89BF}"/>
              </a:ext>
            </a:extLst>
          </p:cNvPr>
          <p:cNvSpPr txBox="1">
            <a:spLocks/>
          </p:cNvSpPr>
          <p:nvPr/>
        </p:nvSpPr>
        <p:spPr>
          <a:xfrm>
            <a:off x="5585987" y="5813078"/>
            <a:ext cx="2106575" cy="8706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Otherwise a set is uncountable.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17279F-5982-614F-A036-630571337075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3534625" y="3331675"/>
            <a:ext cx="1182232" cy="99364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FF127F-2DC2-9849-8A95-4081EF737551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3534625" y="5447953"/>
            <a:ext cx="2051362" cy="80044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50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FC964B0-9B2C-427E-B174-BF2FC3590C9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28904"/>
                <a:ext cx="9905998" cy="908132"/>
              </a:xfrm>
            </p:spPr>
            <p:txBody>
              <a:bodyPr/>
              <a:lstStyle/>
              <a:p>
                <a:pPr algn="ctr"/>
                <a:r>
                  <a:rPr lang="en-US" dirty="0"/>
                  <a:t>Practice: Show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FC964B0-9B2C-427E-B174-BF2FC3590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28904"/>
                <a:ext cx="9905998" cy="908132"/>
              </a:xfrm>
              <a:blipFill>
                <a:blip r:embed="rId2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D5154-5161-4EAE-AAF3-D7110C61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02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395882"/>
                <a:ext cx="9905998" cy="836571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countable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395882"/>
                <a:ext cx="9905998" cy="836571"/>
              </a:xfrm>
              <a:blipFill>
                <a:blip r:embed="rId2"/>
                <a:stretch>
                  <a:fillRect t="-1493"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0878" y="2111402"/>
            <a:ext cx="5467067" cy="225236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Need to “represent” strings with naturals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Idea: build a “list” of all strings, represent each string by its index in that list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71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24320"/>
            <a:ext cx="9905998" cy="981684"/>
          </a:xfrm>
        </p:spPr>
        <p:txBody>
          <a:bodyPr/>
          <a:lstStyle/>
          <a:p>
            <a:pPr algn="ctr"/>
            <a:r>
              <a:rPr lang="en-US" dirty="0"/>
              <a:t>Listing all strings (bad way)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01259" y="1828800"/>
                <a:ext cx="9446151" cy="38679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𝑏𝑎𝑑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4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4000" dirty="0"/>
                  <a:t> can be defined as follows: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𝑏𝑎𝑑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4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000" dirty="0"/>
                  <a:t> the number that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4000" dirty="0"/>
                  <a:t> represents</a:t>
                </a:r>
              </a:p>
              <a:p>
                <a:pPr marL="0" indent="0">
                  <a:buNone/>
                </a:pPr>
                <a:endParaRPr lang="en-US" sz="4000" dirty="0"/>
              </a:p>
              <a:p>
                <a:pPr marL="0" indent="0">
                  <a:buNone/>
                </a:pPr>
                <a:r>
                  <a:rPr lang="en-US" sz="4000" dirty="0"/>
                  <a:t>Why is this function not a bijection?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1259" y="1828800"/>
                <a:ext cx="9446151" cy="3867995"/>
              </a:xfrm>
              <a:blipFill>
                <a:blip r:embed="rId2"/>
                <a:stretch>
                  <a:fillRect l="-2282" t="-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3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13001"/>
            <a:ext cx="9905998" cy="859450"/>
          </a:xfrm>
        </p:spPr>
        <p:txBody>
          <a:bodyPr/>
          <a:lstStyle/>
          <a:p>
            <a:pPr algn="ctr"/>
            <a:r>
              <a:rPr lang="en-US" dirty="0"/>
              <a:t>Listing all strings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41312" y="4847188"/>
                <a:ext cx="10006099" cy="1649865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Formulaic version: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**Where b(w) is the integer value of the binary </a:t>
                </a:r>
                <a:r>
                  <a:rPr lang="en-US" dirty="0" err="1"/>
                  <a:t>bitstring</a:t>
                </a:r>
                <a:r>
                  <a:rPr lang="en-US" dirty="0"/>
                  <a:t> w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1312" y="4847188"/>
                <a:ext cx="10006099" cy="1649865"/>
              </a:xfrm>
              <a:blipFill>
                <a:blip r:embed="rId2"/>
                <a:stretch>
                  <a:fillRect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59662" y="5889761"/>
            <a:ext cx="771089" cy="365125"/>
          </a:xfrm>
        </p:spPr>
        <p:txBody>
          <a:bodyPr/>
          <a:lstStyle/>
          <a:p>
            <a:fld id="{9BB9F8D7-E2A3-4222-BD86-A63794DF33E7}" type="slidenum">
              <a:rPr lang="en-US" smtClean="0"/>
              <a:t>17</a:t>
            </a:fld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3E69217-8FDE-E845-9271-94E44C4B0F9D}"/>
              </a:ext>
            </a:extLst>
          </p:cNvPr>
          <p:cNvGrpSpPr/>
          <p:nvPr/>
        </p:nvGrpSpPr>
        <p:grpSpPr>
          <a:xfrm>
            <a:off x="2701086" y="1072451"/>
            <a:ext cx="6686549" cy="3427963"/>
            <a:chOff x="5238750" y="1040575"/>
            <a:chExt cx="6686549" cy="342796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056EF2C-D309-0743-A429-46AEE55E0F9C}"/>
                </a:ext>
              </a:extLst>
            </p:cNvPr>
            <p:cNvSpPr/>
            <p:nvPr/>
          </p:nvSpPr>
          <p:spPr>
            <a:xfrm>
              <a:off x="5238750" y="1040575"/>
              <a:ext cx="6686549" cy="3417125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E8294C-F7CA-154F-80AE-2CFCB918578E}"/>
                </a:ext>
              </a:extLst>
            </p:cNvPr>
            <p:cNvSpPr/>
            <p:nvPr/>
          </p:nvSpPr>
          <p:spPr>
            <a:xfrm>
              <a:off x="7886700" y="1209675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“”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8A98082-FA3C-C041-9496-FF59D04E1C88}"/>
                </a:ext>
              </a:extLst>
            </p:cNvPr>
            <p:cNvSpPr/>
            <p:nvPr/>
          </p:nvSpPr>
          <p:spPr>
            <a:xfrm>
              <a:off x="6473793" y="1982378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89B5DA0-B55F-EE40-A87E-51934CA01FDF}"/>
                </a:ext>
              </a:extLst>
            </p:cNvPr>
            <p:cNvSpPr/>
            <p:nvPr/>
          </p:nvSpPr>
          <p:spPr>
            <a:xfrm>
              <a:off x="9524254" y="1982378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21E0A8-0DA2-BB4A-872C-E5BC6919D2D9}"/>
                </a:ext>
              </a:extLst>
            </p:cNvPr>
            <p:cNvSpPr/>
            <p:nvPr/>
          </p:nvSpPr>
          <p:spPr>
            <a:xfrm>
              <a:off x="5711793" y="2834811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6BB038-633F-7441-BBC0-CCA03C8C7DBE}"/>
                </a:ext>
              </a:extLst>
            </p:cNvPr>
            <p:cNvSpPr/>
            <p:nvPr/>
          </p:nvSpPr>
          <p:spPr>
            <a:xfrm>
              <a:off x="7130230" y="2834810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EBCCE4-7A5B-CC4D-9F7E-7EE4390E415D}"/>
                </a:ext>
              </a:extLst>
            </p:cNvPr>
            <p:cNvSpPr/>
            <p:nvPr/>
          </p:nvSpPr>
          <p:spPr>
            <a:xfrm>
              <a:off x="9104715" y="2834809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FD75277-CE77-9149-A686-F06DE9C91D86}"/>
                </a:ext>
              </a:extLst>
            </p:cNvPr>
            <p:cNvSpPr/>
            <p:nvPr/>
          </p:nvSpPr>
          <p:spPr>
            <a:xfrm>
              <a:off x="10324507" y="2834809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BF4B1CE-D158-2F4C-B554-57C739B907E0}"/>
                </a:ext>
              </a:extLst>
            </p:cNvPr>
            <p:cNvSpPr/>
            <p:nvPr/>
          </p:nvSpPr>
          <p:spPr>
            <a:xfrm>
              <a:off x="5492718" y="3568988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000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4E7369-25CE-974F-A063-B7735FD4DDB4}"/>
                </a:ext>
              </a:extLst>
            </p:cNvPr>
            <p:cNvSpPr/>
            <p:nvPr/>
          </p:nvSpPr>
          <p:spPr>
            <a:xfrm>
              <a:off x="6200817" y="3568988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001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E639B1F-492F-6D48-B8DC-AD934F1A8431}"/>
                </a:ext>
              </a:extLst>
            </p:cNvPr>
            <p:cNvSpPr/>
            <p:nvPr/>
          </p:nvSpPr>
          <p:spPr>
            <a:xfrm>
              <a:off x="6918441" y="3568988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010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941F3AA-EF73-4E48-898F-EE8F51D6CF07}"/>
                </a:ext>
              </a:extLst>
            </p:cNvPr>
            <p:cNvSpPr/>
            <p:nvPr/>
          </p:nvSpPr>
          <p:spPr>
            <a:xfrm>
              <a:off x="7626540" y="3568988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011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0EE4D28-2F65-774A-8265-E8FD9019FC9D}"/>
                </a:ext>
              </a:extLst>
            </p:cNvPr>
            <p:cNvSpPr/>
            <p:nvPr/>
          </p:nvSpPr>
          <p:spPr>
            <a:xfrm>
              <a:off x="8828490" y="3567591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100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765800-CD8A-F24F-9665-CBC42BEBBB5F}"/>
                </a:ext>
              </a:extLst>
            </p:cNvPr>
            <p:cNvSpPr/>
            <p:nvPr/>
          </p:nvSpPr>
          <p:spPr>
            <a:xfrm>
              <a:off x="9523815" y="3567591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101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AD17A2C-773D-F948-8D3E-A8F1F46F0257}"/>
                </a:ext>
              </a:extLst>
            </p:cNvPr>
            <p:cNvSpPr/>
            <p:nvPr/>
          </p:nvSpPr>
          <p:spPr>
            <a:xfrm>
              <a:off x="10258221" y="3567591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110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D81AB5B-457F-734E-9849-6EBB78780146}"/>
                </a:ext>
              </a:extLst>
            </p:cNvPr>
            <p:cNvSpPr/>
            <p:nvPr/>
          </p:nvSpPr>
          <p:spPr>
            <a:xfrm>
              <a:off x="11012921" y="3567591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111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C790033-697C-8D46-B143-1596770E24DF}"/>
                </a:ext>
              </a:extLst>
            </p:cNvPr>
            <p:cNvCxnSpPr>
              <a:stCxn id="20" idx="2"/>
            </p:cNvCxnSpPr>
            <p:nvPr/>
          </p:nvCxnSpPr>
          <p:spPr>
            <a:xfrm flipH="1">
              <a:off x="6918441" y="1724614"/>
              <a:ext cx="1434984" cy="257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7C53F62-6C79-8C48-83A6-324A63B4E35A}"/>
                </a:ext>
              </a:extLst>
            </p:cNvPr>
            <p:cNvCxnSpPr>
              <a:endCxn id="24" idx="0"/>
            </p:cNvCxnSpPr>
            <p:nvPr/>
          </p:nvCxnSpPr>
          <p:spPr>
            <a:xfrm>
              <a:off x="8362950" y="1724614"/>
              <a:ext cx="1628029" cy="257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01DE15D-469E-A54E-AF9F-07576E8352A5}"/>
                </a:ext>
              </a:extLst>
            </p:cNvPr>
            <p:cNvCxnSpPr>
              <a:stCxn id="23" idx="2"/>
              <a:endCxn id="25" idx="0"/>
            </p:cNvCxnSpPr>
            <p:nvPr/>
          </p:nvCxnSpPr>
          <p:spPr>
            <a:xfrm flipH="1">
              <a:off x="6178518" y="2497317"/>
              <a:ext cx="762000" cy="3374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AF36C55-B0B4-704C-B86A-09F85317D86D}"/>
                </a:ext>
              </a:extLst>
            </p:cNvPr>
            <p:cNvCxnSpPr>
              <a:endCxn id="26" idx="0"/>
            </p:cNvCxnSpPr>
            <p:nvPr/>
          </p:nvCxnSpPr>
          <p:spPr>
            <a:xfrm>
              <a:off x="6918441" y="2510129"/>
              <a:ext cx="678514" cy="3246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0FC68BB-256D-0C47-A6B6-9C84ADCD7384}"/>
                </a:ext>
              </a:extLst>
            </p:cNvPr>
            <p:cNvCxnSpPr>
              <a:stCxn id="24" idx="2"/>
              <a:endCxn id="27" idx="0"/>
            </p:cNvCxnSpPr>
            <p:nvPr/>
          </p:nvCxnSpPr>
          <p:spPr>
            <a:xfrm flipH="1">
              <a:off x="9571440" y="2497317"/>
              <a:ext cx="419539" cy="337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6142602-0C99-E645-A219-FB971D04179A}"/>
                </a:ext>
              </a:extLst>
            </p:cNvPr>
            <p:cNvCxnSpPr>
              <a:cxnSpLocks/>
              <a:stCxn id="24" idx="2"/>
              <a:endCxn id="28" idx="0"/>
            </p:cNvCxnSpPr>
            <p:nvPr/>
          </p:nvCxnSpPr>
          <p:spPr>
            <a:xfrm>
              <a:off x="9990979" y="2497317"/>
              <a:ext cx="800253" cy="337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82EA744-6C8D-A645-9F24-3013775C9961}"/>
                </a:ext>
              </a:extLst>
            </p:cNvPr>
            <p:cNvCxnSpPr>
              <a:cxnSpLocks/>
              <a:stCxn id="25" idx="2"/>
              <a:endCxn id="29" idx="0"/>
            </p:cNvCxnSpPr>
            <p:nvPr/>
          </p:nvCxnSpPr>
          <p:spPr>
            <a:xfrm flipH="1">
              <a:off x="5816568" y="3349750"/>
              <a:ext cx="361950" cy="219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D5FA9DC-6BD1-E04B-AAEA-85A66BA40164}"/>
                </a:ext>
              </a:extLst>
            </p:cNvPr>
            <p:cNvCxnSpPr>
              <a:cxnSpLocks/>
              <a:stCxn id="25" idx="2"/>
              <a:endCxn id="30" idx="0"/>
            </p:cNvCxnSpPr>
            <p:nvPr/>
          </p:nvCxnSpPr>
          <p:spPr>
            <a:xfrm>
              <a:off x="6178518" y="3349750"/>
              <a:ext cx="346149" cy="219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7D66AE8-F395-EE4A-B5EC-E7A1189DCB07}"/>
                </a:ext>
              </a:extLst>
            </p:cNvPr>
            <p:cNvCxnSpPr>
              <a:cxnSpLocks/>
              <a:stCxn id="26" idx="2"/>
              <a:endCxn id="31" idx="0"/>
            </p:cNvCxnSpPr>
            <p:nvPr/>
          </p:nvCxnSpPr>
          <p:spPr>
            <a:xfrm flipH="1">
              <a:off x="7242291" y="3349749"/>
              <a:ext cx="354664" cy="219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0179CFE-7FDC-7E4D-AB07-8461069BB3F1}"/>
                </a:ext>
              </a:extLst>
            </p:cNvPr>
            <p:cNvCxnSpPr>
              <a:cxnSpLocks/>
              <a:stCxn id="26" idx="2"/>
              <a:endCxn id="32" idx="0"/>
            </p:cNvCxnSpPr>
            <p:nvPr/>
          </p:nvCxnSpPr>
          <p:spPr>
            <a:xfrm>
              <a:off x="7596955" y="3349749"/>
              <a:ext cx="353435" cy="219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3C693AE-788D-AC4C-B060-73F72BDAE837}"/>
                </a:ext>
              </a:extLst>
            </p:cNvPr>
            <p:cNvCxnSpPr>
              <a:cxnSpLocks/>
              <a:stCxn id="27" idx="2"/>
              <a:endCxn id="33" idx="0"/>
            </p:cNvCxnSpPr>
            <p:nvPr/>
          </p:nvCxnSpPr>
          <p:spPr>
            <a:xfrm flipH="1">
              <a:off x="9152340" y="3349748"/>
              <a:ext cx="419100" cy="2178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44C2E8B-E5CA-834B-BC63-0D58CDFF8AEB}"/>
                </a:ext>
              </a:extLst>
            </p:cNvPr>
            <p:cNvCxnSpPr>
              <a:cxnSpLocks/>
              <a:stCxn id="27" idx="2"/>
              <a:endCxn id="34" idx="0"/>
            </p:cNvCxnSpPr>
            <p:nvPr/>
          </p:nvCxnSpPr>
          <p:spPr>
            <a:xfrm>
              <a:off x="9571440" y="3349748"/>
              <a:ext cx="276225" cy="2178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C43082F-DE5A-F64E-B6D7-B296A3E566AF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 flipH="1">
              <a:off x="10582071" y="3349748"/>
              <a:ext cx="209162" cy="2178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C9A9D74-D67A-DD45-A5A0-1AE87570CB72}"/>
                </a:ext>
              </a:extLst>
            </p:cNvPr>
            <p:cNvCxnSpPr>
              <a:cxnSpLocks/>
            </p:cNvCxnSpPr>
            <p:nvPr/>
          </p:nvCxnSpPr>
          <p:spPr>
            <a:xfrm>
              <a:off x="10791233" y="3349748"/>
              <a:ext cx="648292" cy="3126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AE03F08-F11E-514E-92BE-6FA5C36D47D9}"/>
                </a:ext>
              </a:extLst>
            </p:cNvPr>
            <p:cNvSpPr txBox="1"/>
            <p:nvPr/>
          </p:nvSpPr>
          <p:spPr>
            <a:xfrm>
              <a:off x="7576566" y="1239485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7DCDC54-ABB7-FB43-AE71-DDACA6D73C6D}"/>
                </a:ext>
              </a:extLst>
            </p:cNvPr>
            <p:cNvSpPr txBox="1"/>
            <p:nvPr/>
          </p:nvSpPr>
          <p:spPr>
            <a:xfrm>
              <a:off x="6146694" y="2033387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0A5B54F-04A7-E64A-975C-6478845DCBAC}"/>
                </a:ext>
              </a:extLst>
            </p:cNvPr>
            <p:cNvSpPr txBox="1"/>
            <p:nvPr/>
          </p:nvSpPr>
          <p:spPr>
            <a:xfrm>
              <a:off x="9190726" y="2031705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E59B557-DF6E-FF45-B11B-F2D1BC9B5EE1}"/>
                </a:ext>
              </a:extLst>
            </p:cNvPr>
            <p:cNvSpPr txBox="1"/>
            <p:nvPr/>
          </p:nvSpPr>
          <p:spPr>
            <a:xfrm>
              <a:off x="5405829" y="2905003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85C7C6C-9E0F-B346-A52A-DE2A668721EE}"/>
                </a:ext>
              </a:extLst>
            </p:cNvPr>
            <p:cNvSpPr txBox="1"/>
            <p:nvPr/>
          </p:nvSpPr>
          <p:spPr>
            <a:xfrm>
              <a:off x="6843888" y="2868436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A0DC199-5328-344E-A0E4-89D0E97E467F}"/>
                </a:ext>
              </a:extLst>
            </p:cNvPr>
            <p:cNvSpPr txBox="1"/>
            <p:nvPr/>
          </p:nvSpPr>
          <p:spPr>
            <a:xfrm>
              <a:off x="8798110" y="2876491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23FCA28-6199-5A4C-81FD-26AD07ADFE00}"/>
                </a:ext>
              </a:extLst>
            </p:cNvPr>
            <p:cNvSpPr txBox="1"/>
            <p:nvPr/>
          </p:nvSpPr>
          <p:spPr>
            <a:xfrm>
              <a:off x="11235283" y="2892223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D3D3A7C-2DD3-AF47-816B-AA700F9232A8}"/>
                </a:ext>
              </a:extLst>
            </p:cNvPr>
            <p:cNvSpPr txBox="1"/>
            <p:nvPr/>
          </p:nvSpPr>
          <p:spPr>
            <a:xfrm>
              <a:off x="5660919" y="405759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7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7421D98-9ACE-934A-A420-30B4BC9AEC31}"/>
                </a:ext>
              </a:extLst>
            </p:cNvPr>
            <p:cNvSpPr txBox="1"/>
            <p:nvPr/>
          </p:nvSpPr>
          <p:spPr>
            <a:xfrm>
              <a:off x="6376965" y="4068428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8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1B76186-8347-0B4C-8303-DF3A18E81494}"/>
                </a:ext>
              </a:extLst>
            </p:cNvPr>
            <p:cNvSpPr txBox="1"/>
            <p:nvPr/>
          </p:nvSpPr>
          <p:spPr>
            <a:xfrm>
              <a:off x="7088968" y="4048329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9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AB55CE3-D900-D146-A9BD-347BBAC2E33D}"/>
                </a:ext>
              </a:extLst>
            </p:cNvPr>
            <p:cNvSpPr txBox="1"/>
            <p:nvPr/>
          </p:nvSpPr>
          <p:spPr>
            <a:xfrm>
              <a:off x="7774240" y="4048329"/>
              <a:ext cx="4704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CF162CA-D850-9646-ADAE-6AEB3A48440E}"/>
                </a:ext>
              </a:extLst>
            </p:cNvPr>
            <p:cNvSpPr txBox="1"/>
            <p:nvPr/>
          </p:nvSpPr>
          <p:spPr>
            <a:xfrm>
              <a:off x="8874486" y="4043806"/>
              <a:ext cx="5220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11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94F0246-B401-EE4A-AA70-A82689B85E4D}"/>
                </a:ext>
              </a:extLst>
            </p:cNvPr>
            <p:cNvSpPr txBox="1"/>
            <p:nvPr/>
          </p:nvSpPr>
          <p:spPr>
            <a:xfrm>
              <a:off x="9571441" y="4048329"/>
              <a:ext cx="5704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6DE7ECB-F69E-924A-AA37-4AFB2551BA98}"/>
                </a:ext>
              </a:extLst>
            </p:cNvPr>
            <p:cNvSpPr txBox="1"/>
            <p:nvPr/>
          </p:nvSpPr>
          <p:spPr>
            <a:xfrm>
              <a:off x="10315026" y="4050279"/>
              <a:ext cx="5080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13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175E8FC-1AB3-2945-81A7-B44156728EC4}"/>
                </a:ext>
              </a:extLst>
            </p:cNvPr>
            <p:cNvSpPr txBox="1"/>
            <p:nvPr/>
          </p:nvSpPr>
          <p:spPr>
            <a:xfrm>
              <a:off x="11104561" y="4050279"/>
              <a:ext cx="5101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2725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B24E-EA6C-4428-8049-CD82186E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32271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Why is this a bijection?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C5B6-3B7A-4188-B1C3-40A8D5698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0" y="1382794"/>
            <a:ext cx="4737262" cy="5208505"/>
          </a:xfrm>
        </p:spPr>
        <p:txBody>
          <a:bodyPr>
            <a:normAutofit fontScale="85000" lnSpcReduction="20000"/>
          </a:bodyPr>
          <a:lstStyle/>
          <a:p>
            <a:r>
              <a:rPr lang="en-US" sz="3600" b="1" i="1" u="sng" dirty="0"/>
              <a:t>Injective</a:t>
            </a:r>
            <a:r>
              <a:rPr lang="en-US" sz="3600" dirty="0"/>
              <a:t>: different strings map to different numbers:</a:t>
            </a:r>
          </a:p>
          <a:p>
            <a:pPr lvl="1"/>
            <a:r>
              <a:rPr lang="en-US" sz="3200" dirty="0"/>
              <a:t>Different strings map to different nodes in the tree</a:t>
            </a:r>
          </a:p>
          <a:p>
            <a:pPr lvl="1"/>
            <a:r>
              <a:rPr lang="en-US" sz="3200" dirty="0"/>
              <a:t>No two nodes in the tree have the same index</a:t>
            </a:r>
          </a:p>
          <a:p>
            <a:r>
              <a:rPr lang="en-US" sz="3600" b="1" i="1" u="sng" dirty="0"/>
              <a:t>Surjective</a:t>
            </a:r>
            <a:r>
              <a:rPr lang="en-US" sz="3600" dirty="0"/>
              <a:t>: every number appears</a:t>
            </a:r>
          </a:p>
          <a:p>
            <a:pPr lvl="1"/>
            <a:r>
              <a:rPr lang="en-US" sz="3200" dirty="0"/>
              <a:t>We listed them one by one and there are an infinite number of nodes.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DC70C-1B69-43DB-9E90-7BE40149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9E875A-5EE0-854A-A054-75218F1AB6C6}"/>
              </a:ext>
            </a:extLst>
          </p:cNvPr>
          <p:cNvGrpSpPr/>
          <p:nvPr/>
        </p:nvGrpSpPr>
        <p:grpSpPr>
          <a:xfrm>
            <a:off x="5400675" y="1926400"/>
            <a:ext cx="6686549" cy="3427963"/>
            <a:chOff x="5238750" y="1040575"/>
            <a:chExt cx="6686549" cy="34279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305C1A-C0EE-0E44-92BD-A1B2EADF7AB5}"/>
                </a:ext>
              </a:extLst>
            </p:cNvPr>
            <p:cNvSpPr/>
            <p:nvPr/>
          </p:nvSpPr>
          <p:spPr>
            <a:xfrm>
              <a:off x="5238750" y="1040575"/>
              <a:ext cx="6686549" cy="3417125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B9E581-0F25-694F-AEEB-4F33538DAE8E}"/>
                </a:ext>
              </a:extLst>
            </p:cNvPr>
            <p:cNvSpPr/>
            <p:nvPr/>
          </p:nvSpPr>
          <p:spPr>
            <a:xfrm>
              <a:off x="7886700" y="1209675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“”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9F243A-D007-674C-BA12-F36A052C1E96}"/>
                </a:ext>
              </a:extLst>
            </p:cNvPr>
            <p:cNvSpPr/>
            <p:nvPr/>
          </p:nvSpPr>
          <p:spPr>
            <a:xfrm>
              <a:off x="6473793" y="1982378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AC8600-3BEA-044C-9C30-9369E21F9E63}"/>
                </a:ext>
              </a:extLst>
            </p:cNvPr>
            <p:cNvSpPr/>
            <p:nvPr/>
          </p:nvSpPr>
          <p:spPr>
            <a:xfrm>
              <a:off x="9524254" y="1982378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B4A8CA-89D6-1849-8CF5-06F8A67A686D}"/>
                </a:ext>
              </a:extLst>
            </p:cNvPr>
            <p:cNvSpPr/>
            <p:nvPr/>
          </p:nvSpPr>
          <p:spPr>
            <a:xfrm>
              <a:off x="5711793" y="2834811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F3BCBB-924F-A045-BBB0-7465B57E45C3}"/>
                </a:ext>
              </a:extLst>
            </p:cNvPr>
            <p:cNvSpPr/>
            <p:nvPr/>
          </p:nvSpPr>
          <p:spPr>
            <a:xfrm>
              <a:off x="7130230" y="2834810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F8374D-A584-F542-86CF-FD0662CE5878}"/>
                </a:ext>
              </a:extLst>
            </p:cNvPr>
            <p:cNvSpPr/>
            <p:nvPr/>
          </p:nvSpPr>
          <p:spPr>
            <a:xfrm>
              <a:off x="9104715" y="2834809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2D8302-1369-2C4A-9DA9-458832773B73}"/>
                </a:ext>
              </a:extLst>
            </p:cNvPr>
            <p:cNvSpPr/>
            <p:nvPr/>
          </p:nvSpPr>
          <p:spPr>
            <a:xfrm>
              <a:off x="10324507" y="2834809"/>
              <a:ext cx="93345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AE536B-588B-1642-8416-111B72AECD8B}"/>
                </a:ext>
              </a:extLst>
            </p:cNvPr>
            <p:cNvSpPr/>
            <p:nvPr/>
          </p:nvSpPr>
          <p:spPr>
            <a:xfrm>
              <a:off x="5492718" y="3568988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000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8CDCE9E-2052-114E-8F96-7A25AFBE0B5A}"/>
                </a:ext>
              </a:extLst>
            </p:cNvPr>
            <p:cNvSpPr/>
            <p:nvPr/>
          </p:nvSpPr>
          <p:spPr>
            <a:xfrm>
              <a:off x="6200817" y="3568988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001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459CA09-63C0-E844-AEEA-8EE185DB22EA}"/>
                </a:ext>
              </a:extLst>
            </p:cNvPr>
            <p:cNvSpPr/>
            <p:nvPr/>
          </p:nvSpPr>
          <p:spPr>
            <a:xfrm>
              <a:off x="6918441" y="3568988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F38825-5E19-EC45-B462-68C77F3997F8}"/>
                </a:ext>
              </a:extLst>
            </p:cNvPr>
            <p:cNvSpPr/>
            <p:nvPr/>
          </p:nvSpPr>
          <p:spPr>
            <a:xfrm>
              <a:off x="7626540" y="3568988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011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C09226C-40EA-414B-950E-A27B6E1C1C6D}"/>
                </a:ext>
              </a:extLst>
            </p:cNvPr>
            <p:cNvSpPr/>
            <p:nvPr/>
          </p:nvSpPr>
          <p:spPr>
            <a:xfrm>
              <a:off x="8828490" y="3567591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100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47A9CFE-EB71-4E47-9CF1-631F8CD7CEE3}"/>
                </a:ext>
              </a:extLst>
            </p:cNvPr>
            <p:cNvSpPr/>
            <p:nvPr/>
          </p:nvSpPr>
          <p:spPr>
            <a:xfrm>
              <a:off x="9523815" y="3567591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101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33BE7F6-035F-E449-9B8F-FFB7563ACD2A}"/>
                </a:ext>
              </a:extLst>
            </p:cNvPr>
            <p:cNvSpPr/>
            <p:nvPr/>
          </p:nvSpPr>
          <p:spPr>
            <a:xfrm>
              <a:off x="10258221" y="3567591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110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86DC74-568B-0648-BF9F-35F62CCD096E}"/>
                </a:ext>
              </a:extLst>
            </p:cNvPr>
            <p:cNvSpPr/>
            <p:nvPr/>
          </p:nvSpPr>
          <p:spPr>
            <a:xfrm>
              <a:off x="11012921" y="3567591"/>
              <a:ext cx="647700" cy="514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111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8198346-63C4-6346-8C5D-2527B5A769C3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6918441" y="1724614"/>
              <a:ext cx="1434984" cy="257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92CC82F-344C-E047-8B6B-8D5A1498516D}"/>
                </a:ext>
              </a:extLst>
            </p:cNvPr>
            <p:cNvCxnSpPr>
              <a:endCxn id="10" idx="0"/>
            </p:cNvCxnSpPr>
            <p:nvPr/>
          </p:nvCxnSpPr>
          <p:spPr>
            <a:xfrm>
              <a:off x="8362950" y="1724614"/>
              <a:ext cx="1628029" cy="257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9FCFE0D-A8F3-684A-9B42-1A977108C036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flipH="1">
              <a:off x="6178518" y="2497317"/>
              <a:ext cx="762000" cy="3374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DC35615-21FD-3748-9821-EAE50B5DF88D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6918441" y="2510129"/>
              <a:ext cx="678514" cy="3246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EAFC94D-0E57-794B-9139-CE5EAE7227B1}"/>
                </a:ext>
              </a:extLst>
            </p:cNvPr>
            <p:cNvCxnSpPr>
              <a:stCxn id="10" idx="2"/>
              <a:endCxn id="13" idx="0"/>
            </p:cNvCxnSpPr>
            <p:nvPr/>
          </p:nvCxnSpPr>
          <p:spPr>
            <a:xfrm flipH="1">
              <a:off x="9571440" y="2497317"/>
              <a:ext cx="419539" cy="337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CEEBD1E-9100-B146-B6E6-3C239F0FA446}"/>
                </a:ext>
              </a:extLst>
            </p:cNvPr>
            <p:cNvCxnSpPr>
              <a:cxnSpLocks/>
              <a:stCxn id="10" idx="2"/>
              <a:endCxn id="14" idx="0"/>
            </p:cNvCxnSpPr>
            <p:nvPr/>
          </p:nvCxnSpPr>
          <p:spPr>
            <a:xfrm>
              <a:off x="9990979" y="2497317"/>
              <a:ext cx="800253" cy="337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447C901-7F95-7F4B-91D7-DCAFC5BEE5AA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 flipH="1">
              <a:off x="5816568" y="3349750"/>
              <a:ext cx="361950" cy="219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1798927-8074-7942-A406-B6ECA3FDE513}"/>
                </a:ext>
              </a:extLst>
            </p:cNvPr>
            <p:cNvCxnSpPr>
              <a:cxnSpLocks/>
              <a:stCxn id="11" idx="2"/>
              <a:endCxn id="16" idx="0"/>
            </p:cNvCxnSpPr>
            <p:nvPr/>
          </p:nvCxnSpPr>
          <p:spPr>
            <a:xfrm>
              <a:off x="6178518" y="3349750"/>
              <a:ext cx="346149" cy="219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B36BC7F-64A1-564F-9103-E052836298F5}"/>
                </a:ext>
              </a:extLst>
            </p:cNvPr>
            <p:cNvCxnSpPr>
              <a:cxnSpLocks/>
              <a:stCxn id="12" idx="2"/>
              <a:endCxn id="17" idx="0"/>
            </p:cNvCxnSpPr>
            <p:nvPr/>
          </p:nvCxnSpPr>
          <p:spPr>
            <a:xfrm flipH="1">
              <a:off x="7242291" y="3349749"/>
              <a:ext cx="354664" cy="219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8E49B66-D074-9649-8C8A-B94BFEB32383}"/>
                </a:ext>
              </a:extLst>
            </p:cNvPr>
            <p:cNvCxnSpPr>
              <a:cxnSpLocks/>
              <a:stCxn id="12" idx="2"/>
              <a:endCxn id="18" idx="0"/>
            </p:cNvCxnSpPr>
            <p:nvPr/>
          </p:nvCxnSpPr>
          <p:spPr>
            <a:xfrm>
              <a:off x="7596955" y="3349749"/>
              <a:ext cx="353435" cy="219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09570AF-3C4A-564A-B45E-E034D8D81E0A}"/>
                </a:ext>
              </a:extLst>
            </p:cNvPr>
            <p:cNvCxnSpPr>
              <a:cxnSpLocks/>
              <a:stCxn id="13" idx="2"/>
              <a:endCxn id="19" idx="0"/>
            </p:cNvCxnSpPr>
            <p:nvPr/>
          </p:nvCxnSpPr>
          <p:spPr>
            <a:xfrm flipH="1">
              <a:off x="9152340" y="3349748"/>
              <a:ext cx="419100" cy="2178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6FF32D0-2E7C-AD45-89B2-42E5D3FAA126}"/>
                </a:ext>
              </a:extLst>
            </p:cNvPr>
            <p:cNvCxnSpPr>
              <a:cxnSpLocks/>
              <a:stCxn id="13" idx="2"/>
              <a:endCxn id="20" idx="0"/>
            </p:cNvCxnSpPr>
            <p:nvPr/>
          </p:nvCxnSpPr>
          <p:spPr>
            <a:xfrm>
              <a:off x="9571440" y="3349748"/>
              <a:ext cx="276225" cy="2178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384FF7F-B896-DE47-BD1A-41609481A341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10582071" y="3349748"/>
              <a:ext cx="209162" cy="2178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692DC1A-1A99-9A4D-BBE1-EE514AEA6CED}"/>
                </a:ext>
              </a:extLst>
            </p:cNvPr>
            <p:cNvCxnSpPr>
              <a:cxnSpLocks/>
            </p:cNvCxnSpPr>
            <p:nvPr/>
          </p:nvCxnSpPr>
          <p:spPr>
            <a:xfrm>
              <a:off x="10791233" y="3349748"/>
              <a:ext cx="648292" cy="3126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03976F8-2477-1A48-84F8-4DE7C57935D7}"/>
                </a:ext>
              </a:extLst>
            </p:cNvPr>
            <p:cNvSpPr txBox="1"/>
            <p:nvPr/>
          </p:nvSpPr>
          <p:spPr>
            <a:xfrm>
              <a:off x="7576566" y="1239485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CF7E979-328C-3E49-A469-4FD1C34EA7AF}"/>
                </a:ext>
              </a:extLst>
            </p:cNvPr>
            <p:cNvSpPr txBox="1"/>
            <p:nvPr/>
          </p:nvSpPr>
          <p:spPr>
            <a:xfrm>
              <a:off x="6146694" y="2033387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A8ACC09-3978-7040-8B81-6D04B8D2ED9B}"/>
                </a:ext>
              </a:extLst>
            </p:cNvPr>
            <p:cNvSpPr txBox="1"/>
            <p:nvPr/>
          </p:nvSpPr>
          <p:spPr>
            <a:xfrm>
              <a:off x="9190726" y="2031705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2425A26-EADF-954D-829F-4F4C842CA264}"/>
                </a:ext>
              </a:extLst>
            </p:cNvPr>
            <p:cNvSpPr txBox="1"/>
            <p:nvPr/>
          </p:nvSpPr>
          <p:spPr>
            <a:xfrm>
              <a:off x="5405829" y="2905003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2814B13-D13E-1E49-AC3C-30859E121FB9}"/>
                </a:ext>
              </a:extLst>
            </p:cNvPr>
            <p:cNvSpPr txBox="1"/>
            <p:nvPr/>
          </p:nvSpPr>
          <p:spPr>
            <a:xfrm>
              <a:off x="6843888" y="2868436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217E054-64B3-AA4C-A4C1-D6879CD19CE3}"/>
                </a:ext>
              </a:extLst>
            </p:cNvPr>
            <p:cNvSpPr txBox="1"/>
            <p:nvPr/>
          </p:nvSpPr>
          <p:spPr>
            <a:xfrm>
              <a:off x="8798110" y="2876491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0C7AC2-A632-AD4D-80DF-1136007A7E9A}"/>
                </a:ext>
              </a:extLst>
            </p:cNvPr>
            <p:cNvSpPr txBox="1"/>
            <p:nvPr/>
          </p:nvSpPr>
          <p:spPr>
            <a:xfrm>
              <a:off x="11235283" y="2892223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60BF322-A0BC-E24D-BD21-5DD68F12420D}"/>
                </a:ext>
              </a:extLst>
            </p:cNvPr>
            <p:cNvSpPr txBox="1"/>
            <p:nvPr/>
          </p:nvSpPr>
          <p:spPr>
            <a:xfrm>
              <a:off x="5660919" y="405759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7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6615AE-8A2D-D44E-ADD5-CD3CADD16FDA}"/>
                </a:ext>
              </a:extLst>
            </p:cNvPr>
            <p:cNvSpPr txBox="1"/>
            <p:nvPr/>
          </p:nvSpPr>
          <p:spPr>
            <a:xfrm>
              <a:off x="6376965" y="4068428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8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5A12875-98D8-A345-9875-E41396D7D57A}"/>
                </a:ext>
              </a:extLst>
            </p:cNvPr>
            <p:cNvSpPr txBox="1"/>
            <p:nvPr/>
          </p:nvSpPr>
          <p:spPr>
            <a:xfrm>
              <a:off x="7088968" y="4048329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9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8140CA6-DB20-0D40-8693-801949671186}"/>
                </a:ext>
              </a:extLst>
            </p:cNvPr>
            <p:cNvSpPr txBox="1"/>
            <p:nvPr/>
          </p:nvSpPr>
          <p:spPr>
            <a:xfrm>
              <a:off x="7774240" y="4048329"/>
              <a:ext cx="4704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21D0B3F-8F32-F141-ACBB-8C26B51B1AF2}"/>
                </a:ext>
              </a:extLst>
            </p:cNvPr>
            <p:cNvSpPr txBox="1"/>
            <p:nvPr/>
          </p:nvSpPr>
          <p:spPr>
            <a:xfrm>
              <a:off x="8874486" y="4043806"/>
              <a:ext cx="5220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760523-5A4D-174D-AE7E-8D06EE03E514}"/>
                </a:ext>
              </a:extLst>
            </p:cNvPr>
            <p:cNvSpPr txBox="1"/>
            <p:nvPr/>
          </p:nvSpPr>
          <p:spPr>
            <a:xfrm>
              <a:off x="9571441" y="4048329"/>
              <a:ext cx="5704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5017A11-E9B2-4F49-AD03-15CFF63AE1A2}"/>
                </a:ext>
              </a:extLst>
            </p:cNvPr>
            <p:cNvSpPr txBox="1"/>
            <p:nvPr/>
          </p:nvSpPr>
          <p:spPr>
            <a:xfrm>
              <a:off x="10315026" y="4050279"/>
              <a:ext cx="5080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13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5BB7F37-9316-5643-8C9A-3341D6F40E6C}"/>
                </a:ext>
              </a:extLst>
            </p:cNvPr>
            <p:cNvSpPr txBox="1"/>
            <p:nvPr/>
          </p:nvSpPr>
          <p:spPr>
            <a:xfrm>
              <a:off x="11104561" y="4050279"/>
              <a:ext cx="5101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6896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0B0D7-EDA1-49F7-A7D2-67C8E479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05051"/>
            <a:ext cx="9905998" cy="128979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Demonstrate that each of the following is countable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9A19D1-C136-42F3-970A-50C610E3ED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13945" y="2074558"/>
                <a:ext cx="2960934" cy="354171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even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odd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9A19D1-C136-42F3-970A-50C610E3ED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13945" y="2074558"/>
                <a:ext cx="2960934" cy="3541714"/>
              </a:xfrm>
              <a:blipFill>
                <a:blip r:embed="rId2"/>
                <a:stretch>
                  <a:fillRect l="-3846"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94FDB-0592-493E-A04B-1242E8FD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25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D86891-BC89-41EA-B1F3-6C6E09A689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52758"/>
                <a:ext cx="9905998" cy="844522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Proof: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is countable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D86891-BC89-41EA-B1F3-6C6E09A68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52758"/>
                <a:ext cx="9905998" cy="844522"/>
              </a:xfrm>
              <a:blipFill>
                <a:blip r:embed="rId2"/>
                <a:stretch>
                  <a:fillRect t="-1493"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0E9C1-96C1-4E74-A5E0-597671483C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7903" y="2249487"/>
                <a:ext cx="2218414" cy="91513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0E9C1-96C1-4E74-A5E0-597671483C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7903" y="2249487"/>
                <a:ext cx="2218414" cy="915132"/>
              </a:xfrm>
              <a:blipFill>
                <a:blip r:embed="rId3"/>
                <a:stretch>
                  <a:fillRect l="-5114" t="-8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5686D-CB0D-4D09-A515-C91AF4BA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61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3243F2-39E9-4CED-8D4D-709F030334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2" y="236856"/>
                <a:ext cx="9905998" cy="717301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Proof: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even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countable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3243F2-39E9-4CED-8D4D-709F030334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2" y="236856"/>
                <a:ext cx="9905998" cy="717301"/>
              </a:xfrm>
              <a:blipFill>
                <a:blip r:embed="rId2"/>
                <a:stretch>
                  <a:fillRect t="-10526"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7C97B-4AE2-40E0-8E13-7401ED1B9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59541" y="2456220"/>
                <a:ext cx="4003082" cy="99464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even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7C97B-4AE2-40E0-8E13-7401ED1B9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59541" y="2456220"/>
                <a:ext cx="4003082" cy="994645"/>
              </a:xfrm>
              <a:blipFill>
                <a:blip r:embed="rId3"/>
                <a:stretch>
                  <a:fillRect l="-3165" t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F6DB0-6E67-40E0-A659-3755B79A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19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D86891-BC89-41EA-B1F3-6C6E09A689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2" y="364076"/>
                <a:ext cx="9905998" cy="892230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Proof: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odd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countable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D86891-BC89-41EA-B1F3-6C6E09A68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2" y="364076"/>
                <a:ext cx="9905998" cy="892230"/>
              </a:xfrm>
              <a:blipFill>
                <a:blip r:embed="rId2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0E9C1-96C1-4E74-A5E0-597671483C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24369" y="2305146"/>
                <a:ext cx="3764543" cy="7958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odd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0E9C1-96C1-4E74-A5E0-597671483C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4369" y="2305146"/>
                <a:ext cx="3764543" cy="795863"/>
              </a:xfrm>
              <a:blipFill>
                <a:blip r:embed="rId3"/>
                <a:stretch>
                  <a:fillRect l="-3030" t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5686D-CB0D-4D09-A515-C91AF4BA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41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F11259-5E90-487C-8A40-F8FE51B159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2" y="260710"/>
                <a:ext cx="9905998" cy="613934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is countable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F11259-5E90-487C-8A40-F8FE51B159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2" y="260710"/>
                <a:ext cx="9905998" cy="613934"/>
              </a:xfrm>
              <a:blipFill>
                <a:blip r:embed="rId2"/>
                <a:stretch>
                  <a:fillRect t="-20408" b="-3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1E46B1-DFCC-44FE-B911-D404663F8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1716" y="1733384"/>
                <a:ext cx="8893134" cy="40180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build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Idea: map natural numbers to evens, map negative numbers to odds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Note that this means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are both countable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also countable!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1E46B1-DFCC-44FE-B911-D404663F8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1716" y="1733384"/>
                <a:ext cx="8893134" cy="4018060"/>
              </a:xfrm>
              <a:blipFill>
                <a:blip r:embed="rId3"/>
                <a:stretch>
                  <a:fillRect l="-1284" t="-1572" r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03F49-61A5-4142-989C-42275E73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3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11030" y="62284"/>
                <a:ext cx="10969943" cy="817332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 is countable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1030" y="62284"/>
                <a:ext cx="10969943" cy="817332"/>
              </a:xfrm>
              <a:blipFill>
                <a:blip r:embed="rId2"/>
                <a:stretch>
                  <a:fillRect t="-3077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B3DFEBAB-A731-3245-AA1D-B7ED196F5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729" y="2670906"/>
            <a:ext cx="3764543" cy="7958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Thoughts on how to prove it?</a:t>
            </a:r>
          </a:p>
        </p:txBody>
      </p:sp>
    </p:spTree>
    <p:extLst>
      <p:ext uri="{BB962C8B-B14F-4D97-AF65-F5344CB8AC3E}">
        <p14:creationId xmlns:p14="http://schemas.microsoft.com/office/powerpoint/2010/main" val="666448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122872" y="1667430"/>
            <a:ext cx="516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0,0 	0,1 	0,2 	 0,3 	 0,4 	 0,5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22872" y="2743200"/>
            <a:ext cx="516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1,0	1,1	1,2	 1,3	 1,4	 1,5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32709" y="3810000"/>
            <a:ext cx="516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2,0	2,1	2,2	 2,3	 2,4	 2,5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2709" y="4800600"/>
            <a:ext cx="516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3,0	3,1	3,2	 3,3	 3,4	 3,5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60107" y="5867400"/>
            <a:ext cx="516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4,0	4,1	4,2	 4,3	 4,4	 4,5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11030" y="62284"/>
                <a:ext cx="10969943" cy="817332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 is countable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1030" y="62284"/>
                <a:ext cx="10969943" cy="817332"/>
              </a:xfrm>
              <a:blipFill>
                <a:blip r:embed="rId2"/>
                <a:stretch>
                  <a:fillRect t="-3077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606520" y="141607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6217" y="247571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6520" y="354251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7748" y="460931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7748" y="567351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…</a:t>
            </a:r>
          </a:p>
        </p:txBody>
      </p:sp>
      <p:sp>
        <p:nvSpPr>
          <p:cNvPr id="12" name="TextBox 11"/>
          <p:cNvSpPr txBox="1"/>
          <p:nvPr/>
        </p:nvSpPr>
        <p:spPr>
          <a:xfrm rot="5400000">
            <a:off x="4110351" y="617653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14" name="TextBox 13"/>
          <p:cNvSpPr txBox="1"/>
          <p:nvPr/>
        </p:nvSpPr>
        <p:spPr>
          <a:xfrm rot="5400000">
            <a:off x="5031191" y="617653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…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6032692" y="615634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 rot="5400000">
            <a:off x="3212990" y="615942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 rot="5400000">
            <a:off x="6930589" y="618569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…</a:t>
            </a:r>
          </a:p>
        </p:txBody>
      </p:sp>
      <p:sp>
        <p:nvSpPr>
          <p:cNvPr id="19" name="TextBox 18"/>
          <p:cNvSpPr txBox="1"/>
          <p:nvPr/>
        </p:nvSpPr>
        <p:spPr>
          <a:xfrm rot="5400000">
            <a:off x="7856558" y="615941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709" y="1071265"/>
            <a:ext cx="492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0	1	2	3	4	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8878" y="160221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8878" y="265579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2639" y="379386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979" y="47683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5979" y="58325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802718" y="609600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/>
                          <a:ea typeface="Cambria Math"/>
                        </a:rPr>
                        <m:t>ℕ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718" y="609600"/>
                <a:ext cx="41549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23950" y="1302097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/>
                          <a:ea typeface="Cambria Math"/>
                        </a:rPr>
                        <m:t>ℕ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950" y="1302097"/>
                <a:ext cx="4154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6" idx="3"/>
          </p:cNvCxnSpPr>
          <p:nvPr/>
        </p:nvCxnSpPr>
        <p:spPr>
          <a:xfrm>
            <a:off x="3218217" y="794267"/>
            <a:ext cx="490967" cy="46167"/>
          </a:xfrm>
          <a:prstGeom prst="straightConnector1">
            <a:avLst/>
          </a:prstGeom>
          <a:ln w="28575">
            <a:solidFill>
              <a:schemeClr val="tx1">
                <a:lumMod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7" idx="2"/>
          </p:cNvCxnSpPr>
          <p:nvPr/>
        </p:nvCxnSpPr>
        <p:spPr>
          <a:xfrm>
            <a:off x="2331699" y="1671430"/>
            <a:ext cx="29656" cy="550001"/>
          </a:xfrm>
          <a:prstGeom prst="straightConnector1">
            <a:avLst/>
          </a:prstGeom>
          <a:ln w="28575">
            <a:solidFill>
              <a:schemeClr val="tx1">
                <a:lumMod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</p:cNvCxnSpPr>
          <p:nvPr/>
        </p:nvCxnSpPr>
        <p:spPr>
          <a:xfrm>
            <a:off x="3556461" y="1843815"/>
            <a:ext cx="490753" cy="0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266039" y="2134029"/>
            <a:ext cx="0" cy="521769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3587951" y="2918372"/>
            <a:ext cx="459263" cy="0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374086" y="3204866"/>
            <a:ext cx="0" cy="521769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cxnSpLocks/>
          </p:cNvCxnSpPr>
          <p:nvPr/>
        </p:nvCxnSpPr>
        <p:spPr>
          <a:xfrm>
            <a:off x="3509514" y="3810000"/>
            <a:ext cx="1730396" cy="0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437945" y="2045203"/>
            <a:ext cx="0" cy="1597540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cxnSpLocks/>
          </p:cNvCxnSpPr>
          <p:nvPr/>
        </p:nvCxnSpPr>
        <p:spPr>
          <a:xfrm>
            <a:off x="5598517" y="2051055"/>
            <a:ext cx="893590" cy="0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6492107" y="2161361"/>
            <a:ext cx="0" cy="2639239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591780" y="4798316"/>
            <a:ext cx="2761965" cy="2233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cxnSpLocks/>
          </p:cNvCxnSpPr>
          <p:nvPr/>
        </p:nvCxnSpPr>
        <p:spPr>
          <a:xfrm flipV="1">
            <a:off x="3599767" y="4981457"/>
            <a:ext cx="0" cy="885943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cxnSpLocks/>
          </p:cNvCxnSpPr>
          <p:nvPr/>
        </p:nvCxnSpPr>
        <p:spPr>
          <a:xfrm flipV="1">
            <a:off x="3760975" y="5832534"/>
            <a:ext cx="3422718" cy="1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7375737" y="2095478"/>
            <a:ext cx="1532" cy="3798376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cxnSpLocks/>
          </p:cNvCxnSpPr>
          <p:nvPr/>
        </p:nvCxnSpPr>
        <p:spPr>
          <a:xfrm>
            <a:off x="7553661" y="2095478"/>
            <a:ext cx="744245" cy="0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cxnSpLocks/>
          </p:cNvCxnSpPr>
          <p:nvPr/>
        </p:nvCxnSpPr>
        <p:spPr>
          <a:xfrm flipV="1">
            <a:off x="8393162" y="2068816"/>
            <a:ext cx="0" cy="4347464"/>
          </a:xfrm>
          <a:prstGeom prst="line">
            <a:avLst/>
          </a:prstGeom>
          <a:ln w="571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04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F11259-5E90-487C-8A40-F8FE51B159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395882"/>
                <a:ext cx="9905998" cy="757058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dirty="0"/>
                  <a:t> is countable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F11259-5E90-487C-8A40-F8FE51B159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395882"/>
                <a:ext cx="9905998" cy="757058"/>
              </a:xfrm>
              <a:blipFill>
                <a:blip r:embed="rId2"/>
                <a:stretch>
                  <a:fillRect t="-6557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1E46B1-DFCC-44FE-B911-D404663F8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1" y="2607296"/>
                <a:ext cx="8295120" cy="163301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Idea: there is a surjective mapping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one is left as an exercise (could be on homework or quiz)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1E46B1-DFCC-44FE-B911-D404663F8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1" y="2607296"/>
                <a:ext cx="8295120" cy="1633010"/>
              </a:xfrm>
              <a:blipFill>
                <a:blip r:embed="rId3"/>
                <a:stretch>
                  <a:fillRect l="-1685" t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03F49-61A5-4142-989C-42275E73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12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Number of Programs As Number of Functions</a:t>
            </a:r>
          </a:p>
        </p:txBody>
      </p:sp>
    </p:spTree>
    <p:extLst>
      <p:ext uri="{BB962C8B-B14F-4D97-AF65-F5344CB8AC3E}">
        <p14:creationId xmlns:p14="http://schemas.microsoft.com/office/powerpoint/2010/main" val="2487553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32271"/>
            <a:ext cx="9905998" cy="733204"/>
          </a:xfrm>
        </p:spPr>
        <p:txBody>
          <a:bodyPr/>
          <a:lstStyle/>
          <a:p>
            <a:pPr algn="ctr"/>
            <a:r>
              <a:rPr lang="en-US" dirty="0"/>
              <a:t>How Many Python/Java programs?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1674" y="2424416"/>
            <a:ext cx="7183604" cy="1455821"/>
          </a:xfrm>
        </p:spPr>
        <p:txBody>
          <a:bodyPr/>
          <a:lstStyle/>
          <a:p>
            <a:r>
              <a:rPr lang="en-US" dirty="0"/>
              <a:t>How do we represent Java/Python programs?</a:t>
            </a:r>
          </a:p>
          <a:p>
            <a:r>
              <a:rPr lang="en-US" dirty="0"/>
              <a:t>How many things can we represent using that method?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0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76612"/>
                <a:ext cx="9905998" cy="725252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How many functions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76612"/>
                <a:ext cx="9905998" cy="725252"/>
              </a:xfrm>
              <a:blipFill>
                <a:blip r:embed="rId2"/>
                <a:stretch>
                  <a:fillRect t="-10345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51513" y="1748555"/>
                <a:ext cx="9905999" cy="3541714"/>
              </a:xfrm>
            </p:spPr>
            <p:txBody>
              <a:bodyPr/>
              <a:lstStyle/>
              <a:p>
                <a:r>
                  <a:rPr lang="en-US" dirty="0"/>
                  <a:t>Short answer: Too many!</a:t>
                </a:r>
              </a:p>
              <a:p>
                <a:pPr lvl="1"/>
                <a:r>
                  <a:rPr lang="en-US" dirty="0"/>
                  <a:t>Uncountable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  <m:r>
                          <a:rPr lang="en-US" b="0" i="1" smtClean="0">
                            <a:latin typeface="Cambria Math"/>
                          </a:rPr>
                          <m:t>: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|&gt;</m:t>
                    </m:r>
                    <m:r>
                      <a:rPr lang="en-US" i="1">
                        <a:latin typeface="Cambria Math"/>
                      </a:rPr>
                      <m:t>|</m:t>
                    </m:r>
                    <m:r>
                      <m:rPr>
                        <m:nor/>
                      </m:rPr>
                      <a:rPr lang="en-US"/>
                      <m:t>ℕ</m:t>
                    </m:r>
                    <m:r>
                      <m:rPr>
                        <m:nor/>
                      </m:rPr>
                      <a:rPr lang="en-US"/>
                      <m:t>|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Conclusion: Some functions cannot be computed by any java/python program</a:t>
                </a:r>
              </a:p>
              <a:p>
                <a:r>
                  <a:rPr lang="en-US" dirty="0"/>
                  <a:t>How to prove this?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13" y="1748555"/>
                <a:ext cx="9905999" cy="3541714"/>
              </a:xfrm>
              <a:blipFill>
                <a:blip r:embed="rId3"/>
                <a:stretch>
                  <a:fillRect l="-1152" t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9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496C-7AA5-479C-94DE-1AC5AD14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show something is uncountable?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324F3-DFFB-4DB2-A0B1-B8B6FB453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6B474-FBB6-410D-BFDD-52B800CF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3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24320"/>
            <a:ext cx="9905998" cy="829282"/>
          </a:xfrm>
        </p:spPr>
        <p:txBody>
          <a:bodyPr/>
          <a:lstStyle/>
          <a:p>
            <a:pPr algn="ctr"/>
            <a:r>
              <a:rPr lang="en-US" dirty="0"/>
              <a:t>Uncountably many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625" y="2076284"/>
                <a:ext cx="8150833" cy="325771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If we show a subset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</a:rPr>
                      <m:t>: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} </m:t>
                    </m:r>
                  </m:oMath>
                </a14:m>
                <a:r>
                  <a:rPr lang="en-US" sz="2000" dirty="0"/>
                  <a:t>is uncountable, then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</a:rPr>
                      <m:t>: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 is uncountable too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Consider just the “yes/no” functions (decision problems): 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/>
                            </a:rPr>
                            <m:t>𝒇</m:t>
                          </m:r>
                          <m:r>
                            <a:rPr lang="en-US" sz="3200" b="1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3200" b="1" i="1">
                          <a:latin typeface="Cambria Math"/>
                        </a:rPr>
                        <m:t>𝒇</m:t>
                      </m:r>
                      <m:r>
                        <a:rPr lang="en-US" sz="3200" b="1" i="1">
                          <a:latin typeface="Cambria Math"/>
                        </a:rPr>
                        <m:t>:</m:t>
                      </m:r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>
                              <a:latin typeface="Cambria Math"/>
                            </a:rPr>
                            <m:t>{</m:t>
                          </m:r>
                          <m:r>
                            <a:rPr lang="en-US" sz="3200" b="1" i="1">
                              <a:latin typeface="Cambria Math"/>
                            </a:rPr>
                            <m:t>𝟎</m:t>
                          </m:r>
                          <m:r>
                            <a:rPr lang="en-US" sz="3200" b="1">
                              <a:latin typeface="Cambria Math"/>
                            </a:rPr>
                            <m:t>,</m:t>
                          </m:r>
                          <m:r>
                            <a:rPr lang="en-US" sz="3200" b="1" i="1">
                              <a:latin typeface="Cambria Math"/>
                            </a:rPr>
                            <m:t>𝟏</m:t>
                          </m:r>
                          <m:r>
                            <a:rPr lang="en-US" sz="3200" b="1">
                              <a:latin typeface="Cambria Math"/>
                            </a:rPr>
                            <m:t>}</m:t>
                          </m:r>
                        </m:e>
                        <m:sup>
                          <m:r>
                            <a:rPr lang="en-US" sz="3200" b="1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3200" b="1" i="1">
                          <a:latin typeface="Cambria Math"/>
                        </a:rPr>
                        <m:t>→{</m:t>
                      </m:r>
                      <m:r>
                        <a:rPr lang="en-US" sz="3200" b="1" i="1">
                          <a:latin typeface="Cambria Math"/>
                        </a:rPr>
                        <m:t>𝟎</m:t>
                      </m:r>
                      <m:r>
                        <a:rPr lang="en-US" sz="3200" b="1" i="1">
                          <a:latin typeface="Cambria Math"/>
                        </a:rPr>
                        <m:t>,</m:t>
                      </m:r>
                      <m:r>
                        <a:rPr lang="en-US" sz="3200" b="1" i="1">
                          <a:latin typeface="Cambria Math"/>
                        </a:rPr>
                        <m:t>𝟏</m:t>
                      </m:r>
                      <m:r>
                        <a:rPr lang="en-US" sz="3200" b="1" i="1">
                          <a:latin typeface="Cambria Math"/>
                        </a:rPr>
                        <m:t>}}</m:t>
                      </m:r>
                    </m:oMath>
                  </m:oMathPara>
                </a14:m>
                <a:endParaRPr lang="en-US" sz="3200" b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625" y="2076284"/>
                <a:ext cx="8150833" cy="3257716"/>
              </a:xfrm>
              <a:blipFill>
                <a:blip r:embed="rId2"/>
                <a:stretch>
                  <a:fillRect l="-1089"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3367757"/>
                  </p:ext>
                </p:extLst>
              </p:nvPr>
            </p:nvGraphicFramePr>
            <p:xfrm>
              <a:off x="8684812" y="1811523"/>
              <a:ext cx="3046414" cy="3708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32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32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“”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3367757"/>
                  </p:ext>
                </p:extLst>
              </p:nvPr>
            </p:nvGraphicFramePr>
            <p:xfrm>
              <a:off x="8684812" y="1811523"/>
              <a:ext cx="3046414" cy="3708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32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32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r="-100000" b="-9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33" r="-833" b="-9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“”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54735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3209468-9441-4451-87A0-FA44DF2AA17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05049"/>
                <a:ext cx="9905998" cy="85247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→{0,1}</m:t>
                        </m:r>
                      </m:e>
                    </m:d>
                  </m:oMath>
                </a14:m>
                <a:r>
                  <a:rPr lang="en-US" dirty="0"/>
                  <a:t> is uncountable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3209468-9441-4451-87A0-FA44DF2AA1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05049"/>
                <a:ext cx="9905998" cy="852473"/>
              </a:xfrm>
              <a:blipFill>
                <a:blip r:embed="rId2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AA522-8BEB-4661-A6A1-D0145FF315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2364" y="1575654"/>
                <a:ext cx="6761936" cy="252009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function can be represented by a single infinite </a:t>
                </a:r>
                <a:r>
                  <a:rPr lang="en-US" dirty="0" err="1"/>
                  <a:t>bitstring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en-US" dirty="0"/>
                  <a:t> is a simpler representation of f</a:t>
                </a:r>
              </a:p>
              <a:p>
                <a:endParaRPr lang="en-US" dirty="0"/>
              </a:p>
              <a:p>
                <a:r>
                  <a:rPr lang="en-US" dirty="0"/>
                  <a:t>Show there is no onto mapping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AA522-8BEB-4661-A6A1-D0145FF315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2364" y="1575654"/>
                <a:ext cx="6761936" cy="2520096"/>
              </a:xfrm>
              <a:blipFill>
                <a:blip r:embed="rId3"/>
                <a:stretch>
                  <a:fillRect l="-1876" t="-2500" r="-2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D00D6-77C8-4619-9D3F-0F8284B2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29DF961-A065-2842-B2CE-D525BD25E5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9863281"/>
                  </p:ext>
                </p:extLst>
              </p:nvPr>
            </p:nvGraphicFramePr>
            <p:xfrm>
              <a:off x="8000996" y="1220973"/>
              <a:ext cx="3046414" cy="3708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32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32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“”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29DF961-A065-2842-B2CE-D525BD25E5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9863281"/>
                  </p:ext>
                </p:extLst>
              </p:nvPr>
            </p:nvGraphicFramePr>
            <p:xfrm>
              <a:off x="8000996" y="1220973"/>
              <a:ext cx="3046414" cy="3708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32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32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448" r="-100826" b="-9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833" t="-3448" r="-1667" b="-9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“”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27907C-FA1E-F240-B5F5-8C77EB719EB2}"/>
              </a:ext>
            </a:extLst>
          </p:cNvPr>
          <p:cNvSpPr txBox="1">
            <a:spLocks/>
          </p:cNvSpPr>
          <p:nvPr/>
        </p:nvSpPr>
        <p:spPr>
          <a:xfrm>
            <a:off x="3105963" y="5619749"/>
            <a:ext cx="7381061" cy="1167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For example, this function can be fully described by the outputs only (the order of the inputs is fixed). So the right column (100111100…) fully describes this unique function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DC1B1B-E6B8-664B-B730-CD2A90F2A0B8}"/>
              </a:ext>
            </a:extLst>
          </p:cNvPr>
          <p:cNvCxnSpPr/>
          <p:nvPr/>
        </p:nvCxnSpPr>
        <p:spPr>
          <a:xfrm flipV="1">
            <a:off x="8515350" y="5092824"/>
            <a:ext cx="1171575" cy="37452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938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52757"/>
                <a:ext cx="9905998" cy="796814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∞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/>
                        </a:rPr>
                        <m:t>&gt;|</m:t>
                      </m:r>
                      <m:r>
                        <m:rPr>
                          <m:nor/>
                        </m:rPr>
                        <a:rPr lang="en-US"/>
                        <m:t>ℕ</m:t>
                      </m:r>
                      <m:r>
                        <m:rPr>
                          <m:nor/>
                        </m:rPr>
                        <a:rPr lang="en-US"/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52757"/>
                <a:ext cx="9905998" cy="796814"/>
              </a:xfrm>
              <a:blipFill>
                <a:blip r:embed="rId2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53769" y="1520688"/>
                <a:ext cx="9093641" cy="1635979"/>
              </a:xfrm>
            </p:spPr>
            <p:txBody>
              <a:bodyPr/>
              <a:lstStyle/>
              <a:p>
                <a:r>
                  <a:rPr lang="en-US" dirty="0"/>
                  <a:t>Idea: </a:t>
                </a:r>
              </a:p>
              <a:p>
                <a:pPr lvl="1"/>
                <a:r>
                  <a:rPr lang="en-US" dirty="0"/>
                  <a:t>show there is no way to “list” all infinite length binary strings</a:t>
                </a:r>
              </a:p>
              <a:p>
                <a:pPr lvl="1"/>
                <a:r>
                  <a:rPr lang="en-US" dirty="0"/>
                  <a:t>Any list of binary strings we could ever try will be leaving out elements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∞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3769" y="1520688"/>
                <a:ext cx="9093641" cy="1635979"/>
              </a:xfrm>
              <a:blipFill>
                <a:blip r:embed="rId3"/>
                <a:stretch>
                  <a:fillRect l="-1255" t="-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33</a:t>
            </a:fld>
            <a:endParaRPr lang="en-US"/>
          </a:p>
        </p:txBody>
      </p:sp>
      <p:pic>
        <p:nvPicPr>
          <p:cNvPr id="2050" name="Picture 2" descr="Image result for left ou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562" y="3293564"/>
            <a:ext cx="59817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894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11030" y="238539"/>
                <a:ext cx="10969943" cy="80772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∞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&gt;</m:t>
                      </m:r>
                      <m:r>
                        <a:rPr lang="en-US" i="1">
                          <a:latin typeface="Cambria Math"/>
                        </a:rPr>
                        <m:t>|</m:t>
                      </m:r>
                      <m:r>
                        <m:rPr>
                          <m:nor/>
                        </m:rPr>
                        <a:rPr lang="en-US"/>
                        <m:t>ℕ</m:t>
                      </m:r>
                      <m:r>
                        <m:rPr>
                          <m:nor/>
                        </m:rPr>
                        <a:rPr lang="en-US"/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1030" y="238539"/>
                <a:ext cx="10969943" cy="807720"/>
              </a:xfrm>
              <a:blipFill>
                <a:blip r:embed="rId2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635691"/>
                  </p:ext>
                </p:extLst>
              </p:nvPr>
            </p:nvGraphicFramePr>
            <p:xfrm>
              <a:off x="4664192" y="1447800"/>
              <a:ext cx="7223008" cy="3708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028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635691"/>
                  </p:ext>
                </p:extLst>
              </p:nvPr>
            </p:nvGraphicFramePr>
            <p:xfrm>
              <a:off x="4664192" y="1447800"/>
              <a:ext cx="7223008" cy="3708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028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408" t="-3448" r="-604225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408" t="-3448" r="-504225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7222" t="-3448" r="-397222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817" t="-3448" r="-302817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817" t="-3448" r="-202817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2817" t="-3448" r="-102817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2817" t="-3448" r="-2817" b="-9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Left Brace 7"/>
          <p:cNvSpPr/>
          <p:nvPr/>
        </p:nvSpPr>
        <p:spPr>
          <a:xfrm>
            <a:off x="4114800" y="1801633"/>
            <a:ext cx="457200" cy="33545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93660" y="3318302"/>
                <a:ext cx="2743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Attempt at mapping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ℕ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p>
                    </m:sSup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60" y="3318302"/>
                <a:ext cx="2743200" cy="646331"/>
              </a:xfrm>
              <a:prstGeom prst="rect">
                <a:avLst/>
              </a:prstGeom>
              <a:blipFill>
                <a:blip r:embed="rId4"/>
                <a:stretch>
                  <a:fillRect l="-1843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221064" y="5163931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string that our attempt missed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46796" y="5883274"/>
                <a:ext cx="52578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Derive by selecting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as the opposite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from row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𝑖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796" y="5883274"/>
                <a:ext cx="5257800" cy="646331"/>
              </a:xfrm>
              <a:prstGeom prst="rect">
                <a:avLst/>
              </a:prstGeom>
              <a:blipFill>
                <a:blip r:embed="rId5"/>
                <a:stretch>
                  <a:fillRect l="-964" t="-192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431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11030" y="238539"/>
                <a:ext cx="10969943" cy="80772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∞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&gt;</m:t>
                      </m:r>
                      <m:r>
                        <a:rPr lang="en-US" i="1">
                          <a:latin typeface="Cambria Math"/>
                        </a:rPr>
                        <m:t>|</m:t>
                      </m:r>
                      <m:r>
                        <m:rPr>
                          <m:nor/>
                        </m:rPr>
                        <a:rPr lang="en-US"/>
                        <m:t>ℕ</m:t>
                      </m:r>
                      <m:r>
                        <m:rPr>
                          <m:nor/>
                        </m:rPr>
                        <a:rPr lang="en-US"/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1030" y="238539"/>
                <a:ext cx="10969943" cy="807720"/>
              </a:xfrm>
              <a:blipFill>
                <a:blip r:embed="rId2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6884926"/>
                  </p:ext>
                </p:extLst>
              </p:nvPr>
            </p:nvGraphicFramePr>
            <p:xfrm>
              <a:off x="4664192" y="1447800"/>
              <a:ext cx="7223008" cy="3708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028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6884926"/>
                  </p:ext>
                </p:extLst>
              </p:nvPr>
            </p:nvGraphicFramePr>
            <p:xfrm>
              <a:off x="4664192" y="1447800"/>
              <a:ext cx="7223008" cy="3708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028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287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408" t="-3448" r="-604225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408" t="-3448" r="-504225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7222" t="-3448" r="-397222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817" t="-3448" r="-302817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817" t="-3448" r="-202817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2817" t="-3448" r="-102817" b="-9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2817" t="-3448" r="-2817" b="-9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u="sng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Left Brace 7"/>
          <p:cNvSpPr/>
          <p:nvPr/>
        </p:nvSpPr>
        <p:spPr>
          <a:xfrm>
            <a:off x="4114800" y="1801633"/>
            <a:ext cx="457200" cy="33545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93660" y="3318302"/>
                <a:ext cx="2743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Attempt at mapping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ℕ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p>
                    </m:sSup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60" y="3318302"/>
                <a:ext cx="2743200" cy="646331"/>
              </a:xfrm>
              <a:prstGeom prst="rect">
                <a:avLst/>
              </a:prstGeom>
              <a:blipFill>
                <a:blip r:embed="rId4"/>
                <a:stretch>
                  <a:fillRect l="-1843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552700" y="5560108"/>
            <a:ext cx="6780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Take the bolded bits across the diagonal. Select 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bitstring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where each of these bits is flipped. In this example: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0100100…</a:t>
            </a:r>
          </a:p>
        </p:txBody>
      </p:sp>
    </p:spTree>
    <p:extLst>
      <p:ext uri="{BB962C8B-B14F-4D97-AF65-F5344CB8AC3E}">
        <p14:creationId xmlns:p14="http://schemas.microsoft.com/office/powerpoint/2010/main" val="3122985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24319"/>
            <a:ext cx="9905998" cy="749106"/>
          </a:xfrm>
        </p:spPr>
        <p:txBody>
          <a:bodyPr/>
          <a:lstStyle/>
          <a:p>
            <a:pPr algn="ctr"/>
            <a:r>
              <a:rPr lang="en-US" dirty="0"/>
              <a:t>Other countable/uncountable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Countable sets:</a:t>
            </a:r>
          </a:p>
          <a:p>
            <a:pPr lvl="1"/>
            <a:r>
              <a:rPr lang="en-US" dirty="0"/>
              <a:t>Integers</a:t>
            </a:r>
          </a:p>
          <a:p>
            <a:pPr lvl="1"/>
            <a:r>
              <a:rPr lang="en-US" dirty="0"/>
              <a:t>Rational numbers</a:t>
            </a:r>
          </a:p>
          <a:p>
            <a:pPr lvl="1"/>
            <a:r>
              <a:rPr lang="en-US" dirty="0"/>
              <a:t>Any finite set</a:t>
            </a:r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Uncountable Sets:</a:t>
            </a:r>
          </a:p>
          <a:p>
            <a:pPr lvl="1"/>
            <a:r>
              <a:rPr lang="en-US" dirty="0"/>
              <a:t>Real numbers</a:t>
            </a:r>
          </a:p>
          <a:p>
            <a:pPr lvl="1"/>
            <a:r>
              <a:rPr lang="en-US" dirty="0"/>
              <a:t>The power set of any infinite set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81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03833"/>
            <a:ext cx="9905998" cy="765009"/>
          </a:xfrm>
        </p:spPr>
        <p:txBody>
          <a:bodyPr/>
          <a:lstStyle/>
          <a:p>
            <a:pPr algn="ctr"/>
            <a:r>
              <a:rPr lang="en-US" dirty="0"/>
              <a:t>Cantor’s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69911" y="2146120"/>
                <a:ext cx="5649002" cy="3541714"/>
              </a:xfrm>
            </p:spPr>
            <p:txBody>
              <a:bodyPr/>
              <a:lstStyle/>
              <a:p>
                <a:r>
                  <a:rPr lang="en-US" dirty="0"/>
                  <a:t>For any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&lt;|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|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Even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infinite!</a:t>
                </a:r>
              </a:p>
              <a:p>
                <a:r>
                  <a:rPr lang="en-US" dirty="0"/>
                  <a:t>Idea: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|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|</m:t>
                    </m:r>
                  </m:oMath>
                </a14:m>
                <a:r>
                  <a:rPr lang="en-US" dirty="0"/>
                  <a:t> (why?)</a:t>
                </a:r>
              </a:p>
              <a:p>
                <a:pPr lvl="1"/>
                <a:r>
                  <a:rPr lang="en-US" dirty="0"/>
                  <a:t>There cannot be a bijection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 going to prove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9911" y="2146120"/>
                <a:ext cx="5649002" cy="3541714"/>
              </a:xfrm>
              <a:blipFill>
                <a:blip r:embed="rId2"/>
                <a:stretch>
                  <a:fillRect l="-2018" t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92514"/>
            <a:ext cx="9905998" cy="772960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635" y="1812494"/>
            <a:ext cx="6647553" cy="2348960"/>
          </a:xfrm>
        </p:spPr>
        <p:txBody>
          <a:bodyPr>
            <a:normAutofit/>
          </a:bodyPr>
          <a:lstStyle/>
          <a:p>
            <a:r>
              <a:rPr lang="en-US" dirty="0"/>
              <a:t>There are countably many strings</a:t>
            </a:r>
          </a:p>
          <a:p>
            <a:pPr lvl="1"/>
            <a:r>
              <a:rPr lang="en-US" dirty="0"/>
              <a:t>And therefore text files representing python programs.</a:t>
            </a:r>
          </a:p>
          <a:p>
            <a:r>
              <a:rPr lang="en-US" dirty="0"/>
              <a:t>There are uncountably many functions</a:t>
            </a:r>
          </a:p>
          <a:p>
            <a:r>
              <a:rPr lang="en-US" b="1" i="1" u="sng" dirty="0"/>
              <a:t>Some functions can’t be implemented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18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17188</TotalTime>
  <Words>1941</Words>
  <Application>Microsoft Macintosh PowerPoint</Application>
  <PresentationFormat>Widescreen</PresentationFormat>
  <Paragraphs>471</Paragraphs>
  <Slides>38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 Math</vt:lpstr>
      <vt:lpstr>Tw Cen MT</vt:lpstr>
      <vt:lpstr>Circuit</vt:lpstr>
      <vt:lpstr>Cardinality</vt:lpstr>
      <vt:lpstr>Goals!</vt:lpstr>
      <vt:lpstr>Reminder: Bijective Functions</vt:lpstr>
      <vt:lpstr>Practice: |{0,1}^n |=2^n via bijection</vt:lpstr>
      <vt:lpstr>|{0,1}^n |=2^n via bijection</vt:lpstr>
      <vt:lpstr>Practice: |{0,1}^n |=2^n via bijection</vt:lpstr>
      <vt:lpstr>Practice 2</vt:lpstr>
      <vt:lpstr>For a finite set S, |P(S)|={0,1}^(|S|)</vt:lpstr>
      <vt:lpstr>Why is this a bijection?</vt:lpstr>
      <vt:lpstr>Part 3: Comparing Sizes of Infinite Sets</vt:lpstr>
      <vt:lpstr>Infinite Cardinality</vt:lpstr>
      <vt:lpstr>Infinite Cardinality</vt:lpstr>
      <vt:lpstr>Countability and Uncountability</vt:lpstr>
      <vt:lpstr>Practice: Show that |{0,1}^∗ |=|N|</vt:lpstr>
      <vt:lpstr>{0,1}^∗ is countable</vt:lpstr>
      <vt:lpstr>Listing all strings (bad way)</vt:lpstr>
      <vt:lpstr>Listing all strings</vt:lpstr>
      <vt:lpstr>Why is this a bijection?</vt:lpstr>
      <vt:lpstr>Demonstrate that each of the following is countable</vt:lpstr>
      <vt:lpstr>Proof: Z^+ is countable</vt:lpstr>
      <vt:lpstr>Proof: {n∈N|n is even} is countable</vt:lpstr>
      <vt:lpstr>Proof: {n∈N|n is odd} is countable</vt:lpstr>
      <vt:lpstr>Z is countable</vt:lpstr>
      <vt:lpstr>N×N is countable</vt:lpstr>
      <vt:lpstr>N×N is countable</vt:lpstr>
      <vt:lpstr>Q is countable</vt:lpstr>
      <vt:lpstr>Number of Programs As Number of Functions</vt:lpstr>
      <vt:lpstr>How Many Python/Java programs?</vt:lpstr>
      <vt:lpstr>How many functions Σ^∗→Σ^∗?</vt:lpstr>
      <vt:lpstr>How to show something is uncountable?</vt:lpstr>
      <vt:lpstr>Uncountably many functions</vt:lpstr>
      <vt:lpstr>Goal: {f:{0,1}^∗→{0,1}} is uncountable</vt:lpstr>
      <vt:lpstr>|{0,1}^∞ |&gt;|"N|"</vt:lpstr>
      <vt:lpstr>|{0,1}^∞ |&gt;|"N|"</vt:lpstr>
      <vt:lpstr>|{0,1}^∞ |&gt;|"N|"</vt:lpstr>
      <vt:lpstr>Other countable/uncountable sets</vt:lpstr>
      <vt:lpstr>Cantor’s Theorem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141</cp:revision>
  <dcterms:created xsi:type="dcterms:W3CDTF">2023-02-24T14:15:53Z</dcterms:created>
  <dcterms:modified xsi:type="dcterms:W3CDTF">2026-09-01T13:09:31Z</dcterms:modified>
</cp:coreProperties>
</file>