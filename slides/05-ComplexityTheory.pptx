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4006" r:id="rId1"/>
  </p:sldMasterIdLst>
  <p:notesMasterIdLst>
    <p:notesMasterId r:id="rId129"/>
  </p:notesMasterIdLst>
  <p:sldIdLst>
    <p:sldId id="256" r:id="rId2"/>
    <p:sldId id="272" r:id="rId3"/>
    <p:sldId id="258" r:id="rId4"/>
    <p:sldId id="318" r:id="rId5"/>
    <p:sldId id="462" r:id="rId6"/>
    <p:sldId id="461" r:id="rId7"/>
    <p:sldId id="807" r:id="rId8"/>
    <p:sldId id="464" r:id="rId9"/>
    <p:sldId id="809" r:id="rId10"/>
    <p:sldId id="808" r:id="rId11"/>
    <p:sldId id="463" r:id="rId12"/>
    <p:sldId id="271" r:id="rId13"/>
    <p:sldId id="274" r:id="rId14"/>
    <p:sldId id="810" r:id="rId15"/>
    <p:sldId id="811" r:id="rId16"/>
    <p:sldId id="812" r:id="rId17"/>
    <p:sldId id="872" r:id="rId18"/>
    <p:sldId id="813" r:id="rId19"/>
    <p:sldId id="815" r:id="rId20"/>
    <p:sldId id="816" r:id="rId21"/>
    <p:sldId id="873" r:id="rId22"/>
    <p:sldId id="817" r:id="rId23"/>
    <p:sldId id="277" r:id="rId24"/>
    <p:sldId id="470" r:id="rId25"/>
    <p:sldId id="818" r:id="rId26"/>
    <p:sldId id="819" r:id="rId27"/>
    <p:sldId id="820" r:id="rId28"/>
    <p:sldId id="821" r:id="rId29"/>
    <p:sldId id="822" r:id="rId30"/>
    <p:sldId id="823" r:id="rId31"/>
    <p:sldId id="824" r:id="rId32"/>
    <p:sldId id="466" r:id="rId33"/>
    <p:sldId id="474" r:id="rId34"/>
    <p:sldId id="799" r:id="rId35"/>
    <p:sldId id="833" r:id="rId36"/>
    <p:sldId id="825" r:id="rId37"/>
    <p:sldId id="826" r:id="rId38"/>
    <p:sldId id="827" r:id="rId39"/>
    <p:sldId id="828" r:id="rId40"/>
    <p:sldId id="829" r:id="rId41"/>
    <p:sldId id="830" r:id="rId42"/>
    <p:sldId id="831" r:id="rId43"/>
    <p:sldId id="832" r:id="rId44"/>
    <p:sldId id="835" r:id="rId45"/>
    <p:sldId id="467" r:id="rId46"/>
    <p:sldId id="834" r:id="rId47"/>
    <p:sldId id="295" r:id="rId48"/>
    <p:sldId id="836" r:id="rId49"/>
    <p:sldId id="837" r:id="rId50"/>
    <p:sldId id="838" r:id="rId51"/>
    <p:sldId id="303" r:id="rId52"/>
    <p:sldId id="839" r:id="rId53"/>
    <p:sldId id="840" r:id="rId54"/>
    <p:sldId id="305" r:id="rId55"/>
    <p:sldId id="842" r:id="rId56"/>
    <p:sldId id="843" r:id="rId57"/>
    <p:sldId id="315" r:id="rId58"/>
    <p:sldId id="316" r:id="rId59"/>
    <p:sldId id="317" r:id="rId60"/>
    <p:sldId id="844" r:id="rId61"/>
    <p:sldId id="468" r:id="rId62"/>
    <p:sldId id="322" r:id="rId63"/>
    <p:sldId id="335" r:id="rId64"/>
    <p:sldId id="845" r:id="rId65"/>
    <p:sldId id="846" r:id="rId66"/>
    <p:sldId id="847" r:id="rId67"/>
    <p:sldId id="336" r:id="rId68"/>
    <p:sldId id="339" r:id="rId69"/>
    <p:sldId id="341" r:id="rId70"/>
    <p:sldId id="342" r:id="rId71"/>
    <p:sldId id="344" r:id="rId72"/>
    <p:sldId id="848" r:id="rId73"/>
    <p:sldId id="347" r:id="rId74"/>
    <p:sldId id="348" r:id="rId75"/>
    <p:sldId id="849" r:id="rId76"/>
    <p:sldId id="850" r:id="rId77"/>
    <p:sldId id="851" r:id="rId78"/>
    <p:sldId id="852" r:id="rId79"/>
    <p:sldId id="350" r:id="rId80"/>
    <p:sldId id="853" r:id="rId81"/>
    <p:sldId id="854" r:id="rId82"/>
    <p:sldId id="855" r:id="rId83"/>
    <p:sldId id="856" r:id="rId84"/>
    <p:sldId id="858" r:id="rId85"/>
    <p:sldId id="857" r:id="rId86"/>
    <p:sldId id="859" r:id="rId87"/>
    <p:sldId id="860" r:id="rId88"/>
    <p:sldId id="380" r:id="rId89"/>
    <p:sldId id="383" r:id="rId90"/>
    <p:sldId id="861" r:id="rId91"/>
    <p:sldId id="862" r:id="rId92"/>
    <p:sldId id="863" r:id="rId93"/>
    <p:sldId id="864" r:id="rId94"/>
    <p:sldId id="865" r:id="rId95"/>
    <p:sldId id="866" r:id="rId96"/>
    <p:sldId id="867" r:id="rId97"/>
    <p:sldId id="361" r:id="rId98"/>
    <p:sldId id="360" r:id="rId99"/>
    <p:sldId id="868" r:id="rId100"/>
    <p:sldId id="869" r:id="rId101"/>
    <p:sldId id="874" r:id="rId102"/>
    <p:sldId id="385" r:id="rId103"/>
    <p:sldId id="875" r:id="rId104"/>
    <p:sldId id="876" r:id="rId105"/>
    <p:sldId id="390" r:id="rId106"/>
    <p:sldId id="877" r:id="rId107"/>
    <p:sldId id="878" r:id="rId108"/>
    <p:sldId id="879" r:id="rId109"/>
    <p:sldId id="880" r:id="rId110"/>
    <p:sldId id="881" r:id="rId111"/>
    <p:sldId id="883" r:id="rId112"/>
    <p:sldId id="882" r:id="rId113"/>
    <p:sldId id="884" r:id="rId114"/>
    <p:sldId id="386" r:id="rId115"/>
    <p:sldId id="364" r:id="rId116"/>
    <p:sldId id="365" r:id="rId117"/>
    <p:sldId id="366" r:id="rId118"/>
    <p:sldId id="374" r:id="rId119"/>
    <p:sldId id="369" r:id="rId120"/>
    <p:sldId id="376" r:id="rId121"/>
    <p:sldId id="367" r:id="rId122"/>
    <p:sldId id="368" r:id="rId123"/>
    <p:sldId id="870" r:id="rId124"/>
    <p:sldId id="387" r:id="rId125"/>
    <p:sldId id="375" r:id="rId126"/>
    <p:sldId id="871" r:id="rId127"/>
    <p:sldId id="885" r:id="rId12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9524"/>
    <p:restoredTop sz="94988"/>
  </p:normalViewPr>
  <p:slideViewPr>
    <p:cSldViewPr snapToGrid="0" snapToObjects="1">
      <p:cViewPr varScale="1">
        <p:scale>
          <a:sx n="140" d="100"/>
          <a:sy n="140" d="100"/>
        </p:scale>
        <p:origin x="368" y="1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28" Type="http://schemas.openxmlformats.org/officeDocument/2006/relationships/slide" Target="slides/slide127.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notesMaster" Target="notesMasters/notesMaster1.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presProps" Target="presProps.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viewProps" Target="viewProps.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theme" Target="theme/theme1.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5B45307-6ED4-B142-BD64-10F739779302}" type="datetimeFigureOut">
              <a:rPr lang="en-US" smtClean="0"/>
              <a:t>11/18/25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1BDE956-AECE-4A49-8BC2-51A8C013B720}" type="slidenum">
              <a:rPr lang="en-US" smtClean="0"/>
              <a:t>‹#›</a:t>
            </a:fld>
            <a:endParaRPr lang="en-US"/>
          </a:p>
        </p:txBody>
      </p:sp>
    </p:spTree>
    <p:extLst>
      <p:ext uri="{BB962C8B-B14F-4D97-AF65-F5344CB8AC3E}">
        <p14:creationId xmlns:p14="http://schemas.microsoft.com/office/powerpoint/2010/main" val="355397814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1BDE956-AECE-4A49-8BC2-51A8C013B720}" type="slidenum">
              <a:rPr lang="en-US" smtClean="0"/>
              <a:t>1</a:t>
            </a:fld>
            <a:endParaRPr lang="en-US"/>
          </a:p>
        </p:txBody>
      </p:sp>
    </p:spTree>
    <p:extLst>
      <p:ext uri="{BB962C8B-B14F-4D97-AF65-F5344CB8AC3E}">
        <p14:creationId xmlns:p14="http://schemas.microsoft.com/office/powerpoint/2010/main" val="92945770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xfrm>
            <a:off x="3884414" y="8685894"/>
            <a:ext cx="2972098" cy="456595"/>
          </a:xfrm>
          <a:prstGeom prst="rect">
            <a:avLst/>
          </a:prstGeom>
          <a:ln/>
        </p:spPr>
        <p:txBody>
          <a:bodyPr/>
          <a:lstStyle/>
          <a:p>
            <a:fld id="{51B7C5CC-8735-47F3-8FD6-DF4356A08766}" type="slidenum">
              <a:rPr lang="en-US"/>
              <a:pPr/>
              <a:t>4</a:t>
            </a:fld>
            <a:endParaRPr lang="en-US"/>
          </a:p>
        </p:txBody>
      </p:sp>
      <p:sp>
        <p:nvSpPr>
          <p:cNvPr id="257026" name="Rectangle 2"/>
          <p:cNvSpPr>
            <a:spLocks noGrp="1" noRot="1" noChangeAspect="1" noChangeArrowheads="1" noTextEdit="1"/>
          </p:cNvSpPr>
          <p:nvPr>
            <p:ph type="sldImg"/>
          </p:nvPr>
        </p:nvSpPr>
        <p:spPr>
          <a:xfrm>
            <a:off x="381000" y="687388"/>
            <a:ext cx="6096000" cy="3429000"/>
          </a:xfrm>
          <a:prstGeom prst="rect">
            <a:avLst/>
          </a:prstGeom>
          <a:ln/>
        </p:spPr>
      </p:sp>
      <p:sp>
        <p:nvSpPr>
          <p:cNvPr id="257027" name="Rectangle 3"/>
          <p:cNvSpPr>
            <a:spLocks noGrp="1" noChangeArrowheads="1"/>
          </p:cNvSpPr>
          <p:nvPr>
            <p:ph type="body" idx="1"/>
          </p:nvPr>
        </p:nvSpPr>
        <p:spPr>
          <a:xfrm>
            <a:off x="686099" y="4343704"/>
            <a:ext cx="5485805" cy="4113892"/>
          </a:xfrm>
          <a:prstGeom prst="rect">
            <a:avLst/>
          </a:prstGeom>
        </p:spPr>
        <p:txBody>
          <a:bodyPr/>
          <a:lstStyle/>
          <a:p>
            <a:endParaRPr lang="en-US"/>
          </a:p>
        </p:txBody>
      </p:sp>
    </p:spTree>
    <p:extLst>
      <p:ext uri="{BB962C8B-B14F-4D97-AF65-F5344CB8AC3E}">
        <p14:creationId xmlns:p14="http://schemas.microsoft.com/office/powerpoint/2010/main" val="85741849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7AA43705-C4D8-4248-A7F4-C00F2498CB8E}" type="slidenum">
              <a:rPr lang="en-US" smtClean="0"/>
              <a:pPr/>
              <a:t>47</a:t>
            </a:fld>
            <a:endParaRPr lang="en-US"/>
          </a:p>
        </p:txBody>
      </p:sp>
    </p:spTree>
    <p:extLst>
      <p:ext uri="{BB962C8B-B14F-4D97-AF65-F5344CB8AC3E}">
        <p14:creationId xmlns:p14="http://schemas.microsoft.com/office/powerpoint/2010/main" val="133935194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7AA43705-C4D8-4248-A7F4-C00F2498CB8E}" type="slidenum">
              <a:rPr lang="en-US" smtClean="0"/>
              <a:pPr/>
              <a:t>48</a:t>
            </a:fld>
            <a:endParaRPr lang="en-US"/>
          </a:p>
        </p:txBody>
      </p:sp>
    </p:spTree>
    <p:extLst>
      <p:ext uri="{BB962C8B-B14F-4D97-AF65-F5344CB8AC3E}">
        <p14:creationId xmlns:p14="http://schemas.microsoft.com/office/powerpoint/2010/main" val="386232777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7AA43705-C4D8-4248-A7F4-C00F2498CB8E}" type="slidenum">
              <a:rPr lang="en-US" smtClean="0"/>
              <a:pPr/>
              <a:t>49</a:t>
            </a:fld>
            <a:endParaRPr lang="en-US"/>
          </a:p>
        </p:txBody>
      </p:sp>
    </p:spTree>
    <p:extLst>
      <p:ext uri="{BB962C8B-B14F-4D97-AF65-F5344CB8AC3E}">
        <p14:creationId xmlns:p14="http://schemas.microsoft.com/office/powerpoint/2010/main" val="2276734717"/>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pic>
        <p:nvPicPr>
          <p:cNvPr id="66" name="Picture 2" descr="\\DROBO-FS\QuickDrops\JB\PPTX NG\Droplets\LightingOverlay.png"/>
          <p:cNvPicPr>
            <a:picLocks noChangeAspect="1" noChangeArrowheads="1"/>
          </p:cNvPicPr>
          <p:nvPr/>
        </p:nvPicPr>
        <p:blipFill>
          <a:blip r:embed="rId2">
            <a:alphaModFix amt="30000"/>
            <a:duotone>
              <a:prstClr val="black"/>
              <a:schemeClr val="tx2">
                <a:tint val="45000"/>
                <a:satMod val="400000"/>
              </a:schemeClr>
            </a:duotone>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 xmlns:a14="http://schemas.microsoft.com/office/drawing/2010/main">
                <a:solidFill>
                  <a:srgbClr val="FFFFFF"/>
                </a:solidFill>
              </a14:hiddenFill>
            </a:ext>
          </a:extLst>
        </p:spPr>
      </p:pic>
      <p:grpSp>
        <p:nvGrpSpPr>
          <p:cNvPr id="11" name="Group 10"/>
          <p:cNvGrpSpPr/>
          <p:nvPr/>
        </p:nvGrpSpPr>
        <p:grpSpPr>
          <a:xfrm>
            <a:off x="0" y="0"/>
            <a:ext cx="2305051" cy="6858001"/>
            <a:chOff x="0" y="0"/>
            <a:chExt cx="2305051" cy="6858001"/>
          </a:xfrm>
          <a:gradFill flip="none" rotWithShape="1">
            <a:gsLst>
              <a:gs pos="0">
                <a:schemeClr val="tx2"/>
              </a:gs>
              <a:gs pos="100000">
                <a:schemeClr val="tx2">
                  <a:lumMod val="50000"/>
                </a:schemeClr>
              </a:gs>
            </a:gsLst>
            <a:lin ang="5400000" scaled="0"/>
            <a:tileRect/>
          </a:gradFill>
        </p:grpSpPr>
        <p:sp>
          <p:nvSpPr>
            <p:cNvPr id="12" name="Rectangle 5"/>
            <p:cNvSpPr>
              <a:spLocks noChangeArrowheads="1"/>
            </p:cNvSpPr>
            <p:nvPr/>
          </p:nvSpPr>
          <p:spPr bwMode="auto">
            <a:xfrm>
              <a:off x="1209675" y="4763"/>
              <a:ext cx="23813" cy="2181225"/>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sp>
          <p:nvSpPr>
            <p:cNvPr id="13" name="Freeform 6"/>
            <p:cNvSpPr>
              <a:spLocks noEditPoints="1"/>
            </p:cNvSpPr>
            <p:nvPr/>
          </p:nvSpPr>
          <p:spPr bwMode="auto">
            <a:xfrm>
              <a:off x="1128713"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4" name="Freeform 7"/>
            <p:cNvSpPr>
              <a:spLocks noEditPoints="1"/>
            </p:cNvSpPr>
            <p:nvPr/>
          </p:nvSpPr>
          <p:spPr bwMode="auto">
            <a:xfrm>
              <a:off x="1123950"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5" name="Rectangle 8"/>
            <p:cNvSpPr>
              <a:spLocks noChangeArrowheads="1"/>
            </p:cNvSpPr>
            <p:nvPr/>
          </p:nvSpPr>
          <p:spPr bwMode="auto">
            <a:xfrm>
              <a:off x="414338" y="9525"/>
              <a:ext cx="28575" cy="4481513"/>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sp>
          <p:nvSpPr>
            <p:cNvPr id="16" name="Freeform 9"/>
            <p:cNvSpPr>
              <a:spLocks noEditPoints="1"/>
            </p:cNvSpPr>
            <p:nvPr/>
          </p:nvSpPr>
          <p:spPr bwMode="auto">
            <a:xfrm>
              <a:off x="333375"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7" name="Freeform 10"/>
            <p:cNvSpPr/>
            <p:nvPr/>
          </p:nvSpPr>
          <p:spPr bwMode="auto">
            <a:xfrm>
              <a:off x="190500" y="9525"/>
              <a:ext cx="152400" cy="908050"/>
            </a:xfrm>
            <a:custGeom>
              <a:avLst/>
              <a:gdLst/>
              <a:ahLst/>
              <a:cxnLst/>
              <a:rect l="0" t="0" r="r" b="b"/>
              <a:pathLst>
                <a:path w="96" h="572">
                  <a:moveTo>
                    <a:pt x="15" y="572"/>
                  </a:moveTo>
                  <a:lnTo>
                    <a:pt x="0" y="566"/>
                  </a:lnTo>
                  <a:lnTo>
                    <a:pt x="81" y="380"/>
                  </a:lnTo>
                  <a:lnTo>
                    <a:pt x="81" y="0"/>
                  </a:lnTo>
                  <a:lnTo>
                    <a:pt x="96" y="0"/>
                  </a:lnTo>
                  <a:lnTo>
                    <a:pt x="96" y="383"/>
                  </a:lnTo>
                  <a:lnTo>
                    <a:pt x="15" y="57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8" name="Freeform 11"/>
            <p:cNvSpPr/>
            <p:nvPr/>
          </p:nvSpPr>
          <p:spPr bwMode="auto">
            <a:xfrm>
              <a:off x="1290638" y="14288"/>
              <a:ext cx="376238" cy="1801813"/>
            </a:xfrm>
            <a:custGeom>
              <a:avLst/>
              <a:gdLst/>
              <a:ahLst/>
              <a:cxnLst/>
              <a:rect l="0" t="0" r="r" b="b"/>
              <a:pathLst>
                <a:path w="237" h="1135">
                  <a:moveTo>
                    <a:pt x="222" y="1135"/>
                  </a:moveTo>
                  <a:lnTo>
                    <a:pt x="0" y="620"/>
                  </a:lnTo>
                  <a:lnTo>
                    <a:pt x="0" y="0"/>
                  </a:lnTo>
                  <a:lnTo>
                    <a:pt x="18" y="0"/>
                  </a:lnTo>
                  <a:lnTo>
                    <a:pt x="18" y="617"/>
                  </a:lnTo>
                  <a:lnTo>
                    <a:pt x="237" y="1129"/>
                  </a:lnTo>
                  <a:lnTo>
                    <a:pt x="222" y="113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9" name="Freeform 12"/>
            <p:cNvSpPr>
              <a:spLocks noEditPoints="1"/>
            </p:cNvSpPr>
            <p:nvPr/>
          </p:nvSpPr>
          <p:spPr bwMode="auto">
            <a:xfrm>
              <a:off x="1600200" y="180181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0" name="Freeform 13"/>
            <p:cNvSpPr/>
            <p:nvPr/>
          </p:nvSpPr>
          <p:spPr bwMode="auto">
            <a:xfrm>
              <a:off x="1381125" y="9525"/>
              <a:ext cx="371475" cy="1425575"/>
            </a:xfrm>
            <a:custGeom>
              <a:avLst/>
              <a:gdLst/>
              <a:ahLst/>
              <a:cxnLst/>
              <a:rect l="0" t="0" r="r" b="b"/>
              <a:pathLst>
                <a:path w="234" h="898">
                  <a:moveTo>
                    <a:pt x="219" y="898"/>
                  </a:moveTo>
                  <a:lnTo>
                    <a:pt x="0" y="383"/>
                  </a:lnTo>
                  <a:lnTo>
                    <a:pt x="0" y="0"/>
                  </a:lnTo>
                  <a:lnTo>
                    <a:pt x="15" y="0"/>
                  </a:lnTo>
                  <a:lnTo>
                    <a:pt x="15" y="380"/>
                  </a:lnTo>
                  <a:lnTo>
                    <a:pt x="234" y="892"/>
                  </a:lnTo>
                  <a:lnTo>
                    <a:pt x="219" y="898"/>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1" name="Freeform 14"/>
            <p:cNvSpPr/>
            <p:nvPr/>
          </p:nvSpPr>
          <p:spPr bwMode="auto">
            <a:xfrm>
              <a:off x="1643063"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2" name="Freeform 15"/>
            <p:cNvSpPr>
              <a:spLocks noEditPoints="1"/>
            </p:cNvSpPr>
            <p:nvPr/>
          </p:nvSpPr>
          <p:spPr bwMode="auto">
            <a:xfrm>
              <a:off x="1685925" y="14208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3" name="Freeform 16"/>
            <p:cNvSpPr>
              <a:spLocks noEditPoints="1"/>
            </p:cNvSpPr>
            <p:nvPr/>
          </p:nvSpPr>
          <p:spPr bwMode="auto">
            <a:xfrm>
              <a:off x="168592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4" name="Freeform 17"/>
            <p:cNvSpPr/>
            <p:nvPr/>
          </p:nvSpPr>
          <p:spPr bwMode="auto">
            <a:xfrm>
              <a:off x="1743075" y="4763"/>
              <a:ext cx="419100" cy="522288"/>
            </a:xfrm>
            <a:custGeom>
              <a:avLst/>
              <a:gdLst/>
              <a:ahLst/>
              <a:cxnLst/>
              <a:rect l="0" t="0" r="r" b="b"/>
              <a:pathLst>
                <a:path w="264" h="329">
                  <a:moveTo>
                    <a:pt x="252" y="329"/>
                  </a:moveTo>
                  <a:lnTo>
                    <a:pt x="45" y="120"/>
                  </a:lnTo>
                  <a:lnTo>
                    <a:pt x="0" y="6"/>
                  </a:lnTo>
                  <a:lnTo>
                    <a:pt x="15" y="0"/>
                  </a:lnTo>
                  <a:lnTo>
                    <a:pt x="60" y="111"/>
                  </a:lnTo>
                  <a:lnTo>
                    <a:pt x="264" y="317"/>
                  </a:lnTo>
                  <a:lnTo>
                    <a:pt x="252" y="329"/>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5" name="Freeform 18"/>
            <p:cNvSpPr>
              <a:spLocks noEditPoints="1"/>
            </p:cNvSpPr>
            <p:nvPr/>
          </p:nvSpPr>
          <p:spPr bwMode="auto">
            <a:xfrm>
              <a:off x="2119313"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6" name="Freeform 19"/>
            <p:cNvSpPr/>
            <p:nvPr/>
          </p:nvSpPr>
          <p:spPr bwMode="auto">
            <a:xfrm>
              <a:off x="952500" y="4763"/>
              <a:ext cx="152400" cy="908050"/>
            </a:xfrm>
            <a:custGeom>
              <a:avLst/>
              <a:gdLst/>
              <a:ahLst/>
              <a:cxnLst/>
              <a:rect l="0" t="0" r="r" b="b"/>
              <a:pathLst>
                <a:path w="96" h="572">
                  <a:moveTo>
                    <a:pt x="15" y="572"/>
                  </a:moveTo>
                  <a:lnTo>
                    <a:pt x="0" y="572"/>
                  </a:lnTo>
                  <a:lnTo>
                    <a:pt x="0" y="189"/>
                  </a:lnTo>
                  <a:lnTo>
                    <a:pt x="81" y="0"/>
                  </a:lnTo>
                  <a:lnTo>
                    <a:pt x="96" y="6"/>
                  </a:lnTo>
                  <a:lnTo>
                    <a:pt x="15" y="192"/>
                  </a:lnTo>
                  <a:lnTo>
                    <a:pt x="15" y="57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7" name="Freeform 20"/>
            <p:cNvSpPr>
              <a:spLocks noEditPoints="1"/>
            </p:cNvSpPr>
            <p:nvPr/>
          </p:nvSpPr>
          <p:spPr bwMode="auto">
            <a:xfrm>
              <a:off x="86677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2"/>
                    <a:pt x="4" y="20"/>
                  </a:cubicBezTo>
                  <a:cubicBezTo>
                    <a:pt x="4" y="29"/>
                    <a:pt x="11" y="36"/>
                    <a:pt x="20" y="36"/>
                  </a:cubicBezTo>
                  <a:cubicBezTo>
                    <a:pt x="29" y="36"/>
                    <a:pt x="36" y="29"/>
                    <a:pt x="36" y="20"/>
                  </a:cubicBezTo>
                  <a:cubicBezTo>
                    <a:pt x="36" y="12"/>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8" name="Freeform 21"/>
            <p:cNvSpPr>
              <a:spLocks noEditPoints="1"/>
            </p:cNvSpPr>
            <p:nvPr/>
          </p:nvSpPr>
          <p:spPr bwMode="auto">
            <a:xfrm>
              <a:off x="890588" y="15541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9" name="Freeform 22"/>
            <p:cNvSpPr/>
            <p:nvPr/>
          </p:nvSpPr>
          <p:spPr bwMode="auto">
            <a:xfrm>
              <a:off x="738188" y="5622925"/>
              <a:ext cx="338138" cy="1216025"/>
            </a:xfrm>
            <a:custGeom>
              <a:avLst/>
              <a:gdLst/>
              <a:ahLst/>
              <a:cxnLst/>
              <a:rect l="0" t="0" r="r" b="b"/>
              <a:pathLst>
                <a:path w="213" h="766">
                  <a:moveTo>
                    <a:pt x="213" y="766"/>
                  </a:moveTo>
                  <a:lnTo>
                    <a:pt x="195" y="766"/>
                  </a:lnTo>
                  <a:lnTo>
                    <a:pt x="195" y="464"/>
                  </a:lnTo>
                  <a:lnTo>
                    <a:pt x="0" y="6"/>
                  </a:lnTo>
                  <a:lnTo>
                    <a:pt x="12" y="0"/>
                  </a:lnTo>
                  <a:lnTo>
                    <a:pt x="213" y="461"/>
                  </a:lnTo>
                  <a:lnTo>
                    <a:pt x="213" y="76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0" name="Freeform 23"/>
            <p:cNvSpPr>
              <a:spLocks noEditPoints="1"/>
            </p:cNvSpPr>
            <p:nvPr/>
          </p:nvSpPr>
          <p:spPr bwMode="auto">
            <a:xfrm>
              <a:off x="647700" y="5480050"/>
              <a:ext cx="157163" cy="157163"/>
            </a:xfrm>
            <a:custGeom>
              <a:avLst/>
              <a:gdLst/>
              <a:ahLst/>
              <a:cxnLst/>
              <a:rect l="0" t="0" r="r" b="b"/>
              <a:pathLst>
                <a:path w="33" h="33">
                  <a:moveTo>
                    <a:pt x="17" y="33"/>
                  </a:moveTo>
                  <a:cubicBezTo>
                    <a:pt x="8" y="33"/>
                    <a:pt x="0" y="26"/>
                    <a:pt x="0" y="17"/>
                  </a:cubicBezTo>
                  <a:cubicBezTo>
                    <a:pt x="0" y="8"/>
                    <a:pt x="8" y="0"/>
                    <a:pt x="17" y="0"/>
                  </a:cubicBezTo>
                  <a:cubicBezTo>
                    <a:pt x="26" y="0"/>
                    <a:pt x="33" y="8"/>
                    <a:pt x="33" y="17"/>
                  </a:cubicBezTo>
                  <a:cubicBezTo>
                    <a:pt x="33" y="26"/>
                    <a:pt x="26" y="33"/>
                    <a:pt x="17" y="33"/>
                  </a:cubicBezTo>
                  <a:close/>
                  <a:moveTo>
                    <a:pt x="17" y="4"/>
                  </a:moveTo>
                  <a:cubicBezTo>
                    <a:pt x="10" y="4"/>
                    <a:pt x="4" y="10"/>
                    <a:pt x="4" y="17"/>
                  </a:cubicBezTo>
                  <a:cubicBezTo>
                    <a:pt x="4" y="24"/>
                    <a:pt x="10" y="29"/>
                    <a:pt x="17" y="29"/>
                  </a:cubicBezTo>
                  <a:cubicBezTo>
                    <a:pt x="23" y="29"/>
                    <a:pt x="29" y="24"/>
                    <a:pt x="29" y="17"/>
                  </a:cubicBezTo>
                  <a:cubicBezTo>
                    <a:pt x="29" y="10"/>
                    <a:pt x="23"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1" name="Freeform 24"/>
            <p:cNvSpPr>
              <a:spLocks noEditPoints="1"/>
            </p:cNvSpPr>
            <p:nvPr/>
          </p:nvSpPr>
          <p:spPr bwMode="auto">
            <a:xfrm>
              <a:off x="66675" y="903288"/>
              <a:ext cx="190500" cy="190500"/>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2"/>
                    <a:pt x="4" y="20"/>
                  </a:cubicBezTo>
                  <a:cubicBezTo>
                    <a:pt x="4" y="29"/>
                    <a:pt x="12" y="36"/>
                    <a:pt x="20" y="36"/>
                  </a:cubicBezTo>
                  <a:cubicBezTo>
                    <a:pt x="29" y="36"/>
                    <a:pt x="36" y="29"/>
                    <a:pt x="36" y="20"/>
                  </a:cubicBezTo>
                  <a:cubicBezTo>
                    <a:pt x="36" y="12"/>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2" name="Freeform 25"/>
            <p:cNvSpPr/>
            <p:nvPr/>
          </p:nvSpPr>
          <p:spPr bwMode="auto">
            <a:xfrm>
              <a:off x="0" y="3897313"/>
              <a:ext cx="133350" cy="266700"/>
            </a:xfrm>
            <a:custGeom>
              <a:avLst/>
              <a:gdLst/>
              <a:ahLst/>
              <a:cxnLst/>
              <a:rect l="0" t="0" r="r" b="b"/>
              <a:pathLst>
                <a:path w="84" h="168">
                  <a:moveTo>
                    <a:pt x="69" y="168"/>
                  </a:moveTo>
                  <a:lnTo>
                    <a:pt x="0" y="6"/>
                  </a:lnTo>
                  <a:lnTo>
                    <a:pt x="12" y="0"/>
                  </a:lnTo>
                  <a:lnTo>
                    <a:pt x="84" y="162"/>
                  </a:lnTo>
                  <a:lnTo>
                    <a:pt x="69" y="168"/>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3" name="Freeform 26"/>
            <p:cNvSpPr>
              <a:spLocks noEditPoints="1"/>
            </p:cNvSpPr>
            <p:nvPr/>
          </p:nvSpPr>
          <p:spPr bwMode="auto">
            <a:xfrm>
              <a:off x="66675" y="414972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4" name="Freeform 27"/>
            <p:cNvSpPr/>
            <p:nvPr/>
          </p:nvSpPr>
          <p:spPr bwMode="auto">
            <a:xfrm>
              <a:off x="0" y="1644650"/>
              <a:ext cx="133350" cy="269875"/>
            </a:xfrm>
            <a:custGeom>
              <a:avLst/>
              <a:gdLst/>
              <a:ahLst/>
              <a:cxnLst/>
              <a:rect l="0" t="0" r="r" b="b"/>
              <a:pathLst>
                <a:path w="84" h="170">
                  <a:moveTo>
                    <a:pt x="12" y="170"/>
                  </a:moveTo>
                  <a:lnTo>
                    <a:pt x="0" y="164"/>
                  </a:lnTo>
                  <a:lnTo>
                    <a:pt x="69" y="0"/>
                  </a:lnTo>
                  <a:lnTo>
                    <a:pt x="84" y="6"/>
                  </a:lnTo>
                  <a:lnTo>
                    <a:pt x="12" y="17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5" name="Freeform 28"/>
            <p:cNvSpPr>
              <a:spLocks noEditPoints="1"/>
            </p:cNvSpPr>
            <p:nvPr/>
          </p:nvSpPr>
          <p:spPr bwMode="auto">
            <a:xfrm>
              <a:off x="66675" y="146843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6" name="Freeform 29"/>
            <p:cNvSpPr/>
            <p:nvPr/>
          </p:nvSpPr>
          <p:spPr bwMode="auto">
            <a:xfrm>
              <a:off x="695325" y="4763"/>
              <a:ext cx="309563" cy="1558925"/>
            </a:xfrm>
            <a:custGeom>
              <a:avLst/>
              <a:gdLst/>
              <a:ahLst/>
              <a:cxnLst/>
              <a:rect l="0" t="0" r="r" b="b"/>
              <a:pathLst>
                <a:path w="195" h="982">
                  <a:moveTo>
                    <a:pt x="195" y="982"/>
                  </a:moveTo>
                  <a:lnTo>
                    <a:pt x="177" y="982"/>
                  </a:lnTo>
                  <a:lnTo>
                    <a:pt x="177" y="805"/>
                  </a:lnTo>
                  <a:lnTo>
                    <a:pt x="0" y="629"/>
                  </a:lnTo>
                  <a:lnTo>
                    <a:pt x="0" y="0"/>
                  </a:lnTo>
                  <a:lnTo>
                    <a:pt x="18" y="0"/>
                  </a:lnTo>
                  <a:lnTo>
                    <a:pt x="18" y="623"/>
                  </a:lnTo>
                  <a:lnTo>
                    <a:pt x="195" y="796"/>
                  </a:lnTo>
                  <a:lnTo>
                    <a:pt x="195" y="98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7" name="Freeform 30"/>
            <p:cNvSpPr>
              <a:spLocks noEditPoints="1"/>
            </p:cNvSpPr>
            <p:nvPr/>
          </p:nvSpPr>
          <p:spPr bwMode="auto">
            <a:xfrm>
              <a:off x="57150" y="48815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8" name="Freeform 31"/>
            <p:cNvSpPr/>
            <p:nvPr/>
          </p:nvSpPr>
          <p:spPr bwMode="auto">
            <a:xfrm>
              <a:off x="138113" y="5060950"/>
              <a:ext cx="304800" cy="1778000"/>
            </a:xfrm>
            <a:custGeom>
              <a:avLst/>
              <a:gdLst/>
              <a:ahLst/>
              <a:cxnLst/>
              <a:rect l="0" t="0" r="r" b="b"/>
              <a:pathLst>
                <a:path w="192" h="1120">
                  <a:moveTo>
                    <a:pt x="192" y="1120"/>
                  </a:moveTo>
                  <a:lnTo>
                    <a:pt x="177" y="1120"/>
                  </a:lnTo>
                  <a:lnTo>
                    <a:pt x="177" y="360"/>
                  </a:lnTo>
                  <a:lnTo>
                    <a:pt x="0" y="183"/>
                  </a:lnTo>
                  <a:lnTo>
                    <a:pt x="0" y="0"/>
                  </a:lnTo>
                  <a:lnTo>
                    <a:pt x="15" y="0"/>
                  </a:lnTo>
                  <a:lnTo>
                    <a:pt x="15" y="177"/>
                  </a:lnTo>
                  <a:lnTo>
                    <a:pt x="192" y="354"/>
                  </a:lnTo>
                  <a:lnTo>
                    <a:pt x="192" y="112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9" name="Freeform 32"/>
            <p:cNvSpPr>
              <a:spLocks noEditPoints="1"/>
            </p:cNvSpPr>
            <p:nvPr/>
          </p:nvSpPr>
          <p:spPr bwMode="auto">
            <a:xfrm>
              <a:off x="561975" y="64309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0" name="Rectangle 33"/>
            <p:cNvSpPr>
              <a:spLocks noChangeArrowheads="1"/>
            </p:cNvSpPr>
            <p:nvPr/>
          </p:nvSpPr>
          <p:spPr bwMode="auto">
            <a:xfrm>
              <a:off x="642938" y="6610350"/>
              <a:ext cx="23813" cy="242888"/>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sp>
          <p:nvSpPr>
            <p:cNvPr id="41" name="Freeform 34"/>
            <p:cNvSpPr>
              <a:spLocks noEditPoints="1"/>
            </p:cNvSpPr>
            <p:nvPr/>
          </p:nvSpPr>
          <p:spPr bwMode="auto">
            <a:xfrm>
              <a:off x="76200" y="6430963"/>
              <a:ext cx="190500" cy="188913"/>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2" name="Freeform 35"/>
            <p:cNvSpPr/>
            <p:nvPr/>
          </p:nvSpPr>
          <p:spPr bwMode="auto">
            <a:xfrm>
              <a:off x="0" y="5978525"/>
              <a:ext cx="190500" cy="461963"/>
            </a:xfrm>
            <a:custGeom>
              <a:avLst/>
              <a:gdLst/>
              <a:ahLst/>
              <a:cxnLst/>
              <a:rect l="0" t="0" r="r" b="b"/>
              <a:pathLst>
                <a:path w="120" h="291">
                  <a:moveTo>
                    <a:pt x="120" y="291"/>
                  </a:moveTo>
                  <a:lnTo>
                    <a:pt x="105" y="291"/>
                  </a:lnTo>
                  <a:lnTo>
                    <a:pt x="105" y="114"/>
                  </a:lnTo>
                  <a:lnTo>
                    <a:pt x="0" y="9"/>
                  </a:lnTo>
                  <a:lnTo>
                    <a:pt x="12" y="0"/>
                  </a:lnTo>
                  <a:lnTo>
                    <a:pt x="120" y="108"/>
                  </a:lnTo>
                  <a:lnTo>
                    <a:pt x="120" y="291"/>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3" name="Freeform 36"/>
            <p:cNvSpPr/>
            <p:nvPr/>
          </p:nvSpPr>
          <p:spPr bwMode="auto">
            <a:xfrm>
              <a:off x="1014413" y="1801813"/>
              <a:ext cx="214313" cy="755650"/>
            </a:xfrm>
            <a:custGeom>
              <a:avLst/>
              <a:gdLst/>
              <a:ahLst/>
              <a:cxnLst/>
              <a:rect l="0" t="0" r="r" b="b"/>
              <a:pathLst>
                <a:path w="135" h="476">
                  <a:moveTo>
                    <a:pt x="12" y="476"/>
                  </a:moveTo>
                  <a:lnTo>
                    <a:pt x="0" y="476"/>
                  </a:lnTo>
                  <a:lnTo>
                    <a:pt x="0" y="128"/>
                  </a:lnTo>
                  <a:lnTo>
                    <a:pt x="126" y="0"/>
                  </a:lnTo>
                  <a:lnTo>
                    <a:pt x="135" y="9"/>
                  </a:lnTo>
                  <a:lnTo>
                    <a:pt x="12" y="131"/>
                  </a:lnTo>
                  <a:lnTo>
                    <a:pt x="12" y="47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4" name="Freeform 37"/>
            <p:cNvSpPr>
              <a:spLocks noEditPoints="1"/>
            </p:cNvSpPr>
            <p:nvPr/>
          </p:nvSpPr>
          <p:spPr bwMode="auto">
            <a:xfrm>
              <a:off x="938213" y="2547938"/>
              <a:ext cx="166688" cy="160338"/>
            </a:xfrm>
            <a:custGeom>
              <a:avLst/>
              <a:gdLst/>
              <a:ahLst/>
              <a:cxnLst/>
              <a:rect l="0" t="0" r="r" b="b"/>
              <a:pathLst>
                <a:path w="35" h="34">
                  <a:moveTo>
                    <a:pt x="18" y="34"/>
                  </a:moveTo>
                  <a:cubicBezTo>
                    <a:pt x="8" y="34"/>
                    <a:pt x="0" y="26"/>
                    <a:pt x="0" y="17"/>
                  </a:cubicBezTo>
                  <a:cubicBezTo>
                    <a:pt x="0" y="7"/>
                    <a:pt x="8" y="0"/>
                    <a:pt x="18" y="0"/>
                  </a:cubicBezTo>
                  <a:cubicBezTo>
                    <a:pt x="27" y="0"/>
                    <a:pt x="35" y="7"/>
                    <a:pt x="35" y="17"/>
                  </a:cubicBezTo>
                  <a:cubicBezTo>
                    <a:pt x="35" y="26"/>
                    <a:pt x="27" y="34"/>
                    <a:pt x="18" y="34"/>
                  </a:cubicBezTo>
                  <a:close/>
                  <a:moveTo>
                    <a:pt x="18" y="4"/>
                  </a:moveTo>
                  <a:cubicBezTo>
                    <a:pt x="10" y="4"/>
                    <a:pt x="4" y="10"/>
                    <a:pt x="4" y="17"/>
                  </a:cubicBezTo>
                  <a:cubicBezTo>
                    <a:pt x="4" y="24"/>
                    <a:pt x="10" y="30"/>
                    <a:pt x="18" y="30"/>
                  </a:cubicBezTo>
                  <a:cubicBezTo>
                    <a:pt x="25" y="30"/>
                    <a:pt x="31" y="24"/>
                    <a:pt x="31" y="17"/>
                  </a:cubicBezTo>
                  <a:cubicBezTo>
                    <a:pt x="31" y="10"/>
                    <a:pt x="25" y="4"/>
                    <a:pt x="18"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5" name="Freeform 38"/>
            <p:cNvSpPr/>
            <p:nvPr/>
          </p:nvSpPr>
          <p:spPr bwMode="auto">
            <a:xfrm>
              <a:off x="595313" y="4763"/>
              <a:ext cx="638175" cy="4025900"/>
            </a:xfrm>
            <a:custGeom>
              <a:avLst/>
              <a:gdLst/>
              <a:ahLst/>
              <a:cxnLst/>
              <a:rect l="0" t="0" r="r" b="b"/>
              <a:pathLst>
                <a:path w="402" h="2536">
                  <a:moveTo>
                    <a:pt x="402" y="2536"/>
                  </a:moveTo>
                  <a:lnTo>
                    <a:pt x="387" y="2536"/>
                  </a:lnTo>
                  <a:lnTo>
                    <a:pt x="387" y="2311"/>
                  </a:lnTo>
                  <a:lnTo>
                    <a:pt x="0" y="1925"/>
                  </a:lnTo>
                  <a:lnTo>
                    <a:pt x="0" y="0"/>
                  </a:lnTo>
                  <a:lnTo>
                    <a:pt x="15" y="0"/>
                  </a:lnTo>
                  <a:lnTo>
                    <a:pt x="15" y="1916"/>
                  </a:lnTo>
                  <a:lnTo>
                    <a:pt x="402" y="2302"/>
                  </a:lnTo>
                  <a:lnTo>
                    <a:pt x="402" y="253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6" name="Freeform 39"/>
            <p:cNvSpPr/>
            <p:nvPr/>
          </p:nvSpPr>
          <p:spPr bwMode="auto">
            <a:xfrm>
              <a:off x="1223963"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7" name="Freeform 40"/>
            <p:cNvSpPr>
              <a:spLocks noEditPoints="1"/>
            </p:cNvSpPr>
            <p:nvPr/>
          </p:nvSpPr>
          <p:spPr bwMode="auto">
            <a:xfrm>
              <a:off x="1300163" y="1849438"/>
              <a:ext cx="109538" cy="107950"/>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8" name="Freeform 41"/>
            <p:cNvSpPr/>
            <p:nvPr/>
          </p:nvSpPr>
          <p:spPr bwMode="auto">
            <a:xfrm>
              <a:off x="280988" y="3417888"/>
              <a:ext cx="142875" cy="474663"/>
            </a:xfrm>
            <a:custGeom>
              <a:avLst/>
              <a:gdLst/>
              <a:ahLst/>
              <a:cxnLst/>
              <a:rect l="0" t="0" r="r" b="b"/>
              <a:pathLst>
                <a:path w="90" h="299">
                  <a:moveTo>
                    <a:pt x="12" y="299"/>
                  </a:moveTo>
                  <a:lnTo>
                    <a:pt x="0" y="299"/>
                  </a:lnTo>
                  <a:lnTo>
                    <a:pt x="0" y="80"/>
                  </a:lnTo>
                  <a:lnTo>
                    <a:pt x="81" y="0"/>
                  </a:lnTo>
                  <a:lnTo>
                    <a:pt x="90" y="8"/>
                  </a:lnTo>
                  <a:lnTo>
                    <a:pt x="12" y="83"/>
                  </a:lnTo>
                  <a:lnTo>
                    <a:pt x="12" y="299"/>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9" name="Freeform 42"/>
            <p:cNvSpPr>
              <a:spLocks noEditPoints="1"/>
            </p:cNvSpPr>
            <p:nvPr/>
          </p:nvSpPr>
          <p:spPr bwMode="auto">
            <a:xfrm>
              <a:off x="238125" y="3883025"/>
              <a:ext cx="109538" cy="109538"/>
            </a:xfrm>
            <a:custGeom>
              <a:avLst/>
              <a:gdLst/>
              <a:ahLst/>
              <a:cxnLst/>
              <a:rect l="0" t="0" r="r" b="b"/>
              <a:pathLst>
                <a:path w="23" h="23">
                  <a:moveTo>
                    <a:pt x="11" y="23"/>
                  </a:moveTo>
                  <a:cubicBezTo>
                    <a:pt x="5" y="23"/>
                    <a:pt x="0" y="18"/>
                    <a:pt x="0" y="12"/>
                  </a:cubicBezTo>
                  <a:cubicBezTo>
                    <a:pt x="0" y="5"/>
                    <a:pt x="5" y="0"/>
                    <a:pt x="11" y="0"/>
                  </a:cubicBezTo>
                  <a:cubicBezTo>
                    <a:pt x="17" y="0"/>
                    <a:pt x="23" y="5"/>
                    <a:pt x="23" y="12"/>
                  </a:cubicBezTo>
                  <a:cubicBezTo>
                    <a:pt x="23" y="18"/>
                    <a:pt x="17" y="23"/>
                    <a:pt x="11" y="23"/>
                  </a:cubicBezTo>
                  <a:close/>
                  <a:moveTo>
                    <a:pt x="11" y="4"/>
                  </a:moveTo>
                  <a:cubicBezTo>
                    <a:pt x="7" y="4"/>
                    <a:pt x="4" y="8"/>
                    <a:pt x="4" y="12"/>
                  </a:cubicBezTo>
                  <a:cubicBezTo>
                    <a:pt x="4" y="16"/>
                    <a:pt x="7" y="19"/>
                    <a:pt x="11" y="19"/>
                  </a:cubicBezTo>
                  <a:cubicBezTo>
                    <a:pt x="15" y="19"/>
                    <a:pt x="19" y="16"/>
                    <a:pt x="19" y="12"/>
                  </a:cubicBezTo>
                  <a:cubicBezTo>
                    <a:pt x="19" y="8"/>
                    <a:pt x="15" y="4"/>
                    <a:pt x="11"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0" name="Freeform 43"/>
            <p:cNvSpPr/>
            <p:nvPr/>
          </p:nvSpPr>
          <p:spPr bwMode="auto">
            <a:xfrm>
              <a:off x="4763" y="2166938"/>
              <a:ext cx="114300" cy="452438"/>
            </a:xfrm>
            <a:custGeom>
              <a:avLst/>
              <a:gdLst/>
              <a:ahLst/>
              <a:cxnLst/>
              <a:rect l="0" t="0" r="r" b="b"/>
              <a:pathLst>
                <a:path w="72" h="285">
                  <a:moveTo>
                    <a:pt x="6" y="285"/>
                  </a:moveTo>
                  <a:lnTo>
                    <a:pt x="0" y="276"/>
                  </a:lnTo>
                  <a:lnTo>
                    <a:pt x="60" y="216"/>
                  </a:lnTo>
                  <a:lnTo>
                    <a:pt x="60" y="0"/>
                  </a:lnTo>
                  <a:lnTo>
                    <a:pt x="72" y="0"/>
                  </a:lnTo>
                  <a:lnTo>
                    <a:pt x="72" y="222"/>
                  </a:lnTo>
                  <a:lnTo>
                    <a:pt x="6" y="28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1" name="Freeform 44"/>
            <p:cNvSpPr>
              <a:spLocks noEditPoints="1"/>
            </p:cNvSpPr>
            <p:nvPr/>
          </p:nvSpPr>
          <p:spPr bwMode="auto">
            <a:xfrm>
              <a:off x="52388" y="2066925"/>
              <a:ext cx="109538" cy="109538"/>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2" name="Rectangle 45"/>
            <p:cNvSpPr>
              <a:spLocks noChangeArrowheads="1"/>
            </p:cNvSpPr>
            <p:nvPr/>
          </p:nvSpPr>
          <p:spPr bwMode="auto">
            <a:xfrm>
              <a:off x="1228725" y="4662488"/>
              <a:ext cx="23813" cy="2181225"/>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sp>
          <p:nvSpPr>
            <p:cNvPr id="53" name="Freeform 46"/>
            <p:cNvSpPr/>
            <p:nvPr/>
          </p:nvSpPr>
          <p:spPr bwMode="auto">
            <a:xfrm>
              <a:off x="1319213" y="5041900"/>
              <a:ext cx="371475" cy="1801813"/>
            </a:xfrm>
            <a:custGeom>
              <a:avLst/>
              <a:gdLst/>
              <a:ahLst/>
              <a:cxnLst/>
              <a:rect l="0" t="0" r="r" b="b"/>
              <a:pathLst>
                <a:path w="234" h="1135">
                  <a:moveTo>
                    <a:pt x="15" y="1135"/>
                  </a:moveTo>
                  <a:lnTo>
                    <a:pt x="0" y="1135"/>
                  </a:lnTo>
                  <a:lnTo>
                    <a:pt x="0" y="515"/>
                  </a:lnTo>
                  <a:lnTo>
                    <a:pt x="0" y="512"/>
                  </a:lnTo>
                  <a:lnTo>
                    <a:pt x="219" y="0"/>
                  </a:lnTo>
                  <a:lnTo>
                    <a:pt x="234" y="6"/>
                  </a:lnTo>
                  <a:lnTo>
                    <a:pt x="15" y="518"/>
                  </a:lnTo>
                  <a:lnTo>
                    <a:pt x="15" y="113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4" name="Freeform 47"/>
            <p:cNvSpPr>
              <a:spLocks noEditPoints="1"/>
            </p:cNvSpPr>
            <p:nvPr/>
          </p:nvSpPr>
          <p:spPr bwMode="auto">
            <a:xfrm>
              <a:off x="1147763"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5" name="Freeform 48"/>
            <p:cNvSpPr/>
            <p:nvPr/>
          </p:nvSpPr>
          <p:spPr bwMode="auto">
            <a:xfrm>
              <a:off x="819150" y="3983038"/>
              <a:ext cx="347663" cy="2860675"/>
            </a:xfrm>
            <a:custGeom>
              <a:avLst/>
              <a:gdLst/>
              <a:ahLst/>
              <a:cxnLst/>
              <a:rect l="0" t="0" r="r" b="b"/>
              <a:pathLst>
                <a:path w="219" h="1802">
                  <a:moveTo>
                    <a:pt x="219" y="1802"/>
                  </a:moveTo>
                  <a:lnTo>
                    <a:pt x="201" y="1802"/>
                  </a:lnTo>
                  <a:lnTo>
                    <a:pt x="201" y="1185"/>
                  </a:lnTo>
                  <a:lnTo>
                    <a:pt x="0" y="3"/>
                  </a:lnTo>
                  <a:lnTo>
                    <a:pt x="15" y="0"/>
                  </a:lnTo>
                  <a:lnTo>
                    <a:pt x="219" y="1185"/>
                  </a:lnTo>
                  <a:lnTo>
                    <a:pt x="219" y="180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6" name="Freeform 49"/>
            <p:cNvSpPr>
              <a:spLocks noEditPoints="1"/>
            </p:cNvSpPr>
            <p:nvPr/>
          </p:nvSpPr>
          <p:spPr bwMode="auto">
            <a:xfrm>
              <a:off x="728663" y="3806825"/>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7" name="Freeform 50"/>
            <p:cNvSpPr>
              <a:spLocks noEditPoints="1"/>
            </p:cNvSpPr>
            <p:nvPr/>
          </p:nvSpPr>
          <p:spPr bwMode="auto">
            <a:xfrm>
              <a:off x="1624013"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8" name="Freeform 51"/>
            <p:cNvSpPr/>
            <p:nvPr/>
          </p:nvSpPr>
          <p:spPr bwMode="auto">
            <a:xfrm>
              <a:off x="1404938" y="5422900"/>
              <a:ext cx="371475" cy="1425575"/>
            </a:xfrm>
            <a:custGeom>
              <a:avLst/>
              <a:gdLst/>
              <a:ahLst/>
              <a:cxnLst/>
              <a:rect l="0" t="0" r="r" b="b"/>
              <a:pathLst>
                <a:path w="234" h="898">
                  <a:moveTo>
                    <a:pt x="18" y="898"/>
                  </a:moveTo>
                  <a:lnTo>
                    <a:pt x="0" y="898"/>
                  </a:lnTo>
                  <a:lnTo>
                    <a:pt x="0" y="515"/>
                  </a:lnTo>
                  <a:lnTo>
                    <a:pt x="0" y="512"/>
                  </a:lnTo>
                  <a:lnTo>
                    <a:pt x="222" y="0"/>
                  </a:lnTo>
                  <a:lnTo>
                    <a:pt x="234" y="6"/>
                  </a:lnTo>
                  <a:lnTo>
                    <a:pt x="18" y="518"/>
                  </a:lnTo>
                  <a:lnTo>
                    <a:pt x="18" y="898"/>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9" name="Freeform 52"/>
            <p:cNvSpPr/>
            <p:nvPr/>
          </p:nvSpPr>
          <p:spPr bwMode="auto">
            <a:xfrm>
              <a:off x="1666875"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60" name="Freeform 53"/>
            <p:cNvSpPr>
              <a:spLocks noEditPoints="1"/>
            </p:cNvSpPr>
            <p:nvPr/>
          </p:nvSpPr>
          <p:spPr bwMode="auto">
            <a:xfrm>
              <a:off x="1709738"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61" name="Freeform 54"/>
            <p:cNvSpPr>
              <a:spLocks noEditPoints="1"/>
            </p:cNvSpPr>
            <p:nvPr/>
          </p:nvSpPr>
          <p:spPr bwMode="auto">
            <a:xfrm>
              <a:off x="1709738"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62" name="Freeform 55"/>
            <p:cNvSpPr/>
            <p:nvPr/>
          </p:nvSpPr>
          <p:spPr bwMode="auto">
            <a:xfrm>
              <a:off x="1766888" y="6330950"/>
              <a:ext cx="419100" cy="527050"/>
            </a:xfrm>
            <a:custGeom>
              <a:avLst/>
              <a:gdLst/>
              <a:ahLst/>
              <a:cxnLst/>
              <a:rect l="0" t="0" r="r" b="b"/>
              <a:pathLst>
                <a:path w="264" h="332">
                  <a:moveTo>
                    <a:pt x="12" y="332"/>
                  </a:moveTo>
                  <a:lnTo>
                    <a:pt x="0" y="326"/>
                  </a:lnTo>
                  <a:lnTo>
                    <a:pt x="45" y="206"/>
                  </a:lnTo>
                  <a:lnTo>
                    <a:pt x="255" y="0"/>
                  </a:lnTo>
                  <a:lnTo>
                    <a:pt x="264" y="12"/>
                  </a:lnTo>
                  <a:lnTo>
                    <a:pt x="60" y="215"/>
                  </a:lnTo>
                  <a:lnTo>
                    <a:pt x="12" y="33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63" name="Freeform 56"/>
            <p:cNvSpPr>
              <a:spLocks noEditPoints="1"/>
            </p:cNvSpPr>
            <p:nvPr/>
          </p:nvSpPr>
          <p:spPr bwMode="auto">
            <a:xfrm>
              <a:off x="2147888"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64" name="Freeform 57"/>
            <p:cNvSpPr/>
            <p:nvPr/>
          </p:nvSpPr>
          <p:spPr bwMode="auto">
            <a:xfrm>
              <a:off x="504825" y="9525"/>
              <a:ext cx="233363" cy="5103813"/>
            </a:xfrm>
            <a:custGeom>
              <a:avLst/>
              <a:gdLst/>
              <a:ahLst/>
              <a:cxnLst/>
              <a:rect l="0" t="0" r="r" b="b"/>
              <a:pathLst>
                <a:path w="147" h="3215">
                  <a:moveTo>
                    <a:pt x="132" y="3215"/>
                  </a:moveTo>
                  <a:lnTo>
                    <a:pt x="129" y="2754"/>
                  </a:lnTo>
                  <a:lnTo>
                    <a:pt x="0" y="1901"/>
                  </a:lnTo>
                  <a:lnTo>
                    <a:pt x="0" y="0"/>
                  </a:lnTo>
                  <a:lnTo>
                    <a:pt x="15" y="0"/>
                  </a:lnTo>
                  <a:lnTo>
                    <a:pt x="15" y="1898"/>
                  </a:lnTo>
                  <a:lnTo>
                    <a:pt x="144" y="2754"/>
                  </a:lnTo>
                  <a:lnTo>
                    <a:pt x="147" y="3215"/>
                  </a:lnTo>
                  <a:lnTo>
                    <a:pt x="132" y="321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65" name="Freeform 58"/>
            <p:cNvSpPr>
              <a:spLocks noEditPoints="1"/>
            </p:cNvSpPr>
            <p:nvPr/>
          </p:nvSpPr>
          <p:spPr bwMode="auto">
            <a:xfrm>
              <a:off x="633413" y="5103813"/>
              <a:ext cx="185738" cy="185738"/>
            </a:xfrm>
            <a:custGeom>
              <a:avLst/>
              <a:gdLst/>
              <a:ahLst/>
              <a:cxnLst/>
              <a:rect l="0" t="0" r="r" b="b"/>
              <a:pathLst>
                <a:path w="39" h="39">
                  <a:moveTo>
                    <a:pt x="20" y="39"/>
                  </a:moveTo>
                  <a:cubicBezTo>
                    <a:pt x="9" y="39"/>
                    <a:pt x="0" y="30"/>
                    <a:pt x="0" y="19"/>
                  </a:cubicBezTo>
                  <a:cubicBezTo>
                    <a:pt x="0" y="9"/>
                    <a:pt x="9" y="0"/>
                    <a:pt x="20" y="0"/>
                  </a:cubicBezTo>
                  <a:cubicBezTo>
                    <a:pt x="30" y="0"/>
                    <a:pt x="39" y="9"/>
                    <a:pt x="39" y="19"/>
                  </a:cubicBezTo>
                  <a:cubicBezTo>
                    <a:pt x="39" y="30"/>
                    <a:pt x="30" y="39"/>
                    <a:pt x="20" y="39"/>
                  </a:cubicBezTo>
                  <a:close/>
                  <a:moveTo>
                    <a:pt x="20" y="4"/>
                  </a:moveTo>
                  <a:cubicBezTo>
                    <a:pt x="11" y="4"/>
                    <a:pt x="4" y="11"/>
                    <a:pt x="4" y="19"/>
                  </a:cubicBezTo>
                  <a:cubicBezTo>
                    <a:pt x="4" y="28"/>
                    <a:pt x="11" y="35"/>
                    <a:pt x="20" y="35"/>
                  </a:cubicBezTo>
                  <a:cubicBezTo>
                    <a:pt x="28" y="35"/>
                    <a:pt x="35" y="28"/>
                    <a:pt x="35" y="19"/>
                  </a:cubicBezTo>
                  <a:cubicBezTo>
                    <a:pt x="35"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grpSp>
      <p:sp>
        <p:nvSpPr>
          <p:cNvPr id="2" name="Title 1"/>
          <p:cNvSpPr>
            <a:spLocks noGrp="1"/>
          </p:cNvSpPr>
          <p:nvPr>
            <p:ph type="ctrTitle"/>
          </p:nvPr>
        </p:nvSpPr>
        <p:spPr>
          <a:xfrm>
            <a:off x="1876424" y="1122363"/>
            <a:ext cx="8791575" cy="2387600"/>
          </a:xfrm>
        </p:spPr>
        <p:txBody>
          <a:bodyPr anchor="b">
            <a:normAutofit/>
          </a:bodyPr>
          <a:lstStyle>
            <a:lvl1pPr algn="l">
              <a:defRPr sz="4800"/>
            </a:lvl1pPr>
          </a:lstStyle>
          <a:p>
            <a:r>
              <a:rPr lang="en-US"/>
              <a:t>Click to edit Master title style</a:t>
            </a:r>
            <a:endParaRPr lang="en-US" dirty="0"/>
          </a:p>
        </p:txBody>
      </p:sp>
      <p:sp>
        <p:nvSpPr>
          <p:cNvPr id="3" name="Subtitle 2"/>
          <p:cNvSpPr>
            <a:spLocks noGrp="1"/>
          </p:cNvSpPr>
          <p:nvPr>
            <p:ph type="subTitle" idx="1"/>
          </p:nvPr>
        </p:nvSpPr>
        <p:spPr>
          <a:xfrm>
            <a:off x="1876424" y="3602038"/>
            <a:ext cx="8791575" cy="1655762"/>
          </a:xfrm>
        </p:spPr>
        <p:txBody>
          <a:bodyPr>
            <a:normAutofit/>
          </a:bodyPr>
          <a:lstStyle>
            <a:lvl1pPr marL="0" indent="0" algn="l">
              <a:buNone/>
              <a:defRPr sz="2000" cap="all" baseline="0">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a:xfrm>
            <a:off x="7077511" y="5410201"/>
            <a:ext cx="2743200" cy="365125"/>
          </a:xfrm>
        </p:spPr>
        <p:txBody>
          <a:bodyPr/>
          <a:lstStyle/>
          <a:p>
            <a:fld id="{EC4347D3-4C9A-C240-8F14-750059DFEEB0}" type="datetimeFigureOut">
              <a:rPr lang="en-US" smtClean="0"/>
              <a:t>11/18/25</a:t>
            </a:fld>
            <a:endParaRPr lang="en-US"/>
          </a:p>
        </p:txBody>
      </p:sp>
      <p:sp>
        <p:nvSpPr>
          <p:cNvPr id="5" name="Footer Placeholder 4"/>
          <p:cNvSpPr>
            <a:spLocks noGrp="1"/>
          </p:cNvSpPr>
          <p:nvPr>
            <p:ph type="ftr" sz="quarter" idx="11"/>
          </p:nvPr>
        </p:nvSpPr>
        <p:spPr>
          <a:xfrm>
            <a:off x="1876424" y="5410201"/>
            <a:ext cx="5124886" cy="365125"/>
          </a:xfrm>
        </p:spPr>
        <p:txBody>
          <a:bodyPr/>
          <a:lstStyle/>
          <a:p>
            <a:endParaRPr lang="en-US"/>
          </a:p>
        </p:txBody>
      </p:sp>
      <p:sp>
        <p:nvSpPr>
          <p:cNvPr id="6" name="Slide Number Placeholder 5"/>
          <p:cNvSpPr>
            <a:spLocks noGrp="1"/>
          </p:cNvSpPr>
          <p:nvPr>
            <p:ph type="sldNum" sz="quarter" idx="12"/>
          </p:nvPr>
        </p:nvSpPr>
        <p:spPr>
          <a:xfrm>
            <a:off x="9896911" y="5410199"/>
            <a:ext cx="771089" cy="365125"/>
          </a:xfrm>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71334461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EC4347D3-4C9A-C240-8F14-750059DFEEB0}" type="datetimeFigureOut">
              <a:rPr lang="en-US" smtClean="0"/>
              <a:t>11/18/25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322540070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141411" y="1419226"/>
            <a:ext cx="9906000" cy="2852737"/>
          </a:xfrm>
        </p:spPr>
        <p:txBody>
          <a:bodyPr anchor="b">
            <a:normAutofit/>
          </a:bodyPr>
          <a:lstStyle>
            <a:lvl1pPr>
              <a:defRPr sz="3600"/>
            </a:lvl1pPr>
          </a:lstStyle>
          <a:p>
            <a:r>
              <a:rPr lang="en-US"/>
              <a:t>Click to edit Master title style</a:t>
            </a:r>
            <a:endParaRPr lang="en-US" dirty="0"/>
          </a:p>
        </p:txBody>
      </p:sp>
      <p:sp>
        <p:nvSpPr>
          <p:cNvPr id="3" name="Text Placeholder 2"/>
          <p:cNvSpPr>
            <a:spLocks noGrp="1"/>
          </p:cNvSpPr>
          <p:nvPr>
            <p:ph type="body" idx="1"/>
          </p:nvPr>
        </p:nvSpPr>
        <p:spPr>
          <a:xfrm>
            <a:off x="1141411" y="4424362"/>
            <a:ext cx="9906000" cy="1374776"/>
          </a:xfrm>
        </p:spPr>
        <p:txBody>
          <a:bodyPr>
            <a:normAutofit/>
          </a:bodyPr>
          <a:lstStyle>
            <a:lvl1pPr marL="0" indent="0">
              <a:buNone/>
              <a:defRPr sz="1800" cap="all" baseline="0">
                <a:solidFill>
                  <a:schemeClr val="tx1">
                    <a:tint val="75000"/>
                  </a:schemeClr>
                </a:solidFill>
              </a:defRPr>
            </a:lvl1pPr>
            <a:lvl2pPr marL="457200" indent="0">
              <a:buNone/>
              <a:defRPr sz="18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EC4347D3-4C9A-C240-8F14-750059DFEEB0}" type="datetimeFigureOut">
              <a:rPr lang="en-US" smtClean="0"/>
              <a:t>11/18/25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35227962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141410" y="2249486"/>
            <a:ext cx="4878389" cy="3541714"/>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2249486"/>
            <a:ext cx="4875211" cy="3541714"/>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EC4347D3-4C9A-C240-8F14-750059DFEEB0}" type="datetimeFigureOut">
              <a:rPr lang="en-US" smtClean="0"/>
              <a:t>11/18/25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1887307518"/>
      </p:ext>
    </p:extLst>
  </p:cSld>
  <p:clrMapOvr>
    <a:masterClrMapping/>
  </p:clrMapOvr>
  <p:extLst>
    <p:ext uri="{DCECCB84-F9BA-43D5-87BE-67443E8EF086}">
      <p15:sldGuideLst xmlns:p15="http://schemas.microsoft.com/office/powerpoint/2012/main"/>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141411" y="619126"/>
            <a:ext cx="9906000" cy="1477961"/>
          </a:xfrm>
        </p:spPr>
        <p:txBody>
          <a:bodyPr/>
          <a:lstStyle/>
          <a:p>
            <a:r>
              <a:rPr lang="en-US"/>
              <a:t>Click to edit Master title style</a:t>
            </a:r>
            <a:endParaRPr lang="en-US" dirty="0"/>
          </a:p>
        </p:txBody>
      </p:sp>
      <p:sp>
        <p:nvSpPr>
          <p:cNvPr id="3" name="Text Placeholder 2"/>
          <p:cNvSpPr>
            <a:spLocks noGrp="1"/>
          </p:cNvSpPr>
          <p:nvPr>
            <p:ph type="body" idx="1"/>
          </p:nvPr>
        </p:nvSpPr>
        <p:spPr>
          <a:xfrm>
            <a:off x="1370019" y="2249486"/>
            <a:ext cx="4649783" cy="823912"/>
          </a:xfrm>
        </p:spPr>
        <p:txBody>
          <a:bodyPr anchor="b"/>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1141410" y="3073397"/>
            <a:ext cx="4878391" cy="2717801"/>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400808" y="2249485"/>
            <a:ext cx="4646602" cy="823912"/>
          </a:xfrm>
        </p:spPr>
        <p:txBody>
          <a:bodyPr anchor="b"/>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72200" y="3073397"/>
            <a:ext cx="4875210" cy="2717801"/>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EC4347D3-4C9A-C240-8F14-750059DFEEB0}" type="datetimeFigureOut">
              <a:rPr lang="en-US" smtClean="0"/>
              <a:t>11/18/25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575720768"/>
      </p:ext>
    </p:extLst>
  </p:cSld>
  <p:clrMapOvr>
    <a:masterClrMapping/>
  </p:clrMapOvr>
  <p:extLst>
    <p:ext uri="{DCECCB84-F9BA-43D5-87BE-67443E8EF086}">
      <p15:sldGuideLst xmlns:p15="http://schemas.microsoft.com/office/powerpoint/2012/main"/>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EC4347D3-4C9A-C240-8F14-750059DFEEB0}" type="datetimeFigureOut">
              <a:rPr lang="en-US" smtClean="0"/>
              <a:t>11/18/25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400411636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C4347D3-4C9A-C240-8F14-750059DFEEB0}" type="datetimeFigureOut">
              <a:rPr lang="en-US" smtClean="0"/>
              <a:t>11/18/25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258430145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6705" y="609601"/>
            <a:ext cx="3856037" cy="1639884"/>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56200" y="592666"/>
            <a:ext cx="5891209" cy="5198534"/>
          </a:xfrm>
        </p:spPr>
        <p:txBody>
          <a:bodyPr anchor="ct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146705" y="2249486"/>
            <a:ext cx="3856037" cy="3541714"/>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EC4347D3-4C9A-C240-8F14-750059DFEEB0}" type="datetimeFigureOut">
              <a:rPr lang="en-US" smtClean="0"/>
              <a:t>11/18/25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2665503122"/>
      </p:ext>
    </p:extLst>
  </p:cSld>
  <p:clrMapOvr>
    <a:masterClrMapping/>
  </p:clrMapOvr>
  <p:extLst>
    <p:ext uri="{DCECCB84-F9BA-43D5-87BE-67443E8EF086}">
      <p15:sldGuideLst xmlns:p15="http://schemas.microsoft.com/office/powerpoint/2012/main"/>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13" y="609600"/>
            <a:ext cx="5934508" cy="1639886"/>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7380721" y="609601"/>
            <a:ext cx="3666690" cy="5181599"/>
          </a:xfrm>
          <a:prstGeom prst="round2DiagRect">
            <a:avLst>
              <a:gd name="adj1" fmla="val 5608"/>
              <a:gd name="adj2" fmla="val 0"/>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141410" y="2249486"/>
            <a:ext cx="5934511" cy="3541714"/>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EC4347D3-4C9A-C240-8F14-750059DFEEB0}" type="datetimeFigureOut">
              <a:rPr lang="en-US" smtClean="0"/>
              <a:t>11/18/25</a:t>
            </a:fld>
            <a:endParaRPr lang="en-US"/>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167475500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10" y="4304664"/>
            <a:ext cx="9912355" cy="819355"/>
          </a:xfrm>
        </p:spPr>
        <p:txBody>
          <a:bodyPr anchor="b">
            <a:normAutofit/>
          </a:bodyPr>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1141411" y="606426"/>
            <a:ext cx="9912354" cy="3299778"/>
          </a:xfrm>
          <a:prstGeom prst="round2DiagRect">
            <a:avLst>
              <a:gd name="adj1" fmla="val 4860"/>
              <a:gd name="adj2" fmla="val 0"/>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3200"/>
            </a:lvl1pPr>
          </a:lstStyle>
          <a:p>
            <a:pPr marL="0" lvl="0" indent="0">
              <a:buNone/>
            </a:pPr>
            <a:r>
              <a:rPr lang="en-US"/>
              <a:t>Click icon to add picture</a:t>
            </a:r>
            <a:endParaRPr lang="en-US" dirty="0"/>
          </a:p>
        </p:txBody>
      </p:sp>
      <p:sp>
        <p:nvSpPr>
          <p:cNvPr id="4" name="Text Placeholder 3"/>
          <p:cNvSpPr>
            <a:spLocks noGrp="1"/>
          </p:cNvSpPr>
          <p:nvPr>
            <p:ph type="body" sz="half" idx="2"/>
          </p:nvPr>
        </p:nvSpPr>
        <p:spPr>
          <a:xfrm>
            <a:off x="1141364" y="5124020"/>
            <a:ext cx="9910859" cy="682472"/>
          </a:xfrm>
        </p:spPr>
        <p:txBody>
          <a:bodyPr>
            <a:norm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EC4347D3-4C9A-C240-8F14-750059DFEEB0}" type="datetimeFigureOut">
              <a:rPr lang="en-US" smtClean="0"/>
              <a:t>11/18/25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376537979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56" y="609600"/>
            <a:ext cx="9905955" cy="3429000"/>
          </a:xfrm>
        </p:spPr>
        <p:txBody>
          <a:bodyPr anchor="ctr">
            <a:normAutofit/>
          </a:bodyPr>
          <a:lstStyle>
            <a:lvl1pPr>
              <a:defRPr sz="3600"/>
            </a:lvl1pPr>
          </a:lstStyle>
          <a:p>
            <a:r>
              <a:rPr lang="en-US"/>
              <a:t>Click to edit Master title style</a:t>
            </a:r>
            <a:endParaRPr lang="en-US" dirty="0"/>
          </a:p>
        </p:txBody>
      </p:sp>
      <p:sp>
        <p:nvSpPr>
          <p:cNvPr id="4" name="Text Placeholder 3"/>
          <p:cNvSpPr>
            <a:spLocks noGrp="1"/>
          </p:cNvSpPr>
          <p:nvPr>
            <p:ph type="body" sz="half" idx="2"/>
          </p:nvPr>
        </p:nvSpPr>
        <p:spPr>
          <a:xfrm>
            <a:off x="1141410" y="4419599"/>
            <a:ext cx="9904459" cy="1371599"/>
          </a:xfrm>
        </p:spPr>
        <p:txBody>
          <a:bodyPr anchor="ct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EC4347D3-4C9A-C240-8F14-750059DFEEB0}" type="datetimeFigureOut">
              <a:rPr lang="en-US" smtClean="0"/>
              <a:t>11/18/25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139118012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6212" y="609599"/>
            <a:ext cx="9302752" cy="2748429"/>
          </a:xfrm>
        </p:spPr>
        <p:txBody>
          <a:bodyPr anchor="ctr">
            <a:normAutofit/>
          </a:bodyPr>
          <a:lstStyle>
            <a:lvl1pPr>
              <a:defRPr sz="3600"/>
            </a:lvl1pPr>
          </a:lstStyle>
          <a:p>
            <a:r>
              <a:rPr lang="en-US"/>
              <a:t>Click to edit Master title style</a:t>
            </a:r>
            <a:endParaRPr lang="en-US" dirty="0"/>
          </a:p>
        </p:txBody>
      </p:sp>
      <p:sp>
        <p:nvSpPr>
          <p:cNvPr id="12" name="Text Placeholder 3"/>
          <p:cNvSpPr>
            <a:spLocks noGrp="1"/>
          </p:cNvSpPr>
          <p:nvPr>
            <p:ph type="body" sz="half" idx="13"/>
          </p:nvPr>
        </p:nvSpPr>
        <p:spPr>
          <a:xfrm>
            <a:off x="1720644" y="3365557"/>
            <a:ext cx="8752299" cy="548968"/>
          </a:xfrm>
        </p:spPr>
        <p:txBody>
          <a:bodyPr anchor="t">
            <a:normAutofit/>
          </a:bodyPr>
          <a:lstStyle>
            <a:lvl1pPr marL="0" indent="0">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4" name="Text Placeholder 3"/>
          <p:cNvSpPr>
            <a:spLocks noGrp="1"/>
          </p:cNvSpPr>
          <p:nvPr>
            <p:ph type="body" sz="half" idx="2"/>
          </p:nvPr>
        </p:nvSpPr>
        <p:spPr>
          <a:xfrm>
            <a:off x="1141411" y="4309919"/>
            <a:ext cx="9906002" cy="1489496"/>
          </a:xfrm>
        </p:spPr>
        <p:txBody>
          <a:bodyPr anchor="ct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EC4347D3-4C9A-C240-8F14-750059DFEEB0}" type="datetimeFigureOut">
              <a:rPr lang="en-US" smtClean="0"/>
              <a:t>11/18/25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3D91E88-2515-D24B-B4EA-67D975D0853E}" type="slidenum">
              <a:rPr lang="en-US" smtClean="0"/>
              <a:t>‹#›</a:t>
            </a:fld>
            <a:endParaRPr lang="en-US"/>
          </a:p>
        </p:txBody>
      </p:sp>
      <p:sp>
        <p:nvSpPr>
          <p:cNvPr id="60" name="TextBox 59"/>
          <p:cNvSpPr txBox="1"/>
          <p:nvPr/>
        </p:nvSpPr>
        <p:spPr>
          <a:xfrm>
            <a:off x="903512" y="732394"/>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Trebuchet MS"/>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
        <p:nvSpPr>
          <p:cNvPr id="61" name="TextBox 60"/>
          <p:cNvSpPr txBox="1"/>
          <p:nvPr/>
        </p:nvSpPr>
        <p:spPr>
          <a:xfrm>
            <a:off x="10537370" y="2764972"/>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Trebuchet MS"/>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Tree>
    <p:extLst>
      <p:ext uri="{BB962C8B-B14F-4D97-AF65-F5344CB8AC3E}">
        <p14:creationId xmlns:p14="http://schemas.microsoft.com/office/powerpoint/2010/main" val="351338760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1141410" y="2134041"/>
            <a:ext cx="9906001" cy="2511835"/>
          </a:xfrm>
        </p:spPr>
        <p:txBody>
          <a:bodyPr anchor="b">
            <a:normAutofit/>
          </a:bodyPr>
          <a:lstStyle>
            <a:lvl1pPr>
              <a:defRPr sz="3600"/>
            </a:lvl1pPr>
          </a:lstStyle>
          <a:p>
            <a:r>
              <a:rPr lang="en-US"/>
              <a:t>Click to edit Master title style</a:t>
            </a:r>
            <a:endParaRPr lang="en-US" dirty="0"/>
          </a:p>
        </p:txBody>
      </p:sp>
      <p:sp>
        <p:nvSpPr>
          <p:cNvPr id="4" name="Text Placeholder 3"/>
          <p:cNvSpPr>
            <a:spLocks noGrp="1"/>
          </p:cNvSpPr>
          <p:nvPr>
            <p:ph type="body" sz="half" idx="2"/>
          </p:nvPr>
        </p:nvSpPr>
        <p:spPr>
          <a:xfrm>
            <a:off x="1141364" y="4657655"/>
            <a:ext cx="9904505" cy="1140644"/>
          </a:xfrm>
        </p:spPr>
        <p:txBody>
          <a:bodyPr anchor="t">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EC4347D3-4C9A-C240-8F14-750059DFEEB0}" type="datetimeFigureOut">
              <a:rPr lang="en-US" smtClean="0"/>
              <a:t>11/18/25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164169598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15" name="Title 1"/>
          <p:cNvSpPr>
            <a:spLocks noGrp="1"/>
          </p:cNvSpPr>
          <p:nvPr>
            <p:ph type="title"/>
          </p:nvPr>
        </p:nvSpPr>
        <p:spPr>
          <a:xfrm>
            <a:off x="1141413" y="609600"/>
            <a:ext cx="9905998" cy="1905000"/>
          </a:xfrm>
        </p:spPr>
        <p:txBody>
          <a:bodyPr/>
          <a:lstStyle/>
          <a:p>
            <a:r>
              <a:rPr lang="en-US"/>
              <a:t>Click to edit Master title style</a:t>
            </a:r>
            <a:endParaRPr lang="en-US" dirty="0"/>
          </a:p>
        </p:txBody>
      </p:sp>
      <p:sp>
        <p:nvSpPr>
          <p:cNvPr id="7" name="Text Placeholder 2"/>
          <p:cNvSpPr>
            <a:spLocks noGrp="1"/>
          </p:cNvSpPr>
          <p:nvPr>
            <p:ph type="body" idx="1"/>
          </p:nvPr>
        </p:nvSpPr>
        <p:spPr>
          <a:xfrm>
            <a:off x="1141410" y="2674463"/>
            <a:ext cx="3196899"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8" name="Text Placeholder 3"/>
          <p:cNvSpPr>
            <a:spLocks noGrp="1"/>
          </p:cNvSpPr>
          <p:nvPr>
            <p:ph type="body" sz="half" idx="15"/>
          </p:nvPr>
        </p:nvSpPr>
        <p:spPr>
          <a:xfrm>
            <a:off x="1127918" y="3360263"/>
            <a:ext cx="3208735"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9" name="Text Placeholder 4"/>
          <p:cNvSpPr>
            <a:spLocks noGrp="1"/>
          </p:cNvSpPr>
          <p:nvPr>
            <p:ph type="body" sz="quarter" idx="3"/>
          </p:nvPr>
        </p:nvSpPr>
        <p:spPr>
          <a:xfrm>
            <a:off x="4514766" y="2677635"/>
            <a:ext cx="3184385"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10" name="Text Placeholder 3"/>
          <p:cNvSpPr>
            <a:spLocks noGrp="1"/>
          </p:cNvSpPr>
          <p:nvPr>
            <p:ph type="body" sz="half" idx="16"/>
          </p:nvPr>
        </p:nvSpPr>
        <p:spPr>
          <a:xfrm>
            <a:off x="4504213" y="3363435"/>
            <a:ext cx="3195830"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11" name="Text Placeholder 4"/>
          <p:cNvSpPr>
            <a:spLocks noGrp="1"/>
          </p:cNvSpPr>
          <p:nvPr>
            <p:ph type="body" sz="quarter" idx="13"/>
          </p:nvPr>
        </p:nvSpPr>
        <p:spPr>
          <a:xfrm>
            <a:off x="7852442" y="2674463"/>
            <a:ext cx="3194968"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12" name="Text Placeholder 3"/>
          <p:cNvSpPr>
            <a:spLocks noGrp="1"/>
          </p:cNvSpPr>
          <p:nvPr>
            <p:ph type="body" sz="half" idx="17"/>
          </p:nvPr>
        </p:nvSpPr>
        <p:spPr>
          <a:xfrm>
            <a:off x="7852442" y="3360263"/>
            <a:ext cx="3194968"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3" name="Date Placeholder 2"/>
          <p:cNvSpPr>
            <a:spLocks noGrp="1"/>
          </p:cNvSpPr>
          <p:nvPr>
            <p:ph type="dt" sz="half" idx="10"/>
          </p:nvPr>
        </p:nvSpPr>
        <p:spPr/>
        <p:txBody>
          <a:bodyPr/>
          <a:lstStyle/>
          <a:p>
            <a:fld id="{EC4347D3-4C9A-C240-8F14-750059DFEEB0}" type="datetimeFigureOut">
              <a:rPr lang="en-US" smtClean="0"/>
              <a:t>11/18/25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1380966924"/>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sp>
        <p:nvSpPr>
          <p:cNvPr id="30" name="Title 1"/>
          <p:cNvSpPr>
            <a:spLocks noGrp="1"/>
          </p:cNvSpPr>
          <p:nvPr>
            <p:ph type="title"/>
          </p:nvPr>
        </p:nvSpPr>
        <p:spPr>
          <a:xfrm>
            <a:off x="1141411" y="609600"/>
            <a:ext cx="9905999" cy="1905000"/>
          </a:xfrm>
        </p:spPr>
        <p:txBody>
          <a:bodyPr/>
          <a:lstStyle/>
          <a:p>
            <a:r>
              <a:rPr lang="en-US"/>
              <a:t>Click to edit Master title style</a:t>
            </a:r>
            <a:endParaRPr lang="en-US" dirty="0"/>
          </a:p>
        </p:txBody>
      </p:sp>
      <p:sp>
        <p:nvSpPr>
          <p:cNvPr id="19" name="Text Placeholder 2"/>
          <p:cNvSpPr>
            <a:spLocks noGrp="1"/>
          </p:cNvSpPr>
          <p:nvPr>
            <p:ph type="body" idx="1"/>
          </p:nvPr>
        </p:nvSpPr>
        <p:spPr>
          <a:xfrm>
            <a:off x="1141413" y="4404596"/>
            <a:ext cx="3195240"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20" name="Picture Placeholder 2"/>
          <p:cNvSpPr>
            <a:spLocks noGrp="1" noChangeAspect="1"/>
          </p:cNvSpPr>
          <p:nvPr>
            <p:ph type="pic" idx="15"/>
          </p:nvPr>
        </p:nvSpPr>
        <p:spPr>
          <a:xfrm>
            <a:off x="1141413" y="2666998"/>
            <a:ext cx="3195240"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en-US"/>
              <a:t>Click icon to add picture</a:t>
            </a:r>
            <a:endParaRPr lang="en-US" dirty="0"/>
          </a:p>
        </p:txBody>
      </p:sp>
      <p:sp>
        <p:nvSpPr>
          <p:cNvPr id="21" name="Text Placeholder 3"/>
          <p:cNvSpPr>
            <a:spLocks noGrp="1"/>
          </p:cNvSpPr>
          <p:nvPr>
            <p:ph type="body" sz="half" idx="18"/>
          </p:nvPr>
        </p:nvSpPr>
        <p:spPr>
          <a:xfrm>
            <a:off x="1141413" y="4980858"/>
            <a:ext cx="3195240" cy="817843"/>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22" name="Text Placeholder 4"/>
          <p:cNvSpPr>
            <a:spLocks noGrp="1"/>
          </p:cNvSpPr>
          <p:nvPr>
            <p:ph type="body" sz="quarter" idx="3"/>
          </p:nvPr>
        </p:nvSpPr>
        <p:spPr>
          <a:xfrm>
            <a:off x="4489053" y="4404596"/>
            <a:ext cx="3200400"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23" name="Picture Placeholder 2"/>
          <p:cNvSpPr>
            <a:spLocks noGrp="1" noChangeAspect="1"/>
          </p:cNvSpPr>
          <p:nvPr>
            <p:ph type="pic" idx="21"/>
          </p:nvPr>
        </p:nvSpPr>
        <p:spPr>
          <a:xfrm>
            <a:off x="4489053" y="2666998"/>
            <a:ext cx="3198940"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en-US"/>
              <a:t>Click icon to add picture</a:t>
            </a:r>
            <a:endParaRPr lang="en-US" dirty="0"/>
          </a:p>
        </p:txBody>
      </p:sp>
      <p:sp>
        <p:nvSpPr>
          <p:cNvPr id="24" name="Text Placeholder 3"/>
          <p:cNvSpPr>
            <a:spLocks noGrp="1"/>
          </p:cNvSpPr>
          <p:nvPr>
            <p:ph type="body" sz="half" idx="19"/>
          </p:nvPr>
        </p:nvSpPr>
        <p:spPr>
          <a:xfrm>
            <a:off x="4487593" y="4980857"/>
            <a:ext cx="3200400" cy="81034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25" name="Text Placeholder 4"/>
          <p:cNvSpPr>
            <a:spLocks noGrp="1"/>
          </p:cNvSpPr>
          <p:nvPr>
            <p:ph type="body" sz="quarter" idx="13"/>
          </p:nvPr>
        </p:nvSpPr>
        <p:spPr>
          <a:xfrm>
            <a:off x="7852567" y="4404595"/>
            <a:ext cx="3190741"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26" name="Picture Placeholder 2"/>
          <p:cNvSpPr>
            <a:spLocks noGrp="1" noChangeAspect="1"/>
          </p:cNvSpPr>
          <p:nvPr>
            <p:ph type="pic" idx="22"/>
          </p:nvPr>
        </p:nvSpPr>
        <p:spPr>
          <a:xfrm>
            <a:off x="7852442" y="2666998"/>
            <a:ext cx="3194969"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en-US"/>
              <a:t>Click icon to add picture</a:t>
            </a:r>
            <a:endParaRPr lang="en-US" dirty="0"/>
          </a:p>
        </p:txBody>
      </p:sp>
      <p:sp>
        <p:nvSpPr>
          <p:cNvPr id="27" name="Text Placeholder 3"/>
          <p:cNvSpPr>
            <a:spLocks noGrp="1"/>
          </p:cNvSpPr>
          <p:nvPr>
            <p:ph type="body" sz="half" idx="20"/>
          </p:nvPr>
        </p:nvSpPr>
        <p:spPr>
          <a:xfrm>
            <a:off x="7852442" y="4980854"/>
            <a:ext cx="3194968" cy="810345"/>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3" name="Date Placeholder 2"/>
          <p:cNvSpPr>
            <a:spLocks noGrp="1"/>
          </p:cNvSpPr>
          <p:nvPr>
            <p:ph type="dt" sz="half" idx="10"/>
          </p:nvPr>
        </p:nvSpPr>
        <p:spPr/>
        <p:txBody>
          <a:bodyPr/>
          <a:lstStyle/>
          <a:p>
            <a:fld id="{EC4347D3-4C9A-C240-8F14-750059DFEEB0}" type="datetimeFigureOut">
              <a:rPr lang="en-US" smtClean="0"/>
              <a:t>11/18/25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77074458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EC4347D3-4C9A-C240-8F14-750059DFEEB0}" type="datetimeFigureOut">
              <a:rPr lang="en-US" smtClean="0"/>
              <a:t>11/18/25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383976783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042400" y="609599"/>
            <a:ext cx="2005011" cy="5181601"/>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141410" y="609599"/>
            <a:ext cx="7748590" cy="5181601"/>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EC4347D3-4C9A-C240-8F14-750059DFEEB0}" type="datetimeFigureOut">
              <a:rPr lang="en-US" smtClean="0"/>
              <a:t>11/18/25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11005321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2.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pic>
        <p:nvPicPr>
          <p:cNvPr id="7" name="Picture 2" descr="\\DROBO-FS\QuickDrops\JB\PPTX NG\Droplets\LightingOverlay.png"/>
          <p:cNvPicPr>
            <a:picLocks noChangeAspect="1" noChangeArrowheads="1"/>
          </p:cNvPicPr>
          <p:nvPr/>
        </p:nvPicPr>
        <p:blipFill>
          <a:blip r:embed="rId19">
            <a:alphaModFix amt="30000"/>
            <a:duotone>
              <a:prstClr val="black"/>
              <a:schemeClr val="tx2">
                <a:tint val="45000"/>
                <a:satMod val="400000"/>
              </a:schemeClr>
            </a:duotone>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 xmlns:a14="http://schemas.microsoft.com/office/drawing/2010/main">
                <a:solidFill>
                  <a:srgbClr val="FFFFFF"/>
                </a:solidFill>
              </a14:hiddenFill>
            </a:ext>
          </a:extLst>
        </p:spPr>
      </p:pic>
      <p:grpSp>
        <p:nvGrpSpPr>
          <p:cNvPr id="8" name="Group 7"/>
          <p:cNvGrpSpPr/>
          <p:nvPr/>
        </p:nvGrpSpPr>
        <p:grpSpPr>
          <a:xfrm>
            <a:off x="-14288" y="0"/>
            <a:ext cx="12053888" cy="6858001"/>
            <a:chOff x="-14288" y="0"/>
            <a:chExt cx="12053888" cy="6858001"/>
          </a:xfrm>
          <a:gradFill flip="none" rotWithShape="1">
            <a:gsLst>
              <a:gs pos="0">
                <a:schemeClr val="tx2"/>
              </a:gs>
              <a:gs pos="100000">
                <a:schemeClr val="tx2">
                  <a:lumMod val="50000"/>
                </a:schemeClr>
              </a:gs>
            </a:gsLst>
            <a:lin ang="5400000" scaled="0"/>
            <a:tileRect/>
          </a:gradFill>
        </p:grpSpPr>
        <p:grpSp>
          <p:nvGrpSpPr>
            <p:cNvPr id="9" name="Group 8"/>
            <p:cNvGrpSpPr/>
            <p:nvPr/>
          </p:nvGrpSpPr>
          <p:grpSpPr>
            <a:xfrm>
              <a:off x="-14288" y="0"/>
              <a:ext cx="1220788" cy="6858001"/>
              <a:chOff x="-14288" y="0"/>
              <a:chExt cx="1220788" cy="6858001"/>
            </a:xfrm>
            <a:grpFill/>
          </p:grpSpPr>
          <p:sp>
            <p:nvSpPr>
              <p:cNvPr id="21" name="Rectangle 5"/>
              <p:cNvSpPr>
                <a:spLocks noChangeArrowheads="1"/>
              </p:cNvSpPr>
              <p:nvPr/>
            </p:nvSpPr>
            <p:spPr bwMode="auto">
              <a:xfrm>
                <a:off x="114300" y="4763"/>
                <a:ext cx="23813" cy="2181225"/>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sp>
            <p:nvSpPr>
              <p:cNvPr id="22" name="Freeform 6"/>
              <p:cNvSpPr>
                <a:spLocks noEditPoints="1"/>
              </p:cNvSpPr>
              <p:nvPr/>
            </p:nvSpPr>
            <p:spPr bwMode="auto">
              <a:xfrm>
                <a:off x="33337"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3" name="Freeform 7"/>
              <p:cNvSpPr>
                <a:spLocks noEditPoints="1"/>
              </p:cNvSpPr>
              <p:nvPr/>
            </p:nvSpPr>
            <p:spPr bwMode="auto">
              <a:xfrm>
                <a:off x="28575"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4" name="Freeform 8"/>
              <p:cNvSpPr/>
              <p:nvPr/>
            </p:nvSpPr>
            <p:spPr bwMode="auto">
              <a:xfrm>
                <a:off x="200025" y="4763"/>
                <a:ext cx="369888" cy="1811338"/>
              </a:xfrm>
              <a:custGeom>
                <a:avLst/>
                <a:gdLst/>
                <a:ahLst/>
                <a:cxnLst/>
                <a:rect l="0" t="0" r="r" b="b"/>
                <a:pathLst>
                  <a:path w="233" h="1141">
                    <a:moveTo>
                      <a:pt x="218" y="1141"/>
                    </a:moveTo>
                    <a:lnTo>
                      <a:pt x="0" y="626"/>
                    </a:lnTo>
                    <a:lnTo>
                      <a:pt x="0" y="0"/>
                    </a:lnTo>
                    <a:lnTo>
                      <a:pt x="15" y="0"/>
                    </a:lnTo>
                    <a:lnTo>
                      <a:pt x="15" y="623"/>
                    </a:lnTo>
                    <a:lnTo>
                      <a:pt x="233" y="1135"/>
                    </a:lnTo>
                    <a:lnTo>
                      <a:pt x="218" y="1141"/>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5" name="Freeform 9"/>
              <p:cNvSpPr>
                <a:spLocks noEditPoints="1"/>
              </p:cNvSpPr>
              <p:nvPr/>
            </p:nvSpPr>
            <p:spPr bwMode="auto">
              <a:xfrm>
                <a:off x="503237" y="1801813"/>
                <a:ext cx="190500" cy="188913"/>
              </a:xfrm>
              <a:custGeom>
                <a:avLst/>
                <a:gdLst/>
                <a:ahLst/>
                <a:cxnLst/>
                <a:rect l="0" t="0" r="r" b="b"/>
                <a:pathLst>
                  <a:path w="40" h="40">
                    <a:moveTo>
                      <a:pt x="20" y="40"/>
                    </a:moveTo>
                    <a:cubicBezTo>
                      <a:pt x="9" y="40"/>
                      <a:pt x="0" y="31"/>
                      <a:pt x="0" y="20"/>
                    </a:cubicBezTo>
                    <a:cubicBezTo>
                      <a:pt x="0" y="9"/>
                      <a:pt x="9" y="0"/>
                      <a:pt x="20" y="0"/>
                    </a:cubicBezTo>
                    <a:cubicBezTo>
                      <a:pt x="33" y="0"/>
                      <a:pt x="40" y="6"/>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9"/>
                      <a:pt x="31"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6" name="Freeform 10"/>
              <p:cNvSpPr/>
              <p:nvPr/>
            </p:nvSpPr>
            <p:spPr bwMode="auto">
              <a:xfrm>
                <a:off x="285750" y="4763"/>
                <a:ext cx="369888" cy="1430338"/>
              </a:xfrm>
              <a:custGeom>
                <a:avLst/>
                <a:gdLst/>
                <a:ahLst/>
                <a:cxnLst/>
                <a:rect l="0" t="0" r="r" b="b"/>
                <a:pathLst>
                  <a:path w="233" h="901">
                    <a:moveTo>
                      <a:pt x="221" y="901"/>
                    </a:moveTo>
                    <a:lnTo>
                      <a:pt x="0" y="383"/>
                    </a:lnTo>
                    <a:lnTo>
                      <a:pt x="0" y="0"/>
                    </a:lnTo>
                    <a:lnTo>
                      <a:pt x="18" y="0"/>
                    </a:lnTo>
                    <a:lnTo>
                      <a:pt x="18" y="380"/>
                    </a:lnTo>
                    <a:lnTo>
                      <a:pt x="233" y="895"/>
                    </a:lnTo>
                    <a:lnTo>
                      <a:pt x="221" y="901"/>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7" name="Freeform 11"/>
              <p:cNvSpPr/>
              <p:nvPr/>
            </p:nvSpPr>
            <p:spPr bwMode="auto">
              <a:xfrm>
                <a:off x="546100"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8" name="Freeform 12"/>
              <p:cNvSpPr>
                <a:spLocks noEditPoints="1"/>
              </p:cNvSpPr>
              <p:nvPr/>
            </p:nvSpPr>
            <p:spPr bwMode="auto">
              <a:xfrm>
                <a:off x="588962" y="1420813"/>
                <a:ext cx="190500" cy="190500"/>
              </a:xfrm>
              <a:custGeom>
                <a:avLst/>
                <a:gdLst/>
                <a:ahLst/>
                <a:cxnLst/>
                <a:rect l="0" t="0" r="r" b="b"/>
                <a:pathLst>
                  <a:path w="40" h="40">
                    <a:moveTo>
                      <a:pt x="20" y="40"/>
                    </a:moveTo>
                    <a:cubicBezTo>
                      <a:pt x="9" y="40"/>
                      <a:pt x="0" y="31"/>
                      <a:pt x="0" y="20"/>
                    </a:cubicBezTo>
                    <a:cubicBezTo>
                      <a:pt x="0" y="9"/>
                      <a:pt x="9" y="0"/>
                      <a:pt x="20" y="0"/>
                    </a:cubicBezTo>
                    <a:cubicBezTo>
                      <a:pt x="33" y="0"/>
                      <a:pt x="40" y="7"/>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9"/>
                      <a:pt x="31"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9" name="Freeform 13"/>
              <p:cNvSpPr>
                <a:spLocks noEditPoints="1"/>
              </p:cNvSpPr>
              <p:nvPr/>
            </p:nvSpPr>
            <p:spPr bwMode="auto">
              <a:xfrm>
                <a:off x="588962"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0" name="Freeform 14"/>
              <p:cNvSpPr/>
              <p:nvPr/>
            </p:nvSpPr>
            <p:spPr bwMode="auto">
              <a:xfrm>
                <a:off x="641350" y="0"/>
                <a:ext cx="422275" cy="527050"/>
              </a:xfrm>
              <a:custGeom>
                <a:avLst/>
                <a:gdLst/>
                <a:ahLst/>
                <a:cxnLst/>
                <a:rect l="0" t="0" r="r" b="b"/>
                <a:pathLst>
                  <a:path w="266" h="332">
                    <a:moveTo>
                      <a:pt x="257" y="332"/>
                    </a:moveTo>
                    <a:lnTo>
                      <a:pt x="48" y="123"/>
                    </a:lnTo>
                    <a:lnTo>
                      <a:pt x="0" y="6"/>
                    </a:lnTo>
                    <a:lnTo>
                      <a:pt x="15" y="0"/>
                    </a:lnTo>
                    <a:lnTo>
                      <a:pt x="63" y="114"/>
                    </a:lnTo>
                    <a:lnTo>
                      <a:pt x="266" y="320"/>
                    </a:lnTo>
                    <a:lnTo>
                      <a:pt x="257" y="33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1" name="Freeform 15"/>
              <p:cNvSpPr>
                <a:spLocks noEditPoints="1"/>
              </p:cNvSpPr>
              <p:nvPr/>
            </p:nvSpPr>
            <p:spPr bwMode="auto">
              <a:xfrm>
                <a:off x="1020762"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2" name="Line 16"/>
              <p:cNvSpPr>
                <a:spLocks noChangeShapeType="1"/>
              </p:cNvSpPr>
              <p:nvPr/>
            </p:nvSpPr>
            <p:spPr bwMode="auto">
              <a:xfrm>
                <a:off x="-4763" y="9525"/>
                <a:ext cx="0" cy="0"/>
              </a:xfrm>
              <a:prstGeom prst="line">
                <a:avLst/>
              </a:prstGeom>
              <a:grpFill/>
              <a:ln w="15" cap="flat">
                <a:solidFill>
                  <a:srgbClr val="FFFFFF"/>
                </a:solidFill>
                <a:prstDash val="solid"/>
                <a:miter lim="800000"/>
                <a:headEnd/>
                <a:tailEnd/>
              </a:ln>
            </p:spPr>
          </p:sp>
          <p:sp>
            <p:nvSpPr>
              <p:cNvPr id="33" name="Freeform 17"/>
              <p:cNvSpPr/>
              <p:nvPr/>
            </p:nvSpPr>
            <p:spPr bwMode="auto">
              <a:xfrm>
                <a:off x="9525" y="1801813"/>
                <a:ext cx="123825" cy="127000"/>
              </a:xfrm>
              <a:custGeom>
                <a:avLst/>
                <a:gdLst/>
                <a:ahLst/>
                <a:cxnLst/>
                <a:rect l="0" t="0" r="r" b="b"/>
                <a:pathLst>
                  <a:path w="78" h="80">
                    <a:moveTo>
                      <a:pt x="6" y="80"/>
                    </a:moveTo>
                    <a:lnTo>
                      <a:pt x="0" y="71"/>
                    </a:lnTo>
                    <a:lnTo>
                      <a:pt x="69" y="0"/>
                    </a:lnTo>
                    <a:lnTo>
                      <a:pt x="78" y="9"/>
                    </a:lnTo>
                    <a:lnTo>
                      <a:pt x="6" y="8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4" name="Freeform 18"/>
              <p:cNvSpPr/>
              <p:nvPr/>
            </p:nvSpPr>
            <p:spPr bwMode="auto">
              <a:xfrm>
                <a:off x="-9525" y="3549650"/>
                <a:ext cx="147638" cy="481013"/>
              </a:xfrm>
              <a:custGeom>
                <a:avLst/>
                <a:gdLst/>
                <a:ahLst/>
                <a:cxnLst/>
                <a:rect l="0" t="0" r="r" b="b"/>
                <a:pathLst>
                  <a:path w="93" h="303">
                    <a:moveTo>
                      <a:pt x="93" y="303"/>
                    </a:moveTo>
                    <a:lnTo>
                      <a:pt x="78" y="303"/>
                    </a:lnTo>
                    <a:lnTo>
                      <a:pt x="78" y="78"/>
                    </a:lnTo>
                    <a:lnTo>
                      <a:pt x="0" y="12"/>
                    </a:lnTo>
                    <a:lnTo>
                      <a:pt x="12" y="0"/>
                    </a:lnTo>
                    <a:lnTo>
                      <a:pt x="93" y="69"/>
                    </a:lnTo>
                    <a:lnTo>
                      <a:pt x="93" y="303"/>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5" name="Freeform 19"/>
              <p:cNvSpPr/>
              <p:nvPr/>
            </p:nvSpPr>
            <p:spPr bwMode="auto">
              <a:xfrm>
                <a:off x="128587"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6" name="Freeform 20"/>
              <p:cNvSpPr>
                <a:spLocks noEditPoints="1"/>
              </p:cNvSpPr>
              <p:nvPr/>
            </p:nvSpPr>
            <p:spPr bwMode="auto">
              <a:xfrm>
                <a:off x="204787" y="1849438"/>
                <a:ext cx="114300" cy="107950"/>
              </a:xfrm>
              <a:custGeom>
                <a:avLst/>
                <a:gdLst/>
                <a:ahLst/>
                <a:cxnLst/>
                <a:rect l="0" t="0" r="r" b="b"/>
                <a:pathLst>
                  <a:path w="24" h="23">
                    <a:moveTo>
                      <a:pt x="12" y="23"/>
                    </a:moveTo>
                    <a:cubicBezTo>
                      <a:pt x="6" y="23"/>
                      <a:pt x="0" y="18"/>
                      <a:pt x="0" y="12"/>
                    </a:cubicBezTo>
                    <a:cubicBezTo>
                      <a:pt x="0" y="5"/>
                      <a:pt x="6" y="0"/>
                      <a:pt x="12" y="0"/>
                    </a:cubicBezTo>
                    <a:cubicBezTo>
                      <a:pt x="18" y="0"/>
                      <a:pt x="24" y="5"/>
                      <a:pt x="24" y="12"/>
                    </a:cubicBezTo>
                    <a:cubicBezTo>
                      <a:pt x="24" y="18"/>
                      <a:pt x="18" y="23"/>
                      <a:pt x="12" y="23"/>
                    </a:cubicBezTo>
                    <a:close/>
                    <a:moveTo>
                      <a:pt x="12" y="4"/>
                    </a:moveTo>
                    <a:cubicBezTo>
                      <a:pt x="8" y="4"/>
                      <a:pt x="4" y="8"/>
                      <a:pt x="4" y="12"/>
                    </a:cubicBezTo>
                    <a:cubicBezTo>
                      <a:pt x="4" y="16"/>
                      <a:pt x="8" y="19"/>
                      <a:pt x="12" y="19"/>
                    </a:cubicBezTo>
                    <a:cubicBezTo>
                      <a:pt x="16" y="19"/>
                      <a:pt x="20" y="16"/>
                      <a:pt x="20" y="12"/>
                    </a:cubicBezTo>
                    <a:cubicBezTo>
                      <a:pt x="20" y="8"/>
                      <a:pt x="16" y="4"/>
                      <a:pt x="12"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7" name="Rectangle 21"/>
              <p:cNvSpPr>
                <a:spLocks noChangeArrowheads="1"/>
              </p:cNvSpPr>
              <p:nvPr/>
            </p:nvSpPr>
            <p:spPr bwMode="auto">
              <a:xfrm>
                <a:off x="133350" y="4662488"/>
                <a:ext cx="23813" cy="2181225"/>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sp>
            <p:nvSpPr>
              <p:cNvPr id="38" name="Freeform 22"/>
              <p:cNvSpPr/>
              <p:nvPr/>
            </p:nvSpPr>
            <p:spPr bwMode="auto">
              <a:xfrm>
                <a:off x="223837" y="5041900"/>
                <a:ext cx="369888" cy="1801813"/>
              </a:xfrm>
              <a:custGeom>
                <a:avLst/>
                <a:gdLst/>
                <a:ahLst/>
                <a:cxnLst/>
                <a:rect l="0" t="0" r="r" b="b"/>
                <a:pathLst>
                  <a:path w="233" h="1135">
                    <a:moveTo>
                      <a:pt x="15" y="1135"/>
                    </a:moveTo>
                    <a:lnTo>
                      <a:pt x="0" y="1135"/>
                    </a:lnTo>
                    <a:lnTo>
                      <a:pt x="0" y="515"/>
                    </a:lnTo>
                    <a:lnTo>
                      <a:pt x="0" y="512"/>
                    </a:lnTo>
                    <a:lnTo>
                      <a:pt x="218" y="0"/>
                    </a:lnTo>
                    <a:lnTo>
                      <a:pt x="233" y="6"/>
                    </a:lnTo>
                    <a:lnTo>
                      <a:pt x="15" y="518"/>
                    </a:lnTo>
                    <a:lnTo>
                      <a:pt x="15" y="113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9" name="Freeform 23"/>
              <p:cNvSpPr>
                <a:spLocks noEditPoints="1"/>
              </p:cNvSpPr>
              <p:nvPr/>
            </p:nvSpPr>
            <p:spPr bwMode="auto">
              <a:xfrm>
                <a:off x="52387"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0" name="Freeform 24"/>
              <p:cNvSpPr/>
              <p:nvPr/>
            </p:nvSpPr>
            <p:spPr bwMode="auto">
              <a:xfrm>
                <a:off x="-14288" y="5627688"/>
                <a:ext cx="85725" cy="1216025"/>
              </a:xfrm>
              <a:custGeom>
                <a:avLst/>
                <a:gdLst/>
                <a:ahLst/>
                <a:cxnLst/>
                <a:rect l="0" t="0" r="r" b="b"/>
                <a:pathLst>
                  <a:path w="54" h="766">
                    <a:moveTo>
                      <a:pt x="54" y="766"/>
                    </a:moveTo>
                    <a:lnTo>
                      <a:pt x="36" y="766"/>
                    </a:lnTo>
                    <a:lnTo>
                      <a:pt x="36" y="149"/>
                    </a:lnTo>
                    <a:lnTo>
                      <a:pt x="0" y="3"/>
                    </a:lnTo>
                    <a:lnTo>
                      <a:pt x="18" y="0"/>
                    </a:lnTo>
                    <a:lnTo>
                      <a:pt x="54" y="146"/>
                    </a:lnTo>
                    <a:lnTo>
                      <a:pt x="54" y="76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1" name="Freeform 25"/>
              <p:cNvSpPr>
                <a:spLocks noEditPoints="1"/>
              </p:cNvSpPr>
              <p:nvPr/>
            </p:nvSpPr>
            <p:spPr bwMode="auto">
              <a:xfrm>
                <a:off x="527050"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2" name="Freeform 26"/>
              <p:cNvSpPr/>
              <p:nvPr/>
            </p:nvSpPr>
            <p:spPr bwMode="auto">
              <a:xfrm>
                <a:off x="309562" y="5422900"/>
                <a:ext cx="374650" cy="1425575"/>
              </a:xfrm>
              <a:custGeom>
                <a:avLst/>
                <a:gdLst/>
                <a:ahLst/>
                <a:cxnLst/>
                <a:rect l="0" t="0" r="r" b="b"/>
                <a:pathLst>
                  <a:path w="236" h="898">
                    <a:moveTo>
                      <a:pt x="18" y="898"/>
                    </a:moveTo>
                    <a:lnTo>
                      <a:pt x="0" y="898"/>
                    </a:lnTo>
                    <a:lnTo>
                      <a:pt x="0" y="515"/>
                    </a:lnTo>
                    <a:lnTo>
                      <a:pt x="3" y="512"/>
                    </a:lnTo>
                    <a:lnTo>
                      <a:pt x="221" y="0"/>
                    </a:lnTo>
                    <a:lnTo>
                      <a:pt x="236" y="6"/>
                    </a:lnTo>
                    <a:lnTo>
                      <a:pt x="18" y="518"/>
                    </a:lnTo>
                    <a:lnTo>
                      <a:pt x="18" y="898"/>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3" name="Freeform 27"/>
              <p:cNvSpPr/>
              <p:nvPr/>
            </p:nvSpPr>
            <p:spPr bwMode="auto">
              <a:xfrm>
                <a:off x="569912"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4" name="Freeform 28"/>
              <p:cNvSpPr>
                <a:spLocks noEditPoints="1"/>
              </p:cNvSpPr>
              <p:nvPr/>
            </p:nvSpPr>
            <p:spPr bwMode="auto">
              <a:xfrm>
                <a:off x="612775"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5" name="Freeform 29"/>
              <p:cNvSpPr>
                <a:spLocks noEditPoints="1"/>
              </p:cNvSpPr>
              <p:nvPr/>
            </p:nvSpPr>
            <p:spPr bwMode="auto">
              <a:xfrm>
                <a:off x="612775"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6" name="Freeform 30"/>
              <p:cNvSpPr/>
              <p:nvPr/>
            </p:nvSpPr>
            <p:spPr bwMode="auto">
              <a:xfrm>
                <a:off x="669925" y="6330950"/>
                <a:ext cx="417513" cy="517525"/>
              </a:xfrm>
              <a:custGeom>
                <a:avLst/>
                <a:gdLst/>
                <a:ahLst/>
                <a:cxnLst/>
                <a:rect l="0" t="0" r="r" b="b"/>
                <a:pathLst>
                  <a:path w="263" h="326">
                    <a:moveTo>
                      <a:pt x="15" y="326"/>
                    </a:moveTo>
                    <a:lnTo>
                      <a:pt x="0" y="320"/>
                    </a:lnTo>
                    <a:lnTo>
                      <a:pt x="45" y="206"/>
                    </a:lnTo>
                    <a:lnTo>
                      <a:pt x="48" y="206"/>
                    </a:lnTo>
                    <a:lnTo>
                      <a:pt x="254" y="0"/>
                    </a:lnTo>
                    <a:lnTo>
                      <a:pt x="263" y="12"/>
                    </a:lnTo>
                    <a:lnTo>
                      <a:pt x="60" y="215"/>
                    </a:lnTo>
                    <a:lnTo>
                      <a:pt x="15" y="32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7" name="Freeform 31"/>
              <p:cNvSpPr>
                <a:spLocks noEditPoints="1"/>
              </p:cNvSpPr>
              <p:nvPr/>
            </p:nvSpPr>
            <p:spPr bwMode="auto">
              <a:xfrm>
                <a:off x="1049337"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grpSp>
        <p:grpSp>
          <p:nvGrpSpPr>
            <p:cNvPr id="10" name="Group 9"/>
            <p:cNvGrpSpPr/>
            <p:nvPr/>
          </p:nvGrpSpPr>
          <p:grpSpPr>
            <a:xfrm>
              <a:off x="11364912" y="0"/>
              <a:ext cx="674688" cy="6848476"/>
              <a:chOff x="11364912" y="0"/>
              <a:chExt cx="674688" cy="6848476"/>
            </a:xfrm>
            <a:grpFill/>
          </p:grpSpPr>
          <p:sp>
            <p:nvSpPr>
              <p:cNvPr id="11" name="Freeform 32"/>
              <p:cNvSpPr/>
              <p:nvPr/>
            </p:nvSpPr>
            <p:spPr bwMode="auto">
              <a:xfrm>
                <a:off x="11483975" y="0"/>
                <a:ext cx="417513" cy="512763"/>
              </a:xfrm>
              <a:custGeom>
                <a:avLst/>
                <a:gdLst/>
                <a:ahLst/>
                <a:cxnLst/>
                <a:rect l="0" t="0" r="r" b="b"/>
                <a:pathLst>
                  <a:path w="263" h="323">
                    <a:moveTo>
                      <a:pt x="12" y="323"/>
                    </a:moveTo>
                    <a:lnTo>
                      <a:pt x="0" y="314"/>
                    </a:lnTo>
                    <a:lnTo>
                      <a:pt x="203" y="108"/>
                    </a:lnTo>
                    <a:lnTo>
                      <a:pt x="248" y="0"/>
                    </a:lnTo>
                    <a:lnTo>
                      <a:pt x="263" y="6"/>
                    </a:lnTo>
                    <a:lnTo>
                      <a:pt x="218" y="117"/>
                    </a:lnTo>
                    <a:lnTo>
                      <a:pt x="218" y="117"/>
                    </a:lnTo>
                    <a:lnTo>
                      <a:pt x="12" y="323"/>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2" name="Freeform 33"/>
              <p:cNvSpPr>
                <a:spLocks noEditPoints="1"/>
              </p:cNvSpPr>
              <p:nvPr/>
            </p:nvSpPr>
            <p:spPr bwMode="auto">
              <a:xfrm>
                <a:off x="11364912" y="474663"/>
                <a:ext cx="157163" cy="152400"/>
              </a:xfrm>
              <a:custGeom>
                <a:avLst/>
                <a:gdLst/>
                <a:ahLst/>
                <a:cxnLst/>
                <a:rect l="0" t="0" r="r" b="b"/>
                <a:pathLst>
                  <a:path w="33" h="32">
                    <a:moveTo>
                      <a:pt x="17" y="32"/>
                    </a:moveTo>
                    <a:cubicBezTo>
                      <a:pt x="13" y="32"/>
                      <a:pt x="9" y="30"/>
                      <a:pt x="6" y="27"/>
                    </a:cubicBezTo>
                    <a:cubicBezTo>
                      <a:pt x="0" y="21"/>
                      <a:pt x="0" y="11"/>
                      <a:pt x="6" y="5"/>
                    </a:cubicBezTo>
                    <a:cubicBezTo>
                      <a:pt x="9" y="2"/>
                      <a:pt x="13" y="0"/>
                      <a:pt x="17" y="0"/>
                    </a:cubicBezTo>
                    <a:cubicBezTo>
                      <a:pt x="21" y="0"/>
                      <a:pt x="25" y="2"/>
                      <a:pt x="28" y="5"/>
                    </a:cubicBezTo>
                    <a:cubicBezTo>
                      <a:pt x="31" y="8"/>
                      <a:pt x="33" y="12"/>
                      <a:pt x="33" y="16"/>
                    </a:cubicBezTo>
                    <a:cubicBezTo>
                      <a:pt x="33" y="20"/>
                      <a:pt x="31" y="24"/>
                      <a:pt x="28" y="27"/>
                    </a:cubicBezTo>
                    <a:cubicBezTo>
                      <a:pt x="25" y="30"/>
                      <a:pt x="21" y="32"/>
                      <a:pt x="17" y="32"/>
                    </a:cubicBezTo>
                    <a:close/>
                    <a:moveTo>
                      <a:pt x="17" y="4"/>
                    </a:moveTo>
                    <a:cubicBezTo>
                      <a:pt x="14" y="4"/>
                      <a:pt x="11" y="6"/>
                      <a:pt x="9" y="8"/>
                    </a:cubicBezTo>
                    <a:cubicBezTo>
                      <a:pt x="4" y="12"/>
                      <a:pt x="4" y="20"/>
                      <a:pt x="9" y="24"/>
                    </a:cubicBezTo>
                    <a:cubicBezTo>
                      <a:pt x="11" y="27"/>
                      <a:pt x="14" y="28"/>
                      <a:pt x="17" y="28"/>
                    </a:cubicBezTo>
                    <a:cubicBezTo>
                      <a:pt x="20" y="28"/>
                      <a:pt x="23" y="27"/>
                      <a:pt x="26" y="24"/>
                    </a:cubicBezTo>
                    <a:cubicBezTo>
                      <a:pt x="30" y="20"/>
                      <a:pt x="30" y="12"/>
                      <a:pt x="26" y="8"/>
                    </a:cubicBezTo>
                    <a:cubicBezTo>
                      <a:pt x="23" y="6"/>
                      <a:pt x="20"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3" name="Freeform 34"/>
              <p:cNvSpPr>
                <a:spLocks noEditPoints="1"/>
              </p:cNvSpPr>
              <p:nvPr/>
            </p:nvSpPr>
            <p:spPr bwMode="auto">
              <a:xfrm>
                <a:off x="11631612" y="1539875"/>
                <a:ext cx="188913"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4" name="Freeform 35"/>
              <p:cNvSpPr/>
              <p:nvPr/>
            </p:nvSpPr>
            <p:spPr bwMode="auto">
              <a:xfrm>
                <a:off x="11531600" y="5694363"/>
                <a:ext cx="298450" cy="1154113"/>
              </a:xfrm>
              <a:custGeom>
                <a:avLst/>
                <a:gdLst/>
                <a:ahLst/>
                <a:cxnLst/>
                <a:rect l="0" t="0" r="r" b="b"/>
                <a:pathLst>
                  <a:path w="188" h="727">
                    <a:moveTo>
                      <a:pt x="15" y="727"/>
                    </a:moveTo>
                    <a:lnTo>
                      <a:pt x="0" y="727"/>
                    </a:lnTo>
                    <a:lnTo>
                      <a:pt x="0" y="407"/>
                    </a:lnTo>
                    <a:lnTo>
                      <a:pt x="0" y="407"/>
                    </a:lnTo>
                    <a:lnTo>
                      <a:pt x="176" y="0"/>
                    </a:lnTo>
                    <a:lnTo>
                      <a:pt x="188" y="6"/>
                    </a:lnTo>
                    <a:lnTo>
                      <a:pt x="15" y="410"/>
                    </a:lnTo>
                    <a:lnTo>
                      <a:pt x="15" y="727"/>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5" name="Freeform 36"/>
              <p:cNvSpPr>
                <a:spLocks noEditPoints="1"/>
              </p:cNvSpPr>
              <p:nvPr/>
            </p:nvSpPr>
            <p:spPr bwMode="auto">
              <a:xfrm>
                <a:off x="11772900" y="5551488"/>
                <a:ext cx="157163" cy="155575"/>
              </a:xfrm>
              <a:custGeom>
                <a:avLst/>
                <a:gdLst/>
                <a:ahLst/>
                <a:cxnLst/>
                <a:rect l="0" t="0" r="r" b="b"/>
                <a:pathLst>
                  <a:path w="33" h="33">
                    <a:moveTo>
                      <a:pt x="17" y="33"/>
                    </a:moveTo>
                    <a:cubicBezTo>
                      <a:pt x="8" y="33"/>
                      <a:pt x="0" y="25"/>
                      <a:pt x="0" y="16"/>
                    </a:cubicBezTo>
                    <a:cubicBezTo>
                      <a:pt x="0" y="7"/>
                      <a:pt x="8" y="0"/>
                      <a:pt x="17" y="0"/>
                    </a:cubicBezTo>
                    <a:cubicBezTo>
                      <a:pt x="26" y="0"/>
                      <a:pt x="33" y="7"/>
                      <a:pt x="33" y="16"/>
                    </a:cubicBezTo>
                    <a:cubicBezTo>
                      <a:pt x="33" y="25"/>
                      <a:pt x="26" y="33"/>
                      <a:pt x="17" y="33"/>
                    </a:cubicBezTo>
                    <a:close/>
                    <a:moveTo>
                      <a:pt x="17" y="4"/>
                    </a:moveTo>
                    <a:cubicBezTo>
                      <a:pt x="10" y="4"/>
                      <a:pt x="4" y="9"/>
                      <a:pt x="4" y="16"/>
                    </a:cubicBezTo>
                    <a:cubicBezTo>
                      <a:pt x="4" y="23"/>
                      <a:pt x="10" y="29"/>
                      <a:pt x="17" y="29"/>
                    </a:cubicBezTo>
                    <a:cubicBezTo>
                      <a:pt x="23" y="29"/>
                      <a:pt x="29" y="23"/>
                      <a:pt x="29" y="16"/>
                    </a:cubicBezTo>
                    <a:cubicBezTo>
                      <a:pt x="29" y="9"/>
                      <a:pt x="23"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6" name="Freeform 37"/>
              <p:cNvSpPr/>
              <p:nvPr/>
            </p:nvSpPr>
            <p:spPr bwMode="auto">
              <a:xfrm>
                <a:off x="11710987" y="4763"/>
                <a:ext cx="304800" cy="1544638"/>
              </a:xfrm>
              <a:custGeom>
                <a:avLst/>
                <a:gdLst/>
                <a:ahLst/>
                <a:cxnLst/>
                <a:rect l="0" t="0" r="r" b="b"/>
                <a:pathLst>
                  <a:path w="192" h="973">
                    <a:moveTo>
                      <a:pt x="15" y="973"/>
                    </a:moveTo>
                    <a:lnTo>
                      <a:pt x="0" y="973"/>
                    </a:lnTo>
                    <a:lnTo>
                      <a:pt x="0" y="790"/>
                    </a:lnTo>
                    <a:lnTo>
                      <a:pt x="174" y="614"/>
                    </a:lnTo>
                    <a:lnTo>
                      <a:pt x="174" y="0"/>
                    </a:lnTo>
                    <a:lnTo>
                      <a:pt x="192" y="0"/>
                    </a:lnTo>
                    <a:lnTo>
                      <a:pt x="192" y="620"/>
                    </a:lnTo>
                    <a:lnTo>
                      <a:pt x="15" y="796"/>
                    </a:lnTo>
                    <a:lnTo>
                      <a:pt x="15" y="973"/>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7" name="Freeform 38"/>
              <p:cNvSpPr>
                <a:spLocks noEditPoints="1"/>
              </p:cNvSpPr>
              <p:nvPr/>
            </p:nvSpPr>
            <p:spPr bwMode="auto">
              <a:xfrm>
                <a:off x="11636375" y="4867275"/>
                <a:ext cx="188913"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8" name="Freeform 39"/>
              <p:cNvSpPr/>
              <p:nvPr/>
            </p:nvSpPr>
            <p:spPr bwMode="auto">
              <a:xfrm>
                <a:off x="11441112" y="5046663"/>
                <a:ext cx="307975" cy="1801813"/>
              </a:xfrm>
              <a:custGeom>
                <a:avLst/>
                <a:gdLst/>
                <a:ahLst/>
                <a:cxnLst/>
                <a:rect l="0" t="0" r="r" b="b"/>
                <a:pathLst>
                  <a:path w="194" h="1135">
                    <a:moveTo>
                      <a:pt x="18" y="1135"/>
                    </a:moveTo>
                    <a:lnTo>
                      <a:pt x="0" y="1135"/>
                    </a:lnTo>
                    <a:lnTo>
                      <a:pt x="0" y="354"/>
                    </a:lnTo>
                    <a:lnTo>
                      <a:pt x="176" y="177"/>
                    </a:lnTo>
                    <a:lnTo>
                      <a:pt x="176" y="0"/>
                    </a:lnTo>
                    <a:lnTo>
                      <a:pt x="194" y="0"/>
                    </a:lnTo>
                    <a:lnTo>
                      <a:pt x="194" y="183"/>
                    </a:lnTo>
                    <a:lnTo>
                      <a:pt x="18" y="360"/>
                    </a:lnTo>
                    <a:lnTo>
                      <a:pt x="18" y="113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9" name="Freeform 40"/>
              <p:cNvSpPr>
                <a:spLocks noEditPoints="1"/>
              </p:cNvSpPr>
              <p:nvPr/>
            </p:nvSpPr>
            <p:spPr bwMode="auto">
              <a:xfrm>
                <a:off x="11849100" y="64166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0" name="Rectangle 41"/>
              <p:cNvSpPr>
                <a:spLocks noChangeArrowheads="1"/>
              </p:cNvSpPr>
              <p:nvPr/>
            </p:nvSpPr>
            <p:spPr bwMode="auto">
              <a:xfrm>
                <a:off x="11939587" y="6596063"/>
                <a:ext cx="23813" cy="252413"/>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grpSp>
      </p:grpSp>
      <p:sp>
        <p:nvSpPr>
          <p:cNvPr id="2" name="Title Placeholder 1"/>
          <p:cNvSpPr>
            <a:spLocks noGrp="1"/>
          </p:cNvSpPr>
          <p:nvPr>
            <p:ph type="title"/>
          </p:nvPr>
        </p:nvSpPr>
        <p:spPr>
          <a:xfrm>
            <a:off x="1141413" y="618518"/>
            <a:ext cx="9905998" cy="1478570"/>
          </a:xfrm>
          <a:prstGeom prst="rect">
            <a:avLst/>
          </a:prstGeom>
        </p:spPr>
        <p:txBody>
          <a:bodyPr vert="horz" lIns="91440" tIns="45720" rIns="91440" bIns="45720" rtlCol="0" anchor="ctr">
            <a:normAutofit/>
          </a:bodyPr>
          <a:lstStyle/>
          <a:p>
            <a:endParaRPr lang="en-US" dirty="0"/>
          </a:p>
        </p:txBody>
      </p:sp>
      <p:sp>
        <p:nvSpPr>
          <p:cNvPr id="3" name="Text Placeholder 2"/>
          <p:cNvSpPr>
            <a:spLocks noGrp="1"/>
          </p:cNvSpPr>
          <p:nvPr>
            <p:ph type="body" idx="1"/>
          </p:nvPr>
        </p:nvSpPr>
        <p:spPr>
          <a:xfrm>
            <a:off x="1141412" y="2249487"/>
            <a:ext cx="9905999" cy="3541714"/>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456921" y="5883276"/>
            <a:ext cx="2743200"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EC4347D3-4C9A-C240-8F14-750059DFEEB0}" type="datetimeFigureOut">
              <a:rPr lang="en-US" smtClean="0"/>
              <a:t>11/18/25</a:t>
            </a:fld>
            <a:endParaRPr lang="en-US"/>
          </a:p>
        </p:txBody>
      </p:sp>
      <p:sp>
        <p:nvSpPr>
          <p:cNvPr id="5" name="Footer Placeholder 4"/>
          <p:cNvSpPr>
            <a:spLocks noGrp="1"/>
          </p:cNvSpPr>
          <p:nvPr>
            <p:ph type="ftr" sz="quarter" idx="3"/>
          </p:nvPr>
        </p:nvSpPr>
        <p:spPr>
          <a:xfrm>
            <a:off x="1141411" y="5883275"/>
            <a:ext cx="6239309" cy="365125"/>
          </a:xfrm>
          <a:prstGeom prst="rect">
            <a:avLst/>
          </a:prstGeom>
        </p:spPr>
        <p:txBody>
          <a:bodyPr vert="horz" lIns="91440" tIns="45720" rIns="91440" bIns="45720" rtlCol="0" anchor="ctr"/>
          <a:lstStyle>
            <a:lvl1pPr algn="l">
              <a:defRPr sz="1050" cap="all" baseline="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10276321" y="5883274"/>
            <a:ext cx="771089"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C3D91E88-2515-D24B-B4EA-67D975D0853E}" type="slidenum">
              <a:rPr lang="en-US" smtClean="0"/>
              <a:t>‹#›</a:t>
            </a:fld>
            <a:endParaRPr lang="en-US"/>
          </a:p>
        </p:txBody>
      </p:sp>
    </p:spTree>
    <p:extLst>
      <p:ext uri="{BB962C8B-B14F-4D97-AF65-F5344CB8AC3E}">
        <p14:creationId xmlns:p14="http://schemas.microsoft.com/office/powerpoint/2010/main" val="1014260183"/>
      </p:ext>
    </p:extLst>
  </p:cSld>
  <p:clrMap bg1="dk1" tx1="lt1" bg2="dk2" tx2="lt2" accent1="accent1" accent2="accent2" accent3="accent3" accent4="accent4" accent5="accent5" accent6="accent6" hlink="hlink" folHlink="folHlink"/>
  <p:sldLayoutIdLst>
    <p:sldLayoutId id="2147484007" r:id="rId1"/>
    <p:sldLayoutId id="2147484008" r:id="rId2"/>
    <p:sldLayoutId id="2147484009" r:id="rId3"/>
    <p:sldLayoutId id="2147484010" r:id="rId4"/>
    <p:sldLayoutId id="2147484011" r:id="rId5"/>
    <p:sldLayoutId id="2147484012" r:id="rId6"/>
    <p:sldLayoutId id="2147484013" r:id="rId7"/>
    <p:sldLayoutId id="2147484014" r:id="rId8"/>
    <p:sldLayoutId id="2147484015" r:id="rId9"/>
    <p:sldLayoutId id="2147484016" r:id="rId10"/>
    <p:sldLayoutId id="2147484017" r:id="rId11"/>
    <p:sldLayoutId id="2147484018" r:id="rId12"/>
    <p:sldLayoutId id="2147484019" r:id="rId13"/>
    <p:sldLayoutId id="2147484020" r:id="rId14"/>
    <p:sldLayoutId id="2147484021" r:id="rId15"/>
    <p:sldLayoutId id="2147484022" r:id="rId16"/>
    <p:sldLayoutId id="2147484023" r:id="rId17"/>
  </p:sldLayoutIdLst>
  <p:txStyles>
    <p:titleStyle>
      <a:lvl1pPr algn="l" defTabSz="914400" rtl="0" eaLnBrk="1" latinLnBrk="0" hangingPunct="1">
        <a:lnSpc>
          <a:spcPct val="90000"/>
        </a:lnSpc>
        <a:spcBef>
          <a:spcPct val="0"/>
        </a:spcBef>
        <a:buNone/>
        <a:defRPr sz="3600" kern="1200" cap="all" baseline="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8.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3.png"/><Relationship Id="rId7" Type="http://schemas.openxmlformats.org/officeDocument/2006/relationships/image" Target="../media/image16.png"/><Relationship Id="rId2" Type="http://schemas.openxmlformats.org/officeDocument/2006/relationships/image" Target="../media/image12.png"/><Relationship Id="rId1" Type="http://schemas.openxmlformats.org/officeDocument/2006/relationships/slideLayout" Target="../slideLayouts/slideLayout2.xml"/><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image" Target="../media/image1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70.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2.xml"/><Relationship Id="rId4" Type="http://schemas.openxmlformats.org/officeDocument/2006/relationships/image" Target="../media/image2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8" Type="http://schemas.openxmlformats.org/officeDocument/2006/relationships/image" Target="../media/image34.png"/><Relationship Id="rId3" Type="http://schemas.openxmlformats.org/officeDocument/2006/relationships/image" Target="../media/image29.png"/><Relationship Id="rId7" Type="http://schemas.openxmlformats.org/officeDocument/2006/relationships/image" Target="../media/image33.png"/><Relationship Id="rId2" Type="http://schemas.openxmlformats.org/officeDocument/2006/relationships/image" Target="../media/image28.png"/><Relationship Id="rId1" Type="http://schemas.openxmlformats.org/officeDocument/2006/relationships/slideLayout" Target="../slideLayouts/slideLayout2.xml"/><Relationship Id="rId6" Type="http://schemas.openxmlformats.org/officeDocument/2006/relationships/image" Target="../media/image32.png"/><Relationship Id="rId5" Type="http://schemas.openxmlformats.org/officeDocument/2006/relationships/image" Target="../media/image31.png"/><Relationship Id="rId4" Type="http://schemas.openxmlformats.org/officeDocument/2006/relationships/image" Target="../media/image30.png"/></Relationships>
</file>

<file path=ppt/slides/_rels/slide35.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5.png"/><Relationship Id="rId1" Type="http://schemas.openxmlformats.org/officeDocument/2006/relationships/slideLayout" Target="../slideLayouts/slideLayout2.xml"/><Relationship Id="rId5" Type="http://schemas.openxmlformats.org/officeDocument/2006/relationships/image" Target="../media/image38.png"/><Relationship Id="rId4" Type="http://schemas.openxmlformats.org/officeDocument/2006/relationships/image" Target="../media/image37.png"/></Relationships>
</file>

<file path=ppt/slides/_rels/slide36.xml.rels><?xml version="1.0" encoding="UTF-8" standalone="yes"?>
<Relationships xmlns="http://schemas.openxmlformats.org/package/2006/relationships"><Relationship Id="rId8" Type="http://schemas.openxmlformats.org/officeDocument/2006/relationships/image" Target="../media/image41.png"/><Relationship Id="rId3" Type="http://schemas.openxmlformats.org/officeDocument/2006/relationships/image" Target="../media/image360.png"/><Relationship Id="rId7" Type="http://schemas.openxmlformats.org/officeDocument/2006/relationships/image" Target="../media/image40.png"/><Relationship Id="rId2" Type="http://schemas.openxmlformats.org/officeDocument/2006/relationships/image" Target="../media/image350.png"/><Relationship Id="rId1" Type="http://schemas.openxmlformats.org/officeDocument/2006/relationships/slideLayout" Target="../slideLayouts/slideLayout2.xml"/><Relationship Id="rId6" Type="http://schemas.openxmlformats.org/officeDocument/2006/relationships/image" Target="../media/image39.png"/><Relationship Id="rId5" Type="http://schemas.openxmlformats.org/officeDocument/2006/relationships/image" Target="../media/image380.png"/><Relationship Id="rId4" Type="http://schemas.openxmlformats.org/officeDocument/2006/relationships/image" Target="../media/image370.png"/></Relationships>
</file>

<file path=ppt/slides/_rels/slide37.xml.rels><?xml version="1.0" encoding="UTF-8" standalone="yes"?>
<Relationships xmlns="http://schemas.openxmlformats.org/package/2006/relationships"><Relationship Id="rId3" Type="http://schemas.openxmlformats.org/officeDocument/2006/relationships/image" Target="../media/image43.png"/><Relationship Id="rId1" Type="http://schemas.openxmlformats.org/officeDocument/2006/relationships/slideLayout" Target="../slideLayouts/slideLayout2.xml"/><Relationship Id="rId6" Type="http://schemas.openxmlformats.org/officeDocument/2006/relationships/image" Target="../media/image44.png"/><Relationship Id="rId5" Type="http://schemas.openxmlformats.org/officeDocument/2006/relationships/image" Target="../media/image45.png"/><Relationship Id="rId4" Type="http://schemas.openxmlformats.org/officeDocument/2006/relationships/image" Target="../media/image42.png"/></Relationships>
</file>

<file path=ppt/slides/_rels/slide38.xml.rels><?xml version="1.0" encoding="UTF-8" standalone="yes"?>
<Relationships xmlns="http://schemas.openxmlformats.org/package/2006/relationships"><Relationship Id="rId3" Type="http://schemas.openxmlformats.org/officeDocument/2006/relationships/image" Target="../media/image43.png"/><Relationship Id="rId7" Type="http://schemas.openxmlformats.org/officeDocument/2006/relationships/image" Target="../media/image42.png"/><Relationship Id="rId1" Type="http://schemas.openxmlformats.org/officeDocument/2006/relationships/slideLayout" Target="../slideLayouts/slideLayout2.xml"/><Relationship Id="rId6" Type="http://schemas.openxmlformats.org/officeDocument/2006/relationships/image" Target="../media/image46.png"/><Relationship Id="rId5" Type="http://schemas.openxmlformats.org/officeDocument/2006/relationships/image" Target="../media/image47.png"/></Relationships>
</file>

<file path=ppt/slides/_rels/slide39.xml.rels><?xml version="1.0" encoding="UTF-8" standalone="yes"?>
<Relationships xmlns="http://schemas.openxmlformats.org/package/2006/relationships"><Relationship Id="rId3" Type="http://schemas.openxmlformats.org/officeDocument/2006/relationships/image" Target="../media/image43.png"/><Relationship Id="rId7" Type="http://schemas.openxmlformats.org/officeDocument/2006/relationships/image" Target="../media/image42.png"/><Relationship Id="rId1" Type="http://schemas.openxmlformats.org/officeDocument/2006/relationships/slideLayout" Target="../slideLayouts/slideLayout2.xml"/><Relationship Id="rId6" Type="http://schemas.openxmlformats.org/officeDocument/2006/relationships/image" Target="../media/image48.png"/><Relationship Id="rId5" Type="http://schemas.openxmlformats.org/officeDocument/2006/relationships/image" Target="../media/image49.png"/></Relationships>
</file>

<file path=ppt/slides/_rels/slide40.xml.rels><?xml version="1.0" encoding="UTF-8" standalone="yes"?>
<Relationships xmlns="http://schemas.openxmlformats.org/package/2006/relationships"><Relationship Id="rId3" Type="http://schemas.openxmlformats.org/officeDocument/2006/relationships/image" Target="../media/image43.png"/><Relationship Id="rId1" Type="http://schemas.openxmlformats.org/officeDocument/2006/relationships/slideLayout" Target="../slideLayouts/slideLayout2.xml"/><Relationship Id="rId6" Type="http://schemas.openxmlformats.org/officeDocument/2006/relationships/image" Target="../media/image52.png"/><Relationship Id="rId5" Type="http://schemas.openxmlformats.org/officeDocument/2006/relationships/image" Target="../media/image51.png"/><Relationship Id="rId4" Type="http://schemas.openxmlformats.org/officeDocument/2006/relationships/image" Target="../media/image50.png"/></Relationships>
</file>

<file path=ppt/slides/_rels/slide41.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2.xml"/><Relationship Id="rId6" Type="http://schemas.openxmlformats.org/officeDocument/2006/relationships/image" Target="../media/image55.png"/><Relationship Id="rId5" Type="http://schemas.openxmlformats.org/officeDocument/2006/relationships/image" Target="../media/image51.png"/><Relationship Id="rId4" Type="http://schemas.openxmlformats.org/officeDocument/2006/relationships/image" Target="../media/image54.png"/></Relationships>
</file>

<file path=ppt/slides/_rels/slide42.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image" Target="../media/image56.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image" Target="../media/image570.png"/><Relationship Id="rId1" Type="http://schemas.openxmlformats.org/officeDocument/2006/relationships/slideLayout" Target="../slideLayouts/slideLayout2.xml"/><Relationship Id="rId4" Type="http://schemas.openxmlformats.org/officeDocument/2006/relationships/image" Target="../media/image59.png"/></Relationships>
</file>

<file path=ppt/slides/_rels/slide44.xml.rels><?xml version="1.0" encoding="UTF-8" standalone="yes"?>
<Relationships xmlns="http://schemas.openxmlformats.org/package/2006/relationships"><Relationship Id="rId2" Type="http://schemas.openxmlformats.org/officeDocument/2006/relationships/image" Target="../media/image60.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48.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49.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1.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image" Target="../media/image62.png"/><Relationship Id="rId1" Type="http://schemas.openxmlformats.org/officeDocument/2006/relationships/slideLayout" Target="../slideLayouts/slideLayout2.xml"/><Relationship Id="rId5" Type="http://schemas.openxmlformats.org/officeDocument/2006/relationships/image" Target="../media/image65.png"/><Relationship Id="rId4" Type="http://schemas.openxmlformats.org/officeDocument/2006/relationships/image" Target="../media/image64.png"/></Relationships>
</file>

<file path=ppt/slides/_rels/slide52.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image" Target="../media/image62.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image" Target="../media/image62.png"/><Relationship Id="rId1" Type="http://schemas.openxmlformats.org/officeDocument/2006/relationships/slideLayout" Target="../slideLayouts/slideLayout2.xml"/><Relationship Id="rId5" Type="http://schemas.openxmlformats.org/officeDocument/2006/relationships/image" Target="../media/image65.png"/><Relationship Id="rId4" Type="http://schemas.openxmlformats.org/officeDocument/2006/relationships/image" Target="../media/image66.png"/></Relationships>
</file>

<file path=ppt/slides/_rels/slide54.xml.rels><?xml version="1.0" encoding="UTF-8" standalone="yes"?>
<Relationships xmlns="http://schemas.openxmlformats.org/package/2006/relationships"><Relationship Id="rId2" Type="http://schemas.openxmlformats.org/officeDocument/2006/relationships/image" Target="../media/image67.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image" Target="../media/image68.png"/><Relationship Id="rId1" Type="http://schemas.openxmlformats.org/officeDocument/2006/relationships/slideLayout" Target="../slideLayouts/slideLayout2.xml"/><Relationship Id="rId4" Type="http://schemas.openxmlformats.org/officeDocument/2006/relationships/image" Target="../media/image70.png"/></Relationships>
</file>

<file path=ppt/slides/_rels/slide56.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image" Target="../media/image68.pn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image" Target="../media/image71.png"/><Relationship Id="rId1" Type="http://schemas.openxmlformats.org/officeDocument/2006/relationships/slideLayout" Target="../slideLayouts/slideLayout4.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image" Target="../media/image62.png"/><Relationship Id="rId1" Type="http://schemas.openxmlformats.org/officeDocument/2006/relationships/slideLayout" Target="../slideLayouts/slideLayout2.xml"/><Relationship Id="rId5" Type="http://schemas.openxmlformats.org/officeDocument/2006/relationships/image" Target="../media/image73.png"/><Relationship Id="rId4" Type="http://schemas.openxmlformats.org/officeDocument/2006/relationships/image" Target="../media/image66.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3.xml.rels><?xml version="1.0" encoding="UTF-8" standalone="yes"?>
<Relationships xmlns="http://schemas.openxmlformats.org/package/2006/relationships"><Relationship Id="rId2" Type="http://schemas.openxmlformats.org/officeDocument/2006/relationships/image" Target="../media/image74.png"/><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image" Target="../media/image75.png"/><Relationship Id="rId1" Type="http://schemas.openxmlformats.org/officeDocument/2006/relationships/slideLayout" Target="../slideLayouts/slideLayout2.xml"/><Relationship Id="rId5" Type="http://schemas.openxmlformats.org/officeDocument/2006/relationships/image" Target="../media/image78.png"/><Relationship Id="rId4" Type="http://schemas.openxmlformats.org/officeDocument/2006/relationships/image" Target="../media/image77.png"/></Relationships>
</file>

<file path=ppt/slides/_rels/slide65.xml.rels><?xml version="1.0" encoding="UTF-8" standalone="yes"?>
<Relationships xmlns="http://schemas.openxmlformats.org/package/2006/relationships"><Relationship Id="rId3" Type="http://schemas.openxmlformats.org/officeDocument/2006/relationships/image" Target="../media/image79.png"/><Relationship Id="rId2" Type="http://schemas.openxmlformats.org/officeDocument/2006/relationships/image" Target="../media/image75.png"/><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image" Target="../media/image75.png"/><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image" Target="../media/image81.png"/><Relationship Id="rId1" Type="http://schemas.openxmlformats.org/officeDocument/2006/relationships/slideLayout" Target="../slideLayouts/slideLayout4.xml"/></Relationships>
</file>

<file path=ppt/slides/_rels/slide68.xml.rels><?xml version="1.0" encoding="UTF-8" standalone="yes"?>
<Relationships xmlns="http://schemas.openxmlformats.org/package/2006/relationships"><Relationship Id="rId3" Type="http://schemas.openxmlformats.org/officeDocument/2006/relationships/image" Target="../media/image81.png"/><Relationship Id="rId2" Type="http://schemas.openxmlformats.org/officeDocument/2006/relationships/image" Target="../media/image82.png"/><Relationship Id="rId1" Type="http://schemas.openxmlformats.org/officeDocument/2006/relationships/slideLayout" Target="../slideLayouts/slideLayout4.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1.xml.rels><?xml version="1.0" encoding="UTF-8" standalone="yes"?>
<Relationships xmlns="http://schemas.openxmlformats.org/package/2006/relationships"><Relationship Id="rId3" Type="http://schemas.openxmlformats.org/officeDocument/2006/relationships/image" Target="../media/image84.png"/><Relationship Id="rId7" Type="http://schemas.openxmlformats.org/officeDocument/2006/relationships/image" Target="../media/image88.png"/><Relationship Id="rId2" Type="http://schemas.openxmlformats.org/officeDocument/2006/relationships/image" Target="../media/image83.png"/><Relationship Id="rId1" Type="http://schemas.openxmlformats.org/officeDocument/2006/relationships/slideLayout" Target="../slideLayouts/slideLayout2.xml"/><Relationship Id="rId6" Type="http://schemas.openxmlformats.org/officeDocument/2006/relationships/image" Target="../media/image87.png"/><Relationship Id="rId5" Type="http://schemas.openxmlformats.org/officeDocument/2006/relationships/image" Target="../media/image86.png"/><Relationship Id="rId4" Type="http://schemas.openxmlformats.org/officeDocument/2006/relationships/image" Target="../media/image85.png"/></Relationships>
</file>

<file path=ppt/slides/_rels/slide72.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image" Target="../media/image75.png"/><Relationship Id="rId1" Type="http://schemas.openxmlformats.org/officeDocument/2006/relationships/slideLayout" Target="../slideLayouts/slideLayout2.xml"/><Relationship Id="rId5" Type="http://schemas.openxmlformats.org/officeDocument/2006/relationships/image" Target="../media/image90.png"/><Relationship Id="rId4" Type="http://schemas.openxmlformats.org/officeDocument/2006/relationships/image" Target="../media/image89.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4.xml.rels><?xml version="1.0" encoding="UTF-8" standalone="yes"?>
<Relationships xmlns="http://schemas.openxmlformats.org/package/2006/relationships"><Relationship Id="rId2" Type="http://schemas.openxmlformats.org/officeDocument/2006/relationships/image" Target="../media/image91.png"/><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image" Target="../media/image91.png"/><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3" Type="http://schemas.openxmlformats.org/officeDocument/2006/relationships/image" Target="../media/image93.png"/><Relationship Id="rId2" Type="http://schemas.openxmlformats.org/officeDocument/2006/relationships/image" Target="../media/image92.png"/><Relationship Id="rId1" Type="http://schemas.openxmlformats.org/officeDocument/2006/relationships/slideLayout" Target="../slideLayouts/slideLayout2.xml"/><Relationship Id="rId5" Type="http://schemas.openxmlformats.org/officeDocument/2006/relationships/image" Target="../media/image95.png"/><Relationship Id="rId4" Type="http://schemas.openxmlformats.org/officeDocument/2006/relationships/image" Target="../media/image94.png"/></Relationships>
</file>

<file path=ppt/slides/_rels/slide77.xml.rels><?xml version="1.0" encoding="UTF-8" standalone="yes"?>
<Relationships xmlns="http://schemas.openxmlformats.org/package/2006/relationships"><Relationship Id="rId3" Type="http://schemas.openxmlformats.org/officeDocument/2006/relationships/image" Target="../media/image96.png"/><Relationship Id="rId2" Type="http://schemas.openxmlformats.org/officeDocument/2006/relationships/image" Target="../media/image92.png"/><Relationship Id="rId1" Type="http://schemas.openxmlformats.org/officeDocument/2006/relationships/slideLayout" Target="../slideLayouts/slideLayout2.xml"/><Relationship Id="rId4" Type="http://schemas.openxmlformats.org/officeDocument/2006/relationships/image" Target="../media/image97.png"/></Relationships>
</file>

<file path=ppt/slides/_rels/slide78.xml.rels><?xml version="1.0" encoding="UTF-8" standalone="yes"?>
<Relationships xmlns="http://schemas.openxmlformats.org/package/2006/relationships"><Relationship Id="rId3" Type="http://schemas.openxmlformats.org/officeDocument/2006/relationships/image" Target="../media/image98.png"/><Relationship Id="rId2" Type="http://schemas.openxmlformats.org/officeDocument/2006/relationships/image" Target="../media/image92.png"/><Relationship Id="rId1" Type="http://schemas.openxmlformats.org/officeDocument/2006/relationships/slideLayout" Target="../slideLayouts/slideLayout2.xml"/><Relationship Id="rId4" Type="http://schemas.openxmlformats.org/officeDocument/2006/relationships/image" Target="../media/image91.png"/></Relationships>
</file>

<file path=ppt/slides/_rels/slide79.xml.rels><?xml version="1.0" encoding="UTF-8" standalone="yes"?>
<Relationships xmlns="http://schemas.openxmlformats.org/package/2006/relationships"><Relationship Id="rId3" Type="http://schemas.openxmlformats.org/officeDocument/2006/relationships/image" Target="../media/image100.png"/><Relationship Id="rId2" Type="http://schemas.openxmlformats.org/officeDocument/2006/relationships/image" Target="../media/image99.png"/><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8" Type="http://schemas.openxmlformats.org/officeDocument/2006/relationships/image" Target="../media/image106.png"/><Relationship Id="rId13" Type="http://schemas.openxmlformats.org/officeDocument/2006/relationships/image" Target="../media/image111.png"/><Relationship Id="rId3" Type="http://schemas.openxmlformats.org/officeDocument/2006/relationships/image" Target="../media/image102.png"/><Relationship Id="rId7" Type="http://schemas.openxmlformats.org/officeDocument/2006/relationships/image" Target="../media/image105.png"/><Relationship Id="rId12" Type="http://schemas.openxmlformats.org/officeDocument/2006/relationships/image" Target="../media/image110.png"/><Relationship Id="rId2" Type="http://schemas.openxmlformats.org/officeDocument/2006/relationships/image" Target="../media/image101.png"/><Relationship Id="rId1" Type="http://schemas.openxmlformats.org/officeDocument/2006/relationships/slideLayout" Target="../slideLayouts/slideLayout2.xml"/><Relationship Id="rId6" Type="http://schemas.openxmlformats.org/officeDocument/2006/relationships/image" Target="../media/image104.png"/><Relationship Id="rId11" Type="http://schemas.openxmlformats.org/officeDocument/2006/relationships/image" Target="../media/image109.png"/><Relationship Id="rId5" Type="http://schemas.openxmlformats.org/officeDocument/2006/relationships/image" Target="../media/image103.png"/><Relationship Id="rId10" Type="http://schemas.openxmlformats.org/officeDocument/2006/relationships/image" Target="../media/image108.png"/><Relationship Id="rId4" Type="http://schemas.openxmlformats.org/officeDocument/2006/relationships/image" Target="../media/image100.png"/><Relationship Id="rId9" Type="http://schemas.openxmlformats.org/officeDocument/2006/relationships/image" Target="../media/image107.png"/></Relationships>
</file>

<file path=ppt/slides/_rels/slide81.xml.rels><?xml version="1.0" encoding="UTF-8" standalone="yes"?>
<Relationships xmlns="http://schemas.openxmlformats.org/package/2006/relationships"><Relationship Id="rId8" Type="http://schemas.openxmlformats.org/officeDocument/2006/relationships/image" Target="../media/image106.png"/><Relationship Id="rId13" Type="http://schemas.openxmlformats.org/officeDocument/2006/relationships/image" Target="../media/image111.png"/><Relationship Id="rId3" Type="http://schemas.openxmlformats.org/officeDocument/2006/relationships/image" Target="../media/image102.png"/><Relationship Id="rId7" Type="http://schemas.openxmlformats.org/officeDocument/2006/relationships/image" Target="../media/image105.png"/><Relationship Id="rId12" Type="http://schemas.openxmlformats.org/officeDocument/2006/relationships/image" Target="../media/image110.png"/><Relationship Id="rId2" Type="http://schemas.openxmlformats.org/officeDocument/2006/relationships/image" Target="../media/image101.png"/><Relationship Id="rId1" Type="http://schemas.openxmlformats.org/officeDocument/2006/relationships/slideLayout" Target="../slideLayouts/slideLayout2.xml"/><Relationship Id="rId6" Type="http://schemas.openxmlformats.org/officeDocument/2006/relationships/image" Target="../media/image104.png"/><Relationship Id="rId11" Type="http://schemas.openxmlformats.org/officeDocument/2006/relationships/image" Target="../media/image109.png"/><Relationship Id="rId5" Type="http://schemas.openxmlformats.org/officeDocument/2006/relationships/image" Target="../media/image103.png"/><Relationship Id="rId10" Type="http://schemas.openxmlformats.org/officeDocument/2006/relationships/image" Target="../media/image108.png"/><Relationship Id="rId4" Type="http://schemas.openxmlformats.org/officeDocument/2006/relationships/image" Target="../media/image100.png"/><Relationship Id="rId9" Type="http://schemas.openxmlformats.org/officeDocument/2006/relationships/image" Target="../media/image107.png"/><Relationship Id="rId14" Type="http://schemas.openxmlformats.org/officeDocument/2006/relationships/image" Target="../media/image112.png"/></Relationships>
</file>

<file path=ppt/slides/_rels/slide82.xml.rels><?xml version="1.0" encoding="UTF-8" standalone="yes"?>
<Relationships xmlns="http://schemas.openxmlformats.org/package/2006/relationships"><Relationship Id="rId8" Type="http://schemas.openxmlformats.org/officeDocument/2006/relationships/image" Target="../media/image107.png"/><Relationship Id="rId3" Type="http://schemas.openxmlformats.org/officeDocument/2006/relationships/image" Target="../media/image100.png"/><Relationship Id="rId7" Type="http://schemas.openxmlformats.org/officeDocument/2006/relationships/image" Target="../media/image106.png"/><Relationship Id="rId12" Type="http://schemas.openxmlformats.org/officeDocument/2006/relationships/image" Target="../media/image111.png"/><Relationship Id="rId2" Type="http://schemas.openxmlformats.org/officeDocument/2006/relationships/image" Target="../media/image113.png"/><Relationship Id="rId1" Type="http://schemas.openxmlformats.org/officeDocument/2006/relationships/slideLayout" Target="../slideLayouts/slideLayout2.xml"/><Relationship Id="rId6" Type="http://schemas.openxmlformats.org/officeDocument/2006/relationships/image" Target="../media/image105.png"/><Relationship Id="rId11" Type="http://schemas.openxmlformats.org/officeDocument/2006/relationships/image" Target="../media/image110.png"/><Relationship Id="rId5" Type="http://schemas.openxmlformats.org/officeDocument/2006/relationships/image" Target="../media/image104.png"/><Relationship Id="rId10" Type="http://schemas.openxmlformats.org/officeDocument/2006/relationships/image" Target="../media/image109.png"/><Relationship Id="rId4" Type="http://schemas.openxmlformats.org/officeDocument/2006/relationships/image" Target="../media/image103.png"/><Relationship Id="rId9" Type="http://schemas.openxmlformats.org/officeDocument/2006/relationships/image" Target="../media/image108.png"/></Relationships>
</file>

<file path=ppt/slides/_rels/slide83.xml.rels><?xml version="1.0" encoding="UTF-8" standalone="yes"?>
<Relationships xmlns="http://schemas.openxmlformats.org/package/2006/relationships"><Relationship Id="rId8" Type="http://schemas.openxmlformats.org/officeDocument/2006/relationships/image" Target="../media/image107.png"/><Relationship Id="rId3" Type="http://schemas.openxmlformats.org/officeDocument/2006/relationships/image" Target="../media/image100.png"/><Relationship Id="rId7" Type="http://schemas.openxmlformats.org/officeDocument/2006/relationships/image" Target="../media/image106.png"/><Relationship Id="rId12" Type="http://schemas.openxmlformats.org/officeDocument/2006/relationships/image" Target="../media/image111.png"/><Relationship Id="rId2" Type="http://schemas.openxmlformats.org/officeDocument/2006/relationships/image" Target="../media/image113.png"/><Relationship Id="rId1" Type="http://schemas.openxmlformats.org/officeDocument/2006/relationships/slideLayout" Target="../slideLayouts/slideLayout2.xml"/><Relationship Id="rId6" Type="http://schemas.openxmlformats.org/officeDocument/2006/relationships/image" Target="../media/image105.png"/><Relationship Id="rId11" Type="http://schemas.openxmlformats.org/officeDocument/2006/relationships/image" Target="../media/image110.png"/><Relationship Id="rId5" Type="http://schemas.openxmlformats.org/officeDocument/2006/relationships/image" Target="../media/image104.png"/><Relationship Id="rId10" Type="http://schemas.openxmlformats.org/officeDocument/2006/relationships/image" Target="../media/image109.png"/><Relationship Id="rId4" Type="http://schemas.openxmlformats.org/officeDocument/2006/relationships/image" Target="../media/image103.png"/><Relationship Id="rId9" Type="http://schemas.openxmlformats.org/officeDocument/2006/relationships/image" Target="../media/image108.png"/></Relationships>
</file>

<file path=ppt/slides/_rels/slide84.xml.rels><?xml version="1.0" encoding="UTF-8" standalone="yes"?>
<Relationships xmlns="http://schemas.openxmlformats.org/package/2006/relationships"><Relationship Id="rId8" Type="http://schemas.openxmlformats.org/officeDocument/2006/relationships/image" Target="../media/image106.png"/><Relationship Id="rId13" Type="http://schemas.openxmlformats.org/officeDocument/2006/relationships/image" Target="../media/image111.png"/><Relationship Id="rId3" Type="http://schemas.openxmlformats.org/officeDocument/2006/relationships/image" Target="../media/image115.png"/><Relationship Id="rId7" Type="http://schemas.openxmlformats.org/officeDocument/2006/relationships/image" Target="../media/image105.png"/><Relationship Id="rId12" Type="http://schemas.openxmlformats.org/officeDocument/2006/relationships/image" Target="../media/image110.png"/><Relationship Id="rId2" Type="http://schemas.openxmlformats.org/officeDocument/2006/relationships/image" Target="../media/image114.png"/><Relationship Id="rId1" Type="http://schemas.openxmlformats.org/officeDocument/2006/relationships/slideLayout" Target="../slideLayouts/slideLayout2.xml"/><Relationship Id="rId6" Type="http://schemas.openxmlformats.org/officeDocument/2006/relationships/image" Target="../media/image104.png"/><Relationship Id="rId11" Type="http://schemas.openxmlformats.org/officeDocument/2006/relationships/image" Target="../media/image109.png"/><Relationship Id="rId5" Type="http://schemas.openxmlformats.org/officeDocument/2006/relationships/image" Target="../media/image103.png"/><Relationship Id="rId10" Type="http://schemas.openxmlformats.org/officeDocument/2006/relationships/image" Target="../media/image108.png"/><Relationship Id="rId4" Type="http://schemas.openxmlformats.org/officeDocument/2006/relationships/image" Target="../media/image100.png"/><Relationship Id="rId9" Type="http://schemas.openxmlformats.org/officeDocument/2006/relationships/image" Target="../media/image107.png"/></Relationships>
</file>

<file path=ppt/slides/_rels/slide85.xml.rels><?xml version="1.0" encoding="UTF-8" standalone="yes"?>
<Relationships xmlns="http://schemas.openxmlformats.org/package/2006/relationships"><Relationship Id="rId8" Type="http://schemas.openxmlformats.org/officeDocument/2006/relationships/image" Target="../media/image121.png"/><Relationship Id="rId13" Type="http://schemas.openxmlformats.org/officeDocument/2006/relationships/image" Target="../media/image126.png"/><Relationship Id="rId3" Type="http://schemas.openxmlformats.org/officeDocument/2006/relationships/image" Target="../media/image117.png"/><Relationship Id="rId7" Type="http://schemas.openxmlformats.org/officeDocument/2006/relationships/image" Target="../media/image120.png"/><Relationship Id="rId12" Type="http://schemas.openxmlformats.org/officeDocument/2006/relationships/image" Target="../media/image125.png"/><Relationship Id="rId2" Type="http://schemas.openxmlformats.org/officeDocument/2006/relationships/image" Target="../media/image116.png"/><Relationship Id="rId1" Type="http://schemas.openxmlformats.org/officeDocument/2006/relationships/slideLayout" Target="../slideLayouts/slideLayout2.xml"/><Relationship Id="rId6" Type="http://schemas.openxmlformats.org/officeDocument/2006/relationships/image" Target="../media/image119.png"/><Relationship Id="rId11" Type="http://schemas.openxmlformats.org/officeDocument/2006/relationships/image" Target="../media/image124.png"/><Relationship Id="rId5" Type="http://schemas.openxmlformats.org/officeDocument/2006/relationships/image" Target="../media/image118.png"/><Relationship Id="rId10" Type="http://schemas.openxmlformats.org/officeDocument/2006/relationships/image" Target="../media/image123.png"/><Relationship Id="rId4" Type="http://schemas.openxmlformats.org/officeDocument/2006/relationships/image" Target="../media/image100.png"/><Relationship Id="rId9" Type="http://schemas.openxmlformats.org/officeDocument/2006/relationships/image" Target="../media/image122.png"/></Relationships>
</file>

<file path=ppt/slides/_rels/slide86.xml.rels><?xml version="1.0" encoding="UTF-8" standalone="yes"?>
<Relationships xmlns="http://schemas.openxmlformats.org/package/2006/relationships"><Relationship Id="rId8" Type="http://schemas.openxmlformats.org/officeDocument/2006/relationships/image" Target="../media/image132.png"/><Relationship Id="rId13" Type="http://schemas.openxmlformats.org/officeDocument/2006/relationships/image" Target="../media/image137.png"/><Relationship Id="rId3" Type="http://schemas.openxmlformats.org/officeDocument/2006/relationships/image" Target="../media/image127.png"/><Relationship Id="rId7" Type="http://schemas.openxmlformats.org/officeDocument/2006/relationships/image" Target="../media/image131.png"/><Relationship Id="rId12" Type="http://schemas.openxmlformats.org/officeDocument/2006/relationships/image" Target="../media/image136.png"/><Relationship Id="rId2" Type="http://schemas.openxmlformats.org/officeDocument/2006/relationships/image" Target="../media/image116.png"/><Relationship Id="rId1" Type="http://schemas.openxmlformats.org/officeDocument/2006/relationships/slideLayout" Target="../slideLayouts/slideLayout2.xml"/><Relationship Id="rId6" Type="http://schemas.openxmlformats.org/officeDocument/2006/relationships/image" Target="../media/image130.png"/><Relationship Id="rId11" Type="http://schemas.openxmlformats.org/officeDocument/2006/relationships/image" Target="../media/image135.png"/><Relationship Id="rId5" Type="http://schemas.openxmlformats.org/officeDocument/2006/relationships/image" Target="../media/image129.png"/><Relationship Id="rId10" Type="http://schemas.openxmlformats.org/officeDocument/2006/relationships/image" Target="../media/image134.png"/><Relationship Id="rId4" Type="http://schemas.openxmlformats.org/officeDocument/2006/relationships/image" Target="../media/image128.png"/><Relationship Id="rId9" Type="http://schemas.openxmlformats.org/officeDocument/2006/relationships/image" Target="../media/image133.png"/><Relationship Id="rId14" Type="http://schemas.openxmlformats.org/officeDocument/2006/relationships/image" Target="../media/image138.png"/></Relationships>
</file>

<file path=ppt/slides/_rels/slide87.xml.rels><?xml version="1.0" encoding="UTF-8" standalone="yes"?>
<Relationships xmlns="http://schemas.openxmlformats.org/package/2006/relationships"><Relationship Id="rId8" Type="http://schemas.openxmlformats.org/officeDocument/2006/relationships/image" Target="../media/image143.png"/><Relationship Id="rId13" Type="http://schemas.openxmlformats.org/officeDocument/2006/relationships/image" Target="../media/image148.png"/><Relationship Id="rId3" Type="http://schemas.openxmlformats.org/officeDocument/2006/relationships/image" Target="../media/image139.png"/><Relationship Id="rId7" Type="http://schemas.openxmlformats.org/officeDocument/2006/relationships/image" Target="../media/image142.png"/><Relationship Id="rId12" Type="http://schemas.openxmlformats.org/officeDocument/2006/relationships/image" Target="../media/image147.png"/><Relationship Id="rId2" Type="http://schemas.openxmlformats.org/officeDocument/2006/relationships/image" Target="../media/image116.png"/><Relationship Id="rId1" Type="http://schemas.openxmlformats.org/officeDocument/2006/relationships/slideLayout" Target="../slideLayouts/slideLayout2.xml"/><Relationship Id="rId6" Type="http://schemas.openxmlformats.org/officeDocument/2006/relationships/image" Target="../media/image141.png"/><Relationship Id="rId11" Type="http://schemas.openxmlformats.org/officeDocument/2006/relationships/image" Target="../media/image146.png"/><Relationship Id="rId5" Type="http://schemas.openxmlformats.org/officeDocument/2006/relationships/image" Target="../media/image140.png"/><Relationship Id="rId10" Type="http://schemas.openxmlformats.org/officeDocument/2006/relationships/image" Target="../media/image145.png"/><Relationship Id="rId4" Type="http://schemas.openxmlformats.org/officeDocument/2006/relationships/image" Target="../media/image128.png"/><Relationship Id="rId9" Type="http://schemas.openxmlformats.org/officeDocument/2006/relationships/image" Target="../media/image144.png"/><Relationship Id="rId14" Type="http://schemas.openxmlformats.org/officeDocument/2006/relationships/image" Target="../media/image149.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0.xml.rels><?xml version="1.0" encoding="UTF-8" standalone="yes"?>
<Relationships xmlns="http://schemas.openxmlformats.org/package/2006/relationships"><Relationship Id="rId3" Type="http://schemas.openxmlformats.org/officeDocument/2006/relationships/image" Target="../media/image151.png"/><Relationship Id="rId2" Type="http://schemas.openxmlformats.org/officeDocument/2006/relationships/image" Target="../media/image150.png"/><Relationship Id="rId1" Type="http://schemas.openxmlformats.org/officeDocument/2006/relationships/slideLayout" Target="../slideLayouts/slideLayout2.xml"/><Relationship Id="rId5" Type="http://schemas.openxmlformats.org/officeDocument/2006/relationships/image" Target="../media/image153.png"/><Relationship Id="rId4" Type="http://schemas.openxmlformats.org/officeDocument/2006/relationships/image" Target="../media/image152.png"/></Relationships>
</file>

<file path=ppt/slides/_rels/slide91.xml.rels><?xml version="1.0" encoding="UTF-8" standalone="yes"?>
<Relationships xmlns="http://schemas.openxmlformats.org/package/2006/relationships"><Relationship Id="rId3" Type="http://schemas.openxmlformats.org/officeDocument/2006/relationships/image" Target="../media/image154.png"/><Relationship Id="rId2" Type="http://schemas.openxmlformats.org/officeDocument/2006/relationships/image" Target="../media/image150.png"/><Relationship Id="rId1" Type="http://schemas.openxmlformats.org/officeDocument/2006/relationships/slideLayout" Target="../slideLayouts/slideLayout2.xml"/><Relationship Id="rId4" Type="http://schemas.openxmlformats.org/officeDocument/2006/relationships/image" Target="../media/image155.png"/></Relationships>
</file>

<file path=ppt/slides/_rels/slide92.xml.rels><?xml version="1.0" encoding="UTF-8" standalone="yes"?>
<Relationships xmlns="http://schemas.openxmlformats.org/package/2006/relationships"><Relationship Id="rId3" Type="http://schemas.openxmlformats.org/officeDocument/2006/relationships/image" Target="../media/image156.png"/><Relationship Id="rId2" Type="http://schemas.openxmlformats.org/officeDocument/2006/relationships/image" Target="../media/image150.png"/><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3" Type="http://schemas.openxmlformats.org/officeDocument/2006/relationships/image" Target="../media/image157.png"/><Relationship Id="rId2" Type="http://schemas.openxmlformats.org/officeDocument/2006/relationships/image" Target="../media/image150.png"/><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3" Type="http://schemas.openxmlformats.org/officeDocument/2006/relationships/image" Target="../media/image158.png"/><Relationship Id="rId2" Type="http://schemas.openxmlformats.org/officeDocument/2006/relationships/image" Target="../media/image150.png"/><Relationship Id="rId1" Type="http://schemas.openxmlformats.org/officeDocument/2006/relationships/slideLayout" Target="../slideLayouts/slideLayout2.xml"/><Relationship Id="rId4" Type="http://schemas.openxmlformats.org/officeDocument/2006/relationships/image" Target="../media/image159.png"/></Relationships>
</file>

<file path=ppt/slides/_rels/slide95.xml.rels><?xml version="1.0" encoding="UTF-8" standalone="yes"?>
<Relationships xmlns="http://schemas.openxmlformats.org/package/2006/relationships"><Relationship Id="rId3" Type="http://schemas.openxmlformats.org/officeDocument/2006/relationships/image" Target="../media/image160.png"/><Relationship Id="rId2" Type="http://schemas.openxmlformats.org/officeDocument/2006/relationships/image" Target="../media/image150.png"/><Relationship Id="rId1" Type="http://schemas.openxmlformats.org/officeDocument/2006/relationships/slideLayout" Target="../slideLayouts/slideLayout2.xml"/><Relationship Id="rId4" Type="http://schemas.openxmlformats.org/officeDocument/2006/relationships/image" Target="../media/image161.png"/></Relationships>
</file>

<file path=ppt/slides/_rels/slide96.xml.rels><?xml version="1.0" encoding="UTF-8" standalone="yes"?>
<Relationships xmlns="http://schemas.openxmlformats.org/package/2006/relationships"><Relationship Id="rId3" Type="http://schemas.openxmlformats.org/officeDocument/2006/relationships/image" Target="../media/image160.png"/><Relationship Id="rId2" Type="http://schemas.openxmlformats.org/officeDocument/2006/relationships/image" Target="../media/image150.png"/><Relationship Id="rId1" Type="http://schemas.openxmlformats.org/officeDocument/2006/relationships/slideLayout" Target="../slideLayouts/slideLayout2.xml"/><Relationship Id="rId4" Type="http://schemas.openxmlformats.org/officeDocument/2006/relationships/image" Target="../media/image162.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8.xml.rels><?xml version="1.0" encoding="UTF-8" standalone="yes"?>
<Relationships xmlns="http://schemas.openxmlformats.org/package/2006/relationships"><Relationship Id="rId2" Type="http://schemas.openxmlformats.org/officeDocument/2006/relationships/image" Target="../media/image163.png"/><Relationship Id="rId1" Type="http://schemas.openxmlformats.org/officeDocument/2006/relationships/slideLayout" Target="../slideLayouts/slideLayout4.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2.xml.rels><?xml version="1.0" encoding="UTF-8" standalone="yes"?>
<Relationships xmlns="http://schemas.openxmlformats.org/package/2006/relationships"><Relationship Id="rId2" Type="http://schemas.openxmlformats.org/officeDocument/2006/relationships/image" Target="../media/image164.png"/><Relationship Id="rId1" Type="http://schemas.openxmlformats.org/officeDocument/2006/relationships/slideLayout" Target="../slideLayouts/slideLayout4.xml"/></Relationships>
</file>

<file path=ppt/slides/_rels/slide103.xml.rels><?xml version="1.0" encoding="UTF-8" standalone="yes"?>
<Relationships xmlns="http://schemas.openxmlformats.org/package/2006/relationships"><Relationship Id="rId3" Type="http://schemas.openxmlformats.org/officeDocument/2006/relationships/image" Target="../media/image166.png"/><Relationship Id="rId2" Type="http://schemas.openxmlformats.org/officeDocument/2006/relationships/image" Target="../media/image165.png"/><Relationship Id="rId1" Type="http://schemas.openxmlformats.org/officeDocument/2006/relationships/slideLayout" Target="../slideLayouts/slideLayout2.xml"/><Relationship Id="rId5" Type="http://schemas.openxmlformats.org/officeDocument/2006/relationships/image" Target="../media/image168.png"/><Relationship Id="rId4" Type="http://schemas.openxmlformats.org/officeDocument/2006/relationships/image" Target="../media/image167.png"/></Relationships>
</file>

<file path=ppt/slides/_rels/slide104.xml.rels><?xml version="1.0" encoding="UTF-8" standalone="yes"?>
<Relationships xmlns="http://schemas.openxmlformats.org/package/2006/relationships"><Relationship Id="rId3" Type="http://schemas.openxmlformats.org/officeDocument/2006/relationships/image" Target="../media/image169.png"/><Relationship Id="rId2" Type="http://schemas.openxmlformats.org/officeDocument/2006/relationships/image" Target="../media/image150.png"/><Relationship Id="rId1" Type="http://schemas.openxmlformats.org/officeDocument/2006/relationships/slideLayout" Target="../slideLayouts/slideLayout2.xml"/><Relationship Id="rId4" Type="http://schemas.openxmlformats.org/officeDocument/2006/relationships/image" Target="../media/image171.png"/></Relationships>
</file>

<file path=ppt/slides/_rels/slide105.xml.rels><?xml version="1.0" encoding="UTF-8" standalone="yes"?>
<Relationships xmlns="http://schemas.openxmlformats.org/package/2006/relationships"><Relationship Id="rId3" Type="http://schemas.openxmlformats.org/officeDocument/2006/relationships/image" Target="../media/image164.png"/><Relationship Id="rId7" Type="http://schemas.openxmlformats.org/officeDocument/2006/relationships/image" Target="../media/image176.png"/><Relationship Id="rId2" Type="http://schemas.openxmlformats.org/officeDocument/2006/relationships/image" Target="../media/image172.png"/><Relationship Id="rId1" Type="http://schemas.openxmlformats.org/officeDocument/2006/relationships/slideLayout" Target="../slideLayouts/slideLayout4.xml"/><Relationship Id="rId6" Type="http://schemas.openxmlformats.org/officeDocument/2006/relationships/image" Target="../media/image175.png"/><Relationship Id="rId5" Type="http://schemas.openxmlformats.org/officeDocument/2006/relationships/image" Target="../media/image174.png"/><Relationship Id="rId4" Type="http://schemas.openxmlformats.org/officeDocument/2006/relationships/image" Target="../media/image173.png"/></Relationships>
</file>

<file path=ppt/slides/_rels/slide106.xml.rels><?xml version="1.0" encoding="UTF-8" standalone="yes"?>
<Relationships xmlns="http://schemas.openxmlformats.org/package/2006/relationships"><Relationship Id="rId3" Type="http://schemas.openxmlformats.org/officeDocument/2006/relationships/image" Target="../media/image177.png"/><Relationship Id="rId2" Type="http://schemas.openxmlformats.org/officeDocument/2006/relationships/image" Target="../media/image172.png"/><Relationship Id="rId1" Type="http://schemas.openxmlformats.org/officeDocument/2006/relationships/slideLayout" Target="../slideLayouts/slideLayout4.xml"/></Relationships>
</file>

<file path=ppt/slides/_rels/slide107.xml.rels><?xml version="1.0" encoding="UTF-8" standalone="yes"?>
<Relationships xmlns="http://schemas.openxmlformats.org/package/2006/relationships"><Relationship Id="rId3" Type="http://schemas.openxmlformats.org/officeDocument/2006/relationships/image" Target="../media/image177.png"/><Relationship Id="rId2" Type="http://schemas.openxmlformats.org/officeDocument/2006/relationships/image" Target="../media/image172.png"/><Relationship Id="rId1" Type="http://schemas.openxmlformats.org/officeDocument/2006/relationships/slideLayout" Target="../slideLayouts/slideLayout4.xml"/></Relationships>
</file>

<file path=ppt/slides/_rels/slide108.xml.rels><?xml version="1.0" encoding="UTF-8" standalone="yes"?>
<Relationships xmlns="http://schemas.openxmlformats.org/package/2006/relationships"><Relationship Id="rId3" Type="http://schemas.openxmlformats.org/officeDocument/2006/relationships/image" Target="../media/image177.png"/><Relationship Id="rId2" Type="http://schemas.openxmlformats.org/officeDocument/2006/relationships/image" Target="../media/image172.png"/><Relationship Id="rId1" Type="http://schemas.openxmlformats.org/officeDocument/2006/relationships/slideLayout" Target="../slideLayouts/slideLayout4.xml"/><Relationship Id="rId5" Type="http://schemas.openxmlformats.org/officeDocument/2006/relationships/image" Target="../media/image179.png"/><Relationship Id="rId4" Type="http://schemas.openxmlformats.org/officeDocument/2006/relationships/image" Target="../media/image178.png"/></Relationships>
</file>

<file path=ppt/slides/_rels/slide109.xml.rels><?xml version="1.0" encoding="UTF-8" standalone="yes"?>
<Relationships xmlns="http://schemas.openxmlformats.org/package/2006/relationships"><Relationship Id="rId8" Type="http://schemas.openxmlformats.org/officeDocument/2006/relationships/image" Target="../media/image184.png"/><Relationship Id="rId13" Type="http://schemas.openxmlformats.org/officeDocument/2006/relationships/image" Target="../media/image189.png"/><Relationship Id="rId3" Type="http://schemas.openxmlformats.org/officeDocument/2006/relationships/image" Target="../media/image177.png"/><Relationship Id="rId7" Type="http://schemas.openxmlformats.org/officeDocument/2006/relationships/image" Target="../media/image183.png"/><Relationship Id="rId12" Type="http://schemas.openxmlformats.org/officeDocument/2006/relationships/image" Target="../media/image188.png"/><Relationship Id="rId2" Type="http://schemas.openxmlformats.org/officeDocument/2006/relationships/image" Target="../media/image172.png"/><Relationship Id="rId1" Type="http://schemas.openxmlformats.org/officeDocument/2006/relationships/slideLayout" Target="../slideLayouts/slideLayout4.xml"/><Relationship Id="rId6" Type="http://schemas.openxmlformats.org/officeDocument/2006/relationships/image" Target="../media/image182.png"/><Relationship Id="rId11" Type="http://schemas.openxmlformats.org/officeDocument/2006/relationships/image" Target="../media/image187.png"/><Relationship Id="rId5" Type="http://schemas.openxmlformats.org/officeDocument/2006/relationships/image" Target="../media/image181.png"/><Relationship Id="rId10" Type="http://schemas.openxmlformats.org/officeDocument/2006/relationships/image" Target="../media/image186.png"/><Relationship Id="rId4" Type="http://schemas.openxmlformats.org/officeDocument/2006/relationships/image" Target="../media/image180.png"/><Relationship Id="rId9" Type="http://schemas.openxmlformats.org/officeDocument/2006/relationships/image" Target="../media/image185.png"/></Relationships>
</file>

<file path=ppt/slides/_rels/slide110.xml.rels><?xml version="1.0" encoding="UTF-8" standalone="yes"?>
<Relationships xmlns="http://schemas.openxmlformats.org/package/2006/relationships"><Relationship Id="rId3" Type="http://schemas.openxmlformats.org/officeDocument/2006/relationships/image" Target="../media/image177.png"/><Relationship Id="rId2" Type="http://schemas.openxmlformats.org/officeDocument/2006/relationships/image" Target="../media/image172.png"/><Relationship Id="rId1" Type="http://schemas.openxmlformats.org/officeDocument/2006/relationships/slideLayout" Target="../slideLayouts/slideLayout4.xml"/></Relationships>
</file>

<file path=ppt/slides/_rels/slide111.xml.rels><?xml version="1.0" encoding="UTF-8" standalone="yes"?>
<Relationships xmlns="http://schemas.openxmlformats.org/package/2006/relationships"><Relationship Id="rId3" Type="http://schemas.openxmlformats.org/officeDocument/2006/relationships/image" Target="../media/image177.png"/><Relationship Id="rId2" Type="http://schemas.openxmlformats.org/officeDocument/2006/relationships/image" Target="../media/image172.png"/><Relationship Id="rId1" Type="http://schemas.openxmlformats.org/officeDocument/2006/relationships/slideLayout" Target="../slideLayouts/slideLayout4.xml"/></Relationships>
</file>

<file path=ppt/slides/_rels/slide112.xml.rels><?xml version="1.0" encoding="UTF-8" standalone="yes"?>
<Relationships xmlns="http://schemas.openxmlformats.org/package/2006/relationships"><Relationship Id="rId3" Type="http://schemas.openxmlformats.org/officeDocument/2006/relationships/image" Target="../media/image190.png"/><Relationship Id="rId2" Type="http://schemas.openxmlformats.org/officeDocument/2006/relationships/image" Target="../media/image172.png"/><Relationship Id="rId1" Type="http://schemas.openxmlformats.org/officeDocument/2006/relationships/slideLayout" Target="../slideLayouts/slideLayout4.xml"/></Relationships>
</file>

<file path=ppt/slides/_rels/slide113.xml.rels><?xml version="1.0" encoding="UTF-8" standalone="yes"?>
<Relationships xmlns="http://schemas.openxmlformats.org/package/2006/relationships"><Relationship Id="rId8" Type="http://schemas.openxmlformats.org/officeDocument/2006/relationships/image" Target="../media/image197.png"/><Relationship Id="rId13" Type="http://schemas.openxmlformats.org/officeDocument/2006/relationships/image" Target="../media/image201.png"/><Relationship Id="rId3" Type="http://schemas.openxmlformats.org/officeDocument/2006/relationships/image" Target="../media/image192.png"/><Relationship Id="rId7" Type="http://schemas.openxmlformats.org/officeDocument/2006/relationships/image" Target="../media/image196.png"/><Relationship Id="rId12" Type="http://schemas.openxmlformats.org/officeDocument/2006/relationships/image" Target="../media/image200.png"/><Relationship Id="rId2" Type="http://schemas.openxmlformats.org/officeDocument/2006/relationships/image" Target="../media/image191.png"/><Relationship Id="rId1" Type="http://schemas.openxmlformats.org/officeDocument/2006/relationships/slideLayout" Target="../slideLayouts/slideLayout4.xml"/><Relationship Id="rId6" Type="http://schemas.openxmlformats.org/officeDocument/2006/relationships/image" Target="../media/image195.png"/><Relationship Id="rId11" Type="http://schemas.openxmlformats.org/officeDocument/2006/relationships/image" Target="../media/image187.png"/><Relationship Id="rId5" Type="http://schemas.openxmlformats.org/officeDocument/2006/relationships/image" Target="../media/image194.png"/><Relationship Id="rId10" Type="http://schemas.openxmlformats.org/officeDocument/2006/relationships/image" Target="../media/image199.png"/><Relationship Id="rId4" Type="http://schemas.openxmlformats.org/officeDocument/2006/relationships/image" Target="../media/image193.png"/><Relationship Id="rId9" Type="http://schemas.openxmlformats.org/officeDocument/2006/relationships/image" Target="../media/image198.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2" Type="http://schemas.openxmlformats.org/officeDocument/2006/relationships/image" Target="../media/image202.png"/><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2" Type="http://schemas.openxmlformats.org/officeDocument/2006/relationships/hyperlink" Target="https://www.youtube.com/watch?v=oS8m9fSk-Wk" TargetMode="Externa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8F7A2C-CECB-EA45-9A8F-28914F6ACB98}"/>
              </a:ext>
            </a:extLst>
          </p:cNvPr>
          <p:cNvSpPr>
            <a:spLocks noGrp="1"/>
          </p:cNvSpPr>
          <p:nvPr>
            <p:ph type="ctrTitle"/>
          </p:nvPr>
        </p:nvSpPr>
        <p:spPr/>
        <p:txBody>
          <a:bodyPr/>
          <a:lstStyle/>
          <a:p>
            <a:pPr algn="ctr"/>
            <a:r>
              <a:rPr lang="en-US" dirty="0"/>
              <a:t>Complexity Theory</a:t>
            </a:r>
          </a:p>
        </p:txBody>
      </p:sp>
      <p:sp>
        <p:nvSpPr>
          <p:cNvPr id="3" name="Subtitle 2">
            <a:extLst>
              <a:ext uri="{FF2B5EF4-FFF2-40B4-BE49-F238E27FC236}">
                <a16:creationId xmlns:a16="http://schemas.microsoft.com/office/drawing/2014/main" id="{4CC3BA16-EE93-B74E-A27C-2B68B596BB53}"/>
              </a:ext>
            </a:extLst>
          </p:cNvPr>
          <p:cNvSpPr>
            <a:spLocks noGrp="1"/>
          </p:cNvSpPr>
          <p:nvPr>
            <p:ph type="subTitle" idx="1"/>
          </p:nvPr>
        </p:nvSpPr>
        <p:spPr/>
        <p:txBody>
          <a:bodyPr/>
          <a:lstStyle/>
          <a:p>
            <a:pPr algn="ctr"/>
            <a:r>
              <a:rPr lang="en-US" dirty="0"/>
              <a:t>Discrete Mathematics and Theory 2</a:t>
            </a:r>
            <a:br>
              <a:rPr lang="en-US" dirty="0"/>
            </a:br>
            <a:r>
              <a:rPr lang="en-US" dirty="0"/>
              <a:t>Mark Floryan</a:t>
            </a:r>
            <a:br>
              <a:rPr lang="en-US" dirty="0"/>
            </a:br>
            <a:br>
              <a:rPr lang="en-US" dirty="0"/>
            </a:br>
            <a:endParaRPr lang="en-US" dirty="0"/>
          </a:p>
        </p:txBody>
      </p:sp>
    </p:spTree>
    <p:extLst>
      <p:ext uri="{BB962C8B-B14F-4D97-AF65-F5344CB8AC3E}">
        <p14:creationId xmlns:p14="http://schemas.microsoft.com/office/powerpoint/2010/main" val="44373050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3" y="125537"/>
            <a:ext cx="9905998" cy="860425"/>
          </a:xfrm>
        </p:spPr>
        <p:txBody>
          <a:bodyPr/>
          <a:lstStyle/>
          <a:p>
            <a:pPr algn="ctr"/>
            <a:r>
              <a:rPr lang="en-US" dirty="0"/>
              <a:t>Goals!</a:t>
            </a:r>
          </a:p>
        </p:txBody>
      </p:sp>
      <p:sp>
        <p:nvSpPr>
          <p:cNvPr id="3" name="Content Placeholder 2">
            <a:extLst>
              <a:ext uri="{FF2B5EF4-FFF2-40B4-BE49-F238E27FC236}">
                <a16:creationId xmlns:a16="http://schemas.microsoft.com/office/drawing/2014/main" id="{14278F5F-F936-6145-9FF8-704886F1A386}"/>
              </a:ext>
            </a:extLst>
          </p:cNvPr>
          <p:cNvSpPr>
            <a:spLocks noGrp="1"/>
          </p:cNvSpPr>
          <p:nvPr>
            <p:ph idx="1"/>
          </p:nvPr>
        </p:nvSpPr>
        <p:spPr>
          <a:xfrm>
            <a:off x="1141412" y="1559371"/>
            <a:ext cx="9905999" cy="1089328"/>
          </a:xfrm>
          <a:solidFill>
            <a:schemeClr val="tx1">
              <a:lumMod val="95000"/>
            </a:schemeClr>
          </a:solidFill>
        </p:spPr>
        <p:txBody>
          <a:bodyPr/>
          <a:lstStyle/>
          <a:p>
            <a:pPr marL="0" indent="0">
              <a:buNone/>
            </a:pPr>
            <a:r>
              <a:rPr lang="en-US" dirty="0">
                <a:solidFill>
                  <a:schemeClr val="bg1"/>
                </a:solidFill>
              </a:rPr>
              <a:t>1. Measuring Time and Space complexity of algorithms on Turing Machines (You already know a lot of this!)</a:t>
            </a:r>
          </a:p>
        </p:txBody>
      </p:sp>
      <p:sp>
        <p:nvSpPr>
          <p:cNvPr id="4" name="Content Placeholder 2">
            <a:extLst>
              <a:ext uri="{FF2B5EF4-FFF2-40B4-BE49-F238E27FC236}">
                <a16:creationId xmlns:a16="http://schemas.microsoft.com/office/drawing/2014/main" id="{C3CBD30C-EB51-C249-A8FC-E343315276A6}"/>
              </a:ext>
            </a:extLst>
          </p:cNvPr>
          <p:cNvSpPr txBox="1">
            <a:spLocks/>
          </p:cNvSpPr>
          <p:nvPr/>
        </p:nvSpPr>
        <p:spPr>
          <a:xfrm>
            <a:off x="1141412" y="2848808"/>
            <a:ext cx="9905999" cy="1089328"/>
          </a:xfrm>
          <a:prstGeom prst="rect">
            <a:avLst/>
          </a:prstGeom>
          <a:solidFill>
            <a:schemeClr val="tx1">
              <a:lumMod val="95000"/>
            </a:schemeClr>
          </a:solid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solidFill>
                  <a:schemeClr val="bg1"/>
                </a:solidFill>
              </a:rPr>
              <a:t>2. Introducing the most famous complexity classes (P, NP, NP-Hard, etc.)</a:t>
            </a:r>
          </a:p>
        </p:txBody>
      </p:sp>
      <p:sp>
        <p:nvSpPr>
          <p:cNvPr id="5" name="Content Placeholder 2">
            <a:extLst>
              <a:ext uri="{FF2B5EF4-FFF2-40B4-BE49-F238E27FC236}">
                <a16:creationId xmlns:a16="http://schemas.microsoft.com/office/drawing/2014/main" id="{B98087DF-8BCB-3D46-8C8D-7FA120BFB404}"/>
              </a:ext>
            </a:extLst>
          </p:cNvPr>
          <p:cNvSpPr txBox="1">
            <a:spLocks/>
          </p:cNvSpPr>
          <p:nvPr/>
        </p:nvSpPr>
        <p:spPr>
          <a:xfrm>
            <a:off x="1141412" y="4138245"/>
            <a:ext cx="9905999" cy="1089328"/>
          </a:xfrm>
          <a:prstGeom prst="rect">
            <a:avLst/>
          </a:prstGeom>
          <a:solidFill>
            <a:schemeClr val="tx1">
              <a:lumMod val="95000"/>
            </a:schemeClr>
          </a:solid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solidFill>
                  <a:schemeClr val="bg1"/>
                </a:solidFill>
              </a:rPr>
              <a:t>3. Showing how a difficult a problem is through the use of mapping reductions (you’ve already seen some of this in DSA2)!</a:t>
            </a:r>
          </a:p>
        </p:txBody>
      </p:sp>
    </p:spTree>
    <p:extLst>
      <p:ext uri="{BB962C8B-B14F-4D97-AF65-F5344CB8AC3E}">
        <p14:creationId xmlns:p14="http://schemas.microsoft.com/office/powerpoint/2010/main" val="298724919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719C56-21DC-0A40-AA49-9AF4AF4C92DA}"/>
              </a:ext>
            </a:extLst>
          </p:cNvPr>
          <p:cNvSpPr>
            <a:spLocks noGrp="1"/>
          </p:cNvSpPr>
          <p:nvPr>
            <p:ph type="title"/>
          </p:nvPr>
        </p:nvSpPr>
        <p:spPr/>
        <p:txBody>
          <a:bodyPr/>
          <a:lstStyle/>
          <a:p>
            <a:pPr algn="ctr"/>
            <a:r>
              <a:rPr lang="en-US" dirty="0"/>
              <a:t>Part 1: Introduction!</a:t>
            </a:r>
          </a:p>
        </p:txBody>
      </p:sp>
    </p:spTree>
    <p:extLst>
      <p:ext uri="{BB962C8B-B14F-4D97-AF65-F5344CB8AC3E}">
        <p14:creationId xmlns:p14="http://schemas.microsoft.com/office/powerpoint/2010/main" val="414975279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9922" name="Rectangle 2"/>
          <p:cNvSpPr>
            <a:spLocks noGrp="1" noChangeArrowheads="1"/>
          </p:cNvSpPr>
          <p:nvPr>
            <p:ph type="title"/>
          </p:nvPr>
        </p:nvSpPr>
        <p:spPr>
          <a:xfrm>
            <a:off x="915751" y="214689"/>
            <a:ext cx="10360501" cy="596346"/>
          </a:xfrm>
        </p:spPr>
        <p:txBody>
          <a:bodyPr/>
          <a:lstStyle/>
          <a:p>
            <a:pPr algn="ctr"/>
            <a:r>
              <a:rPr lang="en-US" dirty="0"/>
              <a:t>Overview of Theory of Computation</a:t>
            </a:r>
            <a:endParaRPr lang="en-US" b="0" dirty="0"/>
          </a:p>
        </p:txBody>
      </p:sp>
      <p:grpSp>
        <p:nvGrpSpPr>
          <p:cNvPr id="4" name="Group 3">
            <a:extLst>
              <a:ext uri="{FF2B5EF4-FFF2-40B4-BE49-F238E27FC236}">
                <a16:creationId xmlns:a16="http://schemas.microsoft.com/office/drawing/2014/main" id="{9C5B3421-9BCC-2249-B671-A9B117CF0AFF}"/>
              </a:ext>
            </a:extLst>
          </p:cNvPr>
          <p:cNvGrpSpPr/>
          <p:nvPr/>
        </p:nvGrpSpPr>
        <p:grpSpPr>
          <a:xfrm>
            <a:off x="2943309" y="1626039"/>
            <a:ext cx="6080098" cy="723569"/>
            <a:chOff x="2959212" y="2564295"/>
            <a:chExt cx="6080098" cy="723569"/>
          </a:xfrm>
        </p:grpSpPr>
        <p:sp>
          <p:nvSpPr>
            <p:cNvPr id="33" name="Content Placeholder 2">
              <a:extLst>
                <a:ext uri="{FF2B5EF4-FFF2-40B4-BE49-F238E27FC236}">
                  <a16:creationId xmlns:a16="http://schemas.microsoft.com/office/drawing/2014/main" id="{06F21836-48F0-3E46-8447-A11F4F3C4CC4}"/>
                </a:ext>
              </a:extLst>
            </p:cNvPr>
            <p:cNvSpPr txBox="1">
              <a:spLocks/>
            </p:cNvSpPr>
            <p:nvPr/>
          </p:nvSpPr>
          <p:spPr>
            <a:xfrm>
              <a:off x="4635612" y="2564295"/>
              <a:ext cx="2759102" cy="723567"/>
            </a:xfrm>
            <a:prstGeom prst="rect">
              <a:avLst/>
            </a:prstGeom>
            <a:solidFill>
              <a:schemeClr val="tx1">
                <a:lumMod val="95000"/>
              </a:schemeClr>
            </a:solidFill>
          </p:spPr>
          <p:txBody>
            <a:bodyPr vert="horz" lIns="91440" tIns="45720" rIns="91440" bIns="45720" rtlCol="0">
              <a:normAutofit fontScale="850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None/>
              </a:pPr>
              <a:r>
                <a:rPr lang="en-US" dirty="0">
                  <a:solidFill>
                    <a:schemeClr val="bg1"/>
                  </a:solidFill>
                </a:rPr>
                <a:t>Computing Machine / Program / Algorithm</a:t>
              </a:r>
            </a:p>
          </p:txBody>
        </p:sp>
        <p:sp>
          <p:nvSpPr>
            <p:cNvPr id="34" name="Content Placeholder 2">
              <a:extLst>
                <a:ext uri="{FF2B5EF4-FFF2-40B4-BE49-F238E27FC236}">
                  <a16:creationId xmlns:a16="http://schemas.microsoft.com/office/drawing/2014/main" id="{A3A2CA1C-EC88-194C-AB2A-ADD3008AE050}"/>
                </a:ext>
              </a:extLst>
            </p:cNvPr>
            <p:cNvSpPr txBox="1">
              <a:spLocks/>
            </p:cNvSpPr>
            <p:nvPr/>
          </p:nvSpPr>
          <p:spPr>
            <a:xfrm>
              <a:off x="2959212" y="2564296"/>
              <a:ext cx="1294737" cy="723567"/>
            </a:xfrm>
            <a:prstGeom prst="rect">
              <a:avLst/>
            </a:prstGeom>
            <a:solidFill>
              <a:schemeClr val="tx1">
                <a:lumMod val="95000"/>
              </a:schemeClr>
            </a:solid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dirty="0">
                  <a:solidFill>
                    <a:schemeClr val="bg1"/>
                  </a:solidFill>
                </a:rPr>
                <a:t>Input</a:t>
              </a:r>
            </a:p>
          </p:txBody>
        </p:sp>
        <p:sp>
          <p:nvSpPr>
            <p:cNvPr id="35" name="Content Placeholder 2">
              <a:extLst>
                <a:ext uri="{FF2B5EF4-FFF2-40B4-BE49-F238E27FC236}">
                  <a16:creationId xmlns:a16="http://schemas.microsoft.com/office/drawing/2014/main" id="{954B6218-4D23-1744-821A-3D48546C2EFE}"/>
                </a:ext>
              </a:extLst>
            </p:cNvPr>
            <p:cNvSpPr txBox="1">
              <a:spLocks/>
            </p:cNvSpPr>
            <p:nvPr/>
          </p:nvSpPr>
          <p:spPr>
            <a:xfrm>
              <a:off x="7744573" y="2564297"/>
              <a:ext cx="1294737" cy="723567"/>
            </a:xfrm>
            <a:prstGeom prst="rect">
              <a:avLst/>
            </a:prstGeom>
            <a:solidFill>
              <a:schemeClr val="tx1">
                <a:lumMod val="95000"/>
              </a:schemeClr>
            </a:solid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dirty="0">
                  <a:solidFill>
                    <a:schemeClr val="bg1"/>
                  </a:solidFill>
                </a:rPr>
                <a:t>Output</a:t>
              </a:r>
            </a:p>
          </p:txBody>
        </p:sp>
        <p:cxnSp>
          <p:nvCxnSpPr>
            <p:cNvPr id="36" name="Straight Arrow Connector 35">
              <a:extLst>
                <a:ext uri="{FF2B5EF4-FFF2-40B4-BE49-F238E27FC236}">
                  <a16:creationId xmlns:a16="http://schemas.microsoft.com/office/drawing/2014/main" id="{6D681D49-E5DB-184F-932B-24C2D17B8B8D}"/>
                </a:ext>
              </a:extLst>
            </p:cNvPr>
            <p:cNvCxnSpPr/>
            <p:nvPr/>
          </p:nvCxnSpPr>
          <p:spPr>
            <a:xfrm>
              <a:off x="3315695" y="2926080"/>
              <a:ext cx="1319917" cy="0"/>
            </a:xfrm>
            <a:prstGeom prst="straightConnector1">
              <a:avLst/>
            </a:prstGeom>
            <a:ln>
              <a:solidFill>
                <a:schemeClr val="bg2">
                  <a:lumMod val="10000"/>
                  <a:lumOff val="90000"/>
                </a:schemeClr>
              </a:solidFill>
              <a:tailEnd type="triangle"/>
            </a:ln>
          </p:spPr>
          <p:style>
            <a:lnRef idx="1">
              <a:schemeClr val="dk1"/>
            </a:lnRef>
            <a:fillRef idx="0">
              <a:schemeClr val="dk1"/>
            </a:fillRef>
            <a:effectRef idx="0">
              <a:schemeClr val="dk1"/>
            </a:effectRef>
            <a:fontRef idx="minor">
              <a:schemeClr val="tx1"/>
            </a:fontRef>
          </p:style>
        </p:cxnSp>
        <p:cxnSp>
          <p:nvCxnSpPr>
            <p:cNvPr id="37" name="Straight Arrow Connector 36">
              <a:extLst>
                <a:ext uri="{FF2B5EF4-FFF2-40B4-BE49-F238E27FC236}">
                  <a16:creationId xmlns:a16="http://schemas.microsoft.com/office/drawing/2014/main" id="{484DD517-B9D1-024B-B20D-5234A02B7394}"/>
                </a:ext>
              </a:extLst>
            </p:cNvPr>
            <p:cNvCxnSpPr>
              <a:cxnSpLocks/>
              <a:stCxn id="33" idx="3"/>
              <a:endCxn id="35" idx="1"/>
            </p:cNvCxnSpPr>
            <p:nvPr/>
          </p:nvCxnSpPr>
          <p:spPr>
            <a:xfrm>
              <a:off x="7394714" y="2926079"/>
              <a:ext cx="349859" cy="2"/>
            </a:xfrm>
            <a:prstGeom prst="straightConnector1">
              <a:avLst/>
            </a:prstGeom>
            <a:ln>
              <a:solidFill>
                <a:schemeClr val="bg2">
                  <a:lumMod val="10000"/>
                  <a:lumOff val="90000"/>
                </a:schemeClr>
              </a:solidFill>
              <a:tailEnd type="triangle"/>
            </a:ln>
          </p:spPr>
          <p:style>
            <a:lnRef idx="1">
              <a:schemeClr val="dk1"/>
            </a:lnRef>
            <a:fillRef idx="0">
              <a:schemeClr val="dk1"/>
            </a:fillRef>
            <a:effectRef idx="0">
              <a:schemeClr val="dk1"/>
            </a:effectRef>
            <a:fontRef idx="minor">
              <a:schemeClr val="tx1"/>
            </a:fontRef>
          </p:style>
        </p:cxnSp>
      </p:grpSp>
      <p:sp>
        <p:nvSpPr>
          <p:cNvPr id="5" name="Rectangle 4">
            <a:extLst>
              <a:ext uri="{FF2B5EF4-FFF2-40B4-BE49-F238E27FC236}">
                <a16:creationId xmlns:a16="http://schemas.microsoft.com/office/drawing/2014/main" id="{9122BA94-714C-CB4F-A68F-74967327F60B}"/>
              </a:ext>
            </a:extLst>
          </p:cNvPr>
          <p:cNvSpPr/>
          <p:nvPr/>
        </p:nvSpPr>
        <p:spPr>
          <a:xfrm>
            <a:off x="1113183" y="1065474"/>
            <a:ext cx="10026594" cy="1447132"/>
          </a:xfrm>
          <a:prstGeom prst="rect">
            <a:avLst/>
          </a:prstGeom>
          <a:noFill/>
          <a:ln>
            <a:solidFill>
              <a:schemeClr val="tx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Content Placeholder 2">
            <a:extLst>
              <a:ext uri="{FF2B5EF4-FFF2-40B4-BE49-F238E27FC236}">
                <a16:creationId xmlns:a16="http://schemas.microsoft.com/office/drawing/2014/main" id="{EEF4785B-660D-7A4A-B532-75AAA3C4FBBE}"/>
              </a:ext>
            </a:extLst>
          </p:cNvPr>
          <p:cNvSpPr txBox="1">
            <a:spLocks/>
          </p:cNvSpPr>
          <p:nvPr/>
        </p:nvSpPr>
        <p:spPr>
          <a:xfrm>
            <a:off x="1956684" y="1039643"/>
            <a:ext cx="8085151" cy="389601"/>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800" i="1" dirty="0"/>
              <a:t>Defining Computation</a:t>
            </a:r>
          </a:p>
        </p:txBody>
      </p:sp>
      <p:sp>
        <p:nvSpPr>
          <p:cNvPr id="17" name="Rectangle 16">
            <a:extLst>
              <a:ext uri="{FF2B5EF4-FFF2-40B4-BE49-F238E27FC236}">
                <a16:creationId xmlns:a16="http://schemas.microsoft.com/office/drawing/2014/main" id="{652623CC-C09B-FE43-BAB5-C948D141E65B}"/>
              </a:ext>
            </a:extLst>
          </p:cNvPr>
          <p:cNvSpPr/>
          <p:nvPr/>
        </p:nvSpPr>
        <p:spPr>
          <a:xfrm>
            <a:off x="1113183" y="3041366"/>
            <a:ext cx="10026594" cy="1447132"/>
          </a:xfrm>
          <a:prstGeom prst="rect">
            <a:avLst/>
          </a:prstGeom>
          <a:noFill/>
          <a:ln>
            <a:solidFill>
              <a:schemeClr val="tx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Content Placeholder 2">
            <a:extLst>
              <a:ext uri="{FF2B5EF4-FFF2-40B4-BE49-F238E27FC236}">
                <a16:creationId xmlns:a16="http://schemas.microsoft.com/office/drawing/2014/main" id="{6D2B9FF3-5063-EB43-90DC-8D24C1437B8D}"/>
              </a:ext>
            </a:extLst>
          </p:cNvPr>
          <p:cNvSpPr txBox="1">
            <a:spLocks/>
          </p:cNvSpPr>
          <p:nvPr/>
        </p:nvSpPr>
        <p:spPr>
          <a:xfrm>
            <a:off x="2083904" y="3003606"/>
            <a:ext cx="8085151" cy="389601"/>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800" i="1" dirty="0"/>
              <a:t>Computational Models</a:t>
            </a:r>
          </a:p>
        </p:txBody>
      </p:sp>
      <p:sp>
        <p:nvSpPr>
          <p:cNvPr id="19" name="Content Placeholder 2">
            <a:extLst>
              <a:ext uri="{FF2B5EF4-FFF2-40B4-BE49-F238E27FC236}">
                <a16:creationId xmlns:a16="http://schemas.microsoft.com/office/drawing/2014/main" id="{9BFD617D-5308-6A42-BB36-F123D5525C51}"/>
              </a:ext>
            </a:extLst>
          </p:cNvPr>
          <p:cNvSpPr txBox="1">
            <a:spLocks/>
          </p:cNvSpPr>
          <p:nvPr/>
        </p:nvSpPr>
        <p:spPr>
          <a:xfrm>
            <a:off x="1272210" y="3393205"/>
            <a:ext cx="1493542" cy="1011817"/>
          </a:xfrm>
          <a:prstGeom prst="rect">
            <a:avLst/>
          </a:prstGeom>
          <a:solidFill>
            <a:schemeClr val="tx1">
              <a:lumMod val="95000"/>
            </a:schemeClr>
          </a:solid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None/>
            </a:pPr>
            <a:r>
              <a:rPr lang="en-US" dirty="0">
                <a:solidFill>
                  <a:schemeClr val="bg1"/>
                </a:solidFill>
              </a:rPr>
              <a:t>Circuits</a:t>
            </a:r>
          </a:p>
        </p:txBody>
      </p:sp>
      <p:sp>
        <p:nvSpPr>
          <p:cNvPr id="20" name="Content Placeholder 2">
            <a:extLst>
              <a:ext uri="{FF2B5EF4-FFF2-40B4-BE49-F238E27FC236}">
                <a16:creationId xmlns:a16="http://schemas.microsoft.com/office/drawing/2014/main" id="{C85029C7-5808-8E46-8A28-22D5E7D9C1E1}"/>
              </a:ext>
            </a:extLst>
          </p:cNvPr>
          <p:cNvSpPr txBox="1">
            <a:spLocks/>
          </p:cNvSpPr>
          <p:nvPr/>
        </p:nvSpPr>
        <p:spPr>
          <a:xfrm>
            <a:off x="3307744" y="3393204"/>
            <a:ext cx="1493542" cy="1011817"/>
          </a:xfrm>
          <a:prstGeom prst="rect">
            <a:avLst/>
          </a:prstGeom>
          <a:solidFill>
            <a:schemeClr val="tx1">
              <a:lumMod val="95000"/>
            </a:schemeClr>
          </a:solid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None/>
            </a:pPr>
            <a:r>
              <a:rPr lang="en-US" dirty="0">
                <a:solidFill>
                  <a:schemeClr val="bg1"/>
                </a:solidFill>
              </a:rPr>
              <a:t>Finite Automata</a:t>
            </a:r>
          </a:p>
        </p:txBody>
      </p:sp>
      <p:sp>
        <p:nvSpPr>
          <p:cNvPr id="21" name="Content Placeholder 2">
            <a:extLst>
              <a:ext uri="{FF2B5EF4-FFF2-40B4-BE49-F238E27FC236}">
                <a16:creationId xmlns:a16="http://schemas.microsoft.com/office/drawing/2014/main" id="{7E8726DC-AD5C-4548-B2B4-66606A267F9E}"/>
              </a:ext>
            </a:extLst>
          </p:cNvPr>
          <p:cNvSpPr txBox="1">
            <a:spLocks/>
          </p:cNvSpPr>
          <p:nvPr/>
        </p:nvSpPr>
        <p:spPr>
          <a:xfrm>
            <a:off x="5343278" y="3393204"/>
            <a:ext cx="1493542" cy="1011817"/>
          </a:xfrm>
          <a:prstGeom prst="rect">
            <a:avLst/>
          </a:prstGeom>
          <a:solidFill>
            <a:schemeClr val="tx1">
              <a:lumMod val="95000"/>
            </a:schemeClr>
          </a:solid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None/>
            </a:pPr>
            <a:r>
              <a:rPr lang="en-US" dirty="0">
                <a:solidFill>
                  <a:schemeClr val="bg1"/>
                </a:solidFill>
              </a:rPr>
              <a:t>Pushdown Automata</a:t>
            </a:r>
          </a:p>
        </p:txBody>
      </p:sp>
      <p:sp>
        <p:nvSpPr>
          <p:cNvPr id="22" name="Content Placeholder 2">
            <a:extLst>
              <a:ext uri="{FF2B5EF4-FFF2-40B4-BE49-F238E27FC236}">
                <a16:creationId xmlns:a16="http://schemas.microsoft.com/office/drawing/2014/main" id="{A7094291-578F-964E-BD57-2AF725369BFD}"/>
              </a:ext>
            </a:extLst>
          </p:cNvPr>
          <p:cNvSpPr txBox="1">
            <a:spLocks/>
          </p:cNvSpPr>
          <p:nvPr/>
        </p:nvSpPr>
        <p:spPr>
          <a:xfrm>
            <a:off x="7378812" y="3393204"/>
            <a:ext cx="1493542" cy="1011817"/>
          </a:xfrm>
          <a:prstGeom prst="rect">
            <a:avLst/>
          </a:prstGeom>
          <a:solidFill>
            <a:schemeClr val="accent1">
              <a:lumMod val="20000"/>
              <a:lumOff val="80000"/>
            </a:schemeClr>
          </a:solidFill>
          <a:ln>
            <a:solidFill>
              <a:schemeClr val="tx1">
                <a:lumMod val="95000"/>
              </a:schemeClr>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None/>
            </a:pPr>
            <a:r>
              <a:rPr lang="en-US" dirty="0">
                <a:solidFill>
                  <a:schemeClr val="bg1"/>
                </a:solidFill>
              </a:rPr>
              <a:t>Turing Machine</a:t>
            </a:r>
          </a:p>
        </p:txBody>
      </p:sp>
      <p:sp>
        <p:nvSpPr>
          <p:cNvPr id="23" name="Content Placeholder 2">
            <a:extLst>
              <a:ext uri="{FF2B5EF4-FFF2-40B4-BE49-F238E27FC236}">
                <a16:creationId xmlns:a16="http://schemas.microsoft.com/office/drawing/2014/main" id="{A127FA8D-F088-DB41-9ADF-C51E7C219A45}"/>
              </a:ext>
            </a:extLst>
          </p:cNvPr>
          <p:cNvSpPr txBox="1">
            <a:spLocks/>
          </p:cNvSpPr>
          <p:nvPr/>
        </p:nvSpPr>
        <p:spPr>
          <a:xfrm>
            <a:off x="9399745" y="3393204"/>
            <a:ext cx="1493542" cy="1011817"/>
          </a:xfrm>
          <a:prstGeom prst="rect">
            <a:avLst/>
          </a:prstGeom>
          <a:solidFill>
            <a:schemeClr val="accent1"/>
          </a:solid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None/>
            </a:pPr>
            <a:r>
              <a:rPr lang="en-US" dirty="0">
                <a:solidFill>
                  <a:schemeClr val="bg1"/>
                </a:solidFill>
              </a:rPr>
              <a:t>RAM Model</a:t>
            </a:r>
          </a:p>
        </p:txBody>
      </p:sp>
      <p:sp>
        <p:nvSpPr>
          <p:cNvPr id="24" name="Content Placeholder 2">
            <a:extLst>
              <a:ext uri="{FF2B5EF4-FFF2-40B4-BE49-F238E27FC236}">
                <a16:creationId xmlns:a16="http://schemas.microsoft.com/office/drawing/2014/main" id="{DC47454D-B1B8-AA45-8672-11B05D77EBBC}"/>
              </a:ext>
            </a:extLst>
          </p:cNvPr>
          <p:cNvSpPr txBox="1">
            <a:spLocks/>
          </p:cNvSpPr>
          <p:nvPr/>
        </p:nvSpPr>
        <p:spPr>
          <a:xfrm>
            <a:off x="2819075" y="3717229"/>
            <a:ext cx="435345" cy="389601"/>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800" i="1" dirty="0"/>
              <a:t>&lt;</a:t>
            </a:r>
          </a:p>
        </p:txBody>
      </p:sp>
      <p:sp>
        <p:nvSpPr>
          <p:cNvPr id="25" name="Content Placeholder 2">
            <a:extLst>
              <a:ext uri="{FF2B5EF4-FFF2-40B4-BE49-F238E27FC236}">
                <a16:creationId xmlns:a16="http://schemas.microsoft.com/office/drawing/2014/main" id="{D87DDA98-D3F5-EA4E-8F5A-38070C416619}"/>
              </a:ext>
            </a:extLst>
          </p:cNvPr>
          <p:cNvSpPr txBox="1">
            <a:spLocks/>
          </p:cNvSpPr>
          <p:nvPr/>
        </p:nvSpPr>
        <p:spPr>
          <a:xfrm>
            <a:off x="4863863" y="3707289"/>
            <a:ext cx="435345" cy="389601"/>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800" i="1" dirty="0"/>
              <a:t>&lt;</a:t>
            </a:r>
          </a:p>
        </p:txBody>
      </p:sp>
      <p:sp>
        <p:nvSpPr>
          <p:cNvPr id="26" name="Content Placeholder 2">
            <a:extLst>
              <a:ext uri="{FF2B5EF4-FFF2-40B4-BE49-F238E27FC236}">
                <a16:creationId xmlns:a16="http://schemas.microsoft.com/office/drawing/2014/main" id="{378BFA77-F76B-9C4B-95F5-FFA5EF1C2479}"/>
              </a:ext>
            </a:extLst>
          </p:cNvPr>
          <p:cNvSpPr txBox="1">
            <a:spLocks/>
          </p:cNvSpPr>
          <p:nvPr/>
        </p:nvSpPr>
        <p:spPr>
          <a:xfrm>
            <a:off x="6878421" y="3699338"/>
            <a:ext cx="435345" cy="389601"/>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800" i="1" dirty="0"/>
              <a:t>&lt;</a:t>
            </a:r>
          </a:p>
        </p:txBody>
      </p:sp>
      <p:sp>
        <p:nvSpPr>
          <p:cNvPr id="27" name="Content Placeholder 2">
            <a:extLst>
              <a:ext uri="{FF2B5EF4-FFF2-40B4-BE49-F238E27FC236}">
                <a16:creationId xmlns:a16="http://schemas.microsoft.com/office/drawing/2014/main" id="{DC80CAB1-0CB3-1D4E-8B04-AD92BBCF1D58}"/>
              </a:ext>
            </a:extLst>
          </p:cNvPr>
          <p:cNvSpPr txBox="1">
            <a:spLocks/>
          </p:cNvSpPr>
          <p:nvPr/>
        </p:nvSpPr>
        <p:spPr>
          <a:xfrm>
            <a:off x="8917210" y="3699337"/>
            <a:ext cx="435345" cy="389601"/>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800" i="1" dirty="0"/>
              <a:t>=</a:t>
            </a:r>
          </a:p>
        </p:txBody>
      </p:sp>
      <p:sp>
        <p:nvSpPr>
          <p:cNvPr id="28" name="Rectangle 27">
            <a:extLst>
              <a:ext uri="{FF2B5EF4-FFF2-40B4-BE49-F238E27FC236}">
                <a16:creationId xmlns:a16="http://schemas.microsoft.com/office/drawing/2014/main" id="{E607B708-3A3B-9247-B6C1-B9A8DFB87378}"/>
              </a:ext>
            </a:extLst>
          </p:cNvPr>
          <p:cNvSpPr/>
          <p:nvPr/>
        </p:nvSpPr>
        <p:spPr>
          <a:xfrm>
            <a:off x="1113183" y="5033159"/>
            <a:ext cx="10026594" cy="1327883"/>
          </a:xfrm>
          <a:prstGeom prst="rect">
            <a:avLst/>
          </a:prstGeom>
          <a:noFill/>
          <a:ln>
            <a:solidFill>
              <a:schemeClr val="tx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Content Placeholder 2">
            <a:extLst>
              <a:ext uri="{FF2B5EF4-FFF2-40B4-BE49-F238E27FC236}">
                <a16:creationId xmlns:a16="http://schemas.microsoft.com/office/drawing/2014/main" id="{A78AC064-D8D9-E749-AC4D-5EEDF5A48EE2}"/>
              </a:ext>
            </a:extLst>
          </p:cNvPr>
          <p:cNvSpPr txBox="1">
            <a:spLocks/>
          </p:cNvSpPr>
          <p:nvPr/>
        </p:nvSpPr>
        <p:spPr>
          <a:xfrm>
            <a:off x="2083904" y="4995399"/>
            <a:ext cx="8085151" cy="389601"/>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800" i="1" dirty="0"/>
              <a:t>Computational Complexity</a:t>
            </a:r>
          </a:p>
        </p:txBody>
      </p:sp>
      <p:sp>
        <p:nvSpPr>
          <p:cNvPr id="30" name="Content Placeholder 2">
            <a:extLst>
              <a:ext uri="{FF2B5EF4-FFF2-40B4-BE49-F238E27FC236}">
                <a16:creationId xmlns:a16="http://schemas.microsoft.com/office/drawing/2014/main" id="{CAE212C8-0B13-194B-B3F9-E8D553381C4E}"/>
              </a:ext>
            </a:extLst>
          </p:cNvPr>
          <p:cNvSpPr txBox="1">
            <a:spLocks/>
          </p:cNvSpPr>
          <p:nvPr/>
        </p:nvSpPr>
        <p:spPr>
          <a:xfrm>
            <a:off x="3127177" y="5547938"/>
            <a:ext cx="1773141" cy="544706"/>
          </a:xfrm>
          <a:prstGeom prst="rect">
            <a:avLst/>
          </a:prstGeom>
          <a:solidFill>
            <a:schemeClr val="tx1">
              <a:lumMod val="95000"/>
            </a:schemeClr>
          </a:solid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None/>
            </a:pPr>
            <a:r>
              <a:rPr lang="en-US" dirty="0">
                <a:solidFill>
                  <a:schemeClr val="bg1"/>
                </a:solidFill>
              </a:rPr>
              <a:t>Decidability</a:t>
            </a:r>
          </a:p>
        </p:txBody>
      </p:sp>
      <p:sp>
        <p:nvSpPr>
          <p:cNvPr id="31" name="Content Placeholder 2">
            <a:extLst>
              <a:ext uri="{FF2B5EF4-FFF2-40B4-BE49-F238E27FC236}">
                <a16:creationId xmlns:a16="http://schemas.microsoft.com/office/drawing/2014/main" id="{BD82F965-F282-A14B-8AE4-91D30F287D70}"/>
              </a:ext>
            </a:extLst>
          </p:cNvPr>
          <p:cNvSpPr txBox="1">
            <a:spLocks/>
          </p:cNvSpPr>
          <p:nvPr/>
        </p:nvSpPr>
        <p:spPr>
          <a:xfrm>
            <a:off x="5299208" y="5547938"/>
            <a:ext cx="1773141" cy="544706"/>
          </a:xfrm>
          <a:prstGeom prst="rect">
            <a:avLst/>
          </a:prstGeom>
          <a:solidFill>
            <a:schemeClr val="accent1"/>
          </a:solidFill>
        </p:spPr>
        <p:txBody>
          <a:bodyPr vert="horz" lIns="91440" tIns="45720" rIns="91440" bIns="45720" rtlCol="0">
            <a:normAutofit fontScale="85000"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None/>
            </a:pPr>
            <a:r>
              <a:rPr lang="en-US" dirty="0">
                <a:solidFill>
                  <a:schemeClr val="bg1"/>
                </a:solidFill>
              </a:rPr>
              <a:t>P, NP, NP-Hard</a:t>
            </a:r>
          </a:p>
        </p:txBody>
      </p:sp>
      <p:sp>
        <p:nvSpPr>
          <p:cNvPr id="32" name="Content Placeholder 2">
            <a:extLst>
              <a:ext uri="{FF2B5EF4-FFF2-40B4-BE49-F238E27FC236}">
                <a16:creationId xmlns:a16="http://schemas.microsoft.com/office/drawing/2014/main" id="{D9D7E13E-BB4D-E34A-9999-7314CAC43BD9}"/>
              </a:ext>
            </a:extLst>
          </p:cNvPr>
          <p:cNvSpPr txBox="1">
            <a:spLocks/>
          </p:cNvSpPr>
          <p:nvPr/>
        </p:nvSpPr>
        <p:spPr>
          <a:xfrm>
            <a:off x="7380015" y="5547938"/>
            <a:ext cx="1773141" cy="544706"/>
          </a:xfrm>
          <a:prstGeom prst="rect">
            <a:avLst/>
          </a:prstGeom>
          <a:solidFill>
            <a:schemeClr val="accent1">
              <a:lumMod val="20000"/>
              <a:lumOff val="80000"/>
            </a:schemeClr>
          </a:solidFill>
        </p:spPr>
        <p:txBody>
          <a:bodyPr vert="horz" lIns="91440" tIns="45720" rIns="91440" bIns="45720" rtlCol="0">
            <a:normAutofit fontScale="625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None/>
            </a:pPr>
            <a:r>
              <a:rPr lang="en-US" dirty="0">
                <a:solidFill>
                  <a:schemeClr val="bg1"/>
                </a:solidFill>
              </a:rPr>
              <a:t>P-Space, Co-NP, </a:t>
            </a:r>
            <a:r>
              <a:rPr lang="en-US" dirty="0" err="1">
                <a:solidFill>
                  <a:schemeClr val="bg1"/>
                </a:solidFill>
              </a:rPr>
              <a:t>etc</a:t>
            </a:r>
            <a:endParaRPr lang="en-US" dirty="0">
              <a:solidFill>
                <a:schemeClr val="bg1"/>
              </a:solidFill>
            </a:endParaRPr>
          </a:p>
        </p:txBody>
      </p:sp>
      <p:cxnSp>
        <p:nvCxnSpPr>
          <p:cNvPr id="9" name="Straight Connector 8">
            <a:extLst>
              <a:ext uri="{FF2B5EF4-FFF2-40B4-BE49-F238E27FC236}">
                <a16:creationId xmlns:a16="http://schemas.microsoft.com/office/drawing/2014/main" id="{22E4A26F-EC9C-6A42-B6E5-2AB70D8495CC}"/>
              </a:ext>
            </a:extLst>
          </p:cNvPr>
          <p:cNvCxnSpPr>
            <a:cxnSpLocks/>
          </p:cNvCxnSpPr>
          <p:nvPr/>
        </p:nvCxnSpPr>
        <p:spPr>
          <a:xfrm flipH="1">
            <a:off x="3737114" y="2611998"/>
            <a:ext cx="1940117" cy="274305"/>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8A9F70A8-6775-D748-9250-0D75E2C83C4A}"/>
              </a:ext>
            </a:extLst>
          </p:cNvPr>
          <p:cNvCxnSpPr>
            <a:cxnSpLocks/>
          </p:cNvCxnSpPr>
          <p:nvPr/>
        </p:nvCxnSpPr>
        <p:spPr>
          <a:xfrm flipH="1">
            <a:off x="4738977" y="2611998"/>
            <a:ext cx="938254" cy="345891"/>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87C4C467-E952-8749-B68A-AEACB73338CC}"/>
              </a:ext>
            </a:extLst>
          </p:cNvPr>
          <p:cNvCxnSpPr>
            <a:cxnSpLocks/>
          </p:cNvCxnSpPr>
          <p:nvPr/>
        </p:nvCxnSpPr>
        <p:spPr>
          <a:xfrm>
            <a:off x="5677231" y="2611998"/>
            <a:ext cx="326004" cy="312065"/>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810E39D2-A8F4-3F4E-A460-37AAEC00BDD8}"/>
              </a:ext>
            </a:extLst>
          </p:cNvPr>
          <p:cNvCxnSpPr>
            <a:cxnSpLocks/>
          </p:cNvCxnSpPr>
          <p:nvPr/>
        </p:nvCxnSpPr>
        <p:spPr>
          <a:xfrm>
            <a:off x="5677231" y="2611998"/>
            <a:ext cx="2441051" cy="312065"/>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cxnSp>
        <p:nvCxnSpPr>
          <p:cNvPr id="48" name="Straight Connector 47">
            <a:extLst>
              <a:ext uri="{FF2B5EF4-FFF2-40B4-BE49-F238E27FC236}">
                <a16:creationId xmlns:a16="http://schemas.microsoft.com/office/drawing/2014/main" id="{FF04D67C-0668-BD4F-9A16-080004563B3D}"/>
              </a:ext>
            </a:extLst>
          </p:cNvPr>
          <p:cNvCxnSpPr>
            <a:cxnSpLocks/>
          </p:cNvCxnSpPr>
          <p:nvPr/>
        </p:nvCxnSpPr>
        <p:spPr>
          <a:xfrm>
            <a:off x="5677231" y="2604047"/>
            <a:ext cx="4491824" cy="353842"/>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9C5BE0A7-D209-8A47-81A6-28A4251C55B5}"/>
              </a:ext>
            </a:extLst>
          </p:cNvPr>
          <p:cNvCxnSpPr>
            <a:cxnSpLocks/>
          </p:cNvCxnSpPr>
          <p:nvPr/>
        </p:nvCxnSpPr>
        <p:spPr>
          <a:xfrm flipV="1">
            <a:off x="6289482" y="4567959"/>
            <a:ext cx="1884459" cy="369801"/>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0432854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719C56-21DC-0A40-AA49-9AF4AF4C92DA}"/>
              </a:ext>
            </a:extLst>
          </p:cNvPr>
          <p:cNvSpPr>
            <a:spLocks noGrp="1"/>
          </p:cNvSpPr>
          <p:nvPr>
            <p:ph type="title"/>
          </p:nvPr>
        </p:nvSpPr>
        <p:spPr/>
        <p:txBody>
          <a:bodyPr/>
          <a:lstStyle/>
          <a:p>
            <a:pPr algn="ctr"/>
            <a:r>
              <a:rPr lang="en-US" dirty="0"/>
              <a:t>Part 1: Measuring Time and Space Complexity</a:t>
            </a:r>
          </a:p>
        </p:txBody>
      </p:sp>
    </p:spTree>
    <p:extLst>
      <p:ext uri="{BB962C8B-B14F-4D97-AF65-F5344CB8AC3E}">
        <p14:creationId xmlns:p14="http://schemas.microsoft.com/office/powerpoint/2010/main" val="201188383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3" y="125537"/>
            <a:ext cx="9905998" cy="860425"/>
          </a:xfrm>
        </p:spPr>
        <p:txBody>
          <a:bodyPr/>
          <a:lstStyle/>
          <a:p>
            <a:pPr algn="ctr"/>
            <a:r>
              <a:rPr lang="en-US" dirty="0"/>
              <a:t>Time Complexity</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14278F5F-F936-6145-9FF8-704886F1A386}"/>
                  </a:ext>
                </a:extLst>
              </p:cNvPr>
              <p:cNvSpPr>
                <a:spLocks noGrp="1"/>
              </p:cNvSpPr>
              <p:nvPr>
                <p:ph idx="1"/>
              </p:nvPr>
            </p:nvSpPr>
            <p:spPr>
              <a:xfrm>
                <a:off x="1141412" y="1049867"/>
                <a:ext cx="9905999" cy="2362200"/>
              </a:xfrm>
              <a:solidFill>
                <a:schemeClr val="tx1">
                  <a:lumMod val="95000"/>
                </a:schemeClr>
              </a:solidFill>
            </p:spPr>
            <p:txBody>
              <a:bodyPr/>
              <a:lstStyle/>
              <a:p>
                <a:pPr marL="0" indent="0">
                  <a:buNone/>
                </a:pPr>
                <a:r>
                  <a:rPr lang="en-US" dirty="0">
                    <a:solidFill>
                      <a:schemeClr val="bg1"/>
                    </a:solidFill>
                  </a:rPr>
                  <a:t>Let </a:t>
                </a:r>
                <a14:m>
                  <m:oMath xmlns:m="http://schemas.openxmlformats.org/officeDocument/2006/math">
                    <m:r>
                      <a:rPr lang="en-US" b="0" i="1" smtClean="0">
                        <a:solidFill>
                          <a:schemeClr val="bg1"/>
                        </a:solidFill>
                        <a:latin typeface="Cambria Math" panose="02040503050406030204" pitchFamily="18" charset="0"/>
                      </a:rPr>
                      <m:t>𝑀</m:t>
                    </m:r>
                  </m:oMath>
                </a14:m>
                <a:r>
                  <a:rPr lang="en-US" dirty="0">
                    <a:solidFill>
                      <a:schemeClr val="bg1"/>
                    </a:solidFill>
                  </a:rPr>
                  <a:t> be a deterministic Turing machine that halts on all inputs. The running time or time complexity of </a:t>
                </a:r>
                <a14:m>
                  <m:oMath xmlns:m="http://schemas.openxmlformats.org/officeDocument/2006/math">
                    <m:r>
                      <a:rPr lang="en-US" i="1">
                        <a:solidFill>
                          <a:schemeClr val="bg1"/>
                        </a:solidFill>
                        <a:latin typeface="Cambria Math" panose="02040503050406030204" pitchFamily="18" charset="0"/>
                      </a:rPr>
                      <m:t>𝑀</m:t>
                    </m:r>
                  </m:oMath>
                </a14:m>
                <a:r>
                  <a:rPr lang="en-US" dirty="0">
                    <a:solidFill>
                      <a:schemeClr val="bg1"/>
                    </a:solidFill>
                  </a:rPr>
                  <a:t> is the function </a:t>
                </a:r>
                <a14:m>
                  <m:oMath xmlns:m="http://schemas.openxmlformats.org/officeDocument/2006/math">
                    <m:r>
                      <a:rPr lang="en-US" b="0" i="1" smtClean="0">
                        <a:solidFill>
                          <a:schemeClr val="bg1"/>
                        </a:solidFill>
                        <a:latin typeface="Cambria Math" panose="02040503050406030204" pitchFamily="18" charset="0"/>
                      </a:rPr>
                      <m:t>𝑓</m:t>
                    </m:r>
                    <m:r>
                      <a:rPr lang="en-US" b="0" i="1" smtClean="0">
                        <a:solidFill>
                          <a:schemeClr val="bg1"/>
                        </a:solidFill>
                        <a:latin typeface="Cambria Math" panose="02040503050406030204" pitchFamily="18" charset="0"/>
                      </a:rPr>
                      <m:t>:</m:t>
                    </m:r>
                    <m:r>
                      <a:rPr lang="en-US" b="0" i="1" smtClean="0">
                        <a:solidFill>
                          <a:schemeClr val="bg1"/>
                        </a:solidFill>
                        <a:latin typeface="Cambria Math" panose="02040503050406030204" pitchFamily="18" charset="0"/>
                      </a:rPr>
                      <m:t>𝒩</m:t>
                    </m:r>
                    <m:r>
                      <a:rPr lang="en-US" b="0" i="1" smtClean="0">
                        <a:solidFill>
                          <a:schemeClr val="bg1"/>
                        </a:solidFill>
                        <a:latin typeface="Cambria Math" panose="02040503050406030204" pitchFamily="18" charset="0"/>
                      </a:rPr>
                      <m:t>→</m:t>
                    </m:r>
                    <m:r>
                      <a:rPr lang="en-US" b="0" i="1" smtClean="0">
                        <a:solidFill>
                          <a:schemeClr val="bg1"/>
                        </a:solidFill>
                        <a:latin typeface="Cambria Math" panose="02040503050406030204" pitchFamily="18" charset="0"/>
                      </a:rPr>
                      <m:t>𝒩</m:t>
                    </m:r>
                  </m:oMath>
                </a14:m>
                <a:r>
                  <a:rPr lang="en-US" dirty="0">
                    <a:solidFill>
                      <a:schemeClr val="bg1"/>
                    </a:solidFill>
                  </a:rPr>
                  <a:t>, where </a:t>
                </a:r>
                <a14:m>
                  <m:oMath xmlns:m="http://schemas.openxmlformats.org/officeDocument/2006/math">
                    <m:r>
                      <a:rPr lang="en-US" b="0" i="1" smtClean="0">
                        <a:solidFill>
                          <a:schemeClr val="bg1"/>
                        </a:solidFill>
                        <a:latin typeface="Cambria Math" panose="02040503050406030204" pitchFamily="18" charset="0"/>
                      </a:rPr>
                      <m:t>𝑓</m:t>
                    </m:r>
                    <m:r>
                      <a:rPr lang="en-US" b="0" i="1" smtClean="0">
                        <a:solidFill>
                          <a:schemeClr val="bg1"/>
                        </a:solidFill>
                        <a:latin typeface="Cambria Math" panose="02040503050406030204" pitchFamily="18" charset="0"/>
                      </a:rPr>
                      <m:t>(</m:t>
                    </m:r>
                    <m:r>
                      <a:rPr lang="en-US" b="0" i="1" smtClean="0">
                        <a:solidFill>
                          <a:schemeClr val="bg1"/>
                        </a:solidFill>
                        <a:latin typeface="Cambria Math" panose="02040503050406030204" pitchFamily="18" charset="0"/>
                      </a:rPr>
                      <m:t>𝑛</m:t>
                    </m:r>
                    <m:r>
                      <a:rPr lang="en-US" b="0" i="1" smtClean="0">
                        <a:solidFill>
                          <a:schemeClr val="bg1"/>
                        </a:solidFill>
                        <a:latin typeface="Cambria Math" panose="02040503050406030204" pitchFamily="18" charset="0"/>
                      </a:rPr>
                      <m:t>)</m:t>
                    </m:r>
                  </m:oMath>
                </a14:m>
                <a:r>
                  <a:rPr lang="en-US" dirty="0">
                    <a:solidFill>
                      <a:schemeClr val="bg1"/>
                    </a:solidFill>
                  </a:rPr>
                  <a:t> is the maximum number of steps that </a:t>
                </a:r>
                <a14:m>
                  <m:oMath xmlns:m="http://schemas.openxmlformats.org/officeDocument/2006/math">
                    <m:r>
                      <a:rPr lang="en-US" i="1">
                        <a:solidFill>
                          <a:schemeClr val="bg1"/>
                        </a:solidFill>
                        <a:latin typeface="Cambria Math" panose="02040503050406030204" pitchFamily="18" charset="0"/>
                      </a:rPr>
                      <m:t>𝑀</m:t>
                    </m:r>
                  </m:oMath>
                </a14:m>
                <a:r>
                  <a:rPr lang="en-US" dirty="0">
                    <a:solidFill>
                      <a:schemeClr val="bg1"/>
                    </a:solidFill>
                  </a:rPr>
                  <a:t> uses on any input of length </a:t>
                </a:r>
                <a14:m>
                  <m:oMath xmlns:m="http://schemas.openxmlformats.org/officeDocument/2006/math">
                    <m:r>
                      <a:rPr lang="en-US" b="0" i="1" smtClean="0">
                        <a:solidFill>
                          <a:schemeClr val="bg1"/>
                        </a:solidFill>
                        <a:latin typeface="Cambria Math" panose="02040503050406030204" pitchFamily="18" charset="0"/>
                      </a:rPr>
                      <m:t>𝑛</m:t>
                    </m:r>
                  </m:oMath>
                </a14:m>
                <a:r>
                  <a:rPr lang="en-US" dirty="0">
                    <a:solidFill>
                      <a:schemeClr val="bg1"/>
                    </a:solidFill>
                  </a:rPr>
                  <a:t>. If </a:t>
                </a:r>
                <a14:m>
                  <m:oMath xmlns:m="http://schemas.openxmlformats.org/officeDocument/2006/math">
                    <m:r>
                      <a:rPr lang="en-US" b="0" i="1" smtClean="0">
                        <a:solidFill>
                          <a:schemeClr val="bg1"/>
                        </a:solidFill>
                        <a:latin typeface="Cambria Math" panose="02040503050406030204" pitchFamily="18" charset="0"/>
                      </a:rPr>
                      <m:t>𝑓</m:t>
                    </m:r>
                    <m:r>
                      <a:rPr lang="en-US" b="0" i="1" smtClean="0">
                        <a:solidFill>
                          <a:schemeClr val="bg1"/>
                        </a:solidFill>
                        <a:latin typeface="Cambria Math" panose="02040503050406030204" pitchFamily="18" charset="0"/>
                      </a:rPr>
                      <m:t>(</m:t>
                    </m:r>
                    <m:r>
                      <a:rPr lang="en-US" b="0" i="1" smtClean="0">
                        <a:solidFill>
                          <a:schemeClr val="bg1"/>
                        </a:solidFill>
                        <a:latin typeface="Cambria Math" panose="02040503050406030204" pitchFamily="18" charset="0"/>
                      </a:rPr>
                      <m:t>𝑛</m:t>
                    </m:r>
                    <m:r>
                      <a:rPr lang="en-US" b="0" i="1" smtClean="0">
                        <a:solidFill>
                          <a:schemeClr val="bg1"/>
                        </a:solidFill>
                        <a:latin typeface="Cambria Math" panose="02040503050406030204" pitchFamily="18" charset="0"/>
                      </a:rPr>
                      <m:t>)</m:t>
                    </m:r>
                  </m:oMath>
                </a14:m>
                <a:r>
                  <a:rPr lang="en-US" dirty="0">
                    <a:solidFill>
                      <a:schemeClr val="bg1"/>
                    </a:solidFill>
                  </a:rPr>
                  <a:t> is the running time of </a:t>
                </a:r>
                <a14:m>
                  <m:oMath xmlns:m="http://schemas.openxmlformats.org/officeDocument/2006/math">
                    <m:r>
                      <a:rPr lang="en-US" i="1">
                        <a:solidFill>
                          <a:schemeClr val="bg1"/>
                        </a:solidFill>
                        <a:latin typeface="Cambria Math" panose="02040503050406030204" pitchFamily="18" charset="0"/>
                      </a:rPr>
                      <m:t>𝑀</m:t>
                    </m:r>
                  </m:oMath>
                </a14:m>
                <a:r>
                  <a:rPr lang="en-US" dirty="0">
                    <a:solidFill>
                      <a:schemeClr val="bg1"/>
                    </a:solidFill>
                  </a:rPr>
                  <a:t>, we say that </a:t>
                </a:r>
                <a14:m>
                  <m:oMath xmlns:m="http://schemas.openxmlformats.org/officeDocument/2006/math">
                    <m:r>
                      <a:rPr lang="en-US" i="1">
                        <a:solidFill>
                          <a:schemeClr val="bg1"/>
                        </a:solidFill>
                        <a:latin typeface="Cambria Math" panose="02040503050406030204" pitchFamily="18" charset="0"/>
                      </a:rPr>
                      <m:t>𝑀</m:t>
                    </m:r>
                  </m:oMath>
                </a14:m>
                <a:r>
                  <a:rPr lang="en-US" dirty="0">
                    <a:solidFill>
                      <a:schemeClr val="bg1"/>
                    </a:solidFill>
                  </a:rPr>
                  <a:t> runs in time </a:t>
                </a:r>
                <a14:m>
                  <m:oMath xmlns:m="http://schemas.openxmlformats.org/officeDocument/2006/math">
                    <m:r>
                      <a:rPr lang="en-US" b="0" i="1" smtClean="0">
                        <a:solidFill>
                          <a:schemeClr val="bg1"/>
                        </a:solidFill>
                        <a:latin typeface="Cambria Math" panose="02040503050406030204" pitchFamily="18" charset="0"/>
                      </a:rPr>
                      <m:t>𝑓</m:t>
                    </m:r>
                    <m:r>
                      <a:rPr lang="en-US" b="0" i="1" smtClean="0">
                        <a:solidFill>
                          <a:schemeClr val="bg1"/>
                        </a:solidFill>
                        <a:latin typeface="Cambria Math" panose="02040503050406030204" pitchFamily="18" charset="0"/>
                      </a:rPr>
                      <m:t>(</m:t>
                    </m:r>
                    <m:r>
                      <a:rPr lang="en-US" b="0" i="1" smtClean="0">
                        <a:solidFill>
                          <a:schemeClr val="bg1"/>
                        </a:solidFill>
                        <a:latin typeface="Cambria Math" panose="02040503050406030204" pitchFamily="18" charset="0"/>
                      </a:rPr>
                      <m:t>𝑛</m:t>
                    </m:r>
                    <m:r>
                      <a:rPr lang="en-US" b="0" i="1" smtClean="0">
                        <a:solidFill>
                          <a:schemeClr val="bg1"/>
                        </a:solidFill>
                        <a:latin typeface="Cambria Math" panose="02040503050406030204" pitchFamily="18" charset="0"/>
                      </a:rPr>
                      <m:t>)</m:t>
                    </m:r>
                  </m:oMath>
                </a14:m>
                <a:r>
                  <a:rPr lang="en-US" dirty="0">
                    <a:solidFill>
                      <a:schemeClr val="bg1"/>
                    </a:solidFill>
                  </a:rPr>
                  <a:t> and that </a:t>
                </a:r>
                <a14:m>
                  <m:oMath xmlns:m="http://schemas.openxmlformats.org/officeDocument/2006/math">
                    <m:r>
                      <a:rPr lang="en-US" i="1">
                        <a:solidFill>
                          <a:schemeClr val="bg1"/>
                        </a:solidFill>
                        <a:latin typeface="Cambria Math" panose="02040503050406030204" pitchFamily="18" charset="0"/>
                      </a:rPr>
                      <m:t>𝑀</m:t>
                    </m:r>
                  </m:oMath>
                </a14:m>
                <a:r>
                  <a:rPr lang="en-US" dirty="0">
                    <a:solidFill>
                      <a:schemeClr val="bg1"/>
                    </a:solidFill>
                  </a:rPr>
                  <a:t> is an </a:t>
                </a:r>
                <a14:m>
                  <m:oMath xmlns:m="http://schemas.openxmlformats.org/officeDocument/2006/math">
                    <m:r>
                      <a:rPr lang="en-US" b="0" i="1" smtClean="0">
                        <a:solidFill>
                          <a:schemeClr val="bg1"/>
                        </a:solidFill>
                        <a:latin typeface="Cambria Math" panose="02040503050406030204" pitchFamily="18" charset="0"/>
                      </a:rPr>
                      <m:t>𝑓</m:t>
                    </m:r>
                    <m:r>
                      <a:rPr lang="en-US" b="0" i="1" smtClean="0">
                        <a:solidFill>
                          <a:schemeClr val="bg1"/>
                        </a:solidFill>
                        <a:latin typeface="Cambria Math" panose="02040503050406030204" pitchFamily="18" charset="0"/>
                      </a:rPr>
                      <m:t>(</m:t>
                    </m:r>
                    <m:r>
                      <a:rPr lang="en-US" b="0" i="1" smtClean="0">
                        <a:solidFill>
                          <a:schemeClr val="bg1"/>
                        </a:solidFill>
                        <a:latin typeface="Cambria Math" panose="02040503050406030204" pitchFamily="18" charset="0"/>
                      </a:rPr>
                      <m:t>𝑛</m:t>
                    </m:r>
                    <m:r>
                      <a:rPr lang="en-US" b="0" i="1" smtClean="0">
                        <a:solidFill>
                          <a:schemeClr val="bg1"/>
                        </a:solidFill>
                        <a:latin typeface="Cambria Math" panose="02040503050406030204" pitchFamily="18" charset="0"/>
                      </a:rPr>
                      <m:t>)</m:t>
                    </m:r>
                  </m:oMath>
                </a14:m>
                <a:r>
                  <a:rPr lang="en-US" dirty="0">
                    <a:solidFill>
                      <a:schemeClr val="bg1"/>
                    </a:solidFill>
                  </a:rPr>
                  <a:t> time Turing machine. Customarily we use </a:t>
                </a:r>
                <a14:m>
                  <m:oMath xmlns:m="http://schemas.openxmlformats.org/officeDocument/2006/math">
                    <m:r>
                      <a:rPr lang="en-US" b="0" i="1" smtClean="0">
                        <a:solidFill>
                          <a:schemeClr val="bg1"/>
                        </a:solidFill>
                        <a:latin typeface="Cambria Math" panose="02040503050406030204" pitchFamily="18" charset="0"/>
                      </a:rPr>
                      <m:t>𝑛</m:t>
                    </m:r>
                  </m:oMath>
                </a14:m>
                <a:r>
                  <a:rPr lang="en-US" dirty="0">
                    <a:solidFill>
                      <a:schemeClr val="bg1"/>
                    </a:solidFill>
                  </a:rPr>
                  <a:t> to represent the length of the input.</a:t>
                </a:r>
              </a:p>
            </p:txBody>
          </p:sp>
        </mc:Choice>
        <mc:Fallback xmlns="">
          <p:sp>
            <p:nvSpPr>
              <p:cNvPr id="3" name="Content Placeholder 2">
                <a:extLst>
                  <a:ext uri="{FF2B5EF4-FFF2-40B4-BE49-F238E27FC236}">
                    <a16:creationId xmlns:a16="http://schemas.microsoft.com/office/drawing/2014/main" id="{14278F5F-F936-6145-9FF8-704886F1A386}"/>
                  </a:ext>
                </a:extLst>
              </p:cNvPr>
              <p:cNvSpPr>
                <a:spLocks noGrp="1" noRot="1" noChangeAspect="1" noMove="1" noResize="1" noEditPoints="1" noAdjustHandles="1" noChangeArrowheads="1" noChangeShapeType="1" noTextEdit="1"/>
              </p:cNvSpPr>
              <p:nvPr>
                <p:ph idx="1"/>
              </p:nvPr>
            </p:nvSpPr>
            <p:spPr>
              <a:xfrm>
                <a:off x="1141412" y="1049867"/>
                <a:ext cx="9905999" cy="2362200"/>
              </a:xfrm>
              <a:blipFill>
                <a:blip r:embed="rId2"/>
                <a:stretch>
                  <a:fillRect l="-896" t="-535" r="-1280" b="-107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Content Placeholder 2">
                <a:extLst>
                  <a:ext uri="{FF2B5EF4-FFF2-40B4-BE49-F238E27FC236}">
                    <a16:creationId xmlns:a16="http://schemas.microsoft.com/office/drawing/2014/main" id="{D1AB4AE0-9143-C34D-B965-4033C921D6B5}"/>
                  </a:ext>
                </a:extLst>
              </p:cNvPr>
              <p:cNvSpPr txBox="1">
                <a:spLocks/>
              </p:cNvSpPr>
              <p:nvPr/>
            </p:nvSpPr>
            <p:spPr>
              <a:xfrm>
                <a:off x="6942667" y="4834467"/>
                <a:ext cx="2961744" cy="1151466"/>
              </a:xfrm>
              <a:prstGeom prst="rect">
                <a:avLst/>
              </a:prstGeom>
              <a:no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None/>
                </a:pPr>
                <a:r>
                  <a:rPr lang="en-US" sz="1800" i="1" dirty="0">
                    <a:solidFill>
                      <a:schemeClr val="tx1">
                        <a:lumMod val="95000"/>
                      </a:schemeClr>
                    </a:solidFill>
                  </a:rPr>
                  <a:t>Short version: </a:t>
                </a:r>
                <a14:m>
                  <m:oMath xmlns:m="http://schemas.openxmlformats.org/officeDocument/2006/math">
                    <m:r>
                      <a:rPr lang="en-US" sz="1800" b="0" i="1" smtClean="0">
                        <a:solidFill>
                          <a:schemeClr val="tx1">
                            <a:lumMod val="95000"/>
                          </a:schemeClr>
                        </a:solidFill>
                        <a:latin typeface="Cambria Math" panose="02040503050406030204" pitchFamily="18" charset="0"/>
                      </a:rPr>
                      <m:t>𝑓</m:t>
                    </m:r>
                    <m:r>
                      <a:rPr lang="en-US" sz="1800" b="0" i="1" smtClean="0">
                        <a:solidFill>
                          <a:schemeClr val="tx1">
                            <a:lumMod val="95000"/>
                          </a:schemeClr>
                        </a:solidFill>
                        <a:latin typeface="Cambria Math" panose="02040503050406030204" pitchFamily="18" charset="0"/>
                      </a:rPr>
                      <m:t>(</m:t>
                    </m:r>
                    <m:r>
                      <a:rPr lang="en-US" sz="1800" b="0" i="1" smtClean="0">
                        <a:solidFill>
                          <a:schemeClr val="tx1">
                            <a:lumMod val="95000"/>
                          </a:schemeClr>
                        </a:solidFill>
                        <a:latin typeface="Cambria Math" panose="02040503050406030204" pitchFamily="18" charset="0"/>
                      </a:rPr>
                      <m:t>𝑛</m:t>
                    </m:r>
                    <m:r>
                      <a:rPr lang="en-US" sz="1800" b="0" i="1" smtClean="0">
                        <a:solidFill>
                          <a:schemeClr val="tx1">
                            <a:lumMod val="95000"/>
                          </a:schemeClr>
                        </a:solidFill>
                        <a:latin typeface="Cambria Math" panose="02040503050406030204" pitchFamily="18" charset="0"/>
                      </a:rPr>
                      <m:t>)</m:t>
                    </m:r>
                  </m:oMath>
                </a14:m>
                <a:r>
                  <a:rPr lang="en-US" sz="1800" i="1" dirty="0">
                    <a:solidFill>
                      <a:schemeClr val="tx1">
                        <a:lumMod val="95000"/>
                      </a:schemeClr>
                    </a:solidFill>
                  </a:rPr>
                  <a:t> is the worst case runtime for machine </a:t>
                </a:r>
                <a14:m>
                  <m:oMath xmlns:m="http://schemas.openxmlformats.org/officeDocument/2006/math">
                    <m:r>
                      <a:rPr lang="en-US" sz="1800" b="0" i="1" smtClean="0">
                        <a:solidFill>
                          <a:schemeClr val="tx1">
                            <a:lumMod val="95000"/>
                          </a:schemeClr>
                        </a:solidFill>
                        <a:latin typeface="Cambria Math" panose="02040503050406030204" pitchFamily="18" charset="0"/>
                      </a:rPr>
                      <m:t>𝑀</m:t>
                    </m:r>
                  </m:oMath>
                </a14:m>
                <a:r>
                  <a:rPr lang="en-US" sz="1800" i="1" dirty="0">
                    <a:solidFill>
                      <a:schemeClr val="tx1">
                        <a:lumMod val="95000"/>
                      </a:schemeClr>
                    </a:solidFill>
                  </a:rPr>
                  <a:t> as a function of input size </a:t>
                </a:r>
                <a14:m>
                  <m:oMath xmlns:m="http://schemas.openxmlformats.org/officeDocument/2006/math">
                    <m:r>
                      <a:rPr lang="en-US" sz="1800" b="0" i="1" smtClean="0">
                        <a:solidFill>
                          <a:schemeClr val="tx1">
                            <a:lumMod val="95000"/>
                          </a:schemeClr>
                        </a:solidFill>
                        <a:latin typeface="Cambria Math" panose="02040503050406030204" pitchFamily="18" charset="0"/>
                      </a:rPr>
                      <m:t>𝑛</m:t>
                    </m:r>
                  </m:oMath>
                </a14:m>
                <a:r>
                  <a:rPr lang="en-US" sz="1800" i="1" dirty="0">
                    <a:solidFill>
                      <a:schemeClr val="tx1">
                        <a:lumMod val="95000"/>
                      </a:schemeClr>
                    </a:solidFill>
                  </a:rPr>
                  <a:t>.</a:t>
                </a:r>
              </a:p>
            </p:txBody>
          </p:sp>
        </mc:Choice>
        <mc:Fallback xmlns="">
          <p:sp>
            <p:nvSpPr>
              <p:cNvPr id="6" name="Content Placeholder 2">
                <a:extLst>
                  <a:ext uri="{FF2B5EF4-FFF2-40B4-BE49-F238E27FC236}">
                    <a16:creationId xmlns:a16="http://schemas.microsoft.com/office/drawing/2014/main" id="{D1AB4AE0-9143-C34D-B965-4033C921D6B5}"/>
                  </a:ext>
                </a:extLst>
              </p:cNvPr>
              <p:cNvSpPr txBox="1">
                <a:spLocks noRot="1" noChangeAspect="1" noMove="1" noResize="1" noEditPoints="1" noAdjustHandles="1" noChangeArrowheads="1" noChangeShapeType="1" noTextEdit="1"/>
              </p:cNvSpPr>
              <p:nvPr/>
            </p:nvSpPr>
            <p:spPr>
              <a:xfrm>
                <a:off x="6942667" y="4834467"/>
                <a:ext cx="2961744" cy="1151466"/>
              </a:xfrm>
              <a:prstGeom prst="rect">
                <a:avLst/>
              </a:prstGeom>
              <a:blipFill>
                <a:blip r:embed="rId3"/>
                <a:stretch>
                  <a:fillRect l="-1282" r="-3419"/>
                </a:stretch>
              </a:blipFill>
            </p:spPr>
            <p:txBody>
              <a:bodyPr/>
              <a:lstStyle/>
              <a:p>
                <a:r>
                  <a:rPr lang="en-US">
                    <a:noFill/>
                  </a:rPr>
                  <a:t> </a:t>
                </a:r>
              </a:p>
            </p:txBody>
          </p:sp>
        </mc:Fallback>
      </mc:AlternateContent>
      <p:cxnSp>
        <p:nvCxnSpPr>
          <p:cNvPr id="5" name="Straight Connector 4">
            <a:extLst>
              <a:ext uri="{FF2B5EF4-FFF2-40B4-BE49-F238E27FC236}">
                <a16:creationId xmlns:a16="http://schemas.microsoft.com/office/drawing/2014/main" id="{7959D246-6453-0F43-9E5D-3F39A6ECF071}"/>
              </a:ext>
            </a:extLst>
          </p:cNvPr>
          <p:cNvCxnSpPr>
            <a:cxnSpLocks/>
          </p:cNvCxnSpPr>
          <p:nvPr/>
        </p:nvCxnSpPr>
        <p:spPr>
          <a:xfrm flipH="1" flipV="1">
            <a:off x="6570134" y="3623733"/>
            <a:ext cx="1244599" cy="1210734"/>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
        <p:nvSpPr>
          <p:cNvPr id="8" name="Content Placeholder 2">
            <a:extLst>
              <a:ext uri="{FF2B5EF4-FFF2-40B4-BE49-F238E27FC236}">
                <a16:creationId xmlns:a16="http://schemas.microsoft.com/office/drawing/2014/main" id="{F52BF077-980A-5B40-8E38-8210765FE5A8}"/>
              </a:ext>
            </a:extLst>
          </p:cNvPr>
          <p:cNvSpPr txBox="1">
            <a:spLocks/>
          </p:cNvSpPr>
          <p:nvPr/>
        </p:nvSpPr>
        <p:spPr>
          <a:xfrm>
            <a:off x="1430866" y="4682067"/>
            <a:ext cx="2961744" cy="1151466"/>
          </a:xfrm>
          <a:prstGeom prst="rect">
            <a:avLst/>
          </a:prstGeom>
          <a:no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None/>
            </a:pPr>
            <a:r>
              <a:rPr lang="en-US" sz="1800" i="1" dirty="0">
                <a:solidFill>
                  <a:schemeClr val="tx1">
                    <a:lumMod val="95000"/>
                  </a:schemeClr>
                </a:solidFill>
              </a:rPr>
              <a:t>You should already be familiar with this definition / concept</a:t>
            </a:r>
          </a:p>
        </p:txBody>
      </p:sp>
      <p:cxnSp>
        <p:nvCxnSpPr>
          <p:cNvPr id="9" name="Straight Connector 8">
            <a:extLst>
              <a:ext uri="{FF2B5EF4-FFF2-40B4-BE49-F238E27FC236}">
                <a16:creationId xmlns:a16="http://schemas.microsoft.com/office/drawing/2014/main" id="{45686678-B4C4-A144-8F91-143D29AD5A52}"/>
              </a:ext>
            </a:extLst>
          </p:cNvPr>
          <p:cNvCxnSpPr>
            <a:cxnSpLocks/>
          </p:cNvCxnSpPr>
          <p:nvPr/>
        </p:nvCxnSpPr>
        <p:spPr>
          <a:xfrm flipV="1">
            <a:off x="3090333" y="3623733"/>
            <a:ext cx="1193801" cy="1058334"/>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732773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3" y="125537"/>
            <a:ext cx="9905998" cy="860425"/>
          </a:xfrm>
        </p:spPr>
        <p:txBody>
          <a:bodyPr/>
          <a:lstStyle/>
          <a:p>
            <a:pPr algn="ctr"/>
            <a:r>
              <a:rPr lang="en-US" dirty="0"/>
              <a:t>Review: Time Complexity</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14278F5F-F936-6145-9FF8-704886F1A386}"/>
                  </a:ext>
                </a:extLst>
              </p:cNvPr>
              <p:cNvSpPr>
                <a:spLocks noGrp="1"/>
              </p:cNvSpPr>
              <p:nvPr>
                <p:ph idx="1"/>
              </p:nvPr>
            </p:nvSpPr>
            <p:spPr>
              <a:xfrm>
                <a:off x="2028823" y="1875616"/>
                <a:ext cx="3574521" cy="584854"/>
              </a:xfrm>
              <a:solidFill>
                <a:schemeClr val="tx1">
                  <a:lumMod val="95000"/>
                </a:schemeClr>
              </a:solidFill>
            </p:spPr>
            <p:txBody>
              <a:bodyPr/>
              <a:lstStyle/>
              <a:p>
                <a:pPr marL="0" indent="0" algn="ctr">
                  <a:buNone/>
                </a:pPr>
                <a14:m>
                  <m:oMath xmlns:m="http://schemas.openxmlformats.org/officeDocument/2006/math">
                    <m:r>
                      <a:rPr lang="en-US" b="0" i="1" smtClean="0">
                        <a:solidFill>
                          <a:schemeClr val="bg1"/>
                        </a:solidFill>
                        <a:latin typeface="Cambria Math" panose="02040503050406030204" pitchFamily="18" charset="0"/>
                      </a:rPr>
                      <m:t>𝑂</m:t>
                    </m:r>
                    <m:r>
                      <a:rPr lang="en-US" b="0" i="1" smtClean="0">
                        <a:solidFill>
                          <a:schemeClr val="bg1"/>
                        </a:solidFill>
                        <a:latin typeface="Cambria Math" panose="02040503050406030204" pitchFamily="18" charset="0"/>
                      </a:rPr>
                      <m:t>(</m:t>
                    </m:r>
                    <m:r>
                      <a:rPr lang="en-US" b="0" i="1" smtClean="0">
                        <a:solidFill>
                          <a:schemeClr val="bg1"/>
                        </a:solidFill>
                        <a:latin typeface="Cambria Math" panose="02040503050406030204" pitchFamily="18" charset="0"/>
                      </a:rPr>
                      <m:t>𝑓</m:t>
                    </m:r>
                    <m:d>
                      <m:dPr>
                        <m:ctrlPr>
                          <a:rPr lang="en-US" b="0" i="1" smtClean="0">
                            <a:solidFill>
                              <a:schemeClr val="bg1"/>
                            </a:solidFill>
                            <a:latin typeface="Cambria Math" panose="02040503050406030204" pitchFamily="18" charset="0"/>
                          </a:rPr>
                        </m:ctrlPr>
                      </m:dPr>
                      <m:e>
                        <m:r>
                          <a:rPr lang="en-US" b="0" i="1" smtClean="0">
                            <a:solidFill>
                              <a:schemeClr val="bg1"/>
                            </a:solidFill>
                            <a:latin typeface="Cambria Math" panose="02040503050406030204" pitchFamily="18" charset="0"/>
                          </a:rPr>
                          <m:t>𝑛</m:t>
                        </m:r>
                      </m:e>
                    </m:d>
                    <m:r>
                      <a:rPr lang="en-US" b="0" i="1" smtClean="0">
                        <a:solidFill>
                          <a:schemeClr val="bg1"/>
                        </a:solidFill>
                        <a:latin typeface="Cambria Math" panose="02040503050406030204" pitchFamily="18" charset="0"/>
                      </a:rPr>
                      <m:t>)</m:t>
                    </m:r>
                  </m:oMath>
                </a14:m>
                <a:r>
                  <a:rPr lang="en-US" dirty="0">
                    <a:solidFill>
                      <a:schemeClr val="bg1"/>
                    </a:solidFill>
                  </a:rPr>
                  <a:t>, </a:t>
                </a:r>
                <a14:m>
                  <m:oMath xmlns:m="http://schemas.openxmlformats.org/officeDocument/2006/math">
                    <m:r>
                      <a:rPr lang="en-US" b="0" i="1" smtClean="0">
                        <a:solidFill>
                          <a:schemeClr val="bg1"/>
                        </a:solidFill>
                        <a:latin typeface="Cambria Math" panose="02040503050406030204" pitchFamily="18" charset="0"/>
                      </a:rPr>
                      <m:t>𝑜</m:t>
                    </m:r>
                    <m:r>
                      <a:rPr lang="en-US" b="0" i="1" smtClean="0">
                        <a:solidFill>
                          <a:schemeClr val="bg1"/>
                        </a:solidFill>
                        <a:latin typeface="Cambria Math" panose="02040503050406030204" pitchFamily="18" charset="0"/>
                      </a:rPr>
                      <m:t>(</m:t>
                    </m:r>
                    <m:r>
                      <a:rPr lang="en-US" b="0" i="1" smtClean="0">
                        <a:solidFill>
                          <a:schemeClr val="bg1"/>
                        </a:solidFill>
                        <a:latin typeface="Cambria Math" panose="02040503050406030204" pitchFamily="18" charset="0"/>
                      </a:rPr>
                      <m:t>𝑓</m:t>
                    </m:r>
                    <m:d>
                      <m:dPr>
                        <m:ctrlPr>
                          <a:rPr lang="en-US" b="0" i="1" smtClean="0">
                            <a:solidFill>
                              <a:schemeClr val="bg1"/>
                            </a:solidFill>
                            <a:latin typeface="Cambria Math" panose="02040503050406030204" pitchFamily="18" charset="0"/>
                          </a:rPr>
                        </m:ctrlPr>
                      </m:dPr>
                      <m:e>
                        <m:r>
                          <a:rPr lang="en-US" b="0" i="1" smtClean="0">
                            <a:solidFill>
                              <a:schemeClr val="bg1"/>
                            </a:solidFill>
                            <a:latin typeface="Cambria Math" panose="02040503050406030204" pitchFamily="18" charset="0"/>
                          </a:rPr>
                          <m:t>𝑛</m:t>
                        </m:r>
                      </m:e>
                    </m:d>
                    <m:r>
                      <a:rPr lang="en-US" b="0" i="1" smtClean="0">
                        <a:solidFill>
                          <a:schemeClr val="bg1"/>
                        </a:solidFill>
                        <a:latin typeface="Cambria Math" panose="02040503050406030204" pitchFamily="18" charset="0"/>
                      </a:rPr>
                      <m:t>)</m:t>
                    </m:r>
                  </m:oMath>
                </a14:m>
                <a:endParaRPr lang="en-US" dirty="0">
                  <a:solidFill>
                    <a:schemeClr val="bg1"/>
                  </a:solidFill>
                </a:endParaRPr>
              </a:p>
            </p:txBody>
          </p:sp>
        </mc:Choice>
        <mc:Fallback xmlns="">
          <p:sp>
            <p:nvSpPr>
              <p:cNvPr id="3" name="Content Placeholder 2">
                <a:extLst>
                  <a:ext uri="{FF2B5EF4-FFF2-40B4-BE49-F238E27FC236}">
                    <a16:creationId xmlns:a16="http://schemas.microsoft.com/office/drawing/2014/main" id="{14278F5F-F936-6145-9FF8-704886F1A386}"/>
                  </a:ext>
                </a:extLst>
              </p:cNvPr>
              <p:cNvSpPr>
                <a:spLocks noGrp="1" noRot="1" noChangeAspect="1" noMove="1" noResize="1" noEditPoints="1" noAdjustHandles="1" noChangeArrowheads="1" noChangeShapeType="1" noTextEdit="1"/>
              </p:cNvSpPr>
              <p:nvPr>
                <p:ph idx="1"/>
              </p:nvPr>
            </p:nvSpPr>
            <p:spPr>
              <a:xfrm>
                <a:off x="2028823" y="1875616"/>
                <a:ext cx="3574521" cy="584854"/>
              </a:xfrm>
              <a:blipFill>
                <a:blip r:embed="rId2"/>
                <a:stretch>
                  <a:fillRect t="-2128" b="-8511"/>
                </a:stretch>
              </a:blipFill>
            </p:spPr>
            <p:txBody>
              <a:bodyPr/>
              <a:lstStyle/>
              <a:p>
                <a:r>
                  <a:rPr lang="en-US">
                    <a:noFill/>
                  </a:rPr>
                  <a:t> </a:t>
                </a:r>
              </a:p>
            </p:txBody>
          </p:sp>
        </mc:Fallback>
      </mc:AlternateContent>
      <p:sp>
        <p:nvSpPr>
          <p:cNvPr id="6" name="Content Placeholder 2">
            <a:extLst>
              <a:ext uri="{FF2B5EF4-FFF2-40B4-BE49-F238E27FC236}">
                <a16:creationId xmlns:a16="http://schemas.microsoft.com/office/drawing/2014/main" id="{D1AB4AE0-9143-C34D-B965-4033C921D6B5}"/>
              </a:ext>
            </a:extLst>
          </p:cNvPr>
          <p:cNvSpPr txBox="1">
            <a:spLocks/>
          </p:cNvSpPr>
          <p:nvPr/>
        </p:nvSpPr>
        <p:spPr>
          <a:xfrm>
            <a:off x="5874277" y="1867150"/>
            <a:ext cx="4859867" cy="593320"/>
          </a:xfrm>
          <a:prstGeom prst="rect">
            <a:avLst/>
          </a:prstGeom>
          <a:no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None/>
            </a:pPr>
            <a:r>
              <a:rPr lang="en-US" sz="1800" i="1" dirty="0">
                <a:solidFill>
                  <a:schemeClr val="tx1">
                    <a:lumMod val="95000"/>
                  </a:schemeClr>
                </a:solidFill>
              </a:rPr>
              <a:t>Asymptotic </a:t>
            </a:r>
            <a:r>
              <a:rPr lang="en-US" sz="1800" b="1" i="1" u="sng" dirty="0">
                <a:solidFill>
                  <a:schemeClr val="tx1">
                    <a:lumMod val="95000"/>
                  </a:schemeClr>
                </a:solidFill>
              </a:rPr>
              <a:t>upper</a:t>
            </a:r>
            <a:r>
              <a:rPr lang="en-US" sz="1800" i="1" dirty="0">
                <a:solidFill>
                  <a:schemeClr val="tx1">
                    <a:lumMod val="95000"/>
                  </a:schemeClr>
                </a:solidFill>
              </a:rPr>
              <a:t> bounds</a:t>
            </a:r>
          </a:p>
        </p:txBody>
      </p:sp>
      <p:sp>
        <p:nvSpPr>
          <p:cNvPr id="8" name="Content Placeholder 2">
            <a:extLst>
              <a:ext uri="{FF2B5EF4-FFF2-40B4-BE49-F238E27FC236}">
                <a16:creationId xmlns:a16="http://schemas.microsoft.com/office/drawing/2014/main" id="{F52BF077-980A-5B40-8E38-8210765FE5A8}"/>
              </a:ext>
            </a:extLst>
          </p:cNvPr>
          <p:cNvSpPr txBox="1">
            <a:spLocks/>
          </p:cNvSpPr>
          <p:nvPr/>
        </p:nvSpPr>
        <p:spPr>
          <a:xfrm>
            <a:off x="2028823" y="1193722"/>
            <a:ext cx="6299201" cy="440266"/>
          </a:xfrm>
          <a:prstGeom prst="rect">
            <a:avLst/>
          </a:prstGeom>
          <a:no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None/>
            </a:pPr>
            <a:r>
              <a:rPr lang="en-US" sz="1800" i="1" dirty="0">
                <a:solidFill>
                  <a:schemeClr val="tx1">
                    <a:lumMod val="95000"/>
                  </a:schemeClr>
                </a:solidFill>
              </a:rPr>
              <a:t>The following items, you should already know from previous courses.</a:t>
            </a:r>
          </a:p>
        </p:txBody>
      </p:sp>
      <mc:AlternateContent xmlns:mc="http://schemas.openxmlformats.org/markup-compatibility/2006" xmlns:a14="http://schemas.microsoft.com/office/drawing/2010/main">
        <mc:Choice Requires="a14">
          <p:sp>
            <p:nvSpPr>
              <p:cNvPr id="10" name="Content Placeholder 2">
                <a:extLst>
                  <a:ext uri="{FF2B5EF4-FFF2-40B4-BE49-F238E27FC236}">
                    <a16:creationId xmlns:a16="http://schemas.microsoft.com/office/drawing/2014/main" id="{7C63542D-0AD0-4F44-9C74-C58D247DBAF1}"/>
                  </a:ext>
                </a:extLst>
              </p:cNvPr>
              <p:cNvSpPr txBox="1">
                <a:spLocks/>
              </p:cNvSpPr>
              <p:nvPr/>
            </p:nvSpPr>
            <p:spPr>
              <a:xfrm>
                <a:off x="2028823" y="2702098"/>
                <a:ext cx="3574521" cy="584854"/>
              </a:xfrm>
              <a:prstGeom prst="rect">
                <a:avLst/>
              </a:prstGeom>
              <a:solidFill>
                <a:schemeClr val="tx1">
                  <a:lumMod val="95000"/>
                </a:schemeClr>
              </a:solid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14:m>
                  <m:oMath xmlns:m="http://schemas.openxmlformats.org/officeDocument/2006/math">
                    <m:r>
                      <m:rPr>
                        <m:sty m:val="p"/>
                      </m:rPr>
                      <a:rPr lang="en-US" b="0" i="0" smtClean="0">
                        <a:solidFill>
                          <a:schemeClr val="bg1"/>
                        </a:solidFill>
                        <a:latin typeface="Cambria Math" panose="02040503050406030204" pitchFamily="18" charset="0"/>
                      </a:rPr>
                      <m:t>Ω</m:t>
                    </m:r>
                    <m:r>
                      <a:rPr lang="en-US" i="1" smtClean="0">
                        <a:solidFill>
                          <a:schemeClr val="bg1"/>
                        </a:solidFill>
                        <a:latin typeface="Cambria Math" panose="02040503050406030204" pitchFamily="18" charset="0"/>
                      </a:rPr>
                      <m:t>(</m:t>
                    </m:r>
                    <m:r>
                      <a:rPr lang="en-US" i="1" smtClean="0">
                        <a:solidFill>
                          <a:schemeClr val="bg1"/>
                        </a:solidFill>
                        <a:latin typeface="Cambria Math" panose="02040503050406030204" pitchFamily="18" charset="0"/>
                      </a:rPr>
                      <m:t>𝑓</m:t>
                    </m:r>
                    <m:d>
                      <m:dPr>
                        <m:ctrlPr>
                          <a:rPr lang="en-US" i="1" smtClean="0">
                            <a:solidFill>
                              <a:schemeClr val="bg1"/>
                            </a:solidFill>
                            <a:latin typeface="Cambria Math" panose="02040503050406030204" pitchFamily="18" charset="0"/>
                          </a:rPr>
                        </m:ctrlPr>
                      </m:dPr>
                      <m:e>
                        <m:r>
                          <a:rPr lang="en-US" i="1" smtClean="0">
                            <a:solidFill>
                              <a:schemeClr val="bg1"/>
                            </a:solidFill>
                            <a:latin typeface="Cambria Math" panose="02040503050406030204" pitchFamily="18" charset="0"/>
                          </a:rPr>
                          <m:t>𝑛</m:t>
                        </m:r>
                      </m:e>
                    </m:d>
                    <m:r>
                      <a:rPr lang="en-US" i="1" smtClean="0">
                        <a:solidFill>
                          <a:schemeClr val="bg1"/>
                        </a:solidFill>
                        <a:latin typeface="Cambria Math" panose="02040503050406030204" pitchFamily="18" charset="0"/>
                      </a:rPr>
                      <m:t>)</m:t>
                    </m:r>
                  </m:oMath>
                </a14:m>
                <a:r>
                  <a:rPr lang="en-US" dirty="0">
                    <a:solidFill>
                      <a:schemeClr val="bg1"/>
                    </a:solidFill>
                  </a:rPr>
                  <a:t>, </a:t>
                </a:r>
                <a14:m>
                  <m:oMath xmlns:m="http://schemas.openxmlformats.org/officeDocument/2006/math">
                    <m:r>
                      <a:rPr lang="en-US" b="0" i="1" smtClean="0">
                        <a:solidFill>
                          <a:schemeClr val="bg1"/>
                        </a:solidFill>
                        <a:latin typeface="Cambria Math" panose="02040503050406030204" pitchFamily="18" charset="0"/>
                      </a:rPr>
                      <m:t>𝜔</m:t>
                    </m:r>
                    <m:r>
                      <a:rPr lang="en-US" i="1" smtClean="0">
                        <a:solidFill>
                          <a:schemeClr val="bg1"/>
                        </a:solidFill>
                        <a:latin typeface="Cambria Math" panose="02040503050406030204" pitchFamily="18" charset="0"/>
                      </a:rPr>
                      <m:t>(</m:t>
                    </m:r>
                    <m:r>
                      <a:rPr lang="en-US" i="1" smtClean="0">
                        <a:solidFill>
                          <a:schemeClr val="bg1"/>
                        </a:solidFill>
                        <a:latin typeface="Cambria Math" panose="02040503050406030204" pitchFamily="18" charset="0"/>
                      </a:rPr>
                      <m:t>𝑓</m:t>
                    </m:r>
                    <m:d>
                      <m:dPr>
                        <m:ctrlPr>
                          <a:rPr lang="en-US" i="1" smtClean="0">
                            <a:solidFill>
                              <a:schemeClr val="bg1"/>
                            </a:solidFill>
                            <a:latin typeface="Cambria Math" panose="02040503050406030204" pitchFamily="18" charset="0"/>
                          </a:rPr>
                        </m:ctrlPr>
                      </m:dPr>
                      <m:e>
                        <m:r>
                          <a:rPr lang="en-US" i="1" smtClean="0">
                            <a:solidFill>
                              <a:schemeClr val="bg1"/>
                            </a:solidFill>
                            <a:latin typeface="Cambria Math" panose="02040503050406030204" pitchFamily="18" charset="0"/>
                          </a:rPr>
                          <m:t>𝑛</m:t>
                        </m:r>
                      </m:e>
                    </m:d>
                    <m:r>
                      <a:rPr lang="en-US" i="1" smtClean="0">
                        <a:solidFill>
                          <a:schemeClr val="bg1"/>
                        </a:solidFill>
                        <a:latin typeface="Cambria Math" panose="02040503050406030204" pitchFamily="18" charset="0"/>
                      </a:rPr>
                      <m:t>)</m:t>
                    </m:r>
                  </m:oMath>
                </a14:m>
                <a:endParaRPr lang="en-US" dirty="0">
                  <a:solidFill>
                    <a:schemeClr val="bg1"/>
                  </a:solidFill>
                </a:endParaRPr>
              </a:p>
            </p:txBody>
          </p:sp>
        </mc:Choice>
        <mc:Fallback xmlns="">
          <p:sp>
            <p:nvSpPr>
              <p:cNvPr id="10" name="Content Placeholder 2">
                <a:extLst>
                  <a:ext uri="{FF2B5EF4-FFF2-40B4-BE49-F238E27FC236}">
                    <a16:creationId xmlns:a16="http://schemas.microsoft.com/office/drawing/2014/main" id="{7C63542D-0AD0-4F44-9C74-C58D247DBAF1}"/>
                  </a:ext>
                </a:extLst>
              </p:cNvPr>
              <p:cNvSpPr txBox="1">
                <a:spLocks noRot="1" noChangeAspect="1" noMove="1" noResize="1" noEditPoints="1" noAdjustHandles="1" noChangeArrowheads="1" noChangeShapeType="1" noTextEdit="1"/>
              </p:cNvSpPr>
              <p:nvPr/>
            </p:nvSpPr>
            <p:spPr>
              <a:xfrm>
                <a:off x="2028823" y="2702098"/>
                <a:ext cx="3574521" cy="584854"/>
              </a:xfrm>
              <a:prstGeom prst="rect">
                <a:avLst/>
              </a:prstGeom>
              <a:blipFill>
                <a:blip r:embed="rId3"/>
                <a:stretch>
                  <a:fillRect t="-2128" b="-8511"/>
                </a:stretch>
              </a:blipFill>
            </p:spPr>
            <p:txBody>
              <a:bodyPr/>
              <a:lstStyle/>
              <a:p>
                <a:r>
                  <a:rPr lang="en-US">
                    <a:noFill/>
                  </a:rPr>
                  <a:t> </a:t>
                </a:r>
              </a:p>
            </p:txBody>
          </p:sp>
        </mc:Fallback>
      </mc:AlternateContent>
      <p:sp>
        <p:nvSpPr>
          <p:cNvPr id="11" name="Content Placeholder 2">
            <a:extLst>
              <a:ext uri="{FF2B5EF4-FFF2-40B4-BE49-F238E27FC236}">
                <a16:creationId xmlns:a16="http://schemas.microsoft.com/office/drawing/2014/main" id="{776C178B-2404-354F-86DD-4767D59704A9}"/>
              </a:ext>
            </a:extLst>
          </p:cNvPr>
          <p:cNvSpPr txBox="1">
            <a:spLocks/>
          </p:cNvSpPr>
          <p:nvPr/>
        </p:nvSpPr>
        <p:spPr>
          <a:xfrm>
            <a:off x="5874277" y="2693632"/>
            <a:ext cx="4859867" cy="593320"/>
          </a:xfrm>
          <a:prstGeom prst="rect">
            <a:avLst/>
          </a:prstGeom>
          <a:no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None/>
            </a:pPr>
            <a:r>
              <a:rPr lang="en-US" sz="1800" i="1" dirty="0">
                <a:solidFill>
                  <a:schemeClr val="tx1">
                    <a:lumMod val="95000"/>
                  </a:schemeClr>
                </a:solidFill>
              </a:rPr>
              <a:t>Asymptotic </a:t>
            </a:r>
            <a:r>
              <a:rPr lang="en-US" sz="1800" b="1" i="1" u="sng" dirty="0">
                <a:solidFill>
                  <a:schemeClr val="tx1">
                    <a:lumMod val="95000"/>
                  </a:schemeClr>
                </a:solidFill>
              </a:rPr>
              <a:t>lower</a:t>
            </a:r>
            <a:r>
              <a:rPr lang="en-US" sz="1800" i="1" dirty="0">
                <a:solidFill>
                  <a:schemeClr val="tx1">
                    <a:lumMod val="95000"/>
                  </a:schemeClr>
                </a:solidFill>
              </a:rPr>
              <a:t> bounds</a:t>
            </a:r>
          </a:p>
        </p:txBody>
      </p:sp>
      <mc:AlternateContent xmlns:mc="http://schemas.openxmlformats.org/markup-compatibility/2006" xmlns:a14="http://schemas.microsoft.com/office/drawing/2010/main">
        <mc:Choice Requires="a14">
          <p:sp>
            <p:nvSpPr>
              <p:cNvPr id="12" name="Content Placeholder 2">
                <a:extLst>
                  <a:ext uri="{FF2B5EF4-FFF2-40B4-BE49-F238E27FC236}">
                    <a16:creationId xmlns:a16="http://schemas.microsoft.com/office/drawing/2014/main" id="{9ABDF5C1-180B-6B41-B0E5-0B2C824CC903}"/>
                  </a:ext>
                </a:extLst>
              </p:cNvPr>
              <p:cNvSpPr txBox="1">
                <a:spLocks/>
              </p:cNvSpPr>
              <p:nvPr/>
            </p:nvSpPr>
            <p:spPr>
              <a:xfrm>
                <a:off x="2028823" y="3537046"/>
                <a:ext cx="3574521" cy="584854"/>
              </a:xfrm>
              <a:prstGeom prst="rect">
                <a:avLst/>
              </a:prstGeom>
              <a:solidFill>
                <a:schemeClr val="tx1">
                  <a:lumMod val="95000"/>
                </a:schemeClr>
              </a:solid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14:m>
                  <m:oMathPara xmlns:m="http://schemas.openxmlformats.org/officeDocument/2006/math">
                    <m:oMathParaPr>
                      <m:jc m:val="centerGroup"/>
                    </m:oMathParaPr>
                    <m:oMath xmlns:m="http://schemas.openxmlformats.org/officeDocument/2006/math">
                      <m:r>
                        <m:rPr>
                          <m:sty m:val="p"/>
                        </m:rPr>
                        <a:rPr lang="en-US" b="0" i="0" smtClean="0">
                          <a:solidFill>
                            <a:schemeClr val="bg1"/>
                          </a:solidFill>
                          <a:latin typeface="Cambria Math" panose="02040503050406030204" pitchFamily="18" charset="0"/>
                        </a:rPr>
                        <m:t>Θ</m:t>
                      </m:r>
                      <m:r>
                        <a:rPr lang="en-US" i="1" smtClean="0">
                          <a:solidFill>
                            <a:schemeClr val="bg1"/>
                          </a:solidFill>
                          <a:latin typeface="Cambria Math" panose="02040503050406030204" pitchFamily="18" charset="0"/>
                        </a:rPr>
                        <m:t>(</m:t>
                      </m:r>
                      <m:r>
                        <a:rPr lang="en-US" i="1" smtClean="0">
                          <a:solidFill>
                            <a:schemeClr val="bg1"/>
                          </a:solidFill>
                          <a:latin typeface="Cambria Math" panose="02040503050406030204" pitchFamily="18" charset="0"/>
                        </a:rPr>
                        <m:t>𝑓</m:t>
                      </m:r>
                      <m:d>
                        <m:dPr>
                          <m:ctrlPr>
                            <a:rPr lang="en-US" i="1" smtClean="0">
                              <a:solidFill>
                                <a:schemeClr val="bg1"/>
                              </a:solidFill>
                              <a:latin typeface="Cambria Math" panose="02040503050406030204" pitchFamily="18" charset="0"/>
                            </a:rPr>
                          </m:ctrlPr>
                        </m:dPr>
                        <m:e>
                          <m:r>
                            <a:rPr lang="en-US" i="1" smtClean="0">
                              <a:solidFill>
                                <a:schemeClr val="bg1"/>
                              </a:solidFill>
                              <a:latin typeface="Cambria Math" panose="02040503050406030204" pitchFamily="18" charset="0"/>
                            </a:rPr>
                            <m:t>𝑛</m:t>
                          </m:r>
                        </m:e>
                      </m:d>
                      <m:r>
                        <a:rPr lang="en-US" i="1" smtClean="0">
                          <a:solidFill>
                            <a:schemeClr val="bg1"/>
                          </a:solidFill>
                          <a:latin typeface="Cambria Math" panose="02040503050406030204" pitchFamily="18" charset="0"/>
                        </a:rPr>
                        <m:t>)</m:t>
                      </m:r>
                    </m:oMath>
                  </m:oMathPara>
                </a14:m>
                <a:endParaRPr lang="en-US" dirty="0">
                  <a:solidFill>
                    <a:schemeClr val="bg1"/>
                  </a:solidFill>
                </a:endParaRPr>
              </a:p>
            </p:txBody>
          </p:sp>
        </mc:Choice>
        <mc:Fallback xmlns="">
          <p:sp>
            <p:nvSpPr>
              <p:cNvPr id="12" name="Content Placeholder 2">
                <a:extLst>
                  <a:ext uri="{FF2B5EF4-FFF2-40B4-BE49-F238E27FC236}">
                    <a16:creationId xmlns:a16="http://schemas.microsoft.com/office/drawing/2014/main" id="{9ABDF5C1-180B-6B41-B0E5-0B2C824CC903}"/>
                  </a:ext>
                </a:extLst>
              </p:cNvPr>
              <p:cNvSpPr txBox="1">
                <a:spLocks noRot="1" noChangeAspect="1" noMove="1" noResize="1" noEditPoints="1" noAdjustHandles="1" noChangeArrowheads="1" noChangeShapeType="1" noTextEdit="1"/>
              </p:cNvSpPr>
              <p:nvPr/>
            </p:nvSpPr>
            <p:spPr>
              <a:xfrm>
                <a:off x="2028823" y="3537046"/>
                <a:ext cx="3574521" cy="584854"/>
              </a:xfrm>
              <a:prstGeom prst="rect">
                <a:avLst/>
              </a:prstGeom>
              <a:blipFill>
                <a:blip r:embed="rId4"/>
                <a:stretch>
                  <a:fillRect/>
                </a:stretch>
              </a:blipFill>
            </p:spPr>
            <p:txBody>
              <a:bodyPr/>
              <a:lstStyle/>
              <a:p>
                <a:r>
                  <a:rPr lang="en-US">
                    <a:noFill/>
                  </a:rPr>
                  <a:t> </a:t>
                </a:r>
              </a:p>
            </p:txBody>
          </p:sp>
        </mc:Fallback>
      </mc:AlternateContent>
      <p:sp>
        <p:nvSpPr>
          <p:cNvPr id="13" name="Content Placeholder 2">
            <a:extLst>
              <a:ext uri="{FF2B5EF4-FFF2-40B4-BE49-F238E27FC236}">
                <a16:creationId xmlns:a16="http://schemas.microsoft.com/office/drawing/2014/main" id="{16AA9C3F-465F-C64E-BAA9-FDA8541EAAE8}"/>
              </a:ext>
            </a:extLst>
          </p:cNvPr>
          <p:cNvSpPr txBox="1">
            <a:spLocks/>
          </p:cNvSpPr>
          <p:nvPr/>
        </p:nvSpPr>
        <p:spPr>
          <a:xfrm>
            <a:off x="5874277" y="3528580"/>
            <a:ext cx="4859867" cy="593320"/>
          </a:xfrm>
          <a:prstGeom prst="rect">
            <a:avLst/>
          </a:prstGeom>
          <a:no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None/>
            </a:pPr>
            <a:r>
              <a:rPr lang="en-US" sz="1800" i="1" dirty="0">
                <a:solidFill>
                  <a:schemeClr val="tx1">
                    <a:lumMod val="95000"/>
                  </a:schemeClr>
                </a:solidFill>
              </a:rPr>
              <a:t>Asymptotic </a:t>
            </a:r>
            <a:r>
              <a:rPr lang="en-US" sz="1800" b="1" i="1" u="sng" dirty="0">
                <a:solidFill>
                  <a:schemeClr val="tx1">
                    <a:lumMod val="95000"/>
                  </a:schemeClr>
                </a:solidFill>
              </a:rPr>
              <a:t>tight</a:t>
            </a:r>
            <a:r>
              <a:rPr lang="en-US" sz="1800" i="1" dirty="0">
                <a:solidFill>
                  <a:schemeClr val="tx1">
                    <a:lumMod val="95000"/>
                  </a:schemeClr>
                </a:solidFill>
              </a:rPr>
              <a:t> bound</a:t>
            </a:r>
          </a:p>
        </p:txBody>
      </p:sp>
      <mc:AlternateContent xmlns:mc="http://schemas.openxmlformats.org/markup-compatibility/2006" xmlns:a14="http://schemas.microsoft.com/office/drawing/2010/main">
        <mc:Choice Requires="a14">
          <p:sp>
            <p:nvSpPr>
              <p:cNvPr id="14" name="Content Placeholder 2">
                <a:extLst>
                  <a:ext uri="{FF2B5EF4-FFF2-40B4-BE49-F238E27FC236}">
                    <a16:creationId xmlns:a16="http://schemas.microsoft.com/office/drawing/2014/main" id="{6D06924B-AE9F-1446-B6AF-CEB5F3B76D37}"/>
                  </a:ext>
                </a:extLst>
              </p:cNvPr>
              <p:cNvSpPr txBox="1">
                <a:spLocks/>
              </p:cNvSpPr>
              <p:nvPr/>
            </p:nvSpPr>
            <p:spPr>
              <a:xfrm>
                <a:off x="2028823" y="4371994"/>
                <a:ext cx="3574521" cy="584854"/>
              </a:xfrm>
              <a:prstGeom prst="rect">
                <a:avLst/>
              </a:prstGeom>
              <a:solidFill>
                <a:schemeClr val="tx1">
                  <a:lumMod val="95000"/>
                </a:schemeClr>
              </a:solid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14:m>
                  <m:oMathPara xmlns:m="http://schemas.openxmlformats.org/officeDocument/2006/math">
                    <m:oMathParaPr>
                      <m:jc m:val="centerGroup"/>
                    </m:oMathParaPr>
                    <m:oMath xmlns:m="http://schemas.openxmlformats.org/officeDocument/2006/math">
                      <m:r>
                        <a:rPr lang="en-US" b="0" i="1" smtClean="0">
                          <a:solidFill>
                            <a:schemeClr val="bg1"/>
                          </a:solidFill>
                          <a:latin typeface="Cambria Math" panose="02040503050406030204" pitchFamily="18" charset="0"/>
                        </a:rPr>
                        <m:t>1,</m:t>
                      </m:r>
                      <m:func>
                        <m:funcPr>
                          <m:ctrlPr>
                            <a:rPr lang="en-US" b="0" i="1" smtClean="0">
                              <a:solidFill>
                                <a:schemeClr val="bg1"/>
                              </a:solidFill>
                              <a:latin typeface="Cambria Math" panose="02040503050406030204" pitchFamily="18" charset="0"/>
                            </a:rPr>
                          </m:ctrlPr>
                        </m:funcPr>
                        <m:fName>
                          <m:r>
                            <m:rPr>
                              <m:sty m:val="p"/>
                            </m:rPr>
                            <a:rPr lang="en-US" b="0" i="0" smtClean="0">
                              <a:solidFill>
                                <a:schemeClr val="bg1"/>
                              </a:solidFill>
                              <a:latin typeface="Cambria Math" panose="02040503050406030204" pitchFamily="18" charset="0"/>
                            </a:rPr>
                            <m:t>log</m:t>
                          </m:r>
                        </m:fName>
                        <m:e>
                          <m:d>
                            <m:dPr>
                              <m:ctrlPr>
                                <a:rPr lang="en-US" b="0" i="1" smtClean="0">
                                  <a:solidFill>
                                    <a:schemeClr val="bg1"/>
                                  </a:solidFill>
                                  <a:latin typeface="Cambria Math" panose="02040503050406030204" pitchFamily="18" charset="0"/>
                                </a:rPr>
                              </m:ctrlPr>
                            </m:dPr>
                            <m:e>
                              <m:r>
                                <a:rPr lang="en-US" b="0" i="1" smtClean="0">
                                  <a:solidFill>
                                    <a:schemeClr val="bg1"/>
                                  </a:solidFill>
                                  <a:latin typeface="Cambria Math" panose="02040503050406030204" pitchFamily="18" charset="0"/>
                                </a:rPr>
                                <m:t>𝑛</m:t>
                              </m:r>
                            </m:e>
                          </m:d>
                        </m:e>
                      </m:func>
                      <m:r>
                        <a:rPr lang="en-US" b="0" i="1" smtClean="0">
                          <a:solidFill>
                            <a:schemeClr val="bg1"/>
                          </a:solidFill>
                          <a:latin typeface="Cambria Math" panose="02040503050406030204" pitchFamily="18" charset="0"/>
                        </a:rPr>
                        <m:t>, </m:t>
                      </m:r>
                      <m:r>
                        <a:rPr lang="en-US" b="0" i="1" smtClean="0">
                          <a:solidFill>
                            <a:schemeClr val="bg1"/>
                          </a:solidFill>
                          <a:latin typeface="Cambria Math" panose="02040503050406030204" pitchFamily="18" charset="0"/>
                        </a:rPr>
                        <m:t>𝑛</m:t>
                      </m:r>
                      <m:r>
                        <a:rPr lang="en-US" b="0" i="1" smtClean="0">
                          <a:solidFill>
                            <a:schemeClr val="bg1"/>
                          </a:solidFill>
                          <a:latin typeface="Cambria Math" panose="02040503050406030204" pitchFamily="18" charset="0"/>
                        </a:rPr>
                        <m:t>, </m:t>
                      </m:r>
                      <m:r>
                        <a:rPr lang="en-US" b="0" i="1" smtClean="0">
                          <a:solidFill>
                            <a:schemeClr val="bg1"/>
                          </a:solidFill>
                          <a:latin typeface="Cambria Math" panose="02040503050406030204" pitchFamily="18" charset="0"/>
                        </a:rPr>
                        <m:t>𝑛𝑙𝑜𝑔</m:t>
                      </m:r>
                      <m:d>
                        <m:dPr>
                          <m:ctrlPr>
                            <a:rPr lang="en-US" b="0" i="1" smtClean="0">
                              <a:solidFill>
                                <a:schemeClr val="bg1"/>
                              </a:solidFill>
                              <a:latin typeface="Cambria Math" panose="02040503050406030204" pitchFamily="18" charset="0"/>
                            </a:rPr>
                          </m:ctrlPr>
                        </m:dPr>
                        <m:e>
                          <m:r>
                            <a:rPr lang="en-US" b="0" i="1" smtClean="0">
                              <a:solidFill>
                                <a:schemeClr val="bg1"/>
                              </a:solidFill>
                              <a:latin typeface="Cambria Math" panose="02040503050406030204" pitchFamily="18" charset="0"/>
                            </a:rPr>
                            <m:t>𝑛</m:t>
                          </m:r>
                        </m:e>
                      </m:d>
                      <m:r>
                        <a:rPr lang="en-US" b="0" i="1" smtClean="0">
                          <a:solidFill>
                            <a:schemeClr val="bg1"/>
                          </a:solidFill>
                          <a:latin typeface="Cambria Math" panose="02040503050406030204" pitchFamily="18" charset="0"/>
                        </a:rPr>
                        <m:t>, </m:t>
                      </m:r>
                      <m:sSup>
                        <m:sSupPr>
                          <m:ctrlPr>
                            <a:rPr lang="en-US" b="0" i="1" smtClean="0">
                              <a:solidFill>
                                <a:schemeClr val="bg1"/>
                              </a:solidFill>
                              <a:latin typeface="Cambria Math" panose="02040503050406030204" pitchFamily="18" charset="0"/>
                            </a:rPr>
                          </m:ctrlPr>
                        </m:sSupPr>
                        <m:e>
                          <m:r>
                            <a:rPr lang="en-US" b="0" i="1" smtClean="0">
                              <a:solidFill>
                                <a:schemeClr val="bg1"/>
                              </a:solidFill>
                              <a:latin typeface="Cambria Math" panose="02040503050406030204" pitchFamily="18" charset="0"/>
                            </a:rPr>
                            <m:t>𝑛</m:t>
                          </m:r>
                        </m:e>
                        <m:sup>
                          <m:r>
                            <a:rPr lang="en-US" b="0" i="1" smtClean="0">
                              <a:solidFill>
                                <a:schemeClr val="bg1"/>
                              </a:solidFill>
                              <a:latin typeface="Cambria Math" panose="02040503050406030204" pitchFamily="18" charset="0"/>
                            </a:rPr>
                            <m:t>2</m:t>
                          </m:r>
                        </m:sup>
                      </m:sSup>
                      <m:r>
                        <a:rPr lang="en-US" b="0" i="1" smtClean="0">
                          <a:solidFill>
                            <a:schemeClr val="bg1"/>
                          </a:solidFill>
                          <a:latin typeface="Cambria Math" panose="02040503050406030204" pitchFamily="18" charset="0"/>
                        </a:rPr>
                        <m:t>, </m:t>
                      </m:r>
                      <m:sSup>
                        <m:sSupPr>
                          <m:ctrlPr>
                            <a:rPr lang="en-US" b="0" i="1" smtClean="0">
                              <a:solidFill>
                                <a:schemeClr val="bg1"/>
                              </a:solidFill>
                              <a:latin typeface="Cambria Math" panose="02040503050406030204" pitchFamily="18" charset="0"/>
                            </a:rPr>
                          </m:ctrlPr>
                        </m:sSupPr>
                        <m:e>
                          <m:r>
                            <a:rPr lang="en-US" b="0" i="1" smtClean="0">
                              <a:solidFill>
                                <a:schemeClr val="bg1"/>
                              </a:solidFill>
                              <a:latin typeface="Cambria Math" panose="02040503050406030204" pitchFamily="18" charset="0"/>
                            </a:rPr>
                            <m:t>𝑛</m:t>
                          </m:r>
                        </m:e>
                        <m:sup>
                          <m:r>
                            <a:rPr lang="en-US" b="0" i="1" smtClean="0">
                              <a:solidFill>
                                <a:schemeClr val="bg1"/>
                              </a:solidFill>
                              <a:latin typeface="Cambria Math" panose="02040503050406030204" pitchFamily="18" charset="0"/>
                            </a:rPr>
                            <m:t>3</m:t>
                          </m:r>
                        </m:sup>
                      </m:sSup>
                    </m:oMath>
                  </m:oMathPara>
                </a14:m>
                <a:endParaRPr lang="en-US" dirty="0">
                  <a:solidFill>
                    <a:schemeClr val="bg1"/>
                  </a:solidFill>
                </a:endParaRPr>
              </a:p>
            </p:txBody>
          </p:sp>
        </mc:Choice>
        <mc:Fallback xmlns="">
          <p:sp>
            <p:nvSpPr>
              <p:cNvPr id="14" name="Content Placeholder 2">
                <a:extLst>
                  <a:ext uri="{FF2B5EF4-FFF2-40B4-BE49-F238E27FC236}">
                    <a16:creationId xmlns:a16="http://schemas.microsoft.com/office/drawing/2014/main" id="{6D06924B-AE9F-1446-B6AF-CEB5F3B76D37}"/>
                  </a:ext>
                </a:extLst>
              </p:cNvPr>
              <p:cNvSpPr txBox="1">
                <a:spLocks noRot="1" noChangeAspect="1" noMove="1" noResize="1" noEditPoints="1" noAdjustHandles="1" noChangeArrowheads="1" noChangeShapeType="1" noTextEdit="1"/>
              </p:cNvSpPr>
              <p:nvPr/>
            </p:nvSpPr>
            <p:spPr>
              <a:xfrm>
                <a:off x="2028823" y="4371994"/>
                <a:ext cx="3574521" cy="584854"/>
              </a:xfrm>
              <a:prstGeom prst="rect">
                <a:avLst/>
              </a:prstGeom>
              <a:blipFill>
                <a:blip r:embed="rId5"/>
                <a:stretch>
                  <a:fillRect l="-2837"/>
                </a:stretch>
              </a:blipFill>
            </p:spPr>
            <p:txBody>
              <a:bodyPr/>
              <a:lstStyle/>
              <a:p>
                <a:r>
                  <a:rPr lang="en-US">
                    <a:noFill/>
                  </a:rPr>
                  <a:t> </a:t>
                </a:r>
              </a:p>
            </p:txBody>
          </p:sp>
        </mc:Fallback>
      </mc:AlternateContent>
      <p:sp>
        <p:nvSpPr>
          <p:cNvPr id="15" name="Content Placeholder 2">
            <a:extLst>
              <a:ext uri="{FF2B5EF4-FFF2-40B4-BE49-F238E27FC236}">
                <a16:creationId xmlns:a16="http://schemas.microsoft.com/office/drawing/2014/main" id="{01FD3C08-0EFA-584D-AD0C-6A0257651829}"/>
              </a:ext>
            </a:extLst>
          </p:cNvPr>
          <p:cNvSpPr txBox="1">
            <a:spLocks/>
          </p:cNvSpPr>
          <p:nvPr/>
        </p:nvSpPr>
        <p:spPr>
          <a:xfrm>
            <a:off x="5874277" y="4363528"/>
            <a:ext cx="4859867" cy="593320"/>
          </a:xfrm>
          <a:prstGeom prst="rect">
            <a:avLst/>
          </a:prstGeom>
          <a:no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None/>
            </a:pPr>
            <a:r>
              <a:rPr lang="en-US" sz="1800" i="1" dirty="0">
                <a:solidFill>
                  <a:schemeClr val="tx1">
                    <a:lumMod val="95000"/>
                  </a:schemeClr>
                </a:solidFill>
              </a:rPr>
              <a:t>Some common complexity classes</a:t>
            </a:r>
          </a:p>
        </p:txBody>
      </p:sp>
      <mc:AlternateContent xmlns:mc="http://schemas.openxmlformats.org/markup-compatibility/2006" xmlns:a14="http://schemas.microsoft.com/office/drawing/2010/main">
        <mc:Choice Requires="a14">
          <p:sp>
            <p:nvSpPr>
              <p:cNvPr id="16" name="Content Placeholder 2">
                <a:extLst>
                  <a:ext uri="{FF2B5EF4-FFF2-40B4-BE49-F238E27FC236}">
                    <a16:creationId xmlns:a16="http://schemas.microsoft.com/office/drawing/2014/main" id="{A579BB98-AFDB-1547-8494-7FDB1CABF15D}"/>
                  </a:ext>
                </a:extLst>
              </p:cNvPr>
              <p:cNvSpPr txBox="1">
                <a:spLocks/>
              </p:cNvSpPr>
              <p:nvPr/>
            </p:nvSpPr>
            <p:spPr>
              <a:xfrm>
                <a:off x="2028823" y="5206942"/>
                <a:ext cx="3574521" cy="584854"/>
              </a:xfrm>
              <a:prstGeom prst="rect">
                <a:avLst/>
              </a:prstGeom>
              <a:solidFill>
                <a:schemeClr val="tx1">
                  <a:lumMod val="95000"/>
                </a:schemeClr>
              </a:solidFill>
            </p:spPr>
            <p:txBody>
              <a:bodyPr vert="horz" lIns="91440" tIns="45720" rIns="91440" bIns="45720" rtlCol="0">
                <a:normAutofit fontScale="925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14:m>
                  <m:oMathPara xmlns:m="http://schemas.openxmlformats.org/officeDocument/2006/math">
                    <m:oMathParaPr>
                      <m:jc m:val="centerGroup"/>
                    </m:oMathParaPr>
                    <m:oMath xmlns:m="http://schemas.openxmlformats.org/officeDocument/2006/math">
                      <m:func>
                        <m:funcPr>
                          <m:ctrlPr>
                            <a:rPr lang="en-US" b="0" i="1" smtClean="0">
                              <a:solidFill>
                                <a:schemeClr val="bg1"/>
                              </a:solidFill>
                              <a:latin typeface="Cambria Math" panose="02040503050406030204" pitchFamily="18" charset="0"/>
                            </a:rPr>
                          </m:ctrlPr>
                        </m:funcPr>
                        <m:fName>
                          <m:sSub>
                            <m:sSubPr>
                              <m:ctrlPr>
                                <a:rPr lang="en-US" b="0" i="1" smtClean="0">
                                  <a:solidFill>
                                    <a:schemeClr val="bg1"/>
                                  </a:solidFill>
                                  <a:latin typeface="Cambria Math" panose="02040503050406030204" pitchFamily="18" charset="0"/>
                                </a:rPr>
                              </m:ctrlPr>
                            </m:sSubPr>
                            <m:e>
                              <m:r>
                                <m:rPr>
                                  <m:sty m:val="p"/>
                                </m:rPr>
                                <a:rPr lang="en-US" b="0" i="0" smtClean="0">
                                  <a:solidFill>
                                    <a:schemeClr val="bg1"/>
                                  </a:solidFill>
                                  <a:latin typeface="Cambria Math" panose="02040503050406030204" pitchFamily="18" charset="0"/>
                                </a:rPr>
                                <m:t>log</m:t>
                              </m:r>
                            </m:e>
                            <m:sub>
                              <m:r>
                                <a:rPr lang="en-US" b="0" i="1" smtClean="0">
                                  <a:solidFill>
                                    <a:schemeClr val="bg1"/>
                                  </a:solidFill>
                                  <a:latin typeface="Cambria Math" panose="02040503050406030204" pitchFamily="18" charset="0"/>
                                </a:rPr>
                                <m:t>𝑎</m:t>
                              </m:r>
                            </m:sub>
                          </m:sSub>
                        </m:fName>
                        <m:e>
                          <m:r>
                            <a:rPr lang="en-US" b="0" i="1" smtClean="0">
                              <a:solidFill>
                                <a:schemeClr val="bg1"/>
                              </a:solidFill>
                              <a:latin typeface="Cambria Math" panose="02040503050406030204" pitchFamily="18" charset="0"/>
                            </a:rPr>
                            <m:t>𝑛</m:t>
                          </m:r>
                        </m:e>
                      </m:func>
                      <m:r>
                        <a:rPr lang="en-US" b="0" i="1" smtClean="0">
                          <a:solidFill>
                            <a:schemeClr val="bg1"/>
                          </a:solidFill>
                          <a:latin typeface="Cambria Math" panose="02040503050406030204" pitchFamily="18" charset="0"/>
                        </a:rPr>
                        <m:t>∈</m:t>
                      </m:r>
                      <m:r>
                        <a:rPr lang="en-US" b="0" i="1" smtClean="0">
                          <a:solidFill>
                            <a:schemeClr val="bg1"/>
                          </a:solidFill>
                          <a:latin typeface="Cambria Math" panose="02040503050406030204" pitchFamily="18" charset="0"/>
                        </a:rPr>
                        <m:t>𝑜</m:t>
                      </m:r>
                      <m:d>
                        <m:dPr>
                          <m:ctrlPr>
                            <a:rPr lang="en-US" b="0" i="1" smtClean="0">
                              <a:solidFill>
                                <a:schemeClr val="bg1"/>
                              </a:solidFill>
                              <a:latin typeface="Cambria Math" panose="02040503050406030204" pitchFamily="18" charset="0"/>
                            </a:rPr>
                          </m:ctrlPr>
                        </m:dPr>
                        <m:e>
                          <m:sSup>
                            <m:sSupPr>
                              <m:ctrlPr>
                                <a:rPr lang="en-US" b="0" i="1" smtClean="0">
                                  <a:solidFill>
                                    <a:schemeClr val="bg1"/>
                                  </a:solidFill>
                                  <a:latin typeface="Cambria Math" panose="02040503050406030204" pitchFamily="18" charset="0"/>
                                </a:rPr>
                              </m:ctrlPr>
                            </m:sSupPr>
                            <m:e>
                              <m:r>
                                <a:rPr lang="en-US" b="0" i="1" smtClean="0">
                                  <a:solidFill>
                                    <a:schemeClr val="bg1"/>
                                  </a:solidFill>
                                  <a:latin typeface="Cambria Math" panose="02040503050406030204" pitchFamily="18" charset="0"/>
                                </a:rPr>
                                <m:t>𝑛</m:t>
                              </m:r>
                            </m:e>
                            <m:sup>
                              <m:r>
                                <a:rPr lang="en-US" b="0" i="1" smtClean="0">
                                  <a:solidFill>
                                    <a:schemeClr val="bg1"/>
                                  </a:solidFill>
                                  <a:latin typeface="Cambria Math" panose="02040503050406030204" pitchFamily="18" charset="0"/>
                                </a:rPr>
                                <m:t>𝑏</m:t>
                              </m:r>
                            </m:sup>
                          </m:sSup>
                        </m:e>
                      </m:d>
                      <m:r>
                        <a:rPr lang="en-US" b="0" i="1" smtClean="0">
                          <a:solidFill>
                            <a:schemeClr val="bg1"/>
                          </a:solidFill>
                          <a:latin typeface="Cambria Math" panose="02040503050406030204" pitchFamily="18" charset="0"/>
                        </a:rPr>
                        <m:t>∈</m:t>
                      </m:r>
                      <m:r>
                        <a:rPr lang="en-US" b="0" i="1" smtClean="0">
                          <a:solidFill>
                            <a:schemeClr val="bg1"/>
                          </a:solidFill>
                          <a:latin typeface="Cambria Math" panose="02040503050406030204" pitchFamily="18" charset="0"/>
                        </a:rPr>
                        <m:t>𝑜</m:t>
                      </m:r>
                      <m:r>
                        <a:rPr lang="en-US" b="0" i="1" smtClean="0">
                          <a:solidFill>
                            <a:schemeClr val="bg1"/>
                          </a:solidFill>
                          <a:latin typeface="Cambria Math" panose="02040503050406030204" pitchFamily="18" charset="0"/>
                        </a:rPr>
                        <m:t>(</m:t>
                      </m:r>
                      <m:sSup>
                        <m:sSupPr>
                          <m:ctrlPr>
                            <a:rPr lang="en-US" b="0" i="1" smtClean="0">
                              <a:solidFill>
                                <a:schemeClr val="bg1"/>
                              </a:solidFill>
                              <a:latin typeface="Cambria Math" panose="02040503050406030204" pitchFamily="18" charset="0"/>
                            </a:rPr>
                          </m:ctrlPr>
                        </m:sSupPr>
                        <m:e>
                          <m:r>
                            <a:rPr lang="en-US" b="0" i="1" smtClean="0">
                              <a:solidFill>
                                <a:schemeClr val="bg1"/>
                              </a:solidFill>
                              <a:latin typeface="Cambria Math" panose="02040503050406030204" pitchFamily="18" charset="0"/>
                            </a:rPr>
                            <m:t>𝑐</m:t>
                          </m:r>
                        </m:e>
                        <m:sup>
                          <m:r>
                            <a:rPr lang="en-US" b="0" i="1" smtClean="0">
                              <a:solidFill>
                                <a:schemeClr val="bg1"/>
                              </a:solidFill>
                              <a:latin typeface="Cambria Math" panose="02040503050406030204" pitchFamily="18" charset="0"/>
                            </a:rPr>
                            <m:t>𝑛</m:t>
                          </m:r>
                        </m:sup>
                      </m:sSup>
                      <m:r>
                        <a:rPr lang="en-US" b="0" i="1" smtClean="0">
                          <a:solidFill>
                            <a:schemeClr val="bg1"/>
                          </a:solidFill>
                          <a:latin typeface="Cambria Math" panose="02040503050406030204" pitchFamily="18" charset="0"/>
                        </a:rPr>
                        <m:t>)</m:t>
                      </m:r>
                    </m:oMath>
                  </m:oMathPara>
                </a14:m>
                <a:endParaRPr lang="en-US" dirty="0">
                  <a:solidFill>
                    <a:schemeClr val="bg1"/>
                  </a:solidFill>
                </a:endParaRPr>
              </a:p>
            </p:txBody>
          </p:sp>
        </mc:Choice>
        <mc:Fallback xmlns="">
          <p:sp>
            <p:nvSpPr>
              <p:cNvPr id="16" name="Content Placeholder 2">
                <a:extLst>
                  <a:ext uri="{FF2B5EF4-FFF2-40B4-BE49-F238E27FC236}">
                    <a16:creationId xmlns:a16="http://schemas.microsoft.com/office/drawing/2014/main" id="{A579BB98-AFDB-1547-8494-7FDB1CABF15D}"/>
                  </a:ext>
                </a:extLst>
              </p:cNvPr>
              <p:cNvSpPr txBox="1">
                <a:spLocks noRot="1" noChangeAspect="1" noMove="1" noResize="1" noEditPoints="1" noAdjustHandles="1" noChangeArrowheads="1" noChangeShapeType="1" noTextEdit="1"/>
              </p:cNvSpPr>
              <p:nvPr/>
            </p:nvSpPr>
            <p:spPr>
              <a:xfrm>
                <a:off x="2028823" y="5206942"/>
                <a:ext cx="3574521" cy="584854"/>
              </a:xfrm>
              <a:prstGeom prst="rect">
                <a:avLst/>
              </a:prstGeom>
              <a:blipFill>
                <a:blip r:embed="rId6"/>
                <a:stretch>
                  <a:fillRect/>
                </a:stretch>
              </a:blipFill>
            </p:spPr>
            <p:txBody>
              <a:bodyPr/>
              <a:lstStyle/>
              <a:p>
                <a:r>
                  <a:rPr lang="en-US">
                    <a:noFill/>
                  </a:rPr>
                  <a:t> </a:t>
                </a:r>
              </a:p>
            </p:txBody>
          </p:sp>
        </mc:Fallback>
      </mc:AlternateContent>
      <p:sp>
        <p:nvSpPr>
          <p:cNvPr id="17" name="Content Placeholder 2">
            <a:extLst>
              <a:ext uri="{FF2B5EF4-FFF2-40B4-BE49-F238E27FC236}">
                <a16:creationId xmlns:a16="http://schemas.microsoft.com/office/drawing/2014/main" id="{0E9BE2CB-9653-5743-B399-B27896BE48B6}"/>
              </a:ext>
            </a:extLst>
          </p:cNvPr>
          <p:cNvSpPr txBox="1">
            <a:spLocks/>
          </p:cNvSpPr>
          <p:nvPr/>
        </p:nvSpPr>
        <p:spPr>
          <a:xfrm>
            <a:off x="5874277" y="5198476"/>
            <a:ext cx="4859867" cy="593320"/>
          </a:xfrm>
          <a:prstGeom prst="rect">
            <a:avLst/>
          </a:prstGeom>
          <a:noFill/>
        </p:spPr>
        <p:txBody>
          <a:bodyPr vert="horz" lIns="91440" tIns="45720" rIns="91440" bIns="45720" rtlCol="0">
            <a:normAutofit fontScale="85000"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None/>
            </a:pPr>
            <a:r>
              <a:rPr lang="en-US" sz="1800" i="1" dirty="0">
                <a:solidFill>
                  <a:schemeClr val="tx1">
                    <a:lumMod val="95000"/>
                  </a:schemeClr>
                </a:solidFill>
              </a:rPr>
              <a:t>Every log is bounded by any polynomial is bounded by any exponential</a:t>
            </a:r>
          </a:p>
        </p:txBody>
      </p:sp>
    </p:spTree>
    <p:extLst>
      <p:ext uri="{BB962C8B-B14F-4D97-AF65-F5344CB8AC3E}">
        <p14:creationId xmlns:p14="http://schemas.microsoft.com/office/powerpoint/2010/main" val="68891404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3" y="125537"/>
            <a:ext cx="9905998" cy="860425"/>
          </a:xfrm>
        </p:spPr>
        <p:txBody>
          <a:bodyPr/>
          <a:lstStyle/>
          <a:p>
            <a:pPr algn="ctr"/>
            <a:r>
              <a:rPr lang="en-US" dirty="0"/>
              <a:t>Quick note on Non-Deterministic Time</a:t>
            </a:r>
          </a:p>
        </p:txBody>
      </p:sp>
      <p:sp>
        <p:nvSpPr>
          <p:cNvPr id="3" name="Content Placeholder 2">
            <a:extLst>
              <a:ext uri="{FF2B5EF4-FFF2-40B4-BE49-F238E27FC236}">
                <a16:creationId xmlns:a16="http://schemas.microsoft.com/office/drawing/2014/main" id="{14278F5F-F936-6145-9FF8-704886F1A386}"/>
              </a:ext>
            </a:extLst>
          </p:cNvPr>
          <p:cNvSpPr>
            <a:spLocks noGrp="1"/>
          </p:cNvSpPr>
          <p:nvPr>
            <p:ph idx="1"/>
          </p:nvPr>
        </p:nvSpPr>
        <p:spPr>
          <a:xfrm>
            <a:off x="1141412" y="1127569"/>
            <a:ext cx="9905999" cy="1089328"/>
          </a:xfrm>
          <a:solidFill>
            <a:schemeClr val="tx1">
              <a:lumMod val="95000"/>
            </a:schemeClr>
          </a:solidFill>
        </p:spPr>
        <p:txBody>
          <a:bodyPr/>
          <a:lstStyle/>
          <a:p>
            <a:pPr marL="0" indent="0">
              <a:buNone/>
            </a:pPr>
            <a:r>
              <a:rPr lang="en-US" dirty="0">
                <a:solidFill>
                  <a:schemeClr val="bg1"/>
                </a:solidFill>
              </a:rPr>
              <a:t>What about </a:t>
            </a:r>
            <a:r>
              <a:rPr lang="en-US" b="1" i="1" u="sng" dirty="0">
                <a:solidFill>
                  <a:schemeClr val="bg1"/>
                </a:solidFill>
              </a:rPr>
              <a:t>non-deterministic</a:t>
            </a:r>
            <a:r>
              <a:rPr lang="en-US" dirty="0">
                <a:solidFill>
                  <a:schemeClr val="bg1"/>
                </a:solidFill>
              </a:rPr>
              <a:t> Turing machines (NTMs)? How do we measure running time of such a device?</a:t>
            </a:r>
          </a:p>
        </p:txBody>
      </p:sp>
      <p:sp>
        <p:nvSpPr>
          <p:cNvPr id="6" name="Content Placeholder 2">
            <a:extLst>
              <a:ext uri="{FF2B5EF4-FFF2-40B4-BE49-F238E27FC236}">
                <a16:creationId xmlns:a16="http://schemas.microsoft.com/office/drawing/2014/main" id="{D1AB4AE0-9143-C34D-B965-4033C921D6B5}"/>
              </a:ext>
            </a:extLst>
          </p:cNvPr>
          <p:cNvSpPr txBox="1">
            <a:spLocks/>
          </p:cNvSpPr>
          <p:nvPr/>
        </p:nvSpPr>
        <p:spPr>
          <a:xfrm>
            <a:off x="188870" y="2879577"/>
            <a:ext cx="2312988" cy="1138481"/>
          </a:xfrm>
          <a:prstGeom prst="rect">
            <a:avLst/>
          </a:prstGeom>
          <a:noFill/>
        </p:spPr>
        <p:txBody>
          <a:bodyPr vert="horz" lIns="91440" tIns="45720" rIns="91440" bIns="45720" rtlCol="0">
            <a:normAutofit fontScale="625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i="1" dirty="0">
                <a:solidFill>
                  <a:schemeClr val="tx1">
                    <a:lumMod val="95000"/>
                  </a:schemeClr>
                </a:solidFill>
              </a:rPr>
              <a:t>With deterministic computation, we simply look at longest the one branch of computation can possibly be.</a:t>
            </a:r>
          </a:p>
        </p:txBody>
      </p:sp>
      <p:cxnSp>
        <p:nvCxnSpPr>
          <p:cNvPr id="7" name="Straight Connector 6">
            <a:extLst>
              <a:ext uri="{FF2B5EF4-FFF2-40B4-BE49-F238E27FC236}">
                <a16:creationId xmlns:a16="http://schemas.microsoft.com/office/drawing/2014/main" id="{6E2EC60F-DC95-4041-8259-6122C356BC65}"/>
              </a:ext>
            </a:extLst>
          </p:cNvPr>
          <p:cNvCxnSpPr>
            <a:cxnSpLocks/>
          </p:cNvCxnSpPr>
          <p:nvPr/>
        </p:nvCxnSpPr>
        <p:spPr>
          <a:xfrm>
            <a:off x="1782800" y="3916121"/>
            <a:ext cx="499534" cy="423334"/>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
        <p:nvSpPr>
          <p:cNvPr id="10" name="Content Placeholder 2">
            <a:extLst>
              <a:ext uri="{FF2B5EF4-FFF2-40B4-BE49-F238E27FC236}">
                <a16:creationId xmlns:a16="http://schemas.microsoft.com/office/drawing/2014/main" id="{7435EA41-11AA-A24B-B09A-C6CE7A122E1A}"/>
              </a:ext>
            </a:extLst>
          </p:cNvPr>
          <p:cNvSpPr txBox="1">
            <a:spLocks/>
          </p:cNvSpPr>
          <p:nvPr/>
        </p:nvSpPr>
        <p:spPr>
          <a:xfrm>
            <a:off x="9193209" y="3339240"/>
            <a:ext cx="2753255" cy="1357635"/>
          </a:xfrm>
          <a:prstGeom prst="rect">
            <a:avLst/>
          </a:prstGeom>
          <a:noFill/>
        </p:spPr>
        <p:txBody>
          <a:bodyPr vert="horz" lIns="91440" tIns="45720" rIns="91440" bIns="45720" rtlCol="0">
            <a:normAutofit fontScale="700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i="1" dirty="0">
                <a:solidFill>
                  <a:schemeClr val="tx1">
                    <a:lumMod val="95000"/>
                  </a:schemeClr>
                </a:solidFill>
              </a:rPr>
              <a:t>For non-deterministic deciders (does not loop forever), we measure the length of the longest branch of computation</a:t>
            </a:r>
          </a:p>
        </p:txBody>
      </p:sp>
      <p:pic>
        <p:nvPicPr>
          <p:cNvPr id="19" name="Picture 18">
            <a:extLst>
              <a:ext uri="{FF2B5EF4-FFF2-40B4-BE49-F238E27FC236}">
                <a16:creationId xmlns:a16="http://schemas.microsoft.com/office/drawing/2014/main" id="{35005C10-7079-4645-B807-A2C38B1E3B26}"/>
              </a:ext>
            </a:extLst>
          </p:cNvPr>
          <p:cNvPicPr>
            <a:picLocks noChangeAspect="1"/>
          </p:cNvPicPr>
          <p:nvPr/>
        </p:nvPicPr>
        <p:blipFill>
          <a:blip r:embed="rId2"/>
          <a:stretch>
            <a:fillRect/>
          </a:stretch>
        </p:blipFill>
        <p:spPr>
          <a:xfrm>
            <a:off x="2566492" y="2840005"/>
            <a:ext cx="5787631" cy="3298328"/>
          </a:xfrm>
          <a:prstGeom prst="rect">
            <a:avLst/>
          </a:prstGeom>
        </p:spPr>
      </p:pic>
      <p:cxnSp>
        <p:nvCxnSpPr>
          <p:cNvPr id="20" name="Straight Connector 19">
            <a:extLst>
              <a:ext uri="{FF2B5EF4-FFF2-40B4-BE49-F238E27FC236}">
                <a16:creationId xmlns:a16="http://schemas.microsoft.com/office/drawing/2014/main" id="{CDD03767-2BC2-1546-92BF-436F8A44EB34}"/>
              </a:ext>
            </a:extLst>
          </p:cNvPr>
          <p:cNvCxnSpPr>
            <a:cxnSpLocks/>
          </p:cNvCxnSpPr>
          <p:nvPr/>
        </p:nvCxnSpPr>
        <p:spPr>
          <a:xfrm flipH="1">
            <a:off x="8523899" y="4489169"/>
            <a:ext cx="828101" cy="582364"/>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2796498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3" y="125537"/>
            <a:ext cx="9905998" cy="860425"/>
          </a:xfrm>
        </p:spPr>
        <p:txBody>
          <a:bodyPr/>
          <a:lstStyle/>
          <a:p>
            <a:pPr algn="ctr"/>
            <a:r>
              <a:rPr lang="en-US" dirty="0"/>
              <a:t>Quick note on Non-Deterministic Time</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14278F5F-F936-6145-9FF8-704886F1A386}"/>
                  </a:ext>
                </a:extLst>
              </p:cNvPr>
              <p:cNvSpPr>
                <a:spLocks noGrp="1"/>
              </p:cNvSpPr>
              <p:nvPr>
                <p:ph idx="1"/>
              </p:nvPr>
            </p:nvSpPr>
            <p:spPr>
              <a:xfrm>
                <a:off x="1141412" y="1881105"/>
                <a:ext cx="9905999" cy="1089328"/>
              </a:xfrm>
              <a:solidFill>
                <a:schemeClr val="tx1">
                  <a:lumMod val="95000"/>
                </a:schemeClr>
              </a:solidFill>
            </p:spPr>
            <p:txBody>
              <a:bodyPr/>
              <a:lstStyle/>
              <a:p>
                <a:pPr marL="0" indent="0">
                  <a:buNone/>
                </a:pPr>
                <a:r>
                  <a:rPr lang="en-US" b="1" i="1" u="sng" dirty="0">
                    <a:solidFill>
                      <a:schemeClr val="bg1"/>
                    </a:solidFill>
                  </a:rPr>
                  <a:t>Theorem</a:t>
                </a:r>
                <a:r>
                  <a:rPr lang="en-US" dirty="0">
                    <a:solidFill>
                      <a:schemeClr val="bg1"/>
                    </a:solidFill>
                  </a:rPr>
                  <a:t>: Every NTM that runs in time </a:t>
                </a:r>
                <a14:m>
                  <m:oMath xmlns:m="http://schemas.openxmlformats.org/officeDocument/2006/math">
                    <m:r>
                      <m:rPr>
                        <m:sty m:val="p"/>
                      </m:rPr>
                      <a:rPr lang="en-US" b="0" i="0" smtClean="0">
                        <a:solidFill>
                          <a:schemeClr val="bg1"/>
                        </a:solidFill>
                        <a:latin typeface="Cambria Math" panose="02040503050406030204" pitchFamily="18" charset="0"/>
                      </a:rPr>
                      <m:t>f</m:t>
                    </m:r>
                    <m:r>
                      <a:rPr lang="en-US" b="0" i="1" smtClean="0">
                        <a:solidFill>
                          <a:schemeClr val="bg1"/>
                        </a:solidFill>
                        <a:latin typeface="Cambria Math" panose="02040503050406030204" pitchFamily="18" charset="0"/>
                      </a:rPr>
                      <m:t>(</m:t>
                    </m:r>
                    <m:r>
                      <a:rPr lang="en-US" b="0" i="1" smtClean="0">
                        <a:solidFill>
                          <a:schemeClr val="bg1"/>
                        </a:solidFill>
                        <a:latin typeface="Cambria Math" panose="02040503050406030204" pitchFamily="18" charset="0"/>
                      </a:rPr>
                      <m:t>𝑛</m:t>
                    </m:r>
                    <m:r>
                      <a:rPr lang="en-US" b="0" i="1" smtClean="0">
                        <a:solidFill>
                          <a:schemeClr val="bg1"/>
                        </a:solidFill>
                        <a:latin typeface="Cambria Math" panose="02040503050406030204" pitchFamily="18" charset="0"/>
                      </a:rPr>
                      <m:t>)</m:t>
                    </m:r>
                  </m:oMath>
                </a14:m>
                <a:r>
                  <a:rPr lang="en-US" dirty="0">
                    <a:solidFill>
                      <a:schemeClr val="bg1"/>
                    </a:solidFill>
                  </a:rPr>
                  <a:t> has an equivalent DTM that runs in time </a:t>
                </a:r>
                <a14:m>
                  <m:oMath xmlns:m="http://schemas.openxmlformats.org/officeDocument/2006/math">
                    <m:r>
                      <a:rPr lang="en-US" b="0" i="1" smtClean="0">
                        <a:solidFill>
                          <a:schemeClr val="bg1"/>
                        </a:solidFill>
                        <a:latin typeface="Cambria Math" panose="02040503050406030204" pitchFamily="18" charset="0"/>
                      </a:rPr>
                      <m:t>𝑂</m:t>
                    </m:r>
                    <m:r>
                      <a:rPr lang="en-US" b="0" i="1" smtClean="0">
                        <a:solidFill>
                          <a:schemeClr val="bg1"/>
                        </a:solidFill>
                        <a:latin typeface="Cambria Math" panose="02040503050406030204" pitchFamily="18" charset="0"/>
                      </a:rPr>
                      <m:t>(</m:t>
                    </m:r>
                    <m:sSup>
                      <m:sSupPr>
                        <m:ctrlPr>
                          <a:rPr lang="en-US" b="0" i="1" smtClean="0">
                            <a:solidFill>
                              <a:schemeClr val="bg1"/>
                            </a:solidFill>
                            <a:latin typeface="Cambria Math" panose="02040503050406030204" pitchFamily="18" charset="0"/>
                          </a:rPr>
                        </m:ctrlPr>
                      </m:sSupPr>
                      <m:e>
                        <m:r>
                          <a:rPr lang="en-US" b="0" i="1" smtClean="0">
                            <a:solidFill>
                              <a:schemeClr val="bg1"/>
                            </a:solidFill>
                            <a:latin typeface="Cambria Math" panose="02040503050406030204" pitchFamily="18" charset="0"/>
                          </a:rPr>
                          <m:t>2</m:t>
                        </m:r>
                      </m:e>
                      <m:sup>
                        <m:r>
                          <a:rPr lang="en-US" b="0" i="1" smtClean="0">
                            <a:solidFill>
                              <a:schemeClr val="bg1"/>
                            </a:solidFill>
                            <a:latin typeface="Cambria Math" panose="02040503050406030204" pitchFamily="18" charset="0"/>
                          </a:rPr>
                          <m:t>𝑂</m:t>
                        </m:r>
                        <m:r>
                          <a:rPr lang="en-US" b="0" i="1" smtClean="0">
                            <a:solidFill>
                              <a:schemeClr val="bg1"/>
                            </a:solidFill>
                            <a:latin typeface="Cambria Math" panose="02040503050406030204" pitchFamily="18" charset="0"/>
                          </a:rPr>
                          <m:t>(</m:t>
                        </m:r>
                        <m:r>
                          <a:rPr lang="en-US" b="0" i="1" smtClean="0">
                            <a:solidFill>
                              <a:schemeClr val="bg1"/>
                            </a:solidFill>
                            <a:latin typeface="Cambria Math" panose="02040503050406030204" pitchFamily="18" charset="0"/>
                          </a:rPr>
                          <m:t>𝑓</m:t>
                        </m:r>
                        <m:d>
                          <m:dPr>
                            <m:ctrlPr>
                              <a:rPr lang="en-US" b="0" i="1" smtClean="0">
                                <a:solidFill>
                                  <a:schemeClr val="bg1"/>
                                </a:solidFill>
                                <a:latin typeface="Cambria Math" panose="02040503050406030204" pitchFamily="18" charset="0"/>
                              </a:rPr>
                            </m:ctrlPr>
                          </m:dPr>
                          <m:e>
                            <m:r>
                              <a:rPr lang="en-US" b="0" i="1" smtClean="0">
                                <a:solidFill>
                                  <a:schemeClr val="bg1"/>
                                </a:solidFill>
                                <a:latin typeface="Cambria Math" panose="02040503050406030204" pitchFamily="18" charset="0"/>
                              </a:rPr>
                              <m:t>𝑛</m:t>
                            </m:r>
                          </m:e>
                        </m:d>
                      </m:sup>
                    </m:sSup>
                    <m:r>
                      <a:rPr lang="en-US" b="0" i="1" smtClean="0">
                        <a:solidFill>
                          <a:schemeClr val="bg1"/>
                        </a:solidFill>
                        <a:latin typeface="Cambria Math" panose="02040503050406030204" pitchFamily="18" charset="0"/>
                      </a:rPr>
                      <m:t>)</m:t>
                    </m:r>
                  </m:oMath>
                </a14:m>
                <a:r>
                  <a:rPr lang="en-US" dirty="0">
                    <a:solidFill>
                      <a:schemeClr val="bg1"/>
                    </a:solidFill>
                  </a:rPr>
                  <a:t> </a:t>
                </a:r>
              </a:p>
            </p:txBody>
          </p:sp>
        </mc:Choice>
        <mc:Fallback xmlns="">
          <p:sp>
            <p:nvSpPr>
              <p:cNvPr id="3" name="Content Placeholder 2">
                <a:extLst>
                  <a:ext uri="{FF2B5EF4-FFF2-40B4-BE49-F238E27FC236}">
                    <a16:creationId xmlns:a16="http://schemas.microsoft.com/office/drawing/2014/main" id="{14278F5F-F936-6145-9FF8-704886F1A386}"/>
                  </a:ext>
                </a:extLst>
              </p:cNvPr>
              <p:cNvSpPr>
                <a:spLocks noGrp="1" noRot="1" noChangeAspect="1" noMove="1" noResize="1" noEditPoints="1" noAdjustHandles="1" noChangeArrowheads="1" noChangeShapeType="1" noTextEdit="1"/>
              </p:cNvSpPr>
              <p:nvPr>
                <p:ph idx="1"/>
              </p:nvPr>
            </p:nvSpPr>
            <p:spPr>
              <a:xfrm>
                <a:off x="1141412" y="1881105"/>
                <a:ext cx="9905999" cy="1089328"/>
              </a:xfrm>
              <a:blipFill>
                <a:blip r:embed="rId2"/>
                <a:stretch>
                  <a:fillRect l="-896"/>
                </a:stretch>
              </a:blipFill>
            </p:spPr>
            <p:txBody>
              <a:bodyPr/>
              <a:lstStyle/>
              <a:p>
                <a:r>
                  <a:rPr lang="en-US">
                    <a:noFill/>
                  </a:rPr>
                  <a:t> </a:t>
                </a:r>
              </a:p>
            </p:txBody>
          </p:sp>
        </mc:Fallback>
      </mc:AlternateContent>
    </p:spTree>
    <p:extLst>
      <p:ext uri="{BB962C8B-B14F-4D97-AF65-F5344CB8AC3E}">
        <p14:creationId xmlns:p14="http://schemas.microsoft.com/office/powerpoint/2010/main" val="182970466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3" y="125537"/>
            <a:ext cx="9905998" cy="860425"/>
          </a:xfrm>
        </p:spPr>
        <p:txBody>
          <a:bodyPr/>
          <a:lstStyle/>
          <a:p>
            <a:pPr algn="ctr"/>
            <a:r>
              <a:rPr lang="en-US" dirty="0"/>
              <a:t>Comparing NTM and DTM</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14278F5F-F936-6145-9FF8-704886F1A386}"/>
                  </a:ext>
                </a:extLst>
              </p:cNvPr>
              <p:cNvSpPr>
                <a:spLocks noGrp="1"/>
              </p:cNvSpPr>
              <p:nvPr>
                <p:ph idx="1"/>
              </p:nvPr>
            </p:nvSpPr>
            <p:spPr>
              <a:xfrm>
                <a:off x="1141412" y="1127569"/>
                <a:ext cx="9905999" cy="1089328"/>
              </a:xfrm>
              <a:solidFill>
                <a:schemeClr val="tx1">
                  <a:lumMod val="95000"/>
                </a:schemeClr>
              </a:solidFill>
            </p:spPr>
            <p:txBody>
              <a:bodyPr/>
              <a:lstStyle/>
              <a:p>
                <a:pPr marL="0" indent="0">
                  <a:buNone/>
                </a:pPr>
                <a:r>
                  <a:rPr lang="en-US" b="1" i="1" u="sng" dirty="0">
                    <a:solidFill>
                      <a:schemeClr val="bg1"/>
                    </a:solidFill>
                  </a:rPr>
                  <a:t>Theorem</a:t>
                </a:r>
                <a:r>
                  <a:rPr lang="en-US" dirty="0">
                    <a:solidFill>
                      <a:schemeClr val="bg1"/>
                    </a:solidFill>
                  </a:rPr>
                  <a:t>: Every NTM that runs in time </a:t>
                </a:r>
                <a14:m>
                  <m:oMath xmlns:m="http://schemas.openxmlformats.org/officeDocument/2006/math">
                    <m:r>
                      <a:rPr lang="en-US" b="0" i="1" smtClean="0">
                        <a:solidFill>
                          <a:schemeClr val="bg1"/>
                        </a:solidFill>
                        <a:latin typeface="Cambria Math" panose="02040503050406030204" pitchFamily="18" charset="0"/>
                      </a:rPr>
                      <m:t>𝑓</m:t>
                    </m:r>
                    <m:r>
                      <a:rPr lang="en-US" b="0" i="1" smtClean="0">
                        <a:solidFill>
                          <a:schemeClr val="bg1"/>
                        </a:solidFill>
                        <a:latin typeface="Cambria Math" panose="02040503050406030204" pitchFamily="18" charset="0"/>
                      </a:rPr>
                      <m:t>(</m:t>
                    </m:r>
                    <m:r>
                      <a:rPr lang="en-US" b="0" i="1" smtClean="0">
                        <a:solidFill>
                          <a:schemeClr val="bg1"/>
                        </a:solidFill>
                        <a:latin typeface="Cambria Math" panose="02040503050406030204" pitchFamily="18" charset="0"/>
                      </a:rPr>
                      <m:t>𝑛</m:t>
                    </m:r>
                    <m:r>
                      <a:rPr lang="en-US" b="0" i="1" smtClean="0">
                        <a:solidFill>
                          <a:schemeClr val="bg1"/>
                        </a:solidFill>
                        <a:latin typeface="Cambria Math" panose="02040503050406030204" pitchFamily="18" charset="0"/>
                      </a:rPr>
                      <m:t>)</m:t>
                    </m:r>
                  </m:oMath>
                </a14:m>
                <a:r>
                  <a:rPr lang="en-US" dirty="0">
                    <a:solidFill>
                      <a:schemeClr val="bg1"/>
                    </a:solidFill>
                  </a:rPr>
                  <a:t> has an equivalent DTM that runs in time </a:t>
                </a:r>
                <a14:m>
                  <m:oMath xmlns:m="http://schemas.openxmlformats.org/officeDocument/2006/math">
                    <m:r>
                      <a:rPr lang="en-US" b="0" i="1" smtClean="0">
                        <a:solidFill>
                          <a:schemeClr val="bg1"/>
                        </a:solidFill>
                        <a:latin typeface="Cambria Math" panose="02040503050406030204" pitchFamily="18" charset="0"/>
                      </a:rPr>
                      <m:t>𝑂</m:t>
                    </m:r>
                    <m:r>
                      <a:rPr lang="en-US" b="0" i="1" smtClean="0">
                        <a:solidFill>
                          <a:schemeClr val="bg1"/>
                        </a:solidFill>
                        <a:latin typeface="Cambria Math" panose="02040503050406030204" pitchFamily="18" charset="0"/>
                      </a:rPr>
                      <m:t>(</m:t>
                    </m:r>
                    <m:sSup>
                      <m:sSupPr>
                        <m:ctrlPr>
                          <a:rPr lang="en-US" b="0" i="1" smtClean="0">
                            <a:solidFill>
                              <a:schemeClr val="bg1"/>
                            </a:solidFill>
                            <a:latin typeface="Cambria Math" panose="02040503050406030204" pitchFamily="18" charset="0"/>
                          </a:rPr>
                        </m:ctrlPr>
                      </m:sSupPr>
                      <m:e>
                        <m:r>
                          <a:rPr lang="en-US" b="0" i="1" smtClean="0">
                            <a:solidFill>
                              <a:schemeClr val="bg1"/>
                            </a:solidFill>
                            <a:latin typeface="Cambria Math" panose="02040503050406030204" pitchFamily="18" charset="0"/>
                          </a:rPr>
                          <m:t>2</m:t>
                        </m:r>
                      </m:e>
                      <m:sup>
                        <m:r>
                          <a:rPr lang="en-US" b="0" i="1" smtClean="0">
                            <a:solidFill>
                              <a:schemeClr val="bg1"/>
                            </a:solidFill>
                            <a:latin typeface="Cambria Math" panose="02040503050406030204" pitchFamily="18" charset="0"/>
                          </a:rPr>
                          <m:t>𝑂</m:t>
                        </m:r>
                        <m:r>
                          <a:rPr lang="en-US" b="0" i="1" smtClean="0">
                            <a:solidFill>
                              <a:schemeClr val="bg1"/>
                            </a:solidFill>
                            <a:latin typeface="Cambria Math" panose="02040503050406030204" pitchFamily="18" charset="0"/>
                          </a:rPr>
                          <m:t>(</m:t>
                        </m:r>
                        <m:r>
                          <a:rPr lang="en-US" b="0" i="1" smtClean="0">
                            <a:solidFill>
                              <a:schemeClr val="bg1"/>
                            </a:solidFill>
                            <a:latin typeface="Cambria Math" panose="02040503050406030204" pitchFamily="18" charset="0"/>
                          </a:rPr>
                          <m:t>𝑓</m:t>
                        </m:r>
                        <m:d>
                          <m:dPr>
                            <m:ctrlPr>
                              <a:rPr lang="en-US" b="0" i="1" smtClean="0">
                                <a:solidFill>
                                  <a:schemeClr val="bg1"/>
                                </a:solidFill>
                                <a:latin typeface="Cambria Math" panose="02040503050406030204" pitchFamily="18" charset="0"/>
                              </a:rPr>
                            </m:ctrlPr>
                          </m:dPr>
                          <m:e>
                            <m:r>
                              <a:rPr lang="en-US" b="0" i="1" smtClean="0">
                                <a:solidFill>
                                  <a:schemeClr val="bg1"/>
                                </a:solidFill>
                                <a:latin typeface="Cambria Math" panose="02040503050406030204" pitchFamily="18" charset="0"/>
                              </a:rPr>
                              <m:t>𝑛</m:t>
                            </m:r>
                          </m:e>
                        </m:d>
                      </m:sup>
                    </m:sSup>
                    <m:r>
                      <a:rPr lang="en-US" b="0" i="1" smtClean="0">
                        <a:solidFill>
                          <a:schemeClr val="bg1"/>
                        </a:solidFill>
                        <a:latin typeface="Cambria Math" panose="02040503050406030204" pitchFamily="18" charset="0"/>
                      </a:rPr>
                      <m:t>)</m:t>
                    </m:r>
                  </m:oMath>
                </a14:m>
                <a:r>
                  <a:rPr lang="en-US" dirty="0">
                    <a:solidFill>
                      <a:schemeClr val="bg1"/>
                    </a:solidFill>
                  </a:rPr>
                  <a:t> </a:t>
                </a:r>
              </a:p>
            </p:txBody>
          </p:sp>
        </mc:Choice>
        <mc:Fallback xmlns="">
          <p:sp>
            <p:nvSpPr>
              <p:cNvPr id="3" name="Content Placeholder 2">
                <a:extLst>
                  <a:ext uri="{FF2B5EF4-FFF2-40B4-BE49-F238E27FC236}">
                    <a16:creationId xmlns:a16="http://schemas.microsoft.com/office/drawing/2014/main" id="{14278F5F-F936-6145-9FF8-704886F1A386}"/>
                  </a:ext>
                </a:extLst>
              </p:cNvPr>
              <p:cNvSpPr>
                <a:spLocks noGrp="1" noRot="1" noChangeAspect="1" noMove="1" noResize="1" noEditPoints="1" noAdjustHandles="1" noChangeArrowheads="1" noChangeShapeType="1" noTextEdit="1"/>
              </p:cNvSpPr>
              <p:nvPr>
                <p:ph idx="1"/>
              </p:nvPr>
            </p:nvSpPr>
            <p:spPr>
              <a:xfrm>
                <a:off x="1141412" y="1127569"/>
                <a:ext cx="9905999" cy="1089328"/>
              </a:xfrm>
              <a:blipFill>
                <a:blip r:embed="rId2"/>
                <a:stretch>
                  <a:fillRect l="-896" t="-114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Content Placeholder 2">
                <a:extLst>
                  <a:ext uri="{FF2B5EF4-FFF2-40B4-BE49-F238E27FC236}">
                    <a16:creationId xmlns:a16="http://schemas.microsoft.com/office/drawing/2014/main" id="{7435EA41-11AA-A24B-B09A-C6CE7A122E1A}"/>
                  </a:ext>
                </a:extLst>
              </p:cNvPr>
              <p:cNvSpPr txBox="1">
                <a:spLocks/>
              </p:cNvSpPr>
              <p:nvPr/>
            </p:nvSpPr>
            <p:spPr>
              <a:xfrm>
                <a:off x="10141474" y="2723701"/>
                <a:ext cx="1991258" cy="902572"/>
              </a:xfrm>
              <a:prstGeom prst="rect">
                <a:avLst/>
              </a:prstGeom>
              <a:noFill/>
            </p:spPr>
            <p:txBody>
              <a:bodyPr vert="horz" lIns="91440" tIns="45720" rIns="91440" bIns="45720" rtlCol="0">
                <a:normAutofit fontScale="700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None/>
                </a:pPr>
                <a:r>
                  <a:rPr lang="en-US" i="1" dirty="0">
                    <a:solidFill>
                      <a:schemeClr val="tx1">
                        <a:lumMod val="95000"/>
                      </a:schemeClr>
                    </a:solidFill>
                  </a:rPr>
                  <a:t>Here, </a:t>
                </a:r>
                <a14:m>
                  <m:oMath xmlns:m="http://schemas.openxmlformats.org/officeDocument/2006/math">
                    <m:r>
                      <a:rPr lang="en-US" b="0" i="1" smtClean="0">
                        <a:solidFill>
                          <a:schemeClr val="tx1">
                            <a:lumMod val="95000"/>
                          </a:schemeClr>
                        </a:solidFill>
                        <a:latin typeface="Cambria Math" panose="02040503050406030204" pitchFamily="18" charset="0"/>
                      </a:rPr>
                      <m:t>𝑓</m:t>
                    </m:r>
                    <m:r>
                      <a:rPr lang="en-US" b="0" i="1" smtClean="0">
                        <a:solidFill>
                          <a:schemeClr val="tx1">
                            <a:lumMod val="95000"/>
                          </a:schemeClr>
                        </a:solidFill>
                        <a:latin typeface="Cambria Math" panose="02040503050406030204" pitchFamily="18" charset="0"/>
                      </a:rPr>
                      <m:t>(</m:t>
                    </m:r>
                    <m:r>
                      <a:rPr lang="en-US" b="0" i="1" smtClean="0">
                        <a:solidFill>
                          <a:schemeClr val="tx1">
                            <a:lumMod val="95000"/>
                          </a:schemeClr>
                        </a:solidFill>
                        <a:latin typeface="Cambria Math" panose="02040503050406030204" pitchFamily="18" charset="0"/>
                      </a:rPr>
                      <m:t>𝑛</m:t>
                    </m:r>
                    <m:r>
                      <a:rPr lang="en-US" b="0" i="1" smtClean="0">
                        <a:solidFill>
                          <a:schemeClr val="tx1">
                            <a:lumMod val="95000"/>
                          </a:schemeClr>
                        </a:solidFill>
                        <a:latin typeface="Cambria Math" panose="02040503050406030204" pitchFamily="18" charset="0"/>
                      </a:rPr>
                      <m:t>)</m:t>
                    </m:r>
                  </m:oMath>
                </a14:m>
                <a:r>
                  <a:rPr lang="en-US" i="1" dirty="0">
                    <a:solidFill>
                      <a:schemeClr val="tx1">
                        <a:lumMod val="95000"/>
                      </a:schemeClr>
                    </a:solidFill>
                  </a:rPr>
                  <a:t> is the longest branch of computation</a:t>
                </a:r>
              </a:p>
            </p:txBody>
          </p:sp>
        </mc:Choice>
        <mc:Fallback xmlns="">
          <p:sp>
            <p:nvSpPr>
              <p:cNvPr id="10" name="Content Placeholder 2">
                <a:extLst>
                  <a:ext uri="{FF2B5EF4-FFF2-40B4-BE49-F238E27FC236}">
                    <a16:creationId xmlns:a16="http://schemas.microsoft.com/office/drawing/2014/main" id="{7435EA41-11AA-A24B-B09A-C6CE7A122E1A}"/>
                  </a:ext>
                </a:extLst>
              </p:cNvPr>
              <p:cNvSpPr txBox="1">
                <a:spLocks noRot="1" noChangeAspect="1" noMove="1" noResize="1" noEditPoints="1" noAdjustHandles="1" noChangeArrowheads="1" noChangeShapeType="1" noTextEdit="1"/>
              </p:cNvSpPr>
              <p:nvPr/>
            </p:nvSpPr>
            <p:spPr>
              <a:xfrm>
                <a:off x="10141474" y="2723701"/>
                <a:ext cx="1991258" cy="902572"/>
              </a:xfrm>
              <a:prstGeom prst="rect">
                <a:avLst/>
              </a:prstGeom>
              <a:blipFill>
                <a:blip r:embed="rId3"/>
                <a:stretch>
                  <a:fillRect t="-1370" b="-4110"/>
                </a:stretch>
              </a:blipFill>
            </p:spPr>
            <p:txBody>
              <a:bodyPr/>
              <a:lstStyle/>
              <a:p>
                <a:r>
                  <a:rPr lang="en-US">
                    <a:noFill/>
                  </a:rPr>
                  <a:t> </a:t>
                </a:r>
              </a:p>
            </p:txBody>
          </p:sp>
        </mc:Fallback>
      </mc:AlternateContent>
      <p:pic>
        <p:nvPicPr>
          <p:cNvPr id="19" name="Picture 18">
            <a:extLst>
              <a:ext uri="{FF2B5EF4-FFF2-40B4-BE49-F238E27FC236}">
                <a16:creationId xmlns:a16="http://schemas.microsoft.com/office/drawing/2014/main" id="{35005C10-7079-4645-B807-A2C38B1E3B26}"/>
              </a:ext>
            </a:extLst>
          </p:cNvPr>
          <p:cNvPicPr>
            <a:picLocks noChangeAspect="1"/>
          </p:cNvPicPr>
          <p:nvPr/>
        </p:nvPicPr>
        <p:blipFill rotWithShape="1">
          <a:blip r:embed="rId4"/>
          <a:srcRect l="45477"/>
          <a:stretch/>
        </p:blipFill>
        <p:spPr>
          <a:xfrm>
            <a:off x="6492341" y="2636806"/>
            <a:ext cx="3649133" cy="3814196"/>
          </a:xfrm>
          <a:prstGeom prst="rect">
            <a:avLst/>
          </a:prstGeom>
        </p:spPr>
      </p:pic>
      <p:cxnSp>
        <p:nvCxnSpPr>
          <p:cNvPr id="20" name="Straight Connector 19">
            <a:extLst>
              <a:ext uri="{FF2B5EF4-FFF2-40B4-BE49-F238E27FC236}">
                <a16:creationId xmlns:a16="http://schemas.microsoft.com/office/drawing/2014/main" id="{CDD03767-2BC2-1546-92BF-436F8A44EB34}"/>
              </a:ext>
            </a:extLst>
          </p:cNvPr>
          <p:cNvCxnSpPr>
            <a:cxnSpLocks/>
          </p:cNvCxnSpPr>
          <p:nvPr/>
        </p:nvCxnSpPr>
        <p:spPr>
          <a:xfrm flipH="1">
            <a:off x="10253133" y="3556755"/>
            <a:ext cx="794279" cy="456890"/>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1" name="Content Placeholder 2">
                <a:extLst>
                  <a:ext uri="{FF2B5EF4-FFF2-40B4-BE49-F238E27FC236}">
                    <a16:creationId xmlns:a16="http://schemas.microsoft.com/office/drawing/2014/main" id="{7BF71A93-B193-6E42-8985-1D9515A8B6FA}"/>
                  </a:ext>
                </a:extLst>
              </p:cNvPr>
              <p:cNvSpPr txBox="1">
                <a:spLocks/>
              </p:cNvSpPr>
              <p:nvPr/>
            </p:nvSpPr>
            <p:spPr>
              <a:xfrm>
                <a:off x="1029754" y="2894480"/>
                <a:ext cx="5350928" cy="639794"/>
              </a:xfrm>
              <a:prstGeom prst="rect">
                <a:avLst/>
              </a:prstGeom>
              <a:noFill/>
              <a:ln>
                <a:solidFill>
                  <a:schemeClr val="tx1">
                    <a:lumMod val="95000"/>
                  </a:schemeClr>
                </a:solidFill>
              </a:ln>
            </p:spPr>
            <p:txBody>
              <a:bodyPr vert="horz" lIns="91440" tIns="45720" rIns="91440" bIns="45720" rtlCol="0">
                <a:normAutofit fontScale="700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None/>
                </a:pPr>
                <a:r>
                  <a:rPr lang="en-US" i="1" dirty="0">
                    <a:solidFill>
                      <a:schemeClr val="tx1">
                        <a:lumMod val="95000"/>
                      </a:schemeClr>
                    </a:solidFill>
                  </a:rPr>
                  <a:t>let </a:t>
                </a:r>
                <a14:m>
                  <m:oMath xmlns:m="http://schemas.openxmlformats.org/officeDocument/2006/math">
                    <m:r>
                      <a:rPr lang="en-US" b="0" i="1" smtClean="0">
                        <a:solidFill>
                          <a:schemeClr val="tx1">
                            <a:lumMod val="95000"/>
                          </a:schemeClr>
                        </a:solidFill>
                        <a:latin typeface="Cambria Math" panose="02040503050406030204" pitchFamily="18" charset="0"/>
                      </a:rPr>
                      <m:t>𝑏</m:t>
                    </m:r>
                  </m:oMath>
                </a14:m>
                <a:r>
                  <a:rPr lang="en-US" i="1" dirty="0">
                    <a:solidFill>
                      <a:schemeClr val="tx1">
                        <a:lumMod val="95000"/>
                      </a:schemeClr>
                    </a:solidFill>
                  </a:rPr>
                  <a:t> be the maximum number of branches this computation can have</a:t>
                </a:r>
              </a:p>
            </p:txBody>
          </p:sp>
        </mc:Choice>
        <mc:Fallback xmlns="">
          <p:sp>
            <p:nvSpPr>
              <p:cNvPr id="11" name="Content Placeholder 2">
                <a:extLst>
                  <a:ext uri="{FF2B5EF4-FFF2-40B4-BE49-F238E27FC236}">
                    <a16:creationId xmlns:a16="http://schemas.microsoft.com/office/drawing/2014/main" id="{7BF71A93-B193-6E42-8985-1D9515A8B6FA}"/>
                  </a:ext>
                </a:extLst>
              </p:cNvPr>
              <p:cNvSpPr txBox="1">
                <a:spLocks noRot="1" noChangeAspect="1" noMove="1" noResize="1" noEditPoints="1" noAdjustHandles="1" noChangeArrowheads="1" noChangeShapeType="1" noTextEdit="1"/>
              </p:cNvSpPr>
              <p:nvPr/>
            </p:nvSpPr>
            <p:spPr>
              <a:xfrm>
                <a:off x="1029754" y="2894480"/>
                <a:ext cx="5350928" cy="639794"/>
              </a:xfrm>
              <a:prstGeom prst="rect">
                <a:avLst/>
              </a:prstGeom>
              <a:blipFill>
                <a:blip r:embed="rId5"/>
                <a:stretch>
                  <a:fillRect t="-3922" b="-3922"/>
                </a:stretch>
              </a:blipFill>
              <a:ln>
                <a:solidFill>
                  <a:schemeClr val="tx1">
                    <a:lumMod val="95000"/>
                  </a:schemeClr>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Content Placeholder 2">
                <a:extLst>
                  <a:ext uri="{FF2B5EF4-FFF2-40B4-BE49-F238E27FC236}">
                    <a16:creationId xmlns:a16="http://schemas.microsoft.com/office/drawing/2014/main" id="{1EE9765C-BC1F-9D4E-9893-0EB64AD307C7}"/>
                  </a:ext>
                </a:extLst>
              </p:cNvPr>
              <p:cNvSpPr txBox="1">
                <a:spLocks/>
              </p:cNvSpPr>
              <p:nvPr/>
            </p:nvSpPr>
            <p:spPr>
              <a:xfrm>
                <a:off x="1029754" y="3666378"/>
                <a:ext cx="5350928" cy="639794"/>
              </a:xfrm>
              <a:prstGeom prst="rect">
                <a:avLst/>
              </a:prstGeom>
              <a:noFill/>
              <a:ln>
                <a:solidFill>
                  <a:schemeClr val="tx1">
                    <a:lumMod val="95000"/>
                  </a:schemeClr>
                </a:solidFill>
              </a:ln>
            </p:spPr>
            <p:txBody>
              <a:bodyPr vert="horz" lIns="91440" tIns="45720" rIns="91440" bIns="45720" rtlCol="0">
                <a:normAutofit fontScale="700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None/>
                </a:pPr>
                <a:r>
                  <a:rPr lang="en-US" i="1" dirty="0">
                    <a:solidFill>
                      <a:schemeClr val="tx1">
                        <a:lumMod val="95000"/>
                      </a:schemeClr>
                    </a:solidFill>
                  </a:rPr>
                  <a:t>The computation tree has at most </a:t>
                </a:r>
                <a14:m>
                  <m:oMath xmlns:m="http://schemas.openxmlformats.org/officeDocument/2006/math">
                    <m:sSup>
                      <m:sSupPr>
                        <m:ctrlPr>
                          <a:rPr lang="en-US" b="0" i="1" smtClean="0">
                            <a:solidFill>
                              <a:schemeClr val="tx1">
                                <a:lumMod val="95000"/>
                              </a:schemeClr>
                            </a:solidFill>
                            <a:latin typeface="Cambria Math" panose="02040503050406030204" pitchFamily="18" charset="0"/>
                          </a:rPr>
                        </m:ctrlPr>
                      </m:sSupPr>
                      <m:e>
                        <m:r>
                          <a:rPr lang="en-US" b="0" i="1" smtClean="0">
                            <a:solidFill>
                              <a:schemeClr val="tx1">
                                <a:lumMod val="95000"/>
                              </a:schemeClr>
                            </a:solidFill>
                            <a:latin typeface="Cambria Math" panose="02040503050406030204" pitchFamily="18" charset="0"/>
                          </a:rPr>
                          <m:t>𝑏</m:t>
                        </m:r>
                      </m:e>
                      <m:sup>
                        <m:r>
                          <a:rPr lang="en-US" b="0" i="1" smtClean="0">
                            <a:solidFill>
                              <a:schemeClr val="tx1">
                                <a:lumMod val="95000"/>
                              </a:schemeClr>
                            </a:solidFill>
                            <a:latin typeface="Cambria Math" panose="02040503050406030204" pitchFamily="18" charset="0"/>
                          </a:rPr>
                          <m:t>𝑓</m:t>
                        </m:r>
                        <m:r>
                          <a:rPr lang="en-US" b="0" i="1" smtClean="0">
                            <a:solidFill>
                              <a:schemeClr val="tx1">
                                <a:lumMod val="95000"/>
                              </a:schemeClr>
                            </a:solidFill>
                            <a:latin typeface="Cambria Math" panose="02040503050406030204" pitchFamily="18" charset="0"/>
                          </a:rPr>
                          <m:t>(</m:t>
                        </m:r>
                        <m:r>
                          <a:rPr lang="en-US" b="0" i="1" smtClean="0">
                            <a:solidFill>
                              <a:schemeClr val="tx1">
                                <a:lumMod val="95000"/>
                              </a:schemeClr>
                            </a:solidFill>
                            <a:latin typeface="Cambria Math" panose="02040503050406030204" pitchFamily="18" charset="0"/>
                          </a:rPr>
                          <m:t>𝑛</m:t>
                        </m:r>
                        <m:r>
                          <a:rPr lang="en-US" b="0" i="1" smtClean="0">
                            <a:solidFill>
                              <a:schemeClr val="tx1">
                                <a:lumMod val="95000"/>
                              </a:schemeClr>
                            </a:solidFill>
                            <a:latin typeface="Cambria Math" panose="02040503050406030204" pitchFamily="18" charset="0"/>
                          </a:rPr>
                          <m:t>)</m:t>
                        </m:r>
                      </m:sup>
                    </m:sSup>
                  </m:oMath>
                </a14:m>
                <a:r>
                  <a:rPr lang="en-US" i="1" dirty="0">
                    <a:solidFill>
                      <a:schemeClr val="tx1">
                        <a:lumMod val="95000"/>
                      </a:schemeClr>
                    </a:solidFill>
                  </a:rPr>
                  <a:t> leaves and each branch to each node has length at most </a:t>
                </a:r>
                <a14:m>
                  <m:oMath xmlns:m="http://schemas.openxmlformats.org/officeDocument/2006/math">
                    <m:r>
                      <a:rPr lang="en-US" b="0" i="1" smtClean="0">
                        <a:solidFill>
                          <a:schemeClr val="tx1">
                            <a:lumMod val="95000"/>
                          </a:schemeClr>
                        </a:solidFill>
                        <a:latin typeface="Cambria Math" panose="02040503050406030204" pitchFamily="18" charset="0"/>
                      </a:rPr>
                      <m:t>𝑓</m:t>
                    </m:r>
                    <m:r>
                      <a:rPr lang="en-US" b="0" i="1" smtClean="0">
                        <a:solidFill>
                          <a:schemeClr val="tx1">
                            <a:lumMod val="95000"/>
                          </a:schemeClr>
                        </a:solidFill>
                        <a:latin typeface="Cambria Math" panose="02040503050406030204" pitchFamily="18" charset="0"/>
                      </a:rPr>
                      <m:t>(</m:t>
                    </m:r>
                    <m:r>
                      <a:rPr lang="en-US" b="0" i="1" smtClean="0">
                        <a:solidFill>
                          <a:schemeClr val="tx1">
                            <a:lumMod val="95000"/>
                          </a:schemeClr>
                        </a:solidFill>
                        <a:latin typeface="Cambria Math" panose="02040503050406030204" pitchFamily="18" charset="0"/>
                      </a:rPr>
                      <m:t>𝑛</m:t>
                    </m:r>
                    <m:r>
                      <a:rPr lang="en-US" b="0" i="1" smtClean="0">
                        <a:solidFill>
                          <a:schemeClr val="tx1">
                            <a:lumMod val="95000"/>
                          </a:schemeClr>
                        </a:solidFill>
                        <a:latin typeface="Cambria Math" panose="02040503050406030204" pitchFamily="18" charset="0"/>
                      </a:rPr>
                      <m:t>)</m:t>
                    </m:r>
                  </m:oMath>
                </a14:m>
                <a:endParaRPr lang="en-US" i="1" dirty="0">
                  <a:solidFill>
                    <a:schemeClr val="tx1">
                      <a:lumMod val="95000"/>
                    </a:schemeClr>
                  </a:solidFill>
                </a:endParaRPr>
              </a:p>
            </p:txBody>
          </p:sp>
        </mc:Choice>
        <mc:Fallback xmlns="">
          <p:sp>
            <p:nvSpPr>
              <p:cNvPr id="13" name="Content Placeholder 2">
                <a:extLst>
                  <a:ext uri="{FF2B5EF4-FFF2-40B4-BE49-F238E27FC236}">
                    <a16:creationId xmlns:a16="http://schemas.microsoft.com/office/drawing/2014/main" id="{1EE9765C-BC1F-9D4E-9893-0EB64AD307C7}"/>
                  </a:ext>
                </a:extLst>
              </p:cNvPr>
              <p:cNvSpPr txBox="1">
                <a:spLocks noRot="1" noChangeAspect="1" noMove="1" noResize="1" noEditPoints="1" noAdjustHandles="1" noChangeArrowheads="1" noChangeShapeType="1" noTextEdit="1"/>
              </p:cNvSpPr>
              <p:nvPr/>
            </p:nvSpPr>
            <p:spPr>
              <a:xfrm>
                <a:off x="1029754" y="3666378"/>
                <a:ext cx="5350928" cy="639794"/>
              </a:xfrm>
              <a:prstGeom prst="rect">
                <a:avLst/>
              </a:prstGeom>
              <a:blipFill>
                <a:blip r:embed="rId6"/>
                <a:stretch>
                  <a:fillRect b="-5769"/>
                </a:stretch>
              </a:blipFill>
              <a:ln>
                <a:solidFill>
                  <a:schemeClr val="tx1">
                    <a:lumMod val="95000"/>
                  </a:schemeClr>
                </a:solidFill>
              </a:ln>
            </p:spPr>
            <p:txBody>
              <a:bodyPr/>
              <a:lstStyle/>
              <a:p>
                <a:r>
                  <a:rPr lang="en-US">
                    <a:noFill/>
                  </a:rPr>
                  <a:t> </a:t>
                </a:r>
              </a:p>
            </p:txBody>
          </p:sp>
        </mc:Fallback>
      </mc:AlternateContent>
      <p:sp>
        <p:nvSpPr>
          <p:cNvPr id="15" name="Content Placeholder 2">
            <a:extLst>
              <a:ext uri="{FF2B5EF4-FFF2-40B4-BE49-F238E27FC236}">
                <a16:creationId xmlns:a16="http://schemas.microsoft.com/office/drawing/2014/main" id="{49D567DD-C60B-D045-8324-8407331C8637}"/>
              </a:ext>
            </a:extLst>
          </p:cNvPr>
          <p:cNvSpPr txBox="1">
            <a:spLocks/>
          </p:cNvSpPr>
          <p:nvPr/>
        </p:nvSpPr>
        <p:spPr>
          <a:xfrm>
            <a:off x="1029754" y="4438275"/>
            <a:ext cx="5350928" cy="750515"/>
          </a:xfrm>
          <a:prstGeom prst="rect">
            <a:avLst/>
          </a:prstGeom>
          <a:noFill/>
          <a:ln>
            <a:solidFill>
              <a:schemeClr val="tx1">
                <a:lumMod val="95000"/>
              </a:schemeClr>
            </a:solidFill>
          </a:ln>
        </p:spPr>
        <p:txBody>
          <a:bodyPr vert="horz" lIns="91440" tIns="45720" rIns="91440" bIns="45720" rtlCol="0">
            <a:normAutofit fontScale="550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None/>
            </a:pPr>
            <a:r>
              <a:rPr lang="en-US" i="1" dirty="0">
                <a:solidFill>
                  <a:schemeClr val="tx1">
                    <a:lumMod val="95000"/>
                  </a:schemeClr>
                </a:solidFill>
              </a:rPr>
              <a:t>Construct a DTM with three tapes that simulates this NTM as we did in the Turing Machine section earlier. This machines manually computes / simulates each branch individually.</a:t>
            </a:r>
          </a:p>
        </p:txBody>
      </p:sp>
      <mc:AlternateContent xmlns:mc="http://schemas.openxmlformats.org/markup-compatibility/2006" xmlns:a14="http://schemas.microsoft.com/office/drawing/2010/main">
        <mc:Choice Requires="a14">
          <p:sp>
            <p:nvSpPr>
              <p:cNvPr id="16" name="Content Placeholder 2">
                <a:extLst>
                  <a:ext uri="{FF2B5EF4-FFF2-40B4-BE49-F238E27FC236}">
                    <a16:creationId xmlns:a16="http://schemas.microsoft.com/office/drawing/2014/main" id="{5D9EFDCD-3F33-2645-A230-A355A02124DC}"/>
                  </a:ext>
                </a:extLst>
              </p:cNvPr>
              <p:cNvSpPr txBox="1">
                <a:spLocks/>
              </p:cNvSpPr>
              <p:nvPr/>
            </p:nvSpPr>
            <p:spPr>
              <a:xfrm>
                <a:off x="1029754" y="5320893"/>
                <a:ext cx="5350928" cy="750515"/>
              </a:xfrm>
              <a:prstGeom prst="rect">
                <a:avLst/>
              </a:prstGeom>
              <a:noFill/>
              <a:ln>
                <a:solidFill>
                  <a:schemeClr val="tx1">
                    <a:lumMod val="95000"/>
                  </a:schemeClr>
                </a:solidFill>
              </a:ln>
            </p:spPr>
            <p:txBody>
              <a:bodyPr vert="horz" lIns="91440" tIns="45720" rIns="91440" bIns="45720" rtlCol="0">
                <a:normAutofit fontScale="850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None/>
                </a:pPr>
                <a:r>
                  <a:rPr lang="en-US" i="1" dirty="0">
                    <a:solidFill>
                      <a:schemeClr val="tx1">
                        <a:lumMod val="95000"/>
                      </a:schemeClr>
                    </a:solidFill>
                  </a:rPr>
                  <a:t>Thus, this machine simulates </a:t>
                </a:r>
                <a14:m>
                  <m:oMath xmlns:m="http://schemas.openxmlformats.org/officeDocument/2006/math">
                    <m:sSup>
                      <m:sSupPr>
                        <m:ctrlPr>
                          <a:rPr lang="en-US" b="0" i="1" smtClean="0">
                            <a:solidFill>
                              <a:schemeClr val="tx1">
                                <a:lumMod val="95000"/>
                              </a:schemeClr>
                            </a:solidFill>
                            <a:latin typeface="Cambria Math" panose="02040503050406030204" pitchFamily="18" charset="0"/>
                          </a:rPr>
                        </m:ctrlPr>
                      </m:sSupPr>
                      <m:e>
                        <m:r>
                          <a:rPr lang="en-US" b="0" i="1" smtClean="0">
                            <a:solidFill>
                              <a:schemeClr val="tx1">
                                <a:lumMod val="95000"/>
                              </a:schemeClr>
                            </a:solidFill>
                            <a:latin typeface="Cambria Math" panose="02040503050406030204" pitchFamily="18" charset="0"/>
                          </a:rPr>
                          <m:t>𝑏</m:t>
                        </m:r>
                      </m:e>
                      <m:sup>
                        <m:r>
                          <a:rPr lang="en-US" b="0" i="1" smtClean="0">
                            <a:solidFill>
                              <a:schemeClr val="tx1">
                                <a:lumMod val="95000"/>
                              </a:schemeClr>
                            </a:solidFill>
                            <a:latin typeface="Cambria Math" panose="02040503050406030204" pitchFamily="18" charset="0"/>
                          </a:rPr>
                          <m:t>𝑓</m:t>
                        </m:r>
                        <m:r>
                          <a:rPr lang="en-US" b="0" i="1" smtClean="0">
                            <a:solidFill>
                              <a:schemeClr val="tx1">
                                <a:lumMod val="95000"/>
                              </a:schemeClr>
                            </a:solidFill>
                            <a:latin typeface="Cambria Math" panose="02040503050406030204" pitchFamily="18" charset="0"/>
                          </a:rPr>
                          <m:t>(</m:t>
                        </m:r>
                        <m:r>
                          <a:rPr lang="en-US" b="0" i="1" smtClean="0">
                            <a:solidFill>
                              <a:schemeClr val="tx1">
                                <a:lumMod val="95000"/>
                              </a:schemeClr>
                            </a:solidFill>
                            <a:latin typeface="Cambria Math" panose="02040503050406030204" pitchFamily="18" charset="0"/>
                          </a:rPr>
                          <m:t>𝑛</m:t>
                        </m:r>
                        <m:r>
                          <a:rPr lang="en-US" b="0" i="1" smtClean="0">
                            <a:solidFill>
                              <a:schemeClr val="tx1">
                                <a:lumMod val="95000"/>
                              </a:schemeClr>
                            </a:solidFill>
                            <a:latin typeface="Cambria Math" panose="02040503050406030204" pitchFamily="18" charset="0"/>
                          </a:rPr>
                          <m:t>)</m:t>
                        </m:r>
                      </m:sup>
                    </m:sSup>
                  </m:oMath>
                </a14:m>
                <a:r>
                  <a:rPr lang="en-US" i="1" dirty="0">
                    <a:solidFill>
                      <a:schemeClr val="tx1">
                        <a:lumMod val="95000"/>
                      </a:schemeClr>
                    </a:solidFill>
                  </a:rPr>
                  <a:t> branches at </a:t>
                </a:r>
                <a14:m>
                  <m:oMath xmlns:m="http://schemas.openxmlformats.org/officeDocument/2006/math">
                    <m:r>
                      <a:rPr lang="en-US" b="0" i="1" smtClean="0">
                        <a:solidFill>
                          <a:schemeClr val="tx1">
                            <a:lumMod val="95000"/>
                          </a:schemeClr>
                        </a:solidFill>
                        <a:latin typeface="Cambria Math" panose="02040503050406030204" pitchFamily="18" charset="0"/>
                      </a:rPr>
                      <m:t>𝑓</m:t>
                    </m:r>
                    <m:d>
                      <m:dPr>
                        <m:ctrlPr>
                          <a:rPr lang="en-US" b="0" i="1" smtClean="0">
                            <a:solidFill>
                              <a:schemeClr val="tx1">
                                <a:lumMod val="95000"/>
                              </a:schemeClr>
                            </a:solidFill>
                            <a:latin typeface="Cambria Math" panose="02040503050406030204" pitchFamily="18" charset="0"/>
                          </a:rPr>
                        </m:ctrlPr>
                      </m:dPr>
                      <m:e>
                        <m:r>
                          <a:rPr lang="en-US" b="0" i="1" smtClean="0">
                            <a:solidFill>
                              <a:schemeClr val="tx1">
                                <a:lumMod val="95000"/>
                              </a:schemeClr>
                            </a:solidFill>
                            <a:latin typeface="Cambria Math" panose="02040503050406030204" pitchFamily="18" charset="0"/>
                          </a:rPr>
                          <m:t>𝑛</m:t>
                        </m:r>
                      </m:e>
                    </m:d>
                  </m:oMath>
                </a14:m>
                <a:r>
                  <a:rPr lang="en-US" i="1" dirty="0">
                    <a:solidFill>
                      <a:schemeClr val="tx1">
                        <a:lumMod val="95000"/>
                      </a:schemeClr>
                    </a:solidFill>
                  </a:rPr>
                  <a:t> time each for total time </a:t>
                </a:r>
                <a14:m>
                  <m:oMath xmlns:m="http://schemas.openxmlformats.org/officeDocument/2006/math">
                    <m:r>
                      <a:rPr lang="en-US" b="0" i="1" smtClean="0">
                        <a:solidFill>
                          <a:schemeClr val="tx1">
                            <a:lumMod val="95000"/>
                          </a:schemeClr>
                        </a:solidFill>
                        <a:latin typeface="Cambria Math" panose="02040503050406030204" pitchFamily="18" charset="0"/>
                      </a:rPr>
                      <m:t>𝑓</m:t>
                    </m:r>
                    <m:d>
                      <m:dPr>
                        <m:ctrlPr>
                          <a:rPr lang="en-US" b="0" i="1" smtClean="0">
                            <a:solidFill>
                              <a:schemeClr val="tx1">
                                <a:lumMod val="95000"/>
                              </a:schemeClr>
                            </a:solidFill>
                            <a:latin typeface="Cambria Math" panose="02040503050406030204" pitchFamily="18" charset="0"/>
                          </a:rPr>
                        </m:ctrlPr>
                      </m:dPr>
                      <m:e>
                        <m:r>
                          <a:rPr lang="en-US" b="0" i="1" smtClean="0">
                            <a:solidFill>
                              <a:schemeClr val="tx1">
                                <a:lumMod val="95000"/>
                              </a:schemeClr>
                            </a:solidFill>
                            <a:latin typeface="Cambria Math" panose="02040503050406030204" pitchFamily="18" charset="0"/>
                          </a:rPr>
                          <m:t>𝑛</m:t>
                        </m:r>
                      </m:e>
                    </m:d>
                    <m:sSup>
                      <m:sSupPr>
                        <m:ctrlPr>
                          <a:rPr lang="en-US" b="0" i="1" smtClean="0">
                            <a:solidFill>
                              <a:schemeClr val="tx1">
                                <a:lumMod val="95000"/>
                              </a:schemeClr>
                            </a:solidFill>
                            <a:latin typeface="Cambria Math" panose="02040503050406030204" pitchFamily="18" charset="0"/>
                          </a:rPr>
                        </m:ctrlPr>
                      </m:sSupPr>
                      <m:e>
                        <m:r>
                          <a:rPr lang="en-US" b="0" i="1" smtClean="0">
                            <a:solidFill>
                              <a:schemeClr val="tx1">
                                <a:lumMod val="95000"/>
                              </a:schemeClr>
                            </a:solidFill>
                            <a:latin typeface="Cambria Math" panose="02040503050406030204" pitchFamily="18" charset="0"/>
                          </a:rPr>
                          <m:t>𝑏</m:t>
                        </m:r>
                      </m:e>
                      <m:sup>
                        <m:r>
                          <a:rPr lang="en-US" b="0" i="1" smtClean="0">
                            <a:solidFill>
                              <a:schemeClr val="tx1">
                                <a:lumMod val="95000"/>
                              </a:schemeClr>
                            </a:solidFill>
                            <a:latin typeface="Cambria Math" panose="02040503050406030204" pitchFamily="18" charset="0"/>
                          </a:rPr>
                          <m:t>𝑓</m:t>
                        </m:r>
                        <m:r>
                          <a:rPr lang="en-US" b="0" i="1" smtClean="0">
                            <a:solidFill>
                              <a:schemeClr val="tx1">
                                <a:lumMod val="95000"/>
                              </a:schemeClr>
                            </a:solidFill>
                            <a:latin typeface="Cambria Math" panose="02040503050406030204" pitchFamily="18" charset="0"/>
                          </a:rPr>
                          <m:t>(</m:t>
                        </m:r>
                        <m:r>
                          <a:rPr lang="en-US" b="0" i="1" smtClean="0">
                            <a:solidFill>
                              <a:schemeClr val="tx1">
                                <a:lumMod val="95000"/>
                              </a:schemeClr>
                            </a:solidFill>
                            <a:latin typeface="Cambria Math" panose="02040503050406030204" pitchFamily="18" charset="0"/>
                          </a:rPr>
                          <m:t>𝑛</m:t>
                        </m:r>
                        <m:r>
                          <a:rPr lang="en-US" b="0" i="1" smtClean="0">
                            <a:solidFill>
                              <a:schemeClr val="tx1">
                                <a:lumMod val="95000"/>
                              </a:schemeClr>
                            </a:solidFill>
                            <a:latin typeface="Cambria Math" panose="02040503050406030204" pitchFamily="18" charset="0"/>
                          </a:rPr>
                          <m:t>)</m:t>
                        </m:r>
                      </m:sup>
                    </m:sSup>
                    <m:r>
                      <a:rPr lang="en-US" b="0" i="1" smtClean="0">
                        <a:solidFill>
                          <a:schemeClr val="tx1">
                            <a:lumMod val="95000"/>
                          </a:schemeClr>
                        </a:solidFill>
                        <a:latin typeface="Cambria Math" panose="02040503050406030204" pitchFamily="18" charset="0"/>
                      </a:rPr>
                      <m:t>∈</m:t>
                    </m:r>
                    <m:r>
                      <a:rPr lang="en-US" b="0" i="1" smtClean="0">
                        <a:solidFill>
                          <a:schemeClr val="tx1">
                            <a:lumMod val="95000"/>
                          </a:schemeClr>
                        </a:solidFill>
                        <a:latin typeface="Cambria Math" panose="02040503050406030204" pitchFamily="18" charset="0"/>
                      </a:rPr>
                      <m:t>𝑂</m:t>
                    </m:r>
                    <m:r>
                      <a:rPr lang="en-US" b="0" i="1" smtClean="0">
                        <a:solidFill>
                          <a:schemeClr val="tx1">
                            <a:lumMod val="95000"/>
                          </a:schemeClr>
                        </a:solidFill>
                        <a:latin typeface="Cambria Math" panose="02040503050406030204" pitchFamily="18" charset="0"/>
                      </a:rPr>
                      <m:t>(</m:t>
                    </m:r>
                    <m:sSup>
                      <m:sSupPr>
                        <m:ctrlPr>
                          <a:rPr lang="en-US" b="0" i="1" smtClean="0">
                            <a:solidFill>
                              <a:schemeClr val="tx1">
                                <a:lumMod val="95000"/>
                              </a:schemeClr>
                            </a:solidFill>
                            <a:latin typeface="Cambria Math" panose="02040503050406030204" pitchFamily="18" charset="0"/>
                          </a:rPr>
                        </m:ctrlPr>
                      </m:sSupPr>
                      <m:e>
                        <m:r>
                          <a:rPr lang="en-US" b="0" i="1" smtClean="0">
                            <a:solidFill>
                              <a:schemeClr val="tx1">
                                <a:lumMod val="95000"/>
                              </a:schemeClr>
                            </a:solidFill>
                            <a:latin typeface="Cambria Math" panose="02040503050406030204" pitchFamily="18" charset="0"/>
                          </a:rPr>
                          <m:t>2</m:t>
                        </m:r>
                      </m:e>
                      <m:sup>
                        <m:r>
                          <a:rPr lang="en-US" b="0" i="1" smtClean="0">
                            <a:solidFill>
                              <a:schemeClr val="tx1">
                                <a:lumMod val="95000"/>
                              </a:schemeClr>
                            </a:solidFill>
                            <a:latin typeface="Cambria Math" panose="02040503050406030204" pitchFamily="18" charset="0"/>
                          </a:rPr>
                          <m:t>𝑂</m:t>
                        </m:r>
                        <m:r>
                          <a:rPr lang="en-US" b="0" i="1" smtClean="0">
                            <a:solidFill>
                              <a:schemeClr val="tx1">
                                <a:lumMod val="95000"/>
                              </a:schemeClr>
                            </a:solidFill>
                            <a:latin typeface="Cambria Math" panose="02040503050406030204" pitchFamily="18" charset="0"/>
                          </a:rPr>
                          <m:t>(</m:t>
                        </m:r>
                        <m:r>
                          <a:rPr lang="en-US" b="0" i="1" smtClean="0">
                            <a:solidFill>
                              <a:schemeClr val="tx1">
                                <a:lumMod val="95000"/>
                              </a:schemeClr>
                            </a:solidFill>
                            <a:latin typeface="Cambria Math" panose="02040503050406030204" pitchFamily="18" charset="0"/>
                          </a:rPr>
                          <m:t>𝑓</m:t>
                        </m:r>
                        <m:r>
                          <a:rPr lang="en-US" b="0" i="1" smtClean="0">
                            <a:solidFill>
                              <a:schemeClr val="tx1">
                                <a:lumMod val="95000"/>
                              </a:schemeClr>
                            </a:solidFill>
                            <a:latin typeface="Cambria Math" panose="02040503050406030204" pitchFamily="18" charset="0"/>
                          </a:rPr>
                          <m:t>(</m:t>
                        </m:r>
                        <m:r>
                          <a:rPr lang="en-US" b="0" i="1" smtClean="0">
                            <a:solidFill>
                              <a:schemeClr val="tx1">
                                <a:lumMod val="95000"/>
                              </a:schemeClr>
                            </a:solidFill>
                            <a:latin typeface="Cambria Math" panose="02040503050406030204" pitchFamily="18" charset="0"/>
                          </a:rPr>
                          <m:t>𝑛</m:t>
                        </m:r>
                        <m:r>
                          <a:rPr lang="en-US" b="0" i="1" smtClean="0">
                            <a:solidFill>
                              <a:schemeClr val="tx1">
                                <a:lumMod val="95000"/>
                              </a:schemeClr>
                            </a:solidFill>
                            <a:latin typeface="Cambria Math" panose="02040503050406030204" pitchFamily="18" charset="0"/>
                          </a:rPr>
                          <m:t>)</m:t>
                        </m:r>
                      </m:sup>
                    </m:sSup>
                    <m:r>
                      <a:rPr lang="en-US" b="0" i="1" smtClean="0">
                        <a:solidFill>
                          <a:schemeClr val="tx1">
                            <a:lumMod val="95000"/>
                          </a:schemeClr>
                        </a:solidFill>
                        <a:latin typeface="Cambria Math" panose="02040503050406030204" pitchFamily="18" charset="0"/>
                      </a:rPr>
                      <m:t>)</m:t>
                    </m:r>
                  </m:oMath>
                </a14:m>
                <a:endParaRPr lang="en-US" i="1" dirty="0">
                  <a:solidFill>
                    <a:schemeClr val="tx1">
                      <a:lumMod val="95000"/>
                    </a:schemeClr>
                  </a:solidFill>
                </a:endParaRPr>
              </a:p>
            </p:txBody>
          </p:sp>
        </mc:Choice>
        <mc:Fallback xmlns="">
          <p:sp>
            <p:nvSpPr>
              <p:cNvPr id="16" name="Content Placeholder 2">
                <a:extLst>
                  <a:ext uri="{FF2B5EF4-FFF2-40B4-BE49-F238E27FC236}">
                    <a16:creationId xmlns:a16="http://schemas.microsoft.com/office/drawing/2014/main" id="{5D9EFDCD-3F33-2645-A230-A355A02124DC}"/>
                  </a:ext>
                </a:extLst>
              </p:cNvPr>
              <p:cNvSpPr txBox="1">
                <a:spLocks noRot="1" noChangeAspect="1" noMove="1" noResize="1" noEditPoints="1" noAdjustHandles="1" noChangeArrowheads="1" noChangeShapeType="1" noTextEdit="1"/>
              </p:cNvSpPr>
              <p:nvPr/>
            </p:nvSpPr>
            <p:spPr>
              <a:xfrm>
                <a:off x="1029754" y="5320893"/>
                <a:ext cx="5350928" cy="750515"/>
              </a:xfrm>
              <a:prstGeom prst="rect">
                <a:avLst/>
              </a:prstGeom>
              <a:blipFill>
                <a:blip r:embed="rId7"/>
                <a:stretch>
                  <a:fillRect t="-1639" b="-8197"/>
                </a:stretch>
              </a:blipFill>
              <a:ln>
                <a:solidFill>
                  <a:schemeClr val="tx1">
                    <a:lumMod val="95000"/>
                  </a:schemeClr>
                </a:solidFill>
              </a:ln>
            </p:spPr>
            <p:txBody>
              <a:bodyPr/>
              <a:lstStyle/>
              <a:p>
                <a:r>
                  <a:rPr lang="en-US">
                    <a:noFill/>
                  </a:rPr>
                  <a:t> </a:t>
                </a:r>
              </a:p>
            </p:txBody>
          </p:sp>
        </mc:Fallback>
      </mc:AlternateContent>
    </p:spTree>
    <p:extLst>
      <p:ext uri="{BB962C8B-B14F-4D97-AF65-F5344CB8AC3E}">
        <p14:creationId xmlns:p14="http://schemas.microsoft.com/office/powerpoint/2010/main" val="40515006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5" grpId="0" animBg="1"/>
      <p:bldP spid="16"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719C56-21DC-0A40-AA49-9AF4AF4C92DA}"/>
              </a:ext>
            </a:extLst>
          </p:cNvPr>
          <p:cNvSpPr>
            <a:spLocks noGrp="1"/>
          </p:cNvSpPr>
          <p:nvPr>
            <p:ph type="title"/>
          </p:nvPr>
        </p:nvSpPr>
        <p:spPr/>
        <p:txBody>
          <a:bodyPr/>
          <a:lstStyle/>
          <a:p>
            <a:pPr algn="ctr"/>
            <a:r>
              <a:rPr lang="en-US" dirty="0"/>
              <a:t>Part 1: Complexity Classes</a:t>
            </a:r>
          </a:p>
        </p:txBody>
      </p:sp>
    </p:spTree>
    <p:extLst>
      <p:ext uri="{BB962C8B-B14F-4D97-AF65-F5344CB8AC3E}">
        <p14:creationId xmlns:p14="http://schemas.microsoft.com/office/powerpoint/2010/main" val="185122467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pPr algn="ctr"/>
            <a:r>
              <a:rPr lang="en-US" dirty="0"/>
              <a:t>Problem Types</a:t>
            </a:r>
          </a:p>
        </p:txBody>
      </p:sp>
    </p:spTree>
    <p:extLst>
      <p:ext uri="{BB962C8B-B14F-4D97-AF65-F5344CB8AC3E}">
        <p14:creationId xmlns:p14="http://schemas.microsoft.com/office/powerpoint/2010/main" val="163058646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a:xfrm>
            <a:off x="1141413" y="237514"/>
            <a:ext cx="9905998" cy="676882"/>
          </a:xfrm>
        </p:spPr>
        <p:txBody>
          <a:bodyPr/>
          <a:lstStyle/>
          <a:p>
            <a:pPr algn="ctr"/>
            <a:r>
              <a:rPr lang="en-US" dirty="0"/>
              <a:t>Problem types</a:t>
            </a:r>
          </a:p>
        </p:txBody>
      </p:sp>
      <p:sp>
        <p:nvSpPr>
          <p:cNvPr id="6" name="Content Placeholder 5"/>
          <p:cNvSpPr>
            <a:spLocks noGrp="1"/>
          </p:cNvSpPr>
          <p:nvPr>
            <p:ph sz="quarter" idx="1"/>
          </p:nvPr>
        </p:nvSpPr>
        <p:spPr>
          <a:xfrm>
            <a:off x="862012" y="1007534"/>
            <a:ext cx="10508721" cy="626536"/>
          </a:xfrm>
        </p:spPr>
        <p:txBody>
          <a:bodyPr>
            <a:normAutofit fontScale="92500"/>
          </a:bodyPr>
          <a:lstStyle/>
          <a:p>
            <a:pPr marL="0" indent="0" algn="ctr">
              <a:buNone/>
            </a:pPr>
            <a:r>
              <a:rPr lang="en-US" dirty="0"/>
              <a:t>Given a problem we want to solve, there are three important variations of that problem</a:t>
            </a:r>
          </a:p>
        </p:txBody>
      </p:sp>
      <p:sp>
        <p:nvSpPr>
          <p:cNvPr id="7" name="Content Placeholder 5">
            <a:extLst>
              <a:ext uri="{FF2B5EF4-FFF2-40B4-BE49-F238E27FC236}">
                <a16:creationId xmlns:a16="http://schemas.microsoft.com/office/drawing/2014/main" id="{FEF7987B-8C1A-3C40-878F-2B5D09763C34}"/>
              </a:ext>
            </a:extLst>
          </p:cNvPr>
          <p:cNvSpPr txBox="1">
            <a:spLocks/>
          </p:cNvSpPr>
          <p:nvPr/>
        </p:nvSpPr>
        <p:spPr>
          <a:xfrm>
            <a:off x="878944" y="3877734"/>
            <a:ext cx="3176588" cy="2015065"/>
          </a:xfrm>
          <a:prstGeom prst="rect">
            <a:avLst/>
          </a:prstGeom>
          <a:solidFill>
            <a:schemeClr val="tx1">
              <a:lumMod val="95000"/>
            </a:schemeClr>
          </a:solid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None/>
            </a:pPr>
            <a:r>
              <a:rPr lang="en-US" sz="2000" dirty="0">
                <a:solidFill>
                  <a:schemeClr val="bg1"/>
                </a:solidFill>
              </a:rPr>
              <a:t>Given G and s, return the </a:t>
            </a:r>
            <a:r>
              <a:rPr lang="en-US" sz="2000" b="1" dirty="0">
                <a:solidFill>
                  <a:schemeClr val="bg1"/>
                </a:solidFill>
              </a:rPr>
              <a:t>weight of the path</a:t>
            </a:r>
            <a:r>
              <a:rPr lang="en-US" sz="2000" dirty="0">
                <a:solidFill>
                  <a:schemeClr val="bg1"/>
                </a:solidFill>
              </a:rPr>
              <a:t> P that minimizes the sum of the weights of the edges along P.</a:t>
            </a:r>
          </a:p>
        </p:txBody>
      </p:sp>
      <p:sp>
        <p:nvSpPr>
          <p:cNvPr id="8" name="Content Placeholder 5">
            <a:extLst>
              <a:ext uri="{FF2B5EF4-FFF2-40B4-BE49-F238E27FC236}">
                <a16:creationId xmlns:a16="http://schemas.microsoft.com/office/drawing/2014/main" id="{ABA708E6-19C2-9347-AA6B-BE5FA90D47DC}"/>
              </a:ext>
            </a:extLst>
          </p:cNvPr>
          <p:cNvSpPr txBox="1">
            <a:spLocks/>
          </p:cNvSpPr>
          <p:nvPr/>
        </p:nvSpPr>
        <p:spPr>
          <a:xfrm>
            <a:off x="862012" y="1981221"/>
            <a:ext cx="10508721" cy="965207"/>
          </a:xfrm>
          <a:prstGeom prst="rect">
            <a:avLst/>
          </a:prstGeom>
          <a:ln>
            <a:solidFill>
              <a:schemeClr val="tx1">
                <a:lumMod val="95000"/>
              </a:schemeClr>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b="1" i="1" u="sng" dirty="0"/>
              <a:t>Traveling Salesperson Problem</a:t>
            </a:r>
            <a:r>
              <a:rPr lang="en-US" dirty="0"/>
              <a:t>: Given a weighted graph G and start node s, find the minimum weight path starting and ending at s that visits every node exactly once.</a:t>
            </a:r>
          </a:p>
        </p:txBody>
      </p:sp>
      <p:sp>
        <p:nvSpPr>
          <p:cNvPr id="9" name="Content Placeholder 5">
            <a:extLst>
              <a:ext uri="{FF2B5EF4-FFF2-40B4-BE49-F238E27FC236}">
                <a16:creationId xmlns:a16="http://schemas.microsoft.com/office/drawing/2014/main" id="{81805EDF-DA5A-8743-9130-2554CB6CE13E}"/>
              </a:ext>
            </a:extLst>
          </p:cNvPr>
          <p:cNvSpPr txBox="1">
            <a:spLocks/>
          </p:cNvSpPr>
          <p:nvPr/>
        </p:nvSpPr>
        <p:spPr>
          <a:xfrm>
            <a:off x="4545010" y="3877734"/>
            <a:ext cx="3176588" cy="2015065"/>
          </a:xfrm>
          <a:prstGeom prst="rect">
            <a:avLst/>
          </a:prstGeom>
          <a:solidFill>
            <a:schemeClr val="tx1">
              <a:lumMod val="95000"/>
            </a:schemeClr>
          </a:solid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None/>
            </a:pPr>
            <a:r>
              <a:rPr lang="en-US" sz="2000" dirty="0">
                <a:solidFill>
                  <a:schemeClr val="bg1"/>
                </a:solidFill>
              </a:rPr>
              <a:t>Given G, s, and integer k, can you find a valid path with </a:t>
            </a:r>
            <a:r>
              <a:rPr lang="en-US" sz="2000" b="1" dirty="0">
                <a:solidFill>
                  <a:schemeClr val="bg1"/>
                </a:solidFill>
              </a:rPr>
              <a:t>total weight less than or equal to k</a:t>
            </a:r>
            <a:r>
              <a:rPr lang="en-US" sz="2000" dirty="0">
                <a:solidFill>
                  <a:schemeClr val="bg1"/>
                </a:solidFill>
              </a:rPr>
              <a:t>?</a:t>
            </a:r>
          </a:p>
        </p:txBody>
      </p:sp>
      <p:sp>
        <p:nvSpPr>
          <p:cNvPr id="10" name="Content Placeholder 5">
            <a:extLst>
              <a:ext uri="{FF2B5EF4-FFF2-40B4-BE49-F238E27FC236}">
                <a16:creationId xmlns:a16="http://schemas.microsoft.com/office/drawing/2014/main" id="{5607529C-58D7-CF44-8C7B-CE3B936EA46F}"/>
              </a:ext>
            </a:extLst>
          </p:cNvPr>
          <p:cNvSpPr txBox="1">
            <a:spLocks/>
          </p:cNvSpPr>
          <p:nvPr/>
        </p:nvSpPr>
        <p:spPr>
          <a:xfrm>
            <a:off x="8095359" y="3877734"/>
            <a:ext cx="3176588" cy="2015065"/>
          </a:xfrm>
          <a:prstGeom prst="rect">
            <a:avLst/>
          </a:prstGeom>
          <a:solidFill>
            <a:schemeClr val="tx1">
              <a:lumMod val="95000"/>
            </a:schemeClr>
          </a:solidFill>
        </p:spPr>
        <p:txBody>
          <a:bodyPr vert="horz" lIns="91440" tIns="45720" rIns="91440" bIns="45720" rtlCol="0">
            <a:normAutofit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None/>
            </a:pPr>
            <a:r>
              <a:rPr lang="en-US" sz="2000" dirty="0">
                <a:solidFill>
                  <a:schemeClr val="bg1"/>
                </a:solidFill>
              </a:rPr>
              <a:t>Given G, s, path P, and integer k</a:t>
            </a:r>
          </a:p>
          <a:p>
            <a:pPr marL="0" indent="0" algn="ctr">
              <a:buNone/>
            </a:pPr>
            <a:r>
              <a:rPr lang="en-US" sz="2000" dirty="0">
                <a:solidFill>
                  <a:schemeClr val="bg1"/>
                </a:solidFill>
              </a:rPr>
              <a:t>Is path P </a:t>
            </a:r>
            <a:r>
              <a:rPr lang="en-US" sz="2000" b="1" dirty="0">
                <a:solidFill>
                  <a:schemeClr val="bg1"/>
                </a:solidFill>
              </a:rPr>
              <a:t>valid and is it weight less than or equal to k</a:t>
            </a:r>
            <a:r>
              <a:rPr lang="en-US" sz="2000" dirty="0">
                <a:solidFill>
                  <a:schemeClr val="bg1"/>
                </a:solidFill>
              </a:rPr>
              <a:t>?</a:t>
            </a:r>
          </a:p>
        </p:txBody>
      </p:sp>
      <p:sp>
        <p:nvSpPr>
          <p:cNvPr id="11" name="Content Placeholder 5">
            <a:extLst>
              <a:ext uri="{FF2B5EF4-FFF2-40B4-BE49-F238E27FC236}">
                <a16:creationId xmlns:a16="http://schemas.microsoft.com/office/drawing/2014/main" id="{EC260FF8-2028-9F4C-8B3A-3D9C86EC46E5}"/>
              </a:ext>
            </a:extLst>
          </p:cNvPr>
          <p:cNvSpPr txBox="1">
            <a:spLocks/>
          </p:cNvSpPr>
          <p:nvPr/>
        </p:nvSpPr>
        <p:spPr>
          <a:xfrm>
            <a:off x="878944" y="3259667"/>
            <a:ext cx="3176588" cy="618067"/>
          </a:xfrm>
          <a:prstGeom prst="rect">
            <a:avLst/>
          </a:prstGeom>
        </p:spPr>
        <p:txBody>
          <a:bodyPr vert="horz" lIns="91440" tIns="45720" rIns="91440" bIns="45720" rtlCol="0">
            <a:normAutofit fontScale="850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None/>
            </a:pPr>
            <a:r>
              <a:rPr lang="en-US" sz="2000" b="1" i="1" u="sng" dirty="0"/>
              <a:t>Function Problem</a:t>
            </a:r>
            <a:r>
              <a:rPr lang="en-US" sz="2000" dirty="0"/>
              <a:t>:</a:t>
            </a:r>
            <a:br>
              <a:rPr lang="en-US" sz="2000" dirty="0"/>
            </a:br>
            <a:r>
              <a:rPr lang="en-US" sz="2000" dirty="0"/>
              <a:t>Return the actual solution</a:t>
            </a:r>
          </a:p>
        </p:txBody>
      </p:sp>
      <p:sp>
        <p:nvSpPr>
          <p:cNvPr id="12" name="Content Placeholder 5">
            <a:extLst>
              <a:ext uri="{FF2B5EF4-FFF2-40B4-BE49-F238E27FC236}">
                <a16:creationId xmlns:a16="http://schemas.microsoft.com/office/drawing/2014/main" id="{8DEAFEE1-7690-E647-8B01-C380813AB00F}"/>
              </a:ext>
            </a:extLst>
          </p:cNvPr>
          <p:cNvSpPr txBox="1">
            <a:spLocks/>
          </p:cNvSpPr>
          <p:nvPr/>
        </p:nvSpPr>
        <p:spPr>
          <a:xfrm>
            <a:off x="4545010" y="3251199"/>
            <a:ext cx="3176588" cy="618067"/>
          </a:xfrm>
          <a:prstGeom prst="rect">
            <a:avLst/>
          </a:prstGeom>
        </p:spPr>
        <p:txBody>
          <a:bodyPr vert="horz" lIns="91440" tIns="45720" rIns="91440" bIns="45720" rtlCol="0">
            <a:normAutofit fontScale="700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None/>
            </a:pPr>
            <a:r>
              <a:rPr lang="en-US" sz="2000" b="1" i="1" u="sng" dirty="0"/>
              <a:t>Decision Problem</a:t>
            </a:r>
            <a:r>
              <a:rPr lang="en-US" sz="2000" dirty="0"/>
              <a:t>:</a:t>
            </a:r>
            <a:br>
              <a:rPr lang="en-US" sz="2000" dirty="0"/>
            </a:br>
            <a:r>
              <a:rPr lang="en-US" sz="2000" dirty="0"/>
              <a:t>Convert problem to have Boolean output</a:t>
            </a:r>
          </a:p>
        </p:txBody>
      </p:sp>
      <p:sp>
        <p:nvSpPr>
          <p:cNvPr id="13" name="Content Placeholder 5">
            <a:extLst>
              <a:ext uri="{FF2B5EF4-FFF2-40B4-BE49-F238E27FC236}">
                <a16:creationId xmlns:a16="http://schemas.microsoft.com/office/drawing/2014/main" id="{41C6DE7C-6722-D845-AE21-F5276CE4E854}"/>
              </a:ext>
            </a:extLst>
          </p:cNvPr>
          <p:cNvSpPr txBox="1">
            <a:spLocks/>
          </p:cNvSpPr>
          <p:nvPr/>
        </p:nvSpPr>
        <p:spPr>
          <a:xfrm>
            <a:off x="8095359" y="3251199"/>
            <a:ext cx="3176588" cy="618067"/>
          </a:xfrm>
          <a:prstGeom prst="rect">
            <a:avLst/>
          </a:prstGeom>
        </p:spPr>
        <p:txBody>
          <a:bodyPr vert="horz" lIns="91440" tIns="45720" rIns="91440" bIns="45720" rtlCol="0">
            <a:normAutofit fontScale="850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None/>
            </a:pPr>
            <a:r>
              <a:rPr lang="en-US" sz="2000" b="1" i="1" u="sng" dirty="0"/>
              <a:t>Verification Problem</a:t>
            </a:r>
            <a:r>
              <a:rPr lang="en-US" sz="2000" dirty="0"/>
              <a:t>:</a:t>
            </a:r>
            <a:br>
              <a:rPr lang="en-US" sz="2000" dirty="0"/>
            </a:br>
            <a:r>
              <a:rPr lang="en-US" sz="2000" dirty="0"/>
              <a:t>Given a solution, verify if it works</a:t>
            </a:r>
          </a:p>
        </p:txBody>
      </p:sp>
    </p:spTree>
    <p:extLst>
      <p:ext uri="{BB962C8B-B14F-4D97-AF65-F5344CB8AC3E}">
        <p14:creationId xmlns:p14="http://schemas.microsoft.com/office/powerpoint/2010/main" val="26734151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9" grpId="0" animBg="1"/>
      <p:bldP spid="10" grpId="0" animBg="1"/>
      <p:bldP spid="11" grpId="0"/>
      <p:bldP spid="12" grpId="0"/>
      <p:bldP spid="13"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a:xfrm>
            <a:off x="1141413" y="237514"/>
            <a:ext cx="9905998" cy="676882"/>
          </a:xfrm>
        </p:spPr>
        <p:txBody>
          <a:bodyPr/>
          <a:lstStyle/>
          <a:p>
            <a:pPr algn="ctr"/>
            <a:r>
              <a:rPr lang="en-US" dirty="0"/>
              <a:t>Why Do These Matter?</a:t>
            </a:r>
          </a:p>
        </p:txBody>
      </p:sp>
      <p:sp>
        <p:nvSpPr>
          <p:cNvPr id="7" name="Content Placeholder 5">
            <a:extLst>
              <a:ext uri="{FF2B5EF4-FFF2-40B4-BE49-F238E27FC236}">
                <a16:creationId xmlns:a16="http://schemas.microsoft.com/office/drawing/2014/main" id="{FEF7987B-8C1A-3C40-878F-2B5D09763C34}"/>
              </a:ext>
            </a:extLst>
          </p:cNvPr>
          <p:cNvSpPr txBox="1">
            <a:spLocks/>
          </p:cNvSpPr>
          <p:nvPr/>
        </p:nvSpPr>
        <p:spPr>
          <a:xfrm>
            <a:off x="878944" y="1752598"/>
            <a:ext cx="3176588" cy="2015065"/>
          </a:xfrm>
          <a:prstGeom prst="rect">
            <a:avLst/>
          </a:prstGeom>
          <a:solidFill>
            <a:schemeClr val="tx1">
              <a:lumMod val="95000"/>
            </a:schemeClr>
          </a:solid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None/>
            </a:pPr>
            <a:r>
              <a:rPr lang="en-US" sz="2000" dirty="0">
                <a:solidFill>
                  <a:schemeClr val="bg1"/>
                </a:solidFill>
              </a:rPr>
              <a:t>Given G and s, return the weight of the path P (list of nodes to visit in order) that minimizes the sum of the weights of the edges along P.</a:t>
            </a:r>
          </a:p>
        </p:txBody>
      </p:sp>
      <p:sp>
        <p:nvSpPr>
          <p:cNvPr id="9" name="Content Placeholder 5">
            <a:extLst>
              <a:ext uri="{FF2B5EF4-FFF2-40B4-BE49-F238E27FC236}">
                <a16:creationId xmlns:a16="http://schemas.microsoft.com/office/drawing/2014/main" id="{81805EDF-DA5A-8743-9130-2554CB6CE13E}"/>
              </a:ext>
            </a:extLst>
          </p:cNvPr>
          <p:cNvSpPr txBox="1">
            <a:spLocks/>
          </p:cNvSpPr>
          <p:nvPr/>
        </p:nvSpPr>
        <p:spPr>
          <a:xfrm>
            <a:off x="4545010" y="1752598"/>
            <a:ext cx="3176588" cy="2015065"/>
          </a:xfrm>
          <a:prstGeom prst="rect">
            <a:avLst/>
          </a:prstGeom>
          <a:solidFill>
            <a:schemeClr val="tx1">
              <a:lumMod val="95000"/>
            </a:schemeClr>
          </a:solid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None/>
            </a:pPr>
            <a:r>
              <a:rPr lang="en-US" sz="2000" dirty="0">
                <a:solidFill>
                  <a:schemeClr val="bg1"/>
                </a:solidFill>
              </a:rPr>
              <a:t>Given G, s, and integer k, can you find a valid path with total weight less than or equal to k?</a:t>
            </a:r>
          </a:p>
        </p:txBody>
      </p:sp>
      <p:sp>
        <p:nvSpPr>
          <p:cNvPr id="10" name="Content Placeholder 5">
            <a:extLst>
              <a:ext uri="{FF2B5EF4-FFF2-40B4-BE49-F238E27FC236}">
                <a16:creationId xmlns:a16="http://schemas.microsoft.com/office/drawing/2014/main" id="{5607529C-58D7-CF44-8C7B-CE3B936EA46F}"/>
              </a:ext>
            </a:extLst>
          </p:cNvPr>
          <p:cNvSpPr txBox="1">
            <a:spLocks/>
          </p:cNvSpPr>
          <p:nvPr/>
        </p:nvSpPr>
        <p:spPr>
          <a:xfrm>
            <a:off x="8095359" y="1752598"/>
            <a:ext cx="3176588" cy="2015065"/>
          </a:xfrm>
          <a:prstGeom prst="rect">
            <a:avLst/>
          </a:prstGeom>
          <a:solidFill>
            <a:schemeClr val="tx1">
              <a:lumMod val="95000"/>
            </a:schemeClr>
          </a:solidFill>
        </p:spPr>
        <p:txBody>
          <a:bodyPr vert="horz" lIns="91440" tIns="45720" rIns="91440" bIns="45720" rtlCol="0">
            <a:normAutofit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None/>
            </a:pPr>
            <a:r>
              <a:rPr lang="en-US" sz="2000" dirty="0">
                <a:solidFill>
                  <a:schemeClr val="bg1"/>
                </a:solidFill>
              </a:rPr>
              <a:t>Given G, s, path P, and integer k</a:t>
            </a:r>
          </a:p>
          <a:p>
            <a:pPr marL="0" indent="0" algn="ctr">
              <a:buNone/>
            </a:pPr>
            <a:r>
              <a:rPr lang="en-US" sz="2000" dirty="0">
                <a:solidFill>
                  <a:schemeClr val="bg1"/>
                </a:solidFill>
              </a:rPr>
              <a:t>Is path P valid and is it weight less than or equal to k?</a:t>
            </a:r>
          </a:p>
        </p:txBody>
      </p:sp>
      <p:sp>
        <p:nvSpPr>
          <p:cNvPr id="11" name="Content Placeholder 5">
            <a:extLst>
              <a:ext uri="{FF2B5EF4-FFF2-40B4-BE49-F238E27FC236}">
                <a16:creationId xmlns:a16="http://schemas.microsoft.com/office/drawing/2014/main" id="{EC260FF8-2028-9F4C-8B3A-3D9C86EC46E5}"/>
              </a:ext>
            </a:extLst>
          </p:cNvPr>
          <p:cNvSpPr txBox="1">
            <a:spLocks/>
          </p:cNvSpPr>
          <p:nvPr/>
        </p:nvSpPr>
        <p:spPr>
          <a:xfrm>
            <a:off x="878944" y="1134531"/>
            <a:ext cx="3176588" cy="618067"/>
          </a:xfrm>
          <a:prstGeom prst="rect">
            <a:avLst/>
          </a:prstGeom>
        </p:spPr>
        <p:txBody>
          <a:bodyPr vert="horz" lIns="91440" tIns="45720" rIns="91440" bIns="45720" rtlCol="0">
            <a:normAutofit fontScale="850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None/>
            </a:pPr>
            <a:r>
              <a:rPr lang="en-US" sz="2000" b="1" i="1" u="sng" dirty="0"/>
              <a:t>Function Problem</a:t>
            </a:r>
            <a:r>
              <a:rPr lang="en-US" sz="2000" dirty="0"/>
              <a:t>:</a:t>
            </a:r>
            <a:br>
              <a:rPr lang="en-US" sz="2000" dirty="0"/>
            </a:br>
            <a:r>
              <a:rPr lang="en-US" sz="2000" dirty="0"/>
              <a:t>Return the actual solution</a:t>
            </a:r>
          </a:p>
        </p:txBody>
      </p:sp>
      <p:sp>
        <p:nvSpPr>
          <p:cNvPr id="12" name="Content Placeholder 5">
            <a:extLst>
              <a:ext uri="{FF2B5EF4-FFF2-40B4-BE49-F238E27FC236}">
                <a16:creationId xmlns:a16="http://schemas.microsoft.com/office/drawing/2014/main" id="{8DEAFEE1-7690-E647-8B01-C380813AB00F}"/>
              </a:ext>
            </a:extLst>
          </p:cNvPr>
          <p:cNvSpPr txBox="1">
            <a:spLocks/>
          </p:cNvSpPr>
          <p:nvPr/>
        </p:nvSpPr>
        <p:spPr>
          <a:xfrm>
            <a:off x="4545010" y="1126063"/>
            <a:ext cx="3176588" cy="618067"/>
          </a:xfrm>
          <a:prstGeom prst="rect">
            <a:avLst/>
          </a:prstGeom>
        </p:spPr>
        <p:txBody>
          <a:bodyPr vert="horz" lIns="91440" tIns="45720" rIns="91440" bIns="45720" rtlCol="0">
            <a:normAutofit fontScale="700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None/>
            </a:pPr>
            <a:r>
              <a:rPr lang="en-US" sz="2000" b="1" i="1" u="sng" dirty="0"/>
              <a:t>Decision Problem</a:t>
            </a:r>
            <a:r>
              <a:rPr lang="en-US" sz="2000" dirty="0"/>
              <a:t>:</a:t>
            </a:r>
            <a:br>
              <a:rPr lang="en-US" sz="2000" dirty="0"/>
            </a:br>
            <a:r>
              <a:rPr lang="en-US" sz="2000" dirty="0"/>
              <a:t>Convert problem to have Boolean output</a:t>
            </a:r>
          </a:p>
        </p:txBody>
      </p:sp>
      <p:sp>
        <p:nvSpPr>
          <p:cNvPr id="13" name="Content Placeholder 5">
            <a:extLst>
              <a:ext uri="{FF2B5EF4-FFF2-40B4-BE49-F238E27FC236}">
                <a16:creationId xmlns:a16="http://schemas.microsoft.com/office/drawing/2014/main" id="{41C6DE7C-6722-D845-AE21-F5276CE4E854}"/>
              </a:ext>
            </a:extLst>
          </p:cNvPr>
          <p:cNvSpPr txBox="1">
            <a:spLocks/>
          </p:cNvSpPr>
          <p:nvPr/>
        </p:nvSpPr>
        <p:spPr>
          <a:xfrm>
            <a:off x="8095359" y="1126063"/>
            <a:ext cx="3176588" cy="618067"/>
          </a:xfrm>
          <a:prstGeom prst="rect">
            <a:avLst/>
          </a:prstGeom>
        </p:spPr>
        <p:txBody>
          <a:bodyPr vert="horz" lIns="91440" tIns="45720" rIns="91440" bIns="45720" rtlCol="0">
            <a:normAutofit fontScale="850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None/>
            </a:pPr>
            <a:r>
              <a:rPr lang="en-US" sz="2000" b="1" i="1" u="sng" dirty="0"/>
              <a:t>Verification Problem</a:t>
            </a:r>
            <a:r>
              <a:rPr lang="en-US" sz="2000" dirty="0"/>
              <a:t>:</a:t>
            </a:r>
            <a:br>
              <a:rPr lang="en-US" sz="2000" dirty="0"/>
            </a:br>
            <a:r>
              <a:rPr lang="en-US" sz="2000" dirty="0"/>
              <a:t>Given a solution, verify if it works</a:t>
            </a:r>
          </a:p>
        </p:txBody>
      </p:sp>
      <p:sp>
        <p:nvSpPr>
          <p:cNvPr id="14" name="Content Placeholder 5">
            <a:extLst>
              <a:ext uri="{FF2B5EF4-FFF2-40B4-BE49-F238E27FC236}">
                <a16:creationId xmlns:a16="http://schemas.microsoft.com/office/drawing/2014/main" id="{C3EBCF12-1FD8-F641-A6C4-7F593DE1AB61}"/>
              </a:ext>
            </a:extLst>
          </p:cNvPr>
          <p:cNvSpPr txBox="1">
            <a:spLocks/>
          </p:cNvSpPr>
          <p:nvPr/>
        </p:nvSpPr>
        <p:spPr>
          <a:xfrm>
            <a:off x="2123543" y="4851397"/>
            <a:ext cx="3523723" cy="1295402"/>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None/>
            </a:pPr>
            <a:r>
              <a:rPr lang="en-US" sz="2000" dirty="0">
                <a:solidFill>
                  <a:schemeClr val="accent1"/>
                </a:solidFill>
              </a:rPr>
              <a:t>If you can solve the decision problem you can also solve the function problem Why?</a:t>
            </a:r>
          </a:p>
        </p:txBody>
      </p:sp>
      <p:cxnSp>
        <p:nvCxnSpPr>
          <p:cNvPr id="15" name="Straight Connector 14">
            <a:extLst>
              <a:ext uri="{FF2B5EF4-FFF2-40B4-BE49-F238E27FC236}">
                <a16:creationId xmlns:a16="http://schemas.microsoft.com/office/drawing/2014/main" id="{7CEDBD6D-46ED-FD44-B640-46B6AE3D5C8E}"/>
              </a:ext>
            </a:extLst>
          </p:cNvPr>
          <p:cNvCxnSpPr>
            <a:cxnSpLocks/>
          </p:cNvCxnSpPr>
          <p:nvPr/>
        </p:nvCxnSpPr>
        <p:spPr>
          <a:xfrm flipH="1">
            <a:off x="4631268" y="3928533"/>
            <a:ext cx="905932" cy="922864"/>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7F48F24A-F889-6341-BC9F-558A13195AD0}"/>
              </a:ext>
            </a:extLst>
          </p:cNvPr>
          <p:cNvCxnSpPr>
            <a:cxnSpLocks/>
          </p:cNvCxnSpPr>
          <p:nvPr/>
        </p:nvCxnSpPr>
        <p:spPr>
          <a:xfrm>
            <a:off x="2683933" y="3928533"/>
            <a:ext cx="465667" cy="1015994"/>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8" name="Content Placeholder 5">
            <a:extLst>
              <a:ext uri="{FF2B5EF4-FFF2-40B4-BE49-F238E27FC236}">
                <a16:creationId xmlns:a16="http://schemas.microsoft.com/office/drawing/2014/main" id="{51D5513D-27E6-754B-B2FD-825E4C2ECC92}"/>
              </a:ext>
            </a:extLst>
          </p:cNvPr>
          <p:cNvSpPr txBox="1">
            <a:spLocks/>
          </p:cNvSpPr>
          <p:nvPr/>
        </p:nvSpPr>
        <p:spPr>
          <a:xfrm>
            <a:off x="6207656" y="4389965"/>
            <a:ext cx="3523723" cy="2180168"/>
          </a:xfrm>
          <a:prstGeom prst="rect">
            <a:avLst/>
          </a:prstGeom>
          <a:ln>
            <a:solidFill>
              <a:schemeClr val="accent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None/>
            </a:pPr>
            <a:r>
              <a:rPr lang="en-US" sz="2000" dirty="0">
                <a:solidFill>
                  <a:schemeClr val="accent1"/>
                </a:solidFill>
              </a:rPr>
              <a:t>Because if you can solve the decision problem, you can repeatedly invoke it with lower values of k until the Yes responses change to No</a:t>
            </a:r>
          </a:p>
        </p:txBody>
      </p:sp>
    </p:spTree>
    <p:extLst>
      <p:ext uri="{BB962C8B-B14F-4D97-AF65-F5344CB8AC3E}">
        <p14:creationId xmlns:p14="http://schemas.microsoft.com/office/powerpoint/2010/main" val="197041232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a:xfrm>
            <a:off x="1141413" y="237514"/>
            <a:ext cx="9905998" cy="676882"/>
          </a:xfrm>
        </p:spPr>
        <p:txBody>
          <a:bodyPr/>
          <a:lstStyle/>
          <a:p>
            <a:pPr algn="ctr"/>
            <a:r>
              <a:rPr lang="en-US" dirty="0"/>
              <a:t>Why Do These Matter?</a:t>
            </a:r>
          </a:p>
        </p:txBody>
      </p:sp>
      <p:sp>
        <p:nvSpPr>
          <p:cNvPr id="7" name="Content Placeholder 5">
            <a:extLst>
              <a:ext uri="{FF2B5EF4-FFF2-40B4-BE49-F238E27FC236}">
                <a16:creationId xmlns:a16="http://schemas.microsoft.com/office/drawing/2014/main" id="{FEF7987B-8C1A-3C40-878F-2B5D09763C34}"/>
              </a:ext>
            </a:extLst>
          </p:cNvPr>
          <p:cNvSpPr txBox="1">
            <a:spLocks/>
          </p:cNvSpPr>
          <p:nvPr/>
        </p:nvSpPr>
        <p:spPr>
          <a:xfrm>
            <a:off x="878944" y="1752598"/>
            <a:ext cx="3176588" cy="2015065"/>
          </a:xfrm>
          <a:prstGeom prst="rect">
            <a:avLst/>
          </a:prstGeom>
          <a:solidFill>
            <a:schemeClr val="tx1">
              <a:lumMod val="95000"/>
            </a:schemeClr>
          </a:solid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None/>
            </a:pPr>
            <a:r>
              <a:rPr lang="en-US" sz="2000" dirty="0">
                <a:solidFill>
                  <a:schemeClr val="bg1"/>
                </a:solidFill>
              </a:rPr>
              <a:t>Given G and s, return the weight of the path P (list of nodes to visit in order) that minimizes the sum of the weights of the edges along P.</a:t>
            </a:r>
          </a:p>
        </p:txBody>
      </p:sp>
      <p:sp>
        <p:nvSpPr>
          <p:cNvPr id="9" name="Content Placeholder 5">
            <a:extLst>
              <a:ext uri="{FF2B5EF4-FFF2-40B4-BE49-F238E27FC236}">
                <a16:creationId xmlns:a16="http://schemas.microsoft.com/office/drawing/2014/main" id="{81805EDF-DA5A-8743-9130-2554CB6CE13E}"/>
              </a:ext>
            </a:extLst>
          </p:cNvPr>
          <p:cNvSpPr txBox="1">
            <a:spLocks/>
          </p:cNvSpPr>
          <p:nvPr/>
        </p:nvSpPr>
        <p:spPr>
          <a:xfrm>
            <a:off x="4545010" y="1752598"/>
            <a:ext cx="3176588" cy="2015065"/>
          </a:xfrm>
          <a:prstGeom prst="rect">
            <a:avLst/>
          </a:prstGeom>
          <a:solidFill>
            <a:schemeClr val="tx1">
              <a:lumMod val="95000"/>
            </a:schemeClr>
          </a:solid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None/>
            </a:pPr>
            <a:r>
              <a:rPr lang="en-US" sz="2000" dirty="0">
                <a:solidFill>
                  <a:schemeClr val="bg1"/>
                </a:solidFill>
              </a:rPr>
              <a:t>Given G, s, and integer k, can you find a valid path with total weight less than k?</a:t>
            </a:r>
          </a:p>
        </p:txBody>
      </p:sp>
      <p:sp>
        <p:nvSpPr>
          <p:cNvPr id="10" name="Content Placeholder 5">
            <a:extLst>
              <a:ext uri="{FF2B5EF4-FFF2-40B4-BE49-F238E27FC236}">
                <a16:creationId xmlns:a16="http://schemas.microsoft.com/office/drawing/2014/main" id="{5607529C-58D7-CF44-8C7B-CE3B936EA46F}"/>
              </a:ext>
            </a:extLst>
          </p:cNvPr>
          <p:cNvSpPr txBox="1">
            <a:spLocks/>
          </p:cNvSpPr>
          <p:nvPr/>
        </p:nvSpPr>
        <p:spPr>
          <a:xfrm>
            <a:off x="8095359" y="1752598"/>
            <a:ext cx="3176588" cy="2015065"/>
          </a:xfrm>
          <a:prstGeom prst="rect">
            <a:avLst/>
          </a:prstGeom>
          <a:solidFill>
            <a:schemeClr val="tx1">
              <a:lumMod val="95000"/>
            </a:schemeClr>
          </a:solidFill>
        </p:spPr>
        <p:txBody>
          <a:bodyPr vert="horz" lIns="91440" tIns="45720" rIns="91440" bIns="45720" rtlCol="0">
            <a:normAutofit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None/>
            </a:pPr>
            <a:r>
              <a:rPr lang="en-US" sz="2000" dirty="0">
                <a:solidFill>
                  <a:schemeClr val="bg1"/>
                </a:solidFill>
              </a:rPr>
              <a:t>Given G, s, path P, and integer k</a:t>
            </a:r>
          </a:p>
          <a:p>
            <a:pPr marL="0" indent="0" algn="ctr">
              <a:buNone/>
            </a:pPr>
            <a:r>
              <a:rPr lang="en-US" sz="2000" dirty="0">
                <a:solidFill>
                  <a:schemeClr val="bg1"/>
                </a:solidFill>
              </a:rPr>
              <a:t>Is path P valid and is it weight less than or equal to k?</a:t>
            </a:r>
          </a:p>
        </p:txBody>
      </p:sp>
      <p:sp>
        <p:nvSpPr>
          <p:cNvPr id="11" name="Content Placeholder 5">
            <a:extLst>
              <a:ext uri="{FF2B5EF4-FFF2-40B4-BE49-F238E27FC236}">
                <a16:creationId xmlns:a16="http://schemas.microsoft.com/office/drawing/2014/main" id="{EC260FF8-2028-9F4C-8B3A-3D9C86EC46E5}"/>
              </a:ext>
            </a:extLst>
          </p:cNvPr>
          <p:cNvSpPr txBox="1">
            <a:spLocks/>
          </p:cNvSpPr>
          <p:nvPr/>
        </p:nvSpPr>
        <p:spPr>
          <a:xfrm>
            <a:off x="878944" y="1134531"/>
            <a:ext cx="3176588" cy="618067"/>
          </a:xfrm>
          <a:prstGeom prst="rect">
            <a:avLst/>
          </a:prstGeom>
        </p:spPr>
        <p:txBody>
          <a:bodyPr vert="horz" lIns="91440" tIns="45720" rIns="91440" bIns="45720" rtlCol="0">
            <a:normAutofit fontScale="850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None/>
            </a:pPr>
            <a:r>
              <a:rPr lang="en-US" sz="2000" b="1" i="1" u="sng" dirty="0"/>
              <a:t>Function Problem</a:t>
            </a:r>
            <a:r>
              <a:rPr lang="en-US" sz="2000" dirty="0"/>
              <a:t>:</a:t>
            </a:r>
            <a:br>
              <a:rPr lang="en-US" sz="2000" dirty="0"/>
            </a:br>
            <a:r>
              <a:rPr lang="en-US" sz="2000" dirty="0"/>
              <a:t>Return the actual solution</a:t>
            </a:r>
          </a:p>
        </p:txBody>
      </p:sp>
      <p:sp>
        <p:nvSpPr>
          <p:cNvPr id="12" name="Content Placeholder 5">
            <a:extLst>
              <a:ext uri="{FF2B5EF4-FFF2-40B4-BE49-F238E27FC236}">
                <a16:creationId xmlns:a16="http://schemas.microsoft.com/office/drawing/2014/main" id="{8DEAFEE1-7690-E647-8B01-C380813AB00F}"/>
              </a:ext>
            </a:extLst>
          </p:cNvPr>
          <p:cNvSpPr txBox="1">
            <a:spLocks/>
          </p:cNvSpPr>
          <p:nvPr/>
        </p:nvSpPr>
        <p:spPr>
          <a:xfrm>
            <a:off x="4545010" y="1126063"/>
            <a:ext cx="3176588" cy="618067"/>
          </a:xfrm>
          <a:prstGeom prst="rect">
            <a:avLst/>
          </a:prstGeom>
        </p:spPr>
        <p:txBody>
          <a:bodyPr vert="horz" lIns="91440" tIns="45720" rIns="91440" bIns="45720" rtlCol="0">
            <a:normAutofit fontScale="700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None/>
            </a:pPr>
            <a:r>
              <a:rPr lang="en-US" sz="2000" b="1" i="1" u="sng" dirty="0"/>
              <a:t>Decision Problem</a:t>
            </a:r>
            <a:r>
              <a:rPr lang="en-US" sz="2000" dirty="0"/>
              <a:t>:</a:t>
            </a:r>
            <a:br>
              <a:rPr lang="en-US" sz="2000" dirty="0"/>
            </a:br>
            <a:r>
              <a:rPr lang="en-US" sz="2000" dirty="0"/>
              <a:t>Convert problem to have Boolean output</a:t>
            </a:r>
          </a:p>
        </p:txBody>
      </p:sp>
      <p:sp>
        <p:nvSpPr>
          <p:cNvPr id="13" name="Content Placeholder 5">
            <a:extLst>
              <a:ext uri="{FF2B5EF4-FFF2-40B4-BE49-F238E27FC236}">
                <a16:creationId xmlns:a16="http://schemas.microsoft.com/office/drawing/2014/main" id="{41C6DE7C-6722-D845-AE21-F5276CE4E854}"/>
              </a:ext>
            </a:extLst>
          </p:cNvPr>
          <p:cNvSpPr txBox="1">
            <a:spLocks/>
          </p:cNvSpPr>
          <p:nvPr/>
        </p:nvSpPr>
        <p:spPr>
          <a:xfrm>
            <a:off x="8095359" y="1126063"/>
            <a:ext cx="3176588" cy="618067"/>
          </a:xfrm>
          <a:prstGeom prst="rect">
            <a:avLst/>
          </a:prstGeom>
        </p:spPr>
        <p:txBody>
          <a:bodyPr vert="horz" lIns="91440" tIns="45720" rIns="91440" bIns="45720" rtlCol="0">
            <a:normAutofit fontScale="850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None/>
            </a:pPr>
            <a:r>
              <a:rPr lang="en-US" sz="2000" b="1" i="1" u="sng" dirty="0"/>
              <a:t>Verification Problem</a:t>
            </a:r>
            <a:r>
              <a:rPr lang="en-US" sz="2000" dirty="0"/>
              <a:t>:</a:t>
            </a:r>
            <a:br>
              <a:rPr lang="en-US" sz="2000" dirty="0"/>
            </a:br>
            <a:r>
              <a:rPr lang="en-US" sz="2000" dirty="0"/>
              <a:t>Given a solution, verify if it works</a:t>
            </a:r>
          </a:p>
        </p:txBody>
      </p:sp>
      <p:sp>
        <p:nvSpPr>
          <p:cNvPr id="14" name="Content Placeholder 5">
            <a:extLst>
              <a:ext uri="{FF2B5EF4-FFF2-40B4-BE49-F238E27FC236}">
                <a16:creationId xmlns:a16="http://schemas.microsoft.com/office/drawing/2014/main" id="{C3EBCF12-1FD8-F641-A6C4-7F593DE1AB61}"/>
              </a:ext>
            </a:extLst>
          </p:cNvPr>
          <p:cNvSpPr txBox="1">
            <a:spLocks/>
          </p:cNvSpPr>
          <p:nvPr/>
        </p:nvSpPr>
        <p:spPr>
          <a:xfrm>
            <a:off x="5959736" y="4876797"/>
            <a:ext cx="3523723" cy="1295402"/>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None/>
            </a:pPr>
            <a:r>
              <a:rPr lang="en-US" sz="2000" dirty="0">
                <a:solidFill>
                  <a:schemeClr val="accent1"/>
                </a:solidFill>
              </a:rPr>
              <a:t>If you can solve the verification problem, does it help you solve the decision problem?</a:t>
            </a:r>
          </a:p>
        </p:txBody>
      </p:sp>
      <p:cxnSp>
        <p:nvCxnSpPr>
          <p:cNvPr id="15" name="Straight Connector 14">
            <a:extLst>
              <a:ext uri="{FF2B5EF4-FFF2-40B4-BE49-F238E27FC236}">
                <a16:creationId xmlns:a16="http://schemas.microsoft.com/office/drawing/2014/main" id="{7CEDBD6D-46ED-FD44-B640-46B6AE3D5C8E}"/>
              </a:ext>
            </a:extLst>
          </p:cNvPr>
          <p:cNvCxnSpPr>
            <a:cxnSpLocks/>
          </p:cNvCxnSpPr>
          <p:nvPr/>
        </p:nvCxnSpPr>
        <p:spPr>
          <a:xfrm flipH="1">
            <a:off x="8467461" y="3953933"/>
            <a:ext cx="905932" cy="922864"/>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7F48F24A-F889-6341-BC9F-558A13195AD0}"/>
              </a:ext>
            </a:extLst>
          </p:cNvPr>
          <p:cNvCxnSpPr>
            <a:cxnSpLocks/>
          </p:cNvCxnSpPr>
          <p:nvPr/>
        </p:nvCxnSpPr>
        <p:spPr>
          <a:xfrm>
            <a:off x="6520126" y="3953933"/>
            <a:ext cx="465667" cy="1015994"/>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7" name="Content Placeholder 5">
            <a:extLst>
              <a:ext uri="{FF2B5EF4-FFF2-40B4-BE49-F238E27FC236}">
                <a16:creationId xmlns:a16="http://schemas.microsoft.com/office/drawing/2014/main" id="{75E4974E-7D14-8640-9A14-FB77A5C11C95}"/>
              </a:ext>
            </a:extLst>
          </p:cNvPr>
          <p:cNvSpPr txBox="1">
            <a:spLocks/>
          </p:cNvSpPr>
          <p:nvPr/>
        </p:nvSpPr>
        <p:spPr>
          <a:xfrm>
            <a:off x="2039669" y="4229096"/>
            <a:ext cx="3523723" cy="2324104"/>
          </a:xfrm>
          <a:prstGeom prst="rect">
            <a:avLst/>
          </a:prstGeom>
          <a:ln>
            <a:solidFill>
              <a:schemeClr val="accent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None/>
            </a:pPr>
            <a:r>
              <a:rPr lang="en-US" sz="2000" dirty="0">
                <a:solidFill>
                  <a:schemeClr val="accent1"/>
                </a:solidFill>
              </a:rPr>
              <a:t>Answer: Yes! If verifier exists, we can call the verifier over and over again with possible paths until we get a Yes response. We will see soon though that this is usually NOT efficient</a:t>
            </a:r>
          </a:p>
        </p:txBody>
      </p:sp>
    </p:spTree>
    <p:extLst>
      <p:ext uri="{BB962C8B-B14F-4D97-AF65-F5344CB8AC3E}">
        <p14:creationId xmlns:p14="http://schemas.microsoft.com/office/powerpoint/2010/main" val="390198556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a:xfrm>
            <a:off x="1141413" y="237514"/>
            <a:ext cx="9905998" cy="676882"/>
          </a:xfrm>
        </p:spPr>
        <p:txBody>
          <a:bodyPr/>
          <a:lstStyle/>
          <a:p>
            <a:pPr algn="ctr"/>
            <a:r>
              <a:rPr lang="en-US" dirty="0"/>
              <a:t>Why Do These Matter?</a:t>
            </a:r>
          </a:p>
        </p:txBody>
      </p:sp>
      <p:sp>
        <p:nvSpPr>
          <p:cNvPr id="7" name="Content Placeholder 5">
            <a:extLst>
              <a:ext uri="{FF2B5EF4-FFF2-40B4-BE49-F238E27FC236}">
                <a16:creationId xmlns:a16="http://schemas.microsoft.com/office/drawing/2014/main" id="{FEF7987B-8C1A-3C40-878F-2B5D09763C34}"/>
              </a:ext>
            </a:extLst>
          </p:cNvPr>
          <p:cNvSpPr txBox="1">
            <a:spLocks/>
          </p:cNvSpPr>
          <p:nvPr/>
        </p:nvSpPr>
        <p:spPr>
          <a:xfrm>
            <a:off x="878944" y="1752598"/>
            <a:ext cx="3176588" cy="2015065"/>
          </a:xfrm>
          <a:prstGeom prst="rect">
            <a:avLst/>
          </a:prstGeom>
          <a:solidFill>
            <a:schemeClr val="tx1">
              <a:lumMod val="95000"/>
            </a:schemeClr>
          </a:solid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None/>
            </a:pPr>
            <a:r>
              <a:rPr lang="en-US" sz="2000" dirty="0">
                <a:solidFill>
                  <a:schemeClr val="bg1"/>
                </a:solidFill>
              </a:rPr>
              <a:t>Given G and s, return the weight of the path P (list of nodes to visit in order) that minimizes the sum of the weights of the edges along P.</a:t>
            </a:r>
          </a:p>
        </p:txBody>
      </p:sp>
      <p:sp>
        <p:nvSpPr>
          <p:cNvPr id="9" name="Content Placeholder 5">
            <a:extLst>
              <a:ext uri="{FF2B5EF4-FFF2-40B4-BE49-F238E27FC236}">
                <a16:creationId xmlns:a16="http://schemas.microsoft.com/office/drawing/2014/main" id="{81805EDF-DA5A-8743-9130-2554CB6CE13E}"/>
              </a:ext>
            </a:extLst>
          </p:cNvPr>
          <p:cNvSpPr txBox="1">
            <a:spLocks/>
          </p:cNvSpPr>
          <p:nvPr/>
        </p:nvSpPr>
        <p:spPr>
          <a:xfrm>
            <a:off x="4545010" y="1752598"/>
            <a:ext cx="3176588" cy="2015065"/>
          </a:xfrm>
          <a:prstGeom prst="rect">
            <a:avLst/>
          </a:prstGeom>
          <a:solidFill>
            <a:schemeClr val="tx1">
              <a:lumMod val="95000"/>
            </a:schemeClr>
          </a:solid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None/>
            </a:pPr>
            <a:r>
              <a:rPr lang="en-US" sz="2000" dirty="0">
                <a:solidFill>
                  <a:schemeClr val="bg1"/>
                </a:solidFill>
              </a:rPr>
              <a:t>Given G, s, and integer k, can you find a valid path with total weight less than k?</a:t>
            </a:r>
          </a:p>
        </p:txBody>
      </p:sp>
      <p:sp>
        <p:nvSpPr>
          <p:cNvPr id="10" name="Content Placeholder 5">
            <a:extLst>
              <a:ext uri="{FF2B5EF4-FFF2-40B4-BE49-F238E27FC236}">
                <a16:creationId xmlns:a16="http://schemas.microsoft.com/office/drawing/2014/main" id="{5607529C-58D7-CF44-8C7B-CE3B936EA46F}"/>
              </a:ext>
            </a:extLst>
          </p:cNvPr>
          <p:cNvSpPr txBox="1">
            <a:spLocks/>
          </p:cNvSpPr>
          <p:nvPr/>
        </p:nvSpPr>
        <p:spPr>
          <a:xfrm>
            <a:off x="8095359" y="1752598"/>
            <a:ext cx="3176588" cy="2015065"/>
          </a:xfrm>
          <a:prstGeom prst="rect">
            <a:avLst/>
          </a:prstGeom>
          <a:solidFill>
            <a:schemeClr val="tx1">
              <a:lumMod val="95000"/>
            </a:schemeClr>
          </a:solidFill>
        </p:spPr>
        <p:txBody>
          <a:bodyPr vert="horz" lIns="91440" tIns="45720" rIns="91440" bIns="45720" rtlCol="0">
            <a:normAutofit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None/>
            </a:pPr>
            <a:r>
              <a:rPr lang="en-US" sz="2000" dirty="0">
                <a:solidFill>
                  <a:schemeClr val="bg1"/>
                </a:solidFill>
              </a:rPr>
              <a:t>Given G, s, path P, and integer k</a:t>
            </a:r>
          </a:p>
          <a:p>
            <a:pPr marL="0" indent="0" algn="ctr">
              <a:buNone/>
            </a:pPr>
            <a:r>
              <a:rPr lang="en-US" sz="2000" dirty="0">
                <a:solidFill>
                  <a:schemeClr val="bg1"/>
                </a:solidFill>
              </a:rPr>
              <a:t>Is path P valid and is it weight less than or equal to k?</a:t>
            </a:r>
          </a:p>
        </p:txBody>
      </p:sp>
      <p:sp>
        <p:nvSpPr>
          <p:cNvPr id="11" name="Content Placeholder 5">
            <a:extLst>
              <a:ext uri="{FF2B5EF4-FFF2-40B4-BE49-F238E27FC236}">
                <a16:creationId xmlns:a16="http://schemas.microsoft.com/office/drawing/2014/main" id="{EC260FF8-2028-9F4C-8B3A-3D9C86EC46E5}"/>
              </a:ext>
            </a:extLst>
          </p:cNvPr>
          <p:cNvSpPr txBox="1">
            <a:spLocks/>
          </p:cNvSpPr>
          <p:nvPr/>
        </p:nvSpPr>
        <p:spPr>
          <a:xfrm>
            <a:off x="878944" y="1134531"/>
            <a:ext cx="3176588" cy="618067"/>
          </a:xfrm>
          <a:prstGeom prst="rect">
            <a:avLst/>
          </a:prstGeom>
        </p:spPr>
        <p:txBody>
          <a:bodyPr vert="horz" lIns="91440" tIns="45720" rIns="91440" bIns="45720" rtlCol="0">
            <a:normAutofit fontScale="850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None/>
            </a:pPr>
            <a:r>
              <a:rPr lang="en-US" sz="2000" b="1" i="1" u="sng" dirty="0"/>
              <a:t>Function Problem</a:t>
            </a:r>
            <a:r>
              <a:rPr lang="en-US" sz="2000" dirty="0"/>
              <a:t>:</a:t>
            </a:r>
            <a:br>
              <a:rPr lang="en-US" sz="2000" dirty="0"/>
            </a:br>
            <a:r>
              <a:rPr lang="en-US" sz="2000" dirty="0"/>
              <a:t>Return the actual solution</a:t>
            </a:r>
          </a:p>
        </p:txBody>
      </p:sp>
      <p:sp>
        <p:nvSpPr>
          <p:cNvPr id="12" name="Content Placeholder 5">
            <a:extLst>
              <a:ext uri="{FF2B5EF4-FFF2-40B4-BE49-F238E27FC236}">
                <a16:creationId xmlns:a16="http://schemas.microsoft.com/office/drawing/2014/main" id="{8DEAFEE1-7690-E647-8B01-C380813AB00F}"/>
              </a:ext>
            </a:extLst>
          </p:cNvPr>
          <p:cNvSpPr txBox="1">
            <a:spLocks/>
          </p:cNvSpPr>
          <p:nvPr/>
        </p:nvSpPr>
        <p:spPr>
          <a:xfrm>
            <a:off x="4545010" y="1126063"/>
            <a:ext cx="3176588" cy="618067"/>
          </a:xfrm>
          <a:prstGeom prst="rect">
            <a:avLst/>
          </a:prstGeom>
        </p:spPr>
        <p:txBody>
          <a:bodyPr vert="horz" lIns="91440" tIns="45720" rIns="91440" bIns="45720" rtlCol="0">
            <a:normAutofit fontScale="700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None/>
            </a:pPr>
            <a:r>
              <a:rPr lang="en-US" sz="2000" b="1" i="1" u="sng" dirty="0"/>
              <a:t>Decision Problem</a:t>
            </a:r>
            <a:r>
              <a:rPr lang="en-US" sz="2000" dirty="0"/>
              <a:t>:</a:t>
            </a:r>
            <a:br>
              <a:rPr lang="en-US" sz="2000" dirty="0"/>
            </a:br>
            <a:r>
              <a:rPr lang="en-US" sz="2000" dirty="0"/>
              <a:t>Convert problem to have Boolean output</a:t>
            </a:r>
          </a:p>
        </p:txBody>
      </p:sp>
      <p:sp>
        <p:nvSpPr>
          <p:cNvPr id="13" name="Content Placeholder 5">
            <a:extLst>
              <a:ext uri="{FF2B5EF4-FFF2-40B4-BE49-F238E27FC236}">
                <a16:creationId xmlns:a16="http://schemas.microsoft.com/office/drawing/2014/main" id="{41C6DE7C-6722-D845-AE21-F5276CE4E854}"/>
              </a:ext>
            </a:extLst>
          </p:cNvPr>
          <p:cNvSpPr txBox="1">
            <a:spLocks/>
          </p:cNvSpPr>
          <p:nvPr/>
        </p:nvSpPr>
        <p:spPr>
          <a:xfrm>
            <a:off x="8095359" y="1126063"/>
            <a:ext cx="3176588" cy="618067"/>
          </a:xfrm>
          <a:prstGeom prst="rect">
            <a:avLst/>
          </a:prstGeom>
        </p:spPr>
        <p:txBody>
          <a:bodyPr vert="horz" lIns="91440" tIns="45720" rIns="91440" bIns="45720" rtlCol="0">
            <a:normAutofit fontScale="850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None/>
            </a:pPr>
            <a:r>
              <a:rPr lang="en-US" sz="2000" b="1" i="1" u="sng" dirty="0"/>
              <a:t>Verification Problem</a:t>
            </a:r>
            <a:r>
              <a:rPr lang="en-US" sz="2000" dirty="0"/>
              <a:t>:</a:t>
            </a:r>
            <a:br>
              <a:rPr lang="en-US" sz="2000" dirty="0"/>
            </a:br>
            <a:r>
              <a:rPr lang="en-US" sz="2000" dirty="0"/>
              <a:t>Given a solution, verify if it works</a:t>
            </a:r>
          </a:p>
        </p:txBody>
      </p:sp>
      <p:sp>
        <p:nvSpPr>
          <p:cNvPr id="14" name="Content Placeholder 5">
            <a:extLst>
              <a:ext uri="{FF2B5EF4-FFF2-40B4-BE49-F238E27FC236}">
                <a16:creationId xmlns:a16="http://schemas.microsoft.com/office/drawing/2014/main" id="{C3EBCF12-1FD8-F641-A6C4-7F593DE1AB61}"/>
              </a:ext>
            </a:extLst>
          </p:cNvPr>
          <p:cNvSpPr txBox="1">
            <a:spLocks/>
          </p:cNvSpPr>
          <p:nvPr/>
        </p:nvSpPr>
        <p:spPr>
          <a:xfrm>
            <a:off x="5959736" y="4876797"/>
            <a:ext cx="3523723" cy="1295402"/>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None/>
            </a:pPr>
            <a:r>
              <a:rPr lang="en-US" sz="2000" dirty="0">
                <a:solidFill>
                  <a:schemeClr val="accent1"/>
                </a:solidFill>
              </a:rPr>
              <a:t>We will focus on these two from now on because Turing machines return Yes/No answers.</a:t>
            </a:r>
          </a:p>
        </p:txBody>
      </p:sp>
      <p:cxnSp>
        <p:nvCxnSpPr>
          <p:cNvPr id="15" name="Straight Connector 14">
            <a:extLst>
              <a:ext uri="{FF2B5EF4-FFF2-40B4-BE49-F238E27FC236}">
                <a16:creationId xmlns:a16="http://schemas.microsoft.com/office/drawing/2014/main" id="{7CEDBD6D-46ED-FD44-B640-46B6AE3D5C8E}"/>
              </a:ext>
            </a:extLst>
          </p:cNvPr>
          <p:cNvCxnSpPr>
            <a:cxnSpLocks/>
          </p:cNvCxnSpPr>
          <p:nvPr/>
        </p:nvCxnSpPr>
        <p:spPr>
          <a:xfrm flipH="1">
            <a:off x="8467461" y="3953933"/>
            <a:ext cx="905932" cy="922864"/>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7F48F24A-F889-6341-BC9F-558A13195AD0}"/>
              </a:ext>
            </a:extLst>
          </p:cNvPr>
          <p:cNvCxnSpPr>
            <a:cxnSpLocks/>
          </p:cNvCxnSpPr>
          <p:nvPr/>
        </p:nvCxnSpPr>
        <p:spPr>
          <a:xfrm>
            <a:off x="6520126" y="3953933"/>
            <a:ext cx="465667" cy="1015994"/>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1238070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a:xfrm>
            <a:off x="1141413" y="237514"/>
            <a:ext cx="9905998" cy="676882"/>
          </a:xfrm>
        </p:spPr>
        <p:txBody>
          <a:bodyPr/>
          <a:lstStyle/>
          <a:p>
            <a:pPr algn="ctr"/>
            <a:r>
              <a:rPr lang="en-US" dirty="0"/>
              <a:t>A note on Verification</a:t>
            </a:r>
          </a:p>
        </p:txBody>
      </p:sp>
      <p:sp>
        <p:nvSpPr>
          <p:cNvPr id="10" name="Content Placeholder 5">
            <a:extLst>
              <a:ext uri="{FF2B5EF4-FFF2-40B4-BE49-F238E27FC236}">
                <a16:creationId xmlns:a16="http://schemas.microsoft.com/office/drawing/2014/main" id="{5607529C-58D7-CF44-8C7B-CE3B936EA46F}"/>
              </a:ext>
            </a:extLst>
          </p:cNvPr>
          <p:cNvSpPr txBox="1">
            <a:spLocks/>
          </p:cNvSpPr>
          <p:nvPr/>
        </p:nvSpPr>
        <p:spPr>
          <a:xfrm>
            <a:off x="8095359" y="1752598"/>
            <a:ext cx="3176588" cy="2015065"/>
          </a:xfrm>
          <a:prstGeom prst="rect">
            <a:avLst/>
          </a:prstGeom>
          <a:solidFill>
            <a:schemeClr val="tx1">
              <a:lumMod val="95000"/>
            </a:schemeClr>
          </a:solidFill>
        </p:spPr>
        <p:txBody>
          <a:bodyPr vert="horz" lIns="91440" tIns="45720" rIns="91440" bIns="45720" rtlCol="0">
            <a:normAutofit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None/>
            </a:pPr>
            <a:r>
              <a:rPr lang="en-US" sz="2000" dirty="0">
                <a:solidFill>
                  <a:schemeClr val="bg1"/>
                </a:solidFill>
              </a:rPr>
              <a:t>Given G, s, path P, and integer k</a:t>
            </a:r>
          </a:p>
          <a:p>
            <a:pPr marL="0" indent="0" algn="ctr">
              <a:buNone/>
            </a:pPr>
            <a:r>
              <a:rPr lang="en-US" sz="2000" dirty="0">
                <a:solidFill>
                  <a:schemeClr val="bg1"/>
                </a:solidFill>
              </a:rPr>
              <a:t>Is path P valid and is it weight less than or equal to k?</a:t>
            </a:r>
          </a:p>
        </p:txBody>
      </p:sp>
      <p:sp>
        <p:nvSpPr>
          <p:cNvPr id="13" name="Content Placeholder 5">
            <a:extLst>
              <a:ext uri="{FF2B5EF4-FFF2-40B4-BE49-F238E27FC236}">
                <a16:creationId xmlns:a16="http://schemas.microsoft.com/office/drawing/2014/main" id="{41C6DE7C-6722-D845-AE21-F5276CE4E854}"/>
              </a:ext>
            </a:extLst>
          </p:cNvPr>
          <p:cNvSpPr txBox="1">
            <a:spLocks/>
          </p:cNvSpPr>
          <p:nvPr/>
        </p:nvSpPr>
        <p:spPr>
          <a:xfrm>
            <a:off x="8095359" y="1126063"/>
            <a:ext cx="3176588" cy="618067"/>
          </a:xfrm>
          <a:prstGeom prst="rect">
            <a:avLst/>
          </a:prstGeom>
        </p:spPr>
        <p:txBody>
          <a:bodyPr vert="horz" lIns="91440" tIns="45720" rIns="91440" bIns="45720" rtlCol="0">
            <a:normAutofit fontScale="850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None/>
            </a:pPr>
            <a:r>
              <a:rPr lang="en-US" sz="2000" b="1" i="1" u="sng" dirty="0"/>
              <a:t>Verification Problem</a:t>
            </a:r>
            <a:r>
              <a:rPr lang="en-US" sz="2000" dirty="0"/>
              <a:t>:</a:t>
            </a:r>
            <a:br>
              <a:rPr lang="en-US" sz="2000" dirty="0"/>
            </a:br>
            <a:r>
              <a:rPr lang="en-US" sz="2000" dirty="0"/>
              <a:t>Given a solution, verify if it works</a:t>
            </a:r>
          </a:p>
        </p:txBody>
      </p:sp>
      <mc:AlternateContent xmlns:mc="http://schemas.openxmlformats.org/markup-compatibility/2006" xmlns:a14="http://schemas.microsoft.com/office/drawing/2010/main">
        <mc:Choice Requires="a14">
          <p:sp>
            <p:nvSpPr>
              <p:cNvPr id="14" name="Content Placeholder 5">
                <a:extLst>
                  <a:ext uri="{FF2B5EF4-FFF2-40B4-BE49-F238E27FC236}">
                    <a16:creationId xmlns:a16="http://schemas.microsoft.com/office/drawing/2014/main" id="{C3EBCF12-1FD8-F641-A6C4-7F593DE1AB61}"/>
                  </a:ext>
                </a:extLst>
              </p:cNvPr>
              <p:cNvSpPr txBox="1">
                <a:spLocks/>
              </p:cNvSpPr>
              <p:nvPr/>
            </p:nvSpPr>
            <p:spPr>
              <a:xfrm>
                <a:off x="1438103" y="2760130"/>
                <a:ext cx="6059977" cy="3250277"/>
              </a:xfrm>
              <a:prstGeom prst="rect">
                <a:avLst/>
              </a:prstGeom>
              <a:ln>
                <a:solidFill>
                  <a:schemeClr val="tx1">
                    <a:lumMod val="95000"/>
                  </a:schemeClr>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None/>
                </a:pPr>
                <a:r>
                  <a:rPr lang="en-US" sz="2000" dirty="0">
                    <a:solidFill>
                      <a:schemeClr val="tx1">
                        <a:lumMod val="95000"/>
                      </a:schemeClr>
                    </a:solidFill>
                  </a:rPr>
                  <a:t>Verification is technically more general than “given a solution, verify it if works”.</a:t>
                </a:r>
              </a:p>
              <a:p>
                <a:pPr marL="0" indent="0">
                  <a:buNone/>
                </a:pPr>
                <a:endParaRPr lang="en-US" sz="2000" dirty="0">
                  <a:solidFill>
                    <a:schemeClr val="tx1">
                      <a:lumMod val="95000"/>
                    </a:schemeClr>
                  </a:solidFill>
                </a:endParaRPr>
              </a:p>
              <a:p>
                <a:pPr marL="0" indent="0">
                  <a:buNone/>
                </a:pPr>
                <a:r>
                  <a:rPr lang="en-US" sz="2000" b="1" i="1" u="sng" dirty="0">
                    <a:solidFill>
                      <a:schemeClr val="tx1">
                        <a:lumMod val="95000"/>
                      </a:schemeClr>
                    </a:solidFill>
                  </a:rPr>
                  <a:t>Formal Definition</a:t>
                </a:r>
                <a:r>
                  <a:rPr lang="en-US" sz="2000" dirty="0">
                    <a:solidFill>
                      <a:schemeClr val="tx1">
                        <a:lumMod val="95000"/>
                      </a:schemeClr>
                    </a:solidFill>
                  </a:rPr>
                  <a:t>: Given a string w and certificate c, use c as proof to verify that w is in the language. </a:t>
                </a:r>
              </a:p>
              <a:p>
                <a:pPr marL="0" indent="0">
                  <a:buNone/>
                </a:pPr>
                <a:r>
                  <a:rPr lang="en-US" sz="2000" dirty="0">
                    <a:solidFill>
                      <a:schemeClr val="tx1">
                        <a:lumMod val="95000"/>
                      </a:schemeClr>
                    </a:solidFill>
                  </a:rPr>
                  <a:t>Given a language A, a verifier V is correct if and only if </a:t>
                </a:r>
                <a14:m>
                  <m:oMath xmlns:m="http://schemas.openxmlformats.org/officeDocument/2006/math">
                    <m:r>
                      <a:rPr lang="en-US" sz="2000" b="0" i="1" smtClean="0">
                        <a:solidFill>
                          <a:schemeClr val="tx1">
                            <a:lumMod val="95000"/>
                          </a:schemeClr>
                        </a:solidFill>
                        <a:latin typeface="Cambria Math" panose="02040503050406030204" pitchFamily="18" charset="0"/>
                      </a:rPr>
                      <m:t>𝑤</m:t>
                    </m:r>
                    <m:r>
                      <a:rPr lang="en-US" sz="2000" b="0" i="1" smtClean="0">
                        <a:solidFill>
                          <a:schemeClr val="tx1">
                            <a:lumMod val="95000"/>
                          </a:schemeClr>
                        </a:solidFill>
                        <a:latin typeface="Cambria Math" panose="02040503050406030204" pitchFamily="18" charset="0"/>
                      </a:rPr>
                      <m:t>∈</m:t>
                    </m:r>
                    <m:r>
                      <a:rPr lang="en-US" sz="2000" b="0" i="1" smtClean="0">
                        <a:solidFill>
                          <a:schemeClr val="tx1">
                            <a:lumMod val="95000"/>
                          </a:schemeClr>
                        </a:solidFill>
                        <a:latin typeface="Cambria Math" panose="02040503050406030204" pitchFamily="18" charset="0"/>
                      </a:rPr>
                      <m:t>𝐴</m:t>
                    </m:r>
                    <m:r>
                      <a:rPr lang="en-US" sz="2000" b="0" i="1" smtClean="0">
                        <a:solidFill>
                          <a:schemeClr val="tx1">
                            <a:lumMod val="95000"/>
                          </a:schemeClr>
                        </a:solidFill>
                        <a:latin typeface="Cambria Math" panose="02040503050406030204" pitchFamily="18" charset="0"/>
                      </a:rPr>
                      <m:t>→∃</m:t>
                    </m:r>
                    <m:r>
                      <a:rPr lang="en-US" sz="2000" b="0" i="1" smtClean="0">
                        <a:solidFill>
                          <a:schemeClr val="tx1">
                            <a:lumMod val="95000"/>
                          </a:schemeClr>
                        </a:solidFill>
                        <a:latin typeface="Cambria Math" panose="02040503050406030204" pitchFamily="18" charset="0"/>
                      </a:rPr>
                      <m:t>𝑐</m:t>
                    </m:r>
                    <m:r>
                      <a:rPr lang="en-US" sz="2000" b="0" i="1" smtClean="0">
                        <a:solidFill>
                          <a:schemeClr val="tx1">
                            <a:lumMod val="95000"/>
                          </a:schemeClr>
                        </a:solidFill>
                        <a:latin typeface="Cambria Math" panose="02040503050406030204" pitchFamily="18" charset="0"/>
                      </a:rPr>
                      <m:t> | </m:t>
                    </m:r>
                    <m:r>
                      <a:rPr lang="en-US" sz="2000" b="0" i="1" smtClean="0">
                        <a:solidFill>
                          <a:schemeClr val="tx1">
                            <a:lumMod val="95000"/>
                          </a:schemeClr>
                        </a:solidFill>
                        <a:latin typeface="Cambria Math" panose="02040503050406030204" pitchFamily="18" charset="0"/>
                      </a:rPr>
                      <m:t>𝑉</m:t>
                    </m:r>
                    <m:r>
                      <a:rPr lang="en-US" sz="2000" b="0" i="1" smtClean="0">
                        <a:solidFill>
                          <a:schemeClr val="tx1">
                            <a:lumMod val="95000"/>
                          </a:schemeClr>
                        </a:solidFill>
                        <a:latin typeface="Cambria Math" panose="02040503050406030204" pitchFamily="18" charset="0"/>
                      </a:rPr>
                      <m:t>(</m:t>
                    </m:r>
                    <m:r>
                      <a:rPr lang="en-US" sz="2000" b="0" i="1" smtClean="0">
                        <a:solidFill>
                          <a:schemeClr val="tx1">
                            <a:lumMod val="95000"/>
                          </a:schemeClr>
                        </a:solidFill>
                        <a:latin typeface="Cambria Math" panose="02040503050406030204" pitchFamily="18" charset="0"/>
                      </a:rPr>
                      <m:t>𝑤</m:t>
                    </m:r>
                    <m:r>
                      <a:rPr lang="en-US" sz="2000" b="0" i="1" smtClean="0">
                        <a:solidFill>
                          <a:schemeClr val="tx1">
                            <a:lumMod val="95000"/>
                          </a:schemeClr>
                        </a:solidFill>
                        <a:latin typeface="Cambria Math" panose="02040503050406030204" pitchFamily="18" charset="0"/>
                      </a:rPr>
                      <m:t>,</m:t>
                    </m:r>
                    <m:r>
                      <a:rPr lang="en-US" sz="2000" b="0" i="1" smtClean="0">
                        <a:solidFill>
                          <a:schemeClr val="tx1">
                            <a:lumMod val="95000"/>
                          </a:schemeClr>
                        </a:solidFill>
                        <a:latin typeface="Cambria Math" panose="02040503050406030204" pitchFamily="18" charset="0"/>
                      </a:rPr>
                      <m:t>𝑐</m:t>
                    </m:r>
                    <m:r>
                      <a:rPr lang="en-US" sz="2000" b="0" i="1" smtClean="0">
                        <a:solidFill>
                          <a:schemeClr val="tx1">
                            <a:lumMod val="95000"/>
                          </a:schemeClr>
                        </a:solidFill>
                        <a:latin typeface="Cambria Math" panose="02040503050406030204" pitchFamily="18" charset="0"/>
                      </a:rPr>
                      <m:t>)</m:t>
                    </m:r>
                  </m:oMath>
                </a14:m>
                <a:r>
                  <a:rPr lang="en-US" sz="2000" dirty="0">
                    <a:solidFill>
                      <a:schemeClr val="tx1">
                        <a:lumMod val="95000"/>
                      </a:schemeClr>
                    </a:solidFill>
                  </a:rPr>
                  <a:t> accepts</a:t>
                </a:r>
              </a:p>
            </p:txBody>
          </p:sp>
        </mc:Choice>
        <mc:Fallback xmlns="">
          <p:sp>
            <p:nvSpPr>
              <p:cNvPr id="14" name="Content Placeholder 5">
                <a:extLst>
                  <a:ext uri="{FF2B5EF4-FFF2-40B4-BE49-F238E27FC236}">
                    <a16:creationId xmlns:a16="http://schemas.microsoft.com/office/drawing/2014/main" id="{C3EBCF12-1FD8-F641-A6C4-7F593DE1AB61}"/>
                  </a:ext>
                </a:extLst>
              </p:cNvPr>
              <p:cNvSpPr txBox="1">
                <a:spLocks noRot="1" noChangeAspect="1" noMove="1" noResize="1" noEditPoints="1" noAdjustHandles="1" noChangeArrowheads="1" noChangeShapeType="1" noTextEdit="1"/>
              </p:cNvSpPr>
              <p:nvPr/>
            </p:nvSpPr>
            <p:spPr>
              <a:xfrm>
                <a:off x="1438103" y="2760130"/>
                <a:ext cx="6059977" cy="3250277"/>
              </a:xfrm>
              <a:prstGeom prst="rect">
                <a:avLst/>
              </a:prstGeom>
              <a:blipFill>
                <a:blip r:embed="rId2"/>
                <a:stretch>
                  <a:fillRect l="-835"/>
                </a:stretch>
              </a:blipFill>
              <a:ln>
                <a:solidFill>
                  <a:schemeClr val="tx1">
                    <a:lumMod val="95000"/>
                  </a:schemeClr>
                </a:solidFill>
              </a:ln>
            </p:spPr>
            <p:txBody>
              <a:bodyPr/>
              <a:lstStyle/>
              <a:p>
                <a:r>
                  <a:rPr lang="en-US">
                    <a:noFill/>
                  </a:rPr>
                  <a:t> </a:t>
                </a:r>
              </a:p>
            </p:txBody>
          </p:sp>
        </mc:Fallback>
      </mc:AlternateContent>
    </p:spTree>
    <p:extLst>
      <p:ext uri="{BB962C8B-B14F-4D97-AF65-F5344CB8AC3E}">
        <p14:creationId xmlns:p14="http://schemas.microsoft.com/office/powerpoint/2010/main" val="178335606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3" y="125537"/>
            <a:ext cx="9905998" cy="860425"/>
          </a:xfrm>
        </p:spPr>
        <p:txBody>
          <a:bodyPr/>
          <a:lstStyle/>
          <a:p>
            <a:pPr algn="ctr"/>
            <a:r>
              <a:rPr lang="en-US" dirty="0"/>
              <a:t>Comparing NTM and DTM</a:t>
            </a:r>
          </a:p>
        </p:txBody>
      </p:sp>
      <p:sp>
        <p:nvSpPr>
          <p:cNvPr id="3" name="Content Placeholder 2">
            <a:extLst>
              <a:ext uri="{FF2B5EF4-FFF2-40B4-BE49-F238E27FC236}">
                <a16:creationId xmlns:a16="http://schemas.microsoft.com/office/drawing/2014/main" id="{14278F5F-F936-6145-9FF8-704886F1A386}"/>
              </a:ext>
            </a:extLst>
          </p:cNvPr>
          <p:cNvSpPr>
            <a:spLocks noGrp="1"/>
          </p:cNvSpPr>
          <p:nvPr>
            <p:ph idx="1"/>
          </p:nvPr>
        </p:nvSpPr>
        <p:spPr>
          <a:xfrm>
            <a:off x="1141412" y="1127569"/>
            <a:ext cx="9905999" cy="1089328"/>
          </a:xfrm>
          <a:solidFill>
            <a:schemeClr val="tx1">
              <a:lumMod val="95000"/>
            </a:schemeClr>
          </a:solidFill>
        </p:spPr>
        <p:txBody>
          <a:bodyPr/>
          <a:lstStyle/>
          <a:p>
            <a:pPr marL="0" indent="0">
              <a:buNone/>
            </a:pPr>
            <a:r>
              <a:rPr lang="en-US" b="1" i="1" u="sng" dirty="0">
                <a:solidFill>
                  <a:schemeClr val="bg1"/>
                </a:solidFill>
              </a:rPr>
              <a:t>Theorem</a:t>
            </a:r>
            <a:r>
              <a:rPr lang="en-US" dirty="0">
                <a:solidFill>
                  <a:schemeClr val="bg1"/>
                </a:solidFill>
              </a:rPr>
              <a:t>: A problem P is verifiable in polynomial time by a DTM if and only if it is solvable (decision problem) in polynomial time by an NTM</a:t>
            </a:r>
          </a:p>
        </p:txBody>
      </p:sp>
      <mc:AlternateContent xmlns:mc="http://schemas.openxmlformats.org/markup-compatibility/2006" xmlns:a14="http://schemas.microsoft.com/office/drawing/2010/main">
        <mc:Choice Requires="a14">
          <p:sp>
            <p:nvSpPr>
              <p:cNvPr id="12" name="Content Placeholder 2">
                <a:extLst>
                  <a:ext uri="{FF2B5EF4-FFF2-40B4-BE49-F238E27FC236}">
                    <a16:creationId xmlns:a16="http://schemas.microsoft.com/office/drawing/2014/main" id="{0C1D73BF-42AC-884D-8672-B2AA1D5E4609}"/>
                  </a:ext>
                </a:extLst>
              </p:cNvPr>
              <p:cNvSpPr txBox="1">
                <a:spLocks/>
              </p:cNvSpPr>
              <p:nvPr/>
            </p:nvSpPr>
            <p:spPr>
              <a:xfrm>
                <a:off x="2242037" y="3039533"/>
                <a:ext cx="2444263" cy="1328357"/>
              </a:xfrm>
              <a:prstGeom prst="rect">
                <a:avLst/>
              </a:prstGeom>
              <a:noFill/>
            </p:spPr>
            <p:txBody>
              <a:bodyPr vert="horz" lIns="91440" tIns="45720" rIns="91440" bIns="45720" rtlCol="0">
                <a:normAutofit fontScale="850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i="1" dirty="0">
                    <a:solidFill>
                      <a:schemeClr val="tx1">
                        <a:lumMod val="95000"/>
                      </a:schemeClr>
                    </a:solidFill>
                  </a:rPr>
                  <a:t>Here, polynomial time means the runtime of the machine is worst-case </a:t>
                </a:r>
                <a14:m>
                  <m:oMath xmlns:m="http://schemas.openxmlformats.org/officeDocument/2006/math">
                    <m:r>
                      <m:rPr>
                        <m:sty m:val="p"/>
                      </m:rPr>
                      <a:rPr lang="en-US" b="0" i="0" smtClean="0">
                        <a:solidFill>
                          <a:schemeClr val="tx1">
                            <a:lumMod val="95000"/>
                          </a:schemeClr>
                        </a:solidFill>
                        <a:latin typeface="Cambria Math" panose="02040503050406030204" pitchFamily="18" charset="0"/>
                      </a:rPr>
                      <m:t>Θ</m:t>
                    </m:r>
                    <m:r>
                      <a:rPr lang="en-US" b="0" i="1" smtClean="0">
                        <a:solidFill>
                          <a:schemeClr val="tx1">
                            <a:lumMod val="95000"/>
                          </a:schemeClr>
                        </a:solidFill>
                        <a:latin typeface="Cambria Math" panose="02040503050406030204" pitchFamily="18" charset="0"/>
                      </a:rPr>
                      <m:t>(</m:t>
                    </m:r>
                    <m:sSup>
                      <m:sSupPr>
                        <m:ctrlPr>
                          <a:rPr lang="en-US" b="0" i="1" smtClean="0">
                            <a:solidFill>
                              <a:schemeClr val="tx1">
                                <a:lumMod val="95000"/>
                              </a:schemeClr>
                            </a:solidFill>
                            <a:latin typeface="Cambria Math" panose="02040503050406030204" pitchFamily="18" charset="0"/>
                          </a:rPr>
                        </m:ctrlPr>
                      </m:sSupPr>
                      <m:e>
                        <m:r>
                          <a:rPr lang="en-US" b="0" i="1" smtClean="0">
                            <a:solidFill>
                              <a:schemeClr val="tx1">
                                <a:lumMod val="95000"/>
                              </a:schemeClr>
                            </a:solidFill>
                            <a:latin typeface="Cambria Math" panose="02040503050406030204" pitchFamily="18" charset="0"/>
                          </a:rPr>
                          <m:t>𝑛</m:t>
                        </m:r>
                      </m:e>
                      <m:sup>
                        <m:r>
                          <a:rPr lang="en-US" b="0" i="1" smtClean="0">
                            <a:solidFill>
                              <a:schemeClr val="tx1">
                                <a:lumMod val="95000"/>
                              </a:schemeClr>
                            </a:solidFill>
                            <a:latin typeface="Cambria Math" panose="02040503050406030204" pitchFamily="18" charset="0"/>
                          </a:rPr>
                          <m:t>𝑐</m:t>
                        </m:r>
                      </m:sup>
                    </m:sSup>
                    <m:r>
                      <a:rPr lang="en-US" b="0" i="1" smtClean="0">
                        <a:solidFill>
                          <a:schemeClr val="tx1">
                            <a:lumMod val="95000"/>
                          </a:schemeClr>
                        </a:solidFill>
                        <a:latin typeface="Cambria Math" panose="02040503050406030204" pitchFamily="18" charset="0"/>
                      </a:rPr>
                      <m:t>)</m:t>
                    </m:r>
                  </m:oMath>
                </a14:m>
                <a:r>
                  <a:rPr lang="en-US" i="1" dirty="0">
                    <a:solidFill>
                      <a:schemeClr val="tx1">
                        <a:lumMod val="95000"/>
                      </a:schemeClr>
                    </a:solidFill>
                  </a:rPr>
                  <a:t> for </a:t>
                </a:r>
                <a14:m>
                  <m:oMath xmlns:m="http://schemas.openxmlformats.org/officeDocument/2006/math">
                    <m:r>
                      <a:rPr lang="en-US" b="0" i="1" smtClean="0">
                        <a:solidFill>
                          <a:schemeClr val="tx1">
                            <a:lumMod val="95000"/>
                          </a:schemeClr>
                        </a:solidFill>
                        <a:latin typeface="Cambria Math" panose="02040503050406030204" pitchFamily="18" charset="0"/>
                      </a:rPr>
                      <m:t>𝑐</m:t>
                    </m:r>
                    <m:r>
                      <a:rPr lang="en-US" b="0" i="1" smtClean="0">
                        <a:solidFill>
                          <a:schemeClr val="tx1">
                            <a:lumMod val="95000"/>
                          </a:schemeClr>
                        </a:solidFill>
                        <a:latin typeface="Cambria Math" panose="02040503050406030204" pitchFamily="18" charset="0"/>
                      </a:rPr>
                      <m:t>∈</m:t>
                    </m:r>
                    <m:r>
                      <a:rPr lang="en-US" b="0" i="1" smtClean="0">
                        <a:solidFill>
                          <a:schemeClr val="tx1">
                            <a:lumMod val="95000"/>
                          </a:schemeClr>
                        </a:solidFill>
                        <a:latin typeface="Cambria Math" panose="02040503050406030204" pitchFamily="18" charset="0"/>
                      </a:rPr>
                      <m:t>𝒩</m:t>
                    </m:r>
                  </m:oMath>
                </a14:m>
                <a:endParaRPr lang="en-US" i="1" dirty="0">
                  <a:solidFill>
                    <a:schemeClr val="tx1">
                      <a:lumMod val="95000"/>
                    </a:schemeClr>
                  </a:solidFill>
                </a:endParaRPr>
              </a:p>
            </p:txBody>
          </p:sp>
        </mc:Choice>
        <mc:Fallback xmlns="">
          <p:sp>
            <p:nvSpPr>
              <p:cNvPr id="12" name="Content Placeholder 2">
                <a:extLst>
                  <a:ext uri="{FF2B5EF4-FFF2-40B4-BE49-F238E27FC236}">
                    <a16:creationId xmlns:a16="http://schemas.microsoft.com/office/drawing/2014/main" id="{0C1D73BF-42AC-884D-8672-B2AA1D5E4609}"/>
                  </a:ext>
                </a:extLst>
              </p:cNvPr>
              <p:cNvSpPr txBox="1">
                <a:spLocks noRot="1" noChangeAspect="1" noMove="1" noResize="1" noEditPoints="1" noAdjustHandles="1" noChangeArrowheads="1" noChangeShapeType="1" noTextEdit="1"/>
              </p:cNvSpPr>
              <p:nvPr/>
            </p:nvSpPr>
            <p:spPr>
              <a:xfrm>
                <a:off x="2242037" y="3039533"/>
                <a:ext cx="2444263" cy="1328357"/>
              </a:xfrm>
              <a:prstGeom prst="rect">
                <a:avLst/>
              </a:prstGeom>
              <a:blipFill>
                <a:blip r:embed="rId2"/>
                <a:stretch>
                  <a:fillRect l="-2073" t="-1887" r="-2591" b="-6604"/>
                </a:stretch>
              </a:blipFill>
            </p:spPr>
            <p:txBody>
              <a:bodyPr/>
              <a:lstStyle/>
              <a:p>
                <a:r>
                  <a:rPr lang="en-US">
                    <a:noFill/>
                  </a:rPr>
                  <a:t> </a:t>
                </a:r>
              </a:p>
            </p:txBody>
          </p:sp>
        </mc:Fallback>
      </mc:AlternateContent>
      <p:cxnSp>
        <p:nvCxnSpPr>
          <p:cNvPr id="14" name="Straight Connector 13">
            <a:extLst>
              <a:ext uri="{FF2B5EF4-FFF2-40B4-BE49-F238E27FC236}">
                <a16:creationId xmlns:a16="http://schemas.microsoft.com/office/drawing/2014/main" id="{0ADBD8E5-5916-254F-B8D4-827AE106A5D4}"/>
              </a:ext>
            </a:extLst>
          </p:cNvPr>
          <p:cNvCxnSpPr>
            <a:cxnSpLocks/>
          </p:cNvCxnSpPr>
          <p:nvPr/>
        </p:nvCxnSpPr>
        <p:spPr>
          <a:xfrm flipH="1">
            <a:off x="4174067" y="2358504"/>
            <a:ext cx="1024466" cy="681029"/>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5755270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3" y="125537"/>
            <a:ext cx="9905998" cy="860425"/>
          </a:xfrm>
        </p:spPr>
        <p:txBody>
          <a:bodyPr/>
          <a:lstStyle/>
          <a:p>
            <a:pPr algn="ctr"/>
            <a:r>
              <a:rPr lang="en-US" dirty="0"/>
              <a:t>Comparing NTM and DTM</a:t>
            </a:r>
          </a:p>
        </p:txBody>
      </p:sp>
      <p:sp>
        <p:nvSpPr>
          <p:cNvPr id="3" name="Content Placeholder 2">
            <a:extLst>
              <a:ext uri="{FF2B5EF4-FFF2-40B4-BE49-F238E27FC236}">
                <a16:creationId xmlns:a16="http://schemas.microsoft.com/office/drawing/2014/main" id="{14278F5F-F936-6145-9FF8-704886F1A386}"/>
              </a:ext>
            </a:extLst>
          </p:cNvPr>
          <p:cNvSpPr>
            <a:spLocks noGrp="1"/>
          </p:cNvSpPr>
          <p:nvPr>
            <p:ph idx="1"/>
          </p:nvPr>
        </p:nvSpPr>
        <p:spPr>
          <a:xfrm>
            <a:off x="1141412" y="958234"/>
            <a:ext cx="9905999" cy="1089328"/>
          </a:xfrm>
          <a:solidFill>
            <a:schemeClr val="tx1">
              <a:lumMod val="95000"/>
            </a:schemeClr>
          </a:solidFill>
        </p:spPr>
        <p:txBody>
          <a:bodyPr/>
          <a:lstStyle/>
          <a:p>
            <a:pPr marL="0" indent="0">
              <a:buNone/>
            </a:pPr>
            <a:r>
              <a:rPr lang="en-US" b="1" i="1" u="sng" dirty="0">
                <a:solidFill>
                  <a:schemeClr val="bg1"/>
                </a:solidFill>
              </a:rPr>
              <a:t>Theorem</a:t>
            </a:r>
            <a:r>
              <a:rPr lang="en-US" dirty="0">
                <a:solidFill>
                  <a:schemeClr val="bg1"/>
                </a:solidFill>
              </a:rPr>
              <a:t>: A problem P is verifiable in polynomial time by a DTM if and only if it is solvable (decision problem) in polynomial time by an NTM</a:t>
            </a:r>
          </a:p>
        </p:txBody>
      </p:sp>
      <p:sp>
        <p:nvSpPr>
          <p:cNvPr id="6" name="Content Placeholder 2">
            <a:extLst>
              <a:ext uri="{FF2B5EF4-FFF2-40B4-BE49-F238E27FC236}">
                <a16:creationId xmlns:a16="http://schemas.microsoft.com/office/drawing/2014/main" id="{872645FA-F846-D944-AFBD-6BCCE6F63588}"/>
              </a:ext>
            </a:extLst>
          </p:cNvPr>
          <p:cNvSpPr txBox="1">
            <a:spLocks/>
          </p:cNvSpPr>
          <p:nvPr/>
        </p:nvSpPr>
        <p:spPr>
          <a:xfrm>
            <a:off x="1141411" y="2183278"/>
            <a:ext cx="9905999" cy="856253"/>
          </a:xfrm>
          <a:prstGeom prst="rect">
            <a:avLst/>
          </a:prstGeom>
          <a:noFill/>
          <a:ln>
            <a:solidFill>
              <a:schemeClr val="tx1">
                <a:lumMod val="95000"/>
              </a:schemeClr>
            </a:solidFill>
          </a:ln>
        </p:spPr>
        <p:txBody>
          <a:bodyPr vert="horz" lIns="91440" tIns="45720" rIns="91440" bIns="45720" rtlCol="0">
            <a:normAutofit fontScale="92500"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None/>
            </a:pPr>
            <a:r>
              <a:rPr lang="en-US" b="1" i="1" u="sng" dirty="0">
                <a:solidFill>
                  <a:schemeClr val="tx1">
                    <a:lumMod val="95000"/>
                  </a:schemeClr>
                </a:solidFill>
              </a:rPr>
              <a:t>Direction 1</a:t>
            </a:r>
            <a:r>
              <a:rPr lang="en-US" i="1" dirty="0">
                <a:solidFill>
                  <a:schemeClr val="tx1">
                    <a:lumMod val="95000"/>
                  </a:schemeClr>
                </a:solidFill>
              </a:rPr>
              <a:t>: If a problem is verifiable by a DTM in polynomial time, then it is solvable in polynomial time by an NTM.</a:t>
            </a:r>
          </a:p>
        </p:txBody>
      </p:sp>
      <p:sp>
        <p:nvSpPr>
          <p:cNvPr id="7" name="Content Placeholder 2">
            <a:extLst>
              <a:ext uri="{FF2B5EF4-FFF2-40B4-BE49-F238E27FC236}">
                <a16:creationId xmlns:a16="http://schemas.microsoft.com/office/drawing/2014/main" id="{8F2DBBDB-3767-D445-8A1D-2F5E310CFF85}"/>
              </a:ext>
            </a:extLst>
          </p:cNvPr>
          <p:cNvSpPr txBox="1">
            <a:spLocks/>
          </p:cNvSpPr>
          <p:nvPr/>
        </p:nvSpPr>
        <p:spPr>
          <a:xfrm>
            <a:off x="1471614" y="3448885"/>
            <a:ext cx="2423055" cy="1508189"/>
          </a:xfrm>
          <a:prstGeom prst="rect">
            <a:avLst/>
          </a:prstGeom>
          <a:noFill/>
          <a:ln>
            <a:solidFill>
              <a:schemeClr val="tx1">
                <a:lumMod val="95000"/>
              </a:schemeClr>
            </a:solidFill>
          </a:ln>
        </p:spPr>
        <p:txBody>
          <a:bodyPr vert="horz" lIns="91440" tIns="45720" rIns="91440" bIns="45720" rtlCol="0">
            <a:normAutofit fontScale="775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None/>
            </a:pPr>
            <a:r>
              <a:rPr lang="en-US" i="1" dirty="0">
                <a:solidFill>
                  <a:schemeClr val="tx1">
                    <a:lumMod val="95000"/>
                  </a:schemeClr>
                </a:solidFill>
              </a:rPr>
              <a:t>Given: P is verifiable by a DTM. Thus, the DTM that verifies instances of this problem exists</a:t>
            </a:r>
          </a:p>
        </p:txBody>
      </p:sp>
      <p:grpSp>
        <p:nvGrpSpPr>
          <p:cNvPr id="10" name="Group 9">
            <a:extLst>
              <a:ext uri="{FF2B5EF4-FFF2-40B4-BE49-F238E27FC236}">
                <a16:creationId xmlns:a16="http://schemas.microsoft.com/office/drawing/2014/main" id="{85BDEB2E-2AC5-C047-BD04-AF59503D164E}"/>
              </a:ext>
            </a:extLst>
          </p:cNvPr>
          <p:cNvGrpSpPr/>
          <p:nvPr/>
        </p:nvGrpSpPr>
        <p:grpSpPr>
          <a:xfrm>
            <a:off x="1120579" y="5400295"/>
            <a:ext cx="3125124" cy="708247"/>
            <a:chOff x="1006609" y="5434162"/>
            <a:chExt cx="3125124" cy="708247"/>
          </a:xfrm>
        </p:grpSpPr>
        <p:sp>
          <p:nvSpPr>
            <p:cNvPr id="8" name="Content Placeholder 2">
              <a:extLst>
                <a:ext uri="{FF2B5EF4-FFF2-40B4-BE49-F238E27FC236}">
                  <a16:creationId xmlns:a16="http://schemas.microsoft.com/office/drawing/2014/main" id="{487DFADF-91B5-764D-B8FD-496048620774}"/>
                </a:ext>
              </a:extLst>
            </p:cNvPr>
            <p:cNvSpPr txBox="1">
              <a:spLocks/>
            </p:cNvSpPr>
            <p:nvPr/>
          </p:nvSpPr>
          <p:spPr>
            <a:xfrm>
              <a:off x="1904999" y="5434162"/>
              <a:ext cx="1168401" cy="708247"/>
            </a:xfrm>
            <a:prstGeom prst="rect">
              <a:avLst/>
            </a:prstGeom>
            <a:solidFill>
              <a:schemeClr val="accent1"/>
            </a:solidFill>
            <a:ln>
              <a:solidFill>
                <a:schemeClr val="tx1">
                  <a:lumMod val="95000"/>
                </a:schemeClr>
              </a:solidFill>
            </a:ln>
          </p:spPr>
          <p:txBody>
            <a:bodyPr vert="horz" lIns="91440" tIns="45720" rIns="91440" bIns="45720" rtlCol="0">
              <a:normAutofit fontScale="925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None/>
              </a:pPr>
              <a:r>
                <a:rPr lang="en-US" sz="1600" i="1" dirty="0">
                  <a:solidFill>
                    <a:schemeClr val="bg1"/>
                  </a:solidFill>
                </a:rPr>
                <a:t>DTM Verifier for P</a:t>
              </a:r>
            </a:p>
          </p:txBody>
        </p:sp>
        <p:cxnSp>
          <p:nvCxnSpPr>
            <p:cNvPr id="5" name="Straight Arrow Connector 4">
              <a:extLst>
                <a:ext uri="{FF2B5EF4-FFF2-40B4-BE49-F238E27FC236}">
                  <a16:creationId xmlns:a16="http://schemas.microsoft.com/office/drawing/2014/main" id="{A6060608-01B9-0E48-A593-DE62A8570CE3}"/>
                </a:ext>
              </a:extLst>
            </p:cNvPr>
            <p:cNvCxnSpPr>
              <a:cxnSpLocks/>
              <a:endCxn id="8" idx="1"/>
            </p:cNvCxnSpPr>
            <p:nvPr/>
          </p:nvCxnSpPr>
          <p:spPr>
            <a:xfrm>
              <a:off x="1608667" y="5788286"/>
              <a:ext cx="296332"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1" name="Content Placeholder 2">
              <a:extLst>
                <a:ext uri="{FF2B5EF4-FFF2-40B4-BE49-F238E27FC236}">
                  <a16:creationId xmlns:a16="http://schemas.microsoft.com/office/drawing/2014/main" id="{1BB85C2F-F9B4-8145-83FA-FAF1BF2E4554}"/>
                </a:ext>
              </a:extLst>
            </p:cNvPr>
            <p:cNvSpPr txBox="1">
              <a:spLocks/>
            </p:cNvSpPr>
            <p:nvPr/>
          </p:nvSpPr>
          <p:spPr>
            <a:xfrm>
              <a:off x="1006609" y="5567433"/>
              <a:ext cx="689238" cy="509438"/>
            </a:xfrm>
            <a:prstGeom prst="rect">
              <a:avLst/>
            </a:prstGeom>
            <a:noFill/>
            <a:ln>
              <a:noFill/>
            </a:ln>
          </p:spPr>
          <p:txBody>
            <a:bodyPr vert="horz" lIns="91440" tIns="45720" rIns="91440" bIns="45720" rtlCol="0">
              <a:normAutofit fontScale="475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None/>
              </a:pPr>
              <a:r>
                <a:rPr lang="en-US" i="1" dirty="0">
                  <a:solidFill>
                    <a:schemeClr val="accent1"/>
                  </a:solidFill>
                </a:rPr>
                <a:t>Potential solution s</a:t>
              </a:r>
            </a:p>
          </p:txBody>
        </p:sp>
        <p:cxnSp>
          <p:nvCxnSpPr>
            <p:cNvPr id="13" name="Straight Arrow Connector 12">
              <a:extLst>
                <a:ext uri="{FF2B5EF4-FFF2-40B4-BE49-F238E27FC236}">
                  <a16:creationId xmlns:a16="http://schemas.microsoft.com/office/drawing/2014/main" id="{A1E53ABC-8216-874F-B2B0-E67EEF528CCB}"/>
                </a:ext>
              </a:extLst>
            </p:cNvPr>
            <p:cNvCxnSpPr>
              <a:cxnSpLocks/>
            </p:cNvCxnSpPr>
            <p:nvPr/>
          </p:nvCxnSpPr>
          <p:spPr>
            <a:xfrm>
              <a:off x="3073400" y="5788286"/>
              <a:ext cx="296332"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5" name="Content Placeholder 2">
              <a:extLst>
                <a:ext uri="{FF2B5EF4-FFF2-40B4-BE49-F238E27FC236}">
                  <a16:creationId xmlns:a16="http://schemas.microsoft.com/office/drawing/2014/main" id="{F9C412CE-E6DD-0E4D-BBB7-DF9ADE459D7E}"/>
                </a:ext>
              </a:extLst>
            </p:cNvPr>
            <p:cNvSpPr txBox="1">
              <a:spLocks/>
            </p:cNvSpPr>
            <p:nvPr/>
          </p:nvSpPr>
          <p:spPr>
            <a:xfrm>
              <a:off x="3369732" y="5434162"/>
              <a:ext cx="762001" cy="708247"/>
            </a:xfrm>
            <a:prstGeom prst="rect">
              <a:avLst/>
            </a:prstGeom>
            <a:noFill/>
            <a:ln>
              <a:noFill/>
            </a:ln>
          </p:spPr>
          <p:txBody>
            <a:bodyPr vert="horz" lIns="91440" tIns="45720" rIns="91440" bIns="45720" rtlCol="0">
              <a:normAutofit fontScale="550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None/>
              </a:pPr>
              <a:r>
                <a:rPr lang="en-US" i="1" dirty="0">
                  <a:solidFill>
                    <a:schemeClr val="accent1"/>
                  </a:solidFill>
                </a:rPr>
                <a:t>Yes/No</a:t>
              </a:r>
              <a:br>
                <a:rPr lang="en-US" i="1" dirty="0">
                  <a:solidFill>
                    <a:schemeClr val="accent1"/>
                  </a:solidFill>
                </a:rPr>
              </a:br>
              <a:r>
                <a:rPr lang="en-US" i="1" dirty="0">
                  <a:solidFill>
                    <a:schemeClr val="accent1"/>
                  </a:solidFill>
                </a:rPr>
                <a:t>s is valid solution</a:t>
              </a:r>
            </a:p>
          </p:txBody>
        </p:sp>
      </p:grpSp>
      <p:sp>
        <p:nvSpPr>
          <p:cNvPr id="16" name="Right Arrow 15">
            <a:extLst>
              <a:ext uri="{FF2B5EF4-FFF2-40B4-BE49-F238E27FC236}">
                <a16:creationId xmlns:a16="http://schemas.microsoft.com/office/drawing/2014/main" id="{F530DFE5-C915-C64A-8DCB-36B6A5A5419C}"/>
              </a:ext>
            </a:extLst>
          </p:cNvPr>
          <p:cNvSpPr/>
          <p:nvPr/>
        </p:nvSpPr>
        <p:spPr>
          <a:xfrm>
            <a:off x="4360330" y="4436533"/>
            <a:ext cx="1007533" cy="347134"/>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70" name="Group 69">
            <a:extLst>
              <a:ext uri="{FF2B5EF4-FFF2-40B4-BE49-F238E27FC236}">
                <a16:creationId xmlns:a16="http://schemas.microsoft.com/office/drawing/2014/main" id="{CF8E4685-10A5-2546-AD42-32F1DC7F478C}"/>
              </a:ext>
            </a:extLst>
          </p:cNvPr>
          <p:cNvGrpSpPr/>
          <p:nvPr/>
        </p:nvGrpSpPr>
        <p:grpSpPr>
          <a:xfrm>
            <a:off x="5493280" y="3448884"/>
            <a:ext cx="4768320" cy="2934983"/>
            <a:chOff x="5704948" y="3448884"/>
            <a:chExt cx="4768320" cy="2934983"/>
          </a:xfrm>
        </p:grpSpPr>
        <p:sp>
          <p:nvSpPr>
            <p:cNvPr id="17" name="Content Placeholder 2">
              <a:extLst>
                <a:ext uri="{FF2B5EF4-FFF2-40B4-BE49-F238E27FC236}">
                  <a16:creationId xmlns:a16="http://schemas.microsoft.com/office/drawing/2014/main" id="{F6F76596-4772-3846-8B02-7F3DC6CE87CA}"/>
                </a:ext>
              </a:extLst>
            </p:cNvPr>
            <p:cNvSpPr txBox="1">
              <a:spLocks/>
            </p:cNvSpPr>
            <p:nvPr/>
          </p:nvSpPr>
          <p:spPr>
            <a:xfrm>
              <a:off x="5704948" y="3448884"/>
              <a:ext cx="4768320" cy="2934983"/>
            </a:xfrm>
            <a:prstGeom prst="rect">
              <a:avLst/>
            </a:prstGeom>
            <a:noFill/>
            <a:ln>
              <a:solidFill>
                <a:schemeClr val="accent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None/>
              </a:pPr>
              <a:r>
                <a:rPr lang="en-US" sz="1600" i="1" dirty="0">
                  <a:solidFill>
                    <a:schemeClr val="accent1"/>
                  </a:solidFill>
                </a:rPr>
                <a:t>NTM Solver for P</a:t>
              </a:r>
            </a:p>
          </p:txBody>
        </p:sp>
        <p:grpSp>
          <p:nvGrpSpPr>
            <p:cNvPr id="25" name="Group 24">
              <a:extLst>
                <a:ext uri="{FF2B5EF4-FFF2-40B4-BE49-F238E27FC236}">
                  <a16:creationId xmlns:a16="http://schemas.microsoft.com/office/drawing/2014/main" id="{6ED48A7E-E50D-B64A-84B7-F41E034FAB72}"/>
                </a:ext>
              </a:extLst>
            </p:cNvPr>
            <p:cNvGrpSpPr/>
            <p:nvPr/>
          </p:nvGrpSpPr>
          <p:grpSpPr>
            <a:xfrm>
              <a:off x="8830734" y="3712723"/>
              <a:ext cx="1476441" cy="507189"/>
              <a:chOff x="8610600" y="4003295"/>
              <a:chExt cx="1476441" cy="507189"/>
            </a:xfrm>
          </p:grpSpPr>
          <p:sp>
            <p:nvSpPr>
              <p:cNvPr id="19" name="Content Placeholder 2">
                <a:extLst>
                  <a:ext uri="{FF2B5EF4-FFF2-40B4-BE49-F238E27FC236}">
                    <a16:creationId xmlns:a16="http://schemas.microsoft.com/office/drawing/2014/main" id="{3005F34F-3C6D-0D4D-8B2E-1CD7851040DC}"/>
                  </a:ext>
                </a:extLst>
              </p:cNvPr>
              <p:cNvSpPr txBox="1">
                <a:spLocks/>
              </p:cNvSpPr>
              <p:nvPr/>
            </p:nvSpPr>
            <p:spPr>
              <a:xfrm>
                <a:off x="8610600" y="4003295"/>
                <a:ext cx="943703" cy="507189"/>
              </a:xfrm>
              <a:prstGeom prst="rect">
                <a:avLst/>
              </a:prstGeom>
              <a:solidFill>
                <a:schemeClr val="accent1"/>
              </a:solidFill>
              <a:ln>
                <a:solidFill>
                  <a:schemeClr val="tx1">
                    <a:lumMod val="95000"/>
                  </a:schemeClr>
                </a:solidFill>
              </a:ln>
            </p:spPr>
            <p:txBody>
              <a:bodyPr vert="horz" lIns="91440" tIns="45720" rIns="91440" bIns="45720" rtlCol="0">
                <a:normAutofit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None/>
                </a:pPr>
                <a:r>
                  <a:rPr lang="en-US" sz="1200" i="1" dirty="0">
                    <a:solidFill>
                      <a:schemeClr val="bg1"/>
                    </a:solidFill>
                  </a:rPr>
                  <a:t>DTM Verifier for P</a:t>
                </a:r>
              </a:p>
            </p:txBody>
          </p:sp>
          <p:cxnSp>
            <p:nvCxnSpPr>
              <p:cNvPr id="22" name="Straight Arrow Connector 21">
                <a:extLst>
                  <a:ext uri="{FF2B5EF4-FFF2-40B4-BE49-F238E27FC236}">
                    <a16:creationId xmlns:a16="http://schemas.microsoft.com/office/drawing/2014/main" id="{A34F51F5-29DC-9E41-91D2-4C5CCBDF2323}"/>
                  </a:ext>
                </a:extLst>
              </p:cNvPr>
              <p:cNvCxnSpPr>
                <a:cxnSpLocks/>
              </p:cNvCxnSpPr>
              <p:nvPr/>
            </p:nvCxnSpPr>
            <p:spPr>
              <a:xfrm>
                <a:off x="9554303" y="4256889"/>
                <a:ext cx="182364"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3" name="Content Placeholder 2">
                <a:extLst>
                  <a:ext uri="{FF2B5EF4-FFF2-40B4-BE49-F238E27FC236}">
                    <a16:creationId xmlns:a16="http://schemas.microsoft.com/office/drawing/2014/main" id="{845BDDFC-ACD6-1448-8B43-A34CA7A8063E}"/>
                  </a:ext>
                </a:extLst>
              </p:cNvPr>
              <p:cNvSpPr txBox="1">
                <a:spLocks/>
              </p:cNvSpPr>
              <p:nvPr/>
            </p:nvSpPr>
            <p:spPr>
              <a:xfrm>
                <a:off x="9701476" y="4114838"/>
                <a:ext cx="385565" cy="354123"/>
              </a:xfrm>
              <a:prstGeom prst="rect">
                <a:avLst/>
              </a:prstGeom>
              <a:noFill/>
              <a:ln>
                <a:noFill/>
              </a:ln>
            </p:spPr>
            <p:txBody>
              <a:bodyPr vert="horz" lIns="91440" tIns="45720" rIns="91440" bIns="45720" rtlCol="0">
                <a:normAutofit fontScale="925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None/>
                </a:pPr>
                <a:r>
                  <a:rPr lang="en-US" sz="1400" i="1" dirty="0">
                    <a:solidFill>
                      <a:schemeClr val="accent1"/>
                    </a:solidFill>
                  </a:rPr>
                  <a:t>No</a:t>
                </a:r>
              </a:p>
            </p:txBody>
          </p:sp>
        </p:grpSp>
        <p:grpSp>
          <p:nvGrpSpPr>
            <p:cNvPr id="26" name="Group 25">
              <a:extLst>
                <a:ext uri="{FF2B5EF4-FFF2-40B4-BE49-F238E27FC236}">
                  <a16:creationId xmlns:a16="http://schemas.microsoft.com/office/drawing/2014/main" id="{45A91EE9-FF99-5940-A1DF-F3344F387E1D}"/>
                </a:ext>
              </a:extLst>
            </p:cNvPr>
            <p:cNvGrpSpPr/>
            <p:nvPr/>
          </p:nvGrpSpPr>
          <p:grpSpPr>
            <a:xfrm>
              <a:off x="8830734" y="4356505"/>
              <a:ext cx="1476441" cy="507189"/>
              <a:chOff x="8610600" y="4003295"/>
              <a:chExt cx="1476441" cy="507189"/>
            </a:xfrm>
          </p:grpSpPr>
          <p:sp>
            <p:nvSpPr>
              <p:cNvPr id="27" name="Content Placeholder 2">
                <a:extLst>
                  <a:ext uri="{FF2B5EF4-FFF2-40B4-BE49-F238E27FC236}">
                    <a16:creationId xmlns:a16="http://schemas.microsoft.com/office/drawing/2014/main" id="{94745A37-E682-E640-A0BA-9B87F094C414}"/>
                  </a:ext>
                </a:extLst>
              </p:cNvPr>
              <p:cNvSpPr txBox="1">
                <a:spLocks/>
              </p:cNvSpPr>
              <p:nvPr/>
            </p:nvSpPr>
            <p:spPr>
              <a:xfrm>
                <a:off x="8610600" y="4003295"/>
                <a:ext cx="943703" cy="507189"/>
              </a:xfrm>
              <a:prstGeom prst="rect">
                <a:avLst/>
              </a:prstGeom>
              <a:solidFill>
                <a:schemeClr val="accent1"/>
              </a:solidFill>
              <a:ln>
                <a:solidFill>
                  <a:schemeClr val="tx1">
                    <a:lumMod val="95000"/>
                  </a:schemeClr>
                </a:solidFill>
              </a:ln>
            </p:spPr>
            <p:txBody>
              <a:bodyPr vert="horz" lIns="91440" tIns="45720" rIns="91440" bIns="45720" rtlCol="0">
                <a:normAutofit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None/>
                </a:pPr>
                <a:r>
                  <a:rPr lang="en-US" sz="1200" i="1" dirty="0">
                    <a:solidFill>
                      <a:schemeClr val="bg1"/>
                    </a:solidFill>
                  </a:rPr>
                  <a:t>DTM Verifier for P</a:t>
                </a:r>
              </a:p>
            </p:txBody>
          </p:sp>
          <p:cxnSp>
            <p:nvCxnSpPr>
              <p:cNvPr id="28" name="Straight Arrow Connector 27">
                <a:extLst>
                  <a:ext uri="{FF2B5EF4-FFF2-40B4-BE49-F238E27FC236}">
                    <a16:creationId xmlns:a16="http://schemas.microsoft.com/office/drawing/2014/main" id="{A0F7358B-F5D2-944D-B1F0-F1ACB39881D7}"/>
                  </a:ext>
                </a:extLst>
              </p:cNvPr>
              <p:cNvCxnSpPr>
                <a:cxnSpLocks/>
              </p:cNvCxnSpPr>
              <p:nvPr/>
            </p:nvCxnSpPr>
            <p:spPr>
              <a:xfrm>
                <a:off x="9554303" y="4256889"/>
                <a:ext cx="182364"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9" name="Content Placeholder 2">
                <a:extLst>
                  <a:ext uri="{FF2B5EF4-FFF2-40B4-BE49-F238E27FC236}">
                    <a16:creationId xmlns:a16="http://schemas.microsoft.com/office/drawing/2014/main" id="{2B611E9E-65A4-2648-A160-8EDBD5E5AD75}"/>
                  </a:ext>
                </a:extLst>
              </p:cNvPr>
              <p:cNvSpPr txBox="1">
                <a:spLocks/>
              </p:cNvSpPr>
              <p:nvPr/>
            </p:nvSpPr>
            <p:spPr>
              <a:xfrm>
                <a:off x="9701476" y="4114838"/>
                <a:ext cx="385565" cy="354123"/>
              </a:xfrm>
              <a:prstGeom prst="rect">
                <a:avLst/>
              </a:prstGeom>
              <a:noFill/>
              <a:ln>
                <a:noFill/>
              </a:ln>
            </p:spPr>
            <p:txBody>
              <a:bodyPr vert="horz" lIns="91440" tIns="45720" rIns="91440" bIns="45720" rtlCol="0">
                <a:normAutofit fontScale="925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None/>
                </a:pPr>
                <a:r>
                  <a:rPr lang="en-US" sz="1400" i="1" dirty="0">
                    <a:solidFill>
                      <a:schemeClr val="accent1"/>
                    </a:solidFill>
                  </a:rPr>
                  <a:t>No</a:t>
                </a:r>
              </a:p>
            </p:txBody>
          </p:sp>
        </p:grpSp>
        <p:grpSp>
          <p:nvGrpSpPr>
            <p:cNvPr id="30" name="Group 29">
              <a:extLst>
                <a:ext uri="{FF2B5EF4-FFF2-40B4-BE49-F238E27FC236}">
                  <a16:creationId xmlns:a16="http://schemas.microsoft.com/office/drawing/2014/main" id="{6FA2B27B-6B05-7C49-B76A-D9A12494DF94}"/>
                </a:ext>
              </a:extLst>
            </p:cNvPr>
            <p:cNvGrpSpPr/>
            <p:nvPr/>
          </p:nvGrpSpPr>
          <p:grpSpPr>
            <a:xfrm>
              <a:off x="8830734" y="4991206"/>
              <a:ext cx="1476441" cy="507189"/>
              <a:chOff x="8610600" y="4003295"/>
              <a:chExt cx="1476441" cy="507189"/>
            </a:xfrm>
          </p:grpSpPr>
          <p:sp>
            <p:nvSpPr>
              <p:cNvPr id="31" name="Content Placeholder 2">
                <a:extLst>
                  <a:ext uri="{FF2B5EF4-FFF2-40B4-BE49-F238E27FC236}">
                    <a16:creationId xmlns:a16="http://schemas.microsoft.com/office/drawing/2014/main" id="{DC2242B4-0616-0544-9482-504AE8A47FBF}"/>
                  </a:ext>
                </a:extLst>
              </p:cNvPr>
              <p:cNvSpPr txBox="1">
                <a:spLocks/>
              </p:cNvSpPr>
              <p:nvPr/>
            </p:nvSpPr>
            <p:spPr>
              <a:xfrm>
                <a:off x="8610600" y="4003295"/>
                <a:ext cx="943703" cy="507189"/>
              </a:xfrm>
              <a:prstGeom prst="rect">
                <a:avLst/>
              </a:prstGeom>
              <a:solidFill>
                <a:schemeClr val="accent1"/>
              </a:solidFill>
              <a:ln>
                <a:solidFill>
                  <a:schemeClr val="tx1">
                    <a:lumMod val="95000"/>
                  </a:schemeClr>
                </a:solidFill>
              </a:ln>
            </p:spPr>
            <p:txBody>
              <a:bodyPr vert="horz" lIns="91440" tIns="45720" rIns="91440" bIns="45720" rtlCol="0">
                <a:normAutofit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None/>
                </a:pPr>
                <a:r>
                  <a:rPr lang="en-US" sz="1200" i="1" dirty="0">
                    <a:solidFill>
                      <a:schemeClr val="bg1"/>
                    </a:solidFill>
                  </a:rPr>
                  <a:t>DTM Verifier for P</a:t>
                </a:r>
              </a:p>
            </p:txBody>
          </p:sp>
          <p:cxnSp>
            <p:nvCxnSpPr>
              <p:cNvPr id="32" name="Straight Arrow Connector 31">
                <a:extLst>
                  <a:ext uri="{FF2B5EF4-FFF2-40B4-BE49-F238E27FC236}">
                    <a16:creationId xmlns:a16="http://schemas.microsoft.com/office/drawing/2014/main" id="{F8E05D63-4A88-5146-8218-6600F1A8B15C}"/>
                  </a:ext>
                </a:extLst>
              </p:cNvPr>
              <p:cNvCxnSpPr>
                <a:cxnSpLocks/>
              </p:cNvCxnSpPr>
              <p:nvPr/>
            </p:nvCxnSpPr>
            <p:spPr>
              <a:xfrm>
                <a:off x="9554303" y="4256889"/>
                <a:ext cx="182364"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3" name="Content Placeholder 2">
                <a:extLst>
                  <a:ext uri="{FF2B5EF4-FFF2-40B4-BE49-F238E27FC236}">
                    <a16:creationId xmlns:a16="http://schemas.microsoft.com/office/drawing/2014/main" id="{CF88A7C6-D64C-5A4D-9811-FB2301DCDA74}"/>
                  </a:ext>
                </a:extLst>
              </p:cNvPr>
              <p:cNvSpPr txBox="1">
                <a:spLocks/>
              </p:cNvSpPr>
              <p:nvPr/>
            </p:nvSpPr>
            <p:spPr>
              <a:xfrm>
                <a:off x="9701476" y="4114838"/>
                <a:ext cx="385565" cy="354123"/>
              </a:xfrm>
              <a:prstGeom prst="rect">
                <a:avLst/>
              </a:prstGeom>
              <a:noFill/>
              <a:ln>
                <a:noFill/>
              </a:ln>
            </p:spPr>
            <p:txBody>
              <a:bodyPr vert="horz" lIns="91440" tIns="45720" rIns="91440" bIns="45720" rtlCol="0">
                <a:normAutofit fontScale="85000"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None/>
                </a:pPr>
                <a:r>
                  <a:rPr lang="en-US" sz="1400" i="1" dirty="0">
                    <a:solidFill>
                      <a:schemeClr val="accent1"/>
                    </a:solidFill>
                  </a:rPr>
                  <a:t>Yes</a:t>
                </a:r>
              </a:p>
            </p:txBody>
          </p:sp>
        </p:grpSp>
        <p:grpSp>
          <p:nvGrpSpPr>
            <p:cNvPr id="34" name="Group 33">
              <a:extLst>
                <a:ext uri="{FF2B5EF4-FFF2-40B4-BE49-F238E27FC236}">
                  <a16:creationId xmlns:a16="http://schemas.microsoft.com/office/drawing/2014/main" id="{F88D1CA9-0E5E-AB41-A4D7-85B7C1F34A32}"/>
                </a:ext>
              </a:extLst>
            </p:cNvPr>
            <p:cNvGrpSpPr/>
            <p:nvPr/>
          </p:nvGrpSpPr>
          <p:grpSpPr>
            <a:xfrm>
              <a:off x="8830734" y="5654153"/>
              <a:ext cx="1476441" cy="507189"/>
              <a:chOff x="8610600" y="4003295"/>
              <a:chExt cx="1476441" cy="507189"/>
            </a:xfrm>
          </p:grpSpPr>
          <p:sp>
            <p:nvSpPr>
              <p:cNvPr id="35" name="Content Placeholder 2">
                <a:extLst>
                  <a:ext uri="{FF2B5EF4-FFF2-40B4-BE49-F238E27FC236}">
                    <a16:creationId xmlns:a16="http://schemas.microsoft.com/office/drawing/2014/main" id="{B391BE7F-271F-9646-AC1A-C64580FC6FF1}"/>
                  </a:ext>
                </a:extLst>
              </p:cNvPr>
              <p:cNvSpPr txBox="1">
                <a:spLocks/>
              </p:cNvSpPr>
              <p:nvPr/>
            </p:nvSpPr>
            <p:spPr>
              <a:xfrm>
                <a:off x="8610600" y="4003295"/>
                <a:ext cx="943703" cy="507189"/>
              </a:xfrm>
              <a:prstGeom prst="rect">
                <a:avLst/>
              </a:prstGeom>
              <a:solidFill>
                <a:schemeClr val="accent1"/>
              </a:solidFill>
              <a:ln>
                <a:solidFill>
                  <a:schemeClr val="tx1">
                    <a:lumMod val="95000"/>
                  </a:schemeClr>
                </a:solidFill>
              </a:ln>
            </p:spPr>
            <p:txBody>
              <a:bodyPr vert="horz" lIns="91440" tIns="45720" rIns="91440" bIns="45720" rtlCol="0">
                <a:normAutofit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None/>
                </a:pPr>
                <a:r>
                  <a:rPr lang="en-US" sz="1200" i="1" dirty="0">
                    <a:solidFill>
                      <a:schemeClr val="bg1"/>
                    </a:solidFill>
                  </a:rPr>
                  <a:t>DTM Verifier for P</a:t>
                </a:r>
              </a:p>
            </p:txBody>
          </p:sp>
          <p:cxnSp>
            <p:nvCxnSpPr>
              <p:cNvPr id="36" name="Straight Arrow Connector 35">
                <a:extLst>
                  <a:ext uri="{FF2B5EF4-FFF2-40B4-BE49-F238E27FC236}">
                    <a16:creationId xmlns:a16="http://schemas.microsoft.com/office/drawing/2014/main" id="{123CEA14-8830-5E4F-9B01-7C7DC37BF4D9}"/>
                  </a:ext>
                </a:extLst>
              </p:cNvPr>
              <p:cNvCxnSpPr>
                <a:cxnSpLocks/>
              </p:cNvCxnSpPr>
              <p:nvPr/>
            </p:nvCxnSpPr>
            <p:spPr>
              <a:xfrm>
                <a:off x="9554303" y="4256889"/>
                <a:ext cx="182364"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7" name="Content Placeholder 2">
                <a:extLst>
                  <a:ext uri="{FF2B5EF4-FFF2-40B4-BE49-F238E27FC236}">
                    <a16:creationId xmlns:a16="http://schemas.microsoft.com/office/drawing/2014/main" id="{845C1817-2E60-9144-90FF-FA727159026A}"/>
                  </a:ext>
                </a:extLst>
              </p:cNvPr>
              <p:cNvSpPr txBox="1">
                <a:spLocks/>
              </p:cNvSpPr>
              <p:nvPr/>
            </p:nvSpPr>
            <p:spPr>
              <a:xfrm>
                <a:off x="9701476" y="4114838"/>
                <a:ext cx="385565" cy="354123"/>
              </a:xfrm>
              <a:prstGeom prst="rect">
                <a:avLst/>
              </a:prstGeom>
              <a:noFill/>
              <a:ln>
                <a:noFill/>
              </a:ln>
            </p:spPr>
            <p:txBody>
              <a:bodyPr vert="horz" lIns="91440" tIns="45720" rIns="91440" bIns="45720" rtlCol="0">
                <a:normAutofit fontScale="925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None/>
                </a:pPr>
                <a:r>
                  <a:rPr lang="en-US" sz="1400" i="1" dirty="0">
                    <a:solidFill>
                      <a:schemeClr val="accent1"/>
                    </a:solidFill>
                  </a:rPr>
                  <a:t>No</a:t>
                </a:r>
              </a:p>
            </p:txBody>
          </p:sp>
        </p:grpSp>
        <p:sp>
          <p:nvSpPr>
            <p:cNvPr id="38" name="Oval 37">
              <a:extLst>
                <a:ext uri="{FF2B5EF4-FFF2-40B4-BE49-F238E27FC236}">
                  <a16:creationId xmlns:a16="http://schemas.microsoft.com/office/drawing/2014/main" id="{783D49A2-74C2-454C-843C-20894ADD410F}"/>
                </a:ext>
              </a:extLst>
            </p:cNvPr>
            <p:cNvSpPr/>
            <p:nvPr/>
          </p:nvSpPr>
          <p:spPr>
            <a:xfrm>
              <a:off x="6094410" y="4794143"/>
              <a:ext cx="325861" cy="325861"/>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9" name="Content Placeholder 2">
              <a:extLst>
                <a:ext uri="{FF2B5EF4-FFF2-40B4-BE49-F238E27FC236}">
                  <a16:creationId xmlns:a16="http://schemas.microsoft.com/office/drawing/2014/main" id="{CF658392-2B60-034C-A031-C1145B8593CD}"/>
                </a:ext>
              </a:extLst>
            </p:cNvPr>
            <p:cNvSpPr txBox="1">
              <a:spLocks/>
            </p:cNvSpPr>
            <p:nvPr/>
          </p:nvSpPr>
          <p:spPr>
            <a:xfrm>
              <a:off x="7163594" y="3890838"/>
              <a:ext cx="762001" cy="465667"/>
            </a:xfrm>
            <a:prstGeom prst="rect">
              <a:avLst/>
            </a:prstGeom>
            <a:noFill/>
            <a:ln>
              <a:noFill/>
            </a:ln>
          </p:spPr>
          <p:txBody>
            <a:bodyPr vert="horz" lIns="91440" tIns="45720" rIns="91440" bIns="45720" rtlCol="0">
              <a:normAutofit fontScale="92500"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None/>
              </a:pPr>
              <a:r>
                <a:rPr lang="en-US" sz="1200" i="1" dirty="0">
                  <a:solidFill>
                    <a:schemeClr val="accent1"/>
                  </a:solidFill>
                </a:rPr>
                <a:t>Possible solution 1</a:t>
              </a:r>
            </a:p>
          </p:txBody>
        </p:sp>
        <p:sp>
          <p:nvSpPr>
            <p:cNvPr id="40" name="Content Placeholder 2">
              <a:extLst>
                <a:ext uri="{FF2B5EF4-FFF2-40B4-BE49-F238E27FC236}">
                  <a16:creationId xmlns:a16="http://schemas.microsoft.com/office/drawing/2014/main" id="{91A93A20-9AE0-434E-94A2-7D6CDC74FE77}"/>
                </a:ext>
              </a:extLst>
            </p:cNvPr>
            <p:cNvSpPr txBox="1">
              <a:spLocks/>
            </p:cNvSpPr>
            <p:nvPr/>
          </p:nvSpPr>
          <p:spPr>
            <a:xfrm>
              <a:off x="7163593" y="4398027"/>
              <a:ext cx="762001" cy="465667"/>
            </a:xfrm>
            <a:prstGeom prst="rect">
              <a:avLst/>
            </a:prstGeom>
            <a:noFill/>
            <a:ln>
              <a:noFill/>
            </a:ln>
          </p:spPr>
          <p:txBody>
            <a:bodyPr vert="horz" lIns="91440" tIns="45720" rIns="91440" bIns="45720" rtlCol="0">
              <a:normAutofit fontScale="92500"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None/>
              </a:pPr>
              <a:r>
                <a:rPr lang="en-US" sz="1200" i="1" dirty="0">
                  <a:solidFill>
                    <a:schemeClr val="accent1"/>
                  </a:solidFill>
                </a:rPr>
                <a:t>Possible solution 2</a:t>
              </a:r>
            </a:p>
          </p:txBody>
        </p:sp>
        <p:sp>
          <p:nvSpPr>
            <p:cNvPr id="41" name="Content Placeholder 2">
              <a:extLst>
                <a:ext uri="{FF2B5EF4-FFF2-40B4-BE49-F238E27FC236}">
                  <a16:creationId xmlns:a16="http://schemas.microsoft.com/office/drawing/2014/main" id="{BB815415-A928-F14B-A087-369BF2C37195}"/>
                </a:ext>
              </a:extLst>
            </p:cNvPr>
            <p:cNvSpPr txBox="1">
              <a:spLocks/>
            </p:cNvSpPr>
            <p:nvPr/>
          </p:nvSpPr>
          <p:spPr>
            <a:xfrm>
              <a:off x="7163593" y="4991206"/>
              <a:ext cx="762001" cy="465667"/>
            </a:xfrm>
            <a:prstGeom prst="rect">
              <a:avLst/>
            </a:prstGeom>
            <a:noFill/>
            <a:ln>
              <a:noFill/>
            </a:ln>
          </p:spPr>
          <p:txBody>
            <a:bodyPr vert="horz" lIns="91440" tIns="45720" rIns="91440" bIns="45720" rtlCol="0">
              <a:normAutofit fontScale="92500"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None/>
              </a:pPr>
              <a:r>
                <a:rPr lang="en-US" sz="1200" i="1" dirty="0">
                  <a:solidFill>
                    <a:schemeClr val="accent1"/>
                  </a:solidFill>
                </a:rPr>
                <a:t>Possible solution 3</a:t>
              </a:r>
            </a:p>
          </p:txBody>
        </p:sp>
        <p:sp>
          <p:nvSpPr>
            <p:cNvPr id="42" name="Content Placeholder 2">
              <a:extLst>
                <a:ext uri="{FF2B5EF4-FFF2-40B4-BE49-F238E27FC236}">
                  <a16:creationId xmlns:a16="http://schemas.microsoft.com/office/drawing/2014/main" id="{F79EF20A-F7E4-9245-83E4-090951CA4C09}"/>
                </a:ext>
              </a:extLst>
            </p:cNvPr>
            <p:cNvSpPr txBox="1">
              <a:spLocks/>
            </p:cNvSpPr>
            <p:nvPr/>
          </p:nvSpPr>
          <p:spPr>
            <a:xfrm>
              <a:off x="7208208" y="5674913"/>
              <a:ext cx="762001" cy="465667"/>
            </a:xfrm>
            <a:prstGeom prst="rect">
              <a:avLst/>
            </a:prstGeom>
            <a:noFill/>
            <a:ln>
              <a:noFill/>
            </a:ln>
          </p:spPr>
          <p:txBody>
            <a:bodyPr vert="horz" lIns="91440" tIns="45720" rIns="91440" bIns="45720" rtlCol="0">
              <a:normAutofit fontScale="92500"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None/>
              </a:pPr>
              <a:r>
                <a:rPr lang="en-US" sz="1200" i="1" dirty="0">
                  <a:solidFill>
                    <a:schemeClr val="accent1"/>
                  </a:solidFill>
                </a:rPr>
                <a:t>Possible solution 4</a:t>
              </a:r>
            </a:p>
          </p:txBody>
        </p:sp>
        <p:cxnSp>
          <p:nvCxnSpPr>
            <p:cNvPr id="44" name="Straight Connector 43">
              <a:extLst>
                <a:ext uri="{FF2B5EF4-FFF2-40B4-BE49-F238E27FC236}">
                  <a16:creationId xmlns:a16="http://schemas.microsoft.com/office/drawing/2014/main" id="{531869C3-EDD5-F244-A014-5E9AFBFB2152}"/>
                </a:ext>
              </a:extLst>
            </p:cNvPr>
            <p:cNvCxnSpPr>
              <a:stCxn id="38" idx="7"/>
              <a:endCxn id="39" idx="1"/>
            </p:cNvCxnSpPr>
            <p:nvPr/>
          </p:nvCxnSpPr>
          <p:spPr>
            <a:xfrm flipV="1">
              <a:off x="6372550" y="4123672"/>
              <a:ext cx="791044" cy="718192"/>
            </a:xfrm>
            <a:prstGeom prst="line">
              <a:avLst/>
            </a:prstGeom>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64493433-C28B-7843-9D5C-687E4CC1336A}"/>
                </a:ext>
              </a:extLst>
            </p:cNvPr>
            <p:cNvCxnSpPr>
              <a:cxnSpLocks/>
              <a:endCxn id="40" idx="1"/>
            </p:cNvCxnSpPr>
            <p:nvPr/>
          </p:nvCxnSpPr>
          <p:spPr>
            <a:xfrm flipV="1">
              <a:off x="6420271" y="4630861"/>
              <a:ext cx="743322" cy="306884"/>
            </a:xfrm>
            <a:prstGeom prst="line">
              <a:avLst/>
            </a:prstGeom>
          </p:spPr>
          <p:style>
            <a:lnRef idx="1">
              <a:schemeClr val="accent1"/>
            </a:lnRef>
            <a:fillRef idx="0">
              <a:schemeClr val="accent1"/>
            </a:fillRef>
            <a:effectRef idx="0">
              <a:schemeClr val="accent1"/>
            </a:effectRef>
            <a:fontRef idx="minor">
              <a:schemeClr val="tx1"/>
            </a:fontRef>
          </p:style>
        </p:cxnSp>
        <p:cxnSp>
          <p:nvCxnSpPr>
            <p:cNvPr id="48" name="Straight Connector 47">
              <a:extLst>
                <a:ext uri="{FF2B5EF4-FFF2-40B4-BE49-F238E27FC236}">
                  <a16:creationId xmlns:a16="http://schemas.microsoft.com/office/drawing/2014/main" id="{8DC15A42-8449-4947-9122-477E635E411C}"/>
                </a:ext>
              </a:extLst>
            </p:cNvPr>
            <p:cNvCxnSpPr>
              <a:cxnSpLocks/>
              <a:stCxn id="38" idx="6"/>
              <a:endCxn id="41" idx="1"/>
            </p:cNvCxnSpPr>
            <p:nvPr/>
          </p:nvCxnSpPr>
          <p:spPr>
            <a:xfrm>
              <a:off x="6420271" y="4957074"/>
              <a:ext cx="743322" cy="266966"/>
            </a:xfrm>
            <a:prstGeom prst="line">
              <a:avLst/>
            </a:prstGeom>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FB084FD9-5EA6-894B-9182-06D50C9CA329}"/>
                </a:ext>
              </a:extLst>
            </p:cNvPr>
            <p:cNvCxnSpPr>
              <a:cxnSpLocks/>
              <a:stCxn id="38" idx="5"/>
              <a:endCxn id="42" idx="1"/>
            </p:cNvCxnSpPr>
            <p:nvPr/>
          </p:nvCxnSpPr>
          <p:spPr>
            <a:xfrm>
              <a:off x="6372550" y="5072283"/>
              <a:ext cx="835658" cy="835464"/>
            </a:xfrm>
            <a:prstGeom prst="line">
              <a:avLst/>
            </a:prstGeom>
          </p:spPr>
          <p:style>
            <a:lnRef idx="1">
              <a:schemeClr val="accent1"/>
            </a:lnRef>
            <a:fillRef idx="0">
              <a:schemeClr val="accent1"/>
            </a:fillRef>
            <a:effectRef idx="0">
              <a:schemeClr val="accent1"/>
            </a:effectRef>
            <a:fontRef idx="minor">
              <a:schemeClr val="tx1"/>
            </a:fontRef>
          </p:style>
        </p:cxnSp>
        <p:cxnSp>
          <p:nvCxnSpPr>
            <p:cNvPr id="54" name="Straight Connector 53">
              <a:extLst>
                <a:ext uri="{FF2B5EF4-FFF2-40B4-BE49-F238E27FC236}">
                  <a16:creationId xmlns:a16="http://schemas.microsoft.com/office/drawing/2014/main" id="{C1FCE52D-47C0-784B-ADAB-ABCA4F21B167}"/>
                </a:ext>
              </a:extLst>
            </p:cNvPr>
            <p:cNvCxnSpPr>
              <a:cxnSpLocks/>
              <a:stCxn id="39" idx="3"/>
              <a:endCxn id="19" idx="1"/>
            </p:cNvCxnSpPr>
            <p:nvPr/>
          </p:nvCxnSpPr>
          <p:spPr>
            <a:xfrm flipV="1">
              <a:off x="7925595" y="3966318"/>
              <a:ext cx="905139" cy="157354"/>
            </a:xfrm>
            <a:prstGeom prst="line">
              <a:avLst/>
            </a:prstGeom>
          </p:spPr>
          <p:style>
            <a:lnRef idx="1">
              <a:schemeClr val="accent1"/>
            </a:lnRef>
            <a:fillRef idx="0">
              <a:schemeClr val="accent1"/>
            </a:fillRef>
            <a:effectRef idx="0">
              <a:schemeClr val="accent1"/>
            </a:effectRef>
            <a:fontRef idx="minor">
              <a:schemeClr val="tx1"/>
            </a:fontRef>
          </p:style>
        </p:cxnSp>
        <p:cxnSp>
          <p:nvCxnSpPr>
            <p:cNvPr id="57" name="Straight Connector 56">
              <a:extLst>
                <a:ext uri="{FF2B5EF4-FFF2-40B4-BE49-F238E27FC236}">
                  <a16:creationId xmlns:a16="http://schemas.microsoft.com/office/drawing/2014/main" id="{EA1F7EA7-132E-604E-A960-0E2CF363CF51}"/>
                </a:ext>
              </a:extLst>
            </p:cNvPr>
            <p:cNvCxnSpPr>
              <a:cxnSpLocks/>
              <a:stCxn id="40" idx="3"/>
              <a:endCxn id="27" idx="1"/>
            </p:cNvCxnSpPr>
            <p:nvPr/>
          </p:nvCxnSpPr>
          <p:spPr>
            <a:xfrm flipV="1">
              <a:off x="7925594" y="4610100"/>
              <a:ext cx="905140" cy="20761"/>
            </a:xfrm>
            <a:prstGeom prst="line">
              <a:avLst/>
            </a:prstGeom>
          </p:spPr>
          <p:style>
            <a:lnRef idx="1">
              <a:schemeClr val="accent1"/>
            </a:lnRef>
            <a:fillRef idx="0">
              <a:schemeClr val="accent1"/>
            </a:fillRef>
            <a:effectRef idx="0">
              <a:schemeClr val="accent1"/>
            </a:effectRef>
            <a:fontRef idx="minor">
              <a:schemeClr val="tx1"/>
            </a:fontRef>
          </p:style>
        </p:cxnSp>
        <p:cxnSp>
          <p:nvCxnSpPr>
            <p:cNvPr id="60" name="Straight Connector 59">
              <a:extLst>
                <a:ext uri="{FF2B5EF4-FFF2-40B4-BE49-F238E27FC236}">
                  <a16:creationId xmlns:a16="http://schemas.microsoft.com/office/drawing/2014/main" id="{F733E080-2029-4748-8BE8-C54C7915F98B}"/>
                </a:ext>
              </a:extLst>
            </p:cNvPr>
            <p:cNvCxnSpPr>
              <a:cxnSpLocks/>
              <a:stCxn id="41" idx="3"/>
              <a:endCxn id="31" idx="1"/>
            </p:cNvCxnSpPr>
            <p:nvPr/>
          </p:nvCxnSpPr>
          <p:spPr>
            <a:xfrm>
              <a:off x="7925594" y="5224040"/>
              <a:ext cx="905140" cy="20761"/>
            </a:xfrm>
            <a:prstGeom prst="line">
              <a:avLst/>
            </a:prstGeom>
          </p:spPr>
          <p:style>
            <a:lnRef idx="1">
              <a:schemeClr val="accent1"/>
            </a:lnRef>
            <a:fillRef idx="0">
              <a:schemeClr val="accent1"/>
            </a:fillRef>
            <a:effectRef idx="0">
              <a:schemeClr val="accent1"/>
            </a:effectRef>
            <a:fontRef idx="minor">
              <a:schemeClr val="tx1"/>
            </a:fontRef>
          </p:style>
        </p:cxnSp>
        <p:cxnSp>
          <p:nvCxnSpPr>
            <p:cNvPr id="63" name="Straight Connector 62">
              <a:extLst>
                <a:ext uri="{FF2B5EF4-FFF2-40B4-BE49-F238E27FC236}">
                  <a16:creationId xmlns:a16="http://schemas.microsoft.com/office/drawing/2014/main" id="{D4EC4368-E66F-7045-92B7-FBAAF61CB3EC}"/>
                </a:ext>
              </a:extLst>
            </p:cNvPr>
            <p:cNvCxnSpPr>
              <a:cxnSpLocks/>
              <a:stCxn id="42" idx="3"/>
              <a:endCxn id="35" idx="1"/>
            </p:cNvCxnSpPr>
            <p:nvPr/>
          </p:nvCxnSpPr>
          <p:spPr>
            <a:xfrm>
              <a:off x="7970209" y="5907747"/>
              <a:ext cx="860525" cy="1"/>
            </a:xfrm>
            <a:prstGeom prst="line">
              <a:avLst/>
            </a:prstGeom>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6" name="Content Placeholder 2">
                  <a:extLst>
                    <a:ext uri="{FF2B5EF4-FFF2-40B4-BE49-F238E27FC236}">
                      <a16:creationId xmlns:a16="http://schemas.microsoft.com/office/drawing/2014/main" id="{BEEB360F-C8F7-F04F-BAEA-E0F5EF5FB917}"/>
                    </a:ext>
                  </a:extLst>
                </p:cNvPr>
                <p:cNvSpPr txBox="1">
                  <a:spLocks/>
                </p:cNvSpPr>
                <p:nvPr/>
              </p:nvSpPr>
              <p:spPr>
                <a:xfrm>
                  <a:off x="6606342" y="4133717"/>
                  <a:ext cx="247983" cy="413549"/>
                </a:xfrm>
                <a:prstGeom prst="rect">
                  <a:avLst/>
                </a:prstGeom>
                <a:noFill/>
                <a:ln>
                  <a:no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None/>
                  </a:pPr>
                  <a14:m>
                    <m:oMathPara xmlns:m="http://schemas.openxmlformats.org/officeDocument/2006/math">
                      <m:oMathParaPr>
                        <m:jc m:val="center"/>
                      </m:oMathParaPr>
                      <m:oMath xmlns:m="http://schemas.openxmlformats.org/officeDocument/2006/math">
                        <m:r>
                          <a:rPr lang="en-US" sz="1600" b="0" i="1" dirty="0" smtClean="0">
                            <a:solidFill>
                              <a:schemeClr val="accent1"/>
                            </a:solidFill>
                            <a:latin typeface="Cambria Math" panose="02040503050406030204" pitchFamily="18" charset="0"/>
                          </a:rPr>
                          <m:t>𝜖</m:t>
                        </m:r>
                      </m:oMath>
                    </m:oMathPara>
                  </a14:m>
                  <a:endParaRPr lang="en-US" sz="1600" i="1" dirty="0">
                    <a:solidFill>
                      <a:schemeClr val="accent1"/>
                    </a:solidFill>
                  </a:endParaRPr>
                </a:p>
              </p:txBody>
            </p:sp>
          </mc:Choice>
          <mc:Fallback xmlns="">
            <p:sp>
              <p:nvSpPr>
                <p:cNvPr id="66" name="Content Placeholder 2">
                  <a:extLst>
                    <a:ext uri="{FF2B5EF4-FFF2-40B4-BE49-F238E27FC236}">
                      <a16:creationId xmlns:a16="http://schemas.microsoft.com/office/drawing/2014/main" id="{BEEB360F-C8F7-F04F-BAEA-E0F5EF5FB917}"/>
                    </a:ext>
                  </a:extLst>
                </p:cNvPr>
                <p:cNvSpPr txBox="1">
                  <a:spLocks noRot="1" noChangeAspect="1" noMove="1" noResize="1" noEditPoints="1" noAdjustHandles="1" noChangeArrowheads="1" noChangeShapeType="1" noTextEdit="1"/>
                </p:cNvSpPr>
                <p:nvPr/>
              </p:nvSpPr>
              <p:spPr>
                <a:xfrm>
                  <a:off x="6606342" y="4133717"/>
                  <a:ext cx="247983" cy="413549"/>
                </a:xfrm>
                <a:prstGeom prst="rect">
                  <a:avLst/>
                </a:prstGeom>
                <a:blipFill>
                  <a:blip r:embed="rId2"/>
                  <a:stretch>
                    <a:fillRect l="-5263"/>
                  </a:stretch>
                </a:blipFill>
                <a:ln>
                  <a:no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7" name="Content Placeholder 2">
                  <a:extLst>
                    <a:ext uri="{FF2B5EF4-FFF2-40B4-BE49-F238E27FC236}">
                      <a16:creationId xmlns:a16="http://schemas.microsoft.com/office/drawing/2014/main" id="{0C330A06-E966-454F-AC41-095B619AAA51}"/>
                    </a:ext>
                  </a:extLst>
                </p:cNvPr>
                <p:cNvSpPr txBox="1">
                  <a:spLocks/>
                </p:cNvSpPr>
                <p:nvPr/>
              </p:nvSpPr>
              <p:spPr>
                <a:xfrm>
                  <a:off x="6905520" y="4380594"/>
                  <a:ext cx="247983" cy="413549"/>
                </a:xfrm>
                <a:prstGeom prst="rect">
                  <a:avLst/>
                </a:prstGeom>
                <a:noFill/>
                <a:ln>
                  <a:no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None/>
                  </a:pPr>
                  <a14:m>
                    <m:oMathPara xmlns:m="http://schemas.openxmlformats.org/officeDocument/2006/math">
                      <m:oMathParaPr>
                        <m:jc m:val="center"/>
                      </m:oMathParaPr>
                      <m:oMath xmlns:m="http://schemas.openxmlformats.org/officeDocument/2006/math">
                        <m:r>
                          <a:rPr lang="en-US" sz="1600" b="0" i="1" dirty="0" smtClean="0">
                            <a:solidFill>
                              <a:schemeClr val="accent1"/>
                            </a:solidFill>
                            <a:latin typeface="Cambria Math" panose="02040503050406030204" pitchFamily="18" charset="0"/>
                          </a:rPr>
                          <m:t>𝜖</m:t>
                        </m:r>
                      </m:oMath>
                    </m:oMathPara>
                  </a14:m>
                  <a:endParaRPr lang="en-US" sz="1600" i="1" dirty="0">
                    <a:solidFill>
                      <a:schemeClr val="accent1"/>
                    </a:solidFill>
                  </a:endParaRPr>
                </a:p>
              </p:txBody>
            </p:sp>
          </mc:Choice>
          <mc:Fallback xmlns="">
            <p:sp>
              <p:nvSpPr>
                <p:cNvPr id="67" name="Content Placeholder 2">
                  <a:extLst>
                    <a:ext uri="{FF2B5EF4-FFF2-40B4-BE49-F238E27FC236}">
                      <a16:creationId xmlns:a16="http://schemas.microsoft.com/office/drawing/2014/main" id="{0C330A06-E966-454F-AC41-095B619AAA51}"/>
                    </a:ext>
                  </a:extLst>
                </p:cNvPr>
                <p:cNvSpPr txBox="1">
                  <a:spLocks noRot="1" noChangeAspect="1" noMove="1" noResize="1" noEditPoints="1" noAdjustHandles="1" noChangeArrowheads="1" noChangeShapeType="1" noTextEdit="1"/>
                </p:cNvSpPr>
                <p:nvPr/>
              </p:nvSpPr>
              <p:spPr>
                <a:xfrm>
                  <a:off x="6905520" y="4380594"/>
                  <a:ext cx="247983" cy="413549"/>
                </a:xfrm>
                <a:prstGeom prst="rect">
                  <a:avLst/>
                </a:prstGeom>
                <a:blipFill>
                  <a:blip r:embed="rId3"/>
                  <a:stretch>
                    <a:fillRect/>
                  </a:stretch>
                </a:blipFill>
                <a:ln>
                  <a:no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8" name="Content Placeholder 2">
                  <a:extLst>
                    <a:ext uri="{FF2B5EF4-FFF2-40B4-BE49-F238E27FC236}">
                      <a16:creationId xmlns:a16="http://schemas.microsoft.com/office/drawing/2014/main" id="{5E4C13B2-737C-9F48-B48E-8CA8DBC9CFFB}"/>
                    </a:ext>
                  </a:extLst>
                </p:cNvPr>
                <p:cNvSpPr txBox="1">
                  <a:spLocks/>
                </p:cNvSpPr>
                <p:nvPr/>
              </p:nvSpPr>
              <p:spPr>
                <a:xfrm>
                  <a:off x="6813926" y="4820202"/>
                  <a:ext cx="247983" cy="413549"/>
                </a:xfrm>
                <a:prstGeom prst="rect">
                  <a:avLst/>
                </a:prstGeom>
                <a:noFill/>
                <a:ln>
                  <a:no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None/>
                  </a:pPr>
                  <a14:m>
                    <m:oMathPara xmlns:m="http://schemas.openxmlformats.org/officeDocument/2006/math">
                      <m:oMathParaPr>
                        <m:jc m:val="center"/>
                      </m:oMathParaPr>
                      <m:oMath xmlns:m="http://schemas.openxmlformats.org/officeDocument/2006/math">
                        <m:r>
                          <a:rPr lang="en-US" sz="1600" b="0" i="1" dirty="0" smtClean="0">
                            <a:solidFill>
                              <a:schemeClr val="accent1"/>
                            </a:solidFill>
                            <a:latin typeface="Cambria Math" panose="02040503050406030204" pitchFamily="18" charset="0"/>
                          </a:rPr>
                          <m:t>𝜖</m:t>
                        </m:r>
                      </m:oMath>
                    </m:oMathPara>
                  </a14:m>
                  <a:endParaRPr lang="en-US" sz="1600" i="1" dirty="0">
                    <a:solidFill>
                      <a:schemeClr val="accent1"/>
                    </a:solidFill>
                  </a:endParaRPr>
                </a:p>
              </p:txBody>
            </p:sp>
          </mc:Choice>
          <mc:Fallback xmlns="">
            <p:sp>
              <p:nvSpPr>
                <p:cNvPr id="68" name="Content Placeholder 2">
                  <a:extLst>
                    <a:ext uri="{FF2B5EF4-FFF2-40B4-BE49-F238E27FC236}">
                      <a16:creationId xmlns:a16="http://schemas.microsoft.com/office/drawing/2014/main" id="{5E4C13B2-737C-9F48-B48E-8CA8DBC9CFFB}"/>
                    </a:ext>
                  </a:extLst>
                </p:cNvPr>
                <p:cNvSpPr txBox="1">
                  <a:spLocks noRot="1" noChangeAspect="1" noMove="1" noResize="1" noEditPoints="1" noAdjustHandles="1" noChangeArrowheads="1" noChangeShapeType="1" noTextEdit="1"/>
                </p:cNvSpPr>
                <p:nvPr/>
              </p:nvSpPr>
              <p:spPr>
                <a:xfrm>
                  <a:off x="6813926" y="4820202"/>
                  <a:ext cx="247983" cy="413549"/>
                </a:xfrm>
                <a:prstGeom prst="rect">
                  <a:avLst/>
                </a:prstGeom>
                <a:blipFill>
                  <a:blip r:embed="rId4"/>
                  <a:stretch>
                    <a:fillRect/>
                  </a:stretch>
                </a:blipFill>
                <a:ln>
                  <a:no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9" name="Content Placeholder 2">
                  <a:extLst>
                    <a:ext uri="{FF2B5EF4-FFF2-40B4-BE49-F238E27FC236}">
                      <a16:creationId xmlns:a16="http://schemas.microsoft.com/office/drawing/2014/main" id="{7CD5758C-5676-8346-8A6C-253CEC960704}"/>
                    </a:ext>
                  </a:extLst>
                </p:cNvPr>
                <p:cNvSpPr txBox="1">
                  <a:spLocks/>
                </p:cNvSpPr>
                <p:nvPr/>
              </p:nvSpPr>
              <p:spPr>
                <a:xfrm>
                  <a:off x="6763521" y="5203496"/>
                  <a:ext cx="247983" cy="413549"/>
                </a:xfrm>
                <a:prstGeom prst="rect">
                  <a:avLst/>
                </a:prstGeom>
                <a:noFill/>
                <a:ln>
                  <a:no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None/>
                  </a:pPr>
                  <a14:m>
                    <m:oMathPara xmlns:m="http://schemas.openxmlformats.org/officeDocument/2006/math">
                      <m:oMathParaPr>
                        <m:jc m:val="center"/>
                      </m:oMathParaPr>
                      <m:oMath xmlns:m="http://schemas.openxmlformats.org/officeDocument/2006/math">
                        <m:r>
                          <a:rPr lang="en-US" sz="1600" b="0" i="1" dirty="0" smtClean="0">
                            <a:solidFill>
                              <a:schemeClr val="accent1"/>
                            </a:solidFill>
                            <a:latin typeface="Cambria Math" panose="02040503050406030204" pitchFamily="18" charset="0"/>
                          </a:rPr>
                          <m:t>𝜖</m:t>
                        </m:r>
                      </m:oMath>
                    </m:oMathPara>
                  </a14:m>
                  <a:endParaRPr lang="en-US" sz="1600" i="1" dirty="0">
                    <a:solidFill>
                      <a:schemeClr val="accent1"/>
                    </a:solidFill>
                  </a:endParaRPr>
                </a:p>
              </p:txBody>
            </p:sp>
          </mc:Choice>
          <mc:Fallback xmlns="">
            <p:sp>
              <p:nvSpPr>
                <p:cNvPr id="69" name="Content Placeholder 2">
                  <a:extLst>
                    <a:ext uri="{FF2B5EF4-FFF2-40B4-BE49-F238E27FC236}">
                      <a16:creationId xmlns:a16="http://schemas.microsoft.com/office/drawing/2014/main" id="{7CD5758C-5676-8346-8A6C-253CEC960704}"/>
                    </a:ext>
                  </a:extLst>
                </p:cNvPr>
                <p:cNvSpPr txBox="1">
                  <a:spLocks noRot="1" noChangeAspect="1" noMove="1" noResize="1" noEditPoints="1" noAdjustHandles="1" noChangeArrowheads="1" noChangeShapeType="1" noTextEdit="1"/>
                </p:cNvSpPr>
                <p:nvPr/>
              </p:nvSpPr>
              <p:spPr>
                <a:xfrm>
                  <a:off x="6763521" y="5203496"/>
                  <a:ext cx="247983" cy="413549"/>
                </a:xfrm>
                <a:prstGeom prst="rect">
                  <a:avLst/>
                </a:prstGeom>
                <a:blipFill>
                  <a:blip r:embed="rId4"/>
                  <a:stretch>
                    <a:fillRect l="-5263"/>
                  </a:stretch>
                </a:blipFill>
                <a:ln>
                  <a:noFill/>
                </a:ln>
              </p:spPr>
              <p:txBody>
                <a:bodyPr/>
                <a:lstStyle/>
                <a:p>
                  <a:r>
                    <a:rPr lang="en-US">
                      <a:noFill/>
                    </a:rPr>
                    <a:t> </a:t>
                  </a:r>
                </a:p>
              </p:txBody>
            </p:sp>
          </mc:Fallback>
        </mc:AlternateContent>
      </p:grpSp>
    </p:spTree>
    <p:extLst>
      <p:ext uri="{BB962C8B-B14F-4D97-AF65-F5344CB8AC3E}">
        <p14:creationId xmlns:p14="http://schemas.microsoft.com/office/powerpoint/2010/main" val="37982156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6"/>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7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16"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3" y="125537"/>
            <a:ext cx="9905998" cy="860425"/>
          </a:xfrm>
        </p:spPr>
        <p:txBody>
          <a:bodyPr/>
          <a:lstStyle/>
          <a:p>
            <a:pPr algn="ctr"/>
            <a:r>
              <a:rPr lang="en-US" dirty="0"/>
              <a:t>Comparing NTM and DTM</a:t>
            </a:r>
          </a:p>
        </p:txBody>
      </p:sp>
      <p:sp>
        <p:nvSpPr>
          <p:cNvPr id="3" name="Content Placeholder 2">
            <a:extLst>
              <a:ext uri="{FF2B5EF4-FFF2-40B4-BE49-F238E27FC236}">
                <a16:creationId xmlns:a16="http://schemas.microsoft.com/office/drawing/2014/main" id="{14278F5F-F936-6145-9FF8-704886F1A386}"/>
              </a:ext>
            </a:extLst>
          </p:cNvPr>
          <p:cNvSpPr>
            <a:spLocks noGrp="1"/>
          </p:cNvSpPr>
          <p:nvPr>
            <p:ph idx="1"/>
          </p:nvPr>
        </p:nvSpPr>
        <p:spPr>
          <a:xfrm>
            <a:off x="1141412" y="958234"/>
            <a:ext cx="9905999" cy="1089328"/>
          </a:xfrm>
          <a:solidFill>
            <a:schemeClr val="tx1">
              <a:lumMod val="95000"/>
            </a:schemeClr>
          </a:solidFill>
        </p:spPr>
        <p:txBody>
          <a:bodyPr/>
          <a:lstStyle/>
          <a:p>
            <a:pPr marL="0" indent="0">
              <a:buNone/>
            </a:pPr>
            <a:r>
              <a:rPr lang="en-US" b="1" i="1" u="sng" dirty="0">
                <a:solidFill>
                  <a:schemeClr val="bg1"/>
                </a:solidFill>
              </a:rPr>
              <a:t>Theorem</a:t>
            </a:r>
            <a:r>
              <a:rPr lang="en-US" dirty="0">
                <a:solidFill>
                  <a:schemeClr val="bg1"/>
                </a:solidFill>
              </a:rPr>
              <a:t>: A problem P is verifiable in polynomial time by a DTM if and only if it is solvable (decision problem) in polynomial time by an NTM</a:t>
            </a:r>
          </a:p>
        </p:txBody>
      </p:sp>
      <p:sp>
        <p:nvSpPr>
          <p:cNvPr id="6" name="Content Placeholder 2">
            <a:extLst>
              <a:ext uri="{FF2B5EF4-FFF2-40B4-BE49-F238E27FC236}">
                <a16:creationId xmlns:a16="http://schemas.microsoft.com/office/drawing/2014/main" id="{872645FA-F846-D944-AFBD-6BCCE6F63588}"/>
              </a:ext>
            </a:extLst>
          </p:cNvPr>
          <p:cNvSpPr txBox="1">
            <a:spLocks/>
          </p:cNvSpPr>
          <p:nvPr/>
        </p:nvSpPr>
        <p:spPr>
          <a:xfrm>
            <a:off x="1141411" y="2183278"/>
            <a:ext cx="9905999" cy="856253"/>
          </a:xfrm>
          <a:prstGeom prst="rect">
            <a:avLst/>
          </a:prstGeom>
          <a:noFill/>
          <a:ln>
            <a:solidFill>
              <a:schemeClr val="tx1">
                <a:lumMod val="95000"/>
              </a:schemeClr>
            </a:solidFill>
          </a:ln>
        </p:spPr>
        <p:txBody>
          <a:bodyPr vert="horz" lIns="91440" tIns="45720" rIns="91440" bIns="45720" rtlCol="0">
            <a:normAutofit fontScale="92500"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None/>
            </a:pPr>
            <a:r>
              <a:rPr lang="en-US" b="1" i="1" u="sng" dirty="0">
                <a:solidFill>
                  <a:schemeClr val="tx1">
                    <a:lumMod val="95000"/>
                  </a:schemeClr>
                </a:solidFill>
              </a:rPr>
              <a:t>Direction 2 (Harder)</a:t>
            </a:r>
            <a:r>
              <a:rPr lang="en-US" i="1" dirty="0">
                <a:solidFill>
                  <a:schemeClr val="tx1">
                    <a:lumMod val="95000"/>
                  </a:schemeClr>
                </a:solidFill>
              </a:rPr>
              <a:t>: If a problem is solvable by an NTM in polynomial time, then it is verifiable in polynomial time by a DTM.</a:t>
            </a:r>
          </a:p>
        </p:txBody>
      </p:sp>
      <p:sp>
        <p:nvSpPr>
          <p:cNvPr id="7" name="Content Placeholder 2">
            <a:extLst>
              <a:ext uri="{FF2B5EF4-FFF2-40B4-BE49-F238E27FC236}">
                <a16:creationId xmlns:a16="http://schemas.microsoft.com/office/drawing/2014/main" id="{8F2DBBDB-3767-D445-8A1D-2F5E310CFF85}"/>
              </a:ext>
            </a:extLst>
          </p:cNvPr>
          <p:cNvSpPr txBox="1">
            <a:spLocks/>
          </p:cNvSpPr>
          <p:nvPr/>
        </p:nvSpPr>
        <p:spPr>
          <a:xfrm>
            <a:off x="1217612" y="3448885"/>
            <a:ext cx="2423055" cy="1508189"/>
          </a:xfrm>
          <a:prstGeom prst="rect">
            <a:avLst/>
          </a:prstGeom>
          <a:noFill/>
          <a:ln>
            <a:solidFill>
              <a:schemeClr val="tx1">
                <a:lumMod val="95000"/>
              </a:schemeClr>
            </a:solidFill>
          </a:ln>
        </p:spPr>
        <p:txBody>
          <a:bodyPr vert="horz" lIns="91440" tIns="45720" rIns="91440" bIns="45720" rtlCol="0">
            <a:normAutofit fontScale="925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None/>
            </a:pPr>
            <a:r>
              <a:rPr lang="en-US" i="1" dirty="0">
                <a:solidFill>
                  <a:schemeClr val="tx1">
                    <a:lumMod val="95000"/>
                  </a:schemeClr>
                </a:solidFill>
              </a:rPr>
              <a:t>Given: P is solvable by an NTM. Thus, the NTM that exists</a:t>
            </a:r>
          </a:p>
        </p:txBody>
      </p:sp>
      <p:grpSp>
        <p:nvGrpSpPr>
          <p:cNvPr id="10" name="Group 9">
            <a:extLst>
              <a:ext uri="{FF2B5EF4-FFF2-40B4-BE49-F238E27FC236}">
                <a16:creationId xmlns:a16="http://schemas.microsoft.com/office/drawing/2014/main" id="{85BDEB2E-2AC5-C047-BD04-AF59503D164E}"/>
              </a:ext>
            </a:extLst>
          </p:cNvPr>
          <p:cNvGrpSpPr/>
          <p:nvPr/>
        </p:nvGrpSpPr>
        <p:grpSpPr>
          <a:xfrm>
            <a:off x="928818" y="5266162"/>
            <a:ext cx="3125124" cy="775982"/>
            <a:chOff x="1006609" y="5434162"/>
            <a:chExt cx="3125124" cy="775982"/>
          </a:xfrm>
        </p:grpSpPr>
        <p:sp>
          <p:nvSpPr>
            <p:cNvPr id="8" name="Content Placeholder 2">
              <a:extLst>
                <a:ext uri="{FF2B5EF4-FFF2-40B4-BE49-F238E27FC236}">
                  <a16:creationId xmlns:a16="http://schemas.microsoft.com/office/drawing/2014/main" id="{487DFADF-91B5-764D-B8FD-496048620774}"/>
                </a:ext>
              </a:extLst>
            </p:cNvPr>
            <p:cNvSpPr txBox="1">
              <a:spLocks/>
            </p:cNvSpPr>
            <p:nvPr/>
          </p:nvSpPr>
          <p:spPr>
            <a:xfrm>
              <a:off x="1904999" y="5434162"/>
              <a:ext cx="1168401" cy="708247"/>
            </a:xfrm>
            <a:prstGeom prst="rect">
              <a:avLst/>
            </a:prstGeom>
            <a:solidFill>
              <a:schemeClr val="accent1"/>
            </a:solidFill>
            <a:ln>
              <a:solidFill>
                <a:schemeClr val="tx1">
                  <a:lumMod val="95000"/>
                </a:schemeClr>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None/>
              </a:pPr>
              <a:r>
                <a:rPr lang="en-US" sz="1600" i="1" dirty="0">
                  <a:solidFill>
                    <a:schemeClr val="bg1"/>
                  </a:solidFill>
                </a:rPr>
                <a:t>NTM Solver for P</a:t>
              </a:r>
            </a:p>
          </p:txBody>
        </p:sp>
        <p:cxnSp>
          <p:nvCxnSpPr>
            <p:cNvPr id="5" name="Straight Arrow Connector 4">
              <a:extLst>
                <a:ext uri="{FF2B5EF4-FFF2-40B4-BE49-F238E27FC236}">
                  <a16:creationId xmlns:a16="http://schemas.microsoft.com/office/drawing/2014/main" id="{A6060608-01B9-0E48-A593-DE62A8570CE3}"/>
                </a:ext>
              </a:extLst>
            </p:cNvPr>
            <p:cNvCxnSpPr>
              <a:cxnSpLocks/>
              <a:endCxn id="8" idx="1"/>
            </p:cNvCxnSpPr>
            <p:nvPr/>
          </p:nvCxnSpPr>
          <p:spPr>
            <a:xfrm>
              <a:off x="1608667" y="5788286"/>
              <a:ext cx="296332"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1" name="Content Placeholder 2">
              <a:extLst>
                <a:ext uri="{FF2B5EF4-FFF2-40B4-BE49-F238E27FC236}">
                  <a16:creationId xmlns:a16="http://schemas.microsoft.com/office/drawing/2014/main" id="{1BB85C2F-F9B4-8145-83FA-FAF1BF2E4554}"/>
                </a:ext>
              </a:extLst>
            </p:cNvPr>
            <p:cNvSpPr txBox="1">
              <a:spLocks/>
            </p:cNvSpPr>
            <p:nvPr/>
          </p:nvSpPr>
          <p:spPr>
            <a:xfrm>
              <a:off x="1006609" y="5567433"/>
              <a:ext cx="689238" cy="509438"/>
            </a:xfrm>
            <a:prstGeom prst="rect">
              <a:avLst/>
            </a:prstGeom>
            <a:noFill/>
            <a:ln>
              <a:noFill/>
            </a:ln>
          </p:spPr>
          <p:txBody>
            <a:bodyPr vert="horz" lIns="91440" tIns="45720" rIns="91440" bIns="45720" rtlCol="0">
              <a:normAutofit fontScale="85000"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None/>
              </a:pPr>
              <a:r>
                <a:rPr lang="en-US" i="1" dirty="0">
                  <a:solidFill>
                    <a:schemeClr val="accent1"/>
                  </a:solidFill>
                </a:rPr>
                <a:t>Input</a:t>
              </a:r>
            </a:p>
          </p:txBody>
        </p:sp>
        <p:cxnSp>
          <p:nvCxnSpPr>
            <p:cNvPr id="13" name="Straight Arrow Connector 12">
              <a:extLst>
                <a:ext uri="{FF2B5EF4-FFF2-40B4-BE49-F238E27FC236}">
                  <a16:creationId xmlns:a16="http://schemas.microsoft.com/office/drawing/2014/main" id="{A1E53ABC-8216-874F-B2B0-E67EEF528CCB}"/>
                </a:ext>
              </a:extLst>
            </p:cNvPr>
            <p:cNvCxnSpPr>
              <a:cxnSpLocks/>
            </p:cNvCxnSpPr>
            <p:nvPr/>
          </p:nvCxnSpPr>
          <p:spPr>
            <a:xfrm>
              <a:off x="3073400" y="5788286"/>
              <a:ext cx="296332"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5" name="Content Placeholder 2">
              <a:extLst>
                <a:ext uri="{FF2B5EF4-FFF2-40B4-BE49-F238E27FC236}">
                  <a16:creationId xmlns:a16="http://schemas.microsoft.com/office/drawing/2014/main" id="{F9C412CE-E6DD-0E4D-BBB7-DF9ADE459D7E}"/>
                </a:ext>
              </a:extLst>
            </p:cNvPr>
            <p:cNvSpPr txBox="1">
              <a:spLocks/>
            </p:cNvSpPr>
            <p:nvPr/>
          </p:nvSpPr>
          <p:spPr>
            <a:xfrm>
              <a:off x="3369732" y="5501897"/>
              <a:ext cx="762001" cy="708247"/>
            </a:xfrm>
            <a:prstGeom prst="rect">
              <a:avLst/>
            </a:prstGeom>
            <a:noFill/>
            <a:ln>
              <a:noFill/>
            </a:ln>
          </p:spPr>
          <p:txBody>
            <a:bodyPr vert="horz" lIns="91440" tIns="45720" rIns="91440" bIns="45720" rtlCol="0">
              <a:normAutofit fontScale="625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None/>
              </a:pPr>
              <a:r>
                <a:rPr lang="en-US" i="1" dirty="0">
                  <a:solidFill>
                    <a:schemeClr val="accent1"/>
                  </a:solidFill>
                </a:rPr>
                <a:t>Yes/No</a:t>
              </a:r>
              <a:br>
                <a:rPr lang="en-US" i="1" dirty="0">
                  <a:solidFill>
                    <a:schemeClr val="accent1"/>
                  </a:solidFill>
                </a:rPr>
              </a:br>
              <a:r>
                <a:rPr lang="en-US" i="1" dirty="0">
                  <a:solidFill>
                    <a:schemeClr val="accent1"/>
                  </a:solidFill>
                </a:rPr>
                <a:t>decision</a:t>
              </a:r>
            </a:p>
          </p:txBody>
        </p:sp>
      </p:grpSp>
      <p:sp>
        <p:nvSpPr>
          <p:cNvPr id="16" name="Right Arrow 15">
            <a:extLst>
              <a:ext uri="{FF2B5EF4-FFF2-40B4-BE49-F238E27FC236}">
                <a16:creationId xmlns:a16="http://schemas.microsoft.com/office/drawing/2014/main" id="{F530DFE5-C915-C64A-8DCB-36B6A5A5419C}"/>
              </a:ext>
            </a:extLst>
          </p:cNvPr>
          <p:cNvSpPr/>
          <p:nvPr/>
        </p:nvSpPr>
        <p:spPr>
          <a:xfrm>
            <a:off x="4106328" y="4436533"/>
            <a:ext cx="1007533" cy="347134"/>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7" name="Group 46">
            <a:extLst>
              <a:ext uri="{FF2B5EF4-FFF2-40B4-BE49-F238E27FC236}">
                <a16:creationId xmlns:a16="http://schemas.microsoft.com/office/drawing/2014/main" id="{498655C9-6266-3542-9652-B36716B49D8E}"/>
              </a:ext>
            </a:extLst>
          </p:cNvPr>
          <p:cNvGrpSpPr/>
          <p:nvPr/>
        </p:nvGrpSpPr>
        <p:grpSpPr>
          <a:xfrm>
            <a:off x="5239278" y="3448884"/>
            <a:ext cx="4768320" cy="2934983"/>
            <a:chOff x="5239278" y="3448884"/>
            <a:chExt cx="4768320" cy="2934983"/>
          </a:xfrm>
        </p:grpSpPr>
        <p:sp>
          <p:nvSpPr>
            <p:cNvPr id="17" name="Content Placeholder 2">
              <a:extLst>
                <a:ext uri="{FF2B5EF4-FFF2-40B4-BE49-F238E27FC236}">
                  <a16:creationId xmlns:a16="http://schemas.microsoft.com/office/drawing/2014/main" id="{F6F76596-4772-3846-8B02-7F3DC6CE87CA}"/>
                </a:ext>
              </a:extLst>
            </p:cNvPr>
            <p:cNvSpPr txBox="1">
              <a:spLocks/>
            </p:cNvSpPr>
            <p:nvPr/>
          </p:nvSpPr>
          <p:spPr>
            <a:xfrm>
              <a:off x="5239278" y="3448884"/>
              <a:ext cx="4768320" cy="2934983"/>
            </a:xfrm>
            <a:prstGeom prst="rect">
              <a:avLst/>
            </a:prstGeom>
            <a:noFill/>
            <a:ln>
              <a:solidFill>
                <a:schemeClr val="accent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None/>
              </a:pPr>
              <a:r>
                <a:rPr lang="en-US" sz="1600" i="1" dirty="0">
                  <a:solidFill>
                    <a:schemeClr val="accent1"/>
                  </a:solidFill>
                </a:rPr>
                <a:t>NTM Solver for P</a:t>
              </a:r>
            </a:p>
          </p:txBody>
        </p:sp>
        <p:sp>
          <p:nvSpPr>
            <p:cNvPr id="38" name="Oval 37">
              <a:extLst>
                <a:ext uri="{FF2B5EF4-FFF2-40B4-BE49-F238E27FC236}">
                  <a16:creationId xmlns:a16="http://schemas.microsoft.com/office/drawing/2014/main" id="{783D49A2-74C2-454C-843C-20894ADD410F}"/>
                </a:ext>
              </a:extLst>
            </p:cNvPr>
            <p:cNvSpPr/>
            <p:nvPr/>
          </p:nvSpPr>
          <p:spPr>
            <a:xfrm>
              <a:off x="5628740" y="4794143"/>
              <a:ext cx="325861" cy="325861"/>
            </a:xfrm>
            <a:prstGeom prst="ellipse">
              <a:avLst/>
            </a:prstGeom>
            <a:solidFill>
              <a:schemeClr val="accent3"/>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44" name="Straight Connector 43">
              <a:extLst>
                <a:ext uri="{FF2B5EF4-FFF2-40B4-BE49-F238E27FC236}">
                  <a16:creationId xmlns:a16="http://schemas.microsoft.com/office/drawing/2014/main" id="{531869C3-EDD5-F244-A014-5E9AFBFB2152}"/>
                </a:ext>
              </a:extLst>
            </p:cNvPr>
            <p:cNvCxnSpPr>
              <a:cxnSpLocks/>
              <a:stCxn id="38" idx="7"/>
            </p:cNvCxnSpPr>
            <p:nvPr/>
          </p:nvCxnSpPr>
          <p:spPr>
            <a:xfrm flipV="1">
              <a:off x="5906880" y="4123672"/>
              <a:ext cx="791044" cy="718192"/>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64493433-C28B-7843-9D5C-687E4CC1336A}"/>
                </a:ext>
              </a:extLst>
            </p:cNvPr>
            <p:cNvCxnSpPr>
              <a:cxnSpLocks/>
            </p:cNvCxnSpPr>
            <p:nvPr/>
          </p:nvCxnSpPr>
          <p:spPr>
            <a:xfrm flipV="1">
              <a:off x="5954601" y="4630861"/>
              <a:ext cx="743322" cy="306884"/>
            </a:xfrm>
            <a:prstGeom prst="line">
              <a:avLst/>
            </a:prstGeom>
          </p:spPr>
          <p:style>
            <a:lnRef idx="1">
              <a:schemeClr val="accent1"/>
            </a:lnRef>
            <a:fillRef idx="0">
              <a:schemeClr val="accent1"/>
            </a:fillRef>
            <a:effectRef idx="0">
              <a:schemeClr val="accent1"/>
            </a:effectRef>
            <a:fontRef idx="minor">
              <a:schemeClr val="tx1"/>
            </a:fontRef>
          </p:style>
        </p:cxnSp>
        <p:cxnSp>
          <p:nvCxnSpPr>
            <p:cNvPr id="48" name="Straight Connector 47">
              <a:extLst>
                <a:ext uri="{FF2B5EF4-FFF2-40B4-BE49-F238E27FC236}">
                  <a16:creationId xmlns:a16="http://schemas.microsoft.com/office/drawing/2014/main" id="{8DC15A42-8449-4947-9122-477E635E411C}"/>
                </a:ext>
              </a:extLst>
            </p:cNvPr>
            <p:cNvCxnSpPr>
              <a:cxnSpLocks/>
              <a:stCxn id="38" idx="6"/>
            </p:cNvCxnSpPr>
            <p:nvPr/>
          </p:nvCxnSpPr>
          <p:spPr>
            <a:xfrm>
              <a:off x="5954601" y="4957074"/>
              <a:ext cx="743322" cy="266966"/>
            </a:xfrm>
            <a:prstGeom prst="line">
              <a:avLst/>
            </a:prstGeom>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FB084FD9-5EA6-894B-9182-06D50C9CA329}"/>
                </a:ext>
              </a:extLst>
            </p:cNvPr>
            <p:cNvCxnSpPr>
              <a:cxnSpLocks/>
              <a:stCxn id="38" idx="5"/>
            </p:cNvCxnSpPr>
            <p:nvPr/>
          </p:nvCxnSpPr>
          <p:spPr>
            <a:xfrm>
              <a:off x="5906880" y="5072283"/>
              <a:ext cx="835658" cy="835464"/>
            </a:xfrm>
            <a:prstGeom prst="line">
              <a:avLst/>
            </a:prstGeom>
          </p:spPr>
          <p:style>
            <a:lnRef idx="1">
              <a:schemeClr val="accent1"/>
            </a:lnRef>
            <a:fillRef idx="0">
              <a:schemeClr val="accent1"/>
            </a:fillRef>
            <a:effectRef idx="0">
              <a:schemeClr val="accent1"/>
            </a:effectRef>
            <a:fontRef idx="minor">
              <a:schemeClr val="tx1"/>
            </a:fontRef>
          </p:style>
        </p:cxnSp>
        <p:sp>
          <p:nvSpPr>
            <p:cNvPr id="49" name="Oval 48">
              <a:extLst>
                <a:ext uri="{FF2B5EF4-FFF2-40B4-BE49-F238E27FC236}">
                  <a16:creationId xmlns:a16="http://schemas.microsoft.com/office/drawing/2014/main" id="{844238F0-1FAA-5648-B8CB-95671BC6FE4D}"/>
                </a:ext>
              </a:extLst>
            </p:cNvPr>
            <p:cNvSpPr/>
            <p:nvPr/>
          </p:nvSpPr>
          <p:spPr>
            <a:xfrm>
              <a:off x="6660410" y="3934722"/>
              <a:ext cx="325861" cy="325861"/>
            </a:xfrm>
            <a:prstGeom prst="ellipse">
              <a:avLst/>
            </a:prstGeom>
            <a:solidFill>
              <a:schemeClr val="accent3"/>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0" name="Oval 49">
              <a:extLst>
                <a:ext uri="{FF2B5EF4-FFF2-40B4-BE49-F238E27FC236}">
                  <a16:creationId xmlns:a16="http://schemas.microsoft.com/office/drawing/2014/main" id="{32839298-BFCC-DB41-9A6D-16BC684D6D96}"/>
                </a:ext>
              </a:extLst>
            </p:cNvPr>
            <p:cNvSpPr/>
            <p:nvPr/>
          </p:nvSpPr>
          <p:spPr>
            <a:xfrm>
              <a:off x="6697923" y="4436533"/>
              <a:ext cx="325861" cy="325861"/>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2" name="Oval 51">
              <a:extLst>
                <a:ext uri="{FF2B5EF4-FFF2-40B4-BE49-F238E27FC236}">
                  <a16:creationId xmlns:a16="http://schemas.microsoft.com/office/drawing/2014/main" id="{A4530AF3-03D4-CA4C-B357-4BFCBA6E90D2}"/>
                </a:ext>
              </a:extLst>
            </p:cNvPr>
            <p:cNvSpPr/>
            <p:nvPr/>
          </p:nvSpPr>
          <p:spPr>
            <a:xfrm>
              <a:off x="6705024" y="5073572"/>
              <a:ext cx="325861" cy="325861"/>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3" name="Oval 52">
              <a:extLst>
                <a:ext uri="{FF2B5EF4-FFF2-40B4-BE49-F238E27FC236}">
                  <a16:creationId xmlns:a16="http://schemas.microsoft.com/office/drawing/2014/main" id="{580E87B4-26C3-394C-8C36-537E02986FD2}"/>
                </a:ext>
              </a:extLst>
            </p:cNvPr>
            <p:cNvSpPr/>
            <p:nvPr/>
          </p:nvSpPr>
          <p:spPr>
            <a:xfrm>
              <a:off x="6678297" y="5808905"/>
              <a:ext cx="325861" cy="325861"/>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55" name="Straight Connector 54">
              <a:extLst>
                <a:ext uri="{FF2B5EF4-FFF2-40B4-BE49-F238E27FC236}">
                  <a16:creationId xmlns:a16="http://schemas.microsoft.com/office/drawing/2014/main" id="{39539CF7-6CB5-824A-AB18-264126A00F21}"/>
                </a:ext>
              </a:extLst>
            </p:cNvPr>
            <p:cNvCxnSpPr>
              <a:cxnSpLocks/>
            </p:cNvCxnSpPr>
            <p:nvPr/>
          </p:nvCxnSpPr>
          <p:spPr>
            <a:xfrm flipV="1">
              <a:off x="6976064" y="3843496"/>
              <a:ext cx="907195" cy="221540"/>
            </a:xfrm>
            <a:prstGeom prst="line">
              <a:avLst/>
            </a:prstGeom>
          </p:spPr>
          <p:style>
            <a:lnRef idx="1">
              <a:schemeClr val="accent1"/>
            </a:lnRef>
            <a:fillRef idx="0">
              <a:schemeClr val="accent1"/>
            </a:fillRef>
            <a:effectRef idx="0">
              <a:schemeClr val="accent1"/>
            </a:effectRef>
            <a:fontRef idx="minor">
              <a:schemeClr val="tx1"/>
            </a:fontRef>
          </p:style>
        </p:cxnSp>
        <p:cxnSp>
          <p:nvCxnSpPr>
            <p:cNvPr id="56" name="Straight Connector 55">
              <a:extLst>
                <a:ext uri="{FF2B5EF4-FFF2-40B4-BE49-F238E27FC236}">
                  <a16:creationId xmlns:a16="http://schemas.microsoft.com/office/drawing/2014/main" id="{84362EE4-1E31-DA44-9A0B-49FC591B8182}"/>
                </a:ext>
              </a:extLst>
            </p:cNvPr>
            <p:cNvCxnSpPr>
              <a:cxnSpLocks/>
            </p:cNvCxnSpPr>
            <p:nvPr/>
          </p:nvCxnSpPr>
          <p:spPr>
            <a:xfrm>
              <a:off x="6976064" y="4072052"/>
              <a:ext cx="1195543" cy="232705"/>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58" name="Straight Connector 57">
              <a:extLst>
                <a:ext uri="{FF2B5EF4-FFF2-40B4-BE49-F238E27FC236}">
                  <a16:creationId xmlns:a16="http://schemas.microsoft.com/office/drawing/2014/main" id="{6A560387-B1E8-0942-840B-A528F825F867}"/>
                </a:ext>
              </a:extLst>
            </p:cNvPr>
            <p:cNvCxnSpPr>
              <a:cxnSpLocks/>
            </p:cNvCxnSpPr>
            <p:nvPr/>
          </p:nvCxnSpPr>
          <p:spPr>
            <a:xfrm>
              <a:off x="7023784" y="4570471"/>
              <a:ext cx="405877" cy="28992"/>
            </a:xfrm>
            <a:prstGeom prst="line">
              <a:avLst/>
            </a:prstGeom>
          </p:spPr>
          <p:style>
            <a:lnRef idx="1">
              <a:schemeClr val="accent1"/>
            </a:lnRef>
            <a:fillRef idx="0">
              <a:schemeClr val="accent1"/>
            </a:fillRef>
            <a:effectRef idx="0">
              <a:schemeClr val="accent1"/>
            </a:effectRef>
            <a:fontRef idx="minor">
              <a:schemeClr val="tx1"/>
            </a:fontRef>
          </p:style>
        </p:cxnSp>
        <p:cxnSp>
          <p:nvCxnSpPr>
            <p:cNvPr id="59" name="Straight Connector 58">
              <a:extLst>
                <a:ext uri="{FF2B5EF4-FFF2-40B4-BE49-F238E27FC236}">
                  <a16:creationId xmlns:a16="http://schemas.microsoft.com/office/drawing/2014/main" id="{21F0EA61-2B6F-8B48-88C0-F455E13FDF16}"/>
                </a:ext>
              </a:extLst>
            </p:cNvPr>
            <p:cNvCxnSpPr>
              <a:cxnSpLocks/>
            </p:cNvCxnSpPr>
            <p:nvPr/>
          </p:nvCxnSpPr>
          <p:spPr>
            <a:xfrm>
              <a:off x="7012224" y="5224040"/>
              <a:ext cx="611214" cy="9502"/>
            </a:xfrm>
            <a:prstGeom prst="line">
              <a:avLst/>
            </a:prstGeom>
          </p:spPr>
          <p:style>
            <a:lnRef idx="1">
              <a:schemeClr val="accent1"/>
            </a:lnRef>
            <a:fillRef idx="0">
              <a:schemeClr val="accent1"/>
            </a:fillRef>
            <a:effectRef idx="0">
              <a:schemeClr val="accent1"/>
            </a:effectRef>
            <a:fontRef idx="minor">
              <a:schemeClr val="tx1"/>
            </a:fontRef>
          </p:style>
        </p:cxnSp>
        <p:cxnSp>
          <p:nvCxnSpPr>
            <p:cNvPr id="61" name="Straight Connector 60">
              <a:extLst>
                <a:ext uri="{FF2B5EF4-FFF2-40B4-BE49-F238E27FC236}">
                  <a16:creationId xmlns:a16="http://schemas.microsoft.com/office/drawing/2014/main" id="{32728A9D-6369-4040-AB6D-E38904D4AA60}"/>
                </a:ext>
              </a:extLst>
            </p:cNvPr>
            <p:cNvCxnSpPr>
              <a:cxnSpLocks/>
            </p:cNvCxnSpPr>
            <p:nvPr/>
          </p:nvCxnSpPr>
          <p:spPr>
            <a:xfrm flipV="1">
              <a:off x="7004158" y="5642895"/>
              <a:ext cx="619280" cy="326949"/>
            </a:xfrm>
            <a:prstGeom prst="line">
              <a:avLst/>
            </a:prstGeom>
          </p:spPr>
          <p:style>
            <a:lnRef idx="1">
              <a:schemeClr val="accent1"/>
            </a:lnRef>
            <a:fillRef idx="0">
              <a:schemeClr val="accent1"/>
            </a:fillRef>
            <a:effectRef idx="0">
              <a:schemeClr val="accent1"/>
            </a:effectRef>
            <a:fontRef idx="minor">
              <a:schemeClr val="tx1"/>
            </a:fontRef>
          </p:style>
        </p:cxnSp>
        <p:cxnSp>
          <p:nvCxnSpPr>
            <p:cNvPr id="62" name="Straight Connector 61">
              <a:extLst>
                <a:ext uri="{FF2B5EF4-FFF2-40B4-BE49-F238E27FC236}">
                  <a16:creationId xmlns:a16="http://schemas.microsoft.com/office/drawing/2014/main" id="{ED3BA1AF-E3C2-024D-AFE0-EC9F70BE70E6}"/>
                </a:ext>
              </a:extLst>
            </p:cNvPr>
            <p:cNvCxnSpPr>
              <a:cxnSpLocks/>
              <a:stCxn id="53" idx="6"/>
            </p:cNvCxnSpPr>
            <p:nvPr/>
          </p:nvCxnSpPr>
          <p:spPr>
            <a:xfrm>
              <a:off x="7004158" y="5971836"/>
              <a:ext cx="619280" cy="162930"/>
            </a:xfrm>
            <a:prstGeom prst="line">
              <a:avLst/>
            </a:prstGeom>
          </p:spPr>
          <p:style>
            <a:lnRef idx="1">
              <a:schemeClr val="accent1"/>
            </a:lnRef>
            <a:fillRef idx="0">
              <a:schemeClr val="accent1"/>
            </a:fillRef>
            <a:effectRef idx="0">
              <a:schemeClr val="accent1"/>
            </a:effectRef>
            <a:fontRef idx="minor">
              <a:schemeClr val="tx1"/>
            </a:fontRef>
          </p:style>
        </p:cxnSp>
        <p:sp>
          <p:nvSpPr>
            <p:cNvPr id="65" name="Oval 64">
              <a:extLst>
                <a:ext uri="{FF2B5EF4-FFF2-40B4-BE49-F238E27FC236}">
                  <a16:creationId xmlns:a16="http://schemas.microsoft.com/office/drawing/2014/main" id="{82CCC728-AEE6-9D42-B3E6-7893C9751E08}"/>
                </a:ext>
              </a:extLst>
            </p:cNvPr>
            <p:cNvSpPr/>
            <p:nvPr/>
          </p:nvSpPr>
          <p:spPr>
            <a:xfrm>
              <a:off x="7823900" y="3662699"/>
              <a:ext cx="325861" cy="325861"/>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1" name="Oval 70">
              <a:extLst>
                <a:ext uri="{FF2B5EF4-FFF2-40B4-BE49-F238E27FC236}">
                  <a16:creationId xmlns:a16="http://schemas.microsoft.com/office/drawing/2014/main" id="{C6BC744E-8F26-814A-8BBA-DAA9D11E00FC}"/>
                </a:ext>
              </a:extLst>
            </p:cNvPr>
            <p:cNvSpPr/>
            <p:nvPr/>
          </p:nvSpPr>
          <p:spPr>
            <a:xfrm>
              <a:off x="8081542" y="4156907"/>
              <a:ext cx="325861" cy="325861"/>
            </a:xfrm>
            <a:prstGeom prst="ellipse">
              <a:avLst/>
            </a:prstGeom>
            <a:solidFill>
              <a:schemeClr val="accent3"/>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2" name="Oval 71">
              <a:extLst>
                <a:ext uri="{FF2B5EF4-FFF2-40B4-BE49-F238E27FC236}">
                  <a16:creationId xmlns:a16="http://schemas.microsoft.com/office/drawing/2014/main" id="{47CE7013-F2B2-EA4E-8E8D-CE60D57D497F}"/>
                </a:ext>
              </a:extLst>
            </p:cNvPr>
            <p:cNvSpPr/>
            <p:nvPr/>
          </p:nvSpPr>
          <p:spPr>
            <a:xfrm>
              <a:off x="7365526" y="4423359"/>
              <a:ext cx="325861" cy="325861"/>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t>N</a:t>
              </a:r>
            </a:p>
          </p:txBody>
        </p:sp>
        <p:sp>
          <p:nvSpPr>
            <p:cNvPr id="73" name="Oval 72">
              <a:extLst>
                <a:ext uri="{FF2B5EF4-FFF2-40B4-BE49-F238E27FC236}">
                  <a16:creationId xmlns:a16="http://schemas.microsoft.com/office/drawing/2014/main" id="{4E8190FB-F97A-5B48-BAA5-FC10F5450786}"/>
                </a:ext>
              </a:extLst>
            </p:cNvPr>
            <p:cNvSpPr/>
            <p:nvPr/>
          </p:nvSpPr>
          <p:spPr>
            <a:xfrm>
              <a:off x="7540682" y="5077752"/>
              <a:ext cx="325861" cy="325861"/>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N</a:t>
              </a:r>
            </a:p>
          </p:txBody>
        </p:sp>
        <p:sp>
          <p:nvSpPr>
            <p:cNvPr id="74" name="Oval 73">
              <a:extLst>
                <a:ext uri="{FF2B5EF4-FFF2-40B4-BE49-F238E27FC236}">
                  <a16:creationId xmlns:a16="http://schemas.microsoft.com/office/drawing/2014/main" id="{D034DDB6-A1F8-4444-AEC6-5B2234C2F83D}"/>
                </a:ext>
              </a:extLst>
            </p:cNvPr>
            <p:cNvSpPr/>
            <p:nvPr/>
          </p:nvSpPr>
          <p:spPr>
            <a:xfrm>
              <a:off x="7498039" y="5492345"/>
              <a:ext cx="325861" cy="325861"/>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5" name="Oval 74">
              <a:extLst>
                <a:ext uri="{FF2B5EF4-FFF2-40B4-BE49-F238E27FC236}">
                  <a16:creationId xmlns:a16="http://schemas.microsoft.com/office/drawing/2014/main" id="{71AB3CAB-37F0-4943-9590-8461EC4F9045}"/>
                </a:ext>
              </a:extLst>
            </p:cNvPr>
            <p:cNvSpPr/>
            <p:nvPr/>
          </p:nvSpPr>
          <p:spPr>
            <a:xfrm>
              <a:off x="7565397" y="5980351"/>
              <a:ext cx="325861" cy="325861"/>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N</a:t>
              </a:r>
            </a:p>
          </p:txBody>
        </p:sp>
        <p:cxnSp>
          <p:nvCxnSpPr>
            <p:cNvPr id="76" name="Straight Connector 75">
              <a:extLst>
                <a:ext uri="{FF2B5EF4-FFF2-40B4-BE49-F238E27FC236}">
                  <a16:creationId xmlns:a16="http://schemas.microsoft.com/office/drawing/2014/main" id="{C15F2FEA-73A9-DD4A-95BE-A65FE5CA2106}"/>
                </a:ext>
              </a:extLst>
            </p:cNvPr>
            <p:cNvCxnSpPr>
              <a:cxnSpLocks/>
            </p:cNvCxnSpPr>
            <p:nvPr/>
          </p:nvCxnSpPr>
          <p:spPr>
            <a:xfrm>
              <a:off x="7813094" y="5636975"/>
              <a:ext cx="608488" cy="5920"/>
            </a:xfrm>
            <a:prstGeom prst="line">
              <a:avLst/>
            </a:prstGeom>
          </p:spPr>
          <p:style>
            <a:lnRef idx="1">
              <a:schemeClr val="accent1"/>
            </a:lnRef>
            <a:fillRef idx="0">
              <a:schemeClr val="accent1"/>
            </a:fillRef>
            <a:effectRef idx="0">
              <a:schemeClr val="accent1"/>
            </a:effectRef>
            <a:fontRef idx="minor">
              <a:schemeClr val="tx1"/>
            </a:fontRef>
          </p:style>
        </p:cxnSp>
        <p:sp>
          <p:nvSpPr>
            <p:cNvPr id="77" name="Oval 76">
              <a:extLst>
                <a:ext uri="{FF2B5EF4-FFF2-40B4-BE49-F238E27FC236}">
                  <a16:creationId xmlns:a16="http://schemas.microsoft.com/office/drawing/2014/main" id="{5AAFB585-FEE0-E347-ABA2-E70B861CF04B}"/>
                </a:ext>
              </a:extLst>
            </p:cNvPr>
            <p:cNvSpPr/>
            <p:nvPr/>
          </p:nvSpPr>
          <p:spPr>
            <a:xfrm>
              <a:off x="8384068" y="5457354"/>
              <a:ext cx="325861" cy="325861"/>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N</a:t>
              </a:r>
            </a:p>
          </p:txBody>
        </p:sp>
        <p:cxnSp>
          <p:nvCxnSpPr>
            <p:cNvPr id="78" name="Straight Connector 77">
              <a:extLst>
                <a:ext uri="{FF2B5EF4-FFF2-40B4-BE49-F238E27FC236}">
                  <a16:creationId xmlns:a16="http://schemas.microsoft.com/office/drawing/2014/main" id="{6C80C18C-406A-EA49-BA0A-873CF311990E}"/>
                </a:ext>
              </a:extLst>
            </p:cNvPr>
            <p:cNvCxnSpPr>
              <a:cxnSpLocks/>
            </p:cNvCxnSpPr>
            <p:nvPr/>
          </p:nvCxnSpPr>
          <p:spPr>
            <a:xfrm flipV="1">
              <a:off x="8117338" y="3756606"/>
              <a:ext cx="975860" cy="46290"/>
            </a:xfrm>
            <a:prstGeom prst="line">
              <a:avLst/>
            </a:prstGeom>
          </p:spPr>
          <p:style>
            <a:lnRef idx="1">
              <a:schemeClr val="accent1"/>
            </a:lnRef>
            <a:fillRef idx="0">
              <a:schemeClr val="accent1"/>
            </a:fillRef>
            <a:effectRef idx="0">
              <a:schemeClr val="accent1"/>
            </a:effectRef>
            <a:fontRef idx="minor">
              <a:schemeClr val="tx1"/>
            </a:fontRef>
          </p:style>
        </p:cxnSp>
        <p:sp>
          <p:nvSpPr>
            <p:cNvPr id="79" name="Oval 78">
              <a:extLst>
                <a:ext uri="{FF2B5EF4-FFF2-40B4-BE49-F238E27FC236}">
                  <a16:creationId xmlns:a16="http://schemas.microsoft.com/office/drawing/2014/main" id="{A4C27557-C095-4B47-AD2C-6ECE05FA06D4}"/>
                </a:ext>
              </a:extLst>
            </p:cNvPr>
            <p:cNvSpPr/>
            <p:nvPr/>
          </p:nvSpPr>
          <p:spPr>
            <a:xfrm>
              <a:off x="9009236" y="3593675"/>
              <a:ext cx="325861" cy="325861"/>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N</a:t>
              </a:r>
            </a:p>
          </p:txBody>
        </p:sp>
        <p:cxnSp>
          <p:nvCxnSpPr>
            <p:cNvPr id="80" name="Straight Connector 79">
              <a:extLst>
                <a:ext uri="{FF2B5EF4-FFF2-40B4-BE49-F238E27FC236}">
                  <a16:creationId xmlns:a16="http://schemas.microsoft.com/office/drawing/2014/main" id="{490DF474-1A5B-1A48-A697-E6292E36DAC5}"/>
                </a:ext>
              </a:extLst>
            </p:cNvPr>
            <p:cNvCxnSpPr>
              <a:cxnSpLocks/>
            </p:cNvCxnSpPr>
            <p:nvPr/>
          </p:nvCxnSpPr>
          <p:spPr>
            <a:xfrm>
              <a:off x="8326816" y="4366758"/>
              <a:ext cx="940637" cy="243342"/>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cxnSp>
        <p:sp>
          <p:nvSpPr>
            <p:cNvPr id="81" name="Oval 80">
              <a:extLst>
                <a:ext uri="{FF2B5EF4-FFF2-40B4-BE49-F238E27FC236}">
                  <a16:creationId xmlns:a16="http://schemas.microsoft.com/office/drawing/2014/main" id="{8C732528-7369-CD46-94E3-7C41494C4D8B}"/>
                </a:ext>
              </a:extLst>
            </p:cNvPr>
            <p:cNvSpPr/>
            <p:nvPr/>
          </p:nvSpPr>
          <p:spPr>
            <a:xfrm>
              <a:off x="9189631" y="4494090"/>
              <a:ext cx="325861" cy="325861"/>
            </a:xfrm>
            <a:prstGeom prst="ellipse">
              <a:avLst/>
            </a:prstGeom>
            <a:solidFill>
              <a:schemeClr val="accent3"/>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Y</a:t>
              </a:r>
            </a:p>
          </p:txBody>
        </p:sp>
      </p:grpSp>
      <p:sp>
        <p:nvSpPr>
          <p:cNvPr id="82" name="Content Placeholder 2">
            <a:extLst>
              <a:ext uri="{FF2B5EF4-FFF2-40B4-BE49-F238E27FC236}">
                <a16:creationId xmlns:a16="http://schemas.microsoft.com/office/drawing/2014/main" id="{D6F20701-7A5C-8B4B-A73B-4A79B2545E7D}"/>
              </a:ext>
            </a:extLst>
          </p:cNvPr>
          <p:cNvSpPr txBox="1">
            <a:spLocks/>
          </p:cNvSpPr>
          <p:nvPr/>
        </p:nvSpPr>
        <p:spPr>
          <a:xfrm>
            <a:off x="10176156" y="3445662"/>
            <a:ext cx="1765409" cy="1502741"/>
          </a:xfrm>
          <a:prstGeom prst="rect">
            <a:avLst/>
          </a:prstGeom>
          <a:noFill/>
          <a:ln>
            <a:solidFill>
              <a:schemeClr val="tx1">
                <a:lumMod val="95000"/>
              </a:schemeClr>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None/>
            </a:pPr>
            <a:r>
              <a:rPr lang="en-US" sz="1800" i="1" dirty="0">
                <a:solidFill>
                  <a:schemeClr val="tx1">
                    <a:lumMod val="95000"/>
                  </a:schemeClr>
                </a:solidFill>
              </a:rPr>
              <a:t>Purple path that leads to Yes is a certificate for P. Why?</a:t>
            </a:r>
          </a:p>
        </p:txBody>
      </p:sp>
    </p:spTree>
    <p:extLst>
      <p:ext uri="{BB962C8B-B14F-4D97-AF65-F5344CB8AC3E}">
        <p14:creationId xmlns:p14="http://schemas.microsoft.com/office/powerpoint/2010/main" val="20982710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6"/>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4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8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16" grpId="0" animBg="1"/>
      <p:bldP spid="82"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3" y="125537"/>
            <a:ext cx="9905998" cy="860425"/>
          </a:xfrm>
        </p:spPr>
        <p:txBody>
          <a:bodyPr/>
          <a:lstStyle/>
          <a:p>
            <a:pPr algn="ctr"/>
            <a:r>
              <a:rPr lang="en-US" dirty="0"/>
              <a:t>Comparing NTM and DTM</a:t>
            </a:r>
          </a:p>
        </p:txBody>
      </p:sp>
      <p:sp>
        <p:nvSpPr>
          <p:cNvPr id="3" name="Content Placeholder 2">
            <a:extLst>
              <a:ext uri="{FF2B5EF4-FFF2-40B4-BE49-F238E27FC236}">
                <a16:creationId xmlns:a16="http://schemas.microsoft.com/office/drawing/2014/main" id="{14278F5F-F936-6145-9FF8-704886F1A386}"/>
              </a:ext>
            </a:extLst>
          </p:cNvPr>
          <p:cNvSpPr>
            <a:spLocks noGrp="1"/>
          </p:cNvSpPr>
          <p:nvPr>
            <p:ph idx="1"/>
          </p:nvPr>
        </p:nvSpPr>
        <p:spPr>
          <a:xfrm>
            <a:off x="1141412" y="958234"/>
            <a:ext cx="9905999" cy="1089328"/>
          </a:xfrm>
          <a:solidFill>
            <a:schemeClr val="tx1">
              <a:lumMod val="95000"/>
            </a:schemeClr>
          </a:solidFill>
        </p:spPr>
        <p:txBody>
          <a:bodyPr/>
          <a:lstStyle/>
          <a:p>
            <a:pPr marL="0" indent="0">
              <a:buNone/>
            </a:pPr>
            <a:r>
              <a:rPr lang="en-US" b="1" i="1" u="sng" dirty="0">
                <a:solidFill>
                  <a:schemeClr val="bg1"/>
                </a:solidFill>
              </a:rPr>
              <a:t>Theorem</a:t>
            </a:r>
            <a:r>
              <a:rPr lang="en-US" dirty="0">
                <a:solidFill>
                  <a:schemeClr val="bg1"/>
                </a:solidFill>
              </a:rPr>
              <a:t>: A problem P is verifiable in polynomial time by a DTM if and only if it is solvable (decision problem) in polynomial time by an NTM</a:t>
            </a:r>
          </a:p>
        </p:txBody>
      </p:sp>
      <p:sp>
        <p:nvSpPr>
          <p:cNvPr id="6" name="Content Placeholder 2">
            <a:extLst>
              <a:ext uri="{FF2B5EF4-FFF2-40B4-BE49-F238E27FC236}">
                <a16:creationId xmlns:a16="http://schemas.microsoft.com/office/drawing/2014/main" id="{872645FA-F846-D944-AFBD-6BCCE6F63588}"/>
              </a:ext>
            </a:extLst>
          </p:cNvPr>
          <p:cNvSpPr txBox="1">
            <a:spLocks/>
          </p:cNvSpPr>
          <p:nvPr/>
        </p:nvSpPr>
        <p:spPr>
          <a:xfrm>
            <a:off x="1141411" y="2183278"/>
            <a:ext cx="9905999" cy="856253"/>
          </a:xfrm>
          <a:prstGeom prst="rect">
            <a:avLst/>
          </a:prstGeom>
          <a:noFill/>
          <a:ln>
            <a:solidFill>
              <a:schemeClr val="tx1">
                <a:lumMod val="95000"/>
              </a:schemeClr>
            </a:solidFill>
          </a:ln>
        </p:spPr>
        <p:txBody>
          <a:bodyPr vert="horz" lIns="91440" tIns="45720" rIns="91440" bIns="45720" rtlCol="0">
            <a:normAutofit fontScale="92500"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None/>
            </a:pPr>
            <a:r>
              <a:rPr lang="en-US" b="1" i="1" u="sng" dirty="0">
                <a:solidFill>
                  <a:schemeClr val="tx1">
                    <a:lumMod val="95000"/>
                  </a:schemeClr>
                </a:solidFill>
              </a:rPr>
              <a:t>Direction 2 (Harder)</a:t>
            </a:r>
            <a:r>
              <a:rPr lang="en-US" i="1" dirty="0">
                <a:solidFill>
                  <a:schemeClr val="tx1">
                    <a:lumMod val="95000"/>
                  </a:schemeClr>
                </a:solidFill>
              </a:rPr>
              <a:t>: If a problem is solvable by an NTM in polynomial time, then it is verifiable in polynomial time by a DTM.</a:t>
            </a:r>
          </a:p>
        </p:txBody>
      </p:sp>
      <p:grpSp>
        <p:nvGrpSpPr>
          <p:cNvPr id="47" name="Group 46">
            <a:extLst>
              <a:ext uri="{FF2B5EF4-FFF2-40B4-BE49-F238E27FC236}">
                <a16:creationId xmlns:a16="http://schemas.microsoft.com/office/drawing/2014/main" id="{498655C9-6266-3542-9652-B36716B49D8E}"/>
              </a:ext>
            </a:extLst>
          </p:cNvPr>
          <p:cNvGrpSpPr/>
          <p:nvPr/>
        </p:nvGrpSpPr>
        <p:grpSpPr>
          <a:xfrm>
            <a:off x="792277" y="3365757"/>
            <a:ext cx="4768320" cy="2934983"/>
            <a:chOff x="5239278" y="3448884"/>
            <a:chExt cx="4768320" cy="2934983"/>
          </a:xfrm>
        </p:grpSpPr>
        <p:sp>
          <p:nvSpPr>
            <p:cNvPr id="17" name="Content Placeholder 2">
              <a:extLst>
                <a:ext uri="{FF2B5EF4-FFF2-40B4-BE49-F238E27FC236}">
                  <a16:creationId xmlns:a16="http://schemas.microsoft.com/office/drawing/2014/main" id="{F6F76596-4772-3846-8B02-7F3DC6CE87CA}"/>
                </a:ext>
              </a:extLst>
            </p:cNvPr>
            <p:cNvSpPr txBox="1">
              <a:spLocks/>
            </p:cNvSpPr>
            <p:nvPr/>
          </p:nvSpPr>
          <p:spPr>
            <a:xfrm>
              <a:off x="5239278" y="3448884"/>
              <a:ext cx="4768320" cy="2934983"/>
            </a:xfrm>
            <a:prstGeom prst="rect">
              <a:avLst/>
            </a:prstGeom>
            <a:noFill/>
            <a:ln>
              <a:solidFill>
                <a:schemeClr val="accent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None/>
              </a:pPr>
              <a:r>
                <a:rPr lang="en-US" sz="1600" i="1" dirty="0">
                  <a:solidFill>
                    <a:schemeClr val="accent1"/>
                  </a:solidFill>
                </a:rPr>
                <a:t>NTM Solver for P</a:t>
              </a:r>
            </a:p>
          </p:txBody>
        </p:sp>
        <p:sp>
          <p:nvSpPr>
            <p:cNvPr id="38" name="Oval 37">
              <a:extLst>
                <a:ext uri="{FF2B5EF4-FFF2-40B4-BE49-F238E27FC236}">
                  <a16:creationId xmlns:a16="http://schemas.microsoft.com/office/drawing/2014/main" id="{783D49A2-74C2-454C-843C-20894ADD410F}"/>
                </a:ext>
              </a:extLst>
            </p:cNvPr>
            <p:cNvSpPr/>
            <p:nvPr/>
          </p:nvSpPr>
          <p:spPr>
            <a:xfrm>
              <a:off x="5628740" y="4794143"/>
              <a:ext cx="325861" cy="325861"/>
            </a:xfrm>
            <a:prstGeom prst="ellipse">
              <a:avLst/>
            </a:prstGeom>
            <a:solidFill>
              <a:schemeClr val="accent3"/>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44" name="Straight Connector 43">
              <a:extLst>
                <a:ext uri="{FF2B5EF4-FFF2-40B4-BE49-F238E27FC236}">
                  <a16:creationId xmlns:a16="http://schemas.microsoft.com/office/drawing/2014/main" id="{531869C3-EDD5-F244-A014-5E9AFBFB2152}"/>
                </a:ext>
              </a:extLst>
            </p:cNvPr>
            <p:cNvCxnSpPr>
              <a:cxnSpLocks/>
              <a:stCxn id="38" idx="7"/>
            </p:cNvCxnSpPr>
            <p:nvPr/>
          </p:nvCxnSpPr>
          <p:spPr>
            <a:xfrm flipV="1">
              <a:off x="5906880" y="4123672"/>
              <a:ext cx="791044" cy="718192"/>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64493433-C28B-7843-9D5C-687E4CC1336A}"/>
                </a:ext>
              </a:extLst>
            </p:cNvPr>
            <p:cNvCxnSpPr>
              <a:cxnSpLocks/>
            </p:cNvCxnSpPr>
            <p:nvPr/>
          </p:nvCxnSpPr>
          <p:spPr>
            <a:xfrm flipV="1">
              <a:off x="5954601" y="4630861"/>
              <a:ext cx="743322" cy="306884"/>
            </a:xfrm>
            <a:prstGeom prst="line">
              <a:avLst/>
            </a:prstGeom>
          </p:spPr>
          <p:style>
            <a:lnRef idx="1">
              <a:schemeClr val="accent1"/>
            </a:lnRef>
            <a:fillRef idx="0">
              <a:schemeClr val="accent1"/>
            </a:fillRef>
            <a:effectRef idx="0">
              <a:schemeClr val="accent1"/>
            </a:effectRef>
            <a:fontRef idx="minor">
              <a:schemeClr val="tx1"/>
            </a:fontRef>
          </p:style>
        </p:cxnSp>
        <p:cxnSp>
          <p:nvCxnSpPr>
            <p:cNvPr id="48" name="Straight Connector 47">
              <a:extLst>
                <a:ext uri="{FF2B5EF4-FFF2-40B4-BE49-F238E27FC236}">
                  <a16:creationId xmlns:a16="http://schemas.microsoft.com/office/drawing/2014/main" id="{8DC15A42-8449-4947-9122-477E635E411C}"/>
                </a:ext>
              </a:extLst>
            </p:cNvPr>
            <p:cNvCxnSpPr>
              <a:cxnSpLocks/>
              <a:stCxn id="38" idx="6"/>
            </p:cNvCxnSpPr>
            <p:nvPr/>
          </p:nvCxnSpPr>
          <p:spPr>
            <a:xfrm>
              <a:off x="5954601" y="4957074"/>
              <a:ext cx="743322" cy="266966"/>
            </a:xfrm>
            <a:prstGeom prst="line">
              <a:avLst/>
            </a:prstGeom>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FB084FD9-5EA6-894B-9182-06D50C9CA329}"/>
                </a:ext>
              </a:extLst>
            </p:cNvPr>
            <p:cNvCxnSpPr>
              <a:cxnSpLocks/>
              <a:stCxn id="38" idx="5"/>
            </p:cNvCxnSpPr>
            <p:nvPr/>
          </p:nvCxnSpPr>
          <p:spPr>
            <a:xfrm>
              <a:off x="5906880" y="5072283"/>
              <a:ext cx="835658" cy="835464"/>
            </a:xfrm>
            <a:prstGeom prst="line">
              <a:avLst/>
            </a:prstGeom>
          </p:spPr>
          <p:style>
            <a:lnRef idx="1">
              <a:schemeClr val="accent1"/>
            </a:lnRef>
            <a:fillRef idx="0">
              <a:schemeClr val="accent1"/>
            </a:fillRef>
            <a:effectRef idx="0">
              <a:schemeClr val="accent1"/>
            </a:effectRef>
            <a:fontRef idx="minor">
              <a:schemeClr val="tx1"/>
            </a:fontRef>
          </p:style>
        </p:cxnSp>
        <p:sp>
          <p:nvSpPr>
            <p:cNvPr id="49" name="Oval 48">
              <a:extLst>
                <a:ext uri="{FF2B5EF4-FFF2-40B4-BE49-F238E27FC236}">
                  <a16:creationId xmlns:a16="http://schemas.microsoft.com/office/drawing/2014/main" id="{844238F0-1FAA-5648-B8CB-95671BC6FE4D}"/>
                </a:ext>
              </a:extLst>
            </p:cNvPr>
            <p:cNvSpPr/>
            <p:nvPr/>
          </p:nvSpPr>
          <p:spPr>
            <a:xfrm>
              <a:off x="6660410" y="3934722"/>
              <a:ext cx="325861" cy="325861"/>
            </a:xfrm>
            <a:prstGeom prst="ellipse">
              <a:avLst/>
            </a:prstGeom>
            <a:solidFill>
              <a:schemeClr val="accent3"/>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0" name="Oval 49">
              <a:extLst>
                <a:ext uri="{FF2B5EF4-FFF2-40B4-BE49-F238E27FC236}">
                  <a16:creationId xmlns:a16="http://schemas.microsoft.com/office/drawing/2014/main" id="{32839298-BFCC-DB41-9A6D-16BC684D6D96}"/>
                </a:ext>
              </a:extLst>
            </p:cNvPr>
            <p:cNvSpPr/>
            <p:nvPr/>
          </p:nvSpPr>
          <p:spPr>
            <a:xfrm>
              <a:off x="6697923" y="4436533"/>
              <a:ext cx="325861" cy="325861"/>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2" name="Oval 51">
              <a:extLst>
                <a:ext uri="{FF2B5EF4-FFF2-40B4-BE49-F238E27FC236}">
                  <a16:creationId xmlns:a16="http://schemas.microsoft.com/office/drawing/2014/main" id="{A4530AF3-03D4-CA4C-B357-4BFCBA6E90D2}"/>
                </a:ext>
              </a:extLst>
            </p:cNvPr>
            <p:cNvSpPr/>
            <p:nvPr/>
          </p:nvSpPr>
          <p:spPr>
            <a:xfrm>
              <a:off x="6705024" y="5073572"/>
              <a:ext cx="325861" cy="325861"/>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3" name="Oval 52">
              <a:extLst>
                <a:ext uri="{FF2B5EF4-FFF2-40B4-BE49-F238E27FC236}">
                  <a16:creationId xmlns:a16="http://schemas.microsoft.com/office/drawing/2014/main" id="{580E87B4-26C3-394C-8C36-537E02986FD2}"/>
                </a:ext>
              </a:extLst>
            </p:cNvPr>
            <p:cNvSpPr/>
            <p:nvPr/>
          </p:nvSpPr>
          <p:spPr>
            <a:xfrm>
              <a:off x="6678297" y="5808905"/>
              <a:ext cx="325861" cy="325861"/>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55" name="Straight Connector 54">
              <a:extLst>
                <a:ext uri="{FF2B5EF4-FFF2-40B4-BE49-F238E27FC236}">
                  <a16:creationId xmlns:a16="http://schemas.microsoft.com/office/drawing/2014/main" id="{39539CF7-6CB5-824A-AB18-264126A00F21}"/>
                </a:ext>
              </a:extLst>
            </p:cNvPr>
            <p:cNvCxnSpPr>
              <a:cxnSpLocks/>
            </p:cNvCxnSpPr>
            <p:nvPr/>
          </p:nvCxnSpPr>
          <p:spPr>
            <a:xfrm flipV="1">
              <a:off x="6976064" y="3843496"/>
              <a:ext cx="907195" cy="221540"/>
            </a:xfrm>
            <a:prstGeom prst="line">
              <a:avLst/>
            </a:prstGeom>
          </p:spPr>
          <p:style>
            <a:lnRef idx="1">
              <a:schemeClr val="accent1"/>
            </a:lnRef>
            <a:fillRef idx="0">
              <a:schemeClr val="accent1"/>
            </a:fillRef>
            <a:effectRef idx="0">
              <a:schemeClr val="accent1"/>
            </a:effectRef>
            <a:fontRef idx="minor">
              <a:schemeClr val="tx1"/>
            </a:fontRef>
          </p:style>
        </p:cxnSp>
        <p:cxnSp>
          <p:nvCxnSpPr>
            <p:cNvPr id="56" name="Straight Connector 55">
              <a:extLst>
                <a:ext uri="{FF2B5EF4-FFF2-40B4-BE49-F238E27FC236}">
                  <a16:creationId xmlns:a16="http://schemas.microsoft.com/office/drawing/2014/main" id="{84362EE4-1E31-DA44-9A0B-49FC591B8182}"/>
                </a:ext>
              </a:extLst>
            </p:cNvPr>
            <p:cNvCxnSpPr>
              <a:cxnSpLocks/>
            </p:cNvCxnSpPr>
            <p:nvPr/>
          </p:nvCxnSpPr>
          <p:spPr>
            <a:xfrm>
              <a:off x="6976064" y="4072052"/>
              <a:ext cx="1195543" cy="232705"/>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58" name="Straight Connector 57">
              <a:extLst>
                <a:ext uri="{FF2B5EF4-FFF2-40B4-BE49-F238E27FC236}">
                  <a16:creationId xmlns:a16="http://schemas.microsoft.com/office/drawing/2014/main" id="{6A560387-B1E8-0942-840B-A528F825F867}"/>
                </a:ext>
              </a:extLst>
            </p:cNvPr>
            <p:cNvCxnSpPr>
              <a:cxnSpLocks/>
            </p:cNvCxnSpPr>
            <p:nvPr/>
          </p:nvCxnSpPr>
          <p:spPr>
            <a:xfrm>
              <a:off x="7023784" y="4570471"/>
              <a:ext cx="405877" cy="28992"/>
            </a:xfrm>
            <a:prstGeom prst="line">
              <a:avLst/>
            </a:prstGeom>
          </p:spPr>
          <p:style>
            <a:lnRef idx="1">
              <a:schemeClr val="accent1"/>
            </a:lnRef>
            <a:fillRef idx="0">
              <a:schemeClr val="accent1"/>
            </a:fillRef>
            <a:effectRef idx="0">
              <a:schemeClr val="accent1"/>
            </a:effectRef>
            <a:fontRef idx="minor">
              <a:schemeClr val="tx1"/>
            </a:fontRef>
          </p:style>
        </p:cxnSp>
        <p:cxnSp>
          <p:nvCxnSpPr>
            <p:cNvPr id="59" name="Straight Connector 58">
              <a:extLst>
                <a:ext uri="{FF2B5EF4-FFF2-40B4-BE49-F238E27FC236}">
                  <a16:creationId xmlns:a16="http://schemas.microsoft.com/office/drawing/2014/main" id="{21F0EA61-2B6F-8B48-88C0-F455E13FDF16}"/>
                </a:ext>
              </a:extLst>
            </p:cNvPr>
            <p:cNvCxnSpPr>
              <a:cxnSpLocks/>
            </p:cNvCxnSpPr>
            <p:nvPr/>
          </p:nvCxnSpPr>
          <p:spPr>
            <a:xfrm>
              <a:off x="7012224" y="5224040"/>
              <a:ext cx="611214" cy="9502"/>
            </a:xfrm>
            <a:prstGeom prst="line">
              <a:avLst/>
            </a:prstGeom>
          </p:spPr>
          <p:style>
            <a:lnRef idx="1">
              <a:schemeClr val="accent1"/>
            </a:lnRef>
            <a:fillRef idx="0">
              <a:schemeClr val="accent1"/>
            </a:fillRef>
            <a:effectRef idx="0">
              <a:schemeClr val="accent1"/>
            </a:effectRef>
            <a:fontRef idx="minor">
              <a:schemeClr val="tx1"/>
            </a:fontRef>
          </p:style>
        </p:cxnSp>
        <p:cxnSp>
          <p:nvCxnSpPr>
            <p:cNvPr id="61" name="Straight Connector 60">
              <a:extLst>
                <a:ext uri="{FF2B5EF4-FFF2-40B4-BE49-F238E27FC236}">
                  <a16:creationId xmlns:a16="http://schemas.microsoft.com/office/drawing/2014/main" id="{32728A9D-6369-4040-AB6D-E38904D4AA60}"/>
                </a:ext>
              </a:extLst>
            </p:cNvPr>
            <p:cNvCxnSpPr>
              <a:cxnSpLocks/>
            </p:cNvCxnSpPr>
            <p:nvPr/>
          </p:nvCxnSpPr>
          <p:spPr>
            <a:xfrm flipV="1">
              <a:off x="7004158" y="5642895"/>
              <a:ext cx="619280" cy="326949"/>
            </a:xfrm>
            <a:prstGeom prst="line">
              <a:avLst/>
            </a:prstGeom>
          </p:spPr>
          <p:style>
            <a:lnRef idx="1">
              <a:schemeClr val="accent1"/>
            </a:lnRef>
            <a:fillRef idx="0">
              <a:schemeClr val="accent1"/>
            </a:fillRef>
            <a:effectRef idx="0">
              <a:schemeClr val="accent1"/>
            </a:effectRef>
            <a:fontRef idx="minor">
              <a:schemeClr val="tx1"/>
            </a:fontRef>
          </p:style>
        </p:cxnSp>
        <p:cxnSp>
          <p:nvCxnSpPr>
            <p:cNvPr id="62" name="Straight Connector 61">
              <a:extLst>
                <a:ext uri="{FF2B5EF4-FFF2-40B4-BE49-F238E27FC236}">
                  <a16:creationId xmlns:a16="http://schemas.microsoft.com/office/drawing/2014/main" id="{ED3BA1AF-E3C2-024D-AFE0-EC9F70BE70E6}"/>
                </a:ext>
              </a:extLst>
            </p:cNvPr>
            <p:cNvCxnSpPr>
              <a:cxnSpLocks/>
              <a:stCxn id="53" idx="6"/>
            </p:cNvCxnSpPr>
            <p:nvPr/>
          </p:nvCxnSpPr>
          <p:spPr>
            <a:xfrm>
              <a:off x="7004158" y="5971836"/>
              <a:ext cx="619280" cy="162930"/>
            </a:xfrm>
            <a:prstGeom prst="line">
              <a:avLst/>
            </a:prstGeom>
          </p:spPr>
          <p:style>
            <a:lnRef idx="1">
              <a:schemeClr val="accent1"/>
            </a:lnRef>
            <a:fillRef idx="0">
              <a:schemeClr val="accent1"/>
            </a:fillRef>
            <a:effectRef idx="0">
              <a:schemeClr val="accent1"/>
            </a:effectRef>
            <a:fontRef idx="minor">
              <a:schemeClr val="tx1"/>
            </a:fontRef>
          </p:style>
        </p:cxnSp>
        <p:sp>
          <p:nvSpPr>
            <p:cNvPr id="65" name="Oval 64">
              <a:extLst>
                <a:ext uri="{FF2B5EF4-FFF2-40B4-BE49-F238E27FC236}">
                  <a16:creationId xmlns:a16="http://schemas.microsoft.com/office/drawing/2014/main" id="{82CCC728-AEE6-9D42-B3E6-7893C9751E08}"/>
                </a:ext>
              </a:extLst>
            </p:cNvPr>
            <p:cNvSpPr/>
            <p:nvPr/>
          </p:nvSpPr>
          <p:spPr>
            <a:xfrm>
              <a:off x="7823900" y="3662699"/>
              <a:ext cx="325861" cy="325861"/>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1" name="Oval 70">
              <a:extLst>
                <a:ext uri="{FF2B5EF4-FFF2-40B4-BE49-F238E27FC236}">
                  <a16:creationId xmlns:a16="http://schemas.microsoft.com/office/drawing/2014/main" id="{C6BC744E-8F26-814A-8BBA-DAA9D11E00FC}"/>
                </a:ext>
              </a:extLst>
            </p:cNvPr>
            <p:cNvSpPr/>
            <p:nvPr/>
          </p:nvSpPr>
          <p:spPr>
            <a:xfrm>
              <a:off x="8081542" y="4156907"/>
              <a:ext cx="325861" cy="325861"/>
            </a:xfrm>
            <a:prstGeom prst="ellipse">
              <a:avLst/>
            </a:prstGeom>
            <a:solidFill>
              <a:schemeClr val="accent3"/>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2" name="Oval 71">
              <a:extLst>
                <a:ext uri="{FF2B5EF4-FFF2-40B4-BE49-F238E27FC236}">
                  <a16:creationId xmlns:a16="http://schemas.microsoft.com/office/drawing/2014/main" id="{47CE7013-F2B2-EA4E-8E8D-CE60D57D497F}"/>
                </a:ext>
              </a:extLst>
            </p:cNvPr>
            <p:cNvSpPr/>
            <p:nvPr/>
          </p:nvSpPr>
          <p:spPr>
            <a:xfrm>
              <a:off x="7365526" y="4423359"/>
              <a:ext cx="325861" cy="325861"/>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t>N</a:t>
              </a:r>
            </a:p>
          </p:txBody>
        </p:sp>
        <p:sp>
          <p:nvSpPr>
            <p:cNvPr id="73" name="Oval 72">
              <a:extLst>
                <a:ext uri="{FF2B5EF4-FFF2-40B4-BE49-F238E27FC236}">
                  <a16:creationId xmlns:a16="http://schemas.microsoft.com/office/drawing/2014/main" id="{4E8190FB-F97A-5B48-BAA5-FC10F5450786}"/>
                </a:ext>
              </a:extLst>
            </p:cNvPr>
            <p:cNvSpPr/>
            <p:nvPr/>
          </p:nvSpPr>
          <p:spPr>
            <a:xfrm>
              <a:off x="7540682" y="5077752"/>
              <a:ext cx="325861" cy="325861"/>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N</a:t>
              </a:r>
            </a:p>
          </p:txBody>
        </p:sp>
        <p:sp>
          <p:nvSpPr>
            <p:cNvPr id="74" name="Oval 73">
              <a:extLst>
                <a:ext uri="{FF2B5EF4-FFF2-40B4-BE49-F238E27FC236}">
                  <a16:creationId xmlns:a16="http://schemas.microsoft.com/office/drawing/2014/main" id="{D034DDB6-A1F8-4444-AEC6-5B2234C2F83D}"/>
                </a:ext>
              </a:extLst>
            </p:cNvPr>
            <p:cNvSpPr/>
            <p:nvPr/>
          </p:nvSpPr>
          <p:spPr>
            <a:xfrm>
              <a:off x="7498039" y="5492345"/>
              <a:ext cx="325861" cy="325861"/>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5" name="Oval 74">
              <a:extLst>
                <a:ext uri="{FF2B5EF4-FFF2-40B4-BE49-F238E27FC236}">
                  <a16:creationId xmlns:a16="http://schemas.microsoft.com/office/drawing/2014/main" id="{71AB3CAB-37F0-4943-9590-8461EC4F9045}"/>
                </a:ext>
              </a:extLst>
            </p:cNvPr>
            <p:cNvSpPr/>
            <p:nvPr/>
          </p:nvSpPr>
          <p:spPr>
            <a:xfrm>
              <a:off x="7565397" y="5980351"/>
              <a:ext cx="325861" cy="325861"/>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N</a:t>
              </a:r>
            </a:p>
          </p:txBody>
        </p:sp>
        <p:cxnSp>
          <p:nvCxnSpPr>
            <p:cNvPr id="76" name="Straight Connector 75">
              <a:extLst>
                <a:ext uri="{FF2B5EF4-FFF2-40B4-BE49-F238E27FC236}">
                  <a16:creationId xmlns:a16="http://schemas.microsoft.com/office/drawing/2014/main" id="{C15F2FEA-73A9-DD4A-95BE-A65FE5CA2106}"/>
                </a:ext>
              </a:extLst>
            </p:cNvPr>
            <p:cNvCxnSpPr>
              <a:cxnSpLocks/>
            </p:cNvCxnSpPr>
            <p:nvPr/>
          </p:nvCxnSpPr>
          <p:spPr>
            <a:xfrm>
              <a:off x="7813094" y="5636975"/>
              <a:ext cx="608488" cy="5920"/>
            </a:xfrm>
            <a:prstGeom prst="line">
              <a:avLst/>
            </a:prstGeom>
          </p:spPr>
          <p:style>
            <a:lnRef idx="1">
              <a:schemeClr val="accent1"/>
            </a:lnRef>
            <a:fillRef idx="0">
              <a:schemeClr val="accent1"/>
            </a:fillRef>
            <a:effectRef idx="0">
              <a:schemeClr val="accent1"/>
            </a:effectRef>
            <a:fontRef idx="minor">
              <a:schemeClr val="tx1"/>
            </a:fontRef>
          </p:style>
        </p:cxnSp>
        <p:sp>
          <p:nvSpPr>
            <p:cNvPr id="77" name="Oval 76">
              <a:extLst>
                <a:ext uri="{FF2B5EF4-FFF2-40B4-BE49-F238E27FC236}">
                  <a16:creationId xmlns:a16="http://schemas.microsoft.com/office/drawing/2014/main" id="{5AAFB585-FEE0-E347-ABA2-E70B861CF04B}"/>
                </a:ext>
              </a:extLst>
            </p:cNvPr>
            <p:cNvSpPr/>
            <p:nvPr/>
          </p:nvSpPr>
          <p:spPr>
            <a:xfrm>
              <a:off x="8384068" y="5457354"/>
              <a:ext cx="325861" cy="325861"/>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N</a:t>
              </a:r>
            </a:p>
          </p:txBody>
        </p:sp>
        <p:cxnSp>
          <p:nvCxnSpPr>
            <p:cNvPr id="78" name="Straight Connector 77">
              <a:extLst>
                <a:ext uri="{FF2B5EF4-FFF2-40B4-BE49-F238E27FC236}">
                  <a16:creationId xmlns:a16="http://schemas.microsoft.com/office/drawing/2014/main" id="{6C80C18C-406A-EA49-BA0A-873CF311990E}"/>
                </a:ext>
              </a:extLst>
            </p:cNvPr>
            <p:cNvCxnSpPr>
              <a:cxnSpLocks/>
            </p:cNvCxnSpPr>
            <p:nvPr/>
          </p:nvCxnSpPr>
          <p:spPr>
            <a:xfrm flipV="1">
              <a:off x="8117338" y="3756606"/>
              <a:ext cx="975860" cy="46290"/>
            </a:xfrm>
            <a:prstGeom prst="line">
              <a:avLst/>
            </a:prstGeom>
          </p:spPr>
          <p:style>
            <a:lnRef idx="1">
              <a:schemeClr val="accent1"/>
            </a:lnRef>
            <a:fillRef idx="0">
              <a:schemeClr val="accent1"/>
            </a:fillRef>
            <a:effectRef idx="0">
              <a:schemeClr val="accent1"/>
            </a:effectRef>
            <a:fontRef idx="minor">
              <a:schemeClr val="tx1"/>
            </a:fontRef>
          </p:style>
        </p:cxnSp>
        <p:sp>
          <p:nvSpPr>
            <p:cNvPr id="79" name="Oval 78">
              <a:extLst>
                <a:ext uri="{FF2B5EF4-FFF2-40B4-BE49-F238E27FC236}">
                  <a16:creationId xmlns:a16="http://schemas.microsoft.com/office/drawing/2014/main" id="{A4C27557-C095-4B47-AD2C-6ECE05FA06D4}"/>
                </a:ext>
              </a:extLst>
            </p:cNvPr>
            <p:cNvSpPr/>
            <p:nvPr/>
          </p:nvSpPr>
          <p:spPr>
            <a:xfrm>
              <a:off x="9009236" y="3593675"/>
              <a:ext cx="325861" cy="325861"/>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N</a:t>
              </a:r>
            </a:p>
          </p:txBody>
        </p:sp>
        <p:cxnSp>
          <p:nvCxnSpPr>
            <p:cNvPr id="80" name="Straight Connector 79">
              <a:extLst>
                <a:ext uri="{FF2B5EF4-FFF2-40B4-BE49-F238E27FC236}">
                  <a16:creationId xmlns:a16="http://schemas.microsoft.com/office/drawing/2014/main" id="{490DF474-1A5B-1A48-A697-E6292E36DAC5}"/>
                </a:ext>
              </a:extLst>
            </p:cNvPr>
            <p:cNvCxnSpPr>
              <a:cxnSpLocks/>
            </p:cNvCxnSpPr>
            <p:nvPr/>
          </p:nvCxnSpPr>
          <p:spPr>
            <a:xfrm>
              <a:off x="8326816" y="4366758"/>
              <a:ext cx="940637" cy="243342"/>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cxnSp>
        <p:sp>
          <p:nvSpPr>
            <p:cNvPr id="81" name="Oval 80">
              <a:extLst>
                <a:ext uri="{FF2B5EF4-FFF2-40B4-BE49-F238E27FC236}">
                  <a16:creationId xmlns:a16="http://schemas.microsoft.com/office/drawing/2014/main" id="{8C732528-7369-CD46-94E3-7C41494C4D8B}"/>
                </a:ext>
              </a:extLst>
            </p:cNvPr>
            <p:cNvSpPr/>
            <p:nvPr/>
          </p:nvSpPr>
          <p:spPr>
            <a:xfrm>
              <a:off x="9189631" y="4494090"/>
              <a:ext cx="325861" cy="325861"/>
            </a:xfrm>
            <a:prstGeom prst="ellipse">
              <a:avLst/>
            </a:prstGeom>
            <a:solidFill>
              <a:schemeClr val="accent3"/>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Y</a:t>
              </a:r>
            </a:p>
          </p:txBody>
        </p:sp>
      </p:grpSp>
      <p:sp>
        <p:nvSpPr>
          <p:cNvPr id="82" name="Content Placeholder 2">
            <a:extLst>
              <a:ext uri="{FF2B5EF4-FFF2-40B4-BE49-F238E27FC236}">
                <a16:creationId xmlns:a16="http://schemas.microsoft.com/office/drawing/2014/main" id="{D6F20701-7A5C-8B4B-A73B-4A79B2545E7D}"/>
              </a:ext>
            </a:extLst>
          </p:cNvPr>
          <p:cNvSpPr txBox="1">
            <a:spLocks/>
          </p:cNvSpPr>
          <p:nvPr/>
        </p:nvSpPr>
        <p:spPr>
          <a:xfrm>
            <a:off x="5729154" y="3362535"/>
            <a:ext cx="6008417" cy="2938205"/>
          </a:xfrm>
          <a:prstGeom prst="rect">
            <a:avLst/>
          </a:prstGeom>
          <a:noFill/>
          <a:ln>
            <a:solidFill>
              <a:schemeClr val="tx1">
                <a:lumMod val="95000"/>
              </a:schemeClr>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None/>
            </a:pPr>
            <a:r>
              <a:rPr lang="en-US" sz="1800" b="1" i="1" u="sng" dirty="0">
                <a:solidFill>
                  <a:schemeClr val="tx1">
                    <a:lumMod val="95000"/>
                  </a:schemeClr>
                </a:solidFill>
              </a:rPr>
              <a:t>Verifier for this language</a:t>
            </a:r>
            <a:r>
              <a:rPr lang="en-US" sz="1800" i="1" dirty="0">
                <a:solidFill>
                  <a:schemeClr val="tx1">
                    <a:lumMod val="95000"/>
                  </a:schemeClr>
                </a:solidFill>
              </a:rPr>
              <a:t>:</a:t>
            </a:r>
          </a:p>
          <a:p>
            <a:pPr marL="0" indent="0">
              <a:buNone/>
            </a:pPr>
            <a:r>
              <a:rPr lang="en-US" sz="1800" i="1" dirty="0">
                <a:solidFill>
                  <a:schemeClr val="tx1">
                    <a:lumMod val="95000"/>
                  </a:schemeClr>
                </a:solidFill>
              </a:rPr>
              <a:t>    Given w (input) and c (list of which branch to take at each step</a:t>
            </a:r>
          </a:p>
          <a:p>
            <a:pPr marL="0" indent="0">
              <a:buNone/>
            </a:pPr>
            <a:r>
              <a:rPr lang="en-US" sz="1800" i="1" dirty="0">
                <a:solidFill>
                  <a:schemeClr val="tx1">
                    <a:lumMod val="95000"/>
                  </a:schemeClr>
                </a:solidFill>
              </a:rPr>
              <a:t>    Simulate P</a:t>
            </a:r>
          </a:p>
          <a:p>
            <a:pPr marL="0" indent="0">
              <a:buNone/>
            </a:pPr>
            <a:r>
              <a:rPr lang="en-US" sz="1800" i="1" dirty="0">
                <a:solidFill>
                  <a:schemeClr val="tx1">
                    <a:lumMod val="95000"/>
                  </a:schemeClr>
                </a:solidFill>
              </a:rPr>
              <a:t>    At each step, check c to see which branch to take</a:t>
            </a:r>
          </a:p>
          <a:p>
            <a:pPr marL="0" indent="0">
              <a:buNone/>
            </a:pPr>
            <a:r>
              <a:rPr lang="en-US" sz="1800" i="1" dirty="0">
                <a:solidFill>
                  <a:schemeClr val="tx1">
                    <a:lumMod val="95000"/>
                  </a:schemeClr>
                </a:solidFill>
              </a:rPr>
              <a:t>    Accept </a:t>
            </a:r>
            <a:r>
              <a:rPr lang="en-US" sz="1800" i="1" dirty="0" err="1">
                <a:solidFill>
                  <a:schemeClr val="tx1">
                    <a:lumMod val="95000"/>
                  </a:schemeClr>
                </a:solidFill>
              </a:rPr>
              <a:t>iff</a:t>
            </a:r>
            <a:r>
              <a:rPr lang="en-US" sz="1800" i="1" dirty="0">
                <a:solidFill>
                  <a:schemeClr val="tx1">
                    <a:lumMod val="95000"/>
                  </a:schemeClr>
                </a:solidFill>
              </a:rPr>
              <a:t> P accepts</a:t>
            </a:r>
          </a:p>
        </p:txBody>
      </p:sp>
    </p:spTree>
    <p:extLst>
      <p:ext uri="{BB962C8B-B14F-4D97-AF65-F5344CB8AC3E}">
        <p14:creationId xmlns:p14="http://schemas.microsoft.com/office/powerpoint/2010/main" val="37153552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4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2"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3" y="125537"/>
            <a:ext cx="9905998" cy="860425"/>
          </a:xfrm>
        </p:spPr>
        <p:txBody>
          <a:bodyPr/>
          <a:lstStyle/>
          <a:p>
            <a:pPr algn="ctr"/>
            <a:r>
              <a:rPr lang="en-US" dirty="0"/>
              <a:t>Comparing NTM and DTM</a:t>
            </a:r>
          </a:p>
        </p:txBody>
      </p:sp>
      <p:sp>
        <p:nvSpPr>
          <p:cNvPr id="3" name="Content Placeholder 2">
            <a:extLst>
              <a:ext uri="{FF2B5EF4-FFF2-40B4-BE49-F238E27FC236}">
                <a16:creationId xmlns:a16="http://schemas.microsoft.com/office/drawing/2014/main" id="{14278F5F-F936-6145-9FF8-704886F1A386}"/>
              </a:ext>
            </a:extLst>
          </p:cNvPr>
          <p:cNvSpPr>
            <a:spLocks noGrp="1"/>
          </p:cNvSpPr>
          <p:nvPr>
            <p:ph idx="1"/>
          </p:nvPr>
        </p:nvSpPr>
        <p:spPr>
          <a:xfrm>
            <a:off x="1141412" y="1914970"/>
            <a:ext cx="9905999" cy="1089328"/>
          </a:xfrm>
          <a:solidFill>
            <a:schemeClr val="tx1">
              <a:lumMod val="95000"/>
            </a:schemeClr>
          </a:solidFill>
        </p:spPr>
        <p:txBody>
          <a:bodyPr/>
          <a:lstStyle/>
          <a:p>
            <a:pPr marL="0" indent="0">
              <a:buNone/>
            </a:pPr>
            <a:r>
              <a:rPr lang="en-US" b="1" i="1" u="sng" dirty="0">
                <a:solidFill>
                  <a:schemeClr val="bg1"/>
                </a:solidFill>
              </a:rPr>
              <a:t>Theorem</a:t>
            </a:r>
            <a:r>
              <a:rPr lang="en-US" dirty="0">
                <a:solidFill>
                  <a:schemeClr val="bg1"/>
                </a:solidFill>
              </a:rPr>
              <a:t>: A problem P is verifiable in polynomial time by a DTM if and only if it is solvable (decision problem) in polynomial time by an NTM</a:t>
            </a:r>
          </a:p>
        </p:txBody>
      </p:sp>
      <p:sp>
        <p:nvSpPr>
          <p:cNvPr id="6" name="Content Placeholder 2">
            <a:extLst>
              <a:ext uri="{FF2B5EF4-FFF2-40B4-BE49-F238E27FC236}">
                <a16:creationId xmlns:a16="http://schemas.microsoft.com/office/drawing/2014/main" id="{6E84FC97-49C1-DE43-BDF5-EBF8381FB359}"/>
              </a:ext>
            </a:extLst>
          </p:cNvPr>
          <p:cNvSpPr txBox="1">
            <a:spLocks/>
          </p:cNvSpPr>
          <p:nvPr/>
        </p:nvSpPr>
        <p:spPr>
          <a:xfrm>
            <a:off x="1886479" y="3543839"/>
            <a:ext cx="4251856" cy="1550522"/>
          </a:xfrm>
          <a:prstGeom prst="rect">
            <a:avLst/>
          </a:prstGeom>
          <a:noFill/>
          <a:ln>
            <a:solidFill>
              <a:schemeClr val="tx1">
                <a:lumMod val="95000"/>
              </a:schemeClr>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None/>
            </a:pPr>
            <a:r>
              <a:rPr lang="en-US" i="1" dirty="0">
                <a:solidFill>
                  <a:schemeClr val="tx1">
                    <a:lumMod val="95000"/>
                  </a:schemeClr>
                </a:solidFill>
              </a:rPr>
              <a:t>This theorem is critical to remember! It will be very important in a moment.</a:t>
            </a:r>
          </a:p>
        </p:txBody>
      </p:sp>
    </p:spTree>
    <p:extLst>
      <p:ext uri="{BB962C8B-B14F-4D97-AF65-F5344CB8AC3E}">
        <p14:creationId xmlns:p14="http://schemas.microsoft.com/office/powerpoint/2010/main" val="136209153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pPr algn="ctr"/>
            <a:r>
              <a:rPr lang="en-US" dirty="0"/>
              <a:t>Complexity Classes (Finally!)</a:t>
            </a:r>
          </a:p>
        </p:txBody>
      </p:sp>
    </p:spTree>
    <p:extLst>
      <p:ext uri="{BB962C8B-B14F-4D97-AF65-F5344CB8AC3E}">
        <p14:creationId xmlns:p14="http://schemas.microsoft.com/office/powerpoint/2010/main" val="87412014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a:xfrm>
            <a:off x="1141413" y="262917"/>
            <a:ext cx="9905998" cy="668415"/>
          </a:xfrm>
        </p:spPr>
        <p:txBody>
          <a:bodyPr/>
          <a:lstStyle/>
          <a:p>
            <a:pPr algn="ctr"/>
            <a:r>
              <a:rPr lang="en-US" dirty="0"/>
              <a:t>The class P</a:t>
            </a:r>
          </a:p>
        </p:txBody>
      </p:sp>
      <mc:AlternateContent xmlns:mc="http://schemas.openxmlformats.org/markup-compatibility/2006" xmlns:a14="http://schemas.microsoft.com/office/drawing/2010/main">
        <mc:Choice Requires="a14">
          <p:sp>
            <p:nvSpPr>
              <p:cNvPr id="5" name="Content Placeholder 4"/>
              <p:cNvSpPr>
                <a:spLocks noGrp="1"/>
              </p:cNvSpPr>
              <p:nvPr>
                <p:ph sz="quarter" idx="1"/>
              </p:nvPr>
            </p:nvSpPr>
            <p:spPr>
              <a:xfrm>
                <a:off x="4247883" y="3392487"/>
                <a:ext cx="3693055" cy="2339446"/>
              </a:xfrm>
              <a:ln>
                <a:solidFill>
                  <a:schemeClr val="tx1">
                    <a:lumMod val="95000"/>
                  </a:schemeClr>
                </a:solidFill>
              </a:ln>
            </p:spPr>
            <p:txBody>
              <a:bodyPr>
                <a:normAutofit/>
              </a:bodyPr>
              <a:lstStyle/>
              <a:p>
                <a:pPr marL="0" indent="0">
                  <a:buNone/>
                </a:pPr>
                <a:r>
                  <a:rPr lang="en-US" dirty="0"/>
                  <a:t>The class P is the set of all problems that can be solved by a deterministic Turing machine in time </a:t>
                </a:r>
                <a14:m>
                  <m:oMath xmlns:m="http://schemas.openxmlformats.org/officeDocument/2006/math">
                    <m:r>
                      <a:rPr lang="en-US" b="0" i="1" smtClean="0">
                        <a:latin typeface="Cambria Math" panose="02040503050406030204" pitchFamily="18" charset="0"/>
                      </a:rPr>
                      <m:t>𝑂</m:t>
                    </m:r>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𝑛</m:t>
                        </m:r>
                      </m:e>
                      <m:sup>
                        <m:r>
                          <a:rPr lang="en-US" b="0" i="1" smtClean="0">
                            <a:latin typeface="Cambria Math" panose="02040503050406030204" pitchFamily="18" charset="0"/>
                          </a:rPr>
                          <m:t>𝑐</m:t>
                        </m:r>
                      </m:sup>
                    </m:sSup>
                    <m:r>
                      <a:rPr lang="en-US" b="0" i="1" smtClean="0">
                        <a:latin typeface="Cambria Math" panose="02040503050406030204" pitchFamily="18" charset="0"/>
                      </a:rPr>
                      <m:t>)</m:t>
                    </m:r>
                  </m:oMath>
                </a14:m>
                <a:r>
                  <a:rPr lang="en-US" dirty="0"/>
                  <a:t> such that </a:t>
                </a:r>
                <a14:m>
                  <m:oMath xmlns:m="http://schemas.openxmlformats.org/officeDocument/2006/math">
                    <m:r>
                      <a:rPr lang="en-US" b="0" i="1" smtClean="0">
                        <a:latin typeface="Cambria Math" panose="02040503050406030204" pitchFamily="18" charset="0"/>
                      </a:rPr>
                      <m:t>𝑐</m:t>
                    </m:r>
                    <m:r>
                      <a:rPr lang="en-US" b="0" i="1" smtClean="0">
                        <a:latin typeface="Cambria Math" panose="02040503050406030204" pitchFamily="18" charset="0"/>
                      </a:rPr>
                      <m:t>∈</m:t>
                    </m:r>
                    <m:r>
                      <a:rPr lang="en-US" b="0" i="1" smtClean="0">
                        <a:latin typeface="Cambria Math" panose="02040503050406030204" pitchFamily="18" charset="0"/>
                      </a:rPr>
                      <m:t>𝒩</m:t>
                    </m:r>
                  </m:oMath>
                </a14:m>
                <a:endParaRPr lang="en-US" dirty="0"/>
              </a:p>
            </p:txBody>
          </p:sp>
        </mc:Choice>
        <mc:Fallback xmlns="">
          <p:sp>
            <p:nvSpPr>
              <p:cNvPr id="5" name="Content Placeholder 4"/>
              <p:cNvSpPr>
                <a:spLocks noGrp="1" noRot="1" noChangeAspect="1" noMove="1" noResize="1" noEditPoints="1" noAdjustHandles="1" noChangeArrowheads="1" noChangeShapeType="1" noTextEdit="1"/>
              </p:cNvSpPr>
              <p:nvPr>
                <p:ph sz="quarter" idx="1"/>
              </p:nvPr>
            </p:nvSpPr>
            <p:spPr>
              <a:xfrm>
                <a:off x="4247883" y="3392487"/>
                <a:ext cx="3693055" cy="2339446"/>
              </a:xfrm>
              <a:blipFill>
                <a:blip r:embed="rId2"/>
                <a:stretch>
                  <a:fillRect l="-2389" r="-2048" b="-1613"/>
                </a:stretch>
              </a:blipFill>
              <a:ln>
                <a:solidFill>
                  <a:schemeClr val="tx1">
                    <a:lumMod val="95000"/>
                  </a:schemeClr>
                </a:solidFill>
              </a:ln>
            </p:spPr>
            <p:txBody>
              <a:bodyPr/>
              <a:lstStyle/>
              <a:p>
                <a:r>
                  <a:rPr lang="en-US">
                    <a:noFill/>
                  </a:rPr>
                  <a:t> </a:t>
                </a:r>
              </a:p>
            </p:txBody>
          </p:sp>
        </mc:Fallback>
      </mc:AlternateContent>
      <p:sp>
        <p:nvSpPr>
          <p:cNvPr id="2" name="Oval 1">
            <a:extLst>
              <a:ext uri="{FF2B5EF4-FFF2-40B4-BE49-F238E27FC236}">
                <a16:creationId xmlns:a16="http://schemas.microsoft.com/office/drawing/2014/main" id="{D4A1DF55-6DAA-0D4D-9919-563E750571CE}"/>
              </a:ext>
            </a:extLst>
          </p:cNvPr>
          <p:cNvSpPr/>
          <p:nvPr/>
        </p:nvSpPr>
        <p:spPr>
          <a:xfrm>
            <a:off x="5417078" y="1888065"/>
            <a:ext cx="1354667" cy="1354667"/>
          </a:xfrm>
          <a:prstGeom prst="ellipse">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3000" dirty="0">
                <a:solidFill>
                  <a:schemeClr val="bg1"/>
                </a:solidFill>
              </a:rPr>
              <a:t>P</a:t>
            </a:r>
          </a:p>
        </p:txBody>
      </p:sp>
      <p:sp>
        <p:nvSpPr>
          <p:cNvPr id="7" name="Content Placeholder 4">
            <a:extLst>
              <a:ext uri="{FF2B5EF4-FFF2-40B4-BE49-F238E27FC236}">
                <a16:creationId xmlns:a16="http://schemas.microsoft.com/office/drawing/2014/main" id="{E066397C-E79B-7544-B34D-AEE6BE19F905}"/>
              </a:ext>
            </a:extLst>
          </p:cNvPr>
          <p:cNvSpPr txBox="1">
            <a:spLocks/>
          </p:cNvSpPr>
          <p:nvPr/>
        </p:nvSpPr>
        <p:spPr>
          <a:xfrm>
            <a:off x="1973528" y="1106221"/>
            <a:ext cx="2091267" cy="956733"/>
          </a:xfrm>
          <a:prstGeom prst="rect">
            <a:avLst/>
          </a:prstGeom>
          <a:ln>
            <a:no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600" i="1" u="sng" dirty="0"/>
              <a:t>Important</a:t>
            </a:r>
            <a:r>
              <a:rPr lang="en-US" sz="1600" i="1" dirty="0"/>
              <a:t>: P is a set of problems (not solutions, not algorithms)</a:t>
            </a:r>
          </a:p>
        </p:txBody>
      </p:sp>
      <p:cxnSp>
        <p:nvCxnSpPr>
          <p:cNvPr id="8" name="Straight Connector 7">
            <a:extLst>
              <a:ext uri="{FF2B5EF4-FFF2-40B4-BE49-F238E27FC236}">
                <a16:creationId xmlns:a16="http://schemas.microsoft.com/office/drawing/2014/main" id="{FFD31A87-2724-4949-A594-9C4BC49D3348}"/>
              </a:ext>
            </a:extLst>
          </p:cNvPr>
          <p:cNvCxnSpPr/>
          <p:nvPr/>
        </p:nvCxnSpPr>
        <p:spPr>
          <a:xfrm>
            <a:off x="3750733" y="1888065"/>
            <a:ext cx="1430867" cy="533402"/>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
        <p:nvSpPr>
          <p:cNvPr id="9" name="Content Placeholder 4">
            <a:extLst>
              <a:ext uri="{FF2B5EF4-FFF2-40B4-BE49-F238E27FC236}">
                <a16:creationId xmlns:a16="http://schemas.microsoft.com/office/drawing/2014/main" id="{855D8499-6DDD-C44D-BA77-BBC4670AF955}"/>
              </a:ext>
            </a:extLst>
          </p:cNvPr>
          <p:cNvSpPr txBox="1">
            <a:spLocks/>
          </p:cNvSpPr>
          <p:nvPr/>
        </p:nvSpPr>
        <p:spPr>
          <a:xfrm>
            <a:off x="8200228" y="1234808"/>
            <a:ext cx="3856305" cy="2829192"/>
          </a:xfrm>
          <a:prstGeom prst="rect">
            <a:avLst/>
          </a:prstGeom>
          <a:ln>
            <a:no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b="1" i="1" u="sng" dirty="0"/>
              <a:t>Example problems in this set include</a:t>
            </a:r>
            <a:r>
              <a:rPr lang="en-US" sz="1600" i="1" dirty="0"/>
              <a:t>:</a:t>
            </a:r>
          </a:p>
          <a:p>
            <a:pPr marL="0" indent="0">
              <a:buFont typeface="Arial" panose="020B0604020202020204" pitchFamily="34" charset="0"/>
              <a:buNone/>
            </a:pPr>
            <a:r>
              <a:rPr lang="en-US" sz="1600" i="1" dirty="0"/>
              <a:t>Sorting a list of numbers</a:t>
            </a:r>
            <a:br>
              <a:rPr lang="en-US" sz="1600" i="1" dirty="0"/>
            </a:br>
            <a:r>
              <a:rPr lang="en-US" sz="1600" i="1" dirty="0"/>
              <a:t>Inserting into a binary tree</a:t>
            </a:r>
            <a:br>
              <a:rPr lang="en-US" sz="1600" i="1" dirty="0"/>
            </a:br>
            <a:r>
              <a:rPr lang="en-US" sz="1600" i="1" dirty="0"/>
              <a:t>Computing the average of a list of numbers</a:t>
            </a:r>
            <a:br>
              <a:rPr lang="en-US" sz="1600" i="1" dirty="0"/>
            </a:br>
            <a:r>
              <a:rPr lang="en-US" sz="1600" i="1" dirty="0"/>
              <a:t>Printing “hello world”</a:t>
            </a:r>
            <a:br>
              <a:rPr lang="en-US" sz="1600" i="1" dirty="0"/>
            </a:br>
            <a:r>
              <a:rPr lang="en-US" sz="1600" i="1" dirty="0"/>
              <a:t>Find() in a hash table</a:t>
            </a:r>
            <a:br>
              <a:rPr lang="en-US" sz="1600" i="1" dirty="0"/>
            </a:br>
            <a:r>
              <a:rPr lang="en-US" sz="1600" i="1" dirty="0"/>
              <a:t>…and many more</a:t>
            </a:r>
            <a:br>
              <a:rPr lang="en-US" sz="1600" i="1" dirty="0"/>
            </a:br>
            <a:endParaRPr lang="en-US" sz="1600" i="1" dirty="0"/>
          </a:p>
        </p:txBody>
      </p:sp>
      <p:cxnSp>
        <p:nvCxnSpPr>
          <p:cNvPr id="10" name="Straight Connector 9">
            <a:extLst>
              <a:ext uri="{FF2B5EF4-FFF2-40B4-BE49-F238E27FC236}">
                <a16:creationId xmlns:a16="http://schemas.microsoft.com/office/drawing/2014/main" id="{850DBD04-1501-8043-A417-E14621FC9938}"/>
              </a:ext>
            </a:extLst>
          </p:cNvPr>
          <p:cNvCxnSpPr>
            <a:cxnSpLocks/>
          </p:cNvCxnSpPr>
          <p:nvPr/>
        </p:nvCxnSpPr>
        <p:spPr>
          <a:xfrm flipV="1">
            <a:off x="6771745" y="1573213"/>
            <a:ext cx="1352282" cy="329139"/>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4472509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a:xfrm>
            <a:off x="1141413" y="262917"/>
            <a:ext cx="9905998" cy="668415"/>
          </a:xfrm>
        </p:spPr>
        <p:txBody>
          <a:bodyPr/>
          <a:lstStyle/>
          <a:p>
            <a:pPr algn="ctr"/>
            <a:r>
              <a:rPr lang="en-US" dirty="0"/>
              <a:t>The class NP</a:t>
            </a:r>
          </a:p>
        </p:txBody>
      </p:sp>
      <mc:AlternateContent xmlns:mc="http://schemas.openxmlformats.org/markup-compatibility/2006" xmlns:a14="http://schemas.microsoft.com/office/drawing/2010/main">
        <mc:Choice Requires="a14">
          <p:sp>
            <p:nvSpPr>
              <p:cNvPr id="5" name="Content Placeholder 4"/>
              <p:cNvSpPr>
                <a:spLocks noGrp="1"/>
              </p:cNvSpPr>
              <p:nvPr>
                <p:ph sz="quarter" idx="1"/>
              </p:nvPr>
            </p:nvSpPr>
            <p:spPr>
              <a:xfrm>
                <a:off x="3923108" y="4080935"/>
                <a:ext cx="4342605" cy="1975381"/>
              </a:xfrm>
              <a:ln>
                <a:solidFill>
                  <a:schemeClr val="tx1">
                    <a:lumMod val="95000"/>
                  </a:schemeClr>
                </a:solidFill>
              </a:ln>
            </p:spPr>
            <p:txBody>
              <a:bodyPr>
                <a:normAutofit/>
              </a:bodyPr>
              <a:lstStyle/>
              <a:p>
                <a:pPr marL="0" indent="0">
                  <a:buNone/>
                </a:pPr>
                <a:r>
                  <a:rPr lang="en-US" dirty="0"/>
                  <a:t>The class NP is the set of all problems that can be solved by a </a:t>
                </a:r>
                <a:r>
                  <a:rPr lang="en-US" b="1" u="sng" dirty="0"/>
                  <a:t>non-deterministic</a:t>
                </a:r>
                <a:r>
                  <a:rPr lang="en-US" dirty="0"/>
                  <a:t> Turing machine in time </a:t>
                </a:r>
                <a14:m>
                  <m:oMath xmlns:m="http://schemas.openxmlformats.org/officeDocument/2006/math">
                    <m:r>
                      <a:rPr lang="en-US" b="0" i="1" smtClean="0">
                        <a:latin typeface="Cambria Math" panose="02040503050406030204" pitchFamily="18" charset="0"/>
                      </a:rPr>
                      <m:t>𝑂</m:t>
                    </m:r>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𝑛</m:t>
                        </m:r>
                      </m:e>
                      <m:sup>
                        <m:r>
                          <a:rPr lang="en-US" b="0" i="1" smtClean="0">
                            <a:latin typeface="Cambria Math" panose="02040503050406030204" pitchFamily="18" charset="0"/>
                          </a:rPr>
                          <m:t>𝑐</m:t>
                        </m:r>
                      </m:sup>
                    </m:sSup>
                    <m:r>
                      <a:rPr lang="en-US" b="0" i="1" smtClean="0">
                        <a:latin typeface="Cambria Math" panose="02040503050406030204" pitchFamily="18" charset="0"/>
                      </a:rPr>
                      <m:t>)</m:t>
                    </m:r>
                  </m:oMath>
                </a14:m>
                <a:r>
                  <a:rPr lang="en-US" dirty="0"/>
                  <a:t> such that </a:t>
                </a:r>
                <a14:m>
                  <m:oMath xmlns:m="http://schemas.openxmlformats.org/officeDocument/2006/math">
                    <m:r>
                      <a:rPr lang="en-US" b="0" i="1" smtClean="0">
                        <a:latin typeface="Cambria Math" panose="02040503050406030204" pitchFamily="18" charset="0"/>
                      </a:rPr>
                      <m:t>𝑐</m:t>
                    </m:r>
                    <m:r>
                      <a:rPr lang="en-US" b="0" i="1" smtClean="0">
                        <a:latin typeface="Cambria Math" panose="02040503050406030204" pitchFamily="18" charset="0"/>
                      </a:rPr>
                      <m:t>∈</m:t>
                    </m:r>
                    <m:r>
                      <a:rPr lang="en-US" b="0" i="1" smtClean="0">
                        <a:latin typeface="Cambria Math" panose="02040503050406030204" pitchFamily="18" charset="0"/>
                      </a:rPr>
                      <m:t>𝒩</m:t>
                    </m:r>
                  </m:oMath>
                </a14:m>
                <a:endParaRPr lang="en-US" dirty="0"/>
              </a:p>
            </p:txBody>
          </p:sp>
        </mc:Choice>
        <mc:Fallback xmlns="">
          <p:sp>
            <p:nvSpPr>
              <p:cNvPr id="5" name="Content Placeholder 4"/>
              <p:cNvSpPr>
                <a:spLocks noGrp="1" noRot="1" noChangeAspect="1" noMove="1" noResize="1" noEditPoints="1" noAdjustHandles="1" noChangeArrowheads="1" noChangeShapeType="1" noTextEdit="1"/>
              </p:cNvSpPr>
              <p:nvPr>
                <p:ph sz="quarter" idx="1"/>
              </p:nvPr>
            </p:nvSpPr>
            <p:spPr>
              <a:xfrm>
                <a:off x="3923108" y="4080935"/>
                <a:ext cx="4342605" cy="1975381"/>
              </a:xfrm>
              <a:blipFill>
                <a:blip r:embed="rId2"/>
                <a:stretch>
                  <a:fillRect l="-2035" r="-1744"/>
                </a:stretch>
              </a:blipFill>
              <a:ln>
                <a:solidFill>
                  <a:schemeClr val="tx1">
                    <a:lumMod val="95000"/>
                  </a:schemeClr>
                </a:solidFill>
              </a:ln>
            </p:spPr>
            <p:txBody>
              <a:bodyPr/>
              <a:lstStyle/>
              <a:p>
                <a:r>
                  <a:rPr lang="en-US">
                    <a:noFill/>
                  </a:rPr>
                  <a:t> </a:t>
                </a:r>
              </a:p>
            </p:txBody>
          </p:sp>
        </mc:Fallback>
      </mc:AlternateContent>
      <p:sp>
        <p:nvSpPr>
          <p:cNvPr id="2" name="Oval 1">
            <a:extLst>
              <a:ext uri="{FF2B5EF4-FFF2-40B4-BE49-F238E27FC236}">
                <a16:creationId xmlns:a16="http://schemas.microsoft.com/office/drawing/2014/main" id="{D4A1DF55-6DAA-0D4D-9919-563E750571CE}"/>
              </a:ext>
            </a:extLst>
          </p:cNvPr>
          <p:cNvSpPr/>
          <p:nvPr/>
        </p:nvSpPr>
        <p:spPr>
          <a:xfrm>
            <a:off x="5417078" y="2277532"/>
            <a:ext cx="1354667" cy="1354667"/>
          </a:xfrm>
          <a:prstGeom prst="ellipse">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3000" dirty="0">
                <a:solidFill>
                  <a:schemeClr val="bg1"/>
                </a:solidFill>
              </a:rPr>
              <a:t>NP</a:t>
            </a:r>
          </a:p>
        </p:txBody>
      </p:sp>
      <p:sp>
        <p:nvSpPr>
          <p:cNvPr id="7" name="Content Placeholder 4">
            <a:extLst>
              <a:ext uri="{FF2B5EF4-FFF2-40B4-BE49-F238E27FC236}">
                <a16:creationId xmlns:a16="http://schemas.microsoft.com/office/drawing/2014/main" id="{E066397C-E79B-7544-B34D-AEE6BE19F905}"/>
              </a:ext>
            </a:extLst>
          </p:cNvPr>
          <p:cNvSpPr txBox="1">
            <a:spLocks/>
          </p:cNvSpPr>
          <p:nvPr/>
        </p:nvSpPr>
        <p:spPr>
          <a:xfrm>
            <a:off x="732105" y="695657"/>
            <a:ext cx="3226596" cy="1368822"/>
          </a:xfrm>
          <a:prstGeom prst="rect">
            <a:avLst/>
          </a:prstGeom>
          <a:ln>
            <a:no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600" b="1" i="1" u="sng" dirty="0"/>
              <a:t>Remember</a:t>
            </a:r>
            <a:r>
              <a:rPr lang="en-US" sz="1600" i="1" dirty="0"/>
              <a:t>: We also showed that any NTM solver has an equivalent exponential time DTM. So all problems in NP are solvable in exponential time. </a:t>
            </a:r>
          </a:p>
        </p:txBody>
      </p:sp>
      <p:cxnSp>
        <p:nvCxnSpPr>
          <p:cNvPr id="8" name="Straight Connector 7">
            <a:extLst>
              <a:ext uri="{FF2B5EF4-FFF2-40B4-BE49-F238E27FC236}">
                <a16:creationId xmlns:a16="http://schemas.microsoft.com/office/drawing/2014/main" id="{FFD31A87-2724-4949-A594-9C4BC49D3348}"/>
              </a:ext>
            </a:extLst>
          </p:cNvPr>
          <p:cNvCxnSpPr/>
          <p:nvPr/>
        </p:nvCxnSpPr>
        <p:spPr>
          <a:xfrm>
            <a:off x="3750733" y="1888065"/>
            <a:ext cx="1430867" cy="533402"/>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
        <p:nvSpPr>
          <p:cNvPr id="9" name="Content Placeholder 4">
            <a:extLst>
              <a:ext uri="{FF2B5EF4-FFF2-40B4-BE49-F238E27FC236}">
                <a16:creationId xmlns:a16="http://schemas.microsoft.com/office/drawing/2014/main" id="{855D8499-6DDD-C44D-BA77-BBC4670AF955}"/>
              </a:ext>
            </a:extLst>
          </p:cNvPr>
          <p:cNvSpPr txBox="1">
            <a:spLocks/>
          </p:cNvSpPr>
          <p:nvPr/>
        </p:nvSpPr>
        <p:spPr>
          <a:xfrm>
            <a:off x="8200228" y="1234808"/>
            <a:ext cx="3856305" cy="2693722"/>
          </a:xfrm>
          <a:prstGeom prst="rect">
            <a:avLst/>
          </a:prstGeom>
          <a:ln>
            <a:no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b="1" i="1" u="sng" dirty="0"/>
              <a:t>Example problems in this set include</a:t>
            </a:r>
            <a:r>
              <a:rPr lang="en-US" sz="1600" i="1" dirty="0"/>
              <a:t>:</a:t>
            </a:r>
          </a:p>
          <a:p>
            <a:pPr marL="0" indent="0">
              <a:buFont typeface="Arial" panose="020B0604020202020204" pitchFamily="34" charset="0"/>
              <a:buNone/>
            </a:pPr>
            <a:r>
              <a:rPr lang="en-US" sz="1600" i="1" dirty="0"/>
              <a:t>Everything in P (will prove shortly)</a:t>
            </a:r>
            <a:br>
              <a:rPr lang="en-US" sz="1600" i="1" dirty="0"/>
            </a:br>
            <a:r>
              <a:rPr lang="en-US" sz="1600" i="1" dirty="0"/>
              <a:t>Traveling Salesperson Problem</a:t>
            </a:r>
            <a:br>
              <a:rPr lang="en-US" sz="1600" i="1" dirty="0"/>
            </a:br>
            <a:r>
              <a:rPr lang="en-US" sz="1600" i="1" dirty="0"/>
              <a:t>Circuit Satisfiability</a:t>
            </a:r>
            <a:br>
              <a:rPr lang="en-US" sz="1600" i="1" dirty="0"/>
            </a:br>
            <a:r>
              <a:rPr lang="en-US" sz="1600" i="1" dirty="0"/>
              <a:t>Vertex Cover</a:t>
            </a:r>
            <a:br>
              <a:rPr lang="en-US" sz="1600" i="1" dirty="0"/>
            </a:br>
            <a:r>
              <a:rPr lang="en-US" sz="1600" i="1" dirty="0"/>
              <a:t>Independent Set</a:t>
            </a:r>
            <a:br>
              <a:rPr lang="en-US" sz="1600" i="1" dirty="0"/>
            </a:br>
            <a:r>
              <a:rPr lang="en-US" sz="1600" i="1" dirty="0"/>
              <a:t>Subset Sum</a:t>
            </a:r>
            <a:br>
              <a:rPr lang="en-US" sz="1600" i="1" dirty="0"/>
            </a:br>
            <a:r>
              <a:rPr lang="en-US" sz="1600" i="1" dirty="0"/>
              <a:t>…and many more</a:t>
            </a:r>
          </a:p>
        </p:txBody>
      </p:sp>
      <p:cxnSp>
        <p:nvCxnSpPr>
          <p:cNvPr id="10" name="Straight Connector 9">
            <a:extLst>
              <a:ext uri="{FF2B5EF4-FFF2-40B4-BE49-F238E27FC236}">
                <a16:creationId xmlns:a16="http://schemas.microsoft.com/office/drawing/2014/main" id="{850DBD04-1501-8043-A417-E14621FC9938}"/>
              </a:ext>
            </a:extLst>
          </p:cNvPr>
          <p:cNvCxnSpPr>
            <a:cxnSpLocks/>
          </p:cNvCxnSpPr>
          <p:nvPr/>
        </p:nvCxnSpPr>
        <p:spPr>
          <a:xfrm flipV="1">
            <a:off x="6771745" y="1573214"/>
            <a:ext cx="1352282" cy="848253"/>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
        <p:nvSpPr>
          <p:cNvPr id="11" name="Content Placeholder 4">
            <a:extLst>
              <a:ext uri="{FF2B5EF4-FFF2-40B4-BE49-F238E27FC236}">
                <a16:creationId xmlns:a16="http://schemas.microsoft.com/office/drawing/2014/main" id="{3448D927-13CC-1C4D-A5A0-138503F3AB66}"/>
              </a:ext>
            </a:extLst>
          </p:cNvPr>
          <p:cNvSpPr txBox="1">
            <a:spLocks/>
          </p:cNvSpPr>
          <p:nvPr/>
        </p:nvSpPr>
        <p:spPr>
          <a:xfrm>
            <a:off x="732105" y="3632199"/>
            <a:ext cx="2828663" cy="1642538"/>
          </a:xfrm>
          <a:prstGeom prst="rect">
            <a:avLst/>
          </a:prstGeom>
          <a:ln>
            <a:no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600" b="1" i="1" u="sng" dirty="0"/>
              <a:t>Equivalent Definition</a:t>
            </a:r>
            <a:r>
              <a:rPr lang="en-US" sz="1600" i="1" dirty="0"/>
              <a:t>: By our recently proved theorem, this also means these problems can be verified in polynomial time using a deterministic Turing machine!</a:t>
            </a:r>
          </a:p>
        </p:txBody>
      </p:sp>
      <p:cxnSp>
        <p:nvCxnSpPr>
          <p:cNvPr id="12" name="Straight Connector 11">
            <a:extLst>
              <a:ext uri="{FF2B5EF4-FFF2-40B4-BE49-F238E27FC236}">
                <a16:creationId xmlns:a16="http://schemas.microsoft.com/office/drawing/2014/main" id="{16812782-8974-4B40-98B0-A26D654A6D04}"/>
              </a:ext>
            </a:extLst>
          </p:cNvPr>
          <p:cNvCxnSpPr>
            <a:cxnSpLocks/>
          </p:cNvCxnSpPr>
          <p:nvPr/>
        </p:nvCxnSpPr>
        <p:spPr>
          <a:xfrm flipV="1">
            <a:off x="3369733" y="3014130"/>
            <a:ext cx="1929606" cy="872067"/>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7652614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4" name="Title 3"/>
              <p:cNvSpPr>
                <a:spLocks noGrp="1"/>
              </p:cNvSpPr>
              <p:nvPr>
                <p:ph type="title"/>
              </p:nvPr>
            </p:nvSpPr>
            <p:spPr>
              <a:xfrm>
                <a:off x="1141413" y="262917"/>
                <a:ext cx="9905998" cy="668415"/>
              </a:xfrm>
            </p:spPr>
            <p: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𝑃</m:t>
                      </m:r>
                      <m:r>
                        <a:rPr lang="en-US" b="0" i="1" smtClean="0">
                          <a:latin typeface="Cambria Math" panose="02040503050406030204" pitchFamily="18" charset="0"/>
                        </a:rPr>
                        <m:t>⊆</m:t>
                      </m:r>
                      <m:r>
                        <a:rPr lang="en-US" b="0" i="1" smtClean="0">
                          <a:latin typeface="Cambria Math" panose="02040503050406030204" pitchFamily="18" charset="0"/>
                        </a:rPr>
                        <m:t>𝑁𝑃</m:t>
                      </m:r>
                    </m:oMath>
                  </m:oMathPara>
                </a14:m>
                <a:endParaRPr lang="en-US" dirty="0"/>
              </a:p>
            </p:txBody>
          </p:sp>
        </mc:Choice>
        <mc:Fallback xmlns="">
          <p:sp>
            <p:nvSpPr>
              <p:cNvPr id="4" name="Title 3"/>
              <p:cNvSpPr>
                <a:spLocks noGrp="1" noRot="1" noChangeAspect="1" noMove="1" noResize="1" noEditPoints="1" noAdjustHandles="1" noChangeArrowheads="1" noChangeShapeType="1" noTextEdit="1"/>
              </p:cNvSpPr>
              <p:nvPr>
                <p:ph type="title"/>
              </p:nvPr>
            </p:nvSpPr>
            <p:spPr>
              <a:xfrm>
                <a:off x="1141413" y="262917"/>
                <a:ext cx="9905998" cy="668415"/>
              </a:xfr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Content Placeholder 4"/>
              <p:cNvSpPr>
                <a:spLocks noGrp="1"/>
              </p:cNvSpPr>
              <p:nvPr>
                <p:ph sz="quarter" idx="1"/>
              </p:nvPr>
            </p:nvSpPr>
            <p:spPr>
              <a:xfrm>
                <a:off x="9084499" y="3010184"/>
                <a:ext cx="2596212" cy="1035586"/>
              </a:xfrm>
              <a:ln>
                <a:solidFill>
                  <a:schemeClr val="tx1">
                    <a:lumMod val="95000"/>
                  </a:schemeClr>
                </a:solidFill>
              </a:ln>
            </p:spPr>
            <p:txBody>
              <a:bodyPr>
                <a:normAutofit/>
              </a:bodyPr>
              <a:lstStyle/>
              <a:p>
                <a:pPr marL="0" indent="0">
                  <a:buNone/>
                </a:pPr>
                <a:r>
                  <a:rPr lang="en-US" dirty="0"/>
                  <a:t>Is </a:t>
                </a:r>
                <a14:m>
                  <m:oMath xmlns:m="http://schemas.openxmlformats.org/officeDocument/2006/math">
                    <m:r>
                      <a:rPr lang="en-US" b="0" i="1" smtClean="0">
                        <a:latin typeface="Cambria Math" panose="02040503050406030204" pitchFamily="18" charset="0"/>
                      </a:rPr>
                      <m:t>𝑃</m:t>
                    </m:r>
                    <m:r>
                      <a:rPr lang="en-US" b="0" i="1" smtClean="0">
                        <a:latin typeface="Cambria Math" panose="02040503050406030204" pitchFamily="18" charset="0"/>
                      </a:rPr>
                      <m:t>⊂</m:t>
                    </m:r>
                    <m:r>
                      <a:rPr lang="en-US" b="0" i="1" smtClean="0">
                        <a:latin typeface="Cambria Math" panose="02040503050406030204" pitchFamily="18" charset="0"/>
                      </a:rPr>
                      <m:t>𝑁𝑃</m:t>
                    </m:r>
                  </m:oMath>
                </a14:m>
                <a:r>
                  <a:rPr lang="en-US" dirty="0"/>
                  <a:t>? This is still unknown today!</a:t>
                </a:r>
              </a:p>
            </p:txBody>
          </p:sp>
        </mc:Choice>
        <mc:Fallback xmlns="">
          <p:sp>
            <p:nvSpPr>
              <p:cNvPr id="5" name="Content Placeholder 4"/>
              <p:cNvSpPr>
                <a:spLocks noGrp="1" noRot="1" noChangeAspect="1" noMove="1" noResize="1" noEditPoints="1" noAdjustHandles="1" noChangeArrowheads="1" noChangeShapeType="1" noTextEdit="1"/>
              </p:cNvSpPr>
              <p:nvPr>
                <p:ph sz="quarter" idx="1"/>
              </p:nvPr>
            </p:nvSpPr>
            <p:spPr>
              <a:xfrm>
                <a:off x="9084499" y="3010184"/>
                <a:ext cx="2596212" cy="1035586"/>
              </a:xfrm>
              <a:blipFill>
                <a:blip r:embed="rId3"/>
                <a:stretch>
                  <a:fillRect l="-2899" r="-483" b="-1190"/>
                </a:stretch>
              </a:blipFill>
              <a:ln>
                <a:solidFill>
                  <a:schemeClr val="tx1">
                    <a:lumMod val="95000"/>
                  </a:schemeClr>
                </a:solidFill>
              </a:ln>
            </p:spPr>
            <p:txBody>
              <a:bodyPr/>
              <a:lstStyle/>
              <a:p>
                <a:r>
                  <a:rPr lang="en-US">
                    <a:noFill/>
                  </a:rPr>
                  <a:t> </a:t>
                </a:r>
              </a:p>
            </p:txBody>
          </p:sp>
        </mc:Fallback>
      </mc:AlternateContent>
      <p:sp>
        <p:nvSpPr>
          <p:cNvPr id="11" name="Content Placeholder 4">
            <a:extLst>
              <a:ext uri="{FF2B5EF4-FFF2-40B4-BE49-F238E27FC236}">
                <a16:creationId xmlns:a16="http://schemas.microsoft.com/office/drawing/2014/main" id="{3448D927-13CC-1C4D-A5A0-138503F3AB66}"/>
              </a:ext>
            </a:extLst>
          </p:cNvPr>
          <p:cNvSpPr txBox="1">
            <a:spLocks/>
          </p:cNvSpPr>
          <p:nvPr/>
        </p:nvSpPr>
        <p:spPr>
          <a:xfrm>
            <a:off x="988048" y="2689777"/>
            <a:ext cx="2832007" cy="1676401"/>
          </a:xfrm>
          <a:prstGeom prst="rect">
            <a:avLst/>
          </a:prstGeom>
          <a:solidFill>
            <a:schemeClr val="tx1">
              <a:lumMod val="95000"/>
            </a:schemeClr>
          </a:solidFill>
          <a:ln>
            <a:no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600" i="1" dirty="0">
                <a:solidFill>
                  <a:schemeClr val="bg1"/>
                </a:solidFill>
              </a:rPr>
              <a:t>Everything in P can be solved in polynomial time by a DTM, so it can definitely be verified as well (just ignore the certificate and solve the problem directly)</a:t>
            </a:r>
          </a:p>
        </p:txBody>
      </p:sp>
      <p:grpSp>
        <p:nvGrpSpPr>
          <p:cNvPr id="20" name="Group 19">
            <a:extLst>
              <a:ext uri="{FF2B5EF4-FFF2-40B4-BE49-F238E27FC236}">
                <a16:creationId xmlns:a16="http://schemas.microsoft.com/office/drawing/2014/main" id="{81CE101F-D131-5E4B-B329-8B3F728A41A4}"/>
              </a:ext>
            </a:extLst>
          </p:cNvPr>
          <p:cNvGrpSpPr/>
          <p:nvPr/>
        </p:nvGrpSpPr>
        <p:grpSpPr>
          <a:xfrm>
            <a:off x="3989015" y="1454948"/>
            <a:ext cx="4714481" cy="4063996"/>
            <a:chOff x="4523051" y="1761068"/>
            <a:chExt cx="4714481" cy="4063996"/>
          </a:xfrm>
        </p:grpSpPr>
        <p:grpSp>
          <p:nvGrpSpPr>
            <p:cNvPr id="3" name="Group 2">
              <a:extLst>
                <a:ext uri="{FF2B5EF4-FFF2-40B4-BE49-F238E27FC236}">
                  <a16:creationId xmlns:a16="http://schemas.microsoft.com/office/drawing/2014/main" id="{5ECBE22B-00AF-0249-B60F-AB6706A81B95}"/>
                </a:ext>
              </a:extLst>
            </p:cNvPr>
            <p:cNvGrpSpPr/>
            <p:nvPr/>
          </p:nvGrpSpPr>
          <p:grpSpPr>
            <a:xfrm>
              <a:off x="4523051" y="1854199"/>
              <a:ext cx="3142722" cy="3970865"/>
              <a:chOff x="4519612" y="1845732"/>
              <a:chExt cx="3142722" cy="3970865"/>
            </a:xfrm>
          </p:grpSpPr>
          <p:sp>
            <p:nvSpPr>
              <p:cNvPr id="2" name="Oval 1">
                <a:extLst>
                  <a:ext uri="{FF2B5EF4-FFF2-40B4-BE49-F238E27FC236}">
                    <a16:creationId xmlns:a16="http://schemas.microsoft.com/office/drawing/2014/main" id="{D4A1DF55-6DAA-0D4D-9919-563E750571CE}"/>
                  </a:ext>
                </a:extLst>
              </p:cNvPr>
              <p:cNvSpPr/>
              <p:nvPr/>
            </p:nvSpPr>
            <p:spPr>
              <a:xfrm>
                <a:off x="4519612" y="1845732"/>
                <a:ext cx="3142722" cy="3970865"/>
              </a:xfrm>
              <a:prstGeom prst="ellipse">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sz="3000" dirty="0">
                    <a:solidFill>
                      <a:schemeClr val="bg1"/>
                    </a:solidFill>
                  </a:rPr>
                  <a:t>NP</a:t>
                </a:r>
              </a:p>
            </p:txBody>
          </p:sp>
          <p:sp>
            <p:nvSpPr>
              <p:cNvPr id="13" name="Oval 12">
                <a:extLst>
                  <a:ext uri="{FF2B5EF4-FFF2-40B4-BE49-F238E27FC236}">
                    <a16:creationId xmlns:a16="http://schemas.microsoft.com/office/drawing/2014/main" id="{1CB683A8-08D1-204F-AFE5-1767C7DEADD6}"/>
                  </a:ext>
                </a:extLst>
              </p:cNvPr>
              <p:cNvSpPr/>
              <p:nvPr/>
            </p:nvSpPr>
            <p:spPr>
              <a:xfrm>
                <a:off x="4936067" y="3649131"/>
                <a:ext cx="2269066" cy="2159000"/>
              </a:xfrm>
              <a:prstGeom prst="ellipse">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3000" dirty="0">
                    <a:solidFill>
                      <a:schemeClr val="bg1"/>
                    </a:solidFill>
                  </a:rPr>
                  <a:t>P</a:t>
                </a:r>
              </a:p>
            </p:txBody>
          </p:sp>
        </p:grpSp>
        <p:cxnSp>
          <p:nvCxnSpPr>
            <p:cNvPr id="15" name="Straight Arrow Connector 14">
              <a:extLst>
                <a:ext uri="{FF2B5EF4-FFF2-40B4-BE49-F238E27FC236}">
                  <a16:creationId xmlns:a16="http://schemas.microsoft.com/office/drawing/2014/main" id="{9BA46874-D347-F341-B74E-C744F75A9D15}"/>
                </a:ext>
              </a:extLst>
            </p:cNvPr>
            <p:cNvCxnSpPr>
              <a:cxnSpLocks/>
            </p:cNvCxnSpPr>
            <p:nvPr/>
          </p:nvCxnSpPr>
          <p:spPr>
            <a:xfrm flipV="1">
              <a:off x="7823200" y="1854199"/>
              <a:ext cx="0" cy="387773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8" name="Content Placeholder 4">
              <a:extLst>
                <a:ext uri="{FF2B5EF4-FFF2-40B4-BE49-F238E27FC236}">
                  <a16:creationId xmlns:a16="http://schemas.microsoft.com/office/drawing/2014/main" id="{8C484E6F-0BD1-AB4E-9EFE-A40AC6ADE2A8}"/>
                </a:ext>
              </a:extLst>
            </p:cNvPr>
            <p:cNvSpPr txBox="1">
              <a:spLocks/>
            </p:cNvSpPr>
            <p:nvPr/>
          </p:nvSpPr>
          <p:spPr>
            <a:xfrm>
              <a:off x="7757715" y="5469457"/>
              <a:ext cx="1414332" cy="355607"/>
            </a:xfrm>
            <a:prstGeom prst="rect">
              <a:avLst/>
            </a:prstGeom>
            <a:ln>
              <a:noFill/>
            </a:ln>
          </p:spPr>
          <p:txBody>
            <a:bodyPr vert="horz" lIns="91440" tIns="45720" rIns="91440" bIns="45720" rtlCol="0">
              <a:normAutofit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600" b="1" i="1" dirty="0"/>
                <a:t>Easy Problems</a:t>
              </a:r>
              <a:endParaRPr lang="en-US" sz="1600" i="1" dirty="0"/>
            </a:p>
          </p:txBody>
        </p:sp>
        <p:sp>
          <p:nvSpPr>
            <p:cNvPr id="19" name="Content Placeholder 4">
              <a:extLst>
                <a:ext uri="{FF2B5EF4-FFF2-40B4-BE49-F238E27FC236}">
                  <a16:creationId xmlns:a16="http://schemas.microsoft.com/office/drawing/2014/main" id="{B188799F-CD2B-4748-AD60-BDD68DE38128}"/>
                </a:ext>
              </a:extLst>
            </p:cNvPr>
            <p:cNvSpPr txBox="1">
              <a:spLocks/>
            </p:cNvSpPr>
            <p:nvPr/>
          </p:nvSpPr>
          <p:spPr>
            <a:xfrm>
              <a:off x="7823200" y="1761068"/>
              <a:ext cx="1414332" cy="355607"/>
            </a:xfrm>
            <a:prstGeom prst="rect">
              <a:avLst/>
            </a:prstGeom>
            <a:ln>
              <a:noFill/>
            </a:ln>
          </p:spPr>
          <p:txBody>
            <a:bodyPr vert="horz" lIns="91440" tIns="45720" rIns="91440" bIns="45720" rtlCol="0">
              <a:normAutofit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600" b="1" i="1" dirty="0"/>
                <a:t>Hard Problems</a:t>
              </a:r>
              <a:endParaRPr lang="en-US" sz="1600" i="1" dirty="0"/>
            </a:p>
          </p:txBody>
        </p:sp>
      </p:grpSp>
      <p:sp>
        <p:nvSpPr>
          <p:cNvPr id="23" name="Content Placeholder 4">
            <a:extLst>
              <a:ext uri="{FF2B5EF4-FFF2-40B4-BE49-F238E27FC236}">
                <a16:creationId xmlns:a16="http://schemas.microsoft.com/office/drawing/2014/main" id="{1D1CA701-6607-7E4F-856B-6053AF5505F9}"/>
              </a:ext>
            </a:extLst>
          </p:cNvPr>
          <p:cNvSpPr txBox="1">
            <a:spLocks/>
          </p:cNvSpPr>
          <p:nvPr/>
        </p:nvSpPr>
        <p:spPr>
          <a:xfrm>
            <a:off x="988048" y="2345554"/>
            <a:ext cx="2832007" cy="344223"/>
          </a:xfrm>
          <a:prstGeom prst="rect">
            <a:avLst/>
          </a:prstGeom>
          <a:ln>
            <a:noFill/>
          </a:ln>
        </p:spPr>
        <p:txBody>
          <a:bodyPr vert="horz" lIns="91440" tIns="45720" rIns="91440" bIns="45720" rtlCol="0">
            <a:normAutofit fontScale="92500"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i="1" dirty="0"/>
              <a:t>Proof:</a:t>
            </a:r>
          </a:p>
        </p:txBody>
      </p:sp>
    </p:spTree>
    <p:extLst>
      <p:ext uri="{BB962C8B-B14F-4D97-AF65-F5344CB8AC3E}">
        <p14:creationId xmlns:p14="http://schemas.microsoft.com/office/powerpoint/2010/main" val="109303752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4" name="Title 3"/>
              <p:cNvSpPr>
                <a:spLocks noGrp="1"/>
              </p:cNvSpPr>
              <p:nvPr>
                <p:ph type="title"/>
              </p:nvPr>
            </p:nvSpPr>
            <p:spPr>
              <a:xfrm>
                <a:off x="1141413" y="262917"/>
                <a:ext cx="9905998" cy="668415"/>
              </a:xfrm>
            </p:spPr>
            <p: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𝑃</m:t>
                      </m:r>
                      <m:r>
                        <a:rPr lang="en-US" b="0" i="1" smtClean="0">
                          <a:latin typeface="Cambria Math" panose="02040503050406030204" pitchFamily="18" charset="0"/>
                        </a:rPr>
                        <m:t>⊆</m:t>
                      </m:r>
                      <m:r>
                        <a:rPr lang="en-US" b="0" i="1" smtClean="0">
                          <a:latin typeface="Cambria Math" panose="02040503050406030204" pitchFamily="18" charset="0"/>
                        </a:rPr>
                        <m:t>𝑁𝑃</m:t>
                      </m:r>
                    </m:oMath>
                  </m:oMathPara>
                </a14:m>
                <a:endParaRPr lang="en-US" dirty="0"/>
              </a:p>
            </p:txBody>
          </p:sp>
        </mc:Choice>
        <mc:Fallback xmlns="">
          <p:sp>
            <p:nvSpPr>
              <p:cNvPr id="4" name="Title 3"/>
              <p:cNvSpPr>
                <a:spLocks noGrp="1" noRot="1" noChangeAspect="1" noMove="1" noResize="1" noEditPoints="1" noAdjustHandles="1" noChangeArrowheads="1" noChangeShapeType="1" noTextEdit="1"/>
              </p:cNvSpPr>
              <p:nvPr>
                <p:ph type="title"/>
              </p:nvPr>
            </p:nvSpPr>
            <p:spPr>
              <a:xfrm>
                <a:off x="1141413" y="262917"/>
                <a:ext cx="9905998" cy="668415"/>
              </a:xfrm>
              <a:blipFill>
                <a:blip r:embed="rId2"/>
                <a:stretch>
                  <a:fillRect/>
                </a:stretch>
              </a:blipFill>
            </p:spPr>
            <p:txBody>
              <a:bodyPr/>
              <a:lstStyle/>
              <a:p>
                <a:r>
                  <a:rPr lang="en-US">
                    <a:noFill/>
                  </a:rPr>
                  <a:t> </a:t>
                </a:r>
              </a:p>
            </p:txBody>
          </p:sp>
        </mc:Fallback>
      </mc:AlternateContent>
      <p:grpSp>
        <p:nvGrpSpPr>
          <p:cNvPr id="20" name="Group 19">
            <a:extLst>
              <a:ext uri="{FF2B5EF4-FFF2-40B4-BE49-F238E27FC236}">
                <a16:creationId xmlns:a16="http://schemas.microsoft.com/office/drawing/2014/main" id="{81CE101F-D131-5E4B-B329-8B3F728A41A4}"/>
              </a:ext>
            </a:extLst>
          </p:cNvPr>
          <p:cNvGrpSpPr/>
          <p:nvPr/>
        </p:nvGrpSpPr>
        <p:grpSpPr>
          <a:xfrm>
            <a:off x="5437569" y="1744659"/>
            <a:ext cx="4714481" cy="4063996"/>
            <a:chOff x="4523051" y="1761068"/>
            <a:chExt cx="4714481" cy="4063996"/>
          </a:xfrm>
        </p:grpSpPr>
        <p:grpSp>
          <p:nvGrpSpPr>
            <p:cNvPr id="3" name="Group 2">
              <a:extLst>
                <a:ext uri="{FF2B5EF4-FFF2-40B4-BE49-F238E27FC236}">
                  <a16:creationId xmlns:a16="http://schemas.microsoft.com/office/drawing/2014/main" id="{5ECBE22B-00AF-0249-B60F-AB6706A81B95}"/>
                </a:ext>
              </a:extLst>
            </p:cNvPr>
            <p:cNvGrpSpPr/>
            <p:nvPr/>
          </p:nvGrpSpPr>
          <p:grpSpPr>
            <a:xfrm>
              <a:off x="4523051" y="1854199"/>
              <a:ext cx="3142722" cy="3970865"/>
              <a:chOff x="4519612" y="1845732"/>
              <a:chExt cx="3142722" cy="3970865"/>
            </a:xfrm>
          </p:grpSpPr>
          <p:sp>
            <p:nvSpPr>
              <p:cNvPr id="2" name="Oval 1">
                <a:extLst>
                  <a:ext uri="{FF2B5EF4-FFF2-40B4-BE49-F238E27FC236}">
                    <a16:creationId xmlns:a16="http://schemas.microsoft.com/office/drawing/2014/main" id="{D4A1DF55-6DAA-0D4D-9919-563E750571CE}"/>
                  </a:ext>
                </a:extLst>
              </p:cNvPr>
              <p:cNvSpPr/>
              <p:nvPr/>
            </p:nvSpPr>
            <p:spPr>
              <a:xfrm>
                <a:off x="4519612" y="1845732"/>
                <a:ext cx="3142722" cy="3970865"/>
              </a:xfrm>
              <a:prstGeom prst="ellipse">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sz="3000" dirty="0">
                    <a:solidFill>
                      <a:schemeClr val="bg1"/>
                    </a:solidFill>
                  </a:rPr>
                  <a:t>NP</a:t>
                </a:r>
              </a:p>
            </p:txBody>
          </p:sp>
          <p:sp>
            <p:nvSpPr>
              <p:cNvPr id="13" name="Oval 12">
                <a:extLst>
                  <a:ext uri="{FF2B5EF4-FFF2-40B4-BE49-F238E27FC236}">
                    <a16:creationId xmlns:a16="http://schemas.microsoft.com/office/drawing/2014/main" id="{1CB683A8-08D1-204F-AFE5-1767C7DEADD6}"/>
                  </a:ext>
                </a:extLst>
              </p:cNvPr>
              <p:cNvSpPr/>
              <p:nvPr/>
            </p:nvSpPr>
            <p:spPr>
              <a:xfrm>
                <a:off x="4936067" y="3649131"/>
                <a:ext cx="2269066" cy="2159000"/>
              </a:xfrm>
              <a:prstGeom prst="ellipse">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3000" dirty="0">
                    <a:solidFill>
                      <a:schemeClr val="bg1"/>
                    </a:solidFill>
                  </a:rPr>
                  <a:t>P</a:t>
                </a:r>
              </a:p>
            </p:txBody>
          </p:sp>
        </p:grpSp>
        <p:cxnSp>
          <p:nvCxnSpPr>
            <p:cNvPr id="15" name="Straight Arrow Connector 14">
              <a:extLst>
                <a:ext uri="{FF2B5EF4-FFF2-40B4-BE49-F238E27FC236}">
                  <a16:creationId xmlns:a16="http://schemas.microsoft.com/office/drawing/2014/main" id="{9BA46874-D347-F341-B74E-C744F75A9D15}"/>
                </a:ext>
              </a:extLst>
            </p:cNvPr>
            <p:cNvCxnSpPr>
              <a:cxnSpLocks/>
            </p:cNvCxnSpPr>
            <p:nvPr/>
          </p:nvCxnSpPr>
          <p:spPr>
            <a:xfrm flipV="1">
              <a:off x="7823200" y="1854199"/>
              <a:ext cx="0" cy="387773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8" name="Content Placeholder 4">
              <a:extLst>
                <a:ext uri="{FF2B5EF4-FFF2-40B4-BE49-F238E27FC236}">
                  <a16:creationId xmlns:a16="http://schemas.microsoft.com/office/drawing/2014/main" id="{8C484E6F-0BD1-AB4E-9EFE-A40AC6ADE2A8}"/>
                </a:ext>
              </a:extLst>
            </p:cNvPr>
            <p:cNvSpPr txBox="1">
              <a:spLocks/>
            </p:cNvSpPr>
            <p:nvPr/>
          </p:nvSpPr>
          <p:spPr>
            <a:xfrm>
              <a:off x="7757715" y="5469457"/>
              <a:ext cx="1414332" cy="355607"/>
            </a:xfrm>
            <a:prstGeom prst="rect">
              <a:avLst/>
            </a:prstGeom>
            <a:ln>
              <a:noFill/>
            </a:ln>
          </p:spPr>
          <p:txBody>
            <a:bodyPr vert="horz" lIns="91440" tIns="45720" rIns="91440" bIns="45720" rtlCol="0">
              <a:normAutofit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600" b="1" i="1" dirty="0"/>
                <a:t>Easy Problems</a:t>
              </a:r>
              <a:endParaRPr lang="en-US" sz="1600" i="1" dirty="0"/>
            </a:p>
          </p:txBody>
        </p:sp>
        <p:sp>
          <p:nvSpPr>
            <p:cNvPr id="19" name="Content Placeholder 4">
              <a:extLst>
                <a:ext uri="{FF2B5EF4-FFF2-40B4-BE49-F238E27FC236}">
                  <a16:creationId xmlns:a16="http://schemas.microsoft.com/office/drawing/2014/main" id="{B188799F-CD2B-4748-AD60-BDD68DE38128}"/>
                </a:ext>
              </a:extLst>
            </p:cNvPr>
            <p:cNvSpPr txBox="1">
              <a:spLocks/>
            </p:cNvSpPr>
            <p:nvPr/>
          </p:nvSpPr>
          <p:spPr>
            <a:xfrm>
              <a:off x="7823200" y="1761068"/>
              <a:ext cx="1414332" cy="355607"/>
            </a:xfrm>
            <a:prstGeom prst="rect">
              <a:avLst/>
            </a:prstGeom>
            <a:ln>
              <a:noFill/>
            </a:ln>
          </p:spPr>
          <p:txBody>
            <a:bodyPr vert="horz" lIns="91440" tIns="45720" rIns="91440" bIns="45720" rtlCol="0">
              <a:normAutofit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600" b="1" i="1" dirty="0"/>
                <a:t>Hard Problems</a:t>
              </a:r>
              <a:endParaRPr lang="en-US" sz="1600" i="1" dirty="0"/>
            </a:p>
          </p:txBody>
        </p:sp>
      </p:grpSp>
      <p:sp>
        <p:nvSpPr>
          <p:cNvPr id="16" name="Content Placeholder 4">
            <a:extLst>
              <a:ext uri="{FF2B5EF4-FFF2-40B4-BE49-F238E27FC236}">
                <a16:creationId xmlns:a16="http://schemas.microsoft.com/office/drawing/2014/main" id="{3BEB5F83-FE3A-8245-91A4-E21E1020472F}"/>
              </a:ext>
            </a:extLst>
          </p:cNvPr>
          <p:cNvSpPr txBox="1">
            <a:spLocks/>
          </p:cNvSpPr>
          <p:nvPr/>
        </p:nvSpPr>
        <p:spPr>
          <a:xfrm>
            <a:off x="1213097" y="4565842"/>
            <a:ext cx="3226596" cy="1368822"/>
          </a:xfrm>
          <a:prstGeom prst="rect">
            <a:avLst/>
          </a:prstGeom>
          <a:ln>
            <a:no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600" i="1" dirty="0"/>
              <a:t>It is true that we DO NOT know if there are actually any unique problems in NP (that are not also in P). </a:t>
            </a:r>
          </a:p>
        </p:txBody>
      </p:sp>
      <p:cxnSp>
        <p:nvCxnSpPr>
          <p:cNvPr id="17" name="Straight Connector 16">
            <a:extLst>
              <a:ext uri="{FF2B5EF4-FFF2-40B4-BE49-F238E27FC236}">
                <a16:creationId xmlns:a16="http://schemas.microsoft.com/office/drawing/2014/main" id="{A8B23BFE-72AD-684A-949E-4D647D62BDE8}"/>
              </a:ext>
            </a:extLst>
          </p:cNvPr>
          <p:cNvCxnSpPr>
            <a:cxnSpLocks/>
          </p:cNvCxnSpPr>
          <p:nvPr/>
        </p:nvCxnSpPr>
        <p:spPr>
          <a:xfrm flipV="1">
            <a:off x="4291343" y="4565842"/>
            <a:ext cx="1105480" cy="313976"/>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1" name="Content Placeholder 4">
                <a:extLst>
                  <a:ext uri="{FF2B5EF4-FFF2-40B4-BE49-F238E27FC236}">
                    <a16:creationId xmlns:a16="http://schemas.microsoft.com/office/drawing/2014/main" id="{44A26CC7-079F-374B-8C92-959E199970CA}"/>
                  </a:ext>
                </a:extLst>
              </p:cNvPr>
              <p:cNvSpPr txBox="1">
                <a:spLocks/>
              </p:cNvSpPr>
              <p:nvPr/>
            </p:nvSpPr>
            <p:spPr>
              <a:xfrm>
                <a:off x="1192724" y="1138957"/>
                <a:ext cx="3226596" cy="1368822"/>
              </a:xfrm>
              <a:prstGeom prst="rect">
                <a:avLst/>
              </a:prstGeom>
              <a:ln>
                <a:no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600" i="1" dirty="0"/>
                  <a:t>We are interested in finding the hardest problem in NP (at the VERY top of the bubble). Why? It is the MOST likely to not be in P if </a:t>
                </a:r>
                <a14:m>
                  <m:oMath xmlns:m="http://schemas.openxmlformats.org/officeDocument/2006/math">
                    <m:r>
                      <a:rPr lang="en-US" sz="1600" b="0" i="1" smtClean="0">
                        <a:latin typeface="Cambria Math" panose="02040503050406030204" pitchFamily="18" charset="0"/>
                      </a:rPr>
                      <m:t>𝑃</m:t>
                    </m:r>
                    <m:r>
                      <a:rPr lang="en-US" sz="1600" b="0" i="1" smtClean="0">
                        <a:latin typeface="Cambria Math" panose="02040503050406030204" pitchFamily="18" charset="0"/>
                      </a:rPr>
                      <m:t>≠</m:t>
                    </m:r>
                    <m:r>
                      <a:rPr lang="en-US" sz="1600" b="0" i="1" smtClean="0">
                        <a:latin typeface="Cambria Math" panose="02040503050406030204" pitchFamily="18" charset="0"/>
                      </a:rPr>
                      <m:t>𝑁𝑃</m:t>
                    </m:r>
                  </m:oMath>
                </a14:m>
                <a:endParaRPr lang="en-US" sz="1600" i="1" dirty="0"/>
              </a:p>
            </p:txBody>
          </p:sp>
        </mc:Choice>
        <mc:Fallback xmlns="">
          <p:sp>
            <p:nvSpPr>
              <p:cNvPr id="21" name="Content Placeholder 4">
                <a:extLst>
                  <a:ext uri="{FF2B5EF4-FFF2-40B4-BE49-F238E27FC236}">
                    <a16:creationId xmlns:a16="http://schemas.microsoft.com/office/drawing/2014/main" id="{44A26CC7-079F-374B-8C92-959E199970CA}"/>
                  </a:ext>
                </a:extLst>
              </p:cNvPr>
              <p:cNvSpPr txBox="1">
                <a:spLocks noRot="1" noChangeAspect="1" noMove="1" noResize="1" noEditPoints="1" noAdjustHandles="1" noChangeArrowheads="1" noChangeShapeType="1" noTextEdit="1"/>
              </p:cNvSpPr>
              <p:nvPr/>
            </p:nvSpPr>
            <p:spPr>
              <a:xfrm>
                <a:off x="1192724" y="1138957"/>
                <a:ext cx="3226596" cy="1368822"/>
              </a:xfrm>
              <a:prstGeom prst="rect">
                <a:avLst/>
              </a:prstGeom>
              <a:blipFill>
                <a:blip r:embed="rId3"/>
                <a:stretch>
                  <a:fillRect/>
                </a:stretch>
              </a:blipFill>
              <a:ln>
                <a:noFill/>
              </a:ln>
            </p:spPr>
            <p:txBody>
              <a:bodyPr/>
              <a:lstStyle/>
              <a:p>
                <a:r>
                  <a:rPr lang="en-US">
                    <a:noFill/>
                  </a:rPr>
                  <a:t> </a:t>
                </a:r>
              </a:p>
            </p:txBody>
          </p:sp>
        </mc:Fallback>
      </mc:AlternateContent>
      <p:cxnSp>
        <p:nvCxnSpPr>
          <p:cNvPr id="22" name="Straight Connector 21">
            <a:extLst>
              <a:ext uri="{FF2B5EF4-FFF2-40B4-BE49-F238E27FC236}">
                <a16:creationId xmlns:a16="http://schemas.microsoft.com/office/drawing/2014/main" id="{382282BA-4C43-BD4B-94F3-054E7C20C489}"/>
              </a:ext>
            </a:extLst>
          </p:cNvPr>
          <p:cNvCxnSpPr>
            <a:cxnSpLocks/>
          </p:cNvCxnSpPr>
          <p:nvPr/>
        </p:nvCxnSpPr>
        <p:spPr>
          <a:xfrm>
            <a:off x="4291343" y="1530036"/>
            <a:ext cx="2580237" cy="307754"/>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9111960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a:xfrm>
            <a:off x="1141413" y="262917"/>
            <a:ext cx="9905998" cy="668415"/>
          </a:xfrm>
        </p:spPr>
        <p:txBody>
          <a:bodyPr/>
          <a:lstStyle/>
          <a:p>
            <a:pPr algn="ctr"/>
            <a:r>
              <a:rPr lang="en-US" dirty="0"/>
              <a:t>NP-Hard</a:t>
            </a:r>
          </a:p>
        </p:txBody>
      </p:sp>
      <p:grpSp>
        <p:nvGrpSpPr>
          <p:cNvPr id="20" name="Group 19">
            <a:extLst>
              <a:ext uri="{FF2B5EF4-FFF2-40B4-BE49-F238E27FC236}">
                <a16:creationId xmlns:a16="http://schemas.microsoft.com/office/drawing/2014/main" id="{81CE101F-D131-5E4B-B329-8B3F728A41A4}"/>
              </a:ext>
            </a:extLst>
          </p:cNvPr>
          <p:cNvGrpSpPr/>
          <p:nvPr/>
        </p:nvGrpSpPr>
        <p:grpSpPr>
          <a:xfrm>
            <a:off x="5437569" y="1744659"/>
            <a:ext cx="4714481" cy="4063996"/>
            <a:chOff x="4523051" y="1761068"/>
            <a:chExt cx="4714481" cy="4063996"/>
          </a:xfrm>
        </p:grpSpPr>
        <p:grpSp>
          <p:nvGrpSpPr>
            <p:cNvPr id="3" name="Group 2">
              <a:extLst>
                <a:ext uri="{FF2B5EF4-FFF2-40B4-BE49-F238E27FC236}">
                  <a16:creationId xmlns:a16="http://schemas.microsoft.com/office/drawing/2014/main" id="{5ECBE22B-00AF-0249-B60F-AB6706A81B95}"/>
                </a:ext>
              </a:extLst>
            </p:cNvPr>
            <p:cNvGrpSpPr/>
            <p:nvPr/>
          </p:nvGrpSpPr>
          <p:grpSpPr>
            <a:xfrm>
              <a:off x="4523051" y="1854199"/>
              <a:ext cx="3142722" cy="3970865"/>
              <a:chOff x="4519612" y="1845732"/>
              <a:chExt cx="3142722" cy="3970865"/>
            </a:xfrm>
          </p:grpSpPr>
          <p:sp>
            <p:nvSpPr>
              <p:cNvPr id="2" name="Oval 1">
                <a:extLst>
                  <a:ext uri="{FF2B5EF4-FFF2-40B4-BE49-F238E27FC236}">
                    <a16:creationId xmlns:a16="http://schemas.microsoft.com/office/drawing/2014/main" id="{D4A1DF55-6DAA-0D4D-9919-563E750571CE}"/>
                  </a:ext>
                </a:extLst>
              </p:cNvPr>
              <p:cNvSpPr/>
              <p:nvPr/>
            </p:nvSpPr>
            <p:spPr>
              <a:xfrm>
                <a:off x="4519612" y="1845732"/>
                <a:ext cx="3142722" cy="3970865"/>
              </a:xfrm>
              <a:prstGeom prst="ellipse">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sz="3000" dirty="0">
                    <a:solidFill>
                      <a:schemeClr val="bg1"/>
                    </a:solidFill>
                  </a:rPr>
                  <a:t>NP</a:t>
                </a:r>
              </a:p>
            </p:txBody>
          </p:sp>
          <p:sp>
            <p:nvSpPr>
              <p:cNvPr id="13" name="Oval 12">
                <a:extLst>
                  <a:ext uri="{FF2B5EF4-FFF2-40B4-BE49-F238E27FC236}">
                    <a16:creationId xmlns:a16="http://schemas.microsoft.com/office/drawing/2014/main" id="{1CB683A8-08D1-204F-AFE5-1767C7DEADD6}"/>
                  </a:ext>
                </a:extLst>
              </p:cNvPr>
              <p:cNvSpPr/>
              <p:nvPr/>
            </p:nvSpPr>
            <p:spPr>
              <a:xfrm>
                <a:off x="4936067" y="3649131"/>
                <a:ext cx="2269066" cy="2159000"/>
              </a:xfrm>
              <a:prstGeom prst="ellipse">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3000" dirty="0">
                    <a:solidFill>
                      <a:schemeClr val="bg1"/>
                    </a:solidFill>
                  </a:rPr>
                  <a:t>P</a:t>
                </a:r>
              </a:p>
            </p:txBody>
          </p:sp>
        </p:grpSp>
        <p:cxnSp>
          <p:nvCxnSpPr>
            <p:cNvPr id="15" name="Straight Arrow Connector 14">
              <a:extLst>
                <a:ext uri="{FF2B5EF4-FFF2-40B4-BE49-F238E27FC236}">
                  <a16:creationId xmlns:a16="http://schemas.microsoft.com/office/drawing/2014/main" id="{9BA46874-D347-F341-B74E-C744F75A9D15}"/>
                </a:ext>
              </a:extLst>
            </p:cNvPr>
            <p:cNvCxnSpPr>
              <a:cxnSpLocks/>
            </p:cNvCxnSpPr>
            <p:nvPr/>
          </p:nvCxnSpPr>
          <p:spPr>
            <a:xfrm flipV="1">
              <a:off x="7823200" y="1854199"/>
              <a:ext cx="0" cy="387773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8" name="Content Placeholder 4">
              <a:extLst>
                <a:ext uri="{FF2B5EF4-FFF2-40B4-BE49-F238E27FC236}">
                  <a16:creationId xmlns:a16="http://schemas.microsoft.com/office/drawing/2014/main" id="{8C484E6F-0BD1-AB4E-9EFE-A40AC6ADE2A8}"/>
                </a:ext>
              </a:extLst>
            </p:cNvPr>
            <p:cNvSpPr txBox="1">
              <a:spLocks/>
            </p:cNvSpPr>
            <p:nvPr/>
          </p:nvSpPr>
          <p:spPr>
            <a:xfrm>
              <a:off x="7757715" y="5469457"/>
              <a:ext cx="1414332" cy="355607"/>
            </a:xfrm>
            <a:prstGeom prst="rect">
              <a:avLst/>
            </a:prstGeom>
            <a:ln>
              <a:noFill/>
            </a:ln>
          </p:spPr>
          <p:txBody>
            <a:bodyPr vert="horz" lIns="91440" tIns="45720" rIns="91440" bIns="45720" rtlCol="0">
              <a:normAutofit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600" b="1" i="1" dirty="0"/>
                <a:t>Easy Problems</a:t>
              </a:r>
              <a:endParaRPr lang="en-US" sz="1600" i="1" dirty="0"/>
            </a:p>
          </p:txBody>
        </p:sp>
        <p:sp>
          <p:nvSpPr>
            <p:cNvPr id="19" name="Content Placeholder 4">
              <a:extLst>
                <a:ext uri="{FF2B5EF4-FFF2-40B4-BE49-F238E27FC236}">
                  <a16:creationId xmlns:a16="http://schemas.microsoft.com/office/drawing/2014/main" id="{B188799F-CD2B-4748-AD60-BDD68DE38128}"/>
                </a:ext>
              </a:extLst>
            </p:cNvPr>
            <p:cNvSpPr txBox="1">
              <a:spLocks/>
            </p:cNvSpPr>
            <p:nvPr/>
          </p:nvSpPr>
          <p:spPr>
            <a:xfrm>
              <a:off x="7823200" y="1761068"/>
              <a:ext cx="1414332" cy="355607"/>
            </a:xfrm>
            <a:prstGeom prst="rect">
              <a:avLst/>
            </a:prstGeom>
            <a:ln>
              <a:noFill/>
            </a:ln>
          </p:spPr>
          <p:txBody>
            <a:bodyPr vert="horz" lIns="91440" tIns="45720" rIns="91440" bIns="45720" rtlCol="0">
              <a:normAutofit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600" b="1" i="1" dirty="0"/>
                <a:t>Hard Problems</a:t>
              </a:r>
              <a:endParaRPr lang="en-US" sz="1600" i="1" dirty="0"/>
            </a:p>
          </p:txBody>
        </p:sp>
      </p:grpSp>
      <p:sp>
        <p:nvSpPr>
          <p:cNvPr id="16" name="Content Placeholder 4">
            <a:extLst>
              <a:ext uri="{FF2B5EF4-FFF2-40B4-BE49-F238E27FC236}">
                <a16:creationId xmlns:a16="http://schemas.microsoft.com/office/drawing/2014/main" id="{3BEB5F83-FE3A-8245-91A4-E21E1020472F}"/>
              </a:ext>
            </a:extLst>
          </p:cNvPr>
          <p:cNvSpPr txBox="1">
            <a:spLocks/>
          </p:cNvSpPr>
          <p:nvPr/>
        </p:nvSpPr>
        <p:spPr>
          <a:xfrm>
            <a:off x="1112652" y="3823222"/>
            <a:ext cx="3226596" cy="1368822"/>
          </a:xfrm>
          <a:prstGeom prst="rect">
            <a:avLst/>
          </a:prstGeom>
          <a:ln>
            <a:no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600" i="1" dirty="0"/>
              <a:t>NP-Hard problems are defined to be all problems that are this hard OR harder.</a:t>
            </a:r>
          </a:p>
        </p:txBody>
      </p:sp>
      <p:cxnSp>
        <p:nvCxnSpPr>
          <p:cNvPr id="17" name="Straight Connector 16">
            <a:extLst>
              <a:ext uri="{FF2B5EF4-FFF2-40B4-BE49-F238E27FC236}">
                <a16:creationId xmlns:a16="http://schemas.microsoft.com/office/drawing/2014/main" id="{A8B23BFE-72AD-684A-949E-4D647D62BDE8}"/>
              </a:ext>
            </a:extLst>
          </p:cNvPr>
          <p:cNvCxnSpPr>
            <a:cxnSpLocks/>
          </p:cNvCxnSpPr>
          <p:nvPr/>
        </p:nvCxnSpPr>
        <p:spPr>
          <a:xfrm flipV="1">
            <a:off x="2625505" y="2842788"/>
            <a:ext cx="200890" cy="933869"/>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
        <p:nvSpPr>
          <p:cNvPr id="21" name="Content Placeholder 4">
            <a:extLst>
              <a:ext uri="{FF2B5EF4-FFF2-40B4-BE49-F238E27FC236}">
                <a16:creationId xmlns:a16="http://schemas.microsoft.com/office/drawing/2014/main" id="{44A26CC7-079F-374B-8C92-959E199970CA}"/>
              </a:ext>
            </a:extLst>
          </p:cNvPr>
          <p:cNvSpPr txBox="1">
            <a:spLocks/>
          </p:cNvSpPr>
          <p:nvPr/>
        </p:nvSpPr>
        <p:spPr>
          <a:xfrm>
            <a:off x="1872132" y="2049753"/>
            <a:ext cx="2355130" cy="698833"/>
          </a:xfrm>
          <a:prstGeom prst="rect">
            <a:avLst/>
          </a:prstGeom>
          <a:ln>
            <a:no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600" i="1" dirty="0"/>
              <a:t>Suppose we have find the hardest problem in NP</a:t>
            </a:r>
          </a:p>
        </p:txBody>
      </p:sp>
      <p:cxnSp>
        <p:nvCxnSpPr>
          <p:cNvPr id="22" name="Straight Connector 21">
            <a:extLst>
              <a:ext uri="{FF2B5EF4-FFF2-40B4-BE49-F238E27FC236}">
                <a16:creationId xmlns:a16="http://schemas.microsoft.com/office/drawing/2014/main" id="{382282BA-4C43-BD4B-94F3-054E7C20C489}"/>
              </a:ext>
            </a:extLst>
          </p:cNvPr>
          <p:cNvCxnSpPr>
            <a:cxnSpLocks/>
          </p:cNvCxnSpPr>
          <p:nvPr/>
        </p:nvCxnSpPr>
        <p:spPr>
          <a:xfrm flipV="1">
            <a:off x="4088723" y="1837790"/>
            <a:ext cx="2782857" cy="561379"/>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4966705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a:xfrm>
            <a:off x="9051072" y="813235"/>
            <a:ext cx="2506589" cy="668415"/>
          </a:xfrm>
        </p:spPr>
        <p:txBody>
          <a:bodyPr/>
          <a:lstStyle/>
          <a:p>
            <a:pPr algn="ctr"/>
            <a:r>
              <a:rPr lang="en-US" dirty="0"/>
              <a:t>NP-Hard</a:t>
            </a:r>
          </a:p>
        </p:txBody>
      </p:sp>
      <p:grpSp>
        <p:nvGrpSpPr>
          <p:cNvPr id="10" name="Group 9">
            <a:extLst>
              <a:ext uri="{FF2B5EF4-FFF2-40B4-BE49-F238E27FC236}">
                <a16:creationId xmlns:a16="http://schemas.microsoft.com/office/drawing/2014/main" id="{5B371892-3A55-864A-BE74-1F51EA687C93}"/>
              </a:ext>
            </a:extLst>
          </p:cNvPr>
          <p:cNvGrpSpPr/>
          <p:nvPr/>
        </p:nvGrpSpPr>
        <p:grpSpPr>
          <a:xfrm>
            <a:off x="5791207" y="-4553901"/>
            <a:ext cx="4831624" cy="11113993"/>
            <a:chOff x="5791207" y="-4553901"/>
            <a:chExt cx="4831624" cy="11113993"/>
          </a:xfrm>
        </p:grpSpPr>
        <p:grpSp>
          <p:nvGrpSpPr>
            <p:cNvPr id="20" name="Group 19">
              <a:extLst>
                <a:ext uri="{FF2B5EF4-FFF2-40B4-BE49-F238E27FC236}">
                  <a16:creationId xmlns:a16="http://schemas.microsoft.com/office/drawing/2014/main" id="{81CE101F-D131-5E4B-B329-8B3F728A41A4}"/>
                </a:ext>
              </a:extLst>
            </p:cNvPr>
            <p:cNvGrpSpPr/>
            <p:nvPr/>
          </p:nvGrpSpPr>
          <p:grpSpPr>
            <a:xfrm>
              <a:off x="5908350" y="2496096"/>
              <a:ext cx="4714481" cy="4063996"/>
              <a:chOff x="4523051" y="1761068"/>
              <a:chExt cx="4714481" cy="4063996"/>
            </a:xfrm>
          </p:grpSpPr>
          <p:grpSp>
            <p:nvGrpSpPr>
              <p:cNvPr id="3" name="Group 2">
                <a:extLst>
                  <a:ext uri="{FF2B5EF4-FFF2-40B4-BE49-F238E27FC236}">
                    <a16:creationId xmlns:a16="http://schemas.microsoft.com/office/drawing/2014/main" id="{5ECBE22B-00AF-0249-B60F-AB6706A81B95}"/>
                  </a:ext>
                </a:extLst>
              </p:cNvPr>
              <p:cNvGrpSpPr/>
              <p:nvPr/>
            </p:nvGrpSpPr>
            <p:grpSpPr>
              <a:xfrm>
                <a:off x="4523051" y="1854199"/>
                <a:ext cx="3142722" cy="3970865"/>
                <a:chOff x="4519612" y="1845732"/>
                <a:chExt cx="3142722" cy="3970865"/>
              </a:xfrm>
            </p:grpSpPr>
            <p:sp>
              <p:nvSpPr>
                <p:cNvPr id="2" name="Oval 1">
                  <a:extLst>
                    <a:ext uri="{FF2B5EF4-FFF2-40B4-BE49-F238E27FC236}">
                      <a16:creationId xmlns:a16="http://schemas.microsoft.com/office/drawing/2014/main" id="{D4A1DF55-6DAA-0D4D-9919-563E750571CE}"/>
                    </a:ext>
                  </a:extLst>
                </p:cNvPr>
                <p:cNvSpPr/>
                <p:nvPr/>
              </p:nvSpPr>
              <p:spPr>
                <a:xfrm>
                  <a:off x="4519612" y="1845732"/>
                  <a:ext cx="3142722" cy="3970865"/>
                </a:xfrm>
                <a:prstGeom prst="ellipse">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sz="3000" dirty="0">
                      <a:solidFill>
                        <a:schemeClr val="bg1"/>
                      </a:solidFill>
                    </a:rPr>
                    <a:t>NP</a:t>
                  </a:r>
                </a:p>
              </p:txBody>
            </p:sp>
            <p:sp>
              <p:nvSpPr>
                <p:cNvPr id="13" name="Oval 12">
                  <a:extLst>
                    <a:ext uri="{FF2B5EF4-FFF2-40B4-BE49-F238E27FC236}">
                      <a16:creationId xmlns:a16="http://schemas.microsoft.com/office/drawing/2014/main" id="{1CB683A8-08D1-204F-AFE5-1767C7DEADD6}"/>
                    </a:ext>
                  </a:extLst>
                </p:cNvPr>
                <p:cNvSpPr/>
                <p:nvPr/>
              </p:nvSpPr>
              <p:spPr>
                <a:xfrm>
                  <a:off x="4936067" y="3649131"/>
                  <a:ext cx="2269066" cy="2159000"/>
                </a:xfrm>
                <a:prstGeom prst="ellipse">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3000" dirty="0">
                      <a:solidFill>
                        <a:schemeClr val="bg1"/>
                      </a:solidFill>
                    </a:rPr>
                    <a:t>P</a:t>
                  </a:r>
                </a:p>
              </p:txBody>
            </p:sp>
          </p:grpSp>
          <p:cxnSp>
            <p:nvCxnSpPr>
              <p:cNvPr id="15" name="Straight Arrow Connector 14">
                <a:extLst>
                  <a:ext uri="{FF2B5EF4-FFF2-40B4-BE49-F238E27FC236}">
                    <a16:creationId xmlns:a16="http://schemas.microsoft.com/office/drawing/2014/main" id="{9BA46874-D347-F341-B74E-C744F75A9D15}"/>
                  </a:ext>
                </a:extLst>
              </p:cNvPr>
              <p:cNvCxnSpPr>
                <a:cxnSpLocks/>
              </p:cNvCxnSpPr>
              <p:nvPr/>
            </p:nvCxnSpPr>
            <p:spPr>
              <a:xfrm flipV="1">
                <a:off x="7823200" y="1854199"/>
                <a:ext cx="0" cy="387773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8" name="Content Placeholder 4">
                <a:extLst>
                  <a:ext uri="{FF2B5EF4-FFF2-40B4-BE49-F238E27FC236}">
                    <a16:creationId xmlns:a16="http://schemas.microsoft.com/office/drawing/2014/main" id="{8C484E6F-0BD1-AB4E-9EFE-A40AC6ADE2A8}"/>
                  </a:ext>
                </a:extLst>
              </p:cNvPr>
              <p:cNvSpPr txBox="1">
                <a:spLocks/>
              </p:cNvSpPr>
              <p:nvPr/>
            </p:nvSpPr>
            <p:spPr>
              <a:xfrm>
                <a:off x="7757715" y="5469457"/>
                <a:ext cx="1414332" cy="355607"/>
              </a:xfrm>
              <a:prstGeom prst="rect">
                <a:avLst/>
              </a:prstGeom>
              <a:ln>
                <a:noFill/>
              </a:ln>
            </p:spPr>
            <p:txBody>
              <a:bodyPr vert="horz" lIns="91440" tIns="45720" rIns="91440" bIns="45720" rtlCol="0">
                <a:normAutofit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600" b="1" i="1" dirty="0"/>
                  <a:t>Easy Problems</a:t>
                </a:r>
                <a:endParaRPr lang="en-US" sz="1600" i="1" dirty="0"/>
              </a:p>
            </p:txBody>
          </p:sp>
          <p:sp>
            <p:nvSpPr>
              <p:cNvPr id="19" name="Content Placeholder 4">
                <a:extLst>
                  <a:ext uri="{FF2B5EF4-FFF2-40B4-BE49-F238E27FC236}">
                    <a16:creationId xmlns:a16="http://schemas.microsoft.com/office/drawing/2014/main" id="{B188799F-CD2B-4748-AD60-BDD68DE38128}"/>
                  </a:ext>
                </a:extLst>
              </p:cNvPr>
              <p:cNvSpPr txBox="1">
                <a:spLocks/>
              </p:cNvSpPr>
              <p:nvPr/>
            </p:nvSpPr>
            <p:spPr>
              <a:xfrm>
                <a:off x="7823200" y="1761068"/>
                <a:ext cx="1414332" cy="355607"/>
              </a:xfrm>
              <a:prstGeom prst="rect">
                <a:avLst/>
              </a:prstGeom>
              <a:ln>
                <a:noFill/>
              </a:ln>
            </p:spPr>
            <p:txBody>
              <a:bodyPr vert="horz" lIns="91440" tIns="45720" rIns="91440" bIns="45720" rtlCol="0">
                <a:normAutofit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600" b="1" i="1" dirty="0"/>
                  <a:t>Hard Problems</a:t>
                </a:r>
                <a:endParaRPr lang="en-US" sz="1600" i="1" dirty="0"/>
              </a:p>
            </p:txBody>
          </p:sp>
        </p:grpSp>
        <p:sp>
          <p:nvSpPr>
            <p:cNvPr id="5" name="Arc 4">
              <a:extLst>
                <a:ext uri="{FF2B5EF4-FFF2-40B4-BE49-F238E27FC236}">
                  <a16:creationId xmlns:a16="http://schemas.microsoft.com/office/drawing/2014/main" id="{44EC2B34-04B5-F843-91DE-FF6A65B7AE51}"/>
                </a:ext>
              </a:extLst>
            </p:cNvPr>
            <p:cNvSpPr/>
            <p:nvPr/>
          </p:nvSpPr>
          <p:spPr>
            <a:xfrm>
              <a:off x="5791207" y="-4553901"/>
              <a:ext cx="3336261" cy="7263666"/>
            </a:xfrm>
            <a:prstGeom prst="arc">
              <a:avLst>
                <a:gd name="adj1" fmla="val 334075"/>
                <a:gd name="adj2" fmla="val 10164359"/>
              </a:avLst>
            </a:prstGeom>
            <a:solidFill>
              <a:schemeClr val="accent1"/>
            </a:solidFill>
            <a:ln>
              <a:solidFill>
                <a:schemeClr val="bg1"/>
              </a:solidFill>
            </a:ln>
          </p:spPr>
          <p:style>
            <a:lnRef idx="1">
              <a:schemeClr val="accent1"/>
            </a:lnRef>
            <a:fillRef idx="0">
              <a:schemeClr val="accent1"/>
            </a:fillRef>
            <a:effectRef idx="0">
              <a:schemeClr val="accent1"/>
            </a:effectRef>
            <a:fontRef idx="minor">
              <a:schemeClr val="tx1"/>
            </a:fontRef>
          </p:style>
          <p:txBody>
            <a:bodyPr rtlCol="0" anchor="ctr"/>
            <a:lstStyle/>
            <a:p>
              <a:pPr algn="ctr"/>
              <a:r>
                <a:rPr lang="en-US" sz="2400" dirty="0">
                  <a:solidFill>
                    <a:schemeClr val="bg1"/>
                  </a:solidFill>
                </a:rPr>
                <a:t>NP-Hard</a:t>
              </a:r>
            </a:p>
          </p:txBody>
        </p:sp>
      </p:grpSp>
      <p:sp>
        <p:nvSpPr>
          <p:cNvPr id="23" name="Content Placeholder 4">
            <a:extLst>
              <a:ext uri="{FF2B5EF4-FFF2-40B4-BE49-F238E27FC236}">
                <a16:creationId xmlns:a16="http://schemas.microsoft.com/office/drawing/2014/main" id="{A6AB8359-241B-7744-9BEA-5C88AC4D9DD7}"/>
              </a:ext>
            </a:extLst>
          </p:cNvPr>
          <p:cNvSpPr txBox="1">
            <a:spLocks/>
          </p:cNvSpPr>
          <p:nvPr/>
        </p:nvSpPr>
        <p:spPr>
          <a:xfrm>
            <a:off x="2322497" y="1147442"/>
            <a:ext cx="1838778" cy="636521"/>
          </a:xfrm>
          <a:prstGeom prst="rect">
            <a:avLst/>
          </a:prstGeom>
          <a:ln>
            <a:noFill/>
          </a:ln>
        </p:spPr>
        <p:txBody>
          <a:bodyPr vert="horz" lIns="91440" tIns="45720" rIns="91440" bIns="45720" rtlCol="0">
            <a:normAutofit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600" i="1" dirty="0"/>
              <a:t>Goes up to indefinite difficulty.</a:t>
            </a:r>
          </a:p>
        </p:txBody>
      </p:sp>
      <p:cxnSp>
        <p:nvCxnSpPr>
          <p:cNvPr id="24" name="Straight Connector 23">
            <a:extLst>
              <a:ext uri="{FF2B5EF4-FFF2-40B4-BE49-F238E27FC236}">
                <a16:creationId xmlns:a16="http://schemas.microsoft.com/office/drawing/2014/main" id="{2225A669-08BE-344E-89BF-97B3BC6A8ED9}"/>
              </a:ext>
            </a:extLst>
          </p:cNvPr>
          <p:cNvCxnSpPr>
            <a:cxnSpLocks/>
          </p:cNvCxnSpPr>
          <p:nvPr/>
        </p:nvCxnSpPr>
        <p:spPr>
          <a:xfrm flipV="1">
            <a:off x="3938257" y="461728"/>
            <a:ext cx="1702052" cy="685714"/>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
        <p:nvSpPr>
          <p:cNvPr id="25" name="Content Placeholder 4">
            <a:extLst>
              <a:ext uri="{FF2B5EF4-FFF2-40B4-BE49-F238E27FC236}">
                <a16:creationId xmlns:a16="http://schemas.microsoft.com/office/drawing/2014/main" id="{F9CC5AB5-3F62-ED42-9178-2EE8C74294BF}"/>
              </a:ext>
            </a:extLst>
          </p:cNvPr>
          <p:cNvSpPr txBox="1">
            <a:spLocks/>
          </p:cNvSpPr>
          <p:nvPr/>
        </p:nvSpPr>
        <p:spPr>
          <a:xfrm>
            <a:off x="1548143" y="3756104"/>
            <a:ext cx="2613132" cy="1304783"/>
          </a:xfrm>
          <a:prstGeom prst="rect">
            <a:avLst/>
          </a:prstGeom>
          <a:ln>
            <a:no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600" i="1" dirty="0"/>
              <a:t>Note that NP-Hard and NP intersect here. Problems in this intersection are the hardest problems in NP</a:t>
            </a:r>
          </a:p>
        </p:txBody>
      </p:sp>
      <p:cxnSp>
        <p:nvCxnSpPr>
          <p:cNvPr id="26" name="Straight Connector 25">
            <a:extLst>
              <a:ext uri="{FF2B5EF4-FFF2-40B4-BE49-F238E27FC236}">
                <a16:creationId xmlns:a16="http://schemas.microsoft.com/office/drawing/2014/main" id="{EDA96E10-036D-F441-9C5D-5414C32DF908}"/>
              </a:ext>
            </a:extLst>
          </p:cNvPr>
          <p:cNvCxnSpPr>
            <a:cxnSpLocks/>
          </p:cNvCxnSpPr>
          <p:nvPr/>
        </p:nvCxnSpPr>
        <p:spPr>
          <a:xfrm flipV="1">
            <a:off x="3715239" y="2589227"/>
            <a:ext cx="3065807" cy="1166878"/>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435053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a:xfrm>
            <a:off x="830525" y="242867"/>
            <a:ext cx="4652864" cy="668415"/>
          </a:xfrm>
        </p:spPr>
        <p:txBody>
          <a:bodyPr/>
          <a:lstStyle/>
          <a:p>
            <a:pPr algn="ctr"/>
            <a:r>
              <a:rPr lang="en-US" dirty="0"/>
              <a:t>NP-Complete</a:t>
            </a:r>
          </a:p>
        </p:txBody>
      </p:sp>
      <p:sp>
        <p:nvSpPr>
          <p:cNvPr id="25" name="Content Placeholder 4">
            <a:extLst>
              <a:ext uri="{FF2B5EF4-FFF2-40B4-BE49-F238E27FC236}">
                <a16:creationId xmlns:a16="http://schemas.microsoft.com/office/drawing/2014/main" id="{F9CC5AB5-3F62-ED42-9178-2EE8C74294BF}"/>
              </a:ext>
            </a:extLst>
          </p:cNvPr>
          <p:cNvSpPr txBox="1">
            <a:spLocks/>
          </p:cNvSpPr>
          <p:nvPr/>
        </p:nvSpPr>
        <p:spPr>
          <a:xfrm>
            <a:off x="1487868" y="1660884"/>
            <a:ext cx="2613132" cy="1304783"/>
          </a:xfrm>
          <a:prstGeom prst="rect">
            <a:avLst/>
          </a:prstGeom>
          <a:ln>
            <a:no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600" i="1" dirty="0"/>
              <a:t>This section (purple) is the set of NP-Complete problems. The hardest problems in NP</a:t>
            </a:r>
          </a:p>
        </p:txBody>
      </p:sp>
      <p:cxnSp>
        <p:nvCxnSpPr>
          <p:cNvPr id="26" name="Straight Connector 25">
            <a:extLst>
              <a:ext uri="{FF2B5EF4-FFF2-40B4-BE49-F238E27FC236}">
                <a16:creationId xmlns:a16="http://schemas.microsoft.com/office/drawing/2014/main" id="{EDA96E10-036D-F441-9C5D-5414C32DF908}"/>
              </a:ext>
            </a:extLst>
          </p:cNvPr>
          <p:cNvCxnSpPr>
            <a:cxnSpLocks/>
            <a:endCxn id="7" idx="2"/>
          </p:cNvCxnSpPr>
          <p:nvPr/>
        </p:nvCxnSpPr>
        <p:spPr>
          <a:xfrm>
            <a:off x="3948252" y="2437904"/>
            <a:ext cx="3203986" cy="211592"/>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grpSp>
        <p:nvGrpSpPr>
          <p:cNvPr id="11" name="Group 10">
            <a:extLst>
              <a:ext uri="{FF2B5EF4-FFF2-40B4-BE49-F238E27FC236}">
                <a16:creationId xmlns:a16="http://schemas.microsoft.com/office/drawing/2014/main" id="{11434D04-07D6-194D-B81F-9C6112208B1F}"/>
              </a:ext>
            </a:extLst>
          </p:cNvPr>
          <p:cNvGrpSpPr/>
          <p:nvPr/>
        </p:nvGrpSpPr>
        <p:grpSpPr>
          <a:xfrm>
            <a:off x="5791207" y="-4553901"/>
            <a:ext cx="4831624" cy="11113993"/>
            <a:chOff x="5791207" y="-4553901"/>
            <a:chExt cx="4831624" cy="11113993"/>
          </a:xfrm>
        </p:grpSpPr>
        <p:grpSp>
          <p:nvGrpSpPr>
            <p:cNvPr id="6" name="Group 5">
              <a:extLst>
                <a:ext uri="{FF2B5EF4-FFF2-40B4-BE49-F238E27FC236}">
                  <a16:creationId xmlns:a16="http://schemas.microsoft.com/office/drawing/2014/main" id="{D00DF796-924F-A44D-B050-4520087394B0}"/>
                </a:ext>
              </a:extLst>
            </p:cNvPr>
            <p:cNvGrpSpPr/>
            <p:nvPr/>
          </p:nvGrpSpPr>
          <p:grpSpPr>
            <a:xfrm>
              <a:off x="5791207" y="-4553901"/>
              <a:ext cx="4831624" cy="11113993"/>
              <a:chOff x="5791207" y="-4553901"/>
              <a:chExt cx="4831624" cy="11113993"/>
            </a:xfrm>
          </p:grpSpPr>
          <p:grpSp>
            <p:nvGrpSpPr>
              <p:cNvPr id="20" name="Group 19">
                <a:extLst>
                  <a:ext uri="{FF2B5EF4-FFF2-40B4-BE49-F238E27FC236}">
                    <a16:creationId xmlns:a16="http://schemas.microsoft.com/office/drawing/2014/main" id="{81CE101F-D131-5E4B-B329-8B3F728A41A4}"/>
                  </a:ext>
                </a:extLst>
              </p:cNvPr>
              <p:cNvGrpSpPr/>
              <p:nvPr/>
            </p:nvGrpSpPr>
            <p:grpSpPr>
              <a:xfrm>
                <a:off x="5908350" y="2496096"/>
                <a:ext cx="4714481" cy="4063996"/>
                <a:chOff x="4523051" y="1761068"/>
                <a:chExt cx="4714481" cy="4063996"/>
              </a:xfrm>
            </p:grpSpPr>
            <p:grpSp>
              <p:nvGrpSpPr>
                <p:cNvPr id="3" name="Group 2">
                  <a:extLst>
                    <a:ext uri="{FF2B5EF4-FFF2-40B4-BE49-F238E27FC236}">
                      <a16:creationId xmlns:a16="http://schemas.microsoft.com/office/drawing/2014/main" id="{5ECBE22B-00AF-0249-B60F-AB6706A81B95}"/>
                    </a:ext>
                  </a:extLst>
                </p:cNvPr>
                <p:cNvGrpSpPr/>
                <p:nvPr/>
              </p:nvGrpSpPr>
              <p:grpSpPr>
                <a:xfrm>
                  <a:off x="4523051" y="1854199"/>
                  <a:ext cx="3142722" cy="3970865"/>
                  <a:chOff x="4519612" y="1845732"/>
                  <a:chExt cx="3142722" cy="3970865"/>
                </a:xfrm>
              </p:grpSpPr>
              <p:sp>
                <p:nvSpPr>
                  <p:cNvPr id="2" name="Oval 1">
                    <a:extLst>
                      <a:ext uri="{FF2B5EF4-FFF2-40B4-BE49-F238E27FC236}">
                        <a16:creationId xmlns:a16="http://schemas.microsoft.com/office/drawing/2014/main" id="{D4A1DF55-6DAA-0D4D-9919-563E750571CE}"/>
                      </a:ext>
                    </a:extLst>
                  </p:cNvPr>
                  <p:cNvSpPr/>
                  <p:nvPr/>
                </p:nvSpPr>
                <p:spPr>
                  <a:xfrm>
                    <a:off x="4519612" y="1845732"/>
                    <a:ext cx="3142722" cy="3970865"/>
                  </a:xfrm>
                  <a:prstGeom prst="ellipse">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sz="3000" dirty="0">
                        <a:solidFill>
                          <a:schemeClr val="bg1"/>
                        </a:solidFill>
                      </a:rPr>
                      <a:t>NP</a:t>
                    </a:r>
                  </a:p>
                </p:txBody>
              </p:sp>
              <p:sp>
                <p:nvSpPr>
                  <p:cNvPr id="13" name="Oval 12">
                    <a:extLst>
                      <a:ext uri="{FF2B5EF4-FFF2-40B4-BE49-F238E27FC236}">
                        <a16:creationId xmlns:a16="http://schemas.microsoft.com/office/drawing/2014/main" id="{1CB683A8-08D1-204F-AFE5-1767C7DEADD6}"/>
                      </a:ext>
                    </a:extLst>
                  </p:cNvPr>
                  <p:cNvSpPr/>
                  <p:nvPr/>
                </p:nvSpPr>
                <p:spPr>
                  <a:xfrm>
                    <a:off x="4936067" y="3649131"/>
                    <a:ext cx="2269066" cy="2159000"/>
                  </a:xfrm>
                  <a:prstGeom prst="ellipse">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3000" dirty="0">
                        <a:solidFill>
                          <a:schemeClr val="bg1"/>
                        </a:solidFill>
                      </a:rPr>
                      <a:t>P</a:t>
                    </a:r>
                  </a:p>
                </p:txBody>
              </p:sp>
            </p:grpSp>
            <p:cxnSp>
              <p:nvCxnSpPr>
                <p:cNvPr id="15" name="Straight Arrow Connector 14">
                  <a:extLst>
                    <a:ext uri="{FF2B5EF4-FFF2-40B4-BE49-F238E27FC236}">
                      <a16:creationId xmlns:a16="http://schemas.microsoft.com/office/drawing/2014/main" id="{9BA46874-D347-F341-B74E-C744F75A9D15}"/>
                    </a:ext>
                  </a:extLst>
                </p:cNvPr>
                <p:cNvCxnSpPr>
                  <a:cxnSpLocks/>
                </p:cNvCxnSpPr>
                <p:nvPr/>
              </p:nvCxnSpPr>
              <p:spPr>
                <a:xfrm flipV="1">
                  <a:off x="7823200" y="1854199"/>
                  <a:ext cx="0" cy="387773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8" name="Content Placeholder 4">
                  <a:extLst>
                    <a:ext uri="{FF2B5EF4-FFF2-40B4-BE49-F238E27FC236}">
                      <a16:creationId xmlns:a16="http://schemas.microsoft.com/office/drawing/2014/main" id="{8C484E6F-0BD1-AB4E-9EFE-A40AC6ADE2A8}"/>
                    </a:ext>
                  </a:extLst>
                </p:cNvPr>
                <p:cNvSpPr txBox="1">
                  <a:spLocks/>
                </p:cNvSpPr>
                <p:nvPr/>
              </p:nvSpPr>
              <p:spPr>
                <a:xfrm>
                  <a:off x="7757715" y="5469457"/>
                  <a:ext cx="1414332" cy="355607"/>
                </a:xfrm>
                <a:prstGeom prst="rect">
                  <a:avLst/>
                </a:prstGeom>
                <a:ln>
                  <a:noFill/>
                </a:ln>
              </p:spPr>
              <p:txBody>
                <a:bodyPr vert="horz" lIns="91440" tIns="45720" rIns="91440" bIns="45720" rtlCol="0">
                  <a:normAutofit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600" b="1" i="1" dirty="0"/>
                    <a:t>Easy Problems</a:t>
                  </a:r>
                  <a:endParaRPr lang="en-US" sz="1600" i="1" dirty="0"/>
                </a:p>
              </p:txBody>
            </p:sp>
            <p:sp>
              <p:nvSpPr>
                <p:cNvPr id="19" name="Content Placeholder 4">
                  <a:extLst>
                    <a:ext uri="{FF2B5EF4-FFF2-40B4-BE49-F238E27FC236}">
                      <a16:creationId xmlns:a16="http://schemas.microsoft.com/office/drawing/2014/main" id="{B188799F-CD2B-4748-AD60-BDD68DE38128}"/>
                    </a:ext>
                  </a:extLst>
                </p:cNvPr>
                <p:cNvSpPr txBox="1">
                  <a:spLocks/>
                </p:cNvSpPr>
                <p:nvPr/>
              </p:nvSpPr>
              <p:spPr>
                <a:xfrm>
                  <a:off x="7823200" y="1761068"/>
                  <a:ext cx="1414332" cy="355607"/>
                </a:xfrm>
                <a:prstGeom prst="rect">
                  <a:avLst/>
                </a:prstGeom>
                <a:ln>
                  <a:noFill/>
                </a:ln>
              </p:spPr>
              <p:txBody>
                <a:bodyPr vert="horz" lIns="91440" tIns="45720" rIns="91440" bIns="45720" rtlCol="0">
                  <a:normAutofit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600" b="1" i="1" dirty="0"/>
                    <a:t>Hard Problems</a:t>
                  </a:r>
                  <a:endParaRPr lang="en-US" sz="1600" i="1" dirty="0"/>
                </a:p>
              </p:txBody>
            </p:sp>
          </p:grpSp>
          <p:sp>
            <p:nvSpPr>
              <p:cNvPr id="5" name="Arc 4">
                <a:extLst>
                  <a:ext uri="{FF2B5EF4-FFF2-40B4-BE49-F238E27FC236}">
                    <a16:creationId xmlns:a16="http://schemas.microsoft.com/office/drawing/2014/main" id="{44EC2B34-04B5-F843-91DE-FF6A65B7AE51}"/>
                  </a:ext>
                </a:extLst>
              </p:cNvPr>
              <p:cNvSpPr/>
              <p:nvPr/>
            </p:nvSpPr>
            <p:spPr>
              <a:xfrm>
                <a:off x="5791207" y="-4553901"/>
                <a:ext cx="3336261" cy="7263666"/>
              </a:xfrm>
              <a:prstGeom prst="arc">
                <a:avLst>
                  <a:gd name="adj1" fmla="val 334075"/>
                  <a:gd name="adj2" fmla="val 10164359"/>
                </a:avLst>
              </a:prstGeom>
              <a:solidFill>
                <a:schemeClr val="accent1"/>
              </a:solidFill>
              <a:ln>
                <a:solidFill>
                  <a:schemeClr val="bg1"/>
                </a:solidFill>
              </a:ln>
            </p:spPr>
            <p:style>
              <a:lnRef idx="1">
                <a:schemeClr val="accent1"/>
              </a:lnRef>
              <a:fillRef idx="0">
                <a:schemeClr val="accent1"/>
              </a:fillRef>
              <a:effectRef idx="0">
                <a:schemeClr val="accent1"/>
              </a:effectRef>
              <a:fontRef idx="minor">
                <a:schemeClr val="tx1"/>
              </a:fontRef>
            </p:style>
            <p:txBody>
              <a:bodyPr rtlCol="0" anchor="ctr"/>
              <a:lstStyle/>
              <a:p>
                <a:pPr algn="ctr"/>
                <a:r>
                  <a:rPr lang="en-US" sz="2400" dirty="0">
                    <a:solidFill>
                      <a:schemeClr val="bg1"/>
                    </a:solidFill>
                  </a:rPr>
                  <a:t>NP-Hard</a:t>
                </a:r>
              </a:p>
            </p:txBody>
          </p:sp>
        </p:grpSp>
        <p:sp>
          <p:nvSpPr>
            <p:cNvPr id="7" name="Oval 6">
              <a:extLst>
                <a:ext uri="{FF2B5EF4-FFF2-40B4-BE49-F238E27FC236}">
                  <a16:creationId xmlns:a16="http://schemas.microsoft.com/office/drawing/2014/main" id="{DF78F878-B9AB-894D-BB85-D7E5A5579F67}"/>
                </a:ext>
              </a:extLst>
            </p:cNvPr>
            <p:cNvSpPr/>
            <p:nvPr/>
          </p:nvSpPr>
          <p:spPr>
            <a:xfrm>
              <a:off x="7152238" y="2589227"/>
              <a:ext cx="624689" cy="120538"/>
            </a:xfrm>
            <a:prstGeom prst="ellipse">
              <a:avLst/>
            </a:prstGeom>
            <a:solidFill>
              <a:schemeClr val="accent3"/>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1" name="Content Placeholder 4">
            <a:extLst>
              <a:ext uri="{FF2B5EF4-FFF2-40B4-BE49-F238E27FC236}">
                <a16:creationId xmlns:a16="http://schemas.microsoft.com/office/drawing/2014/main" id="{F52FCBCB-7180-2C4C-9A9D-CE6A6A75DE49}"/>
              </a:ext>
            </a:extLst>
          </p:cNvPr>
          <p:cNvSpPr txBox="1">
            <a:spLocks/>
          </p:cNvSpPr>
          <p:nvPr/>
        </p:nvSpPr>
        <p:spPr>
          <a:xfrm>
            <a:off x="1048233" y="3715269"/>
            <a:ext cx="4651890" cy="1943147"/>
          </a:xfrm>
          <a:prstGeom prst="rect">
            <a:avLst/>
          </a:prstGeom>
          <a:solidFill>
            <a:schemeClr val="tx1">
              <a:lumMod val="95000"/>
            </a:schemeClr>
          </a:solidFill>
          <a:ln>
            <a:solidFill>
              <a:schemeClr val="bg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b="1" i="1" u="sng" dirty="0">
                <a:solidFill>
                  <a:schemeClr val="bg1"/>
                </a:solidFill>
              </a:rPr>
              <a:t>Definition</a:t>
            </a:r>
            <a:r>
              <a:rPr lang="en-US" sz="2000" i="1" dirty="0">
                <a:solidFill>
                  <a:schemeClr val="bg1"/>
                </a:solidFill>
              </a:rPr>
              <a:t>: A problem is </a:t>
            </a:r>
            <a:r>
              <a:rPr lang="en-US" sz="2000" b="1" i="1" dirty="0">
                <a:solidFill>
                  <a:schemeClr val="bg1"/>
                </a:solidFill>
              </a:rPr>
              <a:t>NP-Complete</a:t>
            </a:r>
            <a:r>
              <a:rPr lang="en-US" sz="2000" i="1" dirty="0">
                <a:solidFill>
                  <a:schemeClr val="bg1"/>
                </a:solidFill>
              </a:rPr>
              <a:t> if and only if the problem:</a:t>
            </a:r>
          </a:p>
          <a:p>
            <a:pPr marL="342900" indent="-342900">
              <a:buFont typeface="Arial" panose="020B0604020202020204" pitchFamily="34" charset="0"/>
              <a:buAutoNum type="arabicPeriod"/>
            </a:pPr>
            <a:r>
              <a:rPr lang="en-US" sz="2000" i="1" dirty="0">
                <a:solidFill>
                  <a:schemeClr val="bg1"/>
                </a:solidFill>
              </a:rPr>
              <a:t>Is in NP</a:t>
            </a:r>
          </a:p>
          <a:p>
            <a:pPr marL="342900" indent="-342900">
              <a:buFont typeface="Arial" panose="020B0604020202020204" pitchFamily="34" charset="0"/>
              <a:buAutoNum type="arabicPeriod"/>
            </a:pPr>
            <a:r>
              <a:rPr lang="en-US" sz="2000" i="1" dirty="0">
                <a:solidFill>
                  <a:schemeClr val="bg1"/>
                </a:solidFill>
              </a:rPr>
              <a:t>Is NP-Hard</a:t>
            </a:r>
          </a:p>
        </p:txBody>
      </p:sp>
    </p:spTree>
    <p:extLst>
      <p:ext uri="{BB962C8B-B14F-4D97-AF65-F5344CB8AC3E}">
        <p14:creationId xmlns:p14="http://schemas.microsoft.com/office/powerpoint/2010/main" val="82776457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a:xfrm>
            <a:off x="830525" y="242867"/>
            <a:ext cx="4652864" cy="668415"/>
          </a:xfrm>
        </p:spPr>
        <p:txBody>
          <a:bodyPr/>
          <a:lstStyle/>
          <a:p>
            <a:pPr algn="ctr"/>
            <a:r>
              <a:rPr lang="en-US" dirty="0"/>
              <a:t>NP-Complete</a:t>
            </a:r>
          </a:p>
        </p:txBody>
      </p:sp>
      <p:sp>
        <p:nvSpPr>
          <p:cNvPr id="25" name="Content Placeholder 4">
            <a:extLst>
              <a:ext uri="{FF2B5EF4-FFF2-40B4-BE49-F238E27FC236}">
                <a16:creationId xmlns:a16="http://schemas.microsoft.com/office/drawing/2014/main" id="{F9CC5AB5-3F62-ED42-9178-2EE8C74294BF}"/>
              </a:ext>
            </a:extLst>
          </p:cNvPr>
          <p:cNvSpPr txBox="1">
            <a:spLocks/>
          </p:cNvSpPr>
          <p:nvPr/>
        </p:nvSpPr>
        <p:spPr>
          <a:xfrm>
            <a:off x="1047375" y="1616234"/>
            <a:ext cx="4651890" cy="453076"/>
          </a:xfrm>
          <a:prstGeom prst="rect">
            <a:avLst/>
          </a:prstGeom>
          <a:ln>
            <a:no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i="1" dirty="0"/>
              <a:t>A different definition of NP-Hard</a:t>
            </a:r>
          </a:p>
        </p:txBody>
      </p:sp>
      <p:grpSp>
        <p:nvGrpSpPr>
          <p:cNvPr id="11" name="Group 10">
            <a:extLst>
              <a:ext uri="{FF2B5EF4-FFF2-40B4-BE49-F238E27FC236}">
                <a16:creationId xmlns:a16="http://schemas.microsoft.com/office/drawing/2014/main" id="{11434D04-07D6-194D-B81F-9C6112208B1F}"/>
              </a:ext>
            </a:extLst>
          </p:cNvPr>
          <p:cNvGrpSpPr/>
          <p:nvPr/>
        </p:nvGrpSpPr>
        <p:grpSpPr>
          <a:xfrm>
            <a:off x="5791207" y="-4553901"/>
            <a:ext cx="4831624" cy="11113993"/>
            <a:chOff x="5791207" y="-4553901"/>
            <a:chExt cx="4831624" cy="11113993"/>
          </a:xfrm>
        </p:grpSpPr>
        <p:grpSp>
          <p:nvGrpSpPr>
            <p:cNvPr id="6" name="Group 5">
              <a:extLst>
                <a:ext uri="{FF2B5EF4-FFF2-40B4-BE49-F238E27FC236}">
                  <a16:creationId xmlns:a16="http://schemas.microsoft.com/office/drawing/2014/main" id="{D00DF796-924F-A44D-B050-4520087394B0}"/>
                </a:ext>
              </a:extLst>
            </p:cNvPr>
            <p:cNvGrpSpPr/>
            <p:nvPr/>
          </p:nvGrpSpPr>
          <p:grpSpPr>
            <a:xfrm>
              <a:off x="5791207" y="-4553901"/>
              <a:ext cx="4831624" cy="11113993"/>
              <a:chOff x="5791207" y="-4553901"/>
              <a:chExt cx="4831624" cy="11113993"/>
            </a:xfrm>
          </p:grpSpPr>
          <p:grpSp>
            <p:nvGrpSpPr>
              <p:cNvPr id="20" name="Group 19">
                <a:extLst>
                  <a:ext uri="{FF2B5EF4-FFF2-40B4-BE49-F238E27FC236}">
                    <a16:creationId xmlns:a16="http://schemas.microsoft.com/office/drawing/2014/main" id="{81CE101F-D131-5E4B-B329-8B3F728A41A4}"/>
                  </a:ext>
                </a:extLst>
              </p:cNvPr>
              <p:cNvGrpSpPr/>
              <p:nvPr/>
            </p:nvGrpSpPr>
            <p:grpSpPr>
              <a:xfrm>
                <a:off x="5908350" y="2496096"/>
                <a:ext cx="4714481" cy="4063996"/>
                <a:chOff x="4523051" y="1761068"/>
                <a:chExt cx="4714481" cy="4063996"/>
              </a:xfrm>
            </p:grpSpPr>
            <p:grpSp>
              <p:nvGrpSpPr>
                <p:cNvPr id="3" name="Group 2">
                  <a:extLst>
                    <a:ext uri="{FF2B5EF4-FFF2-40B4-BE49-F238E27FC236}">
                      <a16:creationId xmlns:a16="http://schemas.microsoft.com/office/drawing/2014/main" id="{5ECBE22B-00AF-0249-B60F-AB6706A81B95}"/>
                    </a:ext>
                  </a:extLst>
                </p:cNvPr>
                <p:cNvGrpSpPr/>
                <p:nvPr/>
              </p:nvGrpSpPr>
              <p:grpSpPr>
                <a:xfrm>
                  <a:off x="4523051" y="1854199"/>
                  <a:ext cx="3142722" cy="3970865"/>
                  <a:chOff x="4519612" y="1845732"/>
                  <a:chExt cx="3142722" cy="3970865"/>
                </a:xfrm>
              </p:grpSpPr>
              <p:sp>
                <p:nvSpPr>
                  <p:cNvPr id="2" name="Oval 1">
                    <a:extLst>
                      <a:ext uri="{FF2B5EF4-FFF2-40B4-BE49-F238E27FC236}">
                        <a16:creationId xmlns:a16="http://schemas.microsoft.com/office/drawing/2014/main" id="{D4A1DF55-6DAA-0D4D-9919-563E750571CE}"/>
                      </a:ext>
                    </a:extLst>
                  </p:cNvPr>
                  <p:cNvSpPr/>
                  <p:nvPr/>
                </p:nvSpPr>
                <p:spPr>
                  <a:xfrm>
                    <a:off x="4519612" y="1845732"/>
                    <a:ext cx="3142722" cy="3970865"/>
                  </a:xfrm>
                  <a:prstGeom prst="ellipse">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sz="3000" dirty="0">
                        <a:solidFill>
                          <a:schemeClr val="bg1"/>
                        </a:solidFill>
                      </a:rPr>
                      <a:t>NP</a:t>
                    </a:r>
                  </a:p>
                </p:txBody>
              </p:sp>
              <p:sp>
                <p:nvSpPr>
                  <p:cNvPr id="13" name="Oval 12">
                    <a:extLst>
                      <a:ext uri="{FF2B5EF4-FFF2-40B4-BE49-F238E27FC236}">
                        <a16:creationId xmlns:a16="http://schemas.microsoft.com/office/drawing/2014/main" id="{1CB683A8-08D1-204F-AFE5-1767C7DEADD6}"/>
                      </a:ext>
                    </a:extLst>
                  </p:cNvPr>
                  <p:cNvSpPr/>
                  <p:nvPr/>
                </p:nvSpPr>
                <p:spPr>
                  <a:xfrm>
                    <a:off x="4936067" y="3649131"/>
                    <a:ext cx="2269066" cy="2159000"/>
                  </a:xfrm>
                  <a:prstGeom prst="ellipse">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3000" dirty="0">
                        <a:solidFill>
                          <a:schemeClr val="bg1"/>
                        </a:solidFill>
                      </a:rPr>
                      <a:t>P</a:t>
                    </a:r>
                  </a:p>
                </p:txBody>
              </p:sp>
            </p:grpSp>
            <p:cxnSp>
              <p:nvCxnSpPr>
                <p:cNvPr id="15" name="Straight Arrow Connector 14">
                  <a:extLst>
                    <a:ext uri="{FF2B5EF4-FFF2-40B4-BE49-F238E27FC236}">
                      <a16:creationId xmlns:a16="http://schemas.microsoft.com/office/drawing/2014/main" id="{9BA46874-D347-F341-B74E-C744F75A9D15}"/>
                    </a:ext>
                  </a:extLst>
                </p:cNvPr>
                <p:cNvCxnSpPr>
                  <a:cxnSpLocks/>
                </p:cNvCxnSpPr>
                <p:nvPr/>
              </p:nvCxnSpPr>
              <p:spPr>
                <a:xfrm flipV="1">
                  <a:off x="7823200" y="1854199"/>
                  <a:ext cx="0" cy="387773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8" name="Content Placeholder 4">
                  <a:extLst>
                    <a:ext uri="{FF2B5EF4-FFF2-40B4-BE49-F238E27FC236}">
                      <a16:creationId xmlns:a16="http://schemas.microsoft.com/office/drawing/2014/main" id="{8C484E6F-0BD1-AB4E-9EFE-A40AC6ADE2A8}"/>
                    </a:ext>
                  </a:extLst>
                </p:cNvPr>
                <p:cNvSpPr txBox="1">
                  <a:spLocks/>
                </p:cNvSpPr>
                <p:nvPr/>
              </p:nvSpPr>
              <p:spPr>
                <a:xfrm>
                  <a:off x="7757715" y="5469457"/>
                  <a:ext cx="1414332" cy="355607"/>
                </a:xfrm>
                <a:prstGeom prst="rect">
                  <a:avLst/>
                </a:prstGeom>
                <a:ln>
                  <a:noFill/>
                </a:ln>
              </p:spPr>
              <p:txBody>
                <a:bodyPr vert="horz" lIns="91440" tIns="45720" rIns="91440" bIns="45720" rtlCol="0">
                  <a:normAutofit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600" b="1" i="1" dirty="0"/>
                    <a:t>Easy Problems</a:t>
                  </a:r>
                  <a:endParaRPr lang="en-US" sz="1600" i="1" dirty="0"/>
                </a:p>
              </p:txBody>
            </p:sp>
            <p:sp>
              <p:nvSpPr>
                <p:cNvPr id="19" name="Content Placeholder 4">
                  <a:extLst>
                    <a:ext uri="{FF2B5EF4-FFF2-40B4-BE49-F238E27FC236}">
                      <a16:creationId xmlns:a16="http://schemas.microsoft.com/office/drawing/2014/main" id="{B188799F-CD2B-4748-AD60-BDD68DE38128}"/>
                    </a:ext>
                  </a:extLst>
                </p:cNvPr>
                <p:cNvSpPr txBox="1">
                  <a:spLocks/>
                </p:cNvSpPr>
                <p:nvPr/>
              </p:nvSpPr>
              <p:spPr>
                <a:xfrm>
                  <a:off x="7823200" y="1761068"/>
                  <a:ext cx="1414332" cy="355607"/>
                </a:xfrm>
                <a:prstGeom prst="rect">
                  <a:avLst/>
                </a:prstGeom>
                <a:ln>
                  <a:noFill/>
                </a:ln>
              </p:spPr>
              <p:txBody>
                <a:bodyPr vert="horz" lIns="91440" tIns="45720" rIns="91440" bIns="45720" rtlCol="0">
                  <a:normAutofit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600" b="1" i="1" dirty="0"/>
                    <a:t>Hard Problems</a:t>
                  </a:r>
                  <a:endParaRPr lang="en-US" sz="1600" i="1" dirty="0"/>
                </a:p>
              </p:txBody>
            </p:sp>
          </p:grpSp>
          <p:sp>
            <p:nvSpPr>
              <p:cNvPr id="5" name="Arc 4">
                <a:extLst>
                  <a:ext uri="{FF2B5EF4-FFF2-40B4-BE49-F238E27FC236}">
                    <a16:creationId xmlns:a16="http://schemas.microsoft.com/office/drawing/2014/main" id="{44EC2B34-04B5-F843-91DE-FF6A65B7AE51}"/>
                  </a:ext>
                </a:extLst>
              </p:cNvPr>
              <p:cNvSpPr/>
              <p:nvPr/>
            </p:nvSpPr>
            <p:spPr>
              <a:xfrm>
                <a:off x="5791207" y="-4553901"/>
                <a:ext cx="3336261" cy="7263666"/>
              </a:xfrm>
              <a:prstGeom prst="arc">
                <a:avLst>
                  <a:gd name="adj1" fmla="val 334075"/>
                  <a:gd name="adj2" fmla="val 10164359"/>
                </a:avLst>
              </a:prstGeom>
              <a:solidFill>
                <a:schemeClr val="accent1"/>
              </a:solidFill>
              <a:ln>
                <a:solidFill>
                  <a:schemeClr val="bg1"/>
                </a:solidFill>
              </a:ln>
            </p:spPr>
            <p:style>
              <a:lnRef idx="1">
                <a:schemeClr val="accent1"/>
              </a:lnRef>
              <a:fillRef idx="0">
                <a:schemeClr val="accent1"/>
              </a:fillRef>
              <a:effectRef idx="0">
                <a:schemeClr val="accent1"/>
              </a:effectRef>
              <a:fontRef idx="minor">
                <a:schemeClr val="tx1"/>
              </a:fontRef>
            </p:style>
            <p:txBody>
              <a:bodyPr rtlCol="0" anchor="ctr"/>
              <a:lstStyle/>
              <a:p>
                <a:pPr algn="ctr"/>
                <a:r>
                  <a:rPr lang="en-US" sz="2400" dirty="0">
                    <a:solidFill>
                      <a:schemeClr val="bg1"/>
                    </a:solidFill>
                  </a:rPr>
                  <a:t>NP-Hard</a:t>
                </a:r>
              </a:p>
            </p:txBody>
          </p:sp>
        </p:grpSp>
        <p:sp>
          <p:nvSpPr>
            <p:cNvPr id="7" name="Oval 6">
              <a:extLst>
                <a:ext uri="{FF2B5EF4-FFF2-40B4-BE49-F238E27FC236}">
                  <a16:creationId xmlns:a16="http://schemas.microsoft.com/office/drawing/2014/main" id="{DF78F878-B9AB-894D-BB85-D7E5A5579F67}"/>
                </a:ext>
              </a:extLst>
            </p:cNvPr>
            <p:cNvSpPr/>
            <p:nvPr/>
          </p:nvSpPr>
          <p:spPr>
            <a:xfrm>
              <a:off x="7152238" y="2589227"/>
              <a:ext cx="624689" cy="120538"/>
            </a:xfrm>
            <a:prstGeom prst="ellipse">
              <a:avLst/>
            </a:prstGeom>
            <a:solidFill>
              <a:schemeClr val="accent3"/>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mc:AlternateContent xmlns:mc="http://schemas.openxmlformats.org/markup-compatibility/2006" xmlns:a14="http://schemas.microsoft.com/office/drawing/2010/main">
        <mc:Choice Requires="a14">
          <p:sp>
            <p:nvSpPr>
              <p:cNvPr id="21" name="Content Placeholder 4">
                <a:extLst>
                  <a:ext uri="{FF2B5EF4-FFF2-40B4-BE49-F238E27FC236}">
                    <a16:creationId xmlns:a16="http://schemas.microsoft.com/office/drawing/2014/main" id="{F52FCBCB-7180-2C4C-9A9D-CE6A6A75DE49}"/>
                  </a:ext>
                </a:extLst>
              </p:cNvPr>
              <p:cNvSpPr txBox="1">
                <a:spLocks/>
              </p:cNvSpPr>
              <p:nvPr/>
            </p:nvSpPr>
            <p:spPr>
              <a:xfrm>
                <a:off x="1047375" y="1999830"/>
                <a:ext cx="4651890" cy="851874"/>
              </a:xfrm>
              <a:prstGeom prst="rect">
                <a:avLst/>
              </a:prstGeom>
              <a:solidFill>
                <a:schemeClr val="tx1">
                  <a:lumMod val="95000"/>
                </a:schemeClr>
              </a:solidFill>
              <a:ln>
                <a:solidFill>
                  <a:schemeClr val="bg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b="1" i="1" u="sng" dirty="0">
                    <a:solidFill>
                      <a:schemeClr val="bg1"/>
                    </a:solidFill>
                  </a:rPr>
                  <a:t>Definition</a:t>
                </a:r>
                <a:r>
                  <a:rPr lang="en-US" sz="2000" i="1" dirty="0">
                    <a:solidFill>
                      <a:schemeClr val="bg1"/>
                    </a:solidFill>
                  </a:rPr>
                  <a:t>: A problem A is </a:t>
                </a:r>
                <a:r>
                  <a:rPr lang="en-US" sz="2000" b="1" i="1" dirty="0">
                    <a:solidFill>
                      <a:schemeClr val="bg1"/>
                    </a:solidFill>
                  </a:rPr>
                  <a:t>NP-Hard</a:t>
                </a:r>
                <a:r>
                  <a:rPr lang="en-US" sz="2000" i="1" dirty="0">
                    <a:solidFill>
                      <a:schemeClr val="bg1"/>
                    </a:solidFill>
                  </a:rPr>
                  <a:t> if and only if </a:t>
                </a:r>
                <a14:m>
                  <m:oMath xmlns:m="http://schemas.openxmlformats.org/officeDocument/2006/math">
                    <m:r>
                      <a:rPr lang="en-US" sz="2000" b="0" i="1" smtClean="0">
                        <a:solidFill>
                          <a:schemeClr val="bg1"/>
                        </a:solidFill>
                        <a:latin typeface="Cambria Math" panose="02040503050406030204" pitchFamily="18" charset="0"/>
                      </a:rPr>
                      <m:t>∀</m:t>
                    </m:r>
                    <m:r>
                      <a:rPr lang="en-US" sz="2000" b="0" i="1" smtClean="0">
                        <a:solidFill>
                          <a:schemeClr val="bg1"/>
                        </a:solidFill>
                        <a:latin typeface="Cambria Math" panose="02040503050406030204" pitchFamily="18" charset="0"/>
                      </a:rPr>
                      <m:t>𝐵</m:t>
                    </m:r>
                    <m:r>
                      <a:rPr lang="en-US" sz="2000" b="0" i="1" smtClean="0">
                        <a:solidFill>
                          <a:schemeClr val="bg1"/>
                        </a:solidFill>
                        <a:latin typeface="Cambria Math" panose="02040503050406030204" pitchFamily="18" charset="0"/>
                      </a:rPr>
                      <m:t>∈</m:t>
                    </m:r>
                    <m:r>
                      <a:rPr lang="en-US" sz="2000" b="0" i="1" smtClean="0">
                        <a:solidFill>
                          <a:schemeClr val="bg1"/>
                        </a:solidFill>
                        <a:latin typeface="Cambria Math" panose="02040503050406030204" pitchFamily="18" charset="0"/>
                      </a:rPr>
                      <m:t>𝑁𝑃</m:t>
                    </m:r>
                    <m:r>
                      <a:rPr lang="en-US" sz="2000" b="0" i="1" smtClean="0">
                        <a:solidFill>
                          <a:schemeClr val="bg1"/>
                        </a:solidFill>
                        <a:latin typeface="Cambria Math" panose="02040503050406030204" pitchFamily="18" charset="0"/>
                      </a:rPr>
                      <m:t>,  </m:t>
                    </m:r>
                    <m:r>
                      <a:rPr lang="en-US" sz="2000" b="0" i="1" smtClean="0">
                        <a:solidFill>
                          <a:schemeClr val="bg1"/>
                        </a:solidFill>
                        <a:latin typeface="Cambria Math" panose="02040503050406030204" pitchFamily="18" charset="0"/>
                      </a:rPr>
                      <m:t>𝐵</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m:t>
                        </m:r>
                      </m:e>
                      <m:sub>
                        <m:r>
                          <a:rPr lang="en-US" sz="2000" b="0" i="1" smtClean="0">
                            <a:solidFill>
                              <a:schemeClr val="bg1"/>
                            </a:solidFill>
                            <a:latin typeface="Cambria Math" panose="02040503050406030204" pitchFamily="18" charset="0"/>
                          </a:rPr>
                          <m:t>𝑝</m:t>
                        </m:r>
                      </m:sub>
                    </m:sSub>
                    <m:r>
                      <a:rPr lang="en-US" sz="2000" b="0" i="1" smtClean="0">
                        <a:solidFill>
                          <a:schemeClr val="bg1"/>
                        </a:solidFill>
                        <a:latin typeface="Cambria Math" panose="02040503050406030204" pitchFamily="18" charset="0"/>
                      </a:rPr>
                      <m:t>𝐴</m:t>
                    </m:r>
                  </m:oMath>
                </a14:m>
                <a:endParaRPr lang="en-US" sz="2000" i="1" dirty="0">
                  <a:solidFill>
                    <a:schemeClr val="bg1"/>
                  </a:solidFill>
                </a:endParaRPr>
              </a:p>
            </p:txBody>
          </p:sp>
        </mc:Choice>
        <mc:Fallback xmlns="">
          <p:sp>
            <p:nvSpPr>
              <p:cNvPr id="21" name="Content Placeholder 4">
                <a:extLst>
                  <a:ext uri="{FF2B5EF4-FFF2-40B4-BE49-F238E27FC236}">
                    <a16:creationId xmlns:a16="http://schemas.microsoft.com/office/drawing/2014/main" id="{F52FCBCB-7180-2C4C-9A9D-CE6A6A75DE49}"/>
                  </a:ext>
                </a:extLst>
              </p:cNvPr>
              <p:cNvSpPr txBox="1">
                <a:spLocks noRot="1" noChangeAspect="1" noMove="1" noResize="1" noEditPoints="1" noAdjustHandles="1" noChangeArrowheads="1" noChangeShapeType="1" noTextEdit="1"/>
              </p:cNvSpPr>
              <p:nvPr/>
            </p:nvSpPr>
            <p:spPr>
              <a:xfrm>
                <a:off x="1047375" y="1999830"/>
                <a:ext cx="4651890" cy="851874"/>
              </a:xfrm>
              <a:prstGeom prst="rect">
                <a:avLst/>
              </a:prstGeom>
              <a:blipFill>
                <a:blip r:embed="rId2"/>
                <a:stretch>
                  <a:fillRect l="-1084" b="-5714"/>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 name="Content Placeholder 4">
                <a:extLst>
                  <a:ext uri="{FF2B5EF4-FFF2-40B4-BE49-F238E27FC236}">
                    <a16:creationId xmlns:a16="http://schemas.microsoft.com/office/drawing/2014/main" id="{002365C9-43F9-C746-B90C-0DE6E5BFE4B0}"/>
                  </a:ext>
                </a:extLst>
              </p:cNvPr>
              <p:cNvSpPr txBox="1">
                <a:spLocks/>
              </p:cNvSpPr>
              <p:nvPr/>
            </p:nvSpPr>
            <p:spPr>
              <a:xfrm>
                <a:off x="1197138" y="4002590"/>
                <a:ext cx="3296881" cy="1338955"/>
              </a:xfrm>
              <a:prstGeom prst="rect">
                <a:avLst/>
              </a:prstGeom>
              <a:ln>
                <a:no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14:m>
                  <m:oMath xmlns:m="http://schemas.openxmlformats.org/officeDocument/2006/math">
                    <m:r>
                      <a:rPr lang="en-US" sz="1600" b="0" i="1" smtClean="0">
                        <a:latin typeface="Cambria Math" panose="02040503050406030204" pitchFamily="18" charset="0"/>
                      </a:rPr>
                      <m:t>𝐵</m:t>
                    </m:r>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m:t>
                        </m:r>
                      </m:e>
                      <m:sub>
                        <m:r>
                          <a:rPr lang="en-US" sz="1600" b="0" i="1" smtClean="0">
                            <a:latin typeface="Cambria Math" panose="02040503050406030204" pitchFamily="18" charset="0"/>
                          </a:rPr>
                          <m:t>𝑝</m:t>
                        </m:r>
                      </m:sub>
                    </m:sSub>
                    <m:r>
                      <a:rPr lang="en-US" sz="1600" b="0" i="1" smtClean="0">
                        <a:latin typeface="Cambria Math" panose="02040503050406030204" pitchFamily="18" charset="0"/>
                      </a:rPr>
                      <m:t>𝐴</m:t>
                    </m:r>
                  </m:oMath>
                </a14:m>
                <a:r>
                  <a:rPr lang="en-US" sz="1600" i="1" dirty="0"/>
                  <a:t> means that problem A is harder than problem B, shown through a </a:t>
                </a:r>
                <a:r>
                  <a:rPr lang="en-US" sz="1600" b="1" i="1" u="sng" dirty="0"/>
                  <a:t>reduction</a:t>
                </a:r>
                <a:r>
                  <a:rPr lang="en-US" sz="1600" i="1" dirty="0"/>
                  <a:t>, which we will see in a moment.</a:t>
                </a:r>
              </a:p>
            </p:txBody>
          </p:sp>
        </mc:Choice>
        <mc:Fallback xmlns="">
          <p:sp>
            <p:nvSpPr>
              <p:cNvPr id="17" name="Content Placeholder 4">
                <a:extLst>
                  <a:ext uri="{FF2B5EF4-FFF2-40B4-BE49-F238E27FC236}">
                    <a16:creationId xmlns:a16="http://schemas.microsoft.com/office/drawing/2014/main" id="{002365C9-43F9-C746-B90C-0DE6E5BFE4B0}"/>
                  </a:ext>
                </a:extLst>
              </p:cNvPr>
              <p:cNvSpPr txBox="1">
                <a:spLocks noRot="1" noChangeAspect="1" noMove="1" noResize="1" noEditPoints="1" noAdjustHandles="1" noChangeArrowheads="1" noChangeShapeType="1" noTextEdit="1"/>
              </p:cNvSpPr>
              <p:nvPr/>
            </p:nvSpPr>
            <p:spPr>
              <a:xfrm>
                <a:off x="1197138" y="4002590"/>
                <a:ext cx="3296881" cy="1338955"/>
              </a:xfrm>
              <a:prstGeom prst="rect">
                <a:avLst/>
              </a:prstGeom>
              <a:blipFill>
                <a:blip r:embed="rId3"/>
                <a:stretch>
                  <a:fillRect l="-766"/>
                </a:stretch>
              </a:blipFill>
              <a:ln>
                <a:noFill/>
              </a:ln>
            </p:spPr>
            <p:txBody>
              <a:bodyPr/>
              <a:lstStyle/>
              <a:p>
                <a:r>
                  <a:rPr lang="en-US">
                    <a:noFill/>
                  </a:rPr>
                  <a:t> </a:t>
                </a:r>
              </a:p>
            </p:txBody>
          </p:sp>
        </mc:Fallback>
      </mc:AlternateContent>
      <p:cxnSp>
        <p:nvCxnSpPr>
          <p:cNvPr id="22" name="Straight Connector 21">
            <a:extLst>
              <a:ext uri="{FF2B5EF4-FFF2-40B4-BE49-F238E27FC236}">
                <a16:creationId xmlns:a16="http://schemas.microsoft.com/office/drawing/2014/main" id="{0757FA3D-9EC4-A748-9BAF-9415D236B50D}"/>
              </a:ext>
            </a:extLst>
          </p:cNvPr>
          <p:cNvCxnSpPr>
            <a:cxnSpLocks/>
          </p:cNvCxnSpPr>
          <p:nvPr/>
        </p:nvCxnSpPr>
        <p:spPr>
          <a:xfrm flipV="1">
            <a:off x="2845578" y="2996697"/>
            <a:ext cx="830129" cy="1079885"/>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6264016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719C56-21DC-0A40-AA49-9AF4AF4C92DA}"/>
              </a:ext>
            </a:extLst>
          </p:cNvPr>
          <p:cNvSpPr>
            <a:spLocks noGrp="1"/>
          </p:cNvSpPr>
          <p:nvPr>
            <p:ph type="title"/>
          </p:nvPr>
        </p:nvSpPr>
        <p:spPr/>
        <p:txBody>
          <a:bodyPr/>
          <a:lstStyle/>
          <a:p>
            <a:pPr algn="ctr"/>
            <a:r>
              <a:rPr lang="en-US" dirty="0"/>
              <a:t>More on Reductions:</a:t>
            </a:r>
            <a:br>
              <a:rPr lang="en-US" dirty="0"/>
            </a:br>
            <a:r>
              <a:rPr lang="en-US" dirty="0"/>
              <a:t>Mapping Reductions</a:t>
            </a:r>
          </a:p>
        </p:txBody>
      </p:sp>
    </p:spTree>
    <p:extLst>
      <p:ext uri="{BB962C8B-B14F-4D97-AF65-F5344CB8AC3E}">
        <p14:creationId xmlns:p14="http://schemas.microsoft.com/office/powerpoint/2010/main" val="295649746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3" y="125537"/>
            <a:ext cx="9905998" cy="860425"/>
          </a:xfrm>
        </p:spPr>
        <p:txBody>
          <a:bodyPr/>
          <a:lstStyle/>
          <a:p>
            <a:pPr algn="ctr"/>
            <a:r>
              <a:rPr lang="en-US" dirty="0"/>
              <a:t>What we have already seen</a:t>
            </a:r>
          </a:p>
        </p:txBody>
      </p:sp>
      <p:sp>
        <p:nvSpPr>
          <p:cNvPr id="3" name="Content Placeholder 2">
            <a:extLst>
              <a:ext uri="{FF2B5EF4-FFF2-40B4-BE49-F238E27FC236}">
                <a16:creationId xmlns:a16="http://schemas.microsoft.com/office/drawing/2014/main" id="{14278F5F-F936-6145-9FF8-704886F1A386}"/>
              </a:ext>
            </a:extLst>
          </p:cNvPr>
          <p:cNvSpPr>
            <a:spLocks noGrp="1"/>
          </p:cNvSpPr>
          <p:nvPr>
            <p:ph idx="1"/>
          </p:nvPr>
        </p:nvSpPr>
        <p:spPr>
          <a:xfrm>
            <a:off x="1141412" y="1097647"/>
            <a:ext cx="9905999" cy="1089328"/>
          </a:xfrm>
          <a:solidFill>
            <a:schemeClr val="tx1">
              <a:lumMod val="95000"/>
            </a:schemeClr>
          </a:solidFill>
        </p:spPr>
        <p:txBody>
          <a:bodyPr/>
          <a:lstStyle/>
          <a:p>
            <a:pPr marL="0" indent="0" algn="ctr">
              <a:buNone/>
            </a:pPr>
            <a:r>
              <a:rPr lang="en-US" b="1" i="1" u="sng" dirty="0">
                <a:solidFill>
                  <a:schemeClr val="bg1"/>
                </a:solidFill>
              </a:rPr>
              <a:t>Reduction</a:t>
            </a:r>
            <a:r>
              <a:rPr lang="en-US" dirty="0">
                <a:solidFill>
                  <a:schemeClr val="bg1"/>
                </a:solidFill>
              </a:rPr>
              <a:t>: A reduction exists between problems </a:t>
            </a:r>
            <a:r>
              <a:rPr lang="en-US" b="1" i="1" dirty="0">
                <a:solidFill>
                  <a:schemeClr val="bg1"/>
                </a:solidFill>
              </a:rPr>
              <a:t>A</a:t>
            </a:r>
            <a:r>
              <a:rPr lang="en-US" dirty="0">
                <a:solidFill>
                  <a:schemeClr val="bg1"/>
                </a:solidFill>
              </a:rPr>
              <a:t> and </a:t>
            </a:r>
            <a:r>
              <a:rPr lang="en-US" b="1" i="1" dirty="0">
                <a:solidFill>
                  <a:schemeClr val="bg1"/>
                </a:solidFill>
              </a:rPr>
              <a:t>B</a:t>
            </a:r>
            <a:r>
              <a:rPr lang="en-US" dirty="0">
                <a:solidFill>
                  <a:schemeClr val="bg1"/>
                </a:solidFill>
              </a:rPr>
              <a:t> if a solution to </a:t>
            </a:r>
            <a:r>
              <a:rPr lang="en-US" b="1" i="1" dirty="0">
                <a:solidFill>
                  <a:schemeClr val="bg1"/>
                </a:solidFill>
              </a:rPr>
              <a:t>B</a:t>
            </a:r>
            <a:r>
              <a:rPr lang="en-US" dirty="0">
                <a:solidFill>
                  <a:schemeClr val="bg1"/>
                </a:solidFill>
              </a:rPr>
              <a:t> can be used to develop a solution for </a:t>
            </a:r>
            <a:r>
              <a:rPr lang="en-US" b="1" i="1" dirty="0">
                <a:solidFill>
                  <a:schemeClr val="bg1"/>
                </a:solidFill>
              </a:rPr>
              <a:t>A</a:t>
            </a:r>
            <a:r>
              <a:rPr lang="en-US" dirty="0">
                <a:solidFill>
                  <a:schemeClr val="bg1"/>
                </a:solidFill>
              </a:rPr>
              <a:t>.</a:t>
            </a:r>
          </a:p>
        </p:txBody>
      </p:sp>
      <p:sp>
        <p:nvSpPr>
          <p:cNvPr id="5" name="Content Placeholder 2">
            <a:extLst>
              <a:ext uri="{FF2B5EF4-FFF2-40B4-BE49-F238E27FC236}">
                <a16:creationId xmlns:a16="http://schemas.microsoft.com/office/drawing/2014/main" id="{C14889EB-EF30-2147-B73E-154EFBCBA4CA}"/>
              </a:ext>
            </a:extLst>
          </p:cNvPr>
          <p:cNvSpPr txBox="1">
            <a:spLocks/>
          </p:cNvSpPr>
          <p:nvPr/>
        </p:nvSpPr>
        <p:spPr>
          <a:xfrm>
            <a:off x="2248316" y="2276208"/>
            <a:ext cx="3422567" cy="487850"/>
          </a:xfrm>
          <a:prstGeom prst="rect">
            <a:avLst/>
          </a:prstGeom>
          <a:noFill/>
        </p:spPr>
        <p:txBody>
          <a:bodyPr vert="horz" lIns="91440" tIns="45720" rIns="91440" bIns="45720" rtlCol="0">
            <a:normAutofit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solidFill>
                  <a:schemeClr val="tx1">
                    <a:lumMod val="95000"/>
                  </a:schemeClr>
                </a:solidFill>
              </a:rPr>
              <a:t>Problem </a:t>
            </a:r>
            <a:r>
              <a:rPr lang="en-US" b="1" i="1" dirty="0">
                <a:solidFill>
                  <a:schemeClr val="tx1">
                    <a:lumMod val="95000"/>
                  </a:schemeClr>
                </a:solidFill>
              </a:rPr>
              <a:t>A</a:t>
            </a:r>
          </a:p>
        </p:txBody>
      </p:sp>
      <p:sp>
        <p:nvSpPr>
          <p:cNvPr id="7" name="Content Placeholder 2">
            <a:extLst>
              <a:ext uri="{FF2B5EF4-FFF2-40B4-BE49-F238E27FC236}">
                <a16:creationId xmlns:a16="http://schemas.microsoft.com/office/drawing/2014/main" id="{BAF2A420-8040-0345-9243-05F400115AE0}"/>
              </a:ext>
            </a:extLst>
          </p:cNvPr>
          <p:cNvSpPr txBox="1">
            <a:spLocks/>
          </p:cNvSpPr>
          <p:nvPr/>
        </p:nvSpPr>
        <p:spPr>
          <a:xfrm>
            <a:off x="2248316" y="2706066"/>
            <a:ext cx="3422567" cy="2793680"/>
          </a:xfrm>
          <a:prstGeom prst="rect">
            <a:avLst/>
          </a:prstGeom>
          <a:noFill/>
          <a:ln>
            <a:solidFill>
              <a:schemeClr val="tx1">
                <a:lumMod val="95000"/>
              </a:schemeClr>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endParaRPr lang="en-US" dirty="0">
              <a:solidFill>
                <a:schemeClr val="tx1">
                  <a:lumMod val="95000"/>
                </a:schemeClr>
              </a:solidFill>
            </a:endParaRPr>
          </a:p>
        </p:txBody>
      </p:sp>
      <p:sp>
        <p:nvSpPr>
          <p:cNvPr id="8" name="Content Placeholder 2">
            <a:extLst>
              <a:ext uri="{FF2B5EF4-FFF2-40B4-BE49-F238E27FC236}">
                <a16:creationId xmlns:a16="http://schemas.microsoft.com/office/drawing/2014/main" id="{D8ED63A6-57CF-2748-B5CC-98712E6FDFDB}"/>
              </a:ext>
            </a:extLst>
          </p:cNvPr>
          <p:cNvSpPr txBox="1">
            <a:spLocks/>
          </p:cNvSpPr>
          <p:nvPr/>
        </p:nvSpPr>
        <p:spPr>
          <a:xfrm>
            <a:off x="2416759" y="2866487"/>
            <a:ext cx="3069640" cy="512264"/>
          </a:xfrm>
          <a:prstGeom prst="rect">
            <a:avLst/>
          </a:prstGeom>
          <a:solidFill>
            <a:schemeClr val="accent1"/>
          </a:solidFill>
          <a:ln>
            <a:no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dirty="0">
                <a:solidFill>
                  <a:schemeClr val="bg1"/>
                </a:solidFill>
              </a:rPr>
              <a:t>Solve problem B</a:t>
            </a:r>
          </a:p>
        </p:txBody>
      </p:sp>
      <p:sp>
        <p:nvSpPr>
          <p:cNvPr id="9" name="Content Placeholder 2">
            <a:extLst>
              <a:ext uri="{FF2B5EF4-FFF2-40B4-BE49-F238E27FC236}">
                <a16:creationId xmlns:a16="http://schemas.microsoft.com/office/drawing/2014/main" id="{B6822740-1797-444A-9543-A770D02028A2}"/>
              </a:ext>
            </a:extLst>
          </p:cNvPr>
          <p:cNvSpPr txBox="1">
            <a:spLocks/>
          </p:cNvSpPr>
          <p:nvPr/>
        </p:nvSpPr>
        <p:spPr>
          <a:xfrm>
            <a:off x="2416759" y="3489201"/>
            <a:ext cx="3069640" cy="512264"/>
          </a:xfrm>
          <a:prstGeom prst="rect">
            <a:avLst/>
          </a:prstGeom>
          <a:solidFill>
            <a:schemeClr val="tx1">
              <a:lumMod val="95000"/>
            </a:schemeClr>
          </a:solidFill>
          <a:ln>
            <a:no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dirty="0">
                <a:solidFill>
                  <a:schemeClr val="bg1"/>
                </a:solidFill>
              </a:rPr>
              <a:t>Do easy work</a:t>
            </a:r>
          </a:p>
        </p:txBody>
      </p:sp>
      <p:sp>
        <p:nvSpPr>
          <p:cNvPr id="10" name="Content Placeholder 2">
            <a:extLst>
              <a:ext uri="{FF2B5EF4-FFF2-40B4-BE49-F238E27FC236}">
                <a16:creationId xmlns:a16="http://schemas.microsoft.com/office/drawing/2014/main" id="{E582851D-81F1-3B4A-BD49-BCE334138F19}"/>
              </a:ext>
            </a:extLst>
          </p:cNvPr>
          <p:cNvSpPr txBox="1">
            <a:spLocks/>
          </p:cNvSpPr>
          <p:nvPr/>
        </p:nvSpPr>
        <p:spPr>
          <a:xfrm>
            <a:off x="2416759" y="4136900"/>
            <a:ext cx="3069640" cy="512264"/>
          </a:xfrm>
          <a:prstGeom prst="rect">
            <a:avLst/>
          </a:prstGeom>
          <a:solidFill>
            <a:schemeClr val="tx1">
              <a:lumMod val="95000"/>
            </a:schemeClr>
          </a:solidFill>
          <a:ln>
            <a:no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dirty="0">
                <a:solidFill>
                  <a:schemeClr val="bg1"/>
                </a:solidFill>
              </a:rPr>
              <a:t>Do more easy work</a:t>
            </a:r>
          </a:p>
        </p:txBody>
      </p:sp>
      <p:sp>
        <p:nvSpPr>
          <p:cNvPr id="11" name="Content Placeholder 2">
            <a:extLst>
              <a:ext uri="{FF2B5EF4-FFF2-40B4-BE49-F238E27FC236}">
                <a16:creationId xmlns:a16="http://schemas.microsoft.com/office/drawing/2014/main" id="{5746BE0E-7AF6-384F-B630-60A05BF791D7}"/>
              </a:ext>
            </a:extLst>
          </p:cNvPr>
          <p:cNvSpPr txBox="1">
            <a:spLocks/>
          </p:cNvSpPr>
          <p:nvPr/>
        </p:nvSpPr>
        <p:spPr>
          <a:xfrm>
            <a:off x="2424779" y="4784599"/>
            <a:ext cx="3069640" cy="512264"/>
          </a:xfrm>
          <a:prstGeom prst="rect">
            <a:avLst/>
          </a:prstGeom>
          <a:solidFill>
            <a:schemeClr val="tx1">
              <a:lumMod val="95000"/>
            </a:schemeClr>
          </a:solidFill>
          <a:ln>
            <a:no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dirty="0">
                <a:solidFill>
                  <a:schemeClr val="bg1"/>
                </a:solidFill>
              </a:rPr>
              <a:t>…</a:t>
            </a:r>
          </a:p>
        </p:txBody>
      </p:sp>
      <p:sp>
        <p:nvSpPr>
          <p:cNvPr id="12" name="Content Placeholder 2">
            <a:extLst>
              <a:ext uri="{FF2B5EF4-FFF2-40B4-BE49-F238E27FC236}">
                <a16:creationId xmlns:a16="http://schemas.microsoft.com/office/drawing/2014/main" id="{4C4CBEC9-814C-8C49-986A-DF5F1C8532A1}"/>
              </a:ext>
            </a:extLst>
          </p:cNvPr>
          <p:cNvSpPr txBox="1">
            <a:spLocks/>
          </p:cNvSpPr>
          <p:nvPr/>
        </p:nvSpPr>
        <p:spPr>
          <a:xfrm>
            <a:off x="7207752" y="3273501"/>
            <a:ext cx="3123364" cy="487850"/>
          </a:xfrm>
          <a:prstGeom prst="rect">
            <a:avLst/>
          </a:prstGeom>
          <a:noFill/>
        </p:spPr>
        <p:txBody>
          <a:bodyPr vert="horz" lIns="91440" tIns="45720" rIns="91440" bIns="45720" rtlCol="0">
            <a:normAutofit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solidFill>
                  <a:schemeClr val="tx1">
                    <a:lumMod val="95000"/>
                  </a:schemeClr>
                </a:solidFill>
              </a:rPr>
              <a:t>Problem </a:t>
            </a:r>
            <a:r>
              <a:rPr lang="en-US" b="1" i="1" dirty="0">
                <a:solidFill>
                  <a:schemeClr val="tx1">
                    <a:lumMod val="95000"/>
                  </a:schemeClr>
                </a:solidFill>
              </a:rPr>
              <a:t>B</a:t>
            </a:r>
          </a:p>
        </p:txBody>
      </p:sp>
      <p:sp>
        <p:nvSpPr>
          <p:cNvPr id="14" name="Content Placeholder 2">
            <a:extLst>
              <a:ext uri="{FF2B5EF4-FFF2-40B4-BE49-F238E27FC236}">
                <a16:creationId xmlns:a16="http://schemas.microsoft.com/office/drawing/2014/main" id="{22DF8AE6-EC2C-E644-AA73-9F6A7AC2B113}"/>
              </a:ext>
            </a:extLst>
          </p:cNvPr>
          <p:cNvSpPr txBox="1">
            <a:spLocks/>
          </p:cNvSpPr>
          <p:nvPr/>
        </p:nvSpPr>
        <p:spPr>
          <a:xfrm>
            <a:off x="7253455" y="3745333"/>
            <a:ext cx="3069640" cy="512264"/>
          </a:xfrm>
          <a:prstGeom prst="rect">
            <a:avLst/>
          </a:prstGeom>
          <a:solidFill>
            <a:schemeClr val="accent1"/>
          </a:solidFill>
          <a:ln>
            <a:no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dirty="0">
                <a:solidFill>
                  <a:schemeClr val="bg1"/>
                </a:solidFill>
              </a:rPr>
              <a:t>Solve problem B</a:t>
            </a:r>
          </a:p>
        </p:txBody>
      </p:sp>
      <p:sp>
        <p:nvSpPr>
          <p:cNvPr id="18" name="Right Arrow 17">
            <a:extLst>
              <a:ext uri="{FF2B5EF4-FFF2-40B4-BE49-F238E27FC236}">
                <a16:creationId xmlns:a16="http://schemas.microsoft.com/office/drawing/2014/main" id="{CE71C290-A4EB-B348-B14E-9071BDA78B93}"/>
              </a:ext>
            </a:extLst>
          </p:cNvPr>
          <p:cNvSpPr/>
          <p:nvPr/>
        </p:nvSpPr>
        <p:spPr>
          <a:xfrm>
            <a:off x="5839326" y="3931662"/>
            <a:ext cx="1106906" cy="230956"/>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Content Placeholder 2">
            <a:extLst>
              <a:ext uri="{FF2B5EF4-FFF2-40B4-BE49-F238E27FC236}">
                <a16:creationId xmlns:a16="http://schemas.microsoft.com/office/drawing/2014/main" id="{5A1F5251-11D8-9B44-B6F0-EE471C79653C}"/>
              </a:ext>
            </a:extLst>
          </p:cNvPr>
          <p:cNvSpPr txBox="1">
            <a:spLocks/>
          </p:cNvSpPr>
          <p:nvPr/>
        </p:nvSpPr>
        <p:spPr>
          <a:xfrm>
            <a:off x="5807239" y="3672459"/>
            <a:ext cx="1114930" cy="353069"/>
          </a:xfrm>
          <a:prstGeom prst="rect">
            <a:avLst/>
          </a:prstGeom>
          <a:noFill/>
        </p:spPr>
        <p:txBody>
          <a:bodyPr vert="horz" lIns="91440" tIns="45720" rIns="91440" bIns="45720" rtlCol="0">
            <a:normAutofit fontScale="700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i="1" dirty="0">
                <a:solidFill>
                  <a:schemeClr val="tx1">
                    <a:lumMod val="95000"/>
                  </a:schemeClr>
                </a:solidFill>
              </a:rPr>
              <a:t>Reduces to</a:t>
            </a:r>
            <a:endParaRPr lang="en-US" dirty="0">
              <a:solidFill>
                <a:schemeClr val="tx1">
                  <a:lumMod val="95000"/>
                </a:schemeClr>
              </a:solidFill>
            </a:endParaRPr>
          </a:p>
        </p:txBody>
      </p:sp>
      <p:sp>
        <p:nvSpPr>
          <p:cNvPr id="15" name="Content Placeholder 4">
            <a:extLst>
              <a:ext uri="{FF2B5EF4-FFF2-40B4-BE49-F238E27FC236}">
                <a16:creationId xmlns:a16="http://schemas.microsoft.com/office/drawing/2014/main" id="{00A66E6B-05AE-DF47-AD72-921EEBE6834C}"/>
              </a:ext>
            </a:extLst>
          </p:cNvPr>
          <p:cNvSpPr txBox="1">
            <a:spLocks/>
          </p:cNvSpPr>
          <p:nvPr/>
        </p:nvSpPr>
        <p:spPr>
          <a:xfrm>
            <a:off x="7750530" y="5499747"/>
            <a:ext cx="3296881" cy="1078130"/>
          </a:xfrm>
          <a:prstGeom prst="rect">
            <a:avLst/>
          </a:prstGeom>
          <a:ln>
            <a:no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i="1" dirty="0"/>
              <a:t>This kind of reduction involves the decidability of Problems A and B. If B is decidable then A is decidable!</a:t>
            </a:r>
          </a:p>
        </p:txBody>
      </p:sp>
      <p:cxnSp>
        <p:nvCxnSpPr>
          <p:cNvPr id="16" name="Straight Connector 15">
            <a:extLst>
              <a:ext uri="{FF2B5EF4-FFF2-40B4-BE49-F238E27FC236}">
                <a16:creationId xmlns:a16="http://schemas.microsoft.com/office/drawing/2014/main" id="{BBBAD594-8A20-A34D-A7A0-28F0F9161B40}"/>
              </a:ext>
            </a:extLst>
          </p:cNvPr>
          <p:cNvCxnSpPr>
            <a:cxnSpLocks/>
          </p:cNvCxnSpPr>
          <p:nvPr/>
        </p:nvCxnSpPr>
        <p:spPr>
          <a:xfrm flipV="1">
            <a:off x="8229600" y="4481465"/>
            <a:ext cx="253498" cy="1018281"/>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9949D9AE-DC76-A049-B9F7-EA804B1777E6}"/>
              </a:ext>
            </a:extLst>
          </p:cNvPr>
          <p:cNvCxnSpPr>
            <a:cxnSpLocks/>
          </p:cNvCxnSpPr>
          <p:nvPr/>
        </p:nvCxnSpPr>
        <p:spPr>
          <a:xfrm flipH="1" flipV="1">
            <a:off x="5839326" y="5003501"/>
            <a:ext cx="2308793" cy="496245"/>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1307022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41413" y="129734"/>
            <a:ext cx="9905998" cy="722453"/>
          </a:xfrm>
        </p:spPr>
        <p:txBody>
          <a:bodyPr/>
          <a:lstStyle/>
          <a:p>
            <a:pPr algn="ctr"/>
            <a:r>
              <a:rPr lang="en-US" dirty="0"/>
              <a:t>Mapping Reduction</a:t>
            </a:r>
            <a:endParaRPr lang="en-US" dirty="0">
              <a:solidFill>
                <a:srgbClr val="FFA7FF"/>
              </a:solidFill>
            </a:endParaRPr>
          </a:p>
        </p:txBody>
      </p:sp>
      <mc:AlternateContent xmlns:mc="http://schemas.openxmlformats.org/markup-compatibility/2006" xmlns:a14="http://schemas.microsoft.com/office/drawing/2010/main">
        <mc:Choice Requires="a14">
          <p:sp>
            <p:nvSpPr>
              <p:cNvPr id="3" name="TextBox 2"/>
              <p:cNvSpPr txBox="1"/>
              <p:nvPr/>
            </p:nvSpPr>
            <p:spPr>
              <a:xfrm>
                <a:off x="232775" y="2051517"/>
                <a:ext cx="1938100" cy="1200329"/>
              </a:xfrm>
              <a:prstGeom prst="rect">
                <a:avLst/>
              </a:prstGeom>
              <a:noFill/>
            </p:spPr>
            <p:txBody>
              <a:bodyPr wrap="square" rtlCol="0">
                <a:spAutoFit/>
              </a:bodyPr>
              <a:lstStyle/>
              <a:p>
                <a:pPr algn="ctr"/>
                <a:r>
                  <a:rPr lang="en-US" i="1" dirty="0"/>
                  <a:t>One way (green route) to solve A is to use the decider in </a:t>
                </a:r>
                <a14:m>
                  <m:oMath xmlns:m="http://schemas.openxmlformats.org/officeDocument/2006/math">
                    <m:r>
                      <a:rPr lang="en-US" b="0" i="1" smtClean="0">
                        <a:latin typeface="Cambria Math" panose="02040503050406030204" pitchFamily="18" charset="0"/>
                      </a:rPr>
                      <m:t>𝛩</m:t>
                    </m:r>
                    <m:r>
                      <a:rPr lang="en-US" b="0" i="1" smtClean="0">
                        <a:latin typeface="Cambria Math" panose="02040503050406030204" pitchFamily="18" charset="0"/>
                      </a:rPr>
                      <m:t>(</m:t>
                    </m:r>
                    <m:sSub>
                      <m:sSubPr>
                        <m:ctrlPr>
                          <a:rPr lang="en-US"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𝑛</m:t>
                        </m:r>
                      </m:sub>
                    </m:sSub>
                    <m:r>
                      <a:rPr lang="en-US" b="0" i="1" smtClean="0">
                        <a:latin typeface="Cambria Math" panose="02040503050406030204" pitchFamily="18" charset="0"/>
                      </a:rPr>
                      <m:t>)</m:t>
                    </m:r>
                  </m:oMath>
                </a14:m>
                <a:r>
                  <a:rPr lang="en-US" i="1" dirty="0"/>
                  <a:t> time</a:t>
                </a:r>
              </a:p>
            </p:txBody>
          </p:sp>
        </mc:Choice>
        <mc:Fallback xmlns="">
          <p:sp>
            <p:nvSpPr>
              <p:cNvPr id="3" name="TextBox 2"/>
              <p:cNvSpPr txBox="1">
                <a:spLocks noRot="1" noChangeAspect="1" noMove="1" noResize="1" noEditPoints="1" noAdjustHandles="1" noChangeArrowheads="1" noChangeShapeType="1" noTextEdit="1"/>
              </p:cNvSpPr>
              <p:nvPr/>
            </p:nvSpPr>
            <p:spPr>
              <a:xfrm>
                <a:off x="232775" y="2051517"/>
                <a:ext cx="1938100" cy="1200329"/>
              </a:xfrm>
              <a:prstGeom prst="rect">
                <a:avLst/>
              </a:prstGeom>
              <a:blipFill>
                <a:blip r:embed="rId2"/>
                <a:stretch>
                  <a:fillRect t="-2105" r="-3247" b="-736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 name="Content Placeholder 4">
                <a:extLst>
                  <a:ext uri="{FF2B5EF4-FFF2-40B4-BE49-F238E27FC236}">
                    <a16:creationId xmlns:a16="http://schemas.microsoft.com/office/drawing/2014/main" id="{02970F1D-2A69-F14E-B770-DAA838C60DA9}"/>
                  </a:ext>
                </a:extLst>
              </p:cNvPr>
              <p:cNvSpPr txBox="1">
                <a:spLocks/>
              </p:cNvSpPr>
              <p:nvPr/>
            </p:nvSpPr>
            <p:spPr>
              <a:xfrm>
                <a:off x="1043562" y="936952"/>
                <a:ext cx="10345697" cy="545472"/>
              </a:xfrm>
              <a:prstGeom prst="rect">
                <a:avLst/>
              </a:prstGeom>
              <a:solidFill>
                <a:schemeClr val="tx1">
                  <a:lumMod val="95000"/>
                </a:schemeClr>
              </a:solidFill>
              <a:ln>
                <a:solidFill>
                  <a:schemeClr val="bg1"/>
                </a:solidFill>
              </a:ln>
            </p:spPr>
            <p:txBody>
              <a:bodyPr vert="horz" lIns="91440" tIns="45720" rIns="91440" bIns="45720" rtlCol="0">
                <a:normAutofit fontScale="850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600" i="1" dirty="0">
                    <a:solidFill>
                      <a:schemeClr val="bg1"/>
                    </a:solidFill>
                  </a:rPr>
                  <a:t>A </a:t>
                </a:r>
                <a:r>
                  <a:rPr lang="en-US" sz="1600" b="1" i="1" u="sng" dirty="0">
                    <a:solidFill>
                      <a:schemeClr val="bg1"/>
                    </a:solidFill>
                  </a:rPr>
                  <a:t>mapping reduction</a:t>
                </a:r>
                <a:r>
                  <a:rPr lang="en-US" sz="1600" i="1" dirty="0">
                    <a:solidFill>
                      <a:schemeClr val="bg1"/>
                    </a:solidFill>
                  </a:rPr>
                  <a:t> uses a reduction function R() to map instances of one problem (A) to instances of another problem (B) such that for any input string </a:t>
                </a:r>
                <a14:m>
                  <m:oMath xmlns:m="http://schemas.openxmlformats.org/officeDocument/2006/math">
                    <m:r>
                      <a:rPr lang="en-US" sz="1600" b="0" i="1" smtClean="0">
                        <a:solidFill>
                          <a:schemeClr val="bg1"/>
                        </a:solidFill>
                        <a:latin typeface="Cambria Math" panose="02040503050406030204" pitchFamily="18" charset="0"/>
                      </a:rPr>
                      <m:t>𝑤</m:t>
                    </m:r>
                  </m:oMath>
                </a14:m>
                <a:r>
                  <a:rPr lang="en-US" sz="1600" i="1" dirty="0">
                    <a:solidFill>
                      <a:schemeClr val="bg1"/>
                    </a:solidFill>
                  </a:rPr>
                  <a:t>, </a:t>
                </a:r>
                <a14:m>
                  <m:oMath xmlns:m="http://schemas.openxmlformats.org/officeDocument/2006/math">
                    <m:r>
                      <a:rPr lang="en-US" sz="1600" b="0" i="1" smtClean="0">
                        <a:solidFill>
                          <a:schemeClr val="bg1"/>
                        </a:solidFill>
                        <a:latin typeface="Cambria Math" panose="02040503050406030204" pitchFamily="18" charset="0"/>
                      </a:rPr>
                      <m:t>𝐴</m:t>
                    </m:r>
                    <m:d>
                      <m:dPr>
                        <m:ctrlPr>
                          <a:rPr lang="en-US" sz="1600" b="0" i="1" smtClean="0">
                            <a:solidFill>
                              <a:schemeClr val="bg1"/>
                            </a:solidFill>
                            <a:latin typeface="Cambria Math" panose="02040503050406030204" pitchFamily="18" charset="0"/>
                          </a:rPr>
                        </m:ctrlPr>
                      </m:dPr>
                      <m:e>
                        <m:r>
                          <a:rPr lang="en-US" sz="1600" b="0" i="1" smtClean="0">
                            <a:solidFill>
                              <a:schemeClr val="bg1"/>
                            </a:solidFill>
                            <a:latin typeface="Cambria Math" panose="02040503050406030204" pitchFamily="18" charset="0"/>
                          </a:rPr>
                          <m:t>𝑤</m:t>
                        </m:r>
                      </m:e>
                    </m:d>
                    <m:r>
                      <a:rPr lang="en-US" sz="1600" b="0" i="1" smtClean="0">
                        <a:solidFill>
                          <a:schemeClr val="bg1"/>
                        </a:solidFill>
                        <a:latin typeface="Cambria Math" panose="02040503050406030204" pitchFamily="18" charset="0"/>
                      </a:rPr>
                      <m:t>==</m:t>
                    </m:r>
                    <m:r>
                      <a:rPr lang="en-US" sz="1600" b="0" i="1" smtClean="0">
                        <a:solidFill>
                          <a:schemeClr val="bg1"/>
                        </a:solidFill>
                        <a:latin typeface="Cambria Math" panose="02040503050406030204" pitchFamily="18" charset="0"/>
                      </a:rPr>
                      <m:t>𝐵</m:t>
                    </m:r>
                    <m:r>
                      <a:rPr lang="en-US" sz="1600" b="0" i="1" smtClean="0">
                        <a:solidFill>
                          <a:schemeClr val="bg1"/>
                        </a:solidFill>
                        <a:latin typeface="Cambria Math" panose="02040503050406030204" pitchFamily="18" charset="0"/>
                      </a:rPr>
                      <m:t>(</m:t>
                    </m:r>
                    <m:r>
                      <a:rPr lang="en-US" sz="1600" b="0" i="1" smtClean="0">
                        <a:solidFill>
                          <a:schemeClr val="bg1"/>
                        </a:solidFill>
                        <a:latin typeface="Cambria Math" panose="02040503050406030204" pitchFamily="18" charset="0"/>
                      </a:rPr>
                      <m:t>𝑅</m:t>
                    </m:r>
                    <m:d>
                      <m:dPr>
                        <m:ctrlPr>
                          <a:rPr lang="en-US" sz="1600" b="0" i="1" smtClean="0">
                            <a:solidFill>
                              <a:schemeClr val="bg1"/>
                            </a:solidFill>
                            <a:latin typeface="Cambria Math" panose="02040503050406030204" pitchFamily="18" charset="0"/>
                          </a:rPr>
                        </m:ctrlPr>
                      </m:dPr>
                      <m:e>
                        <m:r>
                          <a:rPr lang="en-US" sz="1600" b="0" i="1" smtClean="0">
                            <a:solidFill>
                              <a:schemeClr val="bg1"/>
                            </a:solidFill>
                            <a:latin typeface="Cambria Math" panose="02040503050406030204" pitchFamily="18" charset="0"/>
                          </a:rPr>
                          <m:t>𝑤</m:t>
                        </m:r>
                      </m:e>
                    </m:d>
                    <m:r>
                      <a:rPr lang="en-US" sz="1600" b="0" i="1" smtClean="0">
                        <a:solidFill>
                          <a:schemeClr val="bg1"/>
                        </a:solidFill>
                        <a:latin typeface="Cambria Math" panose="02040503050406030204" pitchFamily="18" charset="0"/>
                      </a:rPr>
                      <m:t>)</m:t>
                    </m:r>
                  </m:oMath>
                </a14:m>
                <a:endParaRPr lang="en-US" sz="1600" i="1" dirty="0">
                  <a:solidFill>
                    <a:schemeClr val="bg1"/>
                  </a:solidFill>
                </a:endParaRPr>
              </a:p>
            </p:txBody>
          </p:sp>
        </mc:Choice>
        <mc:Fallback xmlns="">
          <p:sp>
            <p:nvSpPr>
              <p:cNvPr id="20" name="Content Placeholder 4">
                <a:extLst>
                  <a:ext uri="{FF2B5EF4-FFF2-40B4-BE49-F238E27FC236}">
                    <a16:creationId xmlns:a16="http://schemas.microsoft.com/office/drawing/2014/main" id="{02970F1D-2A69-F14E-B770-DAA838C60DA9}"/>
                  </a:ext>
                </a:extLst>
              </p:cNvPr>
              <p:cNvSpPr txBox="1">
                <a:spLocks noRot="1" noChangeAspect="1" noMove="1" noResize="1" noEditPoints="1" noAdjustHandles="1" noChangeArrowheads="1" noChangeShapeType="1" noTextEdit="1"/>
              </p:cNvSpPr>
              <p:nvPr/>
            </p:nvSpPr>
            <p:spPr>
              <a:xfrm>
                <a:off x="1043562" y="936952"/>
                <a:ext cx="10345697" cy="545472"/>
              </a:xfrm>
              <a:prstGeom prst="rect">
                <a:avLst/>
              </a:prstGeom>
              <a:blipFill>
                <a:blip r:embed="rId3"/>
                <a:stretch>
                  <a:fillRect t="-2222" b="-4444"/>
                </a:stretch>
              </a:blipFill>
              <a:ln>
                <a:solidFill>
                  <a:schemeClr val="bg1"/>
                </a:solidFill>
              </a:ln>
            </p:spPr>
            <p:txBody>
              <a:bodyPr/>
              <a:lstStyle/>
              <a:p>
                <a:r>
                  <a:rPr lang="en-US">
                    <a:noFill/>
                  </a:rPr>
                  <a:t> </a:t>
                </a:r>
              </a:p>
            </p:txBody>
          </p:sp>
        </mc:Fallback>
      </mc:AlternateContent>
      <p:cxnSp>
        <p:nvCxnSpPr>
          <p:cNvPr id="37" name="Straight Connector 36">
            <a:extLst>
              <a:ext uri="{FF2B5EF4-FFF2-40B4-BE49-F238E27FC236}">
                <a16:creationId xmlns:a16="http://schemas.microsoft.com/office/drawing/2014/main" id="{51A30623-1E62-0F43-82C9-5FDCF5203CD1}"/>
              </a:ext>
            </a:extLst>
          </p:cNvPr>
          <p:cNvCxnSpPr>
            <a:cxnSpLocks/>
          </p:cNvCxnSpPr>
          <p:nvPr/>
        </p:nvCxnSpPr>
        <p:spPr>
          <a:xfrm>
            <a:off x="2062302" y="2708985"/>
            <a:ext cx="833298" cy="574396"/>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grpSp>
        <p:nvGrpSpPr>
          <p:cNvPr id="43" name="Group 42">
            <a:extLst>
              <a:ext uri="{FF2B5EF4-FFF2-40B4-BE49-F238E27FC236}">
                <a16:creationId xmlns:a16="http://schemas.microsoft.com/office/drawing/2014/main" id="{79335735-65BC-E54E-ABCA-52FB200E0398}"/>
              </a:ext>
            </a:extLst>
          </p:cNvPr>
          <p:cNvGrpSpPr/>
          <p:nvPr/>
        </p:nvGrpSpPr>
        <p:grpSpPr>
          <a:xfrm>
            <a:off x="2208734" y="1876424"/>
            <a:ext cx="7232463" cy="3806727"/>
            <a:chOff x="2465909" y="2019299"/>
            <a:chExt cx="7232463" cy="3806727"/>
          </a:xfrm>
        </p:grpSpPr>
        <mc:AlternateContent xmlns:mc="http://schemas.openxmlformats.org/markup-compatibility/2006" xmlns:a14="http://schemas.microsoft.com/office/drawing/2010/main">
          <mc:Choice Requires="a14">
            <p:sp>
              <p:nvSpPr>
                <p:cNvPr id="39" name="Content Placeholder 4">
                  <a:extLst>
                    <a:ext uri="{FF2B5EF4-FFF2-40B4-BE49-F238E27FC236}">
                      <a16:creationId xmlns:a16="http://schemas.microsoft.com/office/drawing/2014/main" id="{6D06268B-B87E-5844-8A15-8B25A2291DDC}"/>
                    </a:ext>
                  </a:extLst>
                </p:cNvPr>
                <p:cNvSpPr txBox="1">
                  <a:spLocks/>
                </p:cNvSpPr>
                <p:nvPr/>
              </p:nvSpPr>
              <p:spPr>
                <a:xfrm>
                  <a:off x="5008088" y="2019299"/>
                  <a:ext cx="2316638" cy="581035"/>
                </a:xfrm>
                <a:prstGeom prst="rect">
                  <a:avLst/>
                </a:prstGeom>
                <a:solidFill>
                  <a:schemeClr val="accent3"/>
                </a:solidFill>
                <a:ln>
                  <a:solidFill>
                    <a:schemeClr val="bg1"/>
                  </a:solidFill>
                </a:ln>
              </p:spPr>
              <p:txBody>
                <a:bodyPr vert="horz" lIns="91440" tIns="45720" rIns="91440" bIns="45720" rtlCol="0">
                  <a:normAutofit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400" i="1" dirty="0">
                      <a:solidFill>
                        <a:schemeClr val="tx1">
                          <a:lumMod val="95000"/>
                        </a:schemeClr>
                      </a:solidFill>
                    </a:rPr>
                    <a:t>Map instances of A to instances of B in </a:t>
                  </a:r>
                  <a14:m>
                    <m:oMath xmlns:m="http://schemas.openxmlformats.org/officeDocument/2006/math">
                      <m:r>
                        <m:rPr>
                          <m:sty m:val="p"/>
                        </m:rPr>
                        <a:rPr lang="en-US" sz="1400" b="0" i="0" smtClean="0">
                          <a:solidFill>
                            <a:schemeClr val="tx1">
                              <a:lumMod val="95000"/>
                            </a:schemeClr>
                          </a:solidFill>
                          <a:latin typeface="Cambria Math" panose="02040503050406030204" pitchFamily="18" charset="0"/>
                        </a:rPr>
                        <m:t>Θ</m:t>
                      </m:r>
                      <m:r>
                        <a:rPr lang="en-US" sz="1400" b="0" i="1" smtClean="0">
                          <a:solidFill>
                            <a:schemeClr val="tx1">
                              <a:lumMod val="95000"/>
                            </a:schemeClr>
                          </a:solidFill>
                          <a:latin typeface="Cambria Math" panose="02040503050406030204" pitchFamily="18" charset="0"/>
                        </a:rPr>
                        <m:t>(</m:t>
                      </m:r>
                      <m:sSub>
                        <m:sSubPr>
                          <m:ctrlPr>
                            <a:rPr lang="en-US" sz="1400" b="0" i="1" smtClean="0">
                              <a:solidFill>
                                <a:schemeClr val="tx1">
                                  <a:lumMod val="95000"/>
                                </a:schemeClr>
                              </a:solidFill>
                              <a:latin typeface="Cambria Math" panose="02040503050406030204" pitchFamily="18" charset="0"/>
                            </a:rPr>
                          </m:ctrlPr>
                        </m:sSubPr>
                        <m:e>
                          <m:r>
                            <a:rPr lang="en-US" sz="1400" b="0" i="1" smtClean="0">
                              <a:solidFill>
                                <a:schemeClr val="tx1">
                                  <a:lumMod val="95000"/>
                                </a:schemeClr>
                              </a:solidFill>
                              <a:latin typeface="Cambria Math" panose="02040503050406030204" pitchFamily="18" charset="0"/>
                            </a:rPr>
                            <m:t>𝑅</m:t>
                          </m:r>
                        </m:e>
                        <m:sub>
                          <m:r>
                            <a:rPr lang="en-US" sz="1400" b="0" i="1" smtClean="0">
                              <a:solidFill>
                                <a:schemeClr val="tx1">
                                  <a:lumMod val="95000"/>
                                </a:schemeClr>
                              </a:solidFill>
                              <a:latin typeface="Cambria Math" panose="02040503050406030204" pitchFamily="18" charset="0"/>
                            </a:rPr>
                            <m:t>𝐴𝐵</m:t>
                          </m:r>
                        </m:sub>
                      </m:sSub>
                      <m:r>
                        <a:rPr lang="en-US" sz="1400" b="0" i="1" smtClean="0">
                          <a:solidFill>
                            <a:schemeClr val="tx1">
                              <a:lumMod val="95000"/>
                            </a:schemeClr>
                          </a:solidFill>
                          <a:latin typeface="Cambria Math" panose="02040503050406030204" pitchFamily="18" charset="0"/>
                        </a:rPr>
                        <m:t>)</m:t>
                      </m:r>
                    </m:oMath>
                  </a14:m>
                  <a:r>
                    <a:rPr lang="en-US" sz="1400" i="1" dirty="0">
                      <a:solidFill>
                        <a:schemeClr val="tx1">
                          <a:lumMod val="95000"/>
                        </a:schemeClr>
                      </a:solidFill>
                    </a:rPr>
                    <a:t> time.</a:t>
                  </a:r>
                </a:p>
              </p:txBody>
            </p:sp>
          </mc:Choice>
          <mc:Fallback xmlns="">
            <p:sp>
              <p:nvSpPr>
                <p:cNvPr id="39" name="Content Placeholder 4">
                  <a:extLst>
                    <a:ext uri="{FF2B5EF4-FFF2-40B4-BE49-F238E27FC236}">
                      <a16:creationId xmlns:a16="http://schemas.microsoft.com/office/drawing/2014/main" id="{6D06268B-B87E-5844-8A15-8B25A2291DDC}"/>
                    </a:ext>
                  </a:extLst>
                </p:cNvPr>
                <p:cNvSpPr txBox="1">
                  <a:spLocks noRot="1" noChangeAspect="1" noMove="1" noResize="1" noEditPoints="1" noAdjustHandles="1" noChangeArrowheads="1" noChangeShapeType="1" noTextEdit="1"/>
                </p:cNvSpPr>
                <p:nvPr/>
              </p:nvSpPr>
              <p:spPr>
                <a:xfrm>
                  <a:off x="5008088" y="2019299"/>
                  <a:ext cx="2316638" cy="581035"/>
                </a:xfrm>
                <a:prstGeom prst="rect">
                  <a:avLst/>
                </a:prstGeom>
                <a:blipFill>
                  <a:blip r:embed="rId4"/>
                  <a:stretch>
                    <a:fillRect b="-2083"/>
                  </a:stretch>
                </a:blipFill>
                <a:ln>
                  <a:solidFill>
                    <a:schemeClr val="bg1"/>
                  </a:solidFill>
                </a:ln>
              </p:spPr>
              <p:txBody>
                <a:bodyPr/>
                <a:lstStyle/>
                <a:p>
                  <a:r>
                    <a:rPr lang="en-US">
                      <a:noFill/>
                    </a:rPr>
                    <a:t> </a:t>
                  </a:r>
                </a:p>
              </p:txBody>
            </p:sp>
          </mc:Fallback>
        </mc:AlternateContent>
        <p:grpSp>
          <p:nvGrpSpPr>
            <p:cNvPr id="19" name="Group 18">
              <a:extLst>
                <a:ext uri="{FF2B5EF4-FFF2-40B4-BE49-F238E27FC236}">
                  <a16:creationId xmlns:a16="http://schemas.microsoft.com/office/drawing/2014/main" id="{FB14BF2B-E906-E74D-A222-9E84C2BB842C}"/>
                </a:ext>
              </a:extLst>
            </p:cNvPr>
            <p:cNvGrpSpPr/>
            <p:nvPr/>
          </p:nvGrpSpPr>
          <p:grpSpPr>
            <a:xfrm>
              <a:off x="2465909" y="2204160"/>
              <a:ext cx="7232463" cy="3621866"/>
              <a:chOff x="2570684" y="2261310"/>
              <a:chExt cx="7232463" cy="3621866"/>
            </a:xfrm>
          </p:grpSpPr>
          <p:grpSp>
            <p:nvGrpSpPr>
              <p:cNvPr id="8" name="Group 7">
                <a:extLst>
                  <a:ext uri="{FF2B5EF4-FFF2-40B4-BE49-F238E27FC236}">
                    <a16:creationId xmlns:a16="http://schemas.microsoft.com/office/drawing/2014/main" id="{8532DB9A-FA5A-7740-8D8E-0172761C0C15}"/>
                  </a:ext>
                </a:extLst>
              </p:cNvPr>
              <p:cNvGrpSpPr/>
              <p:nvPr/>
            </p:nvGrpSpPr>
            <p:grpSpPr>
              <a:xfrm>
                <a:off x="2570684" y="2261310"/>
                <a:ext cx="2709085" cy="3369450"/>
                <a:chOff x="1570559" y="2137485"/>
                <a:chExt cx="2709085" cy="3369450"/>
              </a:xfrm>
            </p:grpSpPr>
            <p:sp>
              <p:nvSpPr>
                <p:cNvPr id="5" name="Rectangle 4">
                  <a:extLst>
                    <a:ext uri="{FF2B5EF4-FFF2-40B4-BE49-F238E27FC236}">
                      <a16:creationId xmlns:a16="http://schemas.microsoft.com/office/drawing/2014/main" id="{D8DFC98F-084E-C84C-AB03-602B8E14D0EE}"/>
                    </a:ext>
                  </a:extLst>
                </p:cNvPr>
                <p:cNvSpPr/>
                <p:nvPr/>
              </p:nvSpPr>
              <p:spPr>
                <a:xfrm>
                  <a:off x="2308469" y="2137485"/>
                  <a:ext cx="1231272" cy="828661"/>
                </a:xfrm>
                <a:prstGeom prst="rect">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Problem A</a:t>
                  </a:r>
                </a:p>
              </p:txBody>
            </p:sp>
            <p:sp>
              <p:nvSpPr>
                <p:cNvPr id="23" name="Rectangle 22">
                  <a:extLst>
                    <a:ext uri="{FF2B5EF4-FFF2-40B4-BE49-F238E27FC236}">
                      <a16:creationId xmlns:a16="http://schemas.microsoft.com/office/drawing/2014/main" id="{00759A00-8F0E-C24E-8F18-1CF257E378E4}"/>
                    </a:ext>
                  </a:extLst>
                </p:cNvPr>
                <p:cNvSpPr/>
                <p:nvPr/>
              </p:nvSpPr>
              <p:spPr>
                <a:xfrm>
                  <a:off x="2308469" y="4678274"/>
                  <a:ext cx="1231272" cy="828661"/>
                </a:xfrm>
                <a:prstGeom prst="rect">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Solution A</a:t>
                  </a:r>
                </a:p>
              </p:txBody>
            </p:sp>
            <p:cxnSp>
              <p:nvCxnSpPr>
                <p:cNvPr id="7" name="Straight Arrow Connector 6">
                  <a:extLst>
                    <a:ext uri="{FF2B5EF4-FFF2-40B4-BE49-F238E27FC236}">
                      <a16:creationId xmlns:a16="http://schemas.microsoft.com/office/drawing/2014/main" id="{0541B410-22E3-6E47-AF73-3F2AF2867461}"/>
                    </a:ext>
                  </a:extLst>
                </p:cNvPr>
                <p:cNvCxnSpPr>
                  <a:stCxn id="5" idx="2"/>
                  <a:endCxn id="23" idx="0"/>
                </p:cNvCxnSpPr>
                <p:nvPr/>
              </p:nvCxnSpPr>
              <p:spPr>
                <a:xfrm>
                  <a:off x="2924105" y="2966146"/>
                  <a:ext cx="0" cy="17121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ontent Placeholder 4">
                      <a:extLst>
                        <a:ext uri="{FF2B5EF4-FFF2-40B4-BE49-F238E27FC236}">
                          <a16:creationId xmlns:a16="http://schemas.microsoft.com/office/drawing/2014/main" id="{92354662-A552-504E-A65B-97ED9934F527}"/>
                        </a:ext>
                      </a:extLst>
                    </p:cNvPr>
                    <p:cNvSpPr txBox="1">
                      <a:spLocks/>
                    </p:cNvSpPr>
                    <p:nvPr/>
                  </p:nvSpPr>
                  <p:spPr>
                    <a:xfrm>
                      <a:off x="1570559" y="3415408"/>
                      <a:ext cx="2709085" cy="701360"/>
                    </a:xfrm>
                    <a:prstGeom prst="rect">
                      <a:avLst/>
                    </a:prstGeom>
                    <a:solidFill>
                      <a:schemeClr val="accent1"/>
                    </a:solidFill>
                    <a:ln>
                      <a:solidFill>
                        <a:schemeClr val="bg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600" i="1" dirty="0">
                          <a:solidFill>
                            <a:schemeClr val="bg1"/>
                          </a:solidFill>
                        </a:rPr>
                        <a:t>Decider for A that runs in </a:t>
                      </a:r>
                      <a14:m>
                        <m:oMath xmlns:m="http://schemas.openxmlformats.org/officeDocument/2006/math">
                          <m:r>
                            <m:rPr>
                              <m:sty m:val="p"/>
                            </m:rPr>
                            <a:rPr lang="en-US" sz="1600" b="0" i="0" smtClean="0">
                              <a:solidFill>
                                <a:schemeClr val="bg1"/>
                              </a:solidFill>
                              <a:latin typeface="Cambria Math" panose="02040503050406030204" pitchFamily="18" charset="0"/>
                            </a:rPr>
                            <m:t>Θ</m:t>
                          </m:r>
                          <m:r>
                            <a:rPr lang="en-US" sz="1600" b="0" i="1" smtClean="0">
                              <a:solidFill>
                                <a:schemeClr val="bg1"/>
                              </a:solidFill>
                              <a:latin typeface="Cambria Math" panose="02040503050406030204" pitchFamily="18" charset="0"/>
                            </a:rPr>
                            <m:t>(</m:t>
                          </m:r>
                          <m:sSub>
                            <m:sSubPr>
                              <m:ctrlPr>
                                <a:rPr lang="en-US" sz="1600" b="0" i="1" smtClean="0">
                                  <a:solidFill>
                                    <a:schemeClr val="bg1"/>
                                  </a:solidFill>
                                  <a:latin typeface="Cambria Math" panose="02040503050406030204" pitchFamily="18" charset="0"/>
                                </a:rPr>
                              </m:ctrlPr>
                            </m:sSubPr>
                            <m:e>
                              <m:r>
                                <a:rPr lang="en-US" sz="1600" b="0" i="1" smtClean="0">
                                  <a:solidFill>
                                    <a:schemeClr val="bg1"/>
                                  </a:solidFill>
                                  <a:latin typeface="Cambria Math" panose="02040503050406030204" pitchFamily="18" charset="0"/>
                                </a:rPr>
                                <m:t>𝐴</m:t>
                              </m:r>
                            </m:e>
                            <m:sub>
                              <m:r>
                                <a:rPr lang="en-US" sz="1600" b="0" i="1" smtClean="0">
                                  <a:solidFill>
                                    <a:schemeClr val="bg1"/>
                                  </a:solidFill>
                                  <a:latin typeface="Cambria Math" panose="02040503050406030204" pitchFamily="18" charset="0"/>
                                </a:rPr>
                                <m:t>𝑛</m:t>
                              </m:r>
                            </m:sub>
                          </m:sSub>
                          <m:r>
                            <a:rPr lang="en-US" sz="1600" b="0" i="1" smtClean="0">
                              <a:solidFill>
                                <a:schemeClr val="bg1"/>
                              </a:solidFill>
                              <a:latin typeface="Cambria Math" panose="02040503050406030204" pitchFamily="18" charset="0"/>
                            </a:rPr>
                            <m:t>)</m:t>
                          </m:r>
                        </m:oMath>
                      </a14:m>
                      <a:r>
                        <a:rPr lang="en-US" sz="1600" i="1" dirty="0">
                          <a:solidFill>
                            <a:schemeClr val="bg1"/>
                          </a:solidFill>
                        </a:rPr>
                        <a:t> time.</a:t>
                      </a:r>
                    </a:p>
                  </p:txBody>
                </p:sp>
              </mc:Choice>
              <mc:Fallback xmlns="">
                <p:sp>
                  <p:nvSpPr>
                    <p:cNvPr id="26" name="Content Placeholder 4">
                      <a:extLst>
                        <a:ext uri="{FF2B5EF4-FFF2-40B4-BE49-F238E27FC236}">
                          <a16:creationId xmlns:a16="http://schemas.microsoft.com/office/drawing/2014/main" id="{92354662-A552-504E-A65B-97ED9934F527}"/>
                        </a:ext>
                      </a:extLst>
                    </p:cNvPr>
                    <p:cNvSpPr txBox="1">
                      <a:spLocks noRot="1" noChangeAspect="1" noMove="1" noResize="1" noEditPoints="1" noAdjustHandles="1" noChangeArrowheads="1" noChangeShapeType="1" noTextEdit="1"/>
                    </p:cNvSpPr>
                    <p:nvPr/>
                  </p:nvSpPr>
                  <p:spPr>
                    <a:xfrm>
                      <a:off x="1570559" y="3415408"/>
                      <a:ext cx="2709085" cy="701360"/>
                    </a:xfrm>
                    <a:prstGeom prst="rect">
                      <a:avLst/>
                    </a:prstGeom>
                    <a:blipFill>
                      <a:blip r:embed="rId5"/>
                      <a:stretch>
                        <a:fillRect b="-1754"/>
                      </a:stretch>
                    </a:blipFill>
                    <a:ln>
                      <a:solidFill>
                        <a:schemeClr val="bg1"/>
                      </a:solidFill>
                    </a:ln>
                  </p:spPr>
                  <p:txBody>
                    <a:bodyPr/>
                    <a:lstStyle/>
                    <a:p>
                      <a:r>
                        <a:rPr lang="en-US">
                          <a:noFill/>
                        </a:rPr>
                        <a:t> </a:t>
                      </a:r>
                    </a:p>
                  </p:txBody>
                </p:sp>
              </mc:Fallback>
            </mc:AlternateContent>
          </p:grpSp>
          <p:grpSp>
            <p:nvGrpSpPr>
              <p:cNvPr id="18" name="Group 17">
                <a:extLst>
                  <a:ext uri="{FF2B5EF4-FFF2-40B4-BE49-F238E27FC236}">
                    <a16:creationId xmlns:a16="http://schemas.microsoft.com/office/drawing/2014/main" id="{E1E27072-20C7-2F48-853D-48A98A768EFD}"/>
                  </a:ext>
                </a:extLst>
              </p:cNvPr>
              <p:cNvGrpSpPr/>
              <p:nvPr/>
            </p:nvGrpSpPr>
            <p:grpSpPr>
              <a:xfrm>
                <a:off x="4539866" y="2268614"/>
                <a:ext cx="5263281" cy="3614562"/>
                <a:chOff x="4539866" y="2268614"/>
                <a:chExt cx="5263281" cy="3614562"/>
              </a:xfrm>
            </p:grpSpPr>
            <p:sp>
              <p:nvSpPr>
                <p:cNvPr id="27" name="Rectangle 26">
                  <a:extLst>
                    <a:ext uri="{FF2B5EF4-FFF2-40B4-BE49-F238E27FC236}">
                      <a16:creationId xmlns:a16="http://schemas.microsoft.com/office/drawing/2014/main" id="{2DCE4FC7-F5FE-D349-A4B8-CF18D9154094}"/>
                    </a:ext>
                  </a:extLst>
                </p:cNvPr>
                <p:cNvSpPr/>
                <p:nvPr/>
              </p:nvSpPr>
              <p:spPr>
                <a:xfrm>
                  <a:off x="7832969" y="2268614"/>
                  <a:ext cx="1231272" cy="828661"/>
                </a:xfrm>
                <a:prstGeom prst="rect">
                  <a:avLst/>
                </a:prstGeom>
                <a:solidFill>
                  <a:schemeClr val="accent3"/>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95000"/>
                        </a:schemeClr>
                      </a:solidFill>
                    </a:rPr>
                    <a:t>Problem B</a:t>
                  </a:r>
                </a:p>
              </p:txBody>
            </p:sp>
            <p:sp>
              <p:nvSpPr>
                <p:cNvPr id="29" name="Rectangle 28">
                  <a:extLst>
                    <a:ext uri="{FF2B5EF4-FFF2-40B4-BE49-F238E27FC236}">
                      <a16:creationId xmlns:a16="http://schemas.microsoft.com/office/drawing/2014/main" id="{E1B84751-7643-F048-9D4A-C68D0FE326F6}"/>
                    </a:ext>
                  </a:extLst>
                </p:cNvPr>
                <p:cNvSpPr/>
                <p:nvPr/>
              </p:nvSpPr>
              <p:spPr>
                <a:xfrm>
                  <a:off x="7832969" y="4802098"/>
                  <a:ext cx="1231272" cy="828661"/>
                </a:xfrm>
                <a:prstGeom prst="rect">
                  <a:avLst/>
                </a:prstGeom>
                <a:solidFill>
                  <a:schemeClr val="accent3"/>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95000"/>
                        </a:schemeClr>
                      </a:solidFill>
                    </a:rPr>
                    <a:t>Solution B</a:t>
                  </a:r>
                </a:p>
              </p:txBody>
            </p:sp>
            <p:cxnSp>
              <p:nvCxnSpPr>
                <p:cNvPr id="33" name="Straight Arrow Connector 32">
                  <a:extLst>
                    <a:ext uri="{FF2B5EF4-FFF2-40B4-BE49-F238E27FC236}">
                      <a16:creationId xmlns:a16="http://schemas.microsoft.com/office/drawing/2014/main" id="{272F9A6D-80DF-4945-93A8-F9BBAA58E063}"/>
                    </a:ext>
                  </a:extLst>
                </p:cNvPr>
                <p:cNvCxnSpPr>
                  <a:cxnSpLocks/>
                  <a:stCxn id="27" idx="2"/>
                  <a:endCxn id="29" idx="0"/>
                </p:cNvCxnSpPr>
                <p:nvPr/>
              </p:nvCxnSpPr>
              <p:spPr>
                <a:xfrm>
                  <a:off x="8448605" y="3097275"/>
                  <a:ext cx="0" cy="1704823"/>
                </a:xfrm>
                <a:prstGeom prst="straightConnector1">
                  <a:avLst/>
                </a:prstGeom>
                <a:ln>
                  <a:solidFill>
                    <a:schemeClr val="accent3"/>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6" name="Content Placeholder 4">
                      <a:extLst>
                        <a:ext uri="{FF2B5EF4-FFF2-40B4-BE49-F238E27FC236}">
                          <a16:creationId xmlns:a16="http://schemas.microsoft.com/office/drawing/2014/main" id="{2B07ACEF-738A-EC4C-8004-C071F2AA2F5B}"/>
                        </a:ext>
                      </a:extLst>
                    </p:cNvPr>
                    <p:cNvSpPr txBox="1">
                      <a:spLocks/>
                    </p:cNvSpPr>
                    <p:nvPr/>
                  </p:nvSpPr>
                  <p:spPr>
                    <a:xfrm>
                      <a:off x="7094062" y="3516116"/>
                      <a:ext cx="2709085" cy="701360"/>
                    </a:xfrm>
                    <a:prstGeom prst="rect">
                      <a:avLst/>
                    </a:prstGeom>
                    <a:solidFill>
                      <a:schemeClr val="accent3"/>
                    </a:solidFill>
                    <a:ln>
                      <a:solidFill>
                        <a:schemeClr val="bg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600" i="1" dirty="0">
                          <a:solidFill>
                            <a:schemeClr val="tx1">
                              <a:lumMod val="95000"/>
                            </a:schemeClr>
                          </a:solidFill>
                        </a:rPr>
                        <a:t>Decider for B that runs in </a:t>
                      </a:r>
                      <a14:m>
                        <m:oMath xmlns:m="http://schemas.openxmlformats.org/officeDocument/2006/math">
                          <m:r>
                            <m:rPr>
                              <m:sty m:val="p"/>
                            </m:rPr>
                            <a:rPr lang="en-US" sz="1600" b="0" i="0" smtClean="0">
                              <a:solidFill>
                                <a:schemeClr val="tx1">
                                  <a:lumMod val="95000"/>
                                </a:schemeClr>
                              </a:solidFill>
                              <a:latin typeface="Cambria Math" panose="02040503050406030204" pitchFamily="18" charset="0"/>
                            </a:rPr>
                            <m:t>Θ</m:t>
                          </m:r>
                          <m:r>
                            <a:rPr lang="en-US" sz="1600" b="0" i="1" smtClean="0">
                              <a:solidFill>
                                <a:schemeClr val="tx1">
                                  <a:lumMod val="95000"/>
                                </a:schemeClr>
                              </a:solidFill>
                              <a:latin typeface="Cambria Math" panose="02040503050406030204" pitchFamily="18" charset="0"/>
                            </a:rPr>
                            <m:t>(</m:t>
                          </m:r>
                          <m:sSub>
                            <m:sSubPr>
                              <m:ctrlPr>
                                <a:rPr lang="en-US" sz="1600" b="0" i="1" smtClean="0">
                                  <a:solidFill>
                                    <a:schemeClr val="tx1">
                                      <a:lumMod val="95000"/>
                                    </a:schemeClr>
                                  </a:solidFill>
                                  <a:latin typeface="Cambria Math" panose="02040503050406030204" pitchFamily="18" charset="0"/>
                                </a:rPr>
                              </m:ctrlPr>
                            </m:sSubPr>
                            <m:e>
                              <m:r>
                                <a:rPr lang="en-US" sz="1600" b="0" i="1" smtClean="0">
                                  <a:solidFill>
                                    <a:schemeClr val="tx1">
                                      <a:lumMod val="95000"/>
                                    </a:schemeClr>
                                  </a:solidFill>
                                  <a:latin typeface="Cambria Math" panose="02040503050406030204" pitchFamily="18" charset="0"/>
                                </a:rPr>
                                <m:t>𝐵</m:t>
                              </m:r>
                            </m:e>
                            <m:sub>
                              <m:r>
                                <a:rPr lang="en-US" sz="1600" b="0" i="1" smtClean="0">
                                  <a:solidFill>
                                    <a:schemeClr val="tx1">
                                      <a:lumMod val="95000"/>
                                    </a:schemeClr>
                                  </a:solidFill>
                                  <a:latin typeface="Cambria Math" panose="02040503050406030204" pitchFamily="18" charset="0"/>
                                </a:rPr>
                                <m:t>𝑛</m:t>
                              </m:r>
                            </m:sub>
                          </m:sSub>
                          <m:r>
                            <a:rPr lang="en-US" sz="1600" b="0" i="1" smtClean="0">
                              <a:solidFill>
                                <a:schemeClr val="tx1">
                                  <a:lumMod val="95000"/>
                                </a:schemeClr>
                              </a:solidFill>
                              <a:latin typeface="Cambria Math" panose="02040503050406030204" pitchFamily="18" charset="0"/>
                            </a:rPr>
                            <m:t>)</m:t>
                          </m:r>
                        </m:oMath>
                      </a14:m>
                      <a:r>
                        <a:rPr lang="en-US" sz="1600" i="1" dirty="0">
                          <a:solidFill>
                            <a:schemeClr val="tx1">
                              <a:lumMod val="95000"/>
                            </a:schemeClr>
                          </a:solidFill>
                        </a:rPr>
                        <a:t> time.</a:t>
                      </a:r>
                    </a:p>
                  </p:txBody>
                </p:sp>
              </mc:Choice>
              <mc:Fallback xmlns="">
                <p:sp>
                  <p:nvSpPr>
                    <p:cNvPr id="36" name="Content Placeholder 4">
                      <a:extLst>
                        <a:ext uri="{FF2B5EF4-FFF2-40B4-BE49-F238E27FC236}">
                          <a16:creationId xmlns:a16="http://schemas.microsoft.com/office/drawing/2014/main" id="{2B07ACEF-738A-EC4C-8004-C071F2AA2F5B}"/>
                        </a:ext>
                      </a:extLst>
                    </p:cNvPr>
                    <p:cNvSpPr txBox="1">
                      <a:spLocks noRot="1" noChangeAspect="1" noMove="1" noResize="1" noEditPoints="1" noAdjustHandles="1" noChangeArrowheads="1" noChangeShapeType="1" noTextEdit="1"/>
                    </p:cNvSpPr>
                    <p:nvPr/>
                  </p:nvSpPr>
                  <p:spPr>
                    <a:xfrm>
                      <a:off x="7094062" y="3516116"/>
                      <a:ext cx="2709085" cy="701360"/>
                    </a:xfrm>
                    <a:prstGeom prst="rect">
                      <a:avLst/>
                    </a:prstGeom>
                    <a:blipFill>
                      <a:blip r:embed="rId6"/>
                      <a:stretch>
                        <a:fillRect b="-1754"/>
                      </a:stretch>
                    </a:blipFill>
                    <a:ln>
                      <a:solidFill>
                        <a:schemeClr val="bg1"/>
                      </a:solidFill>
                    </a:ln>
                  </p:spPr>
                  <p:txBody>
                    <a:bodyPr/>
                    <a:lstStyle/>
                    <a:p>
                      <a:r>
                        <a:rPr lang="en-US">
                          <a:noFill/>
                        </a:rPr>
                        <a:t> </a:t>
                      </a:r>
                    </a:p>
                  </p:txBody>
                </p:sp>
              </mc:Fallback>
            </mc:AlternateContent>
            <p:cxnSp>
              <p:nvCxnSpPr>
                <p:cNvPr id="38" name="Straight Arrow Connector 37">
                  <a:extLst>
                    <a:ext uri="{FF2B5EF4-FFF2-40B4-BE49-F238E27FC236}">
                      <a16:creationId xmlns:a16="http://schemas.microsoft.com/office/drawing/2014/main" id="{991CB472-E51D-2E46-BEAF-8B2CD194CFD8}"/>
                    </a:ext>
                  </a:extLst>
                </p:cNvPr>
                <p:cNvCxnSpPr>
                  <a:cxnSpLocks/>
                  <a:stCxn id="5" idx="3"/>
                  <a:endCxn id="27" idx="1"/>
                </p:cNvCxnSpPr>
                <p:nvPr/>
              </p:nvCxnSpPr>
              <p:spPr>
                <a:xfrm>
                  <a:off x="4539866" y="2675641"/>
                  <a:ext cx="3293103" cy="7304"/>
                </a:xfrm>
                <a:prstGeom prst="straightConnector1">
                  <a:avLst/>
                </a:prstGeom>
                <a:ln>
                  <a:solidFill>
                    <a:schemeClr val="accent3"/>
                  </a:solidFill>
                  <a:tailEnd type="triangle"/>
                </a:ln>
              </p:spPr>
              <p:style>
                <a:lnRef idx="1">
                  <a:schemeClr val="accent1"/>
                </a:lnRef>
                <a:fillRef idx="0">
                  <a:schemeClr val="accent1"/>
                </a:fillRef>
                <a:effectRef idx="0">
                  <a:schemeClr val="accent1"/>
                </a:effectRef>
                <a:fontRef idx="minor">
                  <a:schemeClr val="tx1"/>
                </a:fontRef>
              </p:style>
            </p:cxnSp>
            <p:cxnSp>
              <p:nvCxnSpPr>
                <p:cNvPr id="40" name="Straight Arrow Connector 39">
                  <a:extLst>
                    <a:ext uri="{FF2B5EF4-FFF2-40B4-BE49-F238E27FC236}">
                      <a16:creationId xmlns:a16="http://schemas.microsoft.com/office/drawing/2014/main" id="{B2DC9021-3558-8C48-A04B-DAB7AE5C2339}"/>
                    </a:ext>
                  </a:extLst>
                </p:cNvPr>
                <p:cNvCxnSpPr>
                  <a:cxnSpLocks/>
                  <a:stCxn id="29" idx="1"/>
                  <a:endCxn id="23" idx="3"/>
                </p:cNvCxnSpPr>
                <p:nvPr/>
              </p:nvCxnSpPr>
              <p:spPr>
                <a:xfrm flipH="1">
                  <a:off x="4539866" y="5216429"/>
                  <a:ext cx="3293103" cy="1"/>
                </a:xfrm>
                <a:prstGeom prst="straightConnector1">
                  <a:avLst/>
                </a:prstGeom>
                <a:ln>
                  <a:solidFill>
                    <a:schemeClr val="accent3"/>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1" name="Content Placeholder 4">
                      <a:extLst>
                        <a:ext uri="{FF2B5EF4-FFF2-40B4-BE49-F238E27FC236}">
                          <a16:creationId xmlns:a16="http://schemas.microsoft.com/office/drawing/2014/main" id="{CBE927D4-069A-924A-879A-BB4711322E77}"/>
                        </a:ext>
                      </a:extLst>
                    </p:cNvPr>
                    <p:cNvSpPr txBox="1">
                      <a:spLocks/>
                    </p:cNvSpPr>
                    <p:nvPr/>
                  </p:nvSpPr>
                  <p:spPr>
                    <a:xfrm>
                      <a:off x="5067616" y="5302141"/>
                      <a:ext cx="2316638" cy="581035"/>
                    </a:xfrm>
                    <a:prstGeom prst="rect">
                      <a:avLst/>
                    </a:prstGeom>
                    <a:solidFill>
                      <a:schemeClr val="accent3"/>
                    </a:solidFill>
                    <a:ln>
                      <a:solidFill>
                        <a:schemeClr val="bg1"/>
                      </a:solidFill>
                    </a:ln>
                  </p:spPr>
                  <p:txBody>
                    <a:bodyPr vert="horz" lIns="91440" tIns="45720" rIns="91440" bIns="45720" rtlCol="0">
                      <a:normAutofit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400" i="1" dirty="0">
                          <a:solidFill>
                            <a:schemeClr val="tx1">
                              <a:lumMod val="95000"/>
                            </a:schemeClr>
                          </a:solidFill>
                        </a:rPr>
                        <a:t>Map solutions of B to solutions of A in </a:t>
                      </a:r>
                      <a14:m>
                        <m:oMath xmlns:m="http://schemas.openxmlformats.org/officeDocument/2006/math">
                          <m:r>
                            <m:rPr>
                              <m:sty m:val="p"/>
                            </m:rPr>
                            <a:rPr lang="en-US" sz="1400" b="0" i="0" smtClean="0">
                              <a:solidFill>
                                <a:schemeClr val="tx1">
                                  <a:lumMod val="95000"/>
                                </a:schemeClr>
                              </a:solidFill>
                              <a:latin typeface="Cambria Math" panose="02040503050406030204" pitchFamily="18" charset="0"/>
                            </a:rPr>
                            <m:t>Θ</m:t>
                          </m:r>
                          <m:r>
                            <a:rPr lang="en-US" sz="1400" b="0" i="1" smtClean="0">
                              <a:solidFill>
                                <a:schemeClr val="tx1">
                                  <a:lumMod val="95000"/>
                                </a:schemeClr>
                              </a:solidFill>
                              <a:latin typeface="Cambria Math" panose="02040503050406030204" pitchFamily="18" charset="0"/>
                            </a:rPr>
                            <m:t>(</m:t>
                          </m:r>
                          <m:sSub>
                            <m:sSubPr>
                              <m:ctrlPr>
                                <a:rPr lang="en-US" sz="1400" b="0" i="1" smtClean="0">
                                  <a:solidFill>
                                    <a:schemeClr val="tx1">
                                      <a:lumMod val="95000"/>
                                    </a:schemeClr>
                                  </a:solidFill>
                                  <a:latin typeface="Cambria Math" panose="02040503050406030204" pitchFamily="18" charset="0"/>
                                </a:rPr>
                              </m:ctrlPr>
                            </m:sSubPr>
                            <m:e>
                              <m:r>
                                <a:rPr lang="en-US" sz="1400" b="0" i="1" smtClean="0">
                                  <a:solidFill>
                                    <a:schemeClr val="tx1">
                                      <a:lumMod val="95000"/>
                                    </a:schemeClr>
                                  </a:solidFill>
                                  <a:latin typeface="Cambria Math" panose="02040503050406030204" pitchFamily="18" charset="0"/>
                                </a:rPr>
                                <m:t>𝑅𝑆</m:t>
                              </m:r>
                            </m:e>
                            <m:sub>
                              <m:r>
                                <a:rPr lang="en-US" sz="1400" b="0" i="1" smtClean="0">
                                  <a:solidFill>
                                    <a:schemeClr val="tx1">
                                      <a:lumMod val="95000"/>
                                    </a:schemeClr>
                                  </a:solidFill>
                                  <a:latin typeface="Cambria Math" panose="02040503050406030204" pitchFamily="18" charset="0"/>
                                </a:rPr>
                                <m:t>𝐵𝐴</m:t>
                              </m:r>
                            </m:sub>
                          </m:sSub>
                          <m:r>
                            <a:rPr lang="en-US" sz="1400" b="0" i="1" smtClean="0">
                              <a:solidFill>
                                <a:schemeClr val="tx1">
                                  <a:lumMod val="95000"/>
                                </a:schemeClr>
                              </a:solidFill>
                              <a:latin typeface="Cambria Math" panose="02040503050406030204" pitchFamily="18" charset="0"/>
                            </a:rPr>
                            <m:t>)</m:t>
                          </m:r>
                        </m:oMath>
                      </a14:m>
                      <a:r>
                        <a:rPr lang="en-US" sz="1400" i="1" dirty="0">
                          <a:solidFill>
                            <a:schemeClr val="tx1">
                              <a:lumMod val="95000"/>
                            </a:schemeClr>
                          </a:solidFill>
                        </a:rPr>
                        <a:t> time.</a:t>
                      </a:r>
                    </a:p>
                  </p:txBody>
                </p:sp>
              </mc:Choice>
              <mc:Fallback xmlns="">
                <p:sp>
                  <p:nvSpPr>
                    <p:cNvPr id="41" name="Content Placeholder 4">
                      <a:extLst>
                        <a:ext uri="{FF2B5EF4-FFF2-40B4-BE49-F238E27FC236}">
                          <a16:creationId xmlns:a16="http://schemas.microsoft.com/office/drawing/2014/main" id="{CBE927D4-069A-924A-879A-BB4711322E77}"/>
                        </a:ext>
                      </a:extLst>
                    </p:cNvPr>
                    <p:cNvSpPr txBox="1">
                      <a:spLocks noRot="1" noChangeAspect="1" noMove="1" noResize="1" noEditPoints="1" noAdjustHandles="1" noChangeArrowheads="1" noChangeShapeType="1" noTextEdit="1"/>
                    </p:cNvSpPr>
                    <p:nvPr/>
                  </p:nvSpPr>
                  <p:spPr>
                    <a:xfrm>
                      <a:off x="5067616" y="5302141"/>
                      <a:ext cx="2316638" cy="581035"/>
                    </a:xfrm>
                    <a:prstGeom prst="rect">
                      <a:avLst/>
                    </a:prstGeom>
                    <a:blipFill>
                      <a:blip r:embed="rId7"/>
                      <a:stretch>
                        <a:fillRect r="-1630" b="-4255"/>
                      </a:stretch>
                    </a:blipFill>
                    <a:ln>
                      <a:solidFill>
                        <a:schemeClr val="bg1"/>
                      </a:solidFill>
                    </a:ln>
                  </p:spPr>
                  <p:txBody>
                    <a:bodyPr/>
                    <a:lstStyle/>
                    <a:p>
                      <a:r>
                        <a:rPr lang="en-US">
                          <a:noFill/>
                        </a:rPr>
                        <a:t> </a:t>
                      </a:r>
                    </a:p>
                  </p:txBody>
                </p:sp>
              </mc:Fallback>
            </mc:AlternateContent>
          </p:grpSp>
        </p:grpSp>
      </p:grp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F0BE6109-09C1-2546-BBEB-F6EEB25299A7}"/>
                  </a:ext>
                </a:extLst>
              </p:cNvPr>
              <p:cNvSpPr txBox="1"/>
              <p:nvPr/>
            </p:nvSpPr>
            <p:spPr>
              <a:xfrm>
                <a:off x="6134100" y="6076950"/>
                <a:ext cx="5488778" cy="646331"/>
              </a:xfrm>
              <a:prstGeom prst="rect">
                <a:avLst/>
              </a:prstGeom>
              <a:noFill/>
            </p:spPr>
            <p:txBody>
              <a:bodyPr wrap="square" rtlCol="0">
                <a:spAutoFit/>
              </a:bodyPr>
              <a:lstStyle/>
              <a:p>
                <a:pPr algn="ctr"/>
                <a:r>
                  <a:rPr lang="en-US" i="1" dirty="0"/>
                  <a:t>Another way to solve A is to use the purple path. Takes:</a:t>
                </a:r>
              </a:p>
              <a:p>
                <a:pPr algn="ctr"/>
                <a14:m>
                  <m:oMathPara xmlns:m="http://schemas.openxmlformats.org/officeDocument/2006/math">
                    <m:oMathParaPr>
                      <m:jc m:val="centerGroup"/>
                    </m:oMathParaPr>
                    <m:oMath xmlns:m="http://schemas.openxmlformats.org/officeDocument/2006/math">
                      <m:r>
                        <m:rPr>
                          <m:sty m:val="p"/>
                        </m:rPr>
                        <a:rPr lang="en-US" b="0" i="0" smtClean="0">
                          <a:latin typeface="Cambria Math" panose="02040503050406030204" pitchFamily="18" charset="0"/>
                        </a:rPr>
                        <m:t>Θ</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𝐴𝐵</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𝐵</m:t>
                          </m:r>
                        </m:e>
                        <m:sub>
                          <m:r>
                            <a:rPr lang="en-US" b="0" i="1" smtClean="0">
                              <a:latin typeface="Cambria Math" panose="02040503050406030204" pitchFamily="18" charset="0"/>
                            </a:rPr>
                            <m:t>𝑛</m:t>
                          </m:r>
                        </m:sub>
                      </m:sSub>
                      <m:r>
                        <a:rPr lang="en-US" b="0" i="1" smtClean="0">
                          <a:latin typeface="Cambria Math" panose="02040503050406030204" pitchFamily="18" charset="0"/>
                        </a:rPr>
                        <m:t>+</m:t>
                      </m:r>
                      <m:r>
                        <a:rPr lang="en-US" b="0" i="1" smtClean="0">
                          <a:latin typeface="Cambria Math" panose="02040503050406030204" pitchFamily="18" charset="0"/>
                        </a:rPr>
                        <m:t>𝑅</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𝑆</m:t>
                          </m:r>
                        </m:e>
                        <m:sub>
                          <m:r>
                            <a:rPr lang="en-US" b="0" i="1" smtClean="0">
                              <a:latin typeface="Cambria Math" panose="02040503050406030204" pitchFamily="18" charset="0"/>
                            </a:rPr>
                            <m:t>𝐵𝐴</m:t>
                          </m:r>
                        </m:sub>
                      </m:sSub>
                      <m:r>
                        <a:rPr lang="en-US" b="0" i="1" smtClean="0">
                          <a:latin typeface="Cambria Math" panose="02040503050406030204" pitchFamily="18" charset="0"/>
                        </a:rPr>
                        <m:t>)</m:t>
                      </m:r>
                    </m:oMath>
                  </m:oMathPara>
                </a14:m>
                <a:endParaRPr lang="en-US" i="1" dirty="0"/>
              </a:p>
            </p:txBody>
          </p:sp>
        </mc:Choice>
        <mc:Fallback xmlns="">
          <p:sp>
            <p:nvSpPr>
              <p:cNvPr id="45" name="TextBox 44">
                <a:extLst>
                  <a:ext uri="{FF2B5EF4-FFF2-40B4-BE49-F238E27FC236}">
                    <a16:creationId xmlns:a16="http://schemas.microsoft.com/office/drawing/2014/main" id="{F0BE6109-09C1-2546-BBEB-F6EEB25299A7}"/>
                  </a:ext>
                </a:extLst>
              </p:cNvPr>
              <p:cNvSpPr txBox="1">
                <a:spLocks noRot="1" noChangeAspect="1" noMove="1" noResize="1" noEditPoints="1" noAdjustHandles="1" noChangeArrowheads="1" noChangeShapeType="1" noTextEdit="1"/>
              </p:cNvSpPr>
              <p:nvPr/>
            </p:nvSpPr>
            <p:spPr>
              <a:xfrm>
                <a:off x="6134100" y="6076950"/>
                <a:ext cx="5488778" cy="646331"/>
              </a:xfrm>
              <a:prstGeom prst="rect">
                <a:avLst/>
              </a:prstGeom>
              <a:blipFill>
                <a:blip r:embed="rId8"/>
                <a:stretch>
                  <a:fillRect t="-3922" b="-7843"/>
                </a:stretch>
              </a:blipFill>
            </p:spPr>
            <p:txBody>
              <a:bodyPr/>
              <a:lstStyle/>
              <a:p>
                <a:r>
                  <a:rPr lang="en-US">
                    <a:noFill/>
                  </a:rPr>
                  <a:t> </a:t>
                </a:r>
              </a:p>
            </p:txBody>
          </p:sp>
        </mc:Fallback>
      </mc:AlternateContent>
      <p:cxnSp>
        <p:nvCxnSpPr>
          <p:cNvPr id="46" name="Straight Connector 45">
            <a:extLst>
              <a:ext uri="{FF2B5EF4-FFF2-40B4-BE49-F238E27FC236}">
                <a16:creationId xmlns:a16="http://schemas.microsoft.com/office/drawing/2014/main" id="{AEA54CD4-6816-7641-9B35-2AD11E02D4C5}"/>
              </a:ext>
            </a:extLst>
          </p:cNvPr>
          <p:cNvCxnSpPr>
            <a:cxnSpLocks/>
          </p:cNvCxnSpPr>
          <p:nvPr/>
        </p:nvCxnSpPr>
        <p:spPr>
          <a:xfrm>
            <a:off x="7813411" y="5495510"/>
            <a:ext cx="349514" cy="519846"/>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3934101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a:xfrm>
            <a:off x="1142262" y="427593"/>
            <a:ext cx="9932137" cy="668415"/>
          </a:xfrm>
        </p:spPr>
        <p:txBody>
          <a:bodyPr>
            <a:normAutofit/>
          </a:bodyPr>
          <a:lstStyle/>
          <a:p>
            <a:pPr algn="ctr"/>
            <a:r>
              <a:rPr lang="en-US" dirty="0"/>
              <a:t>Reductions You’ve Probably seen before!</a:t>
            </a:r>
          </a:p>
        </p:txBody>
      </p:sp>
      <p:sp>
        <p:nvSpPr>
          <p:cNvPr id="25" name="Content Placeholder 4">
            <a:extLst>
              <a:ext uri="{FF2B5EF4-FFF2-40B4-BE49-F238E27FC236}">
                <a16:creationId xmlns:a16="http://schemas.microsoft.com/office/drawing/2014/main" id="{F9CC5AB5-3F62-ED42-9178-2EE8C74294BF}"/>
              </a:ext>
            </a:extLst>
          </p:cNvPr>
          <p:cNvSpPr txBox="1">
            <a:spLocks/>
          </p:cNvSpPr>
          <p:nvPr/>
        </p:nvSpPr>
        <p:spPr>
          <a:xfrm>
            <a:off x="1133638" y="1688033"/>
            <a:ext cx="3539962" cy="453076"/>
          </a:xfrm>
          <a:prstGeom prst="rect">
            <a:avLst/>
          </a:prstGeom>
          <a:ln>
            <a:no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i="1" dirty="0"/>
              <a:t>Reduction:</a:t>
            </a:r>
          </a:p>
        </p:txBody>
      </p:sp>
      <mc:AlternateContent xmlns:mc="http://schemas.openxmlformats.org/markup-compatibility/2006" xmlns:a14="http://schemas.microsoft.com/office/drawing/2010/main">
        <mc:Choice Requires="a14">
          <p:sp>
            <p:nvSpPr>
              <p:cNvPr id="21" name="Content Placeholder 4">
                <a:extLst>
                  <a:ext uri="{FF2B5EF4-FFF2-40B4-BE49-F238E27FC236}">
                    <a16:creationId xmlns:a16="http://schemas.microsoft.com/office/drawing/2014/main" id="{F52FCBCB-7180-2C4C-9A9D-CE6A6A75DE49}"/>
                  </a:ext>
                </a:extLst>
              </p:cNvPr>
              <p:cNvSpPr txBox="1">
                <a:spLocks/>
              </p:cNvSpPr>
              <p:nvPr/>
            </p:nvSpPr>
            <p:spPr>
              <a:xfrm>
                <a:off x="1133639" y="2071629"/>
                <a:ext cx="3539962" cy="533023"/>
              </a:xfrm>
              <a:prstGeom prst="rect">
                <a:avLst/>
              </a:prstGeom>
              <a:solidFill>
                <a:schemeClr val="tx1">
                  <a:lumMod val="95000"/>
                </a:schemeClr>
              </a:solidFill>
              <a:ln>
                <a:solidFill>
                  <a:schemeClr val="bg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2000" i="1" dirty="0">
                    <a:solidFill>
                      <a:schemeClr val="bg1"/>
                    </a:solidFill>
                  </a:rPr>
                  <a:t>Max-Flow </a:t>
                </a:r>
                <a14:m>
                  <m:oMath xmlns:m="http://schemas.openxmlformats.org/officeDocument/2006/math">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m:t>
                        </m:r>
                      </m:e>
                      <m:sub>
                        <m:r>
                          <m:rPr>
                            <m:sty m:val="p"/>
                          </m:rPr>
                          <a:rPr lang="en-US" sz="2000" b="0" i="0" smtClean="0">
                            <a:solidFill>
                              <a:schemeClr val="bg1"/>
                            </a:solidFill>
                            <a:latin typeface="Cambria Math" panose="02040503050406030204" pitchFamily="18" charset="0"/>
                          </a:rPr>
                          <m:t>Θ</m:t>
                        </m:r>
                        <m:r>
                          <a:rPr lang="en-US" sz="2000" b="0" i="1" smtClean="0">
                            <a:solidFill>
                              <a:schemeClr val="bg1"/>
                            </a:solidFill>
                            <a:latin typeface="Cambria Math" panose="02040503050406030204" pitchFamily="18" charset="0"/>
                          </a:rPr>
                          <m:t>(1)</m:t>
                        </m:r>
                      </m:sub>
                    </m:sSub>
                  </m:oMath>
                </a14:m>
                <a:r>
                  <a:rPr lang="en-US" sz="2000" i="1" dirty="0">
                    <a:solidFill>
                      <a:schemeClr val="bg1"/>
                    </a:solidFill>
                  </a:rPr>
                  <a:t> Min-Cut</a:t>
                </a:r>
              </a:p>
            </p:txBody>
          </p:sp>
        </mc:Choice>
        <mc:Fallback xmlns="">
          <p:sp>
            <p:nvSpPr>
              <p:cNvPr id="21" name="Content Placeholder 4">
                <a:extLst>
                  <a:ext uri="{FF2B5EF4-FFF2-40B4-BE49-F238E27FC236}">
                    <a16:creationId xmlns:a16="http://schemas.microsoft.com/office/drawing/2014/main" id="{F52FCBCB-7180-2C4C-9A9D-CE6A6A75DE49}"/>
                  </a:ext>
                </a:extLst>
              </p:cNvPr>
              <p:cNvSpPr txBox="1">
                <a:spLocks noRot="1" noChangeAspect="1" noMove="1" noResize="1" noEditPoints="1" noAdjustHandles="1" noChangeArrowheads="1" noChangeShapeType="1" noTextEdit="1"/>
              </p:cNvSpPr>
              <p:nvPr/>
            </p:nvSpPr>
            <p:spPr>
              <a:xfrm>
                <a:off x="1133639" y="2071629"/>
                <a:ext cx="3539962" cy="533023"/>
              </a:xfrm>
              <a:prstGeom prst="rect">
                <a:avLst/>
              </a:prstGeom>
              <a:blipFill>
                <a:blip r:embed="rId2"/>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Content Placeholder 4">
                <a:extLst>
                  <a:ext uri="{FF2B5EF4-FFF2-40B4-BE49-F238E27FC236}">
                    <a16:creationId xmlns:a16="http://schemas.microsoft.com/office/drawing/2014/main" id="{28D742D3-BD4A-E047-9635-B6CFFDF51511}"/>
                  </a:ext>
                </a:extLst>
              </p:cNvPr>
              <p:cNvSpPr txBox="1">
                <a:spLocks/>
              </p:cNvSpPr>
              <p:nvPr/>
            </p:nvSpPr>
            <p:spPr>
              <a:xfrm>
                <a:off x="1142262" y="2833629"/>
                <a:ext cx="3539962" cy="533023"/>
              </a:xfrm>
              <a:prstGeom prst="rect">
                <a:avLst/>
              </a:prstGeom>
              <a:solidFill>
                <a:schemeClr val="tx1">
                  <a:lumMod val="95000"/>
                </a:schemeClr>
              </a:solidFill>
              <a:ln>
                <a:solidFill>
                  <a:schemeClr val="bg1"/>
                </a:solidFill>
              </a:ln>
            </p:spPr>
            <p:txBody>
              <a:bodyPr vert="horz" lIns="91440" tIns="45720" rIns="91440" bIns="45720" rtlCol="0">
                <a:normAutofit fontScale="775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2000" i="1" dirty="0">
                    <a:solidFill>
                      <a:schemeClr val="bg1"/>
                    </a:solidFill>
                  </a:rPr>
                  <a:t>Bi-Partite Matching </a:t>
                </a:r>
                <a14:m>
                  <m:oMath xmlns:m="http://schemas.openxmlformats.org/officeDocument/2006/math">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m:t>
                        </m:r>
                      </m:e>
                      <m:sub>
                        <m:r>
                          <m:rPr>
                            <m:sty m:val="p"/>
                          </m:rPr>
                          <a:rPr lang="en-US" sz="2000" b="0" i="0" smtClean="0">
                            <a:solidFill>
                              <a:schemeClr val="bg1"/>
                            </a:solidFill>
                            <a:latin typeface="Cambria Math" panose="02040503050406030204" pitchFamily="18" charset="0"/>
                          </a:rPr>
                          <m:t>Θ</m:t>
                        </m:r>
                        <m:r>
                          <a:rPr lang="en-US" sz="2000" b="0" i="0" smtClean="0">
                            <a:solidFill>
                              <a:schemeClr val="bg1"/>
                            </a:solidFill>
                            <a:latin typeface="Cambria Math" panose="02040503050406030204" pitchFamily="18" charset="0"/>
                          </a:rPr>
                          <m:t>(</m:t>
                        </m:r>
                        <m:d>
                          <m:dPr>
                            <m:begChr m:val="|"/>
                            <m:endChr m:val="|"/>
                            <m:ctrlPr>
                              <a:rPr lang="en-US" sz="2000" b="0" i="1" smtClean="0">
                                <a:solidFill>
                                  <a:schemeClr val="bg1"/>
                                </a:solidFill>
                                <a:latin typeface="Cambria Math" panose="02040503050406030204" pitchFamily="18" charset="0"/>
                              </a:rPr>
                            </m:ctrlPr>
                          </m:dPr>
                          <m:e>
                            <m:r>
                              <m:rPr>
                                <m:sty m:val="p"/>
                              </m:rPr>
                              <a:rPr lang="en-US" sz="2000" b="0" i="0" smtClean="0">
                                <a:solidFill>
                                  <a:schemeClr val="bg1"/>
                                </a:solidFill>
                                <a:latin typeface="Cambria Math" panose="02040503050406030204" pitchFamily="18" charset="0"/>
                              </a:rPr>
                              <m:t>V</m:t>
                            </m:r>
                          </m:e>
                        </m:d>
                        <m:r>
                          <a:rPr lang="en-US" sz="2000" b="0" i="0" smtClean="0">
                            <a:solidFill>
                              <a:schemeClr val="bg1"/>
                            </a:solidFill>
                            <a:latin typeface="Cambria Math" panose="02040503050406030204" pitchFamily="18" charset="0"/>
                          </a:rPr>
                          <m:t>+</m:t>
                        </m:r>
                        <m:d>
                          <m:dPr>
                            <m:begChr m:val="|"/>
                            <m:endChr m:val="|"/>
                            <m:ctrlPr>
                              <a:rPr lang="en-US" sz="2000" b="0" i="1" smtClean="0">
                                <a:solidFill>
                                  <a:schemeClr val="bg1"/>
                                </a:solidFill>
                                <a:latin typeface="Cambria Math" panose="02040503050406030204" pitchFamily="18" charset="0"/>
                              </a:rPr>
                            </m:ctrlPr>
                          </m:dPr>
                          <m:e>
                            <m:r>
                              <m:rPr>
                                <m:sty m:val="p"/>
                              </m:rPr>
                              <a:rPr lang="en-US" sz="2000" b="0" i="0" smtClean="0">
                                <a:solidFill>
                                  <a:schemeClr val="bg1"/>
                                </a:solidFill>
                                <a:latin typeface="Cambria Math" panose="02040503050406030204" pitchFamily="18" charset="0"/>
                              </a:rPr>
                              <m:t>E</m:t>
                            </m:r>
                          </m:e>
                        </m:d>
                        <m:r>
                          <a:rPr lang="en-US" sz="2000" b="0" i="1" smtClean="0">
                            <a:solidFill>
                              <a:schemeClr val="bg1"/>
                            </a:solidFill>
                            <a:latin typeface="Cambria Math" panose="02040503050406030204" pitchFamily="18" charset="0"/>
                          </a:rPr>
                          <m:t>)</m:t>
                        </m:r>
                      </m:sub>
                    </m:sSub>
                  </m:oMath>
                </a14:m>
                <a:r>
                  <a:rPr lang="en-US" sz="2000" i="1" dirty="0">
                    <a:solidFill>
                      <a:schemeClr val="bg1"/>
                    </a:solidFill>
                  </a:rPr>
                  <a:t> Max-Flow</a:t>
                </a:r>
              </a:p>
            </p:txBody>
          </p:sp>
        </mc:Choice>
        <mc:Fallback xmlns="">
          <p:sp>
            <p:nvSpPr>
              <p:cNvPr id="5" name="Content Placeholder 4">
                <a:extLst>
                  <a:ext uri="{FF2B5EF4-FFF2-40B4-BE49-F238E27FC236}">
                    <a16:creationId xmlns:a16="http://schemas.microsoft.com/office/drawing/2014/main" id="{28D742D3-BD4A-E047-9635-B6CFFDF51511}"/>
                  </a:ext>
                </a:extLst>
              </p:cNvPr>
              <p:cNvSpPr txBox="1">
                <a:spLocks noRot="1" noChangeAspect="1" noMove="1" noResize="1" noEditPoints="1" noAdjustHandles="1" noChangeArrowheads="1" noChangeShapeType="1" noTextEdit="1"/>
              </p:cNvSpPr>
              <p:nvPr/>
            </p:nvSpPr>
            <p:spPr>
              <a:xfrm>
                <a:off x="1142262" y="2833629"/>
                <a:ext cx="3539962" cy="533023"/>
              </a:xfrm>
              <a:prstGeom prst="rect">
                <a:avLst/>
              </a:prstGeom>
              <a:blipFill>
                <a:blip r:embed="rId3"/>
                <a:stretch>
                  <a:fillRect t="-2273"/>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Content Placeholder 4">
                <a:extLst>
                  <a:ext uri="{FF2B5EF4-FFF2-40B4-BE49-F238E27FC236}">
                    <a16:creationId xmlns:a16="http://schemas.microsoft.com/office/drawing/2014/main" id="{6AD4F07D-7CCA-5B44-8E3E-AC5A35444519}"/>
                  </a:ext>
                </a:extLst>
              </p:cNvPr>
              <p:cNvSpPr txBox="1">
                <a:spLocks/>
              </p:cNvSpPr>
              <p:nvPr/>
            </p:nvSpPr>
            <p:spPr>
              <a:xfrm>
                <a:off x="1142262" y="3653733"/>
                <a:ext cx="3539962" cy="533023"/>
              </a:xfrm>
              <a:prstGeom prst="rect">
                <a:avLst/>
              </a:prstGeom>
              <a:solidFill>
                <a:schemeClr val="tx1">
                  <a:lumMod val="95000"/>
                </a:schemeClr>
              </a:solidFill>
              <a:ln>
                <a:solidFill>
                  <a:schemeClr val="bg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2000" i="1" dirty="0">
                    <a:solidFill>
                      <a:schemeClr val="bg1"/>
                    </a:solidFill>
                  </a:rPr>
                  <a:t>FindMedian </a:t>
                </a:r>
                <a14:m>
                  <m:oMath xmlns:m="http://schemas.openxmlformats.org/officeDocument/2006/math">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m:t>
                        </m:r>
                      </m:e>
                      <m:sub>
                        <m:r>
                          <m:rPr>
                            <m:sty m:val="p"/>
                          </m:rPr>
                          <a:rPr lang="en-US" sz="2000" b="0" i="0" smtClean="0">
                            <a:solidFill>
                              <a:schemeClr val="bg1"/>
                            </a:solidFill>
                            <a:latin typeface="Cambria Math" panose="02040503050406030204" pitchFamily="18" charset="0"/>
                          </a:rPr>
                          <m:t>Θ</m:t>
                        </m:r>
                        <m:r>
                          <a:rPr lang="en-US" sz="2000" b="0" i="1" smtClean="0">
                            <a:solidFill>
                              <a:schemeClr val="bg1"/>
                            </a:solidFill>
                            <a:latin typeface="Cambria Math" panose="02040503050406030204" pitchFamily="18" charset="0"/>
                          </a:rPr>
                          <m:t>(1)</m:t>
                        </m:r>
                      </m:sub>
                    </m:sSub>
                  </m:oMath>
                </a14:m>
                <a:r>
                  <a:rPr lang="en-US" sz="2000" i="1" dirty="0">
                    <a:solidFill>
                      <a:schemeClr val="bg1"/>
                    </a:solidFill>
                  </a:rPr>
                  <a:t> Sorting</a:t>
                </a:r>
              </a:p>
            </p:txBody>
          </p:sp>
        </mc:Choice>
        <mc:Fallback xmlns="">
          <p:sp>
            <p:nvSpPr>
              <p:cNvPr id="6" name="Content Placeholder 4">
                <a:extLst>
                  <a:ext uri="{FF2B5EF4-FFF2-40B4-BE49-F238E27FC236}">
                    <a16:creationId xmlns:a16="http://schemas.microsoft.com/office/drawing/2014/main" id="{6AD4F07D-7CCA-5B44-8E3E-AC5A35444519}"/>
                  </a:ext>
                </a:extLst>
              </p:cNvPr>
              <p:cNvSpPr txBox="1">
                <a:spLocks noRot="1" noChangeAspect="1" noMove="1" noResize="1" noEditPoints="1" noAdjustHandles="1" noChangeArrowheads="1" noChangeShapeType="1" noTextEdit="1"/>
              </p:cNvSpPr>
              <p:nvPr/>
            </p:nvSpPr>
            <p:spPr>
              <a:xfrm>
                <a:off x="1142262" y="3653733"/>
                <a:ext cx="3539962" cy="533023"/>
              </a:xfrm>
              <a:prstGeom prst="rect">
                <a:avLst/>
              </a:prstGeom>
              <a:blipFill>
                <a:blip r:embed="rId4"/>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Content Placeholder 4">
                <a:extLst>
                  <a:ext uri="{FF2B5EF4-FFF2-40B4-BE49-F238E27FC236}">
                    <a16:creationId xmlns:a16="http://schemas.microsoft.com/office/drawing/2014/main" id="{93AD140F-BE5A-774F-9757-0A21C6513D15}"/>
                  </a:ext>
                </a:extLst>
              </p:cNvPr>
              <p:cNvSpPr txBox="1">
                <a:spLocks/>
              </p:cNvSpPr>
              <p:nvPr/>
            </p:nvSpPr>
            <p:spPr>
              <a:xfrm>
                <a:off x="1133638" y="4473837"/>
                <a:ext cx="3539962" cy="533023"/>
              </a:xfrm>
              <a:prstGeom prst="rect">
                <a:avLst/>
              </a:prstGeom>
              <a:solidFill>
                <a:schemeClr val="tx1">
                  <a:lumMod val="95000"/>
                </a:schemeClr>
              </a:solidFill>
              <a:ln>
                <a:solidFill>
                  <a:schemeClr val="bg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2000" i="1" dirty="0">
                    <a:solidFill>
                      <a:schemeClr val="bg1"/>
                    </a:solidFill>
                  </a:rPr>
                  <a:t>FindMin </a:t>
                </a:r>
                <a14:m>
                  <m:oMath xmlns:m="http://schemas.openxmlformats.org/officeDocument/2006/math">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m:t>
                        </m:r>
                      </m:e>
                      <m:sub>
                        <m:r>
                          <m:rPr>
                            <m:sty m:val="p"/>
                          </m:rPr>
                          <a:rPr lang="en-US" sz="2000" b="0" i="0" smtClean="0">
                            <a:solidFill>
                              <a:schemeClr val="bg1"/>
                            </a:solidFill>
                            <a:latin typeface="Cambria Math" panose="02040503050406030204" pitchFamily="18" charset="0"/>
                          </a:rPr>
                          <m:t>Θ</m:t>
                        </m:r>
                        <m:r>
                          <a:rPr lang="en-US" sz="2000" b="0" i="1" smtClean="0">
                            <a:solidFill>
                              <a:schemeClr val="bg1"/>
                            </a:solidFill>
                            <a:latin typeface="Cambria Math" panose="02040503050406030204" pitchFamily="18" charset="0"/>
                          </a:rPr>
                          <m:t>(1)</m:t>
                        </m:r>
                      </m:sub>
                    </m:sSub>
                  </m:oMath>
                </a14:m>
                <a:r>
                  <a:rPr lang="en-US" sz="2000" i="1" dirty="0">
                    <a:solidFill>
                      <a:schemeClr val="bg1"/>
                    </a:solidFill>
                  </a:rPr>
                  <a:t> Sorting</a:t>
                </a:r>
              </a:p>
            </p:txBody>
          </p:sp>
        </mc:Choice>
        <mc:Fallback xmlns="">
          <p:sp>
            <p:nvSpPr>
              <p:cNvPr id="7" name="Content Placeholder 4">
                <a:extLst>
                  <a:ext uri="{FF2B5EF4-FFF2-40B4-BE49-F238E27FC236}">
                    <a16:creationId xmlns:a16="http://schemas.microsoft.com/office/drawing/2014/main" id="{93AD140F-BE5A-774F-9757-0A21C6513D15}"/>
                  </a:ext>
                </a:extLst>
              </p:cNvPr>
              <p:cNvSpPr txBox="1">
                <a:spLocks noRot="1" noChangeAspect="1" noMove="1" noResize="1" noEditPoints="1" noAdjustHandles="1" noChangeArrowheads="1" noChangeShapeType="1" noTextEdit="1"/>
              </p:cNvSpPr>
              <p:nvPr/>
            </p:nvSpPr>
            <p:spPr>
              <a:xfrm>
                <a:off x="1133638" y="4473837"/>
                <a:ext cx="3539962" cy="533023"/>
              </a:xfrm>
              <a:prstGeom prst="rect">
                <a:avLst/>
              </a:prstGeom>
              <a:blipFill>
                <a:blip r:embed="rId5"/>
                <a:stretch>
                  <a:fillRect b="-2273"/>
                </a:stretch>
              </a:blipFill>
              <a:ln>
                <a:solidFill>
                  <a:schemeClr val="bg1"/>
                </a:solidFill>
              </a:ln>
            </p:spPr>
            <p:txBody>
              <a:bodyPr/>
              <a:lstStyle/>
              <a:p>
                <a:r>
                  <a:rPr lang="en-US">
                    <a:noFill/>
                  </a:rPr>
                  <a:t> </a:t>
                </a:r>
              </a:p>
            </p:txBody>
          </p:sp>
        </mc:Fallback>
      </mc:AlternateContent>
      <p:sp>
        <p:nvSpPr>
          <p:cNvPr id="8" name="Content Placeholder 4">
            <a:extLst>
              <a:ext uri="{FF2B5EF4-FFF2-40B4-BE49-F238E27FC236}">
                <a16:creationId xmlns:a16="http://schemas.microsoft.com/office/drawing/2014/main" id="{8EC5966E-2D81-1040-90D3-E820D5D54E18}"/>
              </a:ext>
            </a:extLst>
          </p:cNvPr>
          <p:cNvSpPr txBox="1">
            <a:spLocks/>
          </p:cNvSpPr>
          <p:nvPr/>
        </p:nvSpPr>
        <p:spPr>
          <a:xfrm>
            <a:off x="5091420" y="1688033"/>
            <a:ext cx="3539962" cy="453076"/>
          </a:xfrm>
          <a:prstGeom prst="rect">
            <a:avLst/>
          </a:prstGeom>
          <a:ln>
            <a:no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i="1" dirty="0"/>
              <a:t>Details:</a:t>
            </a:r>
          </a:p>
        </p:txBody>
      </p:sp>
      <p:sp>
        <p:nvSpPr>
          <p:cNvPr id="9" name="Content Placeholder 4">
            <a:extLst>
              <a:ext uri="{FF2B5EF4-FFF2-40B4-BE49-F238E27FC236}">
                <a16:creationId xmlns:a16="http://schemas.microsoft.com/office/drawing/2014/main" id="{2118ACFF-8839-024B-88AF-83FB153B12C9}"/>
              </a:ext>
            </a:extLst>
          </p:cNvPr>
          <p:cNvSpPr txBox="1">
            <a:spLocks/>
          </p:cNvSpPr>
          <p:nvPr/>
        </p:nvSpPr>
        <p:spPr>
          <a:xfrm>
            <a:off x="5091420" y="2071629"/>
            <a:ext cx="6121525" cy="533023"/>
          </a:xfrm>
          <a:prstGeom prst="rect">
            <a:avLst/>
          </a:prstGeom>
          <a:solidFill>
            <a:schemeClr val="tx1">
              <a:lumMod val="95000"/>
            </a:schemeClr>
          </a:solidFill>
          <a:ln>
            <a:solidFill>
              <a:schemeClr val="bg1"/>
            </a:solidFill>
          </a:ln>
        </p:spPr>
        <p:txBody>
          <a:bodyPr vert="horz" lIns="91440" tIns="45720" rIns="91440" bIns="45720" rtlCol="0">
            <a:normAutofit fontScale="700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2000" i="1" dirty="0">
                <a:solidFill>
                  <a:schemeClr val="bg1"/>
                </a:solidFill>
              </a:rPr>
              <a:t>No conversion necessary. Value of maximum flow is equal to capacity of minimum cut on the same, unaltered graph.</a:t>
            </a:r>
          </a:p>
        </p:txBody>
      </p:sp>
      <p:sp>
        <p:nvSpPr>
          <p:cNvPr id="10" name="Content Placeholder 4">
            <a:extLst>
              <a:ext uri="{FF2B5EF4-FFF2-40B4-BE49-F238E27FC236}">
                <a16:creationId xmlns:a16="http://schemas.microsoft.com/office/drawing/2014/main" id="{D270FE73-028E-AD4F-A8C2-AE7A078BB19E}"/>
              </a:ext>
            </a:extLst>
          </p:cNvPr>
          <p:cNvSpPr txBox="1">
            <a:spLocks/>
          </p:cNvSpPr>
          <p:nvPr/>
        </p:nvSpPr>
        <p:spPr>
          <a:xfrm>
            <a:off x="5100043" y="2833629"/>
            <a:ext cx="6121525" cy="533023"/>
          </a:xfrm>
          <a:prstGeom prst="rect">
            <a:avLst/>
          </a:prstGeom>
          <a:solidFill>
            <a:schemeClr val="tx1">
              <a:lumMod val="95000"/>
            </a:schemeClr>
          </a:solidFill>
          <a:ln>
            <a:solidFill>
              <a:schemeClr val="bg1"/>
            </a:solidFill>
          </a:ln>
        </p:spPr>
        <p:txBody>
          <a:bodyPr vert="horz" lIns="91440" tIns="45720" rIns="91440" bIns="45720" rtlCol="0">
            <a:normAutofit fontScale="700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2000" i="1" dirty="0">
                <a:solidFill>
                  <a:schemeClr val="bg1"/>
                </a:solidFill>
              </a:rPr>
              <a:t>Conversion involved adding capacities to edges, adding source and sink node, adding edges to / from source / sink node, etc.</a:t>
            </a:r>
          </a:p>
        </p:txBody>
      </p:sp>
      <p:sp>
        <p:nvSpPr>
          <p:cNvPr id="11" name="Content Placeholder 4">
            <a:extLst>
              <a:ext uri="{FF2B5EF4-FFF2-40B4-BE49-F238E27FC236}">
                <a16:creationId xmlns:a16="http://schemas.microsoft.com/office/drawing/2014/main" id="{66F81EC3-84D7-384F-B29E-4B80D8C72BD9}"/>
              </a:ext>
            </a:extLst>
          </p:cNvPr>
          <p:cNvSpPr txBox="1">
            <a:spLocks/>
          </p:cNvSpPr>
          <p:nvPr/>
        </p:nvSpPr>
        <p:spPr>
          <a:xfrm>
            <a:off x="5100043" y="3653733"/>
            <a:ext cx="6121525" cy="533023"/>
          </a:xfrm>
          <a:prstGeom prst="rect">
            <a:avLst/>
          </a:prstGeom>
          <a:solidFill>
            <a:schemeClr val="tx1">
              <a:lumMod val="95000"/>
            </a:schemeClr>
          </a:solidFill>
          <a:ln>
            <a:solidFill>
              <a:schemeClr val="bg1"/>
            </a:solidFill>
          </a:ln>
        </p:spPr>
        <p:txBody>
          <a:bodyPr vert="horz" lIns="91440" tIns="45720" rIns="91440" bIns="45720" rtlCol="0">
            <a:normAutofit fontScale="700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2000" i="1" dirty="0">
                <a:solidFill>
                  <a:schemeClr val="bg1"/>
                </a:solidFill>
              </a:rPr>
              <a:t>No conversion necessary. Sort the list, then pull out the middle element in the array.</a:t>
            </a:r>
          </a:p>
        </p:txBody>
      </p:sp>
      <p:sp>
        <p:nvSpPr>
          <p:cNvPr id="12" name="Content Placeholder 4">
            <a:extLst>
              <a:ext uri="{FF2B5EF4-FFF2-40B4-BE49-F238E27FC236}">
                <a16:creationId xmlns:a16="http://schemas.microsoft.com/office/drawing/2014/main" id="{6699413D-5379-5045-9D8B-6A637471A4CA}"/>
              </a:ext>
            </a:extLst>
          </p:cNvPr>
          <p:cNvSpPr txBox="1">
            <a:spLocks/>
          </p:cNvSpPr>
          <p:nvPr/>
        </p:nvSpPr>
        <p:spPr>
          <a:xfrm>
            <a:off x="5091419" y="4473837"/>
            <a:ext cx="6121525" cy="533023"/>
          </a:xfrm>
          <a:prstGeom prst="rect">
            <a:avLst/>
          </a:prstGeom>
          <a:solidFill>
            <a:schemeClr val="tx1">
              <a:lumMod val="95000"/>
            </a:schemeClr>
          </a:solidFill>
          <a:ln>
            <a:solidFill>
              <a:schemeClr val="bg1"/>
            </a:solidFill>
          </a:ln>
        </p:spPr>
        <p:txBody>
          <a:bodyPr vert="horz" lIns="91440" tIns="45720" rIns="91440" bIns="45720" rtlCol="0">
            <a:normAutofit fontScale="700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2000" i="1" dirty="0">
                <a:solidFill>
                  <a:schemeClr val="bg1"/>
                </a:solidFill>
              </a:rPr>
              <a:t>No conversion necessary. Sort the list, then pull the first element in the array. Note that this one is a reduction to a HARDER problem. So won’t be used in practice.</a:t>
            </a:r>
          </a:p>
        </p:txBody>
      </p:sp>
    </p:spTree>
    <p:extLst>
      <p:ext uri="{BB962C8B-B14F-4D97-AF65-F5344CB8AC3E}">
        <p14:creationId xmlns:p14="http://schemas.microsoft.com/office/powerpoint/2010/main" val="154644268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41413" y="129734"/>
            <a:ext cx="9905998" cy="722453"/>
          </a:xfrm>
        </p:spPr>
        <p:txBody>
          <a:bodyPr/>
          <a:lstStyle/>
          <a:p>
            <a:pPr algn="ctr"/>
            <a:r>
              <a:rPr lang="en-US" dirty="0"/>
              <a:t>Runtime Comparison</a:t>
            </a:r>
            <a:endParaRPr lang="en-US" dirty="0">
              <a:solidFill>
                <a:srgbClr val="FFA7FF"/>
              </a:solidFill>
            </a:endParaRPr>
          </a:p>
        </p:txBody>
      </p:sp>
      <p:grpSp>
        <p:nvGrpSpPr>
          <p:cNvPr id="43" name="Group 42">
            <a:extLst>
              <a:ext uri="{FF2B5EF4-FFF2-40B4-BE49-F238E27FC236}">
                <a16:creationId xmlns:a16="http://schemas.microsoft.com/office/drawing/2014/main" id="{79335735-65BC-E54E-ABCA-52FB200E0398}"/>
              </a:ext>
            </a:extLst>
          </p:cNvPr>
          <p:cNvGrpSpPr/>
          <p:nvPr/>
        </p:nvGrpSpPr>
        <p:grpSpPr>
          <a:xfrm>
            <a:off x="208484" y="1611374"/>
            <a:ext cx="7232463" cy="3806727"/>
            <a:chOff x="2465909" y="2019299"/>
            <a:chExt cx="7232463" cy="3806727"/>
          </a:xfrm>
        </p:grpSpPr>
        <mc:AlternateContent xmlns:mc="http://schemas.openxmlformats.org/markup-compatibility/2006" xmlns:a14="http://schemas.microsoft.com/office/drawing/2010/main">
          <mc:Choice Requires="a14">
            <p:sp>
              <p:nvSpPr>
                <p:cNvPr id="39" name="Content Placeholder 4">
                  <a:extLst>
                    <a:ext uri="{FF2B5EF4-FFF2-40B4-BE49-F238E27FC236}">
                      <a16:creationId xmlns:a16="http://schemas.microsoft.com/office/drawing/2014/main" id="{6D06268B-B87E-5844-8A15-8B25A2291DDC}"/>
                    </a:ext>
                  </a:extLst>
                </p:cNvPr>
                <p:cNvSpPr txBox="1">
                  <a:spLocks/>
                </p:cNvSpPr>
                <p:nvPr/>
              </p:nvSpPr>
              <p:spPr>
                <a:xfrm>
                  <a:off x="5008088" y="2019299"/>
                  <a:ext cx="2316638" cy="581035"/>
                </a:xfrm>
                <a:prstGeom prst="rect">
                  <a:avLst/>
                </a:prstGeom>
                <a:solidFill>
                  <a:schemeClr val="accent3"/>
                </a:solidFill>
                <a:ln>
                  <a:solidFill>
                    <a:schemeClr val="bg1"/>
                  </a:solidFill>
                </a:ln>
              </p:spPr>
              <p:txBody>
                <a:bodyPr vert="horz" lIns="91440" tIns="45720" rIns="91440" bIns="45720" rtlCol="0">
                  <a:normAutofit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400" i="1" dirty="0">
                      <a:solidFill>
                        <a:schemeClr val="tx1">
                          <a:lumMod val="95000"/>
                        </a:schemeClr>
                      </a:solidFill>
                    </a:rPr>
                    <a:t>Map instances of A to instances of B in </a:t>
                  </a:r>
                  <a14:m>
                    <m:oMath xmlns:m="http://schemas.openxmlformats.org/officeDocument/2006/math">
                      <m:r>
                        <m:rPr>
                          <m:sty m:val="p"/>
                        </m:rPr>
                        <a:rPr lang="en-US" sz="1400" b="0" i="0" smtClean="0">
                          <a:solidFill>
                            <a:schemeClr val="tx1">
                              <a:lumMod val="95000"/>
                            </a:schemeClr>
                          </a:solidFill>
                          <a:latin typeface="Cambria Math" panose="02040503050406030204" pitchFamily="18" charset="0"/>
                        </a:rPr>
                        <m:t>Θ</m:t>
                      </m:r>
                      <m:r>
                        <a:rPr lang="en-US" sz="1400" b="0" i="1" smtClean="0">
                          <a:solidFill>
                            <a:schemeClr val="tx1">
                              <a:lumMod val="95000"/>
                            </a:schemeClr>
                          </a:solidFill>
                          <a:latin typeface="Cambria Math" panose="02040503050406030204" pitchFamily="18" charset="0"/>
                        </a:rPr>
                        <m:t>(</m:t>
                      </m:r>
                      <m:sSub>
                        <m:sSubPr>
                          <m:ctrlPr>
                            <a:rPr lang="en-US" sz="1400" b="0" i="1" smtClean="0">
                              <a:solidFill>
                                <a:schemeClr val="tx1">
                                  <a:lumMod val="95000"/>
                                </a:schemeClr>
                              </a:solidFill>
                              <a:latin typeface="Cambria Math" panose="02040503050406030204" pitchFamily="18" charset="0"/>
                            </a:rPr>
                          </m:ctrlPr>
                        </m:sSubPr>
                        <m:e>
                          <m:r>
                            <a:rPr lang="en-US" sz="1400" b="0" i="1" smtClean="0">
                              <a:solidFill>
                                <a:schemeClr val="tx1">
                                  <a:lumMod val="95000"/>
                                </a:schemeClr>
                              </a:solidFill>
                              <a:latin typeface="Cambria Math" panose="02040503050406030204" pitchFamily="18" charset="0"/>
                            </a:rPr>
                            <m:t>𝑅</m:t>
                          </m:r>
                        </m:e>
                        <m:sub>
                          <m:r>
                            <a:rPr lang="en-US" sz="1400" b="0" i="1" smtClean="0">
                              <a:solidFill>
                                <a:schemeClr val="tx1">
                                  <a:lumMod val="95000"/>
                                </a:schemeClr>
                              </a:solidFill>
                              <a:latin typeface="Cambria Math" panose="02040503050406030204" pitchFamily="18" charset="0"/>
                            </a:rPr>
                            <m:t>𝐴𝐵</m:t>
                          </m:r>
                        </m:sub>
                      </m:sSub>
                      <m:r>
                        <a:rPr lang="en-US" sz="1400" b="0" i="1" smtClean="0">
                          <a:solidFill>
                            <a:schemeClr val="tx1">
                              <a:lumMod val="95000"/>
                            </a:schemeClr>
                          </a:solidFill>
                          <a:latin typeface="Cambria Math" panose="02040503050406030204" pitchFamily="18" charset="0"/>
                        </a:rPr>
                        <m:t>)</m:t>
                      </m:r>
                    </m:oMath>
                  </a14:m>
                  <a:r>
                    <a:rPr lang="en-US" sz="1400" i="1" dirty="0">
                      <a:solidFill>
                        <a:schemeClr val="tx1">
                          <a:lumMod val="95000"/>
                        </a:schemeClr>
                      </a:solidFill>
                    </a:rPr>
                    <a:t> time.</a:t>
                  </a:r>
                </a:p>
              </p:txBody>
            </p:sp>
          </mc:Choice>
          <mc:Fallback xmlns="">
            <p:sp>
              <p:nvSpPr>
                <p:cNvPr id="39" name="Content Placeholder 4">
                  <a:extLst>
                    <a:ext uri="{FF2B5EF4-FFF2-40B4-BE49-F238E27FC236}">
                      <a16:creationId xmlns:a16="http://schemas.microsoft.com/office/drawing/2014/main" id="{6D06268B-B87E-5844-8A15-8B25A2291DDC}"/>
                    </a:ext>
                  </a:extLst>
                </p:cNvPr>
                <p:cNvSpPr txBox="1">
                  <a:spLocks noRot="1" noChangeAspect="1" noMove="1" noResize="1" noEditPoints="1" noAdjustHandles="1" noChangeArrowheads="1" noChangeShapeType="1" noTextEdit="1"/>
                </p:cNvSpPr>
                <p:nvPr/>
              </p:nvSpPr>
              <p:spPr>
                <a:xfrm>
                  <a:off x="5008088" y="2019299"/>
                  <a:ext cx="2316638" cy="581035"/>
                </a:xfrm>
                <a:prstGeom prst="rect">
                  <a:avLst/>
                </a:prstGeom>
                <a:blipFill>
                  <a:blip r:embed="rId2"/>
                  <a:stretch>
                    <a:fillRect b="-2083"/>
                  </a:stretch>
                </a:blipFill>
                <a:ln>
                  <a:solidFill>
                    <a:schemeClr val="bg1"/>
                  </a:solidFill>
                </a:ln>
              </p:spPr>
              <p:txBody>
                <a:bodyPr/>
                <a:lstStyle/>
                <a:p>
                  <a:r>
                    <a:rPr lang="en-US">
                      <a:noFill/>
                    </a:rPr>
                    <a:t> </a:t>
                  </a:r>
                </a:p>
              </p:txBody>
            </p:sp>
          </mc:Fallback>
        </mc:AlternateContent>
        <p:grpSp>
          <p:nvGrpSpPr>
            <p:cNvPr id="19" name="Group 18">
              <a:extLst>
                <a:ext uri="{FF2B5EF4-FFF2-40B4-BE49-F238E27FC236}">
                  <a16:creationId xmlns:a16="http://schemas.microsoft.com/office/drawing/2014/main" id="{FB14BF2B-E906-E74D-A222-9E84C2BB842C}"/>
                </a:ext>
              </a:extLst>
            </p:cNvPr>
            <p:cNvGrpSpPr/>
            <p:nvPr/>
          </p:nvGrpSpPr>
          <p:grpSpPr>
            <a:xfrm>
              <a:off x="2465909" y="2204160"/>
              <a:ext cx="7232463" cy="3621866"/>
              <a:chOff x="2570684" y="2261310"/>
              <a:chExt cx="7232463" cy="3621866"/>
            </a:xfrm>
          </p:grpSpPr>
          <p:grpSp>
            <p:nvGrpSpPr>
              <p:cNvPr id="8" name="Group 7">
                <a:extLst>
                  <a:ext uri="{FF2B5EF4-FFF2-40B4-BE49-F238E27FC236}">
                    <a16:creationId xmlns:a16="http://schemas.microsoft.com/office/drawing/2014/main" id="{8532DB9A-FA5A-7740-8D8E-0172761C0C15}"/>
                  </a:ext>
                </a:extLst>
              </p:cNvPr>
              <p:cNvGrpSpPr/>
              <p:nvPr/>
            </p:nvGrpSpPr>
            <p:grpSpPr>
              <a:xfrm>
                <a:off x="2570684" y="2261310"/>
                <a:ext cx="2709085" cy="3369450"/>
                <a:chOff x="1570559" y="2137485"/>
                <a:chExt cx="2709085" cy="3369450"/>
              </a:xfrm>
            </p:grpSpPr>
            <p:sp>
              <p:nvSpPr>
                <p:cNvPr id="5" name="Rectangle 4">
                  <a:extLst>
                    <a:ext uri="{FF2B5EF4-FFF2-40B4-BE49-F238E27FC236}">
                      <a16:creationId xmlns:a16="http://schemas.microsoft.com/office/drawing/2014/main" id="{D8DFC98F-084E-C84C-AB03-602B8E14D0EE}"/>
                    </a:ext>
                  </a:extLst>
                </p:cNvPr>
                <p:cNvSpPr/>
                <p:nvPr/>
              </p:nvSpPr>
              <p:spPr>
                <a:xfrm>
                  <a:off x="2308469" y="2137485"/>
                  <a:ext cx="1231272" cy="828661"/>
                </a:xfrm>
                <a:prstGeom prst="rect">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Problem A</a:t>
                  </a:r>
                </a:p>
              </p:txBody>
            </p:sp>
            <p:sp>
              <p:nvSpPr>
                <p:cNvPr id="23" name="Rectangle 22">
                  <a:extLst>
                    <a:ext uri="{FF2B5EF4-FFF2-40B4-BE49-F238E27FC236}">
                      <a16:creationId xmlns:a16="http://schemas.microsoft.com/office/drawing/2014/main" id="{00759A00-8F0E-C24E-8F18-1CF257E378E4}"/>
                    </a:ext>
                  </a:extLst>
                </p:cNvPr>
                <p:cNvSpPr/>
                <p:nvPr/>
              </p:nvSpPr>
              <p:spPr>
                <a:xfrm>
                  <a:off x="2308469" y="4678274"/>
                  <a:ext cx="1231272" cy="828661"/>
                </a:xfrm>
                <a:prstGeom prst="rect">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Solution A</a:t>
                  </a:r>
                </a:p>
              </p:txBody>
            </p:sp>
            <p:cxnSp>
              <p:nvCxnSpPr>
                <p:cNvPr id="7" name="Straight Arrow Connector 6">
                  <a:extLst>
                    <a:ext uri="{FF2B5EF4-FFF2-40B4-BE49-F238E27FC236}">
                      <a16:creationId xmlns:a16="http://schemas.microsoft.com/office/drawing/2014/main" id="{0541B410-22E3-6E47-AF73-3F2AF2867461}"/>
                    </a:ext>
                  </a:extLst>
                </p:cNvPr>
                <p:cNvCxnSpPr>
                  <a:stCxn id="5" idx="2"/>
                  <a:endCxn id="23" idx="0"/>
                </p:cNvCxnSpPr>
                <p:nvPr/>
              </p:nvCxnSpPr>
              <p:spPr>
                <a:xfrm>
                  <a:off x="2924105" y="2966146"/>
                  <a:ext cx="0" cy="17121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ontent Placeholder 4">
                      <a:extLst>
                        <a:ext uri="{FF2B5EF4-FFF2-40B4-BE49-F238E27FC236}">
                          <a16:creationId xmlns:a16="http://schemas.microsoft.com/office/drawing/2014/main" id="{92354662-A552-504E-A65B-97ED9934F527}"/>
                        </a:ext>
                      </a:extLst>
                    </p:cNvPr>
                    <p:cNvSpPr txBox="1">
                      <a:spLocks/>
                    </p:cNvSpPr>
                    <p:nvPr/>
                  </p:nvSpPr>
                  <p:spPr>
                    <a:xfrm>
                      <a:off x="1570559" y="3415408"/>
                      <a:ext cx="2709085" cy="701360"/>
                    </a:xfrm>
                    <a:prstGeom prst="rect">
                      <a:avLst/>
                    </a:prstGeom>
                    <a:solidFill>
                      <a:schemeClr val="accent1"/>
                    </a:solidFill>
                    <a:ln>
                      <a:solidFill>
                        <a:schemeClr val="bg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600" i="1" dirty="0">
                          <a:solidFill>
                            <a:schemeClr val="bg1"/>
                          </a:solidFill>
                        </a:rPr>
                        <a:t>Decider for A that runs in </a:t>
                      </a:r>
                      <a14:m>
                        <m:oMath xmlns:m="http://schemas.openxmlformats.org/officeDocument/2006/math">
                          <m:r>
                            <m:rPr>
                              <m:sty m:val="p"/>
                            </m:rPr>
                            <a:rPr lang="en-US" sz="1600" b="0" i="0" smtClean="0">
                              <a:solidFill>
                                <a:schemeClr val="bg1"/>
                              </a:solidFill>
                              <a:latin typeface="Cambria Math" panose="02040503050406030204" pitchFamily="18" charset="0"/>
                            </a:rPr>
                            <m:t>Θ</m:t>
                          </m:r>
                          <m:r>
                            <a:rPr lang="en-US" sz="1600" b="0" i="1" smtClean="0">
                              <a:solidFill>
                                <a:schemeClr val="bg1"/>
                              </a:solidFill>
                              <a:latin typeface="Cambria Math" panose="02040503050406030204" pitchFamily="18" charset="0"/>
                            </a:rPr>
                            <m:t>(</m:t>
                          </m:r>
                          <m:sSub>
                            <m:sSubPr>
                              <m:ctrlPr>
                                <a:rPr lang="en-US" sz="1600" b="0" i="1" smtClean="0">
                                  <a:solidFill>
                                    <a:schemeClr val="bg1"/>
                                  </a:solidFill>
                                  <a:latin typeface="Cambria Math" panose="02040503050406030204" pitchFamily="18" charset="0"/>
                                </a:rPr>
                              </m:ctrlPr>
                            </m:sSubPr>
                            <m:e>
                              <m:r>
                                <a:rPr lang="en-US" sz="1600" b="0" i="1" smtClean="0">
                                  <a:solidFill>
                                    <a:schemeClr val="bg1"/>
                                  </a:solidFill>
                                  <a:latin typeface="Cambria Math" panose="02040503050406030204" pitchFamily="18" charset="0"/>
                                </a:rPr>
                                <m:t>𝐴</m:t>
                              </m:r>
                            </m:e>
                            <m:sub>
                              <m:r>
                                <a:rPr lang="en-US" sz="1600" b="0" i="1" smtClean="0">
                                  <a:solidFill>
                                    <a:schemeClr val="bg1"/>
                                  </a:solidFill>
                                  <a:latin typeface="Cambria Math" panose="02040503050406030204" pitchFamily="18" charset="0"/>
                                </a:rPr>
                                <m:t>𝑛</m:t>
                              </m:r>
                            </m:sub>
                          </m:sSub>
                          <m:r>
                            <a:rPr lang="en-US" sz="1600" b="0" i="1" smtClean="0">
                              <a:solidFill>
                                <a:schemeClr val="bg1"/>
                              </a:solidFill>
                              <a:latin typeface="Cambria Math" panose="02040503050406030204" pitchFamily="18" charset="0"/>
                            </a:rPr>
                            <m:t>)</m:t>
                          </m:r>
                        </m:oMath>
                      </a14:m>
                      <a:r>
                        <a:rPr lang="en-US" sz="1600" i="1" dirty="0">
                          <a:solidFill>
                            <a:schemeClr val="bg1"/>
                          </a:solidFill>
                        </a:rPr>
                        <a:t> time.</a:t>
                      </a:r>
                    </a:p>
                  </p:txBody>
                </p:sp>
              </mc:Choice>
              <mc:Fallback xmlns="">
                <p:sp>
                  <p:nvSpPr>
                    <p:cNvPr id="26" name="Content Placeholder 4">
                      <a:extLst>
                        <a:ext uri="{FF2B5EF4-FFF2-40B4-BE49-F238E27FC236}">
                          <a16:creationId xmlns:a16="http://schemas.microsoft.com/office/drawing/2014/main" id="{92354662-A552-504E-A65B-97ED9934F527}"/>
                        </a:ext>
                      </a:extLst>
                    </p:cNvPr>
                    <p:cNvSpPr txBox="1">
                      <a:spLocks noRot="1" noChangeAspect="1" noMove="1" noResize="1" noEditPoints="1" noAdjustHandles="1" noChangeArrowheads="1" noChangeShapeType="1" noTextEdit="1"/>
                    </p:cNvSpPr>
                    <p:nvPr/>
                  </p:nvSpPr>
                  <p:spPr>
                    <a:xfrm>
                      <a:off x="1570559" y="3415408"/>
                      <a:ext cx="2709085" cy="701360"/>
                    </a:xfrm>
                    <a:prstGeom prst="rect">
                      <a:avLst/>
                    </a:prstGeom>
                    <a:blipFill>
                      <a:blip r:embed="rId3"/>
                      <a:stretch>
                        <a:fillRect b="-1754"/>
                      </a:stretch>
                    </a:blipFill>
                    <a:ln>
                      <a:solidFill>
                        <a:schemeClr val="bg1"/>
                      </a:solidFill>
                    </a:ln>
                  </p:spPr>
                  <p:txBody>
                    <a:bodyPr/>
                    <a:lstStyle/>
                    <a:p>
                      <a:r>
                        <a:rPr lang="en-US">
                          <a:noFill/>
                        </a:rPr>
                        <a:t> </a:t>
                      </a:r>
                    </a:p>
                  </p:txBody>
                </p:sp>
              </mc:Fallback>
            </mc:AlternateContent>
          </p:grpSp>
          <p:grpSp>
            <p:nvGrpSpPr>
              <p:cNvPr id="18" name="Group 17">
                <a:extLst>
                  <a:ext uri="{FF2B5EF4-FFF2-40B4-BE49-F238E27FC236}">
                    <a16:creationId xmlns:a16="http://schemas.microsoft.com/office/drawing/2014/main" id="{E1E27072-20C7-2F48-853D-48A98A768EFD}"/>
                  </a:ext>
                </a:extLst>
              </p:cNvPr>
              <p:cNvGrpSpPr/>
              <p:nvPr/>
            </p:nvGrpSpPr>
            <p:grpSpPr>
              <a:xfrm>
                <a:off x="4539866" y="2268614"/>
                <a:ext cx="5263281" cy="3614562"/>
                <a:chOff x="4539866" y="2268614"/>
                <a:chExt cx="5263281" cy="3614562"/>
              </a:xfrm>
            </p:grpSpPr>
            <p:sp>
              <p:nvSpPr>
                <p:cNvPr id="27" name="Rectangle 26">
                  <a:extLst>
                    <a:ext uri="{FF2B5EF4-FFF2-40B4-BE49-F238E27FC236}">
                      <a16:creationId xmlns:a16="http://schemas.microsoft.com/office/drawing/2014/main" id="{2DCE4FC7-F5FE-D349-A4B8-CF18D9154094}"/>
                    </a:ext>
                  </a:extLst>
                </p:cNvPr>
                <p:cNvSpPr/>
                <p:nvPr/>
              </p:nvSpPr>
              <p:spPr>
                <a:xfrm>
                  <a:off x="7832969" y="2268614"/>
                  <a:ext cx="1231272" cy="828661"/>
                </a:xfrm>
                <a:prstGeom prst="rect">
                  <a:avLst/>
                </a:prstGeom>
                <a:solidFill>
                  <a:schemeClr val="accent3"/>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95000"/>
                        </a:schemeClr>
                      </a:solidFill>
                    </a:rPr>
                    <a:t>Problem B</a:t>
                  </a:r>
                </a:p>
              </p:txBody>
            </p:sp>
            <p:sp>
              <p:nvSpPr>
                <p:cNvPr id="29" name="Rectangle 28">
                  <a:extLst>
                    <a:ext uri="{FF2B5EF4-FFF2-40B4-BE49-F238E27FC236}">
                      <a16:creationId xmlns:a16="http://schemas.microsoft.com/office/drawing/2014/main" id="{E1B84751-7643-F048-9D4A-C68D0FE326F6}"/>
                    </a:ext>
                  </a:extLst>
                </p:cNvPr>
                <p:cNvSpPr/>
                <p:nvPr/>
              </p:nvSpPr>
              <p:spPr>
                <a:xfrm>
                  <a:off x="7832969" y="4802098"/>
                  <a:ext cx="1231272" cy="828661"/>
                </a:xfrm>
                <a:prstGeom prst="rect">
                  <a:avLst/>
                </a:prstGeom>
                <a:solidFill>
                  <a:schemeClr val="accent3"/>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95000"/>
                        </a:schemeClr>
                      </a:solidFill>
                    </a:rPr>
                    <a:t>Solution B</a:t>
                  </a:r>
                </a:p>
              </p:txBody>
            </p:sp>
            <p:cxnSp>
              <p:nvCxnSpPr>
                <p:cNvPr id="33" name="Straight Arrow Connector 32">
                  <a:extLst>
                    <a:ext uri="{FF2B5EF4-FFF2-40B4-BE49-F238E27FC236}">
                      <a16:creationId xmlns:a16="http://schemas.microsoft.com/office/drawing/2014/main" id="{272F9A6D-80DF-4945-93A8-F9BBAA58E063}"/>
                    </a:ext>
                  </a:extLst>
                </p:cNvPr>
                <p:cNvCxnSpPr>
                  <a:cxnSpLocks/>
                  <a:stCxn id="27" idx="2"/>
                  <a:endCxn id="29" idx="0"/>
                </p:cNvCxnSpPr>
                <p:nvPr/>
              </p:nvCxnSpPr>
              <p:spPr>
                <a:xfrm>
                  <a:off x="8448605" y="3097275"/>
                  <a:ext cx="0" cy="1704823"/>
                </a:xfrm>
                <a:prstGeom prst="straightConnector1">
                  <a:avLst/>
                </a:prstGeom>
                <a:ln>
                  <a:solidFill>
                    <a:schemeClr val="accent3"/>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6" name="Content Placeholder 4">
                      <a:extLst>
                        <a:ext uri="{FF2B5EF4-FFF2-40B4-BE49-F238E27FC236}">
                          <a16:creationId xmlns:a16="http://schemas.microsoft.com/office/drawing/2014/main" id="{2B07ACEF-738A-EC4C-8004-C071F2AA2F5B}"/>
                        </a:ext>
                      </a:extLst>
                    </p:cNvPr>
                    <p:cNvSpPr txBox="1">
                      <a:spLocks/>
                    </p:cNvSpPr>
                    <p:nvPr/>
                  </p:nvSpPr>
                  <p:spPr>
                    <a:xfrm>
                      <a:off x="7094062" y="3516116"/>
                      <a:ext cx="2709085" cy="701360"/>
                    </a:xfrm>
                    <a:prstGeom prst="rect">
                      <a:avLst/>
                    </a:prstGeom>
                    <a:solidFill>
                      <a:schemeClr val="accent3"/>
                    </a:solidFill>
                    <a:ln>
                      <a:solidFill>
                        <a:schemeClr val="bg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600" i="1" dirty="0">
                          <a:solidFill>
                            <a:schemeClr val="tx1">
                              <a:lumMod val="95000"/>
                            </a:schemeClr>
                          </a:solidFill>
                        </a:rPr>
                        <a:t>Decider for B that runs in </a:t>
                      </a:r>
                      <a14:m>
                        <m:oMath xmlns:m="http://schemas.openxmlformats.org/officeDocument/2006/math">
                          <m:r>
                            <m:rPr>
                              <m:sty m:val="p"/>
                            </m:rPr>
                            <a:rPr lang="en-US" sz="1600" b="0" i="0" smtClean="0">
                              <a:solidFill>
                                <a:schemeClr val="tx1">
                                  <a:lumMod val="95000"/>
                                </a:schemeClr>
                              </a:solidFill>
                              <a:latin typeface="Cambria Math" panose="02040503050406030204" pitchFamily="18" charset="0"/>
                            </a:rPr>
                            <m:t>Θ</m:t>
                          </m:r>
                          <m:r>
                            <a:rPr lang="en-US" sz="1600" b="0" i="1" smtClean="0">
                              <a:solidFill>
                                <a:schemeClr val="tx1">
                                  <a:lumMod val="95000"/>
                                </a:schemeClr>
                              </a:solidFill>
                              <a:latin typeface="Cambria Math" panose="02040503050406030204" pitchFamily="18" charset="0"/>
                            </a:rPr>
                            <m:t>(</m:t>
                          </m:r>
                          <m:sSub>
                            <m:sSubPr>
                              <m:ctrlPr>
                                <a:rPr lang="en-US" sz="1600" b="0" i="1" smtClean="0">
                                  <a:solidFill>
                                    <a:schemeClr val="tx1">
                                      <a:lumMod val="95000"/>
                                    </a:schemeClr>
                                  </a:solidFill>
                                  <a:latin typeface="Cambria Math" panose="02040503050406030204" pitchFamily="18" charset="0"/>
                                </a:rPr>
                              </m:ctrlPr>
                            </m:sSubPr>
                            <m:e>
                              <m:r>
                                <a:rPr lang="en-US" sz="1600" b="0" i="1" smtClean="0">
                                  <a:solidFill>
                                    <a:schemeClr val="tx1">
                                      <a:lumMod val="95000"/>
                                    </a:schemeClr>
                                  </a:solidFill>
                                  <a:latin typeface="Cambria Math" panose="02040503050406030204" pitchFamily="18" charset="0"/>
                                </a:rPr>
                                <m:t>𝐵</m:t>
                              </m:r>
                            </m:e>
                            <m:sub>
                              <m:r>
                                <a:rPr lang="en-US" sz="1600" b="0" i="1" smtClean="0">
                                  <a:solidFill>
                                    <a:schemeClr val="tx1">
                                      <a:lumMod val="95000"/>
                                    </a:schemeClr>
                                  </a:solidFill>
                                  <a:latin typeface="Cambria Math" panose="02040503050406030204" pitchFamily="18" charset="0"/>
                                </a:rPr>
                                <m:t>𝑛</m:t>
                              </m:r>
                            </m:sub>
                          </m:sSub>
                          <m:r>
                            <a:rPr lang="en-US" sz="1600" b="0" i="1" smtClean="0">
                              <a:solidFill>
                                <a:schemeClr val="tx1">
                                  <a:lumMod val="95000"/>
                                </a:schemeClr>
                              </a:solidFill>
                              <a:latin typeface="Cambria Math" panose="02040503050406030204" pitchFamily="18" charset="0"/>
                            </a:rPr>
                            <m:t>)</m:t>
                          </m:r>
                        </m:oMath>
                      </a14:m>
                      <a:r>
                        <a:rPr lang="en-US" sz="1600" i="1" dirty="0">
                          <a:solidFill>
                            <a:schemeClr val="tx1">
                              <a:lumMod val="95000"/>
                            </a:schemeClr>
                          </a:solidFill>
                        </a:rPr>
                        <a:t> time.</a:t>
                      </a:r>
                    </a:p>
                  </p:txBody>
                </p:sp>
              </mc:Choice>
              <mc:Fallback xmlns="">
                <p:sp>
                  <p:nvSpPr>
                    <p:cNvPr id="36" name="Content Placeholder 4">
                      <a:extLst>
                        <a:ext uri="{FF2B5EF4-FFF2-40B4-BE49-F238E27FC236}">
                          <a16:creationId xmlns:a16="http://schemas.microsoft.com/office/drawing/2014/main" id="{2B07ACEF-738A-EC4C-8004-C071F2AA2F5B}"/>
                        </a:ext>
                      </a:extLst>
                    </p:cNvPr>
                    <p:cNvSpPr txBox="1">
                      <a:spLocks noRot="1" noChangeAspect="1" noMove="1" noResize="1" noEditPoints="1" noAdjustHandles="1" noChangeArrowheads="1" noChangeShapeType="1" noTextEdit="1"/>
                    </p:cNvSpPr>
                    <p:nvPr/>
                  </p:nvSpPr>
                  <p:spPr>
                    <a:xfrm>
                      <a:off x="7094062" y="3516116"/>
                      <a:ext cx="2709085" cy="701360"/>
                    </a:xfrm>
                    <a:prstGeom prst="rect">
                      <a:avLst/>
                    </a:prstGeom>
                    <a:blipFill>
                      <a:blip r:embed="rId4"/>
                      <a:stretch>
                        <a:fillRect b="-1786"/>
                      </a:stretch>
                    </a:blipFill>
                    <a:ln>
                      <a:solidFill>
                        <a:schemeClr val="bg1"/>
                      </a:solidFill>
                    </a:ln>
                  </p:spPr>
                  <p:txBody>
                    <a:bodyPr/>
                    <a:lstStyle/>
                    <a:p>
                      <a:r>
                        <a:rPr lang="en-US">
                          <a:noFill/>
                        </a:rPr>
                        <a:t> </a:t>
                      </a:r>
                    </a:p>
                  </p:txBody>
                </p:sp>
              </mc:Fallback>
            </mc:AlternateContent>
            <p:cxnSp>
              <p:nvCxnSpPr>
                <p:cNvPr id="38" name="Straight Arrow Connector 37">
                  <a:extLst>
                    <a:ext uri="{FF2B5EF4-FFF2-40B4-BE49-F238E27FC236}">
                      <a16:creationId xmlns:a16="http://schemas.microsoft.com/office/drawing/2014/main" id="{991CB472-E51D-2E46-BEAF-8B2CD194CFD8}"/>
                    </a:ext>
                  </a:extLst>
                </p:cNvPr>
                <p:cNvCxnSpPr>
                  <a:cxnSpLocks/>
                  <a:stCxn id="5" idx="3"/>
                  <a:endCxn id="27" idx="1"/>
                </p:cNvCxnSpPr>
                <p:nvPr/>
              </p:nvCxnSpPr>
              <p:spPr>
                <a:xfrm>
                  <a:off x="4539866" y="2675641"/>
                  <a:ext cx="3293103" cy="7304"/>
                </a:xfrm>
                <a:prstGeom prst="straightConnector1">
                  <a:avLst/>
                </a:prstGeom>
                <a:ln>
                  <a:solidFill>
                    <a:schemeClr val="accent3"/>
                  </a:solidFill>
                  <a:tailEnd type="triangle"/>
                </a:ln>
              </p:spPr>
              <p:style>
                <a:lnRef idx="1">
                  <a:schemeClr val="accent1"/>
                </a:lnRef>
                <a:fillRef idx="0">
                  <a:schemeClr val="accent1"/>
                </a:fillRef>
                <a:effectRef idx="0">
                  <a:schemeClr val="accent1"/>
                </a:effectRef>
                <a:fontRef idx="minor">
                  <a:schemeClr val="tx1"/>
                </a:fontRef>
              </p:style>
            </p:cxnSp>
            <p:cxnSp>
              <p:nvCxnSpPr>
                <p:cNvPr id="40" name="Straight Arrow Connector 39">
                  <a:extLst>
                    <a:ext uri="{FF2B5EF4-FFF2-40B4-BE49-F238E27FC236}">
                      <a16:creationId xmlns:a16="http://schemas.microsoft.com/office/drawing/2014/main" id="{B2DC9021-3558-8C48-A04B-DAB7AE5C2339}"/>
                    </a:ext>
                  </a:extLst>
                </p:cNvPr>
                <p:cNvCxnSpPr>
                  <a:cxnSpLocks/>
                  <a:stCxn id="29" idx="1"/>
                  <a:endCxn id="23" idx="3"/>
                </p:cNvCxnSpPr>
                <p:nvPr/>
              </p:nvCxnSpPr>
              <p:spPr>
                <a:xfrm flipH="1">
                  <a:off x="4539866" y="5216429"/>
                  <a:ext cx="3293103" cy="1"/>
                </a:xfrm>
                <a:prstGeom prst="straightConnector1">
                  <a:avLst/>
                </a:prstGeom>
                <a:ln>
                  <a:solidFill>
                    <a:schemeClr val="accent3"/>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1" name="Content Placeholder 4">
                      <a:extLst>
                        <a:ext uri="{FF2B5EF4-FFF2-40B4-BE49-F238E27FC236}">
                          <a16:creationId xmlns:a16="http://schemas.microsoft.com/office/drawing/2014/main" id="{CBE927D4-069A-924A-879A-BB4711322E77}"/>
                        </a:ext>
                      </a:extLst>
                    </p:cNvPr>
                    <p:cNvSpPr txBox="1">
                      <a:spLocks/>
                    </p:cNvSpPr>
                    <p:nvPr/>
                  </p:nvSpPr>
                  <p:spPr>
                    <a:xfrm>
                      <a:off x="5067616" y="5302141"/>
                      <a:ext cx="2316638" cy="581035"/>
                    </a:xfrm>
                    <a:prstGeom prst="rect">
                      <a:avLst/>
                    </a:prstGeom>
                    <a:solidFill>
                      <a:schemeClr val="accent3"/>
                    </a:solidFill>
                    <a:ln>
                      <a:solidFill>
                        <a:schemeClr val="bg1"/>
                      </a:solidFill>
                    </a:ln>
                  </p:spPr>
                  <p:txBody>
                    <a:bodyPr vert="horz" lIns="91440" tIns="45720" rIns="91440" bIns="45720" rtlCol="0">
                      <a:normAutofit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400" i="1" dirty="0">
                          <a:solidFill>
                            <a:schemeClr val="tx1">
                              <a:lumMod val="95000"/>
                            </a:schemeClr>
                          </a:solidFill>
                        </a:rPr>
                        <a:t>Map solutions of B to solutions of A in </a:t>
                      </a:r>
                      <a14:m>
                        <m:oMath xmlns:m="http://schemas.openxmlformats.org/officeDocument/2006/math">
                          <m:r>
                            <m:rPr>
                              <m:sty m:val="p"/>
                            </m:rPr>
                            <a:rPr lang="en-US" sz="1400" b="0" i="0" smtClean="0">
                              <a:solidFill>
                                <a:schemeClr val="tx1">
                                  <a:lumMod val="95000"/>
                                </a:schemeClr>
                              </a:solidFill>
                              <a:latin typeface="Cambria Math" panose="02040503050406030204" pitchFamily="18" charset="0"/>
                            </a:rPr>
                            <m:t>Θ</m:t>
                          </m:r>
                          <m:r>
                            <a:rPr lang="en-US" sz="1400" b="0" i="1" smtClean="0">
                              <a:solidFill>
                                <a:schemeClr val="tx1">
                                  <a:lumMod val="95000"/>
                                </a:schemeClr>
                              </a:solidFill>
                              <a:latin typeface="Cambria Math" panose="02040503050406030204" pitchFamily="18" charset="0"/>
                            </a:rPr>
                            <m:t>(</m:t>
                          </m:r>
                          <m:sSub>
                            <m:sSubPr>
                              <m:ctrlPr>
                                <a:rPr lang="en-US" sz="1400" b="0" i="1" smtClean="0">
                                  <a:solidFill>
                                    <a:schemeClr val="tx1">
                                      <a:lumMod val="95000"/>
                                    </a:schemeClr>
                                  </a:solidFill>
                                  <a:latin typeface="Cambria Math" panose="02040503050406030204" pitchFamily="18" charset="0"/>
                                </a:rPr>
                              </m:ctrlPr>
                            </m:sSubPr>
                            <m:e>
                              <m:r>
                                <a:rPr lang="en-US" sz="1400" b="0" i="1" smtClean="0">
                                  <a:solidFill>
                                    <a:schemeClr val="tx1">
                                      <a:lumMod val="95000"/>
                                    </a:schemeClr>
                                  </a:solidFill>
                                  <a:latin typeface="Cambria Math" panose="02040503050406030204" pitchFamily="18" charset="0"/>
                                </a:rPr>
                                <m:t>𝑅𝑆</m:t>
                              </m:r>
                            </m:e>
                            <m:sub>
                              <m:r>
                                <a:rPr lang="en-US" sz="1400" b="0" i="1" smtClean="0">
                                  <a:solidFill>
                                    <a:schemeClr val="tx1">
                                      <a:lumMod val="95000"/>
                                    </a:schemeClr>
                                  </a:solidFill>
                                  <a:latin typeface="Cambria Math" panose="02040503050406030204" pitchFamily="18" charset="0"/>
                                </a:rPr>
                                <m:t>𝐵𝐴</m:t>
                              </m:r>
                            </m:sub>
                          </m:sSub>
                          <m:r>
                            <a:rPr lang="en-US" sz="1400" b="0" i="1" smtClean="0">
                              <a:solidFill>
                                <a:schemeClr val="tx1">
                                  <a:lumMod val="95000"/>
                                </a:schemeClr>
                              </a:solidFill>
                              <a:latin typeface="Cambria Math" panose="02040503050406030204" pitchFamily="18" charset="0"/>
                            </a:rPr>
                            <m:t>)</m:t>
                          </m:r>
                        </m:oMath>
                      </a14:m>
                      <a:r>
                        <a:rPr lang="en-US" sz="1400" i="1" dirty="0">
                          <a:solidFill>
                            <a:schemeClr val="tx1">
                              <a:lumMod val="95000"/>
                            </a:schemeClr>
                          </a:solidFill>
                        </a:rPr>
                        <a:t> time.</a:t>
                      </a:r>
                    </a:p>
                  </p:txBody>
                </p:sp>
              </mc:Choice>
              <mc:Fallback xmlns="">
                <p:sp>
                  <p:nvSpPr>
                    <p:cNvPr id="41" name="Content Placeholder 4">
                      <a:extLst>
                        <a:ext uri="{FF2B5EF4-FFF2-40B4-BE49-F238E27FC236}">
                          <a16:creationId xmlns:a16="http://schemas.microsoft.com/office/drawing/2014/main" id="{CBE927D4-069A-924A-879A-BB4711322E77}"/>
                        </a:ext>
                      </a:extLst>
                    </p:cNvPr>
                    <p:cNvSpPr txBox="1">
                      <a:spLocks noRot="1" noChangeAspect="1" noMove="1" noResize="1" noEditPoints="1" noAdjustHandles="1" noChangeArrowheads="1" noChangeShapeType="1" noTextEdit="1"/>
                    </p:cNvSpPr>
                    <p:nvPr/>
                  </p:nvSpPr>
                  <p:spPr>
                    <a:xfrm>
                      <a:off x="5067616" y="5302141"/>
                      <a:ext cx="2316638" cy="581035"/>
                    </a:xfrm>
                    <a:prstGeom prst="rect">
                      <a:avLst/>
                    </a:prstGeom>
                    <a:blipFill>
                      <a:blip r:embed="rId5"/>
                      <a:stretch>
                        <a:fillRect r="-1630" b="-2083"/>
                      </a:stretch>
                    </a:blipFill>
                    <a:ln>
                      <a:solidFill>
                        <a:schemeClr val="bg1"/>
                      </a:solidFill>
                    </a:ln>
                  </p:spPr>
                  <p:txBody>
                    <a:bodyPr/>
                    <a:lstStyle/>
                    <a:p>
                      <a:r>
                        <a:rPr lang="en-US">
                          <a:noFill/>
                        </a:rPr>
                        <a:t> </a:t>
                      </a:r>
                    </a:p>
                  </p:txBody>
                </p:sp>
              </mc:Fallback>
            </mc:AlternateContent>
          </p:grpSp>
        </p:grpSp>
      </p:grpSp>
      <p:grpSp>
        <p:nvGrpSpPr>
          <p:cNvPr id="4" name="Group 3">
            <a:extLst>
              <a:ext uri="{FF2B5EF4-FFF2-40B4-BE49-F238E27FC236}">
                <a16:creationId xmlns:a16="http://schemas.microsoft.com/office/drawing/2014/main" id="{8E3F8D96-49BA-1045-8928-38829A5B5A61}"/>
              </a:ext>
            </a:extLst>
          </p:cNvPr>
          <p:cNvGrpSpPr/>
          <p:nvPr/>
        </p:nvGrpSpPr>
        <p:grpSpPr>
          <a:xfrm>
            <a:off x="7591425" y="1971298"/>
            <a:ext cx="4402471" cy="3717108"/>
            <a:chOff x="7572375" y="1828423"/>
            <a:chExt cx="4402471" cy="3717108"/>
          </a:xfrm>
        </p:grpSpPr>
        <mc:AlternateContent xmlns:mc="http://schemas.openxmlformats.org/markup-compatibility/2006" xmlns:a14="http://schemas.microsoft.com/office/drawing/2010/main">
          <mc:Choice Requires="a14">
            <p:sp>
              <p:nvSpPr>
                <p:cNvPr id="3" name="TextBox 2"/>
                <p:cNvSpPr txBox="1"/>
                <p:nvPr/>
              </p:nvSpPr>
              <p:spPr>
                <a:xfrm>
                  <a:off x="7572375" y="1828423"/>
                  <a:ext cx="4402471" cy="3717108"/>
                </a:xfrm>
                <a:prstGeom prst="rect">
                  <a:avLst/>
                </a:prstGeom>
                <a:solidFill>
                  <a:schemeClr val="tx1">
                    <a:lumMod val="95000"/>
                  </a:schemeClr>
                </a:solidFill>
                <a:ln>
                  <a:solidFill>
                    <a:schemeClr val="bg1"/>
                  </a:solidFill>
                </a:ln>
              </p:spPr>
              <p:txBody>
                <a:bodyPr wrap="square" rtlCol="0">
                  <a:spAutoFit/>
                </a:bodyPr>
                <a:lstStyle/>
                <a:p>
                  <a:pPr algn="ctr"/>
                  <a:r>
                    <a:rPr lang="en-US" i="1" dirty="0">
                      <a:solidFill>
                        <a:schemeClr val="bg1"/>
                      </a:solidFill>
                    </a:rPr>
                    <a:t>Which Algorithm is faster?</a:t>
                  </a:r>
                </a:p>
                <a:p>
                  <a:pPr algn="ctr"/>
                  <a:endParaRPr lang="en-US" i="1" dirty="0">
                    <a:solidFill>
                      <a:schemeClr val="bg1"/>
                    </a:solidFill>
                  </a:endParaRPr>
                </a:p>
                <a:p>
                  <a:pPr algn="ctr"/>
                  <a:endParaRPr lang="en-US" i="1" dirty="0">
                    <a:solidFill>
                      <a:schemeClr val="bg1"/>
                    </a:solidFill>
                  </a:endParaRPr>
                </a:p>
                <a:p>
                  <a:pPr algn="ctr"/>
                  <a:endParaRPr lang="en-US" i="1" dirty="0">
                    <a:solidFill>
                      <a:schemeClr val="bg1"/>
                    </a:solidFill>
                  </a:endParaRPr>
                </a:p>
                <a:p>
                  <a:pPr algn="ctr"/>
                  <a:endParaRPr lang="en-US" i="1" dirty="0">
                    <a:solidFill>
                      <a:schemeClr val="bg1"/>
                    </a:solidFill>
                  </a:endParaRPr>
                </a:p>
                <a:p>
                  <a:pPr algn="ctr"/>
                  <a:endParaRPr lang="en-US" i="1" dirty="0">
                    <a:solidFill>
                      <a:schemeClr val="bg1"/>
                    </a:solidFill>
                  </a:endParaRPr>
                </a:p>
                <a:p>
                  <a:pPr algn="ctr"/>
                  <a:br>
                    <a:rPr lang="en-US" i="1" dirty="0">
                      <a:solidFill>
                        <a:schemeClr val="bg1"/>
                      </a:solidFill>
                    </a:rPr>
                  </a:br>
                  <a:r>
                    <a:rPr lang="en-US" i="1" dirty="0">
                      <a:solidFill>
                        <a:schemeClr val="bg1"/>
                      </a:solidFill>
                    </a:rPr>
                    <a:t>If </a:t>
                  </a:r>
                  <a14:m>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𝑅</m:t>
                          </m:r>
                        </m:e>
                        <m:sub>
                          <m:r>
                            <a:rPr lang="en-US" b="0" i="1" smtClean="0">
                              <a:solidFill>
                                <a:schemeClr val="bg1"/>
                              </a:solidFill>
                              <a:latin typeface="Cambria Math" panose="02040503050406030204" pitchFamily="18" charset="0"/>
                            </a:rPr>
                            <m:t>𝐴𝐵</m:t>
                          </m:r>
                        </m:sub>
                      </m:sSub>
                      <m:r>
                        <a:rPr lang="en-US" b="0" i="1" smtClean="0">
                          <a:solidFill>
                            <a:schemeClr val="bg1"/>
                          </a:solidFill>
                          <a:latin typeface="Cambria Math" panose="02040503050406030204" pitchFamily="18" charset="0"/>
                        </a:rPr>
                        <m:t>+</m:t>
                      </m:r>
                      <m:r>
                        <a:rPr lang="en-US" b="0" i="1" smtClean="0">
                          <a:solidFill>
                            <a:schemeClr val="bg1"/>
                          </a:solidFill>
                          <a:latin typeface="Cambria Math" panose="02040503050406030204" pitchFamily="18" charset="0"/>
                        </a:rPr>
                        <m:t>𝑅</m:t>
                      </m:r>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𝑆</m:t>
                          </m:r>
                        </m:e>
                        <m:sub>
                          <m:r>
                            <a:rPr lang="en-US" b="0" i="1" smtClean="0">
                              <a:solidFill>
                                <a:schemeClr val="bg1"/>
                              </a:solidFill>
                              <a:latin typeface="Cambria Math" panose="02040503050406030204" pitchFamily="18" charset="0"/>
                            </a:rPr>
                            <m:t>𝐵𝐴</m:t>
                          </m:r>
                        </m:sub>
                      </m:sSub>
                      <m:r>
                        <a:rPr lang="en-US" b="0" i="1" smtClean="0">
                          <a:solidFill>
                            <a:schemeClr val="bg1"/>
                          </a:solidFill>
                          <a:latin typeface="Cambria Math" panose="02040503050406030204" pitchFamily="18" charset="0"/>
                        </a:rPr>
                        <m:t>∈</m:t>
                      </m:r>
                      <m:r>
                        <a:rPr lang="en-US" b="0" i="1" smtClean="0">
                          <a:solidFill>
                            <a:schemeClr val="bg1"/>
                          </a:solidFill>
                          <a:latin typeface="Cambria Math" panose="02040503050406030204" pitchFamily="18" charset="0"/>
                        </a:rPr>
                        <m:t>𝑂</m:t>
                      </m:r>
                      <m:r>
                        <a:rPr lang="en-US" b="0" i="1" smtClean="0">
                          <a:solidFill>
                            <a:schemeClr val="bg1"/>
                          </a:solidFill>
                          <a:latin typeface="Cambria Math" panose="02040503050406030204" pitchFamily="18" charset="0"/>
                        </a:rPr>
                        <m:t>(</m:t>
                      </m:r>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𝐵</m:t>
                          </m:r>
                        </m:e>
                        <m:sub>
                          <m:r>
                            <a:rPr lang="en-US" b="0" i="1" smtClean="0">
                              <a:solidFill>
                                <a:schemeClr val="bg1"/>
                              </a:solidFill>
                              <a:latin typeface="Cambria Math" panose="02040503050406030204" pitchFamily="18" charset="0"/>
                            </a:rPr>
                            <m:t>𝑛</m:t>
                          </m:r>
                        </m:sub>
                      </m:sSub>
                      <m:r>
                        <a:rPr lang="en-US" b="0" i="1" smtClean="0">
                          <a:solidFill>
                            <a:schemeClr val="bg1"/>
                          </a:solidFill>
                          <a:latin typeface="Cambria Math" panose="02040503050406030204" pitchFamily="18" charset="0"/>
                        </a:rPr>
                        <m:t>)</m:t>
                      </m:r>
                    </m:oMath>
                  </a14:m>
                  <a:r>
                    <a:rPr lang="en-US" i="1" dirty="0">
                      <a:solidFill>
                        <a:schemeClr val="bg1"/>
                      </a:solidFill>
                    </a:rPr>
                    <a:t>, then this represents a </a:t>
                  </a:r>
                  <a:r>
                    <a:rPr lang="en-US" b="1" u="sng" dirty="0">
                      <a:solidFill>
                        <a:schemeClr val="bg1"/>
                      </a:solidFill>
                    </a:rPr>
                    <a:t>valid reduction</a:t>
                  </a:r>
                  <a:r>
                    <a:rPr lang="en-US" i="1" dirty="0">
                      <a:solidFill>
                        <a:schemeClr val="bg1"/>
                      </a:solidFill>
                    </a:rPr>
                    <a:t> and </a:t>
                  </a:r>
                  <a14:m>
                    <m:oMath xmlns:m="http://schemas.openxmlformats.org/officeDocument/2006/math">
                      <m:r>
                        <a:rPr lang="en-US" i="1">
                          <a:solidFill>
                            <a:schemeClr val="bg1"/>
                          </a:solidFill>
                          <a:latin typeface="Cambria Math" panose="02040503050406030204" pitchFamily="18" charset="0"/>
                        </a:rPr>
                        <m:t>𝐴</m:t>
                      </m:r>
                      <m:sSub>
                        <m:sSubPr>
                          <m:ctrlPr>
                            <a:rPr lang="en-US" i="1">
                              <a:solidFill>
                                <a:schemeClr val="bg1"/>
                              </a:solidFill>
                              <a:latin typeface="Cambria Math" panose="02040503050406030204" pitchFamily="18" charset="0"/>
                            </a:rPr>
                          </m:ctrlPr>
                        </m:sSubPr>
                        <m:e>
                          <m:r>
                            <a:rPr lang="en-US" i="1">
                              <a:solidFill>
                                <a:schemeClr val="bg1"/>
                              </a:solidFill>
                              <a:latin typeface="Cambria Math" panose="02040503050406030204" pitchFamily="18" charset="0"/>
                            </a:rPr>
                            <m:t>≤</m:t>
                          </m:r>
                        </m:e>
                        <m:sub>
                          <m:sSub>
                            <m:sSubPr>
                              <m:ctrlPr>
                                <a:rPr lang="en-US" i="1">
                                  <a:solidFill>
                                    <a:schemeClr val="bg1"/>
                                  </a:solidFill>
                                  <a:latin typeface="Cambria Math" panose="02040503050406030204" pitchFamily="18" charset="0"/>
                                </a:rPr>
                              </m:ctrlPr>
                            </m:sSubPr>
                            <m:e>
                              <m:r>
                                <a:rPr lang="en-US" i="1">
                                  <a:solidFill>
                                    <a:schemeClr val="bg1"/>
                                  </a:solidFill>
                                  <a:latin typeface="Cambria Math" panose="02040503050406030204" pitchFamily="18" charset="0"/>
                                </a:rPr>
                                <m:t>𝑅</m:t>
                              </m:r>
                            </m:e>
                            <m:sub>
                              <m:r>
                                <a:rPr lang="en-US" i="1">
                                  <a:solidFill>
                                    <a:schemeClr val="bg1"/>
                                  </a:solidFill>
                                  <a:latin typeface="Cambria Math" panose="02040503050406030204" pitchFamily="18" charset="0"/>
                                </a:rPr>
                                <m:t>𝐴𝐵</m:t>
                              </m:r>
                            </m:sub>
                          </m:sSub>
                          <m:r>
                            <a:rPr lang="en-US" i="1">
                              <a:solidFill>
                                <a:schemeClr val="bg1"/>
                              </a:solidFill>
                              <a:latin typeface="Cambria Math" panose="02040503050406030204" pitchFamily="18" charset="0"/>
                            </a:rPr>
                            <m:t>+</m:t>
                          </m:r>
                          <m:r>
                            <a:rPr lang="en-US" i="1">
                              <a:solidFill>
                                <a:schemeClr val="bg1"/>
                              </a:solidFill>
                              <a:latin typeface="Cambria Math" panose="02040503050406030204" pitchFamily="18" charset="0"/>
                            </a:rPr>
                            <m:t>𝑅</m:t>
                          </m:r>
                          <m:sSub>
                            <m:sSubPr>
                              <m:ctrlPr>
                                <a:rPr lang="en-US" i="1">
                                  <a:solidFill>
                                    <a:schemeClr val="bg1"/>
                                  </a:solidFill>
                                  <a:latin typeface="Cambria Math" panose="02040503050406030204" pitchFamily="18" charset="0"/>
                                </a:rPr>
                              </m:ctrlPr>
                            </m:sSubPr>
                            <m:e>
                              <m:r>
                                <a:rPr lang="en-US" i="1">
                                  <a:solidFill>
                                    <a:schemeClr val="bg1"/>
                                  </a:solidFill>
                                  <a:latin typeface="Cambria Math" panose="02040503050406030204" pitchFamily="18" charset="0"/>
                                </a:rPr>
                                <m:t>𝑆</m:t>
                              </m:r>
                            </m:e>
                            <m:sub>
                              <m:r>
                                <a:rPr lang="en-US" i="1">
                                  <a:solidFill>
                                    <a:schemeClr val="bg1"/>
                                  </a:solidFill>
                                  <a:latin typeface="Cambria Math" panose="02040503050406030204" pitchFamily="18" charset="0"/>
                                </a:rPr>
                                <m:t>𝐵𝐴</m:t>
                              </m:r>
                            </m:sub>
                          </m:sSub>
                        </m:sub>
                      </m:sSub>
                      <m:r>
                        <a:rPr lang="en-US" i="1">
                          <a:solidFill>
                            <a:schemeClr val="bg1"/>
                          </a:solidFill>
                          <a:latin typeface="Cambria Math" panose="02040503050406030204" pitchFamily="18" charset="0"/>
                        </a:rPr>
                        <m:t>𝐵</m:t>
                      </m:r>
                    </m:oMath>
                  </a14:m>
                  <a:endParaRPr lang="en-US" i="1" dirty="0">
                    <a:solidFill>
                      <a:schemeClr val="bg1"/>
                    </a:solidFill>
                  </a:endParaRPr>
                </a:p>
                <a:p>
                  <a:pPr algn="ctr"/>
                  <a:endParaRPr lang="en-US" i="1" dirty="0">
                    <a:solidFill>
                      <a:schemeClr val="bg1"/>
                    </a:solidFill>
                  </a:endParaRPr>
                </a:p>
                <a:p>
                  <a:pPr algn="ctr"/>
                  <a:r>
                    <a:rPr lang="en-US" i="1" dirty="0">
                      <a:solidFill>
                        <a:schemeClr val="bg1"/>
                      </a:solidFill>
                    </a:rPr>
                    <a:t>If </a:t>
                  </a:r>
                  <a14:m>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𝑅</m:t>
                          </m:r>
                        </m:e>
                        <m:sub>
                          <m:r>
                            <a:rPr lang="en-US" b="0" i="1" smtClean="0">
                              <a:solidFill>
                                <a:schemeClr val="bg1"/>
                              </a:solidFill>
                              <a:latin typeface="Cambria Math" panose="02040503050406030204" pitchFamily="18" charset="0"/>
                            </a:rPr>
                            <m:t>𝐴𝐵</m:t>
                          </m:r>
                        </m:sub>
                      </m:sSub>
                      <m:r>
                        <a:rPr lang="en-US" b="0" i="1" smtClean="0">
                          <a:solidFill>
                            <a:schemeClr val="bg1"/>
                          </a:solidFill>
                          <a:latin typeface="Cambria Math" panose="02040503050406030204" pitchFamily="18" charset="0"/>
                        </a:rPr>
                        <m:t>+</m:t>
                      </m:r>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𝐵</m:t>
                          </m:r>
                        </m:e>
                        <m:sub>
                          <m:r>
                            <a:rPr lang="en-US" b="0" i="1" smtClean="0">
                              <a:solidFill>
                                <a:schemeClr val="bg1"/>
                              </a:solidFill>
                              <a:latin typeface="Cambria Math" panose="02040503050406030204" pitchFamily="18" charset="0"/>
                            </a:rPr>
                            <m:t>𝑛</m:t>
                          </m:r>
                        </m:sub>
                      </m:sSub>
                      <m:r>
                        <a:rPr lang="en-US" b="0" i="1" smtClean="0">
                          <a:solidFill>
                            <a:schemeClr val="bg1"/>
                          </a:solidFill>
                          <a:latin typeface="Cambria Math" panose="02040503050406030204" pitchFamily="18" charset="0"/>
                        </a:rPr>
                        <m:t>+</m:t>
                      </m:r>
                      <m:r>
                        <a:rPr lang="en-US" b="0" i="1" smtClean="0">
                          <a:solidFill>
                            <a:schemeClr val="bg1"/>
                          </a:solidFill>
                          <a:latin typeface="Cambria Math" panose="02040503050406030204" pitchFamily="18" charset="0"/>
                        </a:rPr>
                        <m:t>𝑅</m:t>
                      </m:r>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𝑆</m:t>
                          </m:r>
                        </m:e>
                        <m:sub>
                          <m:r>
                            <a:rPr lang="en-US" b="0" i="1" smtClean="0">
                              <a:solidFill>
                                <a:schemeClr val="bg1"/>
                              </a:solidFill>
                              <a:latin typeface="Cambria Math" panose="02040503050406030204" pitchFamily="18" charset="0"/>
                            </a:rPr>
                            <m:t>𝐵𝐴</m:t>
                          </m:r>
                        </m:sub>
                      </m:sSub>
                      <m:r>
                        <a:rPr lang="en-US" b="0" i="1" smtClean="0">
                          <a:solidFill>
                            <a:schemeClr val="bg1"/>
                          </a:solidFill>
                          <a:latin typeface="Cambria Math" panose="02040503050406030204" pitchFamily="18" charset="0"/>
                        </a:rPr>
                        <m:t>∈</m:t>
                      </m:r>
                      <m:r>
                        <a:rPr lang="en-US" b="0" i="1" smtClean="0">
                          <a:solidFill>
                            <a:schemeClr val="bg1"/>
                          </a:solidFill>
                          <a:latin typeface="Cambria Math" panose="02040503050406030204" pitchFamily="18" charset="0"/>
                        </a:rPr>
                        <m:t>𝑂</m:t>
                      </m:r>
                      <m:r>
                        <a:rPr lang="en-US" b="0" i="1" smtClean="0">
                          <a:solidFill>
                            <a:schemeClr val="bg1"/>
                          </a:solidFill>
                          <a:latin typeface="Cambria Math" panose="02040503050406030204" pitchFamily="18" charset="0"/>
                        </a:rPr>
                        <m:t>(</m:t>
                      </m:r>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𝐴</m:t>
                          </m:r>
                        </m:e>
                        <m:sub>
                          <m:r>
                            <a:rPr lang="en-US" b="0" i="1" smtClean="0">
                              <a:solidFill>
                                <a:schemeClr val="bg1"/>
                              </a:solidFill>
                              <a:latin typeface="Cambria Math" panose="02040503050406030204" pitchFamily="18" charset="0"/>
                            </a:rPr>
                            <m:t>𝑛</m:t>
                          </m:r>
                        </m:sub>
                      </m:sSub>
                      <m:r>
                        <a:rPr lang="en-US" b="0" i="1" smtClean="0">
                          <a:solidFill>
                            <a:schemeClr val="bg1"/>
                          </a:solidFill>
                          <a:latin typeface="Cambria Math" panose="02040503050406030204" pitchFamily="18" charset="0"/>
                        </a:rPr>
                        <m:t>)</m:t>
                      </m:r>
                    </m:oMath>
                  </a14:m>
                  <a:r>
                    <a:rPr lang="en-US" i="1" dirty="0">
                      <a:solidFill>
                        <a:schemeClr val="bg1"/>
                      </a:solidFill>
                    </a:rPr>
                    <a:t>, then this is the best algorithm for A (or equally the best)</a:t>
                  </a:r>
                </a:p>
                <a:p>
                  <a:pPr algn="ctr"/>
                  <a:endParaRPr lang="en-US" i="1" dirty="0">
                    <a:solidFill>
                      <a:schemeClr val="bg1"/>
                    </a:solidFill>
                  </a:endParaRPr>
                </a:p>
              </p:txBody>
            </p:sp>
          </mc:Choice>
          <mc:Fallback xmlns="">
            <p:sp>
              <p:nvSpPr>
                <p:cNvPr id="3" name="TextBox 2"/>
                <p:cNvSpPr txBox="1">
                  <a:spLocks noRot="1" noChangeAspect="1" noMove="1" noResize="1" noEditPoints="1" noAdjustHandles="1" noChangeArrowheads="1" noChangeShapeType="1" noTextEdit="1"/>
                </p:cNvSpPr>
                <p:nvPr/>
              </p:nvSpPr>
              <p:spPr>
                <a:xfrm>
                  <a:off x="7572375" y="1828423"/>
                  <a:ext cx="4402471" cy="3717108"/>
                </a:xfrm>
                <a:prstGeom prst="rect">
                  <a:avLst/>
                </a:prstGeom>
                <a:blipFill>
                  <a:blip r:embed="rId6"/>
                  <a:stretch>
                    <a:fillRect l="-862" t="-339" r="-2011"/>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F0BE6109-09C1-2546-BBEB-F6EEB25299A7}"/>
                    </a:ext>
                  </a:extLst>
                </p:cNvPr>
                <p:cNvSpPr txBox="1"/>
                <p:nvPr/>
              </p:nvSpPr>
              <p:spPr>
                <a:xfrm>
                  <a:off x="7715250" y="2535604"/>
                  <a:ext cx="4104450" cy="369332"/>
                </a:xfrm>
                <a:prstGeom prst="rect">
                  <a:avLst/>
                </a:prstGeom>
                <a:solidFill>
                  <a:schemeClr val="accent1"/>
                </a:solidFill>
                <a:ln>
                  <a:solidFill>
                    <a:schemeClr val="bg1"/>
                  </a:solidFill>
                </a:ln>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𝐴</m:t>
                            </m:r>
                          </m:e>
                          <m:sub>
                            <m:r>
                              <a:rPr lang="en-US" b="0" i="1" smtClean="0">
                                <a:solidFill>
                                  <a:schemeClr val="bg1"/>
                                </a:solidFill>
                                <a:latin typeface="Cambria Math" panose="02040503050406030204" pitchFamily="18" charset="0"/>
                              </a:rPr>
                              <m:t>𝑛</m:t>
                            </m:r>
                          </m:sub>
                        </m:sSub>
                      </m:oMath>
                    </m:oMathPara>
                  </a14:m>
                  <a:endParaRPr lang="en-US" i="1" dirty="0">
                    <a:solidFill>
                      <a:schemeClr val="bg1"/>
                    </a:solidFill>
                  </a:endParaRPr>
                </a:p>
              </p:txBody>
            </p:sp>
          </mc:Choice>
          <mc:Fallback xmlns="">
            <p:sp>
              <p:nvSpPr>
                <p:cNvPr id="45" name="TextBox 44">
                  <a:extLst>
                    <a:ext uri="{FF2B5EF4-FFF2-40B4-BE49-F238E27FC236}">
                      <a16:creationId xmlns:a16="http://schemas.microsoft.com/office/drawing/2014/main" id="{F0BE6109-09C1-2546-BBEB-F6EEB25299A7}"/>
                    </a:ext>
                  </a:extLst>
                </p:cNvPr>
                <p:cNvSpPr txBox="1">
                  <a:spLocks noRot="1" noChangeAspect="1" noMove="1" noResize="1" noEditPoints="1" noAdjustHandles="1" noChangeArrowheads="1" noChangeShapeType="1" noTextEdit="1"/>
                </p:cNvSpPr>
                <p:nvPr/>
              </p:nvSpPr>
              <p:spPr>
                <a:xfrm>
                  <a:off x="7715250" y="2535604"/>
                  <a:ext cx="4104450" cy="369332"/>
                </a:xfrm>
                <a:prstGeom prst="rect">
                  <a:avLst/>
                </a:prstGeom>
                <a:blipFill>
                  <a:blip r:embed="rId7"/>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62B9DB6F-EBE3-9C40-9042-ADE677676AED}"/>
                    </a:ext>
                  </a:extLst>
                </p:cNvPr>
                <p:cNvSpPr txBox="1"/>
                <p:nvPr/>
              </p:nvSpPr>
              <p:spPr>
                <a:xfrm>
                  <a:off x="7715250" y="3027851"/>
                  <a:ext cx="4104450" cy="369332"/>
                </a:xfrm>
                <a:prstGeom prst="rect">
                  <a:avLst/>
                </a:prstGeom>
                <a:solidFill>
                  <a:schemeClr val="accent3"/>
                </a:solidFill>
                <a:ln>
                  <a:solidFill>
                    <a:schemeClr val="bg1"/>
                  </a:solidFill>
                </a:ln>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tx1"/>
                                </a:solidFill>
                                <a:latin typeface="Cambria Math" panose="02040503050406030204" pitchFamily="18" charset="0"/>
                              </a:rPr>
                            </m:ctrlPr>
                          </m:sSubPr>
                          <m:e>
                            <m:r>
                              <a:rPr lang="en-US" b="0" i="1" smtClean="0">
                                <a:solidFill>
                                  <a:schemeClr val="tx1"/>
                                </a:solidFill>
                                <a:latin typeface="Cambria Math" panose="02040503050406030204" pitchFamily="18" charset="0"/>
                              </a:rPr>
                              <m:t>𝑅</m:t>
                            </m:r>
                          </m:e>
                          <m:sub>
                            <m:r>
                              <a:rPr lang="en-US" b="0" i="1" smtClean="0">
                                <a:solidFill>
                                  <a:schemeClr val="tx1"/>
                                </a:solidFill>
                                <a:latin typeface="Cambria Math" panose="02040503050406030204" pitchFamily="18" charset="0"/>
                              </a:rPr>
                              <m:t>𝐴𝐵</m:t>
                            </m:r>
                          </m:sub>
                        </m:sSub>
                        <m:r>
                          <a:rPr lang="en-US" b="0" i="1" smtClean="0">
                            <a:solidFill>
                              <a:schemeClr val="tx1"/>
                            </a:solidFill>
                            <a:latin typeface="Cambria Math" panose="02040503050406030204" pitchFamily="18" charset="0"/>
                          </a:rPr>
                          <m:t>+</m:t>
                        </m:r>
                        <m:sSub>
                          <m:sSubPr>
                            <m:ctrlPr>
                              <a:rPr lang="en-US" b="0" i="1" smtClean="0">
                                <a:solidFill>
                                  <a:schemeClr val="tx1"/>
                                </a:solidFill>
                                <a:latin typeface="Cambria Math" panose="02040503050406030204" pitchFamily="18" charset="0"/>
                              </a:rPr>
                            </m:ctrlPr>
                          </m:sSubPr>
                          <m:e>
                            <m:r>
                              <a:rPr lang="en-US" b="0" i="1" smtClean="0">
                                <a:solidFill>
                                  <a:schemeClr val="tx1"/>
                                </a:solidFill>
                                <a:latin typeface="Cambria Math" panose="02040503050406030204" pitchFamily="18" charset="0"/>
                              </a:rPr>
                              <m:t>𝐵</m:t>
                            </m:r>
                          </m:e>
                          <m:sub>
                            <m:r>
                              <a:rPr lang="en-US" b="0" i="1" smtClean="0">
                                <a:solidFill>
                                  <a:schemeClr val="tx1"/>
                                </a:solidFill>
                                <a:latin typeface="Cambria Math" panose="02040503050406030204" pitchFamily="18" charset="0"/>
                              </a:rPr>
                              <m:t>𝑛</m:t>
                            </m:r>
                          </m:sub>
                        </m:sSub>
                        <m:r>
                          <a:rPr lang="en-US" b="0" i="1" smtClean="0">
                            <a:solidFill>
                              <a:schemeClr val="tx1"/>
                            </a:solidFill>
                            <a:latin typeface="Cambria Math" panose="02040503050406030204" pitchFamily="18" charset="0"/>
                          </a:rPr>
                          <m:t>+</m:t>
                        </m:r>
                        <m:r>
                          <a:rPr lang="en-US" b="0" i="1" smtClean="0">
                            <a:solidFill>
                              <a:schemeClr val="tx1"/>
                            </a:solidFill>
                            <a:latin typeface="Cambria Math" panose="02040503050406030204" pitchFamily="18" charset="0"/>
                          </a:rPr>
                          <m:t>𝑅</m:t>
                        </m:r>
                        <m:sSub>
                          <m:sSubPr>
                            <m:ctrlPr>
                              <a:rPr lang="en-US" b="0" i="1" smtClean="0">
                                <a:solidFill>
                                  <a:schemeClr val="tx1"/>
                                </a:solidFill>
                                <a:latin typeface="Cambria Math" panose="02040503050406030204" pitchFamily="18" charset="0"/>
                              </a:rPr>
                            </m:ctrlPr>
                          </m:sSubPr>
                          <m:e>
                            <m:r>
                              <a:rPr lang="en-US" b="0" i="1" smtClean="0">
                                <a:solidFill>
                                  <a:schemeClr val="tx1"/>
                                </a:solidFill>
                                <a:latin typeface="Cambria Math" panose="02040503050406030204" pitchFamily="18" charset="0"/>
                              </a:rPr>
                              <m:t>𝑆</m:t>
                            </m:r>
                          </m:e>
                          <m:sub>
                            <m:r>
                              <a:rPr lang="en-US" b="0" i="1" smtClean="0">
                                <a:solidFill>
                                  <a:schemeClr val="tx1"/>
                                </a:solidFill>
                                <a:latin typeface="Cambria Math" panose="02040503050406030204" pitchFamily="18" charset="0"/>
                              </a:rPr>
                              <m:t>𝐵𝐴</m:t>
                            </m:r>
                          </m:sub>
                        </m:sSub>
                      </m:oMath>
                    </m:oMathPara>
                  </a14:m>
                  <a:endParaRPr lang="en-US" i="1" dirty="0">
                    <a:solidFill>
                      <a:schemeClr val="tx1"/>
                    </a:solidFill>
                  </a:endParaRPr>
                </a:p>
              </p:txBody>
            </p:sp>
          </mc:Choice>
          <mc:Fallback xmlns="">
            <p:sp>
              <p:nvSpPr>
                <p:cNvPr id="24" name="TextBox 23">
                  <a:extLst>
                    <a:ext uri="{FF2B5EF4-FFF2-40B4-BE49-F238E27FC236}">
                      <a16:creationId xmlns:a16="http://schemas.microsoft.com/office/drawing/2014/main" id="{62B9DB6F-EBE3-9C40-9042-ADE677676AED}"/>
                    </a:ext>
                  </a:extLst>
                </p:cNvPr>
                <p:cNvSpPr txBox="1">
                  <a:spLocks noRot="1" noChangeAspect="1" noMove="1" noResize="1" noEditPoints="1" noAdjustHandles="1" noChangeArrowheads="1" noChangeShapeType="1" noTextEdit="1"/>
                </p:cNvSpPr>
                <p:nvPr/>
              </p:nvSpPr>
              <p:spPr>
                <a:xfrm>
                  <a:off x="7715250" y="3027851"/>
                  <a:ext cx="4104450" cy="369332"/>
                </a:xfrm>
                <a:prstGeom prst="rect">
                  <a:avLst/>
                </a:prstGeom>
                <a:blipFill>
                  <a:blip r:embed="rId8"/>
                  <a:stretch>
                    <a:fillRect/>
                  </a:stretch>
                </a:blipFill>
                <a:ln>
                  <a:solidFill>
                    <a:schemeClr val="bg1"/>
                  </a:solidFill>
                </a:ln>
              </p:spPr>
              <p:txBody>
                <a:bodyPr/>
                <a:lstStyle/>
                <a:p>
                  <a:r>
                    <a:rPr lang="en-US">
                      <a:noFill/>
                    </a:rPr>
                    <a:t> </a:t>
                  </a:r>
                </a:p>
              </p:txBody>
            </p:sp>
          </mc:Fallback>
        </mc:AlternateContent>
      </p:grpSp>
    </p:spTree>
    <p:extLst>
      <p:ext uri="{BB962C8B-B14F-4D97-AF65-F5344CB8AC3E}">
        <p14:creationId xmlns:p14="http://schemas.microsoft.com/office/powerpoint/2010/main" val="219033529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41413" y="129734"/>
            <a:ext cx="9905998" cy="722453"/>
          </a:xfrm>
        </p:spPr>
        <p:txBody>
          <a:bodyPr/>
          <a:lstStyle/>
          <a:p>
            <a:pPr algn="ctr"/>
            <a:r>
              <a:rPr lang="en-US" dirty="0"/>
              <a:t>Runtime Comparison</a:t>
            </a:r>
            <a:endParaRPr lang="en-US" dirty="0">
              <a:solidFill>
                <a:srgbClr val="FFA7FF"/>
              </a:solidFill>
            </a:endParaRPr>
          </a:p>
        </p:txBody>
      </p:sp>
      <p:grpSp>
        <p:nvGrpSpPr>
          <p:cNvPr id="4" name="Group 3">
            <a:extLst>
              <a:ext uri="{FF2B5EF4-FFF2-40B4-BE49-F238E27FC236}">
                <a16:creationId xmlns:a16="http://schemas.microsoft.com/office/drawing/2014/main" id="{8E3F8D96-49BA-1045-8928-38829A5B5A61}"/>
              </a:ext>
            </a:extLst>
          </p:cNvPr>
          <p:cNvGrpSpPr/>
          <p:nvPr/>
        </p:nvGrpSpPr>
        <p:grpSpPr>
          <a:xfrm>
            <a:off x="579107" y="2598673"/>
            <a:ext cx="4402471" cy="2031325"/>
            <a:chOff x="7572375" y="1828423"/>
            <a:chExt cx="4402471" cy="2031325"/>
          </a:xfrm>
        </p:grpSpPr>
        <p:sp>
          <p:nvSpPr>
            <p:cNvPr id="3" name="TextBox 2"/>
            <p:cNvSpPr txBox="1"/>
            <p:nvPr/>
          </p:nvSpPr>
          <p:spPr>
            <a:xfrm>
              <a:off x="7572375" y="1828423"/>
              <a:ext cx="4402471" cy="2031325"/>
            </a:xfrm>
            <a:prstGeom prst="rect">
              <a:avLst/>
            </a:prstGeom>
            <a:solidFill>
              <a:schemeClr val="tx1">
                <a:lumMod val="95000"/>
              </a:schemeClr>
            </a:solidFill>
            <a:ln>
              <a:solidFill>
                <a:schemeClr val="bg1"/>
              </a:solidFill>
            </a:ln>
          </p:spPr>
          <p:txBody>
            <a:bodyPr wrap="square" rtlCol="0">
              <a:spAutoFit/>
            </a:bodyPr>
            <a:lstStyle/>
            <a:p>
              <a:pPr algn="ctr"/>
              <a:r>
                <a:rPr lang="en-US" i="1" dirty="0">
                  <a:solidFill>
                    <a:schemeClr val="bg1"/>
                  </a:solidFill>
                </a:rPr>
                <a:t>Which Algorithm is faster?</a:t>
              </a:r>
            </a:p>
            <a:p>
              <a:pPr algn="ctr"/>
              <a:endParaRPr lang="en-US" i="1" dirty="0">
                <a:solidFill>
                  <a:schemeClr val="bg1"/>
                </a:solidFill>
              </a:endParaRPr>
            </a:p>
            <a:p>
              <a:pPr algn="ctr"/>
              <a:endParaRPr lang="en-US" i="1" dirty="0">
                <a:solidFill>
                  <a:schemeClr val="bg1"/>
                </a:solidFill>
              </a:endParaRPr>
            </a:p>
            <a:p>
              <a:pPr algn="ctr"/>
              <a:endParaRPr lang="en-US" i="1" dirty="0">
                <a:solidFill>
                  <a:schemeClr val="bg1"/>
                </a:solidFill>
              </a:endParaRPr>
            </a:p>
            <a:p>
              <a:pPr algn="ctr"/>
              <a:endParaRPr lang="en-US" i="1" dirty="0">
                <a:solidFill>
                  <a:schemeClr val="bg1"/>
                </a:solidFill>
              </a:endParaRPr>
            </a:p>
            <a:p>
              <a:pPr algn="ctr"/>
              <a:endParaRPr lang="en-US" i="1" dirty="0">
                <a:solidFill>
                  <a:schemeClr val="bg1"/>
                </a:solidFill>
              </a:endParaRPr>
            </a:p>
            <a:p>
              <a:pPr algn="ctr"/>
              <a:endParaRPr lang="en-US" i="1" dirty="0">
                <a:solidFill>
                  <a:schemeClr val="bg1"/>
                </a:solidFill>
              </a:endParaRPr>
            </a:p>
          </p:txBody>
        </p: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F0BE6109-09C1-2546-BBEB-F6EEB25299A7}"/>
                    </a:ext>
                  </a:extLst>
                </p:cNvPr>
                <p:cNvSpPr txBox="1"/>
                <p:nvPr/>
              </p:nvSpPr>
              <p:spPr>
                <a:xfrm>
                  <a:off x="7715250" y="2535604"/>
                  <a:ext cx="4104450" cy="369332"/>
                </a:xfrm>
                <a:prstGeom prst="rect">
                  <a:avLst/>
                </a:prstGeom>
                <a:solidFill>
                  <a:schemeClr val="accent1"/>
                </a:solidFill>
                <a:ln>
                  <a:solidFill>
                    <a:schemeClr val="bg1"/>
                  </a:solidFill>
                </a:ln>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𝐴</m:t>
                            </m:r>
                          </m:e>
                          <m:sub>
                            <m:r>
                              <a:rPr lang="en-US" b="0" i="1" smtClean="0">
                                <a:solidFill>
                                  <a:schemeClr val="bg1"/>
                                </a:solidFill>
                                <a:latin typeface="Cambria Math" panose="02040503050406030204" pitchFamily="18" charset="0"/>
                              </a:rPr>
                              <m:t>𝑛</m:t>
                            </m:r>
                          </m:sub>
                        </m:sSub>
                      </m:oMath>
                    </m:oMathPara>
                  </a14:m>
                  <a:endParaRPr lang="en-US" i="1" dirty="0">
                    <a:solidFill>
                      <a:schemeClr val="bg1"/>
                    </a:solidFill>
                  </a:endParaRPr>
                </a:p>
              </p:txBody>
            </p:sp>
          </mc:Choice>
          <mc:Fallback xmlns="">
            <p:sp>
              <p:nvSpPr>
                <p:cNvPr id="45" name="TextBox 44">
                  <a:extLst>
                    <a:ext uri="{FF2B5EF4-FFF2-40B4-BE49-F238E27FC236}">
                      <a16:creationId xmlns:a16="http://schemas.microsoft.com/office/drawing/2014/main" id="{F0BE6109-09C1-2546-BBEB-F6EEB25299A7}"/>
                    </a:ext>
                  </a:extLst>
                </p:cNvPr>
                <p:cNvSpPr txBox="1">
                  <a:spLocks noRot="1" noChangeAspect="1" noMove="1" noResize="1" noEditPoints="1" noAdjustHandles="1" noChangeArrowheads="1" noChangeShapeType="1" noTextEdit="1"/>
                </p:cNvSpPr>
                <p:nvPr/>
              </p:nvSpPr>
              <p:spPr>
                <a:xfrm>
                  <a:off x="7715250" y="2535604"/>
                  <a:ext cx="4104450" cy="369332"/>
                </a:xfrm>
                <a:prstGeom prst="rect">
                  <a:avLst/>
                </a:prstGeom>
                <a:blipFill>
                  <a:blip r:embed="rId3"/>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62B9DB6F-EBE3-9C40-9042-ADE677676AED}"/>
                    </a:ext>
                  </a:extLst>
                </p:cNvPr>
                <p:cNvSpPr txBox="1"/>
                <p:nvPr/>
              </p:nvSpPr>
              <p:spPr>
                <a:xfrm>
                  <a:off x="7715250" y="3027851"/>
                  <a:ext cx="4104450" cy="369332"/>
                </a:xfrm>
                <a:prstGeom prst="rect">
                  <a:avLst/>
                </a:prstGeom>
                <a:solidFill>
                  <a:schemeClr val="accent3"/>
                </a:solidFill>
                <a:ln>
                  <a:solidFill>
                    <a:schemeClr val="bg1"/>
                  </a:solidFill>
                </a:ln>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tx1"/>
                                </a:solidFill>
                                <a:latin typeface="Cambria Math" panose="02040503050406030204" pitchFamily="18" charset="0"/>
                              </a:rPr>
                            </m:ctrlPr>
                          </m:sSubPr>
                          <m:e>
                            <m:r>
                              <a:rPr lang="en-US" b="0" i="1" smtClean="0">
                                <a:solidFill>
                                  <a:schemeClr val="tx1"/>
                                </a:solidFill>
                                <a:latin typeface="Cambria Math" panose="02040503050406030204" pitchFamily="18" charset="0"/>
                              </a:rPr>
                              <m:t>𝑅</m:t>
                            </m:r>
                          </m:e>
                          <m:sub>
                            <m:r>
                              <a:rPr lang="en-US" b="0" i="1" smtClean="0">
                                <a:solidFill>
                                  <a:schemeClr val="tx1"/>
                                </a:solidFill>
                                <a:latin typeface="Cambria Math" panose="02040503050406030204" pitchFamily="18" charset="0"/>
                              </a:rPr>
                              <m:t>𝐴𝐵</m:t>
                            </m:r>
                          </m:sub>
                        </m:sSub>
                        <m:r>
                          <a:rPr lang="en-US" b="0" i="1" smtClean="0">
                            <a:solidFill>
                              <a:schemeClr val="tx1"/>
                            </a:solidFill>
                            <a:latin typeface="Cambria Math" panose="02040503050406030204" pitchFamily="18" charset="0"/>
                          </a:rPr>
                          <m:t>+</m:t>
                        </m:r>
                        <m:sSub>
                          <m:sSubPr>
                            <m:ctrlPr>
                              <a:rPr lang="en-US" b="0" i="1" smtClean="0">
                                <a:solidFill>
                                  <a:schemeClr val="tx1"/>
                                </a:solidFill>
                                <a:latin typeface="Cambria Math" panose="02040503050406030204" pitchFamily="18" charset="0"/>
                              </a:rPr>
                            </m:ctrlPr>
                          </m:sSubPr>
                          <m:e>
                            <m:r>
                              <a:rPr lang="en-US" b="0" i="1" smtClean="0">
                                <a:solidFill>
                                  <a:schemeClr val="tx1"/>
                                </a:solidFill>
                                <a:latin typeface="Cambria Math" panose="02040503050406030204" pitchFamily="18" charset="0"/>
                              </a:rPr>
                              <m:t>𝐵</m:t>
                            </m:r>
                          </m:e>
                          <m:sub>
                            <m:r>
                              <a:rPr lang="en-US" b="0" i="1" smtClean="0">
                                <a:solidFill>
                                  <a:schemeClr val="tx1"/>
                                </a:solidFill>
                                <a:latin typeface="Cambria Math" panose="02040503050406030204" pitchFamily="18" charset="0"/>
                              </a:rPr>
                              <m:t>𝑛</m:t>
                            </m:r>
                          </m:sub>
                        </m:sSub>
                        <m:r>
                          <a:rPr lang="en-US" b="0" i="1" smtClean="0">
                            <a:solidFill>
                              <a:schemeClr val="tx1"/>
                            </a:solidFill>
                            <a:latin typeface="Cambria Math" panose="02040503050406030204" pitchFamily="18" charset="0"/>
                          </a:rPr>
                          <m:t>+</m:t>
                        </m:r>
                        <m:r>
                          <a:rPr lang="en-US" b="0" i="1" smtClean="0">
                            <a:solidFill>
                              <a:schemeClr val="tx1"/>
                            </a:solidFill>
                            <a:latin typeface="Cambria Math" panose="02040503050406030204" pitchFamily="18" charset="0"/>
                          </a:rPr>
                          <m:t>𝑅</m:t>
                        </m:r>
                        <m:sSub>
                          <m:sSubPr>
                            <m:ctrlPr>
                              <a:rPr lang="en-US" b="0" i="1" smtClean="0">
                                <a:solidFill>
                                  <a:schemeClr val="tx1"/>
                                </a:solidFill>
                                <a:latin typeface="Cambria Math" panose="02040503050406030204" pitchFamily="18" charset="0"/>
                              </a:rPr>
                            </m:ctrlPr>
                          </m:sSubPr>
                          <m:e>
                            <m:r>
                              <a:rPr lang="en-US" b="0" i="1" smtClean="0">
                                <a:solidFill>
                                  <a:schemeClr val="tx1"/>
                                </a:solidFill>
                                <a:latin typeface="Cambria Math" panose="02040503050406030204" pitchFamily="18" charset="0"/>
                              </a:rPr>
                              <m:t>𝑆</m:t>
                            </m:r>
                          </m:e>
                          <m:sub>
                            <m:r>
                              <a:rPr lang="en-US" b="0" i="1" smtClean="0">
                                <a:solidFill>
                                  <a:schemeClr val="tx1"/>
                                </a:solidFill>
                                <a:latin typeface="Cambria Math" panose="02040503050406030204" pitchFamily="18" charset="0"/>
                              </a:rPr>
                              <m:t>𝐵𝐴</m:t>
                            </m:r>
                          </m:sub>
                        </m:sSub>
                        <m:r>
                          <a:rPr lang="en-US" b="0" i="1" smtClean="0">
                            <a:solidFill>
                              <a:schemeClr val="tx1"/>
                            </a:solidFill>
                            <a:latin typeface="Cambria Math" panose="02040503050406030204" pitchFamily="18" charset="0"/>
                          </a:rPr>
                          <m:t>∈</m:t>
                        </m:r>
                        <m:r>
                          <m:rPr>
                            <m:sty m:val="p"/>
                          </m:rPr>
                          <a:rPr lang="en-US" b="0" i="0" smtClean="0">
                            <a:solidFill>
                              <a:schemeClr val="tx1"/>
                            </a:solidFill>
                            <a:latin typeface="Cambria Math" panose="02040503050406030204" pitchFamily="18" charset="0"/>
                          </a:rPr>
                          <m:t>Θ</m:t>
                        </m:r>
                        <m:r>
                          <a:rPr lang="en-US" b="0" i="1" smtClean="0">
                            <a:solidFill>
                              <a:schemeClr val="tx1"/>
                            </a:solidFill>
                            <a:latin typeface="Cambria Math" panose="02040503050406030204" pitchFamily="18" charset="0"/>
                          </a:rPr>
                          <m:t>(</m:t>
                        </m:r>
                        <m:sSub>
                          <m:sSubPr>
                            <m:ctrlPr>
                              <a:rPr lang="en-US" b="0" i="1" smtClean="0">
                                <a:solidFill>
                                  <a:schemeClr val="tx1"/>
                                </a:solidFill>
                                <a:latin typeface="Cambria Math" panose="02040503050406030204" pitchFamily="18" charset="0"/>
                              </a:rPr>
                            </m:ctrlPr>
                          </m:sSubPr>
                          <m:e>
                            <m:r>
                              <a:rPr lang="en-US" b="0" i="1" smtClean="0">
                                <a:solidFill>
                                  <a:schemeClr val="tx1"/>
                                </a:solidFill>
                                <a:latin typeface="Cambria Math" panose="02040503050406030204" pitchFamily="18" charset="0"/>
                              </a:rPr>
                              <m:t>𝐵</m:t>
                            </m:r>
                          </m:e>
                          <m:sub>
                            <m:r>
                              <a:rPr lang="en-US" b="0" i="1" smtClean="0">
                                <a:solidFill>
                                  <a:schemeClr val="tx1"/>
                                </a:solidFill>
                                <a:latin typeface="Cambria Math" panose="02040503050406030204" pitchFamily="18" charset="0"/>
                              </a:rPr>
                              <m:t>𝑛</m:t>
                            </m:r>
                          </m:sub>
                        </m:sSub>
                        <m:r>
                          <a:rPr lang="en-US" b="0" i="1" smtClean="0">
                            <a:solidFill>
                              <a:schemeClr val="tx1"/>
                            </a:solidFill>
                            <a:latin typeface="Cambria Math" panose="02040503050406030204" pitchFamily="18" charset="0"/>
                          </a:rPr>
                          <m:t>)</m:t>
                        </m:r>
                      </m:oMath>
                    </m:oMathPara>
                  </a14:m>
                  <a:endParaRPr lang="en-US" i="1" dirty="0">
                    <a:solidFill>
                      <a:schemeClr val="tx1"/>
                    </a:solidFill>
                  </a:endParaRPr>
                </a:p>
              </p:txBody>
            </p:sp>
          </mc:Choice>
          <mc:Fallback xmlns="">
            <p:sp>
              <p:nvSpPr>
                <p:cNvPr id="24" name="TextBox 23">
                  <a:extLst>
                    <a:ext uri="{FF2B5EF4-FFF2-40B4-BE49-F238E27FC236}">
                      <a16:creationId xmlns:a16="http://schemas.microsoft.com/office/drawing/2014/main" id="{62B9DB6F-EBE3-9C40-9042-ADE677676AED}"/>
                    </a:ext>
                  </a:extLst>
                </p:cNvPr>
                <p:cNvSpPr txBox="1">
                  <a:spLocks noRot="1" noChangeAspect="1" noMove="1" noResize="1" noEditPoints="1" noAdjustHandles="1" noChangeArrowheads="1" noChangeShapeType="1" noTextEdit="1"/>
                </p:cNvSpPr>
                <p:nvPr/>
              </p:nvSpPr>
              <p:spPr>
                <a:xfrm>
                  <a:off x="7715250" y="3027851"/>
                  <a:ext cx="4104450" cy="369332"/>
                </a:xfrm>
                <a:prstGeom prst="rect">
                  <a:avLst/>
                </a:prstGeom>
                <a:blipFill>
                  <a:blip r:embed="rId4"/>
                  <a:stretch>
                    <a:fillRect b="-9677"/>
                  </a:stretch>
                </a:blipFill>
                <a:ln>
                  <a:solidFill>
                    <a:schemeClr val="bg1"/>
                  </a:solidFill>
                </a:ln>
              </p:spPr>
              <p:txBody>
                <a:bodyPr/>
                <a:lstStyle/>
                <a:p>
                  <a:r>
                    <a:rPr lang="en-US">
                      <a:noFill/>
                    </a:rPr>
                    <a:t> </a:t>
                  </a:r>
                </a:p>
              </p:txBody>
            </p:sp>
          </mc:Fallback>
        </mc:AlternateContent>
      </p:grpSp>
      <p:cxnSp>
        <p:nvCxnSpPr>
          <p:cNvPr id="9" name="Straight Arrow Connector 8">
            <a:extLst>
              <a:ext uri="{FF2B5EF4-FFF2-40B4-BE49-F238E27FC236}">
                <a16:creationId xmlns:a16="http://schemas.microsoft.com/office/drawing/2014/main" id="{56FD3858-9B57-E34B-89D9-63B3E119B7C6}"/>
              </a:ext>
            </a:extLst>
          </p:cNvPr>
          <p:cNvCxnSpPr>
            <a:cxnSpLocks/>
          </p:cNvCxnSpPr>
          <p:nvPr/>
        </p:nvCxnSpPr>
        <p:spPr>
          <a:xfrm flipV="1">
            <a:off x="9808230" y="974785"/>
            <a:ext cx="0" cy="5309928"/>
          </a:xfrm>
          <a:prstGeom prst="straightConnector1">
            <a:avLst/>
          </a:prstGeom>
          <a:ln>
            <a:solidFill>
              <a:schemeClr val="tx1">
                <a:lumMod val="9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5" name="TextBox 24">
            <a:extLst>
              <a:ext uri="{FF2B5EF4-FFF2-40B4-BE49-F238E27FC236}">
                <a16:creationId xmlns:a16="http://schemas.microsoft.com/office/drawing/2014/main" id="{627AB2E6-DD1C-4A4F-9E1C-D44D7D092712}"/>
              </a:ext>
            </a:extLst>
          </p:cNvPr>
          <p:cNvSpPr txBox="1"/>
          <p:nvPr/>
        </p:nvSpPr>
        <p:spPr>
          <a:xfrm>
            <a:off x="10092906" y="1164566"/>
            <a:ext cx="1705292" cy="830997"/>
          </a:xfrm>
          <a:prstGeom prst="rect">
            <a:avLst/>
          </a:prstGeom>
          <a:noFill/>
        </p:spPr>
        <p:txBody>
          <a:bodyPr wrap="square" rtlCol="0">
            <a:spAutoFit/>
          </a:bodyPr>
          <a:lstStyle/>
          <a:p>
            <a:pPr algn="ctr"/>
            <a:r>
              <a:rPr lang="en-US" sz="1600" i="1" dirty="0"/>
              <a:t>Harder Problems (fastest algorithm has slower runtime)</a:t>
            </a:r>
          </a:p>
        </p:txBody>
      </p:sp>
      <p:sp>
        <p:nvSpPr>
          <p:cNvPr id="28" name="TextBox 27">
            <a:extLst>
              <a:ext uri="{FF2B5EF4-FFF2-40B4-BE49-F238E27FC236}">
                <a16:creationId xmlns:a16="http://schemas.microsoft.com/office/drawing/2014/main" id="{A4019142-6004-CB4B-B835-9A40C153C8B9}"/>
              </a:ext>
            </a:extLst>
          </p:cNvPr>
          <p:cNvSpPr txBox="1"/>
          <p:nvPr/>
        </p:nvSpPr>
        <p:spPr>
          <a:xfrm>
            <a:off x="9911750" y="5453716"/>
            <a:ext cx="1886447" cy="830997"/>
          </a:xfrm>
          <a:prstGeom prst="rect">
            <a:avLst/>
          </a:prstGeom>
          <a:noFill/>
        </p:spPr>
        <p:txBody>
          <a:bodyPr wrap="square" rtlCol="0">
            <a:spAutoFit/>
          </a:bodyPr>
          <a:lstStyle/>
          <a:p>
            <a:pPr algn="ctr"/>
            <a:r>
              <a:rPr lang="en-US" sz="1600" i="1" dirty="0"/>
              <a:t>Easy Problems (fastest algorithm has very fast runtime)</a:t>
            </a:r>
          </a:p>
        </p:txBody>
      </p: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501B3355-8F0E-BA49-BE7C-437E5FC7B109}"/>
                  </a:ext>
                </a:extLst>
              </p:cNvPr>
              <p:cNvSpPr txBox="1"/>
              <p:nvPr/>
            </p:nvSpPr>
            <p:spPr>
              <a:xfrm>
                <a:off x="8393500" y="1963674"/>
                <a:ext cx="1207827" cy="369332"/>
              </a:xfrm>
              <a:prstGeom prst="rect">
                <a:avLst/>
              </a:prstGeom>
              <a:solidFill>
                <a:schemeClr val="accent1"/>
              </a:solidFill>
              <a:ln>
                <a:solidFill>
                  <a:schemeClr val="bg1"/>
                </a:solidFill>
              </a:ln>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𝐴</m:t>
                          </m:r>
                        </m:e>
                        <m:sub>
                          <m:r>
                            <a:rPr lang="en-US" b="0" i="1" smtClean="0">
                              <a:solidFill>
                                <a:schemeClr val="bg1"/>
                              </a:solidFill>
                              <a:latin typeface="Cambria Math" panose="02040503050406030204" pitchFamily="18" charset="0"/>
                            </a:rPr>
                            <m:t>𝑛</m:t>
                          </m:r>
                        </m:sub>
                      </m:sSub>
                    </m:oMath>
                  </m:oMathPara>
                </a14:m>
                <a:endParaRPr lang="en-US" i="1" dirty="0">
                  <a:solidFill>
                    <a:schemeClr val="bg1"/>
                  </a:solidFill>
                </a:endParaRPr>
              </a:p>
            </p:txBody>
          </p:sp>
        </mc:Choice>
        <mc:Fallback xmlns="">
          <p:sp>
            <p:nvSpPr>
              <p:cNvPr id="30" name="TextBox 29">
                <a:extLst>
                  <a:ext uri="{FF2B5EF4-FFF2-40B4-BE49-F238E27FC236}">
                    <a16:creationId xmlns:a16="http://schemas.microsoft.com/office/drawing/2014/main" id="{501B3355-8F0E-BA49-BE7C-437E5FC7B109}"/>
                  </a:ext>
                </a:extLst>
              </p:cNvPr>
              <p:cNvSpPr txBox="1">
                <a:spLocks noRot="1" noChangeAspect="1" noMove="1" noResize="1" noEditPoints="1" noAdjustHandles="1" noChangeArrowheads="1" noChangeShapeType="1" noTextEdit="1"/>
              </p:cNvSpPr>
              <p:nvPr/>
            </p:nvSpPr>
            <p:spPr>
              <a:xfrm>
                <a:off x="8393500" y="1963674"/>
                <a:ext cx="1207827" cy="369332"/>
              </a:xfrm>
              <a:prstGeom prst="rect">
                <a:avLst/>
              </a:prstGeom>
              <a:blipFill>
                <a:blip r:embed="rId5"/>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2279D28D-D910-8148-8474-7C9DB3E2FA65}"/>
                  </a:ext>
                </a:extLst>
              </p:cNvPr>
              <p:cNvSpPr txBox="1"/>
              <p:nvPr/>
            </p:nvSpPr>
            <p:spPr>
              <a:xfrm>
                <a:off x="6502403" y="1963674"/>
                <a:ext cx="1345283" cy="369332"/>
              </a:xfrm>
              <a:prstGeom prst="rect">
                <a:avLst/>
              </a:prstGeom>
              <a:solidFill>
                <a:schemeClr val="accent3"/>
              </a:solidFill>
              <a:ln>
                <a:solidFill>
                  <a:schemeClr val="bg1"/>
                </a:solidFill>
              </a:ln>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tx1"/>
                              </a:solidFill>
                              <a:latin typeface="Cambria Math" panose="02040503050406030204" pitchFamily="18" charset="0"/>
                            </a:rPr>
                          </m:ctrlPr>
                        </m:sSubPr>
                        <m:e>
                          <m:r>
                            <a:rPr lang="en-US" b="0" i="1" smtClean="0">
                              <a:solidFill>
                                <a:schemeClr val="tx1"/>
                              </a:solidFill>
                              <a:latin typeface="Cambria Math" panose="02040503050406030204" pitchFamily="18" charset="0"/>
                            </a:rPr>
                            <m:t>𝐵</m:t>
                          </m:r>
                        </m:e>
                        <m:sub>
                          <m:r>
                            <a:rPr lang="en-US" b="0" i="1" smtClean="0">
                              <a:solidFill>
                                <a:schemeClr val="tx1"/>
                              </a:solidFill>
                              <a:latin typeface="Cambria Math" panose="02040503050406030204" pitchFamily="18" charset="0"/>
                            </a:rPr>
                            <m:t>𝑛</m:t>
                          </m:r>
                        </m:sub>
                      </m:sSub>
                    </m:oMath>
                  </m:oMathPara>
                </a14:m>
                <a:endParaRPr lang="en-US" i="1" dirty="0">
                  <a:solidFill>
                    <a:schemeClr val="tx1"/>
                  </a:solidFill>
                </a:endParaRPr>
              </a:p>
            </p:txBody>
          </p:sp>
        </mc:Choice>
        <mc:Fallback xmlns="">
          <p:sp>
            <p:nvSpPr>
              <p:cNvPr id="31" name="TextBox 30">
                <a:extLst>
                  <a:ext uri="{FF2B5EF4-FFF2-40B4-BE49-F238E27FC236}">
                    <a16:creationId xmlns:a16="http://schemas.microsoft.com/office/drawing/2014/main" id="{2279D28D-D910-8148-8474-7C9DB3E2FA65}"/>
                  </a:ext>
                </a:extLst>
              </p:cNvPr>
              <p:cNvSpPr txBox="1">
                <a:spLocks noRot="1" noChangeAspect="1" noMove="1" noResize="1" noEditPoints="1" noAdjustHandles="1" noChangeArrowheads="1" noChangeShapeType="1" noTextEdit="1"/>
              </p:cNvSpPr>
              <p:nvPr/>
            </p:nvSpPr>
            <p:spPr>
              <a:xfrm>
                <a:off x="6502403" y="1963674"/>
                <a:ext cx="1345283" cy="369332"/>
              </a:xfrm>
              <a:prstGeom prst="rect">
                <a:avLst/>
              </a:prstGeom>
              <a:blipFill>
                <a:blip r:embed="rId6"/>
                <a:stretch>
                  <a:fillRect/>
                </a:stretch>
              </a:blipFill>
              <a:ln>
                <a:solidFill>
                  <a:schemeClr val="bg1"/>
                </a:solidFill>
              </a:ln>
            </p:spPr>
            <p:txBody>
              <a:bodyPr/>
              <a:lstStyle/>
              <a:p>
                <a:r>
                  <a:rPr lang="en-US">
                    <a:noFill/>
                  </a:rPr>
                  <a:t> </a:t>
                </a:r>
              </a:p>
            </p:txBody>
          </p:sp>
        </mc:Fallback>
      </mc:AlternateContent>
      <p:sp>
        <p:nvSpPr>
          <p:cNvPr id="32" name="TextBox 31">
            <a:extLst>
              <a:ext uri="{FF2B5EF4-FFF2-40B4-BE49-F238E27FC236}">
                <a16:creationId xmlns:a16="http://schemas.microsoft.com/office/drawing/2014/main" id="{1CDC137B-8C53-CD4A-9781-276C1FAF8FC8}"/>
              </a:ext>
            </a:extLst>
          </p:cNvPr>
          <p:cNvSpPr txBox="1"/>
          <p:nvPr/>
        </p:nvSpPr>
        <p:spPr>
          <a:xfrm>
            <a:off x="5711991" y="3716013"/>
            <a:ext cx="3091270" cy="1077218"/>
          </a:xfrm>
          <a:prstGeom prst="rect">
            <a:avLst/>
          </a:prstGeom>
          <a:noFill/>
          <a:ln>
            <a:solidFill>
              <a:schemeClr val="tx1">
                <a:lumMod val="95000"/>
              </a:schemeClr>
            </a:solidFill>
          </a:ln>
        </p:spPr>
        <p:txBody>
          <a:bodyPr wrap="square" rtlCol="0">
            <a:spAutoFit/>
          </a:bodyPr>
          <a:lstStyle/>
          <a:p>
            <a:pPr algn="ctr"/>
            <a:r>
              <a:rPr lang="en-US" sz="1600" i="1" dirty="0"/>
              <a:t>Not surprisingly, if these two algorithms have same overall runtime, then either can be used (they are equivalent).</a:t>
            </a:r>
          </a:p>
        </p:txBody>
      </p:sp>
      <p:cxnSp>
        <p:nvCxnSpPr>
          <p:cNvPr id="34" name="Straight Connector 33">
            <a:extLst>
              <a:ext uri="{FF2B5EF4-FFF2-40B4-BE49-F238E27FC236}">
                <a16:creationId xmlns:a16="http://schemas.microsoft.com/office/drawing/2014/main" id="{DC079917-A91F-2047-9C62-09FD7BED5AA9}"/>
              </a:ext>
            </a:extLst>
          </p:cNvPr>
          <p:cNvCxnSpPr>
            <a:cxnSpLocks/>
          </p:cNvCxnSpPr>
          <p:nvPr/>
        </p:nvCxnSpPr>
        <p:spPr>
          <a:xfrm flipH="1" flipV="1">
            <a:off x="7185804" y="2449903"/>
            <a:ext cx="603849" cy="1130059"/>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C5CE5DF9-96B2-B545-9D34-5EAD16617445}"/>
              </a:ext>
            </a:extLst>
          </p:cNvPr>
          <p:cNvCxnSpPr>
            <a:cxnSpLocks/>
          </p:cNvCxnSpPr>
          <p:nvPr/>
        </p:nvCxnSpPr>
        <p:spPr>
          <a:xfrm flipV="1">
            <a:off x="8013940" y="2449903"/>
            <a:ext cx="789321" cy="1130059"/>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2819102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41413" y="129734"/>
            <a:ext cx="9905998" cy="722453"/>
          </a:xfrm>
        </p:spPr>
        <p:txBody>
          <a:bodyPr/>
          <a:lstStyle/>
          <a:p>
            <a:pPr algn="ctr"/>
            <a:r>
              <a:rPr lang="en-US" dirty="0"/>
              <a:t>Runtime Comparison</a:t>
            </a:r>
            <a:endParaRPr lang="en-US" dirty="0">
              <a:solidFill>
                <a:srgbClr val="FFA7FF"/>
              </a:solidFill>
            </a:endParaRPr>
          </a:p>
        </p:txBody>
      </p:sp>
      <p:cxnSp>
        <p:nvCxnSpPr>
          <p:cNvPr id="9" name="Straight Arrow Connector 8">
            <a:extLst>
              <a:ext uri="{FF2B5EF4-FFF2-40B4-BE49-F238E27FC236}">
                <a16:creationId xmlns:a16="http://schemas.microsoft.com/office/drawing/2014/main" id="{56FD3858-9B57-E34B-89D9-63B3E119B7C6}"/>
              </a:ext>
            </a:extLst>
          </p:cNvPr>
          <p:cNvCxnSpPr>
            <a:cxnSpLocks/>
          </p:cNvCxnSpPr>
          <p:nvPr/>
        </p:nvCxnSpPr>
        <p:spPr>
          <a:xfrm flipV="1">
            <a:off x="9808230" y="974785"/>
            <a:ext cx="0" cy="5309928"/>
          </a:xfrm>
          <a:prstGeom prst="straightConnector1">
            <a:avLst/>
          </a:prstGeom>
          <a:ln>
            <a:solidFill>
              <a:schemeClr val="tx1">
                <a:lumMod val="9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5" name="TextBox 24">
            <a:extLst>
              <a:ext uri="{FF2B5EF4-FFF2-40B4-BE49-F238E27FC236}">
                <a16:creationId xmlns:a16="http://schemas.microsoft.com/office/drawing/2014/main" id="{627AB2E6-DD1C-4A4F-9E1C-D44D7D092712}"/>
              </a:ext>
            </a:extLst>
          </p:cNvPr>
          <p:cNvSpPr txBox="1"/>
          <p:nvPr/>
        </p:nvSpPr>
        <p:spPr>
          <a:xfrm>
            <a:off x="10092906" y="1164566"/>
            <a:ext cx="1705292" cy="830997"/>
          </a:xfrm>
          <a:prstGeom prst="rect">
            <a:avLst/>
          </a:prstGeom>
          <a:noFill/>
        </p:spPr>
        <p:txBody>
          <a:bodyPr wrap="square" rtlCol="0">
            <a:spAutoFit/>
          </a:bodyPr>
          <a:lstStyle/>
          <a:p>
            <a:pPr algn="ctr"/>
            <a:r>
              <a:rPr lang="en-US" sz="1600" i="1" dirty="0"/>
              <a:t>Harder Problems (fastest algorithm has slower runtime)</a:t>
            </a:r>
          </a:p>
        </p:txBody>
      </p:sp>
      <p:sp>
        <p:nvSpPr>
          <p:cNvPr id="28" name="TextBox 27">
            <a:extLst>
              <a:ext uri="{FF2B5EF4-FFF2-40B4-BE49-F238E27FC236}">
                <a16:creationId xmlns:a16="http://schemas.microsoft.com/office/drawing/2014/main" id="{A4019142-6004-CB4B-B835-9A40C153C8B9}"/>
              </a:ext>
            </a:extLst>
          </p:cNvPr>
          <p:cNvSpPr txBox="1"/>
          <p:nvPr/>
        </p:nvSpPr>
        <p:spPr>
          <a:xfrm>
            <a:off x="9911750" y="5453716"/>
            <a:ext cx="1886447" cy="830997"/>
          </a:xfrm>
          <a:prstGeom prst="rect">
            <a:avLst/>
          </a:prstGeom>
          <a:noFill/>
        </p:spPr>
        <p:txBody>
          <a:bodyPr wrap="square" rtlCol="0">
            <a:spAutoFit/>
          </a:bodyPr>
          <a:lstStyle/>
          <a:p>
            <a:pPr algn="ctr"/>
            <a:r>
              <a:rPr lang="en-US" sz="1600" i="1" dirty="0"/>
              <a:t>Easy Problems (fastest algorithm has very fast runtime)</a:t>
            </a:r>
          </a:p>
        </p:txBody>
      </p: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501B3355-8F0E-BA49-BE7C-437E5FC7B109}"/>
                  </a:ext>
                </a:extLst>
              </p:cNvPr>
              <p:cNvSpPr txBox="1"/>
              <p:nvPr/>
            </p:nvSpPr>
            <p:spPr>
              <a:xfrm>
                <a:off x="8393500" y="2998840"/>
                <a:ext cx="1207827" cy="369332"/>
              </a:xfrm>
              <a:prstGeom prst="rect">
                <a:avLst/>
              </a:prstGeom>
              <a:solidFill>
                <a:schemeClr val="accent1"/>
              </a:solidFill>
              <a:ln>
                <a:solidFill>
                  <a:schemeClr val="bg1"/>
                </a:solidFill>
              </a:ln>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𝐴</m:t>
                          </m:r>
                        </m:e>
                        <m:sub>
                          <m:r>
                            <a:rPr lang="en-US" b="0" i="1" smtClean="0">
                              <a:solidFill>
                                <a:schemeClr val="bg1"/>
                              </a:solidFill>
                              <a:latin typeface="Cambria Math" panose="02040503050406030204" pitchFamily="18" charset="0"/>
                            </a:rPr>
                            <m:t>𝑛</m:t>
                          </m:r>
                        </m:sub>
                      </m:sSub>
                    </m:oMath>
                  </m:oMathPara>
                </a14:m>
                <a:endParaRPr lang="en-US" i="1" dirty="0">
                  <a:solidFill>
                    <a:schemeClr val="bg1"/>
                  </a:solidFill>
                </a:endParaRPr>
              </a:p>
            </p:txBody>
          </p:sp>
        </mc:Choice>
        <mc:Fallback xmlns="">
          <p:sp>
            <p:nvSpPr>
              <p:cNvPr id="30" name="TextBox 29">
                <a:extLst>
                  <a:ext uri="{FF2B5EF4-FFF2-40B4-BE49-F238E27FC236}">
                    <a16:creationId xmlns:a16="http://schemas.microsoft.com/office/drawing/2014/main" id="{501B3355-8F0E-BA49-BE7C-437E5FC7B109}"/>
                  </a:ext>
                </a:extLst>
              </p:cNvPr>
              <p:cNvSpPr txBox="1">
                <a:spLocks noRot="1" noChangeAspect="1" noMove="1" noResize="1" noEditPoints="1" noAdjustHandles="1" noChangeArrowheads="1" noChangeShapeType="1" noTextEdit="1"/>
              </p:cNvSpPr>
              <p:nvPr/>
            </p:nvSpPr>
            <p:spPr>
              <a:xfrm>
                <a:off x="8393500" y="2998840"/>
                <a:ext cx="1207827" cy="369332"/>
              </a:xfrm>
              <a:prstGeom prst="rect">
                <a:avLst/>
              </a:prstGeom>
              <a:blipFill>
                <a:blip r:embed="rId5"/>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2279D28D-D910-8148-8474-7C9DB3E2FA65}"/>
                  </a:ext>
                </a:extLst>
              </p:cNvPr>
              <p:cNvSpPr txBox="1"/>
              <p:nvPr/>
            </p:nvSpPr>
            <p:spPr>
              <a:xfrm>
                <a:off x="8393500" y="1711820"/>
                <a:ext cx="1207827" cy="369332"/>
              </a:xfrm>
              <a:prstGeom prst="rect">
                <a:avLst/>
              </a:prstGeom>
              <a:solidFill>
                <a:schemeClr val="accent3"/>
              </a:solidFill>
              <a:ln>
                <a:solidFill>
                  <a:schemeClr val="bg1"/>
                </a:solidFill>
              </a:ln>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tx1"/>
                              </a:solidFill>
                              <a:latin typeface="Cambria Math" panose="02040503050406030204" pitchFamily="18" charset="0"/>
                            </a:rPr>
                          </m:ctrlPr>
                        </m:sSubPr>
                        <m:e>
                          <m:r>
                            <a:rPr lang="en-US" b="0" i="1" smtClean="0">
                              <a:solidFill>
                                <a:schemeClr val="tx1"/>
                              </a:solidFill>
                              <a:latin typeface="Cambria Math" panose="02040503050406030204" pitchFamily="18" charset="0"/>
                            </a:rPr>
                            <m:t>𝐵</m:t>
                          </m:r>
                        </m:e>
                        <m:sub>
                          <m:r>
                            <a:rPr lang="en-US" b="0" i="1" smtClean="0">
                              <a:solidFill>
                                <a:schemeClr val="tx1"/>
                              </a:solidFill>
                              <a:latin typeface="Cambria Math" panose="02040503050406030204" pitchFamily="18" charset="0"/>
                            </a:rPr>
                            <m:t>𝑛</m:t>
                          </m:r>
                        </m:sub>
                      </m:sSub>
                    </m:oMath>
                  </m:oMathPara>
                </a14:m>
                <a:endParaRPr lang="en-US" i="1" dirty="0">
                  <a:solidFill>
                    <a:schemeClr val="tx1"/>
                  </a:solidFill>
                </a:endParaRPr>
              </a:p>
            </p:txBody>
          </p:sp>
        </mc:Choice>
        <mc:Fallback xmlns="">
          <p:sp>
            <p:nvSpPr>
              <p:cNvPr id="31" name="TextBox 30">
                <a:extLst>
                  <a:ext uri="{FF2B5EF4-FFF2-40B4-BE49-F238E27FC236}">
                    <a16:creationId xmlns:a16="http://schemas.microsoft.com/office/drawing/2014/main" id="{2279D28D-D910-8148-8474-7C9DB3E2FA65}"/>
                  </a:ext>
                </a:extLst>
              </p:cNvPr>
              <p:cNvSpPr txBox="1">
                <a:spLocks noRot="1" noChangeAspect="1" noMove="1" noResize="1" noEditPoints="1" noAdjustHandles="1" noChangeArrowheads="1" noChangeShapeType="1" noTextEdit="1"/>
              </p:cNvSpPr>
              <p:nvPr/>
            </p:nvSpPr>
            <p:spPr>
              <a:xfrm>
                <a:off x="8393500" y="1711820"/>
                <a:ext cx="1207827" cy="369332"/>
              </a:xfrm>
              <a:prstGeom prst="rect">
                <a:avLst/>
              </a:prstGeom>
              <a:blipFill>
                <a:blip r:embed="rId6"/>
                <a:stretch>
                  <a:fillRect/>
                </a:stretch>
              </a:blipFill>
              <a:ln>
                <a:solidFill>
                  <a:schemeClr val="bg1"/>
                </a:solidFill>
              </a:ln>
            </p:spPr>
            <p:txBody>
              <a:bodyPr/>
              <a:lstStyle/>
              <a:p>
                <a:r>
                  <a:rPr lang="en-US">
                    <a:noFill/>
                  </a:rPr>
                  <a:t> </a:t>
                </a:r>
              </a:p>
            </p:txBody>
          </p:sp>
        </mc:Fallback>
      </mc:AlternateContent>
      <p:sp>
        <p:nvSpPr>
          <p:cNvPr id="32" name="TextBox 31">
            <a:extLst>
              <a:ext uri="{FF2B5EF4-FFF2-40B4-BE49-F238E27FC236}">
                <a16:creationId xmlns:a16="http://schemas.microsoft.com/office/drawing/2014/main" id="{1CDC137B-8C53-CD4A-9781-276C1FAF8FC8}"/>
              </a:ext>
            </a:extLst>
          </p:cNvPr>
          <p:cNvSpPr txBox="1"/>
          <p:nvPr/>
        </p:nvSpPr>
        <p:spPr>
          <a:xfrm>
            <a:off x="5410066" y="4915107"/>
            <a:ext cx="3328491" cy="1323439"/>
          </a:xfrm>
          <a:prstGeom prst="rect">
            <a:avLst/>
          </a:prstGeom>
          <a:noFill/>
          <a:ln>
            <a:solidFill>
              <a:schemeClr val="tx1">
                <a:lumMod val="95000"/>
              </a:schemeClr>
            </a:solidFill>
          </a:ln>
        </p:spPr>
        <p:txBody>
          <a:bodyPr wrap="square" rtlCol="0">
            <a:spAutoFit/>
          </a:bodyPr>
          <a:lstStyle/>
          <a:p>
            <a:pPr algn="ctr"/>
            <a:r>
              <a:rPr lang="en-US" sz="1600" i="1" dirty="0"/>
              <a:t>If solving A through reduction is SLOWER than directly solving A, this means problem B is simply harder than problem A (but the reduction is still valid)</a:t>
            </a:r>
          </a:p>
        </p:txBody>
      </p:sp>
      <p:cxnSp>
        <p:nvCxnSpPr>
          <p:cNvPr id="34" name="Straight Connector 33">
            <a:extLst>
              <a:ext uri="{FF2B5EF4-FFF2-40B4-BE49-F238E27FC236}">
                <a16:creationId xmlns:a16="http://schemas.microsoft.com/office/drawing/2014/main" id="{DC079917-A91F-2047-9C62-09FD7BED5AA9}"/>
              </a:ext>
            </a:extLst>
          </p:cNvPr>
          <p:cNvCxnSpPr>
            <a:cxnSpLocks/>
          </p:cNvCxnSpPr>
          <p:nvPr/>
        </p:nvCxnSpPr>
        <p:spPr>
          <a:xfrm flipV="1">
            <a:off x="7678161" y="2253673"/>
            <a:ext cx="715339" cy="2593410"/>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C5CE5DF9-96B2-B545-9D34-5EAD16617445}"/>
              </a:ext>
            </a:extLst>
          </p:cNvPr>
          <p:cNvCxnSpPr>
            <a:cxnSpLocks/>
          </p:cNvCxnSpPr>
          <p:nvPr/>
        </p:nvCxnSpPr>
        <p:spPr>
          <a:xfrm flipV="1">
            <a:off x="7712016" y="3648997"/>
            <a:ext cx="789321" cy="1130059"/>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grpSp>
        <p:nvGrpSpPr>
          <p:cNvPr id="15" name="Group 14">
            <a:extLst>
              <a:ext uri="{FF2B5EF4-FFF2-40B4-BE49-F238E27FC236}">
                <a16:creationId xmlns:a16="http://schemas.microsoft.com/office/drawing/2014/main" id="{BA1D3D31-DD7A-A84D-B3C8-BFFF68562B10}"/>
              </a:ext>
            </a:extLst>
          </p:cNvPr>
          <p:cNvGrpSpPr/>
          <p:nvPr/>
        </p:nvGrpSpPr>
        <p:grpSpPr>
          <a:xfrm>
            <a:off x="579107" y="2598673"/>
            <a:ext cx="4402471" cy="2031325"/>
            <a:chOff x="7572375" y="1828423"/>
            <a:chExt cx="4402471" cy="2031325"/>
          </a:xfrm>
        </p:grpSpPr>
        <p:sp>
          <p:nvSpPr>
            <p:cNvPr id="16" name="TextBox 15">
              <a:extLst>
                <a:ext uri="{FF2B5EF4-FFF2-40B4-BE49-F238E27FC236}">
                  <a16:creationId xmlns:a16="http://schemas.microsoft.com/office/drawing/2014/main" id="{210B1CBD-AFFC-4047-A9E3-1E9CD1EA6284}"/>
                </a:ext>
              </a:extLst>
            </p:cNvPr>
            <p:cNvSpPr txBox="1"/>
            <p:nvPr/>
          </p:nvSpPr>
          <p:spPr>
            <a:xfrm>
              <a:off x="7572375" y="1828423"/>
              <a:ext cx="4402471" cy="2031325"/>
            </a:xfrm>
            <a:prstGeom prst="rect">
              <a:avLst/>
            </a:prstGeom>
            <a:solidFill>
              <a:schemeClr val="tx1">
                <a:lumMod val="95000"/>
              </a:schemeClr>
            </a:solidFill>
            <a:ln>
              <a:solidFill>
                <a:schemeClr val="bg1"/>
              </a:solidFill>
            </a:ln>
          </p:spPr>
          <p:txBody>
            <a:bodyPr wrap="square" rtlCol="0">
              <a:spAutoFit/>
            </a:bodyPr>
            <a:lstStyle/>
            <a:p>
              <a:pPr algn="ctr"/>
              <a:r>
                <a:rPr lang="en-US" i="1" dirty="0">
                  <a:solidFill>
                    <a:schemeClr val="bg1"/>
                  </a:solidFill>
                </a:rPr>
                <a:t>Which Algorithm is faster?</a:t>
              </a:r>
            </a:p>
            <a:p>
              <a:pPr algn="ctr"/>
              <a:endParaRPr lang="en-US" i="1" dirty="0">
                <a:solidFill>
                  <a:schemeClr val="bg1"/>
                </a:solidFill>
              </a:endParaRPr>
            </a:p>
            <a:p>
              <a:pPr algn="ctr"/>
              <a:endParaRPr lang="en-US" i="1" dirty="0">
                <a:solidFill>
                  <a:schemeClr val="bg1"/>
                </a:solidFill>
              </a:endParaRPr>
            </a:p>
            <a:p>
              <a:pPr algn="ctr"/>
              <a:endParaRPr lang="en-US" i="1" dirty="0">
                <a:solidFill>
                  <a:schemeClr val="bg1"/>
                </a:solidFill>
              </a:endParaRPr>
            </a:p>
            <a:p>
              <a:pPr algn="ctr"/>
              <a:endParaRPr lang="en-US" i="1" dirty="0">
                <a:solidFill>
                  <a:schemeClr val="bg1"/>
                </a:solidFill>
              </a:endParaRPr>
            </a:p>
            <a:p>
              <a:pPr algn="ctr"/>
              <a:endParaRPr lang="en-US" i="1" dirty="0">
                <a:solidFill>
                  <a:schemeClr val="bg1"/>
                </a:solidFill>
              </a:endParaRPr>
            </a:p>
            <a:p>
              <a:pPr algn="ctr"/>
              <a:endParaRPr lang="en-US" i="1" dirty="0">
                <a:solidFill>
                  <a:schemeClr val="bg1"/>
                </a:solidFill>
              </a:endParaRPr>
            </a:p>
          </p:txBody>
        </p: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28A0493A-9F41-4E4B-BD64-C1247F336F2F}"/>
                    </a:ext>
                  </a:extLst>
                </p:cNvPr>
                <p:cNvSpPr txBox="1"/>
                <p:nvPr/>
              </p:nvSpPr>
              <p:spPr>
                <a:xfrm>
                  <a:off x="7715250" y="2535604"/>
                  <a:ext cx="4104450" cy="369332"/>
                </a:xfrm>
                <a:prstGeom prst="rect">
                  <a:avLst/>
                </a:prstGeom>
                <a:solidFill>
                  <a:schemeClr val="accent1"/>
                </a:solidFill>
                <a:ln>
                  <a:solidFill>
                    <a:schemeClr val="bg1"/>
                  </a:solidFill>
                </a:ln>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𝐴</m:t>
                            </m:r>
                          </m:e>
                          <m:sub>
                            <m:r>
                              <a:rPr lang="en-US" b="0" i="1" smtClean="0">
                                <a:solidFill>
                                  <a:schemeClr val="bg1"/>
                                </a:solidFill>
                                <a:latin typeface="Cambria Math" panose="02040503050406030204" pitchFamily="18" charset="0"/>
                              </a:rPr>
                              <m:t>𝑛</m:t>
                            </m:r>
                          </m:sub>
                        </m:sSub>
                      </m:oMath>
                    </m:oMathPara>
                  </a14:m>
                  <a:endParaRPr lang="en-US" i="1" dirty="0">
                    <a:solidFill>
                      <a:schemeClr val="bg1"/>
                    </a:solidFill>
                  </a:endParaRPr>
                </a:p>
              </p:txBody>
            </p:sp>
          </mc:Choice>
          <mc:Fallback xmlns="">
            <p:sp>
              <p:nvSpPr>
                <p:cNvPr id="45" name="TextBox 44">
                  <a:extLst>
                    <a:ext uri="{FF2B5EF4-FFF2-40B4-BE49-F238E27FC236}">
                      <a16:creationId xmlns:a16="http://schemas.microsoft.com/office/drawing/2014/main" id="{F0BE6109-09C1-2546-BBEB-F6EEB25299A7}"/>
                    </a:ext>
                  </a:extLst>
                </p:cNvPr>
                <p:cNvSpPr txBox="1">
                  <a:spLocks noRot="1" noChangeAspect="1" noMove="1" noResize="1" noEditPoints="1" noAdjustHandles="1" noChangeArrowheads="1" noChangeShapeType="1" noTextEdit="1"/>
                </p:cNvSpPr>
                <p:nvPr/>
              </p:nvSpPr>
              <p:spPr>
                <a:xfrm>
                  <a:off x="7715250" y="2535604"/>
                  <a:ext cx="4104450" cy="369332"/>
                </a:xfrm>
                <a:prstGeom prst="rect">
                  <a:avLst/>
                </a:prstGeom>
                <a:blipFill>
                  <a:blip r:embed="rId3"/>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0CEEBE2C-3190-D447-A6F3-DACAE4CCD843}"/>
                    </a:ext>
                  </a:extLst>
                </p:cNvPr>
                <p:cNvSpPr txBox="1"/>
                <p:nvPr/>
              </p:nvSpPr>
              <p:spPr>
                <a:xfrm>
                  <a:off x="7715250" y="3027851"/>
                  <a:ext cx="4104450" cy="369332"/>
                </a:xfrm>
                <a:prstGeom prst="rect">
                  <a:avLst/>
                </a:prstGeom>
                <a:solidFill>
                  <a:schemeClr val="accent3"/>
                </a:solidFill>
                <a:ln>
                  <a:solidFill>
                    <a:schemeClr val="bg1"/>
                  </a:solidFill>
                </a:ln>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tx1"/>
                                </a:solidFill>
                                <a:latin typeface="Cambria Math" panose="02040503050406030204" pitchFamily="18" charset="0"/>
                              </a:rPr>
                            </m:ctrlPr>
                          </m:sSubPr>
                          <m:e>
                            <m:r>
                              <a:rPr lang="en-US" b="0" i="1" smtClean="0">
                                <a:solidFill>
                                  <a:schemeClr val="tx1"/>
                                </a:solidFill>
                                <a:latin typeface="Cambria Math" panose="02040503050406030204" pitchFamily="18" charset="0"/>
                              </a:rPr>
                              <m:t>𝑅</m:t>
                            </m:r>
                          </m:e>
                          <m:sub>
                            <m:r>
                              <a:rPr lang="en-US" b="0" i="1" smtClean="0">
                                <a:solidFill>
                                  <a:schemeClr val="tx1"/>
                                </a:solidFill>
                                <a:latin typeface="Cambria Math" panose="02040503050406030204" pitchFamily="18" charset="0"/>
                              </a:rPr>
                              <m:t>𝐴𝐵</m:t>
                            </m:r>
                          </m:sub>
                        </m:sSub>
                        <m:r>
                          <a:rPr lang="en-US" b="0" i="1" smtClean="0">
                            <a:solidFill>
                              <a:schemeClr val="tx1"/>
                            </a:solidFill>
                            <a:latin typeface="Cambria Math" panose="02040503050406030204" pitchFamily="18" charset="0"/>
                          </a:rPr>
                          <m:t>+</m:t>
                        </m:r>
                        <m:sSub>
                          <m:sSubPr>
                            <m:ctrlPr>
                              <a:rPr lang="en-US" b="0" i="1" smtClean="0">
                                <a:solidFill>
                                  <a:schemeClr val="tx1"/>
                                </a:solidFill>
                                <a:latin typeface="Cambria Math" panose="02040503050406030204" pitchFamily="18" charset="0"/>
                              </a:rPr>
                            </m:ctrlPr>
                          </m:sSubPr>
                          <m:e>
                            <m:r>
                              <a:rPr lang="en-US" b="0" i="1" smtClean="0">
                                <a:solidFill>
                                  <a:schemeClr val="tx1"/>
                                </a:solidFill>
                                <a:latin typeface="Cambria Math" panose="02040503050406030204" pitchFamily="18" charset="0"/>
                              </a:rPr>
                              <m:t>𝐵</m:t>
                            </m:r>
                          </m:e>
                          <m:sub>
                            <m:r>
                              <a:rPr lang="en-US" b="0" i="1" smtClean="0">
                                <a:solidFill>
                                  <a:schemeClr val="tx1"/>
                                </a:solidFill>
                                <a:latin typeface="Cambria Math" panose="02040503050406030204" pitchFamily="18" charset="0"/>
                              </a:rPr>
                              <m:t>𝑛</m:t>
                            </m:r>
                          </m:sub>
                        </m:sSub>
                        <m:r>
                          <a:rPr lang="en-US" b="0" i="1" smtClean="0">
                            <a:solidFill>
                              <a:schemeClr val="tx1"/>
                            </a:solidFill>
                            <a:latin typeface="Cambria Math" panose="02040503050406030204" pitchFamily="18" charset="0"/>
                          </a:rPr>
                          <m:t>+</m:t>
                        </m:r>
                        <m:r>
                          <a:rPr lang="en-US" b="0" i="1" smtClean="0">
                            <a:solidFill>
                              <a:schemeClr val="tx1"/>
                            </a:solidFill>
                            <a:latin typeface="Cambria Math" panose="02040503050406030204" pitchFamily="18" charset="0"/>
                          </a:rPr>
                          <m:t>𝑅</m:t>
                        </m:r>
                        <m:sSub>
                          <m:sSubPr>
                            <m:ctrlPr>
                              <a:rPr lang="en-US" b="0" i="1" smtClean="0">
                                <a:solidFill>
                                  <a:schemeClr val="tx1"/>
                                </a:solidFill>
                                <a:latin typeface="Cambria Math" panose="02040503050406030204" pitchFamily="18" charset="0"/>
                              </a:rPr>
                            </m:ctrlPr>
                          </m:sSubPr>
                          <m:e>
                            <m:r>
                              <a:rPr lang="en-US" b="0" i="1" smtClean="0">
                                <a:solidFill>
                                  <a:schemeClr val="tx1"/>
                                </a:solidFill>
                                <a:latin typeface="Cambria Math" panose="02040503050406030204" pitchFamily="18" charset="0"/>
                              </a:rPr>
                              <m:t>𝑆</m:t>
                            </m:r>
                          </m:e>
                          <m:sub>
                            <m:r>
                              <a:rPr lang="en-US" b="0" i="1" smtClean="0">
                                <a:solidFill>
                                  <a:schemeClr val="tx1"/>
                                </a:solidFill>
                                <a:latin typeface="Cambria Math" panose="02040503050406030204" pitchFamily="18" charset="0"/>
                              </a:rPr>
                              <m:t>𝐵𝐴</m:t>
                            </m:r>
                          </m:sub>
                        </m:sSub>
                        <m:r>
                          <a:rPr lang="en-US" b="0" i="1" smtClean="0">
                            <a:solidFill>
                              <a:schemeClr val="tx1"/>
                            </a:solidFill>
                            <a:latin typeface="Cambria Math" panose="02040503050406030204" pitchFamily="18" charset="0"/>
                          </a:rPr>
                          <m:t>∈</m:t>
                        </m:r>
                        <m:r>
                          <m:rPr>
                            <m:sty m:val="p"/>
                          </m:rPr>
                          <a:rPr lang="en-US" b="0" i="0" smtClean="0">
                            <a:solidFill>
                              <a:schemeClr val="tx1"/>
                            </a:solidFill>
                            <a:latin typeface="Cambria Math" panose="02040503050406030204" pitchFamily="18" charset="0"/>
                          </a:rPr>
                          <m:t>Θ</m:t>
                        </m:r>
                        <m:r>
                          <a:rPr lang="en-US" b="0" i="1" smtClean="0">
                            <a:solidFill>
                              <a:schemeClr val="tx1"/>
                            </a:solidFill>
                            <a:latin typeface="Cambria Math" panose="02040503050406030204" pitchFamily="18" charset="0"/>
                          </a:rPr>
                          <m:t>(</m:t>
                        </m:r>
                        <m:sSub>
                          <m:sSubPr>
                            <m:ctrlPr>
                              <a:rPr lang="en-US" b="0" i="1" smtClean="0">
                                <a:solidFill>
                                  <a:schemeClr val="tx1"/>
                                </a:solidFill>
                                <a:latin typeface="Cambria Math" panose="02040503050406030204" pitchFamily="18" charset="0"/>
                              </a:rPr>
                            </m:ctrlPr>
                          </m:sSubPr>
                          <m:e>
                            <m:r>
                              <a:rPr lang="en-US" b="0" i="1" smtClean="0">
                                <a:solidFill>
                                  <a:schemeClr val="tx1"/>
                                </a:solidFill>
                                <a:latin typeface="Cambria Math" panose="02040503050406030204" pitchFamily="18" charset="0"/>
                              </a:rPr>
                              <m:t>𝐵</m:t>
                            </m:r>
                          </m:e>
                          <m:sub>
                            <m:r>
                              <a:rPr lang="en-US" b="0" i="1" smtClean="0">
                                <a:solidFill>
                                  <a:schemeClr val="tx1"/>
                                </a:solidFill>
                                <a:latin typeface="Cambria Math" panose="02040503050406030204" pitchFamily="18" charset="0"/>
                              </a:rPr>
                              <m:t>𝑛</m:t>
                            </m:r>
                          </m:sub>
                        </m:sSub>
                        <m:r>
                          <a:rPr lang="en-US" b="0" i="1" smtClean="0">
                            <a:solidFill>
                              <a:schemeClr val="tx1"/>
                            </a:solidFill>
                            <a:latin typeface="Cambria Math" panose="02040503050406030204" pitchFamily="18" charset="0"/>
                          </a:rPr>
                          <m:t>)</m:t>
                        </m:r>
                      </m:oMath>
                    </m:oMathPara>
                  </a14:m>
                  <a:endParaRPr lang="en-US" i="1" dirty="0">
                    <a:solidFill>
                      <a:schemeClr val="tx1"/>
                    </a:solidFill>
                  </a:endParaRPr>
                </a:p>
              </p:txBody>
            </p:sp>
          </mc:Choice>
          <mc:Fallback xmlns="">
            <p:sp>
              <p:nvSpPr>
                <p:cNvPr id="18" name="TextBox 17">
                  <a:extLst>
                    <a:ext uri="{FF2B5EF4-FFF2-40B4-BE49-F238E27FC236}">
                      <a16:creationId xmlns:a16="http://schemas.microsoft.com/office/drawing/2014/main" id="{0CEEBE2C-3190-D447-A6F3-DACAE4CCD843}"/>
                    </a:ext>
                  </a:extLst>
                </p:cNvPr>
                <p:cNvSpPr txBox="1">
                  <a:spLocks noRot="1" noChangeAspect="1" noMove="1" noResize="1" noEditPoints="1" noAdjustHandles="1" noChangeArrowheads="1" noChangeShapeType="1" noTextEdit="1"/>
                </p:cNvSpPr>
                <p:nvPr/>
              </p:nvSpPr>
              <p:spPr>
                <a:xfrm>
                  <a:off x="7715250" y="3027851"/>
                  <a:ext cx="4104450" cy="369332"/>
                </a:xfrm>
                <a:prstGeom prst="rect">
                  <a:avLst/>
                </a:prstGeom>
                <a:blipFill>
                  <a:blip r:embed="rId7"/>
                  <a:stretch>
                    <a:fillRect b="-9677"/>
                  </a:stretch>
                </a:blipFill>
                <a:ln>
                  <a:solidFill>
                    <a:schemeClr val="bg1"/>
                  </a:solidFill>
                </a:ln>
              </p:spPr>
              <p:txBody>
                <a:bodyPr/>
                <a:lstStyle/>
                <a:p>
                  <a:r>
                    <a:rPr lang="en-US">
                      <a:noFill/>
                    </a:rPr>
                    <a:t> </a:t>
                  </a:r>
                </a:p>
              </p:txBody>
            </p:sp>
          </mc:Fallback>
        </mc:AlternateContent>
      </p:grpSp>
    </p:spTree>
    <p:extLst>
      <p:ext uri="{BB962C8B-B14F-4D97-AF65-F5344CB8AC3E}">
        <p14:creationId xmlns:p14="http://schemas.microsoft.com/office/powerpoint/2010/main" val="42926856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41413" y="129734"/>
            <a:ext cx="9905998" cy="722453"/>
          </a:xfrm>
        </p:spPr>
        <p:txBody>
          <a:bodyPr/>
          <a:lstStyle/>
          <a:p>
            <a:pPr algn="ctr"/>
            <a:r>
              <a:rPr lang="en-US" dirty="0"/>
              <a:t>Runtime Comparison</a:t>
            </a:r>
            <a:endParaRPr lang="en-US" dirty="0">
              <a:solidFill>
                <a:srgbClr val="FFA7FF"/>
              </a:solidFill>
            </a:endParaRPr>
          </a:p>
        </p:txBody>
      </p:sp>
      <p:cxnSp>
        <p:nvCxnSpPr>
          <p:cNvPr id="9" name="Straight Arrow Connector 8">
            <a:extLst>
              <a:ext uri="{FF2B5EF4-FFF2-40B4-BE49-F238E27FC236}">
                <a16:creationId xmlns:a16="http://schemas.microsoft.com/office/drawing/2014/main" id="{56FD3858-9B57-E34B-89D9-63B3E119B7C6}"/>
              </a:ext>
            </a:extLst>
          </p:cNvPr>
          <p:cNvCxnSpPr>
            <a:cxnSpLocks/>
          </p:cNvCxnSpPr>
          <p:nvPr/>
        </p:nvCxnSpPr>
        <p:spPr>
          <a:xfrm flipV="1">
            <a:off x="9808230" y="974785"/>
            <a:ext cx="0" cy="5309928"/>
          </a:xfrm>
          <a:prstGeom prst="straightConnector1">
            <a:avLst/>
          </a:prstGeom>
          <a:ln>
            <a:solidFill>
              <a:schemeClr val="tx1">
                <a:lumMod val="9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5" name="TextBox 24">
            <a:extLst>
              <a:ext uri="{FF2B5EF4-FFF2-40B4-BE49-F238E27FC236}">
                <a16:creationId xmlns:a16="http://schemas.microsoft.com/office/drawing/2014/main" id="{627AB2E6-DD1C-4A4F-9E1C-D44D7D092712}"/>
              </a:ext>
            </a:extLst>
          </p:cNvPr>
          <p:cNvSpPr txBox="1"/>
          <p:nvPr/>
        </p:nvSpPr>
        <p:spPr>
          <a:xfrm>
            <a:off x="10092906" y="1164566"/>
            <a:ext cx="1705292" cy="830997"/>
          </a:xfrm>
          <a:prstGeom prst="rect">
            <a:avLst/>
          </a:prstGeom>
          <a:noFill/>
        </p:spPr>
        <p:txBody>
          <a:bodyPr wrap="square" rtlCol="0">
            <a:spAutoFit/>
          </a:bodyPr>
          <a:lstStyle/>
          <a:p>
            <a:pPr algn="ctr"/>
            <a:r>
              <a:rPr lang="en-US" sz="1600" i="1" dirty="0"/>
              <a:t>Harder Problems (fastest algorithm has slower runtime)</a:t>
            </a:r>
          </a:p>
        </p:txBody>
      </p:sp>
      <p:sp>
        <p:nvSpPr>
          <p:cNvPr id="28" name="TextBox 27">
            <a:extLst>
              <a:ext uri="{FF2B5EF4-FFF2-40B4-BE49-F238E27FC236}">
                <a16:creationId xmlns:a16="http://schemas.microsoft.com/office/drawing/2014/main" id="{A4019142-6004-CB4B-B835-9A40C153C8B9}"/>
              </a:ext>
            </a:extLst>
          </p:cNvPr>
          <p:cNvSpPr txBox="1"/>
          <p:nvPr/>
        </p:nvSpPr>
        <p:spPr>
          <a:xfrm>
            <a:off x="9911750" y="5453716"/>
            <a:ext cx="1886447" cy="830997"/>
          </a:xfrm>
          <a:prstGeom prst="rect">
            <a:avLst/>
          </a:prstGeom>
          <a:noFill/>
        </p:spPr>
        <p:txBody>
          <a:bodyPr wrap="square" rtlCol="0">
            <a:spAutoFit/>
          </a:bodyPr>
          <a:lstStyle/>
          <a:p>
            <a:pPr algn="ctr"/>
            <a:r>
              <a:rPr lang="en-US" sz="1600" i="1" dirty="0"/>
              <a:t>Easy Problems (fastest algorithm has very fast runtime)</a:t>
            </a:r>
          </a:p>
        </p:txBody>
      </p: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501B3355-8F0E-BA49-BE7C-437E5FC7B109}"/>
                  </a:ext>
                </a:extLst>
              </p:cNvPr>
              <p:cNvSpPr txBox="1"/>
              <p:nvPr/>
            </p:nvSpPr>
            <p:spPr>
              <a:xfrm>
                <a:off x="8384874" y="2162499"/>
                <a:ext cx="1207827" cy="369332"/>
              </a:xfrm>
              <a:prstGeom prst="rect">
                <a:avLst/>
              </a:prstGeom>
              <a:solidFill>
                <a:schemeClr val="accent1"/>
              </a:solidFill>
              <a:ln>
                <a:solidFill>
                  <a:schemeClr val="bg1"/>
                </a:solidFill>
              </a:ln>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𝐴</m:t>
                          </m:r>
                        </m:e>
                        <m:sub>
                          <m:r>
                            <a:rPr lang="en-US" b="0" i="1" smtClean="0">
                              <a:solidFill>
                                <a:schemeClr val="bg1"/>
                              </a:solidFill>
                              <a:latin typeface="Cambria Math" panose="02040503050406030204" pitchFamily="18" charset="0"/>
                            </a:rPr>
                            <m:t>𝑛</m:t>
                          </m:r>
                        </m:sub>
                      </m:sSub>
                    </m:oMath>
                  </m:oMathPara>
                </a14:m>
                <a:endParaRPr lang="en-US" i="1" dirty="0">
                  <a:solidFill>
                    <a:schemeClr val="bg1"/>
                  </a:solidFill>
                </a:endParaRPr>
              </a:p>
            </p:txBody>
          </p:sp>
        </mc:Choice>
        <mc:Fallback xmlns="">
          <p:sp>
            <p:nvSpPr>
              <p:cNvPr id="30" name="TextBox 29">
                <a:extLst>
                  <a:ext uri="{FF2B5EF4-FFF2-40B4-BE49-F238E27FC236}">
                    <a16:creationId xmlns:a16="http://schemas.microsoft.com/office/drawing/2014/main" id="{501B3355-8F0E-BA49-BE7C-437E5FC7B109}"/>
                  </a:ext>
                </a:extLst>
              </p:cNvPr>
              <p:cNvSpPr txBox="1">
                <a:spLocks noRot="1" noChangeAspect="1" noMove="1" noResize="1" noEditPoints="1" noAdjustHandles="1" noChangeArrowheads="1" noChangeShapeType="1" noTextEdit="1"/>
              </p:cNvSpPr>
              <p:nvPr/>
            </p:nvSpPr>
            <p:spPr>
              <a:xfrm>
                <a:off x="8384874" y="2162499"/>
                <a:ext cx="1207827" cy="369332"/>
              </a:xfrm>
              <a:prstGeom prst="rect">
                <a:avLst/>
              </a:prstGeom>
              <a:blipFill>
                <a:blip r:embed="rId5"/>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2279D28D-D910-8148-8474-7C9DB3E2FA65}"/>
                  </a:ext>
                </a:extLst>
              </p:cNvPr>
              <p:cNvSpPr txBox="1"/>
              <p:nvPr/>
            </p:nvSpPr>
            <p:spPr>
              <a:xfrm>
                <a:off x="8384874" y="3445083"/>
                <a:ext cx="1207827" cy="369332"/>
              </a:xfrm>
              <a:prstGeom prst="rect">
                <a:avLst/>
              </a:prstGeom>
              <a:solidFill>
                <a:schemeClr val="accent3"/>
              </a:solidFill>
              <a:ln>
                <a:solidFill>
                  <a:schemeClr val="bg1"/>
                </a:solidFill>
              </a:ln>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tx1"/>
                              </a:solidFill>
                              <a:latin typeface="Cambria Math" panose="02040503050406030204" pitchFamily="18" charset="0"/>
                            </a:rPr>
                          </m:ctrlPr>
                        </m:sSubPr>
                        <m:e>
                          <m:r>
                            <a:rPr lang="en-US" b="0" i="1" smtClean="0">
                              <a:solidFill>
                                <a:schemeClr val="tx1"/>
                              </a:solidFill>
                              <a:latin typeface="Cambria Math" panose="02040503050406030204" pitchFamily="18" charset="0"/>
                            </a:rPr>
                            <m:t>𝐵</m:t>
                          </m:r>
                        </m:e>
                        <m:sub>
                          <m:r>
                            <a:rPr lang="en-US" b="0" i="1" smtClean="0">
                              <a:solidFill>
                                <a:schemeClr val="tx1"/>
                              </a:solidFill>
                              <a:latin typeface="Cambria Math" panose="02040503050406030204" pitchFamily="18" charset="0"/>
                            </a:rPr>
                            <m:t>𝑛</m:t>
                          </m:r>
                        </m:sub>
                      </m:sSub>
                    </m:oMath>
                  </m:oMathPara>
                </a14:m>
                <a:endParaRPr lang="en-US" i="1" dirty="0">
                  <a:solidFill>
                    <a:schemeClr val="tx1"/>
                  </a:solidFill>
                </a:endParaRPr>
              </a:p>
            </p:txBody>
          </p:sp>
        </mc:Choice>
        <mc:Fallback xmlns="">
          <p:sp>
            <p:nvSpPr>
              <p:cNvPr id="31" name="TextBox 30">
                <a:extLst>
                  <a:ext uri="{FF2B5EF4-FFF2-40B4-BE49-F238E27FC236}">
                    <a16:creationId xmlns:a16="http://schemas.microsoft.com/office/drawing/2014/main" id="{2279D28D-D910-8148-8474-7C9DB3E2FA65}"/>
                  </a:ext>
                </a:extLst>
              </p:cNvPr>
              <p:cNvSpPr txBox="1">
                <a:spLocks noRot="1" noChangeAspect="1" noMove="1" noResize="1" noEditPoints="1" noAdjustHandles="1" noChangeArrowheads="1" noChangeShapeType="1" noTextEdit="1"/>
              </p:cNvSpPr>
              <p:nvPr/>
            </p:nvSpPr>
            <p:spPr>
              <a:xfrm>
                <a:off x="8384874" y="3445083"/>
                <a:ext cx="1207827" cy="369332"/>
              </a:xfrm>
              <a:prstGeom prst="rect">
                <a:avLst/>
              </a:prstGeom>
              <a:blipFill>
                <a:blip r:embed="rId6"/>
                <a:stretch>
                  <a:fillRect/>
                </a:stretch>
              </a:blipFill>
              <a:ln>
                <a:solidFill>
                  <a:schemeClr val="bg1"/>
                </a:solidFill>
              </a:ln>
            </p:spPr>
            <p:txBody>
              <a:bodyPr/>
              <a:lstStyle/>
              <a:p>
                <a:r>
                  <a:rPr lang="en-US">
                    <a:noFill/>
                  </a:rPr>
                  <a:t> </a:t>
                </a:r>
              </a:p>
            </p:txBody>
          </p:sp>
        </mc:Fallback>
      </mc:AlternateContent>
      <p:sp>
        <p:nvSpPr>
          <p:cNvPr id="32" name="TextBox 31">
            <a:extLst>
              <a:ext uri="{FF2B5EF4-FFF2-40B4-BE49-F238E27FC236}">
                <a16:creationId xmlns:a16="http://schemas.microsoft.com/office/drawing/2014/main" id="{1CDC137B-8C53-CD4A-9781-276C1FAF8FC8}"/>
              </a:ext>
            </a:extLst>
          </p:cNvPr>
          <p:cNvSpPr txBox="1"/>
          <p:nvPr/>
        </p:nvSpPr>
        <p:spPr>
          <a:xfrm>
            <a:off x="5056384" y="4915107"/>
            <a:ext cx="3912125" cy="1077218"/>
          </a:xfrm>
          <a:prstGeom prst="rect">
            <a:avLst/>
          </a:prstGeom>
          <a:noFill/>
          <a:ln>
            <a:solidFill>
              <a:schemeClr val="tx1">
                <a:lumMod val="95000"/>
              </a:schemeClr>
            </a:solidFill>
          </a:ln>
        </p:spPr>
        <p:txBody>
          <a:bodyPr wrap="square" rtlCol="0">
            <a:spAutoFit/>
          </a:bodyPr>
          <a:lstStyle/>
          <a:p>
            <a:pPr algn="ctr"/>
            <a:r>
              <a:rPr lang="en-US" sz="1600" i="1" dirty="0"/>
              <a:t>If the reduction is FASTER than directly solving A, What does this mean? It means the reduction IS the best way to solve A (and this picture doesn’t make sense)</a:t>
            </a:r>
          </a:p>
        </p:txBody>
      </p:sp>
      <p:cxnSp>
        <p:nvCxnSpPr>
          <p:cNvPr id="34" name="Straight Connector 33">
            <a:extLst>
              <a:ext uri="{FF2B5EF4-FFF2-40B4-BE49-F238E27FC236}">
                <a16:creationId xmlns:a16="http://schemas.microsoft.com/office/drawing/2014/main" id="{DC079917-A91F-2047-9C62-09FD7BED5AA9}"/>
              </a:ext>
            </a:extLst>
          </p:cNvPr>
          <p:cNvCxnSpPr>
            <a:cxnSpLocks/>
          </p:cNvCxnSpPr>
          <p:nvPr/>
        </p:nvCxnSpPr>
        <p:spPr>
          <a:xfrm flipV="1">
            <a:off x="6927273" y="2415398"/>
            <a:ext cx="1345459" cy="2329130"/>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C5CE5DF9-96B2-B545-9D34-5EAD16617445}"/>
              </a:ext>
            </a:extLst>
          </p:cNvPr>
          <p:cNvCxnSpPr>
            <a:cxnSpLocks/>
          </p:cNvCxnSpPr>
          <p:nvPr/>
        </p:nvCxnSpPr>
        <p:spPr>
          <a:xfrm flipV="1">
            <a:off x="7065818" y="3798102"/>
            <a:ext cx="1126837" cy="946426"/>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grpSp>
        <p:nvGrpSpPr>
          <p:cNvPr id="15" name="Group 14">
            <a:extLst>
              <a:ext uri="{FF2B5EF4-FFF2-40B4-BE49-F238E27FC236}">
                <a16:creationId xmlns:a16="http://schemas.microsoft.com/office/drawing/2014/main" id="{F7FC513A-9540-2F4D-B68B-AAA5A4BB8F86}"/>
              </a:ext>
            </a:extLst>
          </p:cNvPr>
          <p:cNvGrpSpPr/>
          <p:nvPr/>
        </p:nvGrpSpPr>
        <p:grpSpPr>
          <a:xfrm>
            <a:off x="579107" y="2598673"/>
            <a:ext cx="4402471" cy="2031325"/>
            <a:chOff x="7572375" y="1828423"/>
            <a:chExt cx="4402471" cy="2031325"/>
          </a:xfrm>
        </p:grpSpPr>
        <p:sp>
          <p:nvSpPr>
            <p:cNvPr id="16" name="TextBox 15">
              <a:extLst>
                <a:ext uri="{FF2B5EF4-FFF2-40B4-BE49-F238E27FC236}">
                  <a16:creationId xmlns:a16="http://schemas.microsoft.com/office/drawing/2014/main" id="{82ECCAB6-6E38-6A46-A4EA-484E7588F7FE}"/>
                </a:ext>
              </a:extLst>
            </p:cNvPr>
            <p:cNvSpPr txBox="1"/>
            <p:nvPr/>
          </p:nvSpPr>
          <p:spPr>
            <a:xfrm>
              <a:off x="7572375" y="1828423"/>
              <a:ext cx="4402471" cy="2031325"/>
            </a:xfrm>
            <a:prstGeom prst="rect">
              <a:avLst/>
            </a:prstGeom>
            <a:solidFill>
              <a:schemeClr val="tx1">
                <a:lumMod val="95000"/>
              </a:schemeClr>
            </a:solidFill>
            <a:ln>
              <a:solidFill>
                <a:schemeClr val="bg1"/>
              </a:solidFill>
            </a:ln>
          </p:spPr>
          <p:txBody>
            <a:bodyPr wrap="square" rtlCol="0">
              <a:spAutoFit/>
            </a:bodyPr>
            <a:lstStyle/>
            <a:p>
              <a:pPr algn="ctr"/>
              <a:r>
                <a:rPr lang="en-US" i="1" dirty="0">
                  <a:solidFill>
                    <a:schemeClr val="bg1"/>
                  </a:solidFill>
                </a:rPr>
                <a:t>Which Algorithm is faster?</a:t>
              </a:r>
            </a:p>
            <a:p>
              <a:pPr algn="ctr"/>
              <a:endParaRPr lang="en-US" i="1" dirty="0">
                <a:solidFill>
                  <a:schemeClr val="bg1"/>
                </a:solidFill>
              </a:endParaRPr>
            </a:p>
            <a:p>
              <a:pPr algn="ctr"/>
              <a:endParaRPr lang="en-US" i="1" dirty="0">
                <a:solidFill>
                  <a:schemeClr val="bg1"/>
                </a:solidFill>
              </a:endParaRPr>
            </a:p>
            <a:p>
              <a:pPr algn="ctr"/>
              <a:endParaRPr lang="en-US" i="1" dirty="0">
                <a:solidFill>
                  <a:schemeClr val="bg1"/>
                </a:solidFill>
              </a:endParaRPr>
            </a:p>
            <a:p>
              <a:pPr algn="ctr"/>
              <a:endParaRPr lang="en-US" i="1" dirty="0">
                <a:solidFill>
                  <a:schemeClr val="bg1"/>
                </a:solidFill>
              </a:endParaRPr>
            </a:p>
            <a:p>
              <a:pPr algn="ctr"/>
              <a:endParaRPr lang="en-US" i="1" dirty="0">
                <a:solidFill>
                  <a:schemeClr val="bg1"/>
                </a:solidFill>
              </a:endParaRPr>
            </a:p>
            <a:p>
              <a:pPr algn="ctr"/>
              <a:endParaRPr lang="en-US" i="1" dirty="0">
                <a:solidFill>
                  <a:schemeClr val="bg1"/>
                </a:solidFill>
              </a:endParaRPr>
            </a:p>
          </p:txBody>
        </p: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273D7E97-6985-A245-A2A9-8EBF4D401363}"/>
                    </a:ext>
                  </a:extLst>
                </p:cNvPr>
                <p:cNvSpPr txBox="1"/>
                <p:nvPr/>
              </p:nvSpPr>
              <p:spPr>
                <a:xfrm>
                  <a:off x="7715250" y="2535604"/>
                  <a:ext cx="4104450" cy="369332"/>
                </a:xfrm>
                <a:prstGeom prst="rect">
                  <a:avLst/>
                </a:prstGeom>
                <a:solidFill>
                  <a:schemeClr val="accent1"/>
                </a:solidFill>
                <a:ln>
                  <a:solidFill>
                    <a:schemeClr val="bg1"/>
                  </a:solidFill>
                </a:ln>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𝐴</m:t>
                            </m:r>
                          </m:e>
                          <m:sub>
                            <m:r>
                              <a:rPr lang="en-US" b="0" i="1" smtClean="0">
                                <a:solidFill>
                                  <a:schemeClr val="bg1"/>
                                </a:solidFill>
                                <a:latin typeface="Cambria Math" panose="02040503050406030204" pitchFamily="18" charset="0"/>
                              </a:rPr>
                              <m:t>𝑛</m:t>
                            </m:r>
                          </m:sub>
                        </m:sSub>
                      </m:oMath>
                    </m:oMathPara>
                  </a14:m>
                  <a:endParaRPr lang="en-US" i="1" dirty="0">
                    <a:solidFill>
                      <a:schemeClr val="bg1"/>
                    </a:solidFill>
                  </a:endParaRPr>
                </a:p>
              </p:txBody>
            </p:sp>
          </mc:Choice>
          <mc:Fallback xmlns="">
            <p:sp>
              <p:nvSpPr>
                <p:cNvPr id="45" name="TextBox 44">
                  <a:extLst>
                    <a:ext uri="{FF2B5EF4-FFF2-40B4-BE49-F238E27FC236}">
                      <a16:creationId xmlns:a16="http://schemas.microsoft.com/office/drawing/2014/main" id="{F0BE6109-09C1-2546-BBEB-F6EEB25299A7}"/>
                    </a:ext>
                  </a:extLst>
                </p:cNvPr>
                <p:cNvSpPr txBox="1">
                  <a:spLocks noRot="1" noChangeAspect="1" noMove="1" noResize="1" noEditPoints="1" noAdjustHandles="1" noChangeArrowheads="1" noChangeShapeType="1" noTextEdit="1"/>
                </p:cNvSpPr>
                <p:nvPr/>
              </p:nvSpPr>
              <p:spPr>
                <a:xfrm>
                  <a:off x="7715250" y="2535604"/>
                  <a:ext cx="4104450" cy="369332"/>
                </a:xfrm>
                <a:prstGeom prst="rect">
                  <a:avLst/>
                </a:prstGeom>
                <a:blipFill>
                  <a:blip r:embed="rId3"/>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9977238E-E4EE-1A41-B5B4-0E3E13EDE061}"/>
                    </a:ext>
                  </a:extLst>
                </p:cNvPr>
                <p:cNvSpPr txBox="1"/>
                <p:nvPr/>
              </p:nvSpPr>
              <p:spPr>
                <a:xfrm>
                  <a:off x="7715250" y="3027851"/>
                  <a:ext cx="4104450" cy="369332"/>
                </a:xfrm>
                <a:prstGeom prst="rect">
                  <a:avLst/>
                </a:prstGeom>
                <a:solidFill>
                  <a:schemeClr val="accent3"/>
                </a:solidFill>
                <a:ln>
                  <a:solidFill>
                    <a:schemeClr val="bg1"/>
                  </a:solidFill>
                </a:ln>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tx1"/>
                                </a:solidFill>
                                <a:latin typeface="Cambria Math" panose="02040503050406030204" pitchFamily="18" charset="0"/>
                              </a:rPr>
                            </m:ctrlPr>
                          </m:sSubPr>
                          <m:e>
                            <m:r>
                              <a:rPr lang="en-US" b="0" i="1" smtClean="0">
                                <a:solidFill>
                                  <a:schemeClr val="tx1"/>
                                </a:solidFill>
                                <a:latin typeface="Cambria Math" panose="02040503050406030204" pitchFamily="18" charset="0"/>
                              </a:rPr>
                              <m:t>𝑅</m:t>
                            </m:r>
                          </m:e>
                          <m:sub>
                            <m:r>
                              <a:rPr lang="en-US" b="0" i="1" smtClean="0">
                                <a:solidFill>
                                  <a:schemeClr val="tx1"/>
                                </a:solidFill>
                                <a:latin typeface="Cambria Math" panose="02040503050406030204" pitchFamily="18" charset="0"/>
                              </a:rPr>
                              <m:t>𝐴𝐵</m:t>
                            </m:r>
                          </m:sub>
                        </m:sSub>
                        <m:r>
                          <a:rPr lang="en-US" b="0" i="1" smtClean="0">
                            <a:solidFill>
                              <a:schemeClr val="tx1"/>
                            </a:solidFill>
                            <a:latin typeface="Cambria Math" panose="02040503050406030204" pitchFamily="18" charset="0"/>
                          </a:rPr>
                          <m:t>+</m:t>
                        </m:r>
                        <m:sSub>
                          <m:sSubPr>
                            <m:ctrlPr>
                              <a:rPr lang="en-US" b="0" i="1" smtClean="0">
                                <a:solidFill>
                                  <a:schemeClr val="tx1"/>
                                </a:solidFill>
                                <a:latin typeface="Cambria Math" panose="02040503050406030204" pitchFamily="18" charset="0"/>
                              </a:rPr>
                            </m:ctrlPr>
                          </m:sSubPr>
                          <m:e>
                            <m:r>
                              <a:rPr lang="en-US" b="0" i="1" smtClean="0">
                                <a:solidFill>
                                  <a:schemeClr val="tx1"/>
                                </a:solidFill>
                                <a:latin typeface="Cambria Math" panose="02040503050406030204" pitchFamily="18" charset="0"/>
                              </a:rPr>
                              <m:t>𝐵</m:t>
                            </m:r>
                          </m:e>
                          <m:sub>
                            <m:r>
                              <a:rPr lang="en-US" b="0" i="1" smtClean="0">
                                <a:solidFill>
                                  <a:schemeClr val="tx1"/>
                                </a:solidFill>
                                <a:latin typeface="Cambria Math" panose="02040503050406030204" pitchFamily="18" charset="0"/>
                              </a:rPr>
                              <m:t>𝑛</m:t>
                            </m:r>
                          </m:sub>
                        </m:sSub>
                        <m:r>
                          <a:rPr lang="en-US" b="0" i="1" smtClean="0">
                            <a:solidFill>
                              <a:schemeClr val="tx1"/>
                            </a:solidFill>
                            <a:latin typeface="Cambria Math" panose="02040503050406030204" pitchFamily="18" charset="0"/>
                          </a:rPr>
                          <m:t>+</m:t>
                        </m:r>
                        <m:r>
                          <a:rPr lang="en-US" b="0" i="1" smtClean="0">
                            <a:solidFill>
                              <a:schemeClr val="tx1"/>
                            </a:solidFill>
                            <a:latin typeface="Cambria Math" panose="02040503050406030204" pitchFamily="18" charset="0"/>
                          </a:rPr>
                          <m:t>𝑅</m:t>
                        </m:r>
                        <m:sSub>
                          <m:sSubPr>
                            <m:ctrlPr>
                              <a:rPr lang="en-US" b="0" i="1" smtClean="0">
                                <a:solidFill>
                                  <a:schemeClr val="tx1"/>
                                </a:solidFill>
                                <a:latin typeface="Cambria Math" panose="02040503050406030204" pitchFamily="18" charset="0"/>
                              </a:rPr>
                            </m:ctrlPr>
                          </m:sSubPr>
                          <m:e>
                            <m:r>
                              <a:rPr lang="en-US" b="0" i="1" smtClean="0">
                                <a:solidFill>
                                  <a:schemeClr val="tx1"/>
                                </a:solidFill>
                                <a:latin typeface="Cambria Math" panose="02040503050406030204" pitchFamily="18" charset="0"/>
                              </a:rPr>
                              <m:t>𝑆</m:t>
                            </m:r>
                          </m:e>
                          <m:sub>
                            <m:r>
                              <a:rPr lang="en-US" b="0" i="1" smtClean="0">
                                <a:solidFill>
                                  <a:schemeClr val="tx1"/>
                                </a:solidFill>
                                <a:latin typeface="Cambria Math" panose="02040503050406030204" pitchFamily="18" charset="0"/>
                              </a:rPr>
                              <m:t>𝐵𝐴</m:t>
                            </m:r>
                          </m:sub>
                        </m:sSub>
                        <m:r>
                          <a:rPr lang="en-US" b="0" i="1" smtClean="0">
                            <a:solidFill>
                              <a:schemeClr val="tx1"/>
                            </a:solidFill>
                            <a:latin typeface="Cambria Math" panose="02040503050406030204" pitchFamily="18" charset="0"/>
                          </a:rPr>
                          <m:t>∈</m:t>
                        </m:r>
                        <m:r>
                          <m:rPr>
                            <m:sty m:val="p"/>
                          </m:rPr>
                          <a:rPr lang="en-US" b="0" i="0" smtClean="0">
                            <a:solidFill>
                              <a:schemeClr val="tx1"/>
                            </a:solidFill>
                            <a:latin typeface="Cambria Math" panose="02040503050406030204" pitchFamily="18" charset="0"/>
                          </a:rPr>
                          <m:t>Θ</m:t>
                        </m:r>
                        <m:r>
                          <a:rPr lang="en-US" b="0" i="1" smtClean="0">
                            <a:solidFill>
                              <a:schemeClr val="tx1"/>
                            </a:solidFill>
                            <a:latin typeface="Cambria Math" panose="02040503050406030204" pitchFamily="18" charset="0"/>
                          </a:rPr>
                          <m:t>(</m:t>
                        </m:r>
                        <m:sSub>
                          <m:sSubPr>
                            <m:ctrlPr>
                              <a:rPr lang="en-US" b="0" i="1" smtClean="0">
                                <a:solidFill>
                                  <a:schemeClr val="tx1"/>
                                </a:solidFill>
                                <a:latin typeface="Cambria Math" panose="02040503050406030204" pitchFamily="18" charset="0"/>
                              </a:rPr>
                            </m:ctrlPr>
                          </m:sSubPr>
                          <m:e>
                            <m:r>
                              <a:rPr lang="en-US" b="0" i="1" smtClean="0">
                                <a:solidFill>
                                  <a:schemeClr val="tx1"/>
                                </a:solidFill>
                                <a:latin typeface="Cambria Math" panose="02040503050406030204" pitchFamily="18" charset="0"/>
                              </a:rPr>
                              <m:t>𝐵</m:t>
                            </m:r>
                          </m:e>
                          <m:sub>
                            <m:r>
                              <a:rPr lang="en-US" b="0" i="1" smtClean="0">
                                <a:solidFill>
                                  <a:schemeClr val="tx1"/>
                                </a:solidFill>
                                <a:latin typeface="Cambria Math" panose="02040503050406030204" pitchFamily="18" charset="0"/>
                              </a:rPr>
                              <m:t>𝑛</m:t>
                            </m:r>
                          </m:sub>
                        </m:sSub>
                        <m:r>
                          <a:rPr lang="en-US" b="0" i="1" smtClean="0">
                            <a:solidFill>
                              <a:schemeClr val="tx1"/>
                            </a:solidFill>
                            <a:latin typeface="Cambria Math" panose="02040503050406030204" pitchFamily="18" charset="0"/>
                          </a:rPr>
                          <m:t>)</m:t>
                        </m:r>
                      </m:oMath>
                    </m:oMathPara>
                  </a14:m>
                  <a:endParaRPr lang="en-US" i="1" dirty="0">
                    <a:solidFill>
                      <a:schemeClr val="tx1"/>
                    </a:solidFill>
                  </a:endParaRPr>
                </a:p>
              </p:txBody>
            </p:sp>
          </mc:Choice>
          <mc:Fallback xmlns="">
            <p:sp>
              <p:nvSpPr>
                <p:cNvPr id="18" name="TextBox 17">
                  <a:extLst>
                    <a:ext uri="{FF2B5EF4-FFF2-40B4-BE49-F238E27FC236}">
                      <a16:creationId xmlns:a16="http://schemas.microsoft.com/office/drawing/2014/main" id="{9977238E-E4EE-1A41-B5B4-0E3E13EDE061}"/>
                    </a:ext>
                  </a:extLst>
                </p:cNvPr>
                <p:cNvSpPr txBox="1">
                  <a:spLocks noRot="1" noChangeAspect="1" noMove="1" noResize="1" noEditPoints="1" noAdjustHandles="1" noChangeArrowheads="1" noChangeShapeType="1" noTextEdit="1"/>
                </p:cNvSpPr>
                <p:nvPr/>
              </p:nvSpPr>
              <p:spPr>
                <a:xfrm>
                  <a:off x="7715250" y="3027851"/>
                  <a:ext cx="4104450" cy="369332"/>
                </a:xfrm>
                <a:prstGeom prst="rect">
                  <a:avLst/>
                </a:prstGeom>
                <a:blipFill>
                  <a:blip r:embed="rId7"/>
                  <a:stretch>
                    <a:fillRect b="-9677"/>
                  </a:stretch>
                </a:blipFill>
                <a:ln>
                  <a:solidFill>
                    <a:schemeClr val="bg1"/>
                  </a:solidFill>
                </a:ln>
              </p:spPr>
              <p:txBody>
                <a:bodyPr/>
                <a:lstStyle/>
                <a:p>
                  <a:r>
                    <a:rPr lang="en-US">
                      <a:noFill/>
                    </a:rPr>
                    <a:t> </a:t>
                  </a:r>
                </a:p>
              </p:txBody>
            </p:sp>
          </mc:Fallback>
        </mc:AlternateContent>
      </p:grpSp>
    </p:spTree>
    <p:extLst>
      <p:ext uri="{BB962C8B-B14F-4D97-AF65-F5344CB8AC3E}">
        <p14:creationId xmlns:p14="http://schemas.microsoft.com/office/powerpoint/2010/main" val="19893187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41413" y="129734"/>
            <a:ext cx="9905998" cy="722453"/>
          </a:xfrm>
        </p:spPr>
        <p:txBody>
          <a:bodyPr/>
          <a:lstStyle/>
          <a:p>
            <a:pPr algn="ctr"/>
            <a:r>
              <a:rPr lang="en-US" dirty="0"/>
              <a:t>Runtime Comparison</a:t>
            </a:r>
            <a:endParaRPr lang="en-US" dirty="0">
              <a:solidFill>
                <a:srgbClr val="FFA7FF"/>
              </a:solidFill>
            </a:endParaRPr>
          </a:p>
        </p:txBody>
      </p:sp>
      <p:grpSp>
        <p:nvGrpSpPr>
          <p:cNvPr id="4" name="Group 3">
            <a:extLst>
              <a:ext uri="{FF2B5EF4-FFF2-40B4-BE49-F238E27FC236}">
                <a16:creationId xmlns:a16="http://schemas.microsoft.com/office/drawing/2014/main" id="{8E3F8D96-49BA-1045-8928-38829A5B5A61}"/>
              </a:ext>
            </a:extLst>
          </p:cNvPr>
          <p:cNvGrpSpPr/>
          <p:nvPr/>
        </p:nvGrpSpPr>
        <p:grpSpPr>
          <a:xfrm>
            <a:off x="580021" y="2595614"/>
            <a:ext cx="4402471" cy="2031325"/>
            <a:chOff x="7572375" y="1828423"/>
            <a:chExt cx="4402471" cy="2031325"/>
          </a:xfrm>
        </p:grpSpPr>
        <p:sp>
          <p:nvSpPr>
            <p:cNvPr id="3" name="TextBox 2"/>
            <p:cNvSpPr txBox="1"/>
            <p:nvPr/>
          </p:nvSpPr>
          <p:spPr>
            <a:xfrm>
              <a:off x="7572375" y="1828423"/>
              <a:ext cx="4402471" cy="2031325"/>
            </a:xfrm>
            <a:prstGeom prst="rect">
              <a:avLst/>
            </a:prstGeom>
            <a:solidFill>
              <a:schemeClr val="tx1">
                <a:lumMod val="95000"/>
              </a:schemeClr>
            </a:solidFill>
            <a:ln>
              <a:solidFill>
                <a:schemeClr val="bg1"/>
              </a:solidFill>
            </a:ln>
          </p:spPr>
          <p:txBody>
            <a:bodyPr wrap="square" rtlCol="0">
              <a:spAutoFit/>
            </a:bodyPr>
            <a:lstStyle/>
            <a:p>
              <a:pPr algn="ctr"/>
              <a:r>
                <a:rPr lang="en-US" i="1" dirty="0">
                  <a:solidFill>
                    <a:schemeClr val="bg1"/>
                  </a:solidFill>
                </a:rPr>
                <a:t>Which Algorithm is faster?</a:t>
              </a:r>
            </a:p>
            <a:p>
              <a:pPr algn="ctr"/>
              <a:endParaRPr lang="en-US" i="1" dirty="0">
                <a:solidFill>
                  <a:schemeClr val="bg1"/>
                </a:solidFill>
              </a:endParaRPr>
            </a:p>
            <a:p>
              <a:pPr algn="ctr"/>
              <a:endParaRPr lang="en-US" i="1" dirty="0">
                <a:solidFill>
                  <a:schemeClr val="bg1"/>
                </a:solidFill>
              </a:endParaRPr>
            </a:p>
            <a:p>
              <a:pPr algn="ctr"/>
              <a:endParaRPr lang="en-US" i="1" dirty="0">
                <a:solidFill>
                  <a:schemeClr val="bg1"/>
                </a:solidFill>
              </a:endParaRPr>
            </a:p>
            <a:p>
              <a:pPr algn="ctr"/>
              <a:endParaRPr lang="en-US" i="1" dirty="0">
                <a:solidFill>
                  <a:schemeClr val="bg1"/>
                </a:solidFill>
              </a:endParaRPr>
            </a:p>
            <a:p>
              <a:pPr algn="ctr"/>
              <a:endParaRPr lang="en-US" i="1" dirty="0">
                <a:solidFill>
                  <a:schemeClr val="bg1"/>
                </a:solidFill>
              </a:endParaRPr>
            </a:p>
            <a:p>
              <a:pPr algn="ctr"/>
              <a:endParaRPr lang="en-US" i="1" dirty="0">
                <a:solidFill>
                  <a:schemeClr val="bg1"/>
                </a:solidFill>
              </a:endParaRPr>
            </a:p>
          </p:txBody>
        </p: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F0BE6109-09C1-2546-BBEB-F6EEB25299A7}"/>
                    </a:ext>
                  </a:extLst>
                </p:cNvPr>
                <p:cNvSpPr txBox="1"/>
                <p:nvPr/>
              </p:nvSpPr>
              <p:spPr>
                <a:xfrm>
                  <a:off x="7715250" y="2535604"/>
                  <a:ext cx="4104450" cy="369332"/>
                </a:xfrm>
                <a:prstGeom prst="rect">
                  <a:avLst/>
                </a:prstGeom>
                <a:solidFill>
                  <a:schemeClr val="accent1"/>
                </a:solidFill>
                <a:ln>
                  <a:solidFill>
                    <a:schemeClr val="bg1"/>
                  </a:solidFill>
                </a:ln>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𝐴</m:t>
                            </m:r>
                          </m:e>
                          <m:sub>
                            <m:r>
                              <a:rPr lang="en-US" b="0" i="1" smtClean="0">
                                <a:solidFill>
                                  <a:schemeClr val="bg1"/>
                                </a:solidFill>
                                <a:latin typeface="Cambria Math" panose="02040503050406030204" pitchFamily="18" charset="0"/>
                              </a:rPr>
                              <m:t>𝑛</m:t>
                            </m:r>
                          </m:sub>
                        </m:sSub>
                      </m:oMath>
                    </m:oMathPara>
                  </a14:m>
                  <a:endParaRPr lang="en-US" i="1" dirty="0">
                    <a:solidFill>
                      <a:schemeClr val="bg1"/>
                    </a:solidFill>
                  </a:endParaRPr>
                </a:p>
              </p:txBody>
            </p:sp>
          </mc:Choice>
          <mc:Fallback xmlns="">
            <p:sp>
              <p:nvSpPr>
                <p:cNvPr id="45" name="TextBox 44">
                  <a:extLst>
                    <a:ext uri="{FF2B5EF4-FFF2-40B4-BE49-F238E27FC236}">
                      <a16:creationId xmlns:a16="http://schemas.microsoft.com/office/drawing/2014/main" id="{F0BE6109-09C1-2546-BBEB-F6EEB25299A7}"/>
                    </a:ext>
                  </a:extLst>
                </p:cNvPr>
                <p:cNvSpPr txBox="1">
                  <a:spLocks noRot="1" noChangeAspect="1" noMove="1" noResize="1" noEditPoints="1" noAdjustHandles="1" noChangeArrowheads="1" noChangeShapeType="1" noTextEdit="1"/>
                </p:cNvSpPr>
                <p:nvPr/>
              </p:nvSpPr>
              <p:spPr>
                <a:xfrm>
                  <a:off x="7715250" y="2535604"/>
                  <a:ext cx="4104450" cy="369332"/>
                </a:xfrm>
                <a:prstGeom prst="rect">
                  <a:avLst/>
                </a:prstGeom>
                <a:blipFill>
                  <a:blip r:embed="rId3"/>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62B9DB6F-EBE3-9C40-9042-ADE677676AED}"/>
                    </a:ext>
                  </a:extLst>
                </p:cNvPr>
                <p:cNvSpPr txBox="1"/>
                <p:nvPr/>
              </p:nvSpPr>
              <p:spPr>
                <a:xfrm>
                  <a:off x="7715250" y="3027851"/>
                  <a:ext cx="4104450" cy="369332"/>
                </a:xfrm>
                <a:prstGeom prst="rect">
                  <a:avLst/>
                </a:prstGeom>
                <a:solidFill>
                  <a:schemeClr val="accent1"/>
                </a:solidFill>
                <a:ln>
                  <a:solidFill>
                    <a:schemeClr val="bg1"/>
                  </a:solidFill>
                </a:ln>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𝑅</m:t>
                            </m:r>
                          </m:e>
                          <m:sub>
                            <m:r>
                              <a:rPr lang="en-US" b="0" i="1" smtClean="0">
                                <a:solidFill>
                                  <a:schemeClr val="bg1"/>
                                </a:solidFill>
                                <a:latin typeface="Cambria Math" panose="02040503050406030204" pitchFamily="18" charset="0"/>
                              </a:rPr>
                              <m:t>𝐴𝐵</m:t>
                            </m:r>
                          </m:sub>
                        </m:sSub>
                        <m:r>
                          <a:rPr lang="en-US" b="0" i="1" smtClean="0">
                            <a:solidFill>
                              <a:schemeClr val="bg1"/>
                            </a:solidFill>
                            <a:latin typeface="Cambria Math" panose="02040503050406030204" pitchFamily="18" charset="0"/>
                          </a:rPr>
                          <m:t>+</m:t>
                        </m:r>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𝐵</m:t>
                            </m:r>
                          </m:e>
                          <m:sub>
                            <m:r>
                              <a:rPr lang="en-US" b="0" i="1" smtClean="0">
                                <a:solidFill>
                                  <a:schemeClr val="bg1"/>
                                </a:solidFill>
                                <a:latin typeface="Cambria Math" panose="02040503050406030204" pitchFamily="18" charset="0"/>
                              </a:rPr>
                              <m:t>𝑛</m:t>
                            </m:r>
                          </m:sub>
                        </m:sSub>
                        <m:r>
                          <a:rPr lang="en-US" b="0" i="1" smtClean="0">
                            <a:solidFill>
                              <a:schemeClr val="bg1"/>
                            </a:solidFill>
                            <a:latin typeface="Cambria Math" panose="02040503050406030204" pitchFamily="18" charset="0"/>
                          </a:rPr>
                          <m:t>+</m:t>
                        </m:r>
                        <m:r>
                          <a:rPr lang="en-US" b="0" i="1" smtClean="0">
                            <a:solidFill>
                              <a:schemeClr val="bg1"/>
                            </a:solidFill>
                            <a:latin typeface="Cambria Math" panose="02040503050406030204" pitchFamily="18" charset="0"/>
                          </a:rPr>
                          <m:t>𝑅</m:t>
                        </m:r>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𝑆</m:t>
                            </m:r>
                          </m:e>
                          <m:sub>
                            <m:r>
                              <a:rPr lang="en-US" b="0" i="1" smtClean="0">
                                <a:solidFill>
                                  <a:schemeClr val="bg1"/>
                                </a:solidFill>
                                <a:latin typeface="Cambria Math" panose="02040503050406030204" pitchFamily="18" charset="0"/>
                              </a:rPr>
                              <m:t>𝐵𝐴</m:t>
                            </m:r>
                          </m:sub>
                        </m:sSub>
                        <m:r>
                          <a:rPr lang="en-US" b="0" i="1" smtClean="0">
                            <a:solidFill>
                              <a:schemeClr val="bg1"/>
                            </a:solidFill>
                            <a:latin typeface="Cambria Math" panose="02040503050406030204" pitchFamily="18" charset="0"/>
                          </a:rPr>
                          <m:t>∈</m:t>
                        </m:r>
                        <m:r>
                          <m:rPr>
                            <m:sty m:val="p"/>
                          </m:rPr>
                          <a:rPr lang="en-US" b="0" i="0" smtClean="0">
                            <a:solidFill>
                              <a:schemeClr val="bg1"/>
                            </a:solidFill>
                            <a:latin typeface="Cambria Math" panose="02040503050406030204" pitchFamily="18" charset="0"/>
                          </a:rPr>
                          <m:t>Θ</m:t>
                        </m:r>
                        <m:r>
                          <a:rPr lang="en-US" b="0" i="1" smtClean="0">
                            <a:solidFill>
                              <a:schemeClr val="bg1"/>
                            </a:solidFill>
                            <a:latin typeface="Cambria Math" panose="02040503050406030204" pitchFamily="18" charset="0"/>
                          </a:rPr>
                          <m:t>(</m:t>
                        </m:r>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𝐵</m:t>
                            </m:r>
                          </m:e>
                          <m:sub>
                            <m:r>
                              <a:rPr lang="en-US" b="0" i="1" smtClean="0">
                                <a:solidFill>
                                  <a:schemeClr val="bg1"/>
                                </a:solidFill>
                                <a:latin typeface="Cambria Math" panose="02040503050406030204" pitchFamily="18" charset="0"/>
                              </a:rPr>
                              <m:t>𝑛</m:t>
                            </m:r>
                          </m:sub>
                        </m:sSub>
                        <m:r>
                          <a:rPr lang="en-US" b="0" i="1" smtClean="0">
                            <a:solidFill>
                              <a:schemeClr val="bg1"/>
                            </a:solidFill>
                            <a:latin typeface="Cambria Math" panose="02040503050406030204" pitchFamily="18" charset="0"/>
                          </a:rPr>
                          <m:t>)</m:t>
                        </m:r>
                      </m:oMath>
                    </m:oMathPara>
                  </a14:m>
                  <a:endParaRPr lang="en-US" i="1" dirty="0">
                    <a:solidFill>
                      <a:schemeClr val="bg1"/>
                    </a:solidFill>
                  </a:endParaRPr>
                </a:p>
              </p:txBody>
            </p:sp>
          </mc:Choice>
          <mc:Fallback xmlns="">
            <p:sp>
              <p:nvSpPr>
                <p:cNvPr id="24" name="TextBox 23">
                  <a:extLst>
                    <a:ext uri="{FF2B5EF4-FFF2-40B4-BE49-F238E27FC236}">
                      <a16:creationId xmlns:a16="http://schemas.microsoft.com/office/drawing/2014/main" id="{62B9DB6F-EBE3-9C40-9042-ADE677676AED}"/>
                    </a:ext>
                  </a:extLst>
                </p:cNvPr>
                <p:cNvSpPr txBox="1">
                  <a:spLocks noRot="1" noChangeAspect="1" noMove="1" noResize="1" noEditPoints="1" noAdjustHandles="1" noChangeArrowheads="1" noChangeShapeType="1" noTextEdit="1"/>
                </p:cNvSpPr>
                <p:nvPr/>
              </p:nvSpPr>
              <p:spPr>
                <a:xfrm>
                  <a:off x="7715250" y="3027851"/>
                  <a:ext cx="4104450" cy="369332"/>
                </a:xfrm>
                <a:prstGeom prst="rect">
                  <a:avLst/>
                </a:prstGeom>
                <a:blipFill>
                  <a:blip r:embed="rId4"/>
                  <a:stretch>
                    <a:fillRect b="-9677"/>
                  </a:stretch>
                </a:blipFill>
                <a:ln>
                  <a:solidFill>
                    <a:schemeClr val="bg1"/>
                  </a:solidFill>
                </a:ln>
              </p:spPr>
              <p:txBody>
                <a:bodyPr/>
                <a:lstStyle/>
                <a:p>
                  <a:r>
                    <a:rPr lang="en-US">
                      <a:noFill/>
                    </a:rPr>
                    <a:t> </a:t>
                  </a:r>
                </a:p>
              </p:txBody>
            </p:sp>
          </mc:Fallback>
        </mc:AlternateContent>
      </p:grpSp>
      <p:cxnSp>
        <p:nvCxnSpPr>
          <p:cNvPr id="9" name="Straight Arrow Connector 8">
            <a:extLst>
              <a:ext uri="{FF2B5EF4-FFF2-40B4-BE49-F238E27FC236}">
                <a16:creationId xmlns:a16="http://schemas.microsoft.com/office/drawing/2014/main" id="{56FD3858-9B57-E34B-89D9-63B3E119B7C6}"/>
              </a:ext>
            </a:extLst>
          </p:cNvPr>
          <p:cNvCxnSpPr>
            <a:cxnSpLocks/>
          </p:cNvCxnSpPr>
          <p:nvPr/>
        </p:nvCxnSpPr>
        <p:spPr>
          <a:xfrm flipV="1">
            <a:off x="9808230" y="974785"/>
            <a:ext cx="0" cy="5309928"/>
          </a:xfrm>
          <a:prstGeom prst="straightConnector1">
            <a:avLst/>
          </a:prstGeom>
          <a:ln>
            <a:solidFill>
              <a:schemeClr val="tx1">
                <a:lumMod val="9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5" name="TextBox 24">
            <a:extLst>
              <a:ext uri="{FF2B5EF4-FFF2-40B4-BE49-F238E27FC236}">
                <a16:creationId xmlns:a16="http://schemas.microsoft.com/office/drawing/2014/main" id="{627AB2E6-DD1C-4A4F-9E1C-D44D7D092712}"/>
              </a:ext>
            </a:extLst>
          </p:cNvPr>
          <p:cNvSpPr txBox="1"/>
          <p:nvPr/>
        </p:nvSpPr>
        <p:spPr>
          <a:xfrm>
            <a:off x="10092906" y="1164566"/>
            <a:ext cx="1705292" cy="830997"/>
          </a:xfrm>
          <a:prstGeom prst="rect">
            <a:avLst/>
          </a:prstGeom>
          <a:noFill/>
        </p:spPr>
        <p:txBody>
          <a:bodyPr wrap="square" rtlCol="0">
            <a:spAutoFit/>
          </a:bodyPr>
          <a:lstStyle/>
          <a:p>
            <a:pPr algn="ctr"/>
            <a:r>
              <a:rPr lang="en-US" sz="1600" i="1" dirty="0"/>
              <a:t>Harder Problems (fastest algorithm has slower runtime)</a:t>
            </a:r>
          </a:p>
        </p:txBody>
      </p:sp>
      <p:sp>
        <p:nvSpPr>
          <p:cNvPr id="28" name="TextBox 27">
            <a:extLst>
              <a:ext uri="{FF2B5EF4-FFF2-40B4-BE49-F238E27FC236}">
                <a16:creationId xmlns:a16="http://schemas.microsoft.com/office/drawing/2014/main" id="{A4019142-6004-CB4B-B835-9A40C153C8B9}"/>
              </a:ext>
            </a:extLst>
          </p:cNvPr>
          <p:cNvSpPr txBox="1"/>
          <p:nvPr/>
        </p:nvSpPr>
        <p:spPr>
          <a:xfrm>
            <a:off x="9911750" y="5453716"/>
            <a:ext cx="1886447" cy="830997"/>
          </a:xfrm>
          <a:prstGeom prst="rect">
            <a:avLst/>
          </a:prstGeom>
          <a:noFill/>
        </p:spPr>
        <p:txBody>
          <a:bodyPr wrap="square" rtlCol="0">
            <a:spAutoFit/>
          </a:bodyPr>
          <a:lstStyle/>
          <a:p>
            <a:pPr algn="ctr"/>
            <a:r>
              <a:rPr lang="en-US" sz="1600" i="1" dirty="0"/>
              <a:t>Easy Problems (fastest algorithm has very fast runtime)</a:t>
            </a:r>
          </a:p>
        </p:txBody>
      </p:sp>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2279D28D-D910-8148-8474-7C9DB3E2FA65}"/>
                  </a:ext>
                </a:extLst>
              </p:cNvPr>
              <p:cNvSpPr txBox="1"/>
              <p:nvPr/>
            </p:nvSpPr>
            <p:spPr>
              <a:xfrm>
                <a:off x="7869382" y="3445083"/>
                <a:ext cx="1723320" cy="369332"/>
              </a:xfrm>
              <a:prstGeom prst="rect">
                <a:avLst/>
              </a:prstGeom>
              <a:solidFill>
                <a:schemeClr val="accent1"/>
              </a:solidFill>
              <a:ln>
                <a:solidFill>
                  <a:schemeClr val="bg1"/>
                </a:solidFill>
              </a:ln>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𝐴</m:t>
                          </m:r>
                        </m:e>
                        <m:sub>
                          <m:r>
                            <a:rPr lang="en-US" b="0" i="1" smtClean="0">
                              <a:solidFill>
                                <a:schemeClr val="bg1"/>
                              </a:solidFill>
                              <a:latin typeface="Cambria Math" panose="02040503050406030204" pitchFamily="18" charset="0"/>
                            </a:rPr>
                            <m:t>𝑛</m:t>
                          </m:r>
                        </m:sub>
                      </m:sSub>
                      <m:r>
                        <a:rPr lang="en-US" b="0" i="1" smtClean="0">
                          <a:solidFill>
                            <a:schemeClr val="bg1"/>
                          </a:solidFill>
                          <a:latin typeface="Cambria Math" panose="02040503050406030204" pitchFamily="18" charset="0"/>
                        </a:rPr>
                        <m:t>=</m:t>
                      </m:r>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𝐵</m:t>
                          </m:r>
                        </m:e>
                        <m:sub>
                          <m:r>
                            <a:rPr lang="en-US" b="0" i="1" smtClean="0">
                              <a:solidFill>
                                <a:schemeClr val="bg1"/>
                              </a:solidFill>
                              <a:latin typeface="Cambria Math" panose="02040503050406030204" pitchFamily="18" charset="0"/>
                            </a:rPr>
                            <m:t>𝑛</m:t>
                          </m:r>
                        </m:sub>
                      </m:sSub>
                    </m:oMath>
                  </m:oMathPara>
                </a14:m>
                <a:endParaRPr lang="en-US" i="1" dirty="0">
                  <a:solidFill>
                    <a:schemeClr val="bg1"/>
                  </a:solidFill>
                </a:endParaRPr>
              </a:p>
            </p:txBody>
          </p:sp>
        </mc:Choice>
        <mc:Fallback xmlns="">
          <p:sp>
            <p:nvSpPr>
              <p:cNvPr id="31" name="TextBox 30">
                <a:extLst>
                  <a:ext uri="{FF2B5EF4-FFF2-40B4-BE49-F238E27FC236}">
                    <a16:creationId xmlns:a16="http://schemas.microsoft.com/office/drawing/2014/main" id="{2279D28D-D910-8148-8474-7C9DB3E2FA65}"/>
                  </a:ext>
                </a:extLst>
              </p:cNvPr>
              <p:cNvSpPr txBox="1">
                <a:spLocks noRot="1" noChangeAspect="1" noMove="1" noResize="1" noEditPoints="1" noAdjustHandles="1" noChangeArrowheads="1" noChangeShapeType="1" noTextEdit="1"/>
              </p:cNvSpPr>
              <p:nvPr/>
            </p:nvSpPr>
            <p:spPr>
              <a:xfrm>
                <a:off x="7869382" y="3445083"/>
                <a:ext cx="1723320" cy="369332"/>
              </a:xfrm>
              <a:prstGeom prst="rect">
                <a:avLst/>
              </a:prstGeom>
              <a:blipFill>
                <a:blip r:embed="rId5"/>
                <a:stretch>
                  <a:fillRect/>
                </a:stretch>
              </a:blipFill>
              <a:ln>
                <a:solidFill>
                  <a:schemeClr val="bg1"/>
                </a:solidFill>
              </a:ln>
            </p:spPr>
            <p:txBody>
              <a:bodyPr/>
              <a:lstStyle/>
              <a:p>
                <a:r>
                  <a:rPr lang="en-US">
                    <a:noFill/>
                  </a:rPr>
                  <a:t> </a:t>
                </a:r>
              </a:p>
            </p:txBody>
          </p:sp>
        </mc:Fallback>
      </mc:AlternateContent>
      <p:sp>
        <p:nvSpPr>
          <p:cNvPr id="32" name="TextBox 31">
            <a:extLst>
              <a:ext uri="{FF2B5EF4-FFF2-40B4-BE49-F238E27FC236}">
                <a16:creationId xmlns:a16="http://schemas.microsoft.com/office/drawing/2014/main" id="{1CDC137B-8C53-CD4A-9781-276C1FAF8FC8}"/>
              </a:ext>
            </a:extLst>
          </p:cNvPr>
          <p:cNvSpPr txBox="1"/>
          <p:nvPr/>
        </p:nvSpPr>
        <p:spPr>
          <a:xfrm>
            <a:off x="5056384" y="4915107"/>
            <a:ext cx="3328491" cy="830997"/>
          </a:xfrm>
          <a:prstGeom prst="rect">
            <a:avLst/>
          </a:prstGeom>
          <a:noFill/>
          <a:ln>
            <a:solidFill>
              <a:schemeClr val="tx1">
                <a:lumMod val="95000"/>
              </a:schemeClr>
            </a:solidFill>
          </a:ln>
        </p:spPr>
        <p:txBody>
          <a:bodyPr wrap="square" rtlCol="0">
            <a:spAutoFit/>
          </a:bodyPr>
          <a:lstStyle/>
          <a:p>
            <a:pPr algn="ctr"/>
            <a:r>
              <a:rPr lang="en-US" sz="1600" i="1" dirty="0"/>
              <a:t>…and the direct algorithm for A is obsolete. The reduction through problem B is the direct way to solve A</a:t>
            </a:r>
          </a:p>
        </p:txBody>
      </p:sp>
      <p:cxnSp>
        <p:nvCxnSpPr>
          <p:cNvPr id="35" name="Straight Connector 34">
            <a:extLst>
              <a:ext uri="{FF2B5EF4-FFF2-40B4-BE49-F238E27FC236}">
                <a16:creationId xmlns:a16="http://schemas.microsoft.com/office/drawing/2014/main" id="{C5CE5DF9-96B2-B545-9D34-5EAD16617445}"/>
              </a:ext>
            </a:extLst>
          </p:cNvPr>
          <p:cNvCxnSpPr>
            <a:cxnSpLocks/>
          </p:cNvCxnSpPr>
          <p:nvPr/>
        </p:nvCxnSpPr>
        <p:spPr>
          <a:xfrm flipV="1">
            <a:off x="7225973" y="3959354"/>
            <a:ext cx="1065364" cy="810813"/>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64CD80E3-8066-6247-AE09-6FBDE787DD28}"/>
                  </a:ext>
                </a:extLst>
              </p:cNvPr>
              <p:cNvSpPr txBox="1"/>
              <p:nvPr/>
            </p:nvSpPr>
            <p:spPr>
              <a:xfrm>
                <a:off x="8384874" y="2162499"/>
                <a:ext cx="1207827" cy="369332"/>
              </a:xfrm>
              <a:prstGeom prst="rect">
                <a:avLst/>
              </a:prstGeom>
              <a:solidFill>
                <a:schemeClr val="bg1"/>
              </a:solidFill>
              <a:ln>
                <a:solidFill>
                  <a:schemeClr val="bg1"/>
                </a:solidFill>
              </a:ln>
            </p:spPr>
            <p:txBody>
              <a:bodyPr wrap="square" rtlCol="0">
                <a:spAutoFit/>
              </a:bodyPr>
              <a:lstStyle/>
              <a:p>
                <a:pPr algn="ctr"/>
                <a:r>
                  <a:rPr lang="en-US" b="0" dirty="0">
                    <a:solidFill>
                      <a:schemeClr val="tx1">
                        <a:lumMod val="95000"/>
                      </a:schemeClr>
                    </a:solidFill>
                  </a:rPr>
                  <a:t>OLD </a:t>
                </a:r>
                <a14:m>
                  <m:oMath xmlns:m="http://schemas.openxmlformats.org/officeDocument/2006/math">
                    <m:sSub>
                      <m:sSubPr>
                        <m:ctrlPr>
                          <a:rPr lang="en-US" b="0" i="1" smtClean="0">
                            <a:solidFill>
                              <a:schemeClr val="tx1">
                                <a:lumMod val="95000"/>
                              </a:schemeClr>
                            </a:solidFill>
                            <a:latin typeface="Cambria Math" panose="02040503050406030204" pitchFamily="18" charset="0"/>
                          </a:rPr>
                        </m:ctrlPr>
                      </m:sSubPr>
                      <m:e>
                        <m:r>
                          <a:rPr lang="en-US" b="0" i="1" smtClean="0">
                            <a:solidFill>
                              <a:schemeClr val="tx1">
                                <a:lumMod val="95000"/>
                              </a:schemeClr>
                            </a:solidFill>
                            <a:latin typeface="Cambria Math" panose="02040503050406030204" pitchFamily="18" charset="0"/>
                          </a:rPr>
                          <m:t>𝐴</m:t>
                        </m:r>
                      </m:e>
                      <m:sub>
                        <m:r>
                          <a:rPr lang="en-US" b="0" i="1" smtClean="0">
                            <a:solidFill>
                              <a:schemeClr val="tx1">
                                <a:lumMod val="95000"/>
                              </a:schemeClr>
                            </a:solidFill>
                            <a:latin typeface="Cambria Math" panose="02040503050406030204" pitchFamily="18" charset="0"/>
                          </a:rPr>
                          <m:t>𝑛</m:t>
                        </m:r>
                      </m:sub>
                    </m:sSub>
                  </m:oMath>
                </a14:m>
                <a:endParaRPr lang="en-US" i="1" dirty="0">
                  <a:solidFill>
                    <a:schemeClr val="tx1">
                      <a:lumMod val="95000"/>
                    </a:schemeClr>
                  </a:solidFill>
                </a:endParaRPr>
              </a:p>
            </p:txBody>
          </p:sp>
        </mc:Choice>
        <mc:Fallback xmlns="">
          <p:sp>
            <p:nvSpPr>
              <p:cNvPr id="13" name="TextBox 12">
                <a:extLst>
                  <a:ext uri="{FF2B5EF4-FFF2-40B4-BE49-F238E27FC236}">
                    <a16:creationId xmlns:a16="http://schemas.microsoft.com/office/drawing/2014/main" id="{64CD80E3-8066-6247-AE09-6FBDE787DD28}"/>
                  </a:ext>
                </a:extLst>
              </p:cNvPr>
              <p:cNvSpPr txBox="1">
                <a:spLocks noRot="1" noChangeAspect="1" noMove="1" noResize="1" noEditPoints="1" noAdjustHandles="1" noChangeArrowheads="1" noChangeShapeType="1" noTextEdit="1"/>
              </p:cNvSpPr>
              <p:nvPr/>
            </p:nvSpPr>
            <p:spPr>
              <a:xfrm>
                <a:off x="8384874" y="2162499"/>
                <a:ext cx="1207827" cy="369332"/>
              </a:xfrm>
              <a:prstGeom prst="rect">
                <a:avLst/>
              </a:prstGeom>
              <a:blipFill>
                <a:blip r:embed="rId6"/>
                <a:stretch>
                  <a:fillRect t="-3226" b="-19355"/>
                </a:stretch>
              </a:blipFill>
              <a:ln>
                <a:solidFill>
                  <a:schemeClr val="bg1"/>
                </a:solidFill>
              </a:ln>
            </p:spPr>
            <p:txBody>
              <a:bodyPr/>
              <a:lstStyle/>
              <a:p>
                <a:r>
                  <a:rPr lang="en-US">
                    <a:noFill/>
                  </a:rPr>
                  <a:t> </a:t>
                </a:r>
              </a:p>
            </p:txBody>
          </p:sp>
        </mc:Fallback>
      </mc:AlternateContent>
    </p:spTree>
    <p:extLst>
      <p:ext uri="{BB962C8B-B14F-4D97-AF65-F5344CB8AC3E}">
        <p14:creationId xmlns:p14="http://schemas.microsoft.com/office/powerpoint/2010/main" val="84586540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41413" y="129734"/>
            <a:ext cx="9905998" cy="722453"/>
          </a:xfrm>
        </p:spPr>
        <p:txBody>
          <a:bodyPr/>
          <a:lstStyle/>
          <a:p>
            <a:pPr algn="ctr"/>
            <a:r>
              <a:rPr lang="en-US" dirty="0"/>
              <a:t>Runtime Comparison</a:t>
            </a:r>
            <a:endParaRPr lang="en-US" dirty="0">
              <a:solidFill>
                <a:srgbClr val="FFA7FF"/>
              </a:solidFill>
            </a:endParaRPr>
          </a:p>
        </p:txBody>
      </p:sp>
      <mc:AlternateContent xmlns:mc="http://schemas.openxmlformats.org/markup-compatibility/2006" xmlns:a14="http://schemas.microsoft.com/office/drawing/2010/main">
        <mc:Choice Requires="a14">
          <p:sp>
            <p:nvSpPr>
              <p:cNvPr id="3" name="TextBox 2"/>
              <p:cNvSpPr txBox="1"/>
              <p:nvPr/>
            </p:nvSpPr>
            <p:spPr>
              <a:xfrm>
                <a:off x="923205" y="1995563"/>
                <a:ext cx="4402471" cy="1200329"/>
              </a:xfrm>
              <a:prstGeom prst="rect">
                <a:avLst/>
              </a:prstGeom>
              <a:solidFill>
                <a:schemeClr val="tx1">
                  <a:lumMod val="95000"/>
                </a:schemeClr>
              </a:solidFill>
              <a:ln>
                <a:solidFill>
                  <a:schemeClr val="bg1"/>
                </a:solidFill>
              </a:ln>
            </p:spPr>
            <p:txBody>
              <a:bodyPr wrap="square" rtlCol="0">
                <a:spAutoFit/>
              </a:bodyPr>
              <a:lstStyle/>
              <a:p>
                <a:pPr algn="ctr"/>
                <a:r>
                  <a:rPr lang="en-US" i="1" dirty="0">
                    <a:solidFill>
                      <a:schemeClr val="bg1"/>
                    </a:solidFill>
                  </a:rPr>
                  <a:t>Suppose time goes on, and somebody find a FASTER way to solve B in </a:t>
                </a:r>
                <a14:m>
                  <m:oMath xmlns:m="http://schemas.openxmlformats.org/officeDocument/2006/math">
                    <m:sSubSup>
                      <m:sSubSupPr>
                        <m:ctrlPr>
                          <a:rPr lang="en-US" b="0" i="1" smtClean="0">
                            <a:solidFill>
                              <a:schemeClr val="bg1"/>
                            </a:solidFill>
                            <a:latin typeface="Cambria Math" panose="02040503050406030204" pitchFamily="18" charset="0"/>
                          </a:rPr>
                        </m:ctrlPr>
                      </m:sSubSupPr>
                      <m:e>
                        <m:r>
                          <a:rPr lang="en-US" b="0" i="1" smtClean="0">
                            <a:solidFill>
                              <a:schemeClr val="bg1"/>
                            </a:solidFill>
                            <a:latin typeface="Cambria Math" panose="02040503050406030204" pitchFamily="18" charset="0"/>
                          </a:rPr>
                          <m:t>𝐵</m:t>
                        </m:r>
                      </m:e>
                      <m:sub>
                        <m:r>
                          <a:rPr lang="en-US" b="0" i="1" smtClean="0">
                            <a:solidFill>
                              <a:schemeClr val="bg1"/>
                            </a:solidFill>
                            <a:latin typeface="Cambria Math" panose="02040503050406030204" pitchFamily="18" charset="0"/>
                          </a:rPr>
                          <m:t>𝑛</m:t>
                        </m:r>
                      </m:sub>
                      <m:sup>
                        <m:r>
                          <a:rPr lang="en-US" b="0" i="1" smtClean="0">
                            <a:solidFill>
                              <a:schemeClr val="bg1"/>
                            </a:solidFill>
                            <a:latin typeface="Cambria Math" panose="02040503050406030204" pitchFamily="18" charset="0"/>
                          </a:rPr>
                          <m:t>′</m:t>
                        </m:r>
                      </m:sup>
                    </m:sSubSup>
                  </m:oMath>
                </a14:m>
                <a:r>
                  <a:rPr lang="en-US" i="1" dirty="0">
                    <a:solidFill>
                      <a:schemeClr val="bg1"/>
                    </a:solidFill>
                  </a:rPr>
                  <a:t> time, how will the picture to the right change as a result?</a:t>
                </a:r>
              </a:p>
              <a:p>
                <a:pPr algn="ctr"/>
                <a:endParaRPr lang="en-US" i="1" dirty="0">
                  <a:solidFill>
                    <a:schemeClr val="bg1"/>
                  </a:solidFill>
                </a:endParaRPr>
              </a:p>
            </p:txBody>
          </p:sp>
        </mc:Choice>
        <mc:Fallback xmlns="">
          <p:sp>
            <p:nvSpPr>
              <p:cNvPr id="3" name="TextBox 2"/>
              <p:cNvSpPr txBox="1">
                <a:spLocks noRot="1" noChangeAspect="1" noMove="1" noResize="1" noEditPoints="1" noAdjustHandles="1" noChangeArrowheads="1" noChangeShapeType="1" noTextEdit="1"/>
              </p:cNvSpPr>
              <p:nvPr/>
            </p:nvSpPr>
            <p:spPr>
              <a:xfrm>
                <a:off x="923205" y="1995563"/>
                <a:ext cx="4402471" cy="1200329"/>
              </a:xfrm>
              <a:prstGeom prst="rect">
                <a:avLst/>
              </a:prstGeom>
              <a:blipFill>
                <a:blip r:embed="rId2"/>
                <a:stretch>
                  <a:fillRect t="-1031" r="-575"/>
                </a:stretch>
              </a:blipFill>
              <a:ln>
                <a:solidFill>
                  <a:schemeClr val="bg1"/>
                </a:solidFill>
              </a:ln>
            </p:spPr>
            <p:txBody>
              <a:bodyPr/>
              <a:lstStyle/>
              <a:p>
                <a:r>
                  <a:rPr lang="en-US">
                    <a:noFill/>
                  </a:rPr>
                  <a:t> </a:t>
                </a:r>
              </a:p>
            </p:txBody>
          </p:sp>
        </mc:Fallback>
      </mc:AlternateContent>
      <p:cxnSp>
        <p:nvCxnSpPr>
          <p:cNvPr id="9" name="Straight Arrow Connector 8">
            <a:extLst>
              <a:ext uri="{FF2B5EF4-FFF2-40B4-BE49-F238E27FC236}">
                <a16:creationId xmlns:a16="http://schemas.microsoft.com/office/drawing/2014/main" id="{56FD3858-9B57-E34B-89D9-63B3E119B7C6}"/>
              </a:ext>
            </a:extLst>
          </p:cNvPr>
          <p:cNvCxnSpPr>
            <a:cxnSpLocks/>
          </p:cNvCxnSpPr>
          <p:nvPr/>
        </p:nvCxnSpPr>
        <p:spPr>
          <a:xfrm flipV="1">
            <a:off x="9808230" y="974785"/>
            <a:ext cx="0" cy="5309928"/>
          </a:xfrm>
          <a:prstGeom prst="straightConnector1">
            <a:avLst/>
          </a:prstGeom>
          <a:ln>
            <a:solidFill>
              <a:schemeClr val="tx1">
                <a:lumMod val="9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5" name="TextBox 24">
            <a:extLst>
              <a:ext uri="{FF2B5EF4-FFF2-40B4-BE49-F238E27FC236}">
                <a16:creationId xmlns:a16="http://schemas.microsoft.com/office/drawing/2014/main" id="{627AB2E6-DD1C-4A4F-9E1C-D44D7D092712}"/>
              </a:ext>
            </a:extLst>
          </p:cNvPr>
          <p:cNvSpPr txBox="1"/>
          <p:nvPr/>
        </p:nvSpPr>
        <p:spPr>
          <a:xfrm>
            <a:off x="10092906" y="1164566"/>
            <a:ext cx="1705292" cy="830997"/>
          </a:xfrm>
          <a:prstGeom prst="rect">
            <a:avLst/>
          </a:prstGeom>
          <a:noFill/>
        </p:spPr>
        <p:txBody>
          <a:bodyPr wrap="square" rtlCol="0">
            <a:spAutoFit/>
          </a:bodyPr>
          <a:lstStyle/>
          <a:p>
            <a:pPr algn="ctr"/>
            <a:r>
              <a:rPr lang="en-US" sz="1600" i="1" dirty="0"/>
              <a:t>Harder Problems (fastest algorithm has slower runtime)</a:t>
            </a:r>
          </a:p>
        </p:txBody>
      </p:sp>
      <p:sp>
        <p:nvSpPr>
          <p:cNvPr id="28" name="TextBox 27">
            <a:extLst>
              <a:ext uri="{FF2B5EF4-FFF2-40B4-BE49-F238E27FC236}">
                <a16:creationId xmlns:a16="http://schemas.microsoft.com/office/drawing/2014/main" id="{A4019142-6004-CB4B-B835-9A40C153C8B9}"/>
              </a:ext>
            </a:extLst>
          </p:cNvPr>
          <p:cNvSpPr txBox="1"/>
          <p:nvPr/>
        </p:nvSpPr>
        <p:spPr>
          <a:xfrm>
            <a:off x="9911750" y="5453716"/>
            <a:ext cx="1886447" cy="830997"/>
          </a:xfrm>
          <a:prstGeom prst="rect">
            <a:avLst/>
          </a:prstGeom>
          <a:noFill/>
        </p:spPr>
        <p:txBody>
          <a:bodyPr wrap="square" rtlCol="0">
            <a:spAutoFit/>
          </a:bodyPr>
          <a:lstStyle/>
          <a:p>
            <a:pPr algn="ctr"/>
            <a:r>
              <a:rPr lang="en-US" sz="1600" i="1" dirty="0"/>
              <a:t>Easy Problems (fastest algorithm has very fast runtime)</a:t>
            </a:r>
          </a:p>
        </p:txBody>
      </p:sp>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DB4DC281-42B8-ED44-8429-EDBF87D7E40B}"/>
                  </a:ext>
                </a:extLst>
              </p:cNvPr>
              <p:cNvSpPr txBox="1"/>
              <p:nvPr/>
            </p:nvSpPr>
            <p:spPr>
              <a:xfrm>
                <a:off x="6961518" y="4209958"/>
                <a:ext cx="2631184" cy="369332"/>
              </a:xfrm>
              <a:prstGeom prst="rect">
                <a:avLst/>
              </a:prstGeom>
              <a:solidFill>
                <a:schemeClr val="accent1"/>
              </a:solidFill>
              <a:ln>
                <a:solidFill>
                  <a:schemeClr val="bg1"/>
                </a:solidFill>
              </a:ln>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𝐴</m:t>
                          </m:r>
                          <m:r>
                            <a:rPr lang="en-US" b="0" i="1" smtClean="0">
                              <a:solidFill>
                                <a:schemeClr val="bg1"/>
                              </a:solidFill>
                              <a:latin typeface="Cambria Math" panose="02040503050406030204" pitchFamily="18" charset="0"/>
                            </a:rPr>
                            <m:t>′</m:t>
                          </m:r>
                        </m:e>
                        <m:sub>
                          <m:r>
                            <a:rPr lang="en-US" b="0" i="1" smtClean="0">
                              <a:solidFill>
                                <a:schemeClr val="bg1"/>
                              </a:solidFill>
                              <a:latin typeface="Cambria Math" panose="02040503050406030204" pitchFamily="18" charset="0"/>
                            </a:rPr>
                            <m:t>𝑛</m:t>
                          </m:r>
                        </m:sub>
                      </m:sSub>
                      <m:r>
                        <a:rPr lang="en-US" b="0" i="1" smtClean="0">
                          <a:solidFill>
                            <a:schemeClr val="bg1"/>
                          </a:solidFill>
                          <a:latin typeface="Cambria Math" panose="02040503050406030204" pitchFamily="18" charset="0"/>
                        </a:rPr>
                        <m:t>=</m:t>
                      </m:r>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𝑅</m:t>
                          </m:r>
                        </m:e>
                        <m:sub>
                          <m:r>
                            <a:rPr lang="en-US" b="0" i="1" smtClean="0">
                              <a:solidFill>
                                <a:schemeClr val="bg1"/>
                              </a:solidFill>
                              <a:latin typeface="Cambria Math" panose="02040503050406030204" pitchFamily="18" charset="0"/>
                            </a:rPr>
                            <m:t>𝐴𝐵</m:t>
                          </m:r>
                        </m:sub>
                      </m:sSub>
                      <m:r>
                        <a:rPr lang="en-US" b="0" i="1" smtClean="0">
                          <a:solidFill>
                            <a:schemeClr val="bg1"/>
                          </a:solidFill>
                          <a:latin typeface="Cambria Math" panose="02040503050406030204" pitchFamily="18" charset="0"/>
                        </a:rPr>
                        <m:t>+</m:t>
                      </m:r>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𝐵</m:t>
                          </m:r>
                          <m:r>
                            <a:rPr lang="en-US" b="0" i="1" smtClean="0">
                              <a:solidFill>
                                <a:schemeClr val="bg1"/>
                              </a:solidFill>
                              <a:latin typeface="Cambria Math" panose="02040503050406030204" pitchFamily="18" charset="0"/>
                            </a:rPr>
                            <m:t>′</m:t>
                          </m:r>
                        </m:e>
                        <m:sub>
                          <m:r>
                            <a:rPr lang="en-US" b="0" i="1" smtClean="0">
                              <a:solidFill>
                                <a:schemeClr val="bg1"/>
                              </a:solidFill>
                              <a:latin typeface="Cambria Math" panose="02040503050406030204" pitchFamily="18" charset="0"/>
                            </a:rPr>
                            <m:t>𝑛</m:t>
                          </m:r>
                        </m:sub>
                      </m:sSub>
                      <m:r>
                        <a:rPr lang="en-US" b="0" i="1" smtClean="0">
                          <a:solidFill>
                            <a:schemeClr val="bg1"/>
                          </a:solidFill>
                          <a:latin typeface="Cambria Math" panose="02040503050406030204" pitchFamily="18" charset="0"/>
                        </a:rPr>
                        <m:t>+</m:t>
                      </m:r>
                      <m:r>
                        <a:rPr lang="en-US" b="0" i="1" smtClean="0">
                          <a:solidFill>
                            <a:schemeClr val="bg1"/>
                          </a:solidFill>
                          <a:latin typeface="Cambria Math" panose="02040503050406030204" pitchFamily="18" charset="0"/>
                        </a:rPr>
                        <m:t>𝑅</m:t>
                      </m:r>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𝑆</m:t>
                          </m:r>
                        </m:e>
                        <m:sub>
                          <m:r>
                            <a:rPr lang="en-US" b="0" i="1" smtClean="0">
                              <a:solidFill>
                                <a:schemeClr val="bg1"/>
                              </a:solidFill>
                              <a:latin typeface="Cambria Math" panose="02040503050406030204" pitchFamily="18" charset="0"/>
                            </a:rPr>
                            <m:t>𝐵𝐴</m:t>
                          </m:r>
                        </m:sub>
                      </m:sSub>
                    </m:oMath>
                  </m:oMathPara>
                </a14:m>
                <a:endParaRPr lang="en-US" i="1" dirty="0">
                  <a:solidFill>
                    <a:schemeClr val="bg1"/>
                  </a:solidFill>
                </a:endParaRPr>
              </a:p>
            </p:txBody>
          </p:sp>
        </mc:Choice>
        <mc:Fallback xmlns="">
          <p:sp>
            <p:nvSpPr>
              <p:cNvPr id="13" name="TextBox 12">
                <a:extLst>
                  <a:ext uri="{FF2B5EF4-FFF2-40B4-BE49-F238E27FC236}">
                    <a16:creationId xmlns:a16="http://schemas.microsoft.com/office/drawing/2014/main" id="{DB4DC281-42B8-ED44-8429-EDBF87D7E40B}"/>
                  </a:ext>
                </a:extLst>
              </p:cNvPr>
              <p:cNvSpPr txBox="1">
                <a:spLocks noRot="1" noChangeAspect="1" noMove="1" noResize="1" noEditPoints="1" noAdjustHandles="1" noChangeArrowheads="1" noChangeShapeType="1" noTextEdit="1"/>
              </p:cNvSpPr>
              <p:nvPr/>
            </p:nvSpPr>
            <p:spPr>
              <a:xfrm>
                <a:off x="6961518" y="4209958"/>
                <a:ext cx="2631184" cy="369332"/>
              </a:xfrm>
              <a:prstGeom prst="rect">
                <a:avLst/>
              </a:prstGeom>
              <a:blipFill>
                <a:blip r:embed="rId4"/>
                <a:stretch>
                  <a:fillRect/>
                </a:stretch>
              </a:blipFill>
              <a:ln>
                <a:solidFill>
                  <a:schemeClr val="bg1"/>
                </a:solidFill>
              </a:ln>
            </p:spPr>
            <p:txBody>
              <a:bodyPr/>
              <a:lstStyle/>
              <a:p>
                <a:r>
                  <a:rPr lang="en-US">
                    <a:noFill/>
                  </a:rPr>
                  <a:t> </a:t>
                </a:r>
              </a:p>
            </p:txBody>
          </p:sp>
        </mc:Fallback>
      </mc:AlternateContent>
      <p:sp>
        <p:nvSpPr>
          <p:cNvPr id="14" name="TextBox 13">
            <a:extLst>
              <a:ext uri="{FF2B5EF4-FFF2-40B4-BE49-F238E27FC236}">
                <a16:creationId xmlns:a16="http://schemas.microsoft.com/office/drawing/2014/main" id="{40689272-547E-7C44-B1EF-42AF107FAC1D}"/>
              </a:ext>
            </a:extLst>
          </p:cNvPr>
          <p:cNvSpPr txBox="1"/>
          <p:nvPr/>
        </p:nvSpPr>
        <p:spPr>
          <a:xfrm>
            <a:off x="1592903" y="4056826"/>
            <a:ext cx="3328491" cy="830997"/>
          </a:xfrm>
          <a:prstGeom prst="rect">
            <a:avLst/>
          </a:prstGeom>
          <a:noFill/>
          <a:ln>
            <a:solidFill>
              <a:schemeClr val="tx1">
                <a:lumMod val="95000"/>
              </a:schemeClr>
            </a:solidFill>
          </a:ln>
        </p:spPr>
        <p:txBody>
          <a:bodyPr wrap="square" rtlCol="0">
            <a:spAutoFit/>
          </a:bodyPr>
          <a:lstStyle/>
          <a:p>
            <a:pPr algn="ctr"/>
            <a:r>
              <a:rPr lang="en-US" sz="1600" i="1" dirty="0"/>
              <a:t>A now has a faster algorithm also! So improving B’s algorithm improves A’s. They are linked in this direction!</a:t>
            </a:r>
          </a:p>
        </p:txBody>
      </p:sp>
      <p:cxnSp>
        <p:nvCxnSpPr>
          <p:cNvPr id="15" name="Straight Connector 14">
            <a:extLst>
              <a:ext uri="{FF2B5EF4-FFF2-40B4-BE49-F238E27FC236}">
                <a16:creationId xmlns:a16="http://schemas.microsoft.com/office/drawing/2014/main" id="{A83F8576-8521-F24F-AA94-69566C173B19}"/>
              </a:ext>
            </a:extLst>
          </p:cNvPr>
          <p:cNvCxnSpPr>
            <a:cxnSpLocks/>
          </p:cNvCxnSpPr>
          <p:nvPr/>
        </p:nvCxnSpPr>
        <p:spPr>
          <a:xfrm>
            <a:off x="5136922" y="4394624"/>
            <a:ext cx="1742645" cy="77702"/>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D92C6B91-C9A2-6E41-BB64-7F8B5BD78B74}"/>
                  </a:ext>
                </a:extLst>
              </p:cNvPr>
              <p:cNvSpPr txBox="1"/>
              <p:nvPr/>
            </p:nvSpPr>
            <p:spPr>
              <a:xfrm>
                <a:off x="7869382" y="3445083"/>
                <a:ext cx="1723320" cy="369332"/>
              </a:xfrm>
              <a:prstGeom prst="rect">
                <a:avLst/>
              </a:prstGeom>
              <a:solidFill>
                <a:schemeClr val="accent1"/>
              </a:solidFill>
              <a:ln>
                <a:solidFill>
                  <a:schemeClr val="bg1"/>
                </a:solidFill>
              </a:ln>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𝐴</m:t>
                          </m:r>
                        </m:e>
                        <m:sub>
                          <m:r>
                            <a:rPr lang="en-US" b="0" i="1" smtClean="0">
                              <a:solidFill>
                                <a:schemeClr val="bg1"/>
                              </a:solidFill>
                              <a:latin typeface="Cambria Math" panose="02040503050406030204" pitchFamily="18" charset="0"/>
                            </a:rPr>
                            <m:t>𝑛</m:t>
                          </m:r>
                        </m:sub>
                      </m:sSub>
                      <m:r>
                        <a:rPr lang="en-US" b="0" i="1" smtClean="0">
                          <a:solidFill>
                            <a:schemeClr val="bg1"/>
                          </a:solidFill>
                          <a:latin typeface="Cambria Math" panose="02040503050406030204" pitchFamily="18" charset="0"/>
                        </a:rPr>
                        <m:t>=</m:t>
                      </m:r>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𝐵</m:t>
                          </m:r>
                        </m:e>
                        <m:sub>
                          <m:r>
                            <a:rPr lang="en-US" b="0" i="1" smtClean="0">
                              <a:solidFill>
                                <a:schemeClr val="bg1"/>
                              </a:solidFill>
                              <a:latin typeface="Cambria Math" panose="02040503050406030204" pitchFamily="18" charset="0"/>
                            </a:rPr>
                            <m:t>𝑛</m:t>
                          </m:r>
                        </m:sub>
                      </m:sSub>
                    </m:oMath>
                  </m:oMathPara>
                </a14:m>
                <a:endParaRPr lang="en-US" i="1" dirty="0">
                  <a:solidFill>
                    <a:schemeClr val="bg1"/>
                  </a:solidFill>
                </a:endParaRPr>
              </a:p>
            </p:txBody>
          </p:sp>
        </mc:Choice>
        <mc:Fallback xmlns="">
          <p:sp>
            <p:nvSpPr>
              <p:cNvPr id="11" name="TextBox 10">
                <a:extLst>
                  <a:ext uri="{FF2B5EF4-FFF2-40B4-BE49-F238E27FC236}">
                    <a16:creationId xmlns:a16="http://schemas.microsoft.com/office/drawing/2014/main" id="{D92C6B91-C9A2-6E41-BB64-7F8B5BD78B74}"/>
                  </a:ext>
                </a:extLst>
              </p:cNvPr>
              <p:cNvSpPr txBox="1">
                <a:spLocks noRot="1" noChangeAspect="1" noMove="1" noResize="1" noEditPoints="1" noAdjustHandles="1" noChangeArrowheads="1" noChangeShapeType="1" noTextEdit="1"/>
              </p:cNvSpPr>
              <p:nvPr/>
            </p:nvSpPr>
            <p:spPr>
              <a:xfrm>
                <a:off x="7869382" y="3445083"/>
                <a:ext cx="1723320" cy="369332"/>
              </a:xfrm>
              <a:prstGeom prst="rect">
                <a:avLst/>
              </a:prstGeom>
              <a:blipFill>
                <a:blip r:embed="rId5"/>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89F62951-4E1C-FB48-8A00-C65339E9E3EA}"/>
                  </a:ext>
                </a:extLst>
              </p:cNvPr>
              <p:cNvSpPr txBox="1"/>
              <p:nvPr/>
            </p:nvSpPr>
            <p:spPr>
              <a:xfrm>
                <a:off x="5770191" y="5576314"/>
                <a:ext cx="3328491" cy="830997"/>
              </a:xfrm>
              <a:prstGeom prst="rect">
                <a:avLst/>
              </a:prstGeom>
              <a:noFill/>
              <a:ln>
                <a:solidFill>
                  <a:schemeClr val="tx1">
                    <a:lumMod val="95000"/>
                  </a:schemeClr>
                </a:solidFill>
              </a:ln>
            </p:spPr>
            <p:txBody>
              <a:bodyPr wrap="square" rtlCol="0">
                <a:spAutoFit/>
              </a:bodyPr>
              <a:lstStyle/>
              <a:p>
                <a:pPr algn="ctr"/>
                <a:r>
                  <a:rPr lang="en-US" sz="1600" i="1" dirty="0"/>
                  <a:t>This is ONLY true if the reduction stays </a:t>
                </a:r>
                <a:r>
                  <a:rPr lang="en-US" sz="1600" b="1" i="1" u="sng" dirty="0"/>
                  <a:t>valid</a:t>
                </a:r>
                <a:r>
                  <a:rPr lang="en-US" sz="1600" i="1" dirty="0"/>
                  <a:t>, meaning the conversion is still fast: </a:t>
                </a:r>
                <a14:m>
                  <m:oMath xmlns:m="http://schemas.openxmlformats.org/officeDocument/2006/math">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𝑅</m:t>
                        </m:r>
                      </m:e>
                      <m:sub>
                        <m:r>
                          <a:rPr lang="en-US" sz="1600" b="0" i="1" smtClean="0">
                            <a:latin typeface="Cambria Math" panose="02040503050406030204" pitchFamily="18" charset="0"/>
                          </a:rPr>
                          <m:t>𝐴𝐵</m:t>
                        </m:r>
                      </m:sub>
                    </m:sSub>
                    <m:r>
                      <a:rPr lang="en-US" sz="1600" b="0" i="1" smtClean="0">
                        <a:latin typeface="Cambria Math" panose="02040503050406030204" pitchFamily="18" charset="0"/>
                      </a:rPr>
                      <m:t>+</m:t>
                    </m:r>
                    <m:r>
                      <a:rPr lang="en-US" sz="1600" b="0" i="1" smtClean="0">
                        <a:latin typeface="Cambria Math" panose="02040503050406030204" pitchFamily="18" charset="0"/>
                      </a:rPr>
                      <m:t>𝑅</m:t>
                    </m:r>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𝑆</m:t>
                        </m:r>
                      </m:e>
                      <m:sub>
                        <m:r>
                          <a:rPr lang="en-US" sz="1600" b="0" i="1" smtClean="0">
                            <a:latin typeface="Cambria Math" panose="02040503050406030204" pitchFamily="18" charset="0"/>
                          </a:rPr>
                          <m:t>𝐵𝐴</m:t>
                        </m:r>
                      </m:sub>
                    </m:sSub>
                    <m:r>
                      <a:rPr lang="en-US" sz="1600" b="0" i="1" smtClean="0">
                        <a:latin typeface="Cambria Math" panose="02040503050406030204" pitchFamily="18" charset="0"/>
                      </a:rPr>
                      <m:t>∈</m:t>
                    </m:r>
                    <m:r>
                      <a:rPr lang="en-US" sz="1600" b="0" i="1" smtClean="0">
                        <a:latin typeface="Cambria Math" panose="02040503050406030204" pitchFamily="18" charset="0"/>
                      </a:rPr>
                      <m:t>𝑂</m:t>
                    </m:r>
                    <m:r>
                      <a:rPr lang="en-US" sz="1600" b="0" i="1" smtClean="0">
                        <a:latin typeface="Cambria Math" panose="02040503050406030204" pitchFamily="18" charset="0"/>
                      </a:rPr>
                      <m:t>(</m:t>
                    </m:r>
                    <m:sSubSup>
                      <m:sSubSupPr>
                        <m:ctrlPr>
                          <a:rPr lang="en-US" sz="1600" b="0" i="1" smtClean="0">
                            <a:latin typeface="Cambria Math" panose="02040503050406030204" pitchFamily="18" charset="0"/>
                          </a:rPr>
                        </m:ctrlPr>
                      </m:sSubSupPr>
                      <m:e>
                        <m:r>
                          <a:rPr lang="en-US" sz="1600" b="0" i="1" smtClean="0">
                            <a:latin typeface="Cambria Math" panose="02040503050406030204" pitchFamily="18" charset="0"/>
                          </a:rPr>
                          <m:t>𝐵</m:t>
                        </m:r>
                      </m:e>
                      <m:sub>
                        <m:r>
                          <a:rPr lang="en-US" sz="1600" b="0" i="1" smtClean="0">
                            <a:latin typeface="Cambria Math" panose="02040503050406030204" pitchFamily="18" charset="0"/>
                          </a:rPr>
                          <m:t>𝑛</m:t>
                        </m:r>
                      </m:sub>
                      <m:sup>
                        <m:r>
                          <a:rPr lang="en-US" sz="1600" b="0" i="1" smtClean="0">
                            <a:latin typeface="Cambria Math" panose="02040503050406030204" pitchFamily="18" charset="0"/>
                          </a:rPr>
                          <m:t>′</m:t>
                        </m:r>
                      </m:sup>
                    </m:sSubSup>
                    <m:r>
                      <a:rPr lang="en-US" sz="1600" b="0" i="1" smtClean="0">
                        <a:latin typeface="Cambria Math" panose="02040503050406030204" pitchFamily="18" charset="0"/>
                      </a:rPr>
                      <m:t>)</m:t>
                    </m:r>
                  </m:oMath>
                </a14:m>
                <a:endParaRPr lang="en-US" sz="1600" i="1" dirty="0"/>
              </a:p>
            </p:txBody>
          </p:sp>
        </mc:Choice>
        <mc:Fallback xmlns="">
          <p:sp>
            <p:nvSpPr>
              <p:cNvPr id="12" name="TextBox 11">
                <a:extLst>
                  <a:ext uri="{FF2B5EF4-FFF2-40B4-BE49-F238E27FC236}">
                    <a16:creationId xmlns:a16="http://schemas.microsoft.com/office/drawing/2014/main" id="{89F62951-4E1C-FB48-8A00-C65339E9E3EA}"/>
                  </a:ext>
                </a:extLst>
              </p:cNvPr>
              <p:cNvSpPr txBox="1">
                <a:spLocks noRot="1" noChangeAspect="1" noMove="1" noResize="1" noEditPoints="1" noAdjustHandles="1" noChangeArrowheads="1" noChangeShapeType="1" noTextEdit="1"/>
              </p:cNvSpPr>
              <p:nvPr/>
            </p:nvSpPr>
            <p:spPr>
              <a:xfrm>
                <a:off x="5770191" y="5576314"/>
                <a:ext cx="3328491" cy="830997"/>
              </a:xfrm>
              <a:prstGeom prst="rect">
                <a:avLst/>
              </a:prstGeom>
              <a:blipFill>
                <a:blip r:embed="rId6"/>
                <a:stretch>
                  <a:fillRect t="-1471" r="-379" b="-5882"/>
                </a:stretch>
              </a:blipFill>
              <a:ln>
                <a:solidFill>
                  <a:schemeClr val="tx1">
                    <a:lumMod val="95000"/>
                  </a:schemeClr>
                </a:solidFill>
              </a:ln>
            </p:spPr>
            <p:txBody>
              <a:bodyPr/>
              <a:lstStyle/>
              <a:p>
                <a:r>
                  <a:rPr lang="en-US">
                    <a:noFill/>
                  </a:rPr>
                  <a:t> </a:t>
                </a:r>
              </a:p>
            </p:txBody>
          </p:sp>
        </mc:Fallback>
      </mc:AlternateContent>
      <p:cxnSp>
        <p:nvCxnSpPr>
          <p:cNvPr id="16" name="Straight Connector 15">
            <a:extLst>
              <a:ext uri="{FF2B5EF4-FFF2-40B4-BE49-F238E27FC236}">
                <a16:creationId xmlns:a16="http://schemas.microsoft.com/office/drawing/2014/main" id="{37CF8908-42E2-104C-A41B-76E76593A7DD}"/>
              </a:ext>
            </a:extLst>
          </p:cNvPr>
          <p:cNvCxnSpPr>
            <a:cxnSpLocks/>
          </p:cNvCxnSpPr>
          <p:nvPr/>
        </p:nvCxnSpPr>
        <p:spPr>
          <a:xfrm flipV="1">
            <a:off x="7434436" y="4719782"/>
            <a:ext cx="758219" cy="733934"/>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637552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41413" y="129734"/>
            <a:ext cx="9905998" cy="722453"/>
          </a:xfrm>
        </p:spPr>
        <p:txBody>
          <a:bodyPr/>
          <a:lstStyle/>
          <a:p>
            <a:pPr algn="ctr"/>
            <a:r>
              <a:rPr lang="en-US" dirty="0"/>
              <a:t>Runtime Comparison</a:t>
            </a:r>
            <a:endParaRPr lang="en-US" dirty="0">
              <a:solidFill>
                <a:srgbClr val="FFA7FF"/>
              </a:solidFill>
            </a:endParaRPr>
          </a:p>
        </p:txBody>
      </p:sp>
      <p:sp>
        <p:nvSpPr>
          <p:cNvPr id="3" name="TextBox 2"/>
          <p:cNvSpPr txBox="1"/>
          <p:nvPr/>
        </p:nvSpPr>
        <p:spPr>
          <a:xfrm>
            <a:off x="923205" y="1995563"/>
            <a:ext cx="4402471" cy="923330"/>
          </a:xfrm>
          <a:prstGeom prst="rect">
            <a:avLst/>
          </a:prstGeom>
          <a:solidFill>
            <a:schemeClr val="tx1">
              <a:lumMod val="95000"/>
            </a:schemeClr>
          </a:solidFill>
          <a:ln>
            <a:solidFill>
              <a:schemeClr val="bg1"/>
            </a:solidFill>
          </a:ln>
        </p:spPr>
        <p:txBody>
          <a:bodyPr wrap="square" rtlCol="0">
            <a:spAutoFit/>
          </a:bodyPr>
          <a:lstStyle/>
          <a:p>
            <a:pPr algn="ctr"/>
            <a:r>
              <a:rPr lang="en-US" i="1" dirty="0">
                <a:solidFill>
                  <a:schemeClr val="bg1"/>
                </a:solidFill>
              </a:rPr>
              <a:t>Now suppose time goes on and someone finds a VERY fast algorithm for A. What could happen?</a:t>
            </a:r>
          </a:p>
        </p:txBody>
      </p:sp>
      <p:cxnSp>
        <p:nvCxnSpPr>
          <p:cNvPr id="9" name="Straight Arrow Connector 8">
            <a:extLst>
              <a:ext uri="{FF2B5EF4-FFF2-40B4-BE49-F238E27FC236}">
                <a16:creationId xmlns:a16="http://schemas.microsoft.com/office/drawing/2014/main" id="{56FD3858-9B57-E34B-89D9-63B3E119B7C6}"/>
              </a:ext>
            </a:extLst>
          </p:cNvPr>
          <p:cNvCxnSpPr>
            <a:cxnSpLocks/>
          </p:cNvCxnSpPr>
          <p:nvPr/>
        </p:nvCxnSpPr>
        <p:spPr>
          <a:xfrm flipV="1">
            <a:off x="9808230" y="974785"/>
            <a:ext cx="0" cy="5309928"/>
          </a:xfrm>
          <a:prstGeom prst="straightConnector1">
            <a:avLst/>
          </a:prstGeom>
          <a:ln>
            <a:solidFill>
              <a:schemeClr val="tx1">
                <a:lumMod val="9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5" name="TextBox 24">
            <a:extLst>
              <a:ext uri="{FF2B5EF4-FFF2-40B4-BE49-F238E27FC236}">
                <a16:creationId xmlns:a16="http://schemas.microsoft.com/office/drawing/2014/main" id="{627AB2E6-DD1C-4A4F-9E1C-D44D7D092712}"/>
              </a:ext>
            </a:extLst>
          </p:cNvPr>
          <p:cNvSpPr txBox="1"/>
          <p:nvPr/>
        </p:nvSpPr>
        <p:spPr>
          <a:xfrm>
            <a:off x="10092906" y="1164566"/>
            <a:ext cx="1705292" cy="830997"/>
          </a:xfrm>
          <a:prstGeom prst="rect">
            <a:avLst/>
          </a:prstGeom>
          <a:noFill/>
        </p:spPr>
        <p:txBody>
          <a:bodyPr wrap="square" rtlCol="0">
            <a:spAutoFit/>
          </a:bodyPr>
          <a:lstStyle/>
          <a:p>
            <a:pPr algn="ctr"/>
            <a:r>
              <a:rPr lang="en-US" sz="1600" i="1" dirty="0"/>
              <a:t>Harder Problems (fastest algorithm has slower runtime)</a:t>
            </a:r>
          </a:p>
        </p:txBody>
      </p:sp>
      <p:sp>
        <p:nvSpPr>
          <p:cNvPr id="28" name="TextBox 27">
            <a:extLst>
              <a:ext uri="{FF2B5EF4-FFF2-40B4-BE49-F238E27FC236}">
                <a16:creationId xmlns:a16="http://schemas.microsoft.com/office/drawing/2014/main" id="{A4019142-6004-CB4B-B835-9A40C153C8B9}"/>
              </a:ext>
            </a:extLst>
          </p:cNvPr>
          <p:cNvSpPr txBox="1"/>
          <p:nvPr/>
        </p:nvSpPr>
        <p:spPr>
          <a:xfrm>
            <a:off x="9911750" y="5453716"/>
            <a:ext cx="1886447" cy="830997"/>
          </a:xfrm>
          <a:prstGeom prst="rect">
            <a:avLst/>
          </a:prstGeom>
          <a:noFill/>
        </p:spPr>
        <p:txBody>
          <a:bodyPr wrap="square" rtlCol="0">
            <a:spAutoFit/>
          </a:bodyPr>
          <a:lstStyle/>
          <a:p>
            <a:pPr algn="ctr"/>
            <a:r>
              <a:rPr lang="en-US" sz="1600" i="1" dirty="0"/>
              <a:t>Easy Problems (fastest algorithm has very fast runtime)</a:t>
            </a:r>
          </a:p>
        </p:txBody>
      </p:sp>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2279D28D-D910-8148-8474-7C9DB3E2FA65}"/>
                  </a:ext>
                </a:extLst>
              </p:cNvPr>
              <p:cNvSpPr txBox="1"/>
              <p:nvPr/>
            </p:nvSpPr>
            <p:spPr>
              <a:xfrm>
                <a:off x="8609162" y="4213823"/>
                <a:ext cx="983540" cy="369332"/>
              </a:xfrm>
              <a:prstGeom prst="rect">
                <a:avLst/>
              </a:prstGeom>
              <a:solidFill>
                <a:schemeClr val="accent3"/>
              </a:solidFill>
              <a:ln>
                <a:solidFill>
                  <a:schemeClr val="bg1"/>
                </a:solidFill>
              </a:ln>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tx1">
                                  <a:lumMod val="95000"/>
                                </a:schemeClr>
                              </a:solidFill>
                              <a:latin typeface="Cambria Math" panose="02040503050406030204" pitchFamily="18" charset="0"/>
                            </a:rPr>
                          </m:ctrlPr>
                        </m:sSubPr>
                        <m:e>
                          <m:r>
                            <a:rPr lang="en-US" b="0" i="1" smtClean="0">
                              <a:solidFill>
                                <a:schemeClr val="tx1">
                                  <a:lumMod val="95000"/>
                                </a:schemeClr>
                              </a:solidFill>
                              <a:latin typeface="Cambria Math" panose="02040503050406030204" pitchFamily="18" charset="0"/>
                            </a:rPr>
                            <m:t>𝐵</m:t>
                          </m:r>
                          <m:r>
                            <a:rPr lang="en-US" b="0" i="1" smtClean="0">
                              <a:solidFill>
                                <a:schemeClr val="tx1">
                                  <a:lumMod val="95000"/>
                                </a:schemeClr>
                              </a:solidFill>
                              <a:latin typeface="Cambria Math" panose="02040503050406030204" pitchFamily="18" charset="0"/>
                            </a:rPr>
                            <m:t>′</m:t>
                          </m:r>
                        </m:e>
                        <m:sub>
                          <m:r>
                            <a:rPr lang="en-US" b="0" i="1" smtClean="0">
                              <a:solidFill>
                                <a:schemeClr val="tx1">
                                  <a:lumMod val="95000"/>
                                </a:schemeClr>
                              </a:solidFill>
                              <a:latin typeface="Cambria Math" panose="02040503050406030204" pitchFamily="18" charset="0"/>
                            </a:rPr>
                            <m:t>𝑛</m:t>
                          </m:r>
                        </m:sub>
                      </m:sSub>
                    </m:oMath>
                  </m:oMathPara>
                </a14:m>
                <a:endParaRPr lang="en-US" i="1" dirty="0">
                  <a:solidFill>
                    <a:schemeClr val="tx1">
                      <a:lumMod val="95000"/>
                    </a:schemeClr>
                  </a:solidFill>
                </a:endParaRPr>
              </a:p>
            </p:txBody>
          </p:sp>
        </mc:Choice>
        <mc:Fallback xmlns="">
          <p:sp>
            <p:nvSpPr>
              <p:cNvPr id="31" name="TextBox 30">
                <a:extLst>
                  <a:ext uri="{FF2B5EF4-FFF2-40B4-BE49-F238E27FC236}">
                    <a16:creationId xmlns:a16="http://schemas.microsoft.com/office/drawing/2014/main" id="{2279D28D-D910-8148-8474-7C9DB3E2FA65}"/>
                  </a:ext>
                </a:extLst>
              </p:cNvPr>
              <p:cNvSpPr txBox="1">
                <a:spLocks noRot="1" noChangeAspect="1" noMove="1" noResize="1" noEditPoints="1" noAdjustHandles="1" noChangeArrowheads="1" noChangeShapeType="1" noTextEdit="1"/>
              </p:cNvSpPr>
              <p:nvPr/>
            </p:nvSpPr>
            <p:spPr>
              <a:xfrm>
                <a:off x="8609162" y="4213823"/>
                <a:ext cx="983540" cy="369332"/>
              </a:xfrm>
              <a:prstGeom prst="rect">
                <a:avLst/>
              </a:prstGeom>
              <a:blipFill>
                <a:blip r:embed="rId2"/>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DB4DC281-42B8-ED44-8429-EDBF87D7E40B}"/>
                  </a:ext>
                </a:extLst>
              </p:cNvPr>
              <p:cNvSpPr txBox="1"/>
              <p:nvPr/>
            </p:nvSpPr>
            <p:spPr>
              <a:xfrm>
                <a:off x="8609162" y="4978698"/>
                <a:ext cx="983540" cy="369332"/>
              </a:xfrm>
              <a:prstGeom prst="rect">
                <a:avLst/>
              </a:prstGeom>
              <a:solidFill>
                <a:schemeClr val="accent1"/>
              </a:solidFill>
              <a:ln>
                <a:solidFill>
                  <a:schemeClr val="bg1"/>
                </a:solidFill>
              </a:ln>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𝐴</m:t>
                          </m:r>
                          <m:r>
                            <a:rPr lang="en-US" b="0" i="1" smtClean="0">
                              <a:solidFill>
                                <a:schemeClr val="bg1"/>
                              </a:solidFill>
                              <a:latin typeface="Cambria Math" panose="02040503050406030204" pitchFamily="18" charset="0"/>
                            </a:rPr>
                            <m:t>′</m:t>
                          </m:r>
                        </m:e>
                        <m:sub>
                          <m:r>
                            <a:rPr lang="en-US" b="0" i="1" smtClean="0">
                              <a:solidFill>
                                <a:schemeClr val="bg1"/>
                              </a:solidFill>
                              <a:latin typeface="Cambria Math" panose="02040503050406030204" pitchFamily="18" charset="0"/>
                            </a:rPr>
                            <m:t>𝑛</m:t>
                          </m:r>
                        </m:sub>
                      </m:sSub>
                    </m:oMath>
                  </m:oMathPara>
                </a14:m>
                <a:endParaRPr lang="en-US" i="1" dirty="0">
                  <a:solidFill>
                    <a:schemeClr val="bg1"/>
                  </a:solidFill>
                </a:endParaRPr>
              </a:p>
            </p:txBody>
          </p:sp>
        </mc:Choice>
        <mc:Fallback xmlns="">
          <p:sp>
            <p:nvSpPr>
              <p:cNvPr id="13" name="TextBox 12">
                <a:extLst>
                  <a:ext uri="{FF2B5EF4-FFF2-40B4-BE49-F238E27FC236}">
                    <a16:creationId xmlns:a16="http://schemas.microsoft.com/office/drawing/2014/main" id="{DB4DC281-42B8-ED44-8429-EDBF87D7E40B}"/>
                  </a:ext>
                </a:extLst>
              </p:cNvPr>
              <p:cNvSpPr txBox="1">
                <a:spLocks noRot="1" noChangeAspect="1" noMove="1" noResize="1" noEditPoints="1" noAdjustHandles="1" noChangeArrowheads="1" noChangeShapeType="1" noTextEdit="1"/>
              </p:cNvSpPr>
              <p:nvPr/>
            </p:nvSpPr>
            <p:spPr>
              <a:xfrm>
                <a:off x="8609162" y="4978698"/>
                <a:ext cx="983540" cy="369332"/>
              </a:xfrm>
              <a:prstGeom prst="rect">
                <a:avLst/>
              </a:prstGeom>
              <a:blipFill>
                <a:blip r:embed="rId3"/>
                <a:stretch>
                  <a:fillRect/>
                </a:stretch>
              </a:blipFill>
              <a:ln>
                <a:solidFill>
                  <a:schemeClr val="bg1"/>
                </a:solidFill>
              </a:ln>
            </p:spPr>
            <p:txBody>
              <a:bodyPr/>
              <a:lstStyle/>
              <a:p>
                <a:r>
                  <a:rPr lang="en-US">
                    <a:noFill/>
                  </a:rPr>
                  <a:t> </a:t>
                </a:r>
              </a:p>
            </p:txBody>
          </p:sp>
        </mc:Fallback>
      </mc:AlternateContent>
      <p:sp>
        <p:nvSpPr>
          <p:cNvPr id="14" name="TextBox 13">
            <a:extLst>
              <a:ext uri="{FF2B5EF4-FFF2-40B4-BE49-F238E27FC236}">
                <a16:creationId xmlns:a16="http://schemas.microsoft.com/office/drawing/2014/main" id="{40689272-547E-7C44-B1EF-42AF107FAC1D}"/>
              </a:ext>
            </a:extLst>
          </p:cNvPr>
          <p:cNvSpPr txBox="1"/>
          <p:nvPr/>
        </p:nvSpPr>
        <p:spPr>
          <a:xfrm>
            <a:off x="2084301" y="4724243"/>
            <a:ext cx="4010111" cy="584775"/>
          </a:xfrm>
          <a:prstGeom prst="rect">
            <a:avLst/>
          </a:prstGeom>
          <a:noFill/>
          <a:ln>
            <a:solidFill>
              <a:schemeClr val="tx1">
                <a:lumMod val="95000"/>
              </a:schemeClr>
            </a:solidFill>
          </a:ln>
        </p:spPr>
        <p:txBody>
          <a:bodyPr wrap="square" rtlCol="0">
            <a:spAutoFit/>
          </a:bodyPr>
          <a:lstStyle/>
          <a:p>
            <a:pPr algn="ctr"/>
            <a:r>
              <a:rPr lang="en-US" sz="1600" i="1" dirty="0"/>
              <a:t>Now, the reduction may still be valid, but we are back to B being strictly harder than A</a:t>
            </a:r>
          </a:p>
        </p:txBody>
      </p:sp>
      <p:cxnSp>
        <p:nvCxnSpPr>
          <p:cNvPr id="15" name="Straight Connector 14">
            <a:extLst>
              <a:ext uri="{FF2B5EF4-FFF2-40B4-BE49-F238E27FC236}">
                <a16:creationId xmlns:a16="http://schemas.microsoft.com/office/drawing/2014/main" id="{A83F8576-8521-F24F-AA94-69566C173B19}"/>
              </a:ext>
            </a:extLst>
          </p:cNvPr>
          <p:cNvCxnSpPr>
            <a:cxnSpLocks/>
          </p:cNvCxnSpPr>
          <p:nvPr/>
        </p:nvCxnSpPr>
        <p:spPr>
          <a:xfrm flipV="1">
            <a:off x="6197931" y="4398489"/>
            <a:ext cx="2307712" cy="580210"/>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2A23D16F-DB12-3743-84E7-09A0B1C71473}"/>
              </a:ext>
            </a:extLst>
          </p:cNvPr>
          <p:cNvCxnSpPr>
            <a:cxnSpLocks/>
          </p:cNvCxnSpPr>
          <p:nvPr/>
        </p:nvCxnSpPr>
        <p:spPr>
          <a:xfrm>
            <a:off x="6184762" y="5084705"/>
            <a:ext cx="2348680" cy="78659"/>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5224939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a:xfrm>
            <a:off x="1142263" y="242867"/>
            <a:ext cx="5284414" cy="668415"/>
          </a:xfrm>
        </p:spPr>
        <p:txBody>
          <a:bodyPr/>
          <a:lstStyle/>
          <a:p>
            <a:pPr algn="ctr"/>
            <a:r>
              <a:rPr lang="en-US" dirty="0"/>
              <a:t>Big Picture</a:t>
            </a:r>
          </a:p>
        </p:txBody>
      </p:sp>
      <p:sp>
        <p:nvSpPr>
          <p:cNvPr id="25" name="Content Placeholder 4">
            <a:extLst>
              <a:ext uri="{FF2B5EF4-FFF2-40B4-BE49-F238E27FC236}">
                <a16:creationId xmlns:a16="http://schemas.microsoft.com/office/drawing/2014/main" id="{F9CC5AB5-3F62-ED42-9178-2EE8C74294BF}"/>
              </a:ext>
            </a:extLst>
          </p:cNvPr>
          <p:cNvSpPr txBox="1">
            <a:spLocks/>
          </p:cNvSpPr>
          <p:nvPr/>
        </p:nvSpPr>
        <p:spPr>
          <a:xfrm>
            <a:off x="1133638" y="1253926"/>
            <a:ext cx="4651890" cy="453076"/>
          </a:xfrm>
          <a:prstGeom prst="rect">
            <a:avLst/>
          </a:prstGeom>
          <a:ln>
            <a:no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i="1" dirty="0"/>
              <a:t>So, via reduction</a:t>
            </a:r>
          </a:p>
        </p:txBody>
      </p:sp>
      <p:grpSp>
        <p:nvGrpSpPr>
          <p:cNvPr id="11" name="Group 10">
            <a:extLst>
              <a:ext uri="{FF2B5EF4-FFF2-40B4-BE49-F238E27FC236}">
                <a16:creationId xmlns:a16="http://schemas.microsoft.com/office/drawing/2014/main" id="{11434D04-07D6-194D-B81F-9C6112208B1F}"/>
              </a:ext>
            </a:extLst>
          </p:cNvPr>
          <p:cNvGrpSpPr/>
          <p:nvPr/>
        </p:nvGrpSpPr>
        <p:grpSpPr>
          <a:xfrm>
            <a:off x="6558957" y="-4553901"/>
            <a:ext cx="4831624" cy="11113993"/>
            <a:chOff x="5791207" y="-4553901"/>
            <a:chExt cx="4831624" cy="11113993"/>
          </a:xfrm>
        </p:grpSpPr>
        <p:grpSp>
          <p:nvGrpSpPr>
            <p:cNvPr id="6" name="Group 5">
              <a:extLst>
                <a:ext uri="{FF2B5EF4-FFF2-40B4-BE49-F238E27FC236}">
                  <a16:creationId xmlns:a16="http://schemas.microsoft.com/office/drawing/2014/main" id="{D00DF796-924F-A44D-B050-4520087394B0}"/>
                </a:ext>
              </a:extLst>
            </p:cNvPr>
            <p:cNvGrpSpPr/>
            <p:nvPr/>
          </p:nvGrpSpPr>
          <p:grpSpPr>
            <a:xfrm>
              <a:off x="5791207" y="-4553901"/>
              <a:ext cx="4831624" cy="11113993"/>
              <a:chOff x="5791207" y="-4553901"/>
              <a:chExt cx="4831624" cy="11113993"/>
            </a:xfrm>
          </p:grpSpPr>
          <p:grpSp>
            <p:nvGrpSpPr>
              <p:cNvPr id="20" name="Group 19">
                <a:extLst>
                  <a:ext uri="{FF2B5EF4-FFF2-40B4-BE49-F238E27FC236}">
                    <a16:creationId xmlns:a16="http://schemas.microsoft.com/office/drawing/2014/main" id="{81CE101F-D131-5E4B-B329-8B3F728A41A4}"/>
                  </a:ext>
                </a:extLst>
              </p:cNvPr>
              <p:cNvGrpSpPr/>
              <p:nvPr/>
            </p:nvGrpSpPr>
            <p:grpSpPr>
              <a:xfrm>
                <a:off x="5908350" y="242867"/>
                <a:ext cx="4714481" cy="6317225"/>
                <a:chOff x="4523051" y="-492161"/>
                <a:chExt cx="4714481" cy="6317225"/>
              </a:xfrm>
            </p:grpSpPr>
            <p:grpSp>
              <p:nvGrpSpPr>
                <p:cNvPr id="3" name="Group 2">
                  <a:extLst>
                    <a:ext uri="{FF2B5EF4-FFF2-40B4-BE49-F238E27FC236}">
                      <a16:creationId xmlns:a16="http://schemas.microsoft.com/office/drawing/2014/main" id="{5ECBE22B-00AF-0249-B60F-AB6706A81B95}"/>
                    </a:ext>
                  </a:extLst>
                </p:cNvPr>
                <p:cNvGrpSpPr/>
                <p:nvPr/>
              </p:nvGrpSpPr>
              <p:grpSpPr>
                <a:xfrm>
                  <a:off x="4523051" y="1854199"/>
                  <a:ext cx="3142722" cy="3970865"/>
                  <a:chOff x="4519612" y="1845732"/>
                  <a:chExt cx="3142722" cy="3970865"/>
                </a:xfrm>
              </p:grpSpPr>
              <p:sp>
                <p:nvSpPr>
                  <p:cNvPr id="2" name="Oval 1">
                    <a:extLst>
                      <a:ext uri="{FF2B5EF4-FFF2-40B4-BE49-F238E27FC236}">
                        <a16:creationId xmlns:a16="http://schemas.microsoft.com/office/drawing/2014/main" id="{D4A1DF55-6DAA-0D4D-9919-563E750571CE}"/>
                      </a:ext>
                    </a:extLst>
                  </p:cNvPr>
                  <p:cNvSpPr/>
                  <p:nvPr/>
                </p:nvSpPr>
                <p:spPr>
                  <a:xfrm>
                    <a:off x="4519612" y="1845732"/>
                    <a:ext cx="3142722" cy="3970865"/>
                  </a:xfrm>
                  <a:prstGeom prst="ellipse">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sz="3000" dirty="0">
                        <a:solidFill>
                          <a:schemeClr val="bg1"/>
                        </a:solidFill>
                      </a:rPr>
                      <a:t>NP</a:t>
                    </a:r>
                  </a:p>
                </p:txBody>
              </p:sp>
              <p:sp>
                <p:nvSpPr>
                  <p:cNvPr id="13" name="Oval 12">
                    <a:extLst>
                      <a:ext uri="{FF2B5EF4-FFF2-40B4-BE49-F238E27FC236}">
                        <a16:creationId xmlns:a16="http://schemas.microsoft.com/office/drawing/2014/main" id="{1CB683A8-08D1-204F-AFE5-1767C7DEADD6}"/>
                      </a:ext>
                    </a:extLst>
                  </p:cNvPr>
                  <p:cNvSpPr/>
                  <p:nvPr/>
                </p:nvSpPr>
                <p:spPr>
                  <a:xfrm>
                    <a:off x="4936067" y="3649131"/>
                    <a:ext cx="2269066" cy="2159000"/>
                  </a:xfrm>
                  <a:prstGeom prst="ellipse">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3000" dirty="0">
                        <a:solidFill>
                          <a:schemeClr val="bg1"/>
                        </a:solidFill>
                      </a:rPr>
                      <a:t>P</a:t>
                    </a:r>
                  </a:p>
                </p:txBody>
              </p:sp>
            </p:grpSp>
            <p:cxnSp>
              <p:nvCxnSpPr>
                <p:cNvPr id="15" name="Straight Arrow Connector 14">
                  <a:extLst>
                    <a:ext uri="{FF2B5EF4-FFF2-40B4-BE49-F238E27FC236}">
                      <a16:creationId xmlns:a16="http://schemas.microsoft.com/office/drawing/2014/main" id="{9BA46874-D347-F341-B74E-C744F75A9D15}"/>
                    </a:ext>
                  </a:extLst>
                </p:cNvPr>
                <p:cNvCxnSpPr>
                  <a:cxnSpLocks/>
                </p:cNvCxnSpPr>
                <p:nvPr/>
              </p:nvCxnSpPr>
              <p:spPr>
                <a:xfrm flipV="1">
                  <a:off x="7823200" y="-492161"/>
                  <a:ext cx="0" cy="622409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8" name="Content Placeholder 4">
                  <a:extLst>
                    <a:ext uri="{FF2B5EF4-FFF2-40B4-BE49-F238E27FC236}">
                      <a16:creationId xmlns:a16="http://schemas.microsoft.com/office/drawing/2014/main" id="{8C484E6F-0BD1-AB4E-9EFE-A40AC6ADE2A8}"/>
                    </a:ext>
                  </a:extLst>
                </p:cNvPr>
                <p:cNvSpPr txBox="1">
                  <a:spLocks/>
                </p:cNvSpPr>
                <p:nvPr/>
              </p:nvSpPr>
              <p:spPr>
                <a:xfrm>
                  <a:off x="7757715" y="5469457"/>
                  <a:ext cx="1414332" cy="355607"/>
                </a:xfrm>
                <a:prstGeom prst="rect">
                  <a:avLst/>
                </a:prstGeom>
                <a:ln>
                  <a:noFill/>
                </a:ln>
              </p:spPr>
              <p:txBody>
                <a:bodyPr vert="horz" lIns="91440" tIns="45720" rIns="91440" bIns="45720" rtlCol="0">
                  <a:normAutofit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600" b="1" i="1" dirty="0"/>
                    <a:t>Easy Problems</a:t>
                  </a:r>
                  <a:endParaRPr lang="en-US" sz="1600" i="1" dirty="0"/>
                </a:p>
              </p:txBody>
            </p:sp>
            <p:sp>
              <p:nvSpPr>
                <p:cNvPr id="19" name="Content Placeholder 4">
                  <a:extLst>
                    <a:ext uri="{FF2B5EF4-FFF2-40B4-BE49-F238E27FC236}">
                      <a16:creationId xmlns:a16="http://schemas.microsoft.com/office/drawing/2014/main" id="{B188799F-CD2B-4748-AD60-BDD68DE38128}"/>
                    </a:ext>
                  </a:extLst>
                </p:cNvPr>
                <p:cNvSpPr txBox="1">
                  <a:spLocks/>
                </p:cNvSpPr>
                <p:nvPr/>
              </p:nvSpPr>
              <p:spPr>
                <a:xfrm>
                  <a:off x="7823200" y="-369652"/>
                  <a:ext cx="1414332" cy="355607"/>
                </a:xfrm>
                <a:prstGeom prst="rect">
                  <a:avLst/>
                </a:prstGeom>
                <a:ln>
                  <a:noFill/>
                </a:ln>
              </p:spPr>
              <p:txBody>
                <a:bodyPr vert="horz" lIns="91440" tIns="45720" rIns="91440" bIns="45720" rtlCol="0">
                  <a:normAutofit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600" b="1" i="1" dirty="0"/>
                    <a:t>Hard Problems</a:t>
                  </a:r>
                  <a:endParaRPr lang="en-US" sz="1600" i="1" dirty="0"/>
                </a:p>
              </p:txBody>
            </p:sp>
          </p:grpSp>
          <p:sp>
            <p:nvSpPr>
              <p:cNvPr id="5" name="Arc 4">
                <a:extLst>
                  <a:ext uri="{FF2B5EF4-FFF2-40B4-BE49-F238E27FC236}">
                    <a16:creationId xmlns:a16="http://schemas.microsoft.com/office/drawing/2014/main" id="{44EC2B34-04B5-F843-91DE-FF6A65B7AE51}"/>
                  </a:ext>
                </a:extLst>
              </p:cNvPr>
              <p:cNvSpPr/>
              <p:nvPr/>
            </p:nvSpPr>
            <p:spPr>
              <a:xfrm>
                <a:off x="5791207" y="-4553901"/>
                <a:ext cx="3336261" cy="7263666"/>
              </a:xfrm>
              <a:prstGeom prst="arc">
                <a:avLst>
                  <a:gd name="adj1" fmla="val 334075"/>
                  <a:gd name="adj2" fmla="val 10164359"/>
                </a:avLst>
              </a:prstGeom>
              <a:solidFill>
                <a:schemeClr val="accent1"/>
              </a:solidFill>
              <a:ln>
                <a:solidFill>
                  <a:schemeClr val="bg1"/>
                </a:solidFill>
              </a:ln>
            </p:spPr>
            <p:style>
              <a:lnRef idx="1">
                <a:schemeClr val="accent1"/>
              </a:lnRef>
              <a:fillRef idx="0">
                <a:schemeClr val="accent1"/>
              </a:fillRef>
              <a:effectRef idx="0">
                <a:schemeClr val="accent1"/>
              </a:effectRef>
              <a:fontRef idx="minor">
                <a:schemeClr val="tx1"/>
              </a:fontRef>
            </p:style>
            <p:txBody>
              <a:bodyPr rtlCol="0" anchor="ctr"/>
              <a:lstStyle/>
              <a:p>
                <a:pPr algn="ctr"/>
                <a:r>
                  <a:rPr lang="en-US" sz="2400" dirty="0">
                    <a:solidFill>
                      <a:schemeClr val="bg1"/>
                    </a:solidFill>
                  </a:rPr>
                  <a:t>NP-Hard</a:t>
                </a:r>
              </a:p>
            </p:txBody>
          </p:sp>
        </p:grpSp>
        <p:sp>
          <p:nvSpPr>
            <p:cNvPr id="7" name="Oval 6">
              <a:extLst>
                <a:ext uri="{FF2B5EF4-FFF2-40B4-BE49-F238E27FC236}">
                  <a16:creationId xmlns:a16="http://schemas.microsoft.com/office/drawing/2014/main" id="{DF78F878-B9AB-894D-BB85-D7E5A5579F67}"/>
                </a:ext>
              </a:extLst>
            </p:cNvPr>
            <p:cNvSpPr/>
            <p:nvPr/>
          </p:nvSpPr>
          <p:spPr>
            <a:xfrm>
              <a:off x="7152238" y="2589227"/>
              <a:ext cx="624689" cy="120538"/>
            </a:xfrm>
            <a:prstGeom prst="ellipse">
              <a:avLst/>
            </a:prstGeom>
            <a:solidFill>
              <a:schemeClr val="accent3"/>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mc:AlternateContent xmlns:mc="http://schemas.openxmlformats.org/markup-compatibility/2006" xmlns:a14="http://schemas.microsoft.com/office/drawing/2010/main">
        <mc:Choice Requires="a14">
          <p:sp>
            <p:nvSpPr>
              <p:cNvPr id="21" name="Content Placeholder 4">
                <a:extLst>
                  <a:ext uri="{FF2B5EF4-FFF2-40B4-BE49-F238E27FC236}">
                    <a16:creationId xmlns:a16="http://schemas.microsoft.com/office/drawing/2014/main" id="{F52FCBCB-7180-2C4C-9A9D-CE6A6A75DE49}"/>
                  </a:ext>
                </a:extLst>
              </p:cNvPr>
              <p:cNvSpPr txBox="1">
                <a:spLocks/>
              </p:cNvSpPr>
              <p:nvPr/>
            </p:nvSpPr>
            <p:spPr>
              <a:xfrm>
                <a:off x="1133638" y="1637522"/>
                <a:ext cx="5293040" cy="851874"/>
              </a:xfrm>
              <a:prstGeom prst="rect">
                <a:avLst/>
              </a:prstGeom>
              <a:solidFill>
                <a:schemeClr val="tx1">
                  <a:lumMod val="95000"/>
                </a:schemeClr>
              </a:solidFill>
              <a:ln>
                <a:solidFill>
                  <a:schemeClr val="bg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i="1" dirty="0">
                    <a:solidFill>
                      <a:schemeClr val="bg1"/>
                    </a:solidFill>
                  </a:rPr>
                  <a:t>A </a:t>
                </a:r>
                <a:r>
                  <a:rPr lang="en-US" sz="2000" b="1" i="1" dirty="0">
                    <a:solidFill>
                      <a:schemeClr val="bg1"/>
                    </a:solidFill>
                  </a:rPr>
                  <a:t>valid</a:t>
                </a:r>
                <a:r>
                  <a:rPr lang="en-US" sz="2000" i="1" dirty="0">
                    <a:solidFill>
                      <a:schemeClr val="bg1"/>
                    </a:solidFill>
                  </a:rPr>
                  <a:t> reduction </a:t>
                </a:r>
                <a14:m>
                  <m:oMath xmlns:m="http://schemas.openxmlformats.org/officeDocument/2006/math">
                    <m:r>
                      <a:rPr lang="en-US" sz="2000" b="0" i="1" smtClean="0">
                        <a:solidFill>
                          <a:schemeClr val="bg1"/>
                        </a:solidFill>
                        <a:latin typeface="Cambria Math" panose="02040503050406030204" pitchFamily="18" charset="0"/>
                      </a:rPr>
                      <m:t>𝐴</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m:t>
                        </m:r>
                      </m:e>
                      <m:sub>
                        <m:r>
                          <a:rPr lang="en-US" sz="2000" b="0" i="1" smtClean="0">
                            <a:solidFill>
                              <a:schemeClr val="bg1"/>
                            </a:solidFill>
                            <a:latin typeface="Cambria Math" panose="02040503050406030204" pitchFamily="18" charset="0"/>
                          </a:rPr>
                          <m:t>𝑓</m:t>
                        </m:r>
                        <m:r>
                          <a:rPr lang="en-US" sz="2000" b="0" i="1" smtClean="0">
                            <a:solidFill>
                              <a:schemeClr val="bg1"/>
                            </a:solidFill>
                            <a:latin typeface="Cambria Math" panose="02040503050406030204" pitchFamily="18" charset="0"/>
                          </a:rPr>
                          <m:t>(</m:t>
                        </m:r>
                        <m:r>
                          <a:rPr lang="en-US" sz="2000" b="0" i="1" smtClean="0">
                            <a:solidFill>
                              <a:schemeClr val="bg1"/>
                            </a:solidFill>
                            <a:latin typeface="Cambria Math" panose="02040503050406030204" pitchFamily="18" charset="0"/>
                          </a:rPr>
                          <m:t>𝑛</m:t>
                        </m:r>
                        <m:r>
                          <a:rPr lang="en-US" sz="2000" b="0" i="1" smtClean="0">
                            <a:solidFill>
                              <a:schemeClr val="bg1"/>
                            </a:solidFill>
                            <a:latin typeface="Cambria Math" panose="02040503050406030204" pitchFamily="18" charset="0"/>
                          </a:rPr>
                          <m:t>)</m:t>
                        </m:r>
                      </m:sub>
                    </m:sSub>
                    <m:r>
                      <a:rPr lang="en-US" sz="2000" b="0" i="1" smtClean="0">
                        <a:solidFill>
                          <a:schemeClr val="bg1"/>
                        </a:solidFill>
                        <a:latin typeface="Cambria Math" panose="02040503050406030204" pitchFamily="18" charset="0"/>
                      </a:rPr>
                      <m:t>𝐵</m:t>
                    </m:r>
                  </m:oMath>
                </a14:m>
                <a:r>
                  <a:rPr lang="en-US" sz="2000" i="1" dirty="0">
                    <a:solidFill>
                      <a:schemeClr val="bg1"/>
                    </a:solidFill>
                  </a:rPr>
                  <a:t> establishes that B is at least as hard as A</a:t>
                </a:r>
              </a:p>
            </p:txBody>
          </p:sp>
        </mc:Choice>
        <mc:Fallback xmlns="">
          <p:sp>
            <p:nvSpPr>
              <p:cNvPr id="21" name="Content Placeholder 4">
                <a:extLst>
                  <a:ext uri="{FF2B5EF4-FFF2-40B4-BE49-F238E27FC236}">
                    <a16:creationId xmlns:a16="http://schemas.microsoft.com/office/drawing/2014/main" id="{F52FCBCB-7180-2C4C-9A9D-CE6A6A75DE49}"/>
                  </a:ext>
                </a:extLst>
              </p:cNvPr>
              <p:cNvSpPr txBox="1">
                <a:spLocks noRot="1" noChangeAspect="1" noMove="1" noResize="1" noEditPoints="1" noAdjustHandles="1" noChangeArrowheads="1" noChangeShapeType="1" noTextEdit="1"/>
              </p:cNvSpPr>
              <p:nvPr/>
            </p:nvSpPr>
            <p:spPr>
              <a:xfrm>
                <a:off x="1133638" y="1637522"/>
                <a:ext cx="5293040" cy="851874"/>
              </a:xfrm>
              <a:prstGeom prst="rect">
                <a:avLst/>
              </a:prstGeom>
              <a:blipFill>
                <a:blip r:embed="rId2"/>
                <a:stretch>
                  <a:fillRect l="-955" r="-239" b="-7246"/>
                </a:stretch>
              </a:blipFill>
              <a:ln>
                <a:solidFill>
                  <a:schemeClr val="bg1"/>
                </a:solidFill>
              </a:ln>
            </p:spPr>
            <p:txBody>
              <a:bodyPr/>
              <a:lstStyle/>
              <a:p>
                <a:r>
                  <a:rPr lang="en-US">
                    <a:noFill/>
                  </a:rPr>
                  <a:t> </a:t>
                </a:r>
              </a:p>
            </p:txBody>
          </p:sp>
        </mc:Fallback>
      </mc:AlternateContent>
      <p:sp>
        <p:nvSpPr>
          <p:cNvPr id="23" name="Content Placeholder 4">
            <a:extLst>
              <a:ext uri="{FF2B5EF4-FFF2-40B4-BE49-F238E27FC236}">
                <a16:creationId xmlns:a16="http://schemas.microsoft.com/office/drawing/2014/main" id="{F2F9F31A-BBF7-1546-8AA1-51F024CB1CF5}"/>
              </a:ext>
            </a:extLst>
          </p:cNvPr>
          <p:cNvSpPr txBox="1">
            <a:spLocks/>
          </p:cNvSpPr>
          <p:nvPr/>
        </p:nvSpPr>
        <p:spPr>
          <a:xfrm>
            <a:off x="1133638" y="2839789"/>
            <a:ext cx="4651890" cy="453076"/>
          </a:xfrm>
          <a:prstGeom prst="rect">
            <a:avLst/>
          </a:prstGeom>
          <a:ln>
            <a:no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i="1" dirty="0"/>
              <a:t>Some related facts!</a:t>
            </a:r>
          </a:p>
        </p:txBody>
      </p:sp>
      <mc:AlternateContent xmlns:mc="http://schemas.openxmlformats.org/markup-compatibility/2006" xmlns:a14="http://schemas.microsoft.com/office/drawing/2010/main">
        <mc:Choice Requires="a14">
          <p:sp>
            <p:nvSpPr>
              <p:cNvPr id="24" name="Content Placeholder 4">
                <a:extLst>
                  <a:ext uri="{FF2B5EF4-FFF2-40B4-BE49-F238E27FC236}">
                    <a16:creationId xmlns:a16="http://schemas.microsoft.com/office/drawing/2014/main" id="{D0875042-8918-7847-8B25-F9DAABC7E4B8}"/>
                  </a:ext>
                </a:extLst>
              </p:cNvPr>
              <p:cNvSpPr txBox="1">
                <a:spLocks/>
              </p:cNvSpPr>
              <p:nvPr/>
            </p:nvSpPr>
            <p:spPr>
              <a:xfrm>
                <a:off x="1142263" y="3232011"/>
                <a:ext cx="5284415" cy="632623"/>
              </a:xfrm>
              <a:prstGeom prst="rect">
                <a:avLst/>
              </a:prstGeom>
              <a:solidFill>
                <a:schemeClr val="tx1">
                  <a:lumMod val="95000"/>
                </a:schemeClr>
              </a:solidFill>
              <a:ln>
                <a:solidFill>
                  <a:schemeClr val="bg1"/>
                </a:solidFill>
              </a:ln>
            </p:spPr>
            <p:txBody>
              <a:bodyPr vert="horz" lIns="91440" tIns="45720" rIns="91440" bIns="45720" rtlCol="0">
                <a:normAutofit fontScale="850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i="1" dirty="0">
                    <a:solidFill>
                      <a:schemeClr val="bg1"/>
                    </a:solidFill>
                  </a:rPr>
                  <a:t>If valid reductions exist in both directions: </a:t>
                </a:r>
                <a14:m>
                  <m:oMath xmlns:m="http://schemas.openxmlformats.org/officeDocument/2006/math">
                    <m:r>
                      <a:rPr lang="en-US" sz="2000" b="0" i="1" smtClean="0">
                        <a:solidFill>
                          <a:schemeClr val="bg1"/>
                        </a:solidFill>
                        <a:latin typeface="Cambria Math" panose="02040503050406030204" pitchFamily="18" charset="0"/>
                      </a:rPr>
                      <m:t>𝐴</m:t>
                    </m:r>
                    <m:r>
                      <a:rPr lang="en-US" sz="2000" b="0" i="1" smtClean="0">
                        <a:solidFill>
                          <a:schemeClr val="bg1"/>
                        </a:solidFill>
                        <a:latin typeface="Cambria Math" panose="02040503050406030204" pitchFamily="18" charset="0"/>
                      </a:rPr>
                      <m:t>≤</m:t>
                    </m:r>
                    <m:r>
                      <a:rPr lang="en-US" sz="2000" b="0" i="1" smtClean="0">
                        <a:solidFill>
                          <a:schemeClr val="bg1"/>
                        </a:solidFill>
                        <a:latin typeface="Cambria Math" panose="02040503050406030204" pitchFamily="18" charset="0"/>
                      </a:rPr>
                      <m:t>𝐵</m:t>
                    </m:r>
                  </m:oMath>
                </a14:m>
                <a:r>
                  <a:rPr lang="en-US" sz="2000" i="1" dirty="0">
                    <a:solidFill>
                      <a:schemeClr val="bg1"/>
                    </a:solidFill>
                  </a:rPr>
                  <a:t> and </a:t>
                </a:r>
                <a14:m>
                  <m:oMath xmlns:m="http://schemas.openxmlformats.org/officeDocument/2006/math">
                    <m:r>
                      <a:rPr lang="en-US" sz="2000" b="0" i="1" smtClean="0">
                        <a:solidFill>
                          <a:schemeClr val="bg1"/>
                        </a:solidFill>
                        <a:latin typeface="Cambria Math" panose="02040503050406030204" pitchFamily="18" charset="0"/>
                      </a:rPr>
                      <m:t>𝐵</m:t>
                    </m:r>
                    <m:r>
                      <a:rPr lang="en-US" sz="2000" b="0" i="1" smtClean="0">
                        <a:solidFill>
                          <a:schemeClr val="bg1"/>
                        </a:solidFill>
                        <a:latin typeface="Cambria Math" panose="02040503050406030204" pitchFamily="18" charset="0"/>
                      </a:rPr>
                      <m:t>≤</m:t>
                    </m:r>
                    <m:r>
                      <a:rPr lang="en-US" sz="2000" b="0" i="1" smtClean="0">
                        <a:solidFill>
                          <a:schemeClr val="bg1"/>
                        </a:solidFill>
                        <a:latin typeface="Cambria Math" panose="02040503050406030204" pitchFamily="18" charset="0"/>
                      </a:rPr>
                      <m:t>𝐴</m:t>
                    </m:r>
                  </m:oMath>
                </a14:m>
                <a:r>
                  <a:rPr lang="en-US" sz="2000" i="1" dirty="0">
                    <a:solidFill>
                      <a:schemeClr val="bg1"/>
                    </a:solidFill>
                  </a:rPr>
                  <a:t>, then the two problems are equally as hard</a:t>
                </a:r>
              </a:p>
            </p:txBody>
          </p:sp>
        </mc:Choice>
        <mc:Fallback xmlns="">
          <p:sp>
            <p:nvSpPr>
              <p:cNvPr id="24" name="Content Placeholder 4">
                <a:extLst>
                  <a:ext uri="{FF2B5EF4-FFF2-40B4-BE49-F238E27FC236}">
                    <a16:creationId xmlns:a16="http://schemas.microsoft.com/office/drawing/2014/main" id="{D0875042-8918-7847-8B25-F9DAABC7E4B8}"/>
                  </a:ext>
                </a:extLst>
              </p:cNvPr>
              <p:cNvSpPr txBox="1">
                <a:spLocks noRot="1" noChangeAspect="1" noMove="1" noResize="1" noEditPoints="1" noAdjustHandles="1" noChangeArrowheads="1" noChangeShapeType="1" noTextEdit="1"/>
              </p:cNvSpPr>
              <p:nvPr/>
            </p:nvSpPr>
            <p:spPr>
              <a:xfrm>
                <a:off x="1142263" y="3232011"/>
                <a:ext cx="5284415" cy="632623"/>
              </a:xfrm>
              <a:prstGeom prst="rect">
                <a:avLst/>
              </a:prstGeom>
              <a:blipFill>
                <a:blip r:embed="rId3"/>
                <a:stretch>
                  <a:fillRect l="-718" t="-1923" b="-5769"/>
                </a:stretch>
              </a:blipFill>
              <a:ln>
                <a:solidFill>
                  <a:schemeClr val="bg1"/>
                </a:solidFill>
              </a:ln>
            </p:spPr>
            <p:txBody>
              <a:bodyPr/>
              <a:lstStyle/>
              <a:p>
                <a:r>
                  <a:rPr lang="en-US">
                    <a:noFill/>
                  </a:rPr>
                  <a:t> </a:t>
                </a:r>
              </a:p>
            </p:txBody>
          </p:sp>
        </mc:Fallback>
      </mc:AlternateContent>
      <p:sp>
        <p:nvSpPr>
          <p:cNvPr id="26" name="Content Placeholder 4">
            <a:extLst>
              <a:ext uri="{FF2B5EF4-FFF2-40B4-BE49-F238E27FC236}">
                <a16:creationId xmlns:a16="http://schemas.microsoft.com/office/drawing/2014/main" id="{8F77D083-80E0-8948-9DEC-49472A08402F}"/>
              </a:ext>
            </a:extLst>
          </p:cNvPr>
          <p:cNvSpPr txBox="1">
            <a:spLocks/>
          </p:cNvSpPr>
          <p:nvPr/>
        </p:nvSpPr>
        <p:spPr>
          <a:xfrm>
            <a:off x="1142264" y="4017527"/>
            <a:ext cx="5284414" cy="683869"/>
          </a:xfrm>
          <a:prstGeom prst="rect">
            <a:avLst/>
          </a:prstGeom>
          <a:solidFill>
            <a:schemeClr val="tx1">
              <a:lumMod val="95000"/>
            </a:schemeClr>
          </a:solidFill>
          <a:ln>
            <a:solidFill>
              <a:schemeClr val="bg1"/>
            </a:solidFill>
          </a:ln>
        </p:spPr>
        <p:txBody>
          <a:bodyPr vert="horz" lIns="91440" tIns="45720" rIns="91440" bIns="45720" rtlCol="0">
            <a:normAutofit fontScale="85000"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i="1" dirty="0">
                <a:solidFill>
                  <a:schemeClr val="bg1"/>
                </a:solidFill>
              </a:rPr>
              <a:t>NP-Complete problems are the hardest in NP, so by definition there is a valid reduction from anything in NP to them.</a:t>
            </a:r>
          </a:p>
        </p:txBody>
      </p:sp>
      <mc:AlternateContent xmlns:mc="http://schemas.openxmlformats.org/markup-compatibility/2006" xmlns:a14="http://schemas.microsoft.com/office/drawing/2010/main">
        <mc:Choice Requires="a14">
          <p:sp>
            <p:nvSpPr>
              <p:cNvPr id="27" name="Content Placeholder 4">
                <a:extLst>
                  <a:ext uri="{FF2B5EF4-FFF2-40B4-BE49-F238E27FC236}">
                    <a16:creationId xmlns:a16="http://schemas.microsoft.com/office/drawing/2014/main" id="{6907CAE6-D738-734E-A457-94CF396264BF}"/>
                  </a:ext>
                </a:extLst>
              </p:cNvPr>
              <p:cNvSpPr txBox="1">
                <a:spLocks/>
              </p:cNvSpPr>
              <p:nvPr/>
            </p:nvSpPr>
            <p:spPr>
              <a:xfrm>
                <a:off x="1133638" y="4854289"/>
                <a:ext cx="5293040" cy="632111"/>
              </a:xfrm>
              <a:prstGeom prst="rect">
                <a:avLst/>
              </a:prstGeom>
              <a:solidFill>
                <a:schemeClr val="tx1">
                  <a:lumMod val="95000"/>
                </a:schemeClr>
              </a:solidFill>
              <a:ln>
                <a:solidFill>
                  <a:schemeClr val="bg1"/>
                </a:solidFill>
              </a:ln>
            </p:spPr>
            <p:txBody>
              <a:bodyPr vert="horz" lIns="91440" tIns="45720" rIns="91440" bIns="45720" rtlCol="0">
                <a:normAutofit fontScale="775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i="1" dirty="0">
                    <a:solidFill>
                      <a:schemeClr val="bg1"/>
                    </a:solidFill>
                  </a:rPr>
                  <a:t>How fast does a reduction between NP-Complete problems need to be? Just some polynomial. Why? We write this as </a:t>
                </a:r>
                <a14:m>
                  <m:oMath xmlns:m="http://schemas.openxmlformats.org/officeDocument/2006/math">
                    <m:r>
                      <a:rPr lang="en-US" sz="2000" b="0" i="1" smtClean="0">
                        <a:solidFill>
                          <a:schemeClr val="bg1"/>
                        </a:solidFill>
                        <a:latin typeface="Cambria Math" panose="02040503050406030204" pitchFamily="18" charset="0"/>
                      </a:rPr>
                      <m:t>𝐴</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m:t>
                        </m:r>
                      </m:e>
                      <m:sub>
                        <m:r>
                          <a:rPr lang="en-US" sz="2000" b="0" i="1" smtClean="0">
                            <a:solidFill>
                              <a:schemeClr val="bg1"/>
                            </a:solidFill>
                            <a:latin typeface="Cambria Math" panose="02040503050406030204" pitchFamily="18" charset="0"/>
                          </a:rPr>
                          <m:t>𝑝</m:t>
                        </m:r>
                      </m:sub>
                    </m:sSub>
                    <m:r>
                      <a:rPr lang="en-US" sz="2000" b="0" i="1" smtClean="0">
                        <a:solidFill>
                          <a:schemeClr val="bg1"/>
                        </a:solidFill>
                        <a:latin typeface="Cambria Math" panose="02040503050406030204" pitchFamily="18" charset="0"/>
                      </a:rPr>
                      <m:t>𝐵</m:t>
                    </m:r>
                  </m:oMath>
                </a14:m>
                <a:endParaRPr lang="en-US" sz="2000" i="1" dirty="0">
                  <a:solidFill>
                    <a:schemeClr val="bg1"/>
                  </a:solidFill>
                </a:endParaRPr>
              </a:p>
            </p:txBody>
          </p:sp>
        </mc:Choice>
        <mc:Fallback xmlns="">
          <p:sp>
            <p:nvSpPr>
              <p:cNvPr id="27" name="Content Placeholder 4">
                <a:extLst>
                  <a:ext uri="{FF2B5EF4-FFF2-40B4-BE49-F238E27FC236}">
                    <a16:creationId xmlns:a16="http://schemas.microsoft.com/office/drawing/2014/main" id="{6907CAE6-D738-734E-A457-94CF396264BF}"/>
                  </a:ext>
                </a:extLst>
              </p:cNvPr>
              <p:cNvSpPr txBox="1">
                <a:spLocks noRot="1" noChangeAspect="1" noMove="1" noResize="1" noEditPoints="1" noAdjustHandles="1" noChangeArrowheads="1" noChangeShapeType="1" noTextEdit="1"/>
              </p:cNvSpPr>
              <p:nvPr/>
            </p:nvSpPr>
            <p:spPr>
              <a:xfrm>
                <a:off x="1133638" y="4854289"/>
                <a:ext cx="5293040" cy="632111"/>
              </a:xfrm>
              <a:prstGeom prst="rect">
                <a:avLst/>
              </a:prstGeom>
              <a:blipFill>
                <a:blip r:embed="rId4"/>
                <a:stretch>
                  <a:fillRect l="-477" t="-1923"/>
                </a:stretch>
              </a:blipFill>
              <a:ln>
                <a:solidFill>
                  <a:schemeClr val="bg1"/>
                </a:solidFill>
              </a:ln>
            </p:spPr>
            <p:txBody>
              <a:bodyPr/>
              <a:lstStyle/>
              <a:p>
                <a:r>
                  <a:rPr lang="en-US">
                    <a:noFill/>
                  </a:rPr>
                  <a:t> </a:t>
                </a:r>
              </a:p>
            </p:txBody>
          </p:sp>
        </mc:Fallback>
      </mc:AlternateContent>
    </p:spTree>
    <p:extLst>
      <p:ext uri="{BB962C8B-B14F-4D97-AF65-F5344CB8AC3E}">
        <p14:creationId xmlns:p14="http://schemas.microsoft.com/office/powerpoint/2010/main" val="150349229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a:xfrm>
            <a:off x="830525" y="242867"/>
            <a:ext cx="5972296" cy="860719"/>
          </a:xfrm>
        </p:spPr>
        <p:txBody>
          <a:bodyPr>
            <a:normAutofit/>
          </a:bodyPr>
          <a:lstStyle/>
          <a:p>
            <a:pPr algn="ctr"/>
            <a:r>
              <a:rPr lang="en-US" dirty="0"/>
              <a:t>Proving NP-Completeness</a:t>
            </a:r>
          </a:p>
        </p:txBody>
      </p:sp>
      <p:sp>
        <p:nvSpPr>
          <p:cNvPr id="25" name="Content Placeholder 4">
            <a:extLst>
              <a:ext uri="{FF2B5EF4-FFF2-40B4-BE49-F238E27FC236}">
                <a16:creationId xmlns:a16="http://schemas.microsoft.com/office/drawing/2014/main" id="{F9CC5AB5-3F62-ED42-9178-2EE8C74294BF}"/>
              </a:ext>
            </a:extLst>
          </p:cNvPr>
          <p:cNvSpPr txBox="1">
            <a:spLocks/>
          </p:cNvSpPr>
          <p:nvPr/>
        </p:nvSpPr>
        <p:spPr>
          <a:xfrm>
            <a:off x="906747" y="1359120"/>
            <a:ext cx="2613132" cy="716751"/>
          </a:xfrm>
          <a:prstGeom prst="rect">
            <a:avLst/>
          </a:prstGeom>
          <a:ln>
            <a:no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600" i="1" dirty="0"/>
              <a:t>Usually we do the bolded ones</a:t>
            </a:r>
          </a:p>
        </p:txBody>
      </p:sp>
      <p:cxnSp>
        <p:nvCxnSpPr>
          <p:cNvPr id="26" name="Straight Connector 25">
            <a:extLst>
              <a:ext uri="{FF2B5EF4-FFF2-40B4-BE49-F238E27FC236}">
                <a16:creationId xmlns:a16="http://schemas.microsoft.com/office/drawing/2014/main" id="{EDA96E10-036D-F441-9C5D-5414C32DF908}"/>
              </a:ext>
            </a:extLst>
          </p:cNvPr>
          <p:cNvCxnSpPr>
            <a:cxnSpLocks/>
          </p:cNvCxnSpPr>
          <p:nvPr/>
        </p:nvCxnSpPr>
        <p:spPr>
          <a:xfrm>
            <a:off x="1468413" y="1776664"/>
            <a:ext cx="313090" cy="719432"/>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grpSp>
        <p:nvGrpSpPr>
          <p:cNvPr id="11" name="Group 10">
            <a:extLst>
              <a:ext uri="{FF2B5EF4-FFF2-40B4-BE49-F238E27FC236}">
                <a16:creationId xmlns:a16="http://schemas.microsoft.com/office/drawing/2014/main" id="{11434D04-07D6-194D-B81F-9C6112208B1F}"/>
              </a:ext>
            </a:extLst>
          </p:cNvPr>
          <p:cNvGrpSpPr/>
          <p:nvPr/>
        </p:nvGrpSpPr>
        <p:grpSpPr>
          <a:xfrm>
            <a:off x="6942095" y="-4553901"/>
            <a:ext cx="4831624" cy="11113993"/>
            <a:chOff x="5791207" y="-4553901"/>
            <a:chExt cx="4831624" cy="11113993"/>
          </a:xfrm>
        </p:grpSpPr>
        <p:grpSp>
          <p:nvGrpSpPr>
            <p:cNvPr id="6" name="Group 5">
              <a:extLst>
                <a:ext uri="{FF2B5EF4-FFF2-40B4-BE49-F238E27FC236}">
                  <a16:creationId xmlns:a16="http://schemas.microsoft.com/office/drawing/2014/main" id="{D00DF796-924F-A44D-B050-4520087394B0}"/>
                </a:ext>
              </a:extLst>
            </p:cNvPr>
            <p:cNvGrpSpPr/>
            <p:nvPr/>
          </p:nvGrpSpPr>
          <p:grpSpPr>
            <a:xfrm>
              <a:off x="5791207" y="-4553901"/>
              <a:ext cx="4831624" cy="11113993"/>
              <a:chOff x="5791207" y="-4553901"/>
              <a:chExt cx="4831624" cy="11113993"/>
            </a:xfrm>
          </p:grpSpPr>
          <p:grpSp>
            <p:nvGrpSpPr>
              <p:cNvPr id="20" name="Group 19">
                <a:extLst>
                  <a:ext uri="{FF2B5EF4-FFF2-40B4-BE49-F238E27FC236}">
                    <a16:creationId xmlns:a16="http://schemas.microsoft.com/office/drawing/2014/main" id="{81CE101F-D131-5E4B-B329-8B3F728A41A4}"/>
                  </a:ext>
                </a:extLst>
              </p:cNvPr>
              <p:cNvGrpSpPr/>
              <p:nvPr/>
            </p:nvGrpSpPr>
            <p:grpSpPr>
              <a:xfrm>
                <a:off x="5908350" y="2496096"/>
                <a:ext cx="4714481" cy="4063996"/>
                <a:chOff x="4523051" y="1761068"/>
                <a:chExt cx="4714481" cy="4063996"/>
              </a:xfrm>
            </p:grpSpPr>
            <p:grpSp>
              <p:nvGrpSpPr>
                <p:cNvPr id="3" name="Group 2">
                  <a:extLst>
                    <a:ext uri="{FF2B5EF4-FFF2-40B4-BE49-F238E27FC236}">
                      <a16:creationId xmlns:a16="http://schemas.microsoft.com/office/drawing/2014/main" id="{5ECBE22B-00AF-0249-B60F-AB6706A81B95}"/>
                    </a:ext>
                  </a:extLst>
                </p:cNvPr>
                <p:cNvGrpSpPr/>
                <p:nvPr/>
              </p:nvGrpSpPr>
              <p:grpSpPr>
                <a:xfrm>
                  <a:off x="4523051" y="1854199"/>
                  <a:ext cx="3142722" cy="3970865"/>
                  <a:chOff x="4519612" y="1845732"/>
                  <a:chExt cx="3142722" cy="3970865"/>
                </a:xfrm>
              </p:grpSpPr>
              <p:sp>
                <p:nvSpPr>
                  <p:cNvPr id="2" name="Oval 1">
                    <a:extLst>
                      <a:ext uri="{FF2B5EF4-FFF2-40B4-BE49-F238E27FC236}">
                        <a16:creationId xmlns:a16="http://schemas.microsoft.com/office/drawing/2014/main" id="{D4A1DF55-6DAA-0D4D-9919-563E750571CE}"/>
                      </a:ext>
                    </a:extLst>
                  </p:cNvPr>
                  <p:cNvSpPr/>
                  <p:nvPr/>
                </p:nvSpPr>
                <p:spPr>
                  <a:xfrm>
                    <a:off x="4519612" y="1845732"/>
                    <a:ext cx="3142722" cy="3970865"/>
                  </a:xfrm>
                  <a:prstGeom prst="ellipse">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sz="3000" dirty="0">
                        <a:solidFill>
                          <a:schemeClr val="bg1"/>
                        </a:solidFill>
                      </a:rPr>
                      <a:t>NP</a:t>
                    </a:r>
                  </a:p>
                </p:txBody>
              </p:sp>
              <p:sp>
                <p:nvSpPr>
                  <p:cNvPr id="13" name="Oval 12">
                    <a:extLst>
                      <a:ext uri="{FF2B5EF4-FFF2-40B4-BE49-F238E27FC236}">
                        <a16:creationId xmlns:a16="http://schemas.microsoft.com/office/drawing/2014/main" id="{1CB683A8-08D1-204F-AFE5-1767C7DEADD6}"/>
                      </a:ext>
                    </a:extLst>
                  </p:cNvPr>
                  <p:cNvSpPr/>
                  <p:nvPr/>
                </p:nvSpPr>
                <p:spPr>
                  <a:xfrm>
                    <a:off x="4936067" y="3649131"/>
                    <a:ext cx="2269066" cy="2159000"/>
                  </a:xfrm>
                  <a:prstGeom prst="ellipse">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3000" dirty="0">
                        <a:solidFill>
                          <a:schemeClr val="bg1"/>
                        </a:solidFill>
                      </a:rPr>
                      <a:t>P</a:t>
                    </a:r>
                  </a:p>
                </p:txBody>
              </p:sp>
            </p:grpSp>
            <p:cxnSp>
              <p:nvCxnSpPr>
                <p:cNvPr id="15" name="Straight Arrow Connector 14">
                  <a:extLst>
                    <a:ext uri="{FF2B5EF4-FFF2-40B4-BE49-F238E27FC236}">
                      <a16:creationId xmlns:a16="http://schemas.microsoft.com/office/drawing/2014/main" id="{9BA46874-D347-F341-B74E-C744F75A9D15}"/>
                    </a:ext>
                  </a:extLst>
                </p:cNvPr>
                <p:cNvCxnSpPr>
                  <a:cxnSpLocks/>
                </p:cNvCxnSpPr>
                <p:nvPr/>
              </p:nvCxnSpPr>
              <p:spPr>
                <a:xfrm flipV="1">
                  <a:off x="7823200" y="1854199"/>
                  <a:ext cx="0" cy="387773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8" name="Content Placeholder 4">
                  <a:extLst>
                    <a:ext uri="{FF2B5EF4-FFF2-40B4-BE49-F238E27FC236}">
                      <a16:creationId xmlns:a16="http://schemas.microsoft.com/office/drawing/2014/main" id="{8C484E6F-0BD1-AB4E-9EFE-A40AC6ADE2A8}"/>
                    </a:ext>
                  </a:extLst>
                </p:cNvPr>
                <p:cNvSpPr txBox="1">
                  <a:spLocks/>
                </p:cNvSpPr>
                <p:nvPr/>
              </p:nvSpPr>
              <p:spPr>
                <a:xfrm>
                  <a:off x="7757715" y="5469457"/>
                  <a:ext cx="1414332" cy="355607"/>
                </a:xfrm>
                <a:prstGeom prst="rect">
                  <a:avLst/>
                </a:prstGeom>
                <a:ln>
                  <a:noFill/>
                </a:ln>
              </p:spPr>
              <p:txBody>
                <a:bodyPr vert="horz" lIns="91440" tIns="45720" rIns="91440" bIns="45720" rtlCol="0">
                  <a:normAutofit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600" b="1" i="1" dirty="0"/>
                    <a:t>Easy Problems</a:t>
                  </a:r>
                  <a:endParaRPr lang="en-US" sz="1600" i="1" dirty="0"/>
                </a:p>
              </p:txBody>
            </p:sp>
            <p:sp>
              <p:nvSpPr>
                <p:cNvPr id="19" name="Content Placeholder 4">
                  <a:extLst>
                    <a:ext uri="{FF2B5EF4-FFF2-40B4-BE49-F238E27FC236}">
                      <a16:creationId xmlns:a16="http://schemas.microsoft.com/office/drawing/2014/main" id="{B188799F-CD2B-4748-AD60-BDD68DE38128}"/>
                    </a:ext>
                  </a:extLst>
                </p:cNvPr>
                <p:cNvSpPr txBox="1">
                  <a:spLocks/>
                </p:cNvSpPr>
                <p:nvPr/>
              </p:nvSpPr>
              <p:spPr>
                <a:xfrm>
                  <a:off x="7823200" y="1761068"/>
                  <a:ext cx="1414332" cy="355607"/>
                </a:xfrm>
                <a:prstGeom prst="rect">
                  <a:avLst/>
                </a:prstGeom>
                <a:ln>
                  <a:noFill/>
                </a:ln>
              </p:spPr>
              <p:txBody>
                <a:bodyPr vert="horz" lIns="91440" tIns="45720" rIns="91440" bIns="45720" rtlCol="0">
                  <a:normAutofit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600" b="1" i="1" dirty="0"/>
                    <a:t>Hard Problems</a:t>
                  </a:r>
                  <a:endParaRPr lang="en-US" sz="1600" i="1" dirty="0"/>
                </a:p>
              </p:txBody>
            </p:sp>
          </p:grpSp>
          <p:sp>
            <p:nvSpPr>
              <p:cNvPr id="5" name="Arc 4">
                <a:extLst>
                  <a:ext uri="{FF2B5EF4-FFF2-40B4-BE49-F238E27FC236}">
                    <a16:creationId xmlns:a16="http://schemas.microsoft.com/office/drawing/2014/main" id="{44EC2B34-04B5-F843-91DE-FF6A65B7AE51}"/>
                  </a:ext>
                </a:extLst>
              </p:cNvPr>
              <p:cNvSpPr/>
              <p:nvPr/>
            </p:nvSpPr>
            <p:spPr>
              <a:xfrm>
                <a:off x="5791207" y="-4553901"/>
                <a:ext cx="3336261" cy="7263666"/>
              </a:xfrm>
              <a:prstGeom prst="arc">
                <a:avLst>
                  <a:gd name="adj1" fmla="val 334075"/>
                  <a:gd name="adj2" fmla="val 10164359"/>
                </a:avLst>
              </a:prstGeom>
              <a:solidFill>
                <a:schemeClr val="accent1"/>
              </a:solidFill>
              <a:ln>
                <a:solidFill>
                  <a:schemeClr val="bg1"/>
                </a:solidFill>
              </a:ln>
            </p:spPr>
            <p:style>
              <a:lnRef idx="1">
                <a:schemeClr val="accent1"/>
              </a:lnRef>
              <a:fillRef idx="0">
                <a:schemeClr val="accent1"/>
              </a:fillRef>
              <a:effectRef idx="0">
                <a:schemeClr val="accent1"/>
              </a:effectRef>
              <a:fontRef idx="minor">
                <a:schemeClr val="tx1"/>
              </a:fontRef>
            </p:style>
            <p:txBody>
              <a:bodyPr rtlCol="0" anchor="ctr"/>
              <a:lstStyle/>
              <a:p>
                <a:pPr algn="ctr"/>
                <a:r>
                  <a:rPr lang="en-US" sz="2400" dirty="0">
                    <a:solidFill>
                      <a:schemeClr val="bg1"/>
                    </a:solidFill>
                  </a:rPr>
                  <a:t>NP-Hard</a:t>
                </a:r>
              </a:p>
            </p:txBody>
          </p:sp>
        </p:grpSp>
        <p:sp>
          <p:nvSpPr>
            <p:cNvPr id="7" name="Oval 6">
              <a:extLst>
                <a:ext uri="{FF2B5EF4-FFF2-40B4-BE49-F238E27FC236}">
                  <a16:creationId xmlns:a16="http://schemas.microsoft.com/office/drawing/2014/main" id="{DF78F878-B9AB-894D-BB85-D7E5A5579F67}"/>
                </a:ext>
              </a:extLst>
            </p:cNvPr>
            <p:cNvSpPr/>
            <p:nvPr/>
          </p:nvSpPr>
          <p:spPr>
            <a:xfrm>
              <a:off x="7152238" y="2589227"/>
              <a:ext cx="624689" cy="120538"/>
            </a:xfrm>
            <a:prstGeom prst="ellipse">
              <a:avLst/>
            </a:prstGeom>
            <a:solidFill>
              <a:schemeClr val="accent3"/>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mc:AlternateContent xmlns:mc="http://schemas.openxmlformats.org/markup-compatibility/2006" xmlns:a14="http://schemas.microsoft.com/office/drawing/2010/main">
        <mc:Choice Requires="a14">
          <p:sp>
            <p:nvSpPr>
              <p:cNvPr id="21" name="Content Placeholder 4">
                <a:extLst>
                  <a:ext uri="{FF2B5EF4-FFF2-40B4-BE49-F238E27FC236}">
                    <a16:creationId xmlns:a16="http://schemas.microsoft.com/office/drawing/2014/main" id="{F52FCBCB-7180-2C4C-9A9D-CE6A6A75DE49}"/>
                  </a:ext>
                </a:extLst>
              </p:cNvPr>
              <p:cNvSpPr txBox="1">
                <a:spLocks/>
              </p:cNvSpPr>
              <p:nvPr/>
            </p:nvSpPr>
            <p:spPr>
              <a:xfrm>
                <a:off x="979637" y="2648395"/>
                <a:ext cx="5424226" cy="3585880"/>
              </a:xfrm>
              <a:prstGeom prst="rect">
                <a:avLst/>
              </a:prstGeom>
              <a:solidFill>
                <a:schemeClr val="tx1">
                  <a:lumMod val="95000"/>
                </a:schemeClr>
              </a:solidFill>
              <a:ln>
                <a:solidFill>
                  <a:schemeClr val="bg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i="1" dirty="0">
                    <a:solidFill>
                      <a:schemeClr val="bg1"/>
                    </a:solidFill>
                  </a:rPr>
                  <a:t>To prove a problem A is NP-Complete, show that:</a:t>
                </a:r>
              </a:p>
              <a:p>
                <a:pPr marL="342900" indent="-342900">
                  <a:buFont typeface="Arial" panose="020B0604020202020204" pitchFamily="34" charset="0"/>
                  <a:buAutoNum type="arabicPeriod"/>
                </a:pPr>
                <a14:m>
                  <m:oMath xmlns:m="http://schemas.openxmlformats.org/officeDocument/2006/math">
                    <m:r>
                      <a:rPr lang="en-US" sz="2000" b="0" i="1" smtClean="0">
                        <a:solidFill>
                          <a:schemeClr val="bg1"/>
                        </a:solidFill>
                        <a:latin typeface="Cambria Math" panose="02040503050406030204" pitchFamily="18" charset="0"/>
                      </a:rPr>
                      <m:t>𝐴</m:t>
                    </m:r>
                    <m:r>
                      <a:rPr lang="en-US" sz="2000" b="0" i="1" smtClean="0">
                        <a:solidFill>
                          <a:schemeClr val="bg1"/>
                        </a:solidFill>
                        <a:latin typeface="Cambria Math" panose="02040503050406030204" pitchFamily="18" charset="0"/>
                      </a:rPr>
                      <m:t>∈</m:t>
                    </m:r>
                    <m:r>
                      <a:rPr lang="en-US" sz="2000" b="0" i="1" smtClean="0">
                        <a:solidFill>
                          <a:schemeClr val="bg1"/>
                        </a:solidFill>
                        <a:latin typeface="Cambria Math" panose="02040503050406030204" pitchFamily="18" charset="0"/>
                      </a:rPr>
                      <m:t>𝑁𝑃</m:t>
                    </m:r>
                  </m:oMath>
                </a14:m>
                <a:endParaRPr lang="en-US" sz="2000" i="1" dirty="0">
                  <a:solidFill>
                    <a:schemeClr val="bg1"/>
                  </a:solidFill>
                </a:endParaRPr>
              </a:p>
              <a:p>
                <a:pPr marL="457200" lvl="1" indent="0">
                  <a:buNone/>
                </a:pPr>
                <a:r>
                  <a:rPr lang="en-US" sz="1600" i="1" dirty="0">
                    <a:solidFill>
                      <a:schemeClr val="bg1"/>
                    </a:solidFill>
                  </a:rPr>
                  <a:t>How? Either:</a:t>
                </a:r>
              </a:p>
              <a:p>
                <a:pPr marL="457200" lvl="1" indent="0">
                  <a:buNone/>
                </a:pPr>
                <a:r>
                  <a:rPr lang="en-US" sz="1600" i="1" dirty="0">
                    <a:solidFill>
                      <a:schemeClr val="bg1"/>
                    </a:solidFill>
                  </a:rPr>
                  <a:t>	Solve in Polynomial time with an NTM</a:t>
                </a:r>
                <a:br>
                  <a:rPr lang="en-US" sz="1600" i="1" dirty="0">
                    <a:solidFill>
                      <a:schemeClr val="bg1"/>
                    </a:solidFill>
                  </a:rPr>
                </a:br>
                <a:r>
                  <a:rPr lang="en-US" sz="1600" i="1" dirty="0">
                    <a:solidFill>
                      <a:schemeClr val="bg1"/>
                    </a:solidFill>
                  </a:rPr>
                  <a:t>	</a:t>
                </a:r>
                <a:r>
                  <a:rPr lang="en-US" sz="1600" b="1" i="1" dirty="0">
                    <a:solidFill>
                      <a:schemeClr val="bg1"/>
                    </a:solidFill>
                  </a:rPr>
                  <a:t>Verify in Polynomial time with a DTM</a:t>
                </a:r>
              </a:p>
              <a:p>
                <a:pPr marL="342900" indent="-342900">
                  <a:buFont typeface="Arial" panose="020B0604020202020204" pitchFamily="34" charset="0"/>
                  <a:buAutoNum type="arabicPeriod"/>
                </a:pPr>
                <a:r>
                  <a:rPr lang="en-US" sz="2000" i="1" dirty="0">
                    <a:solidFill>
                      <a:schemeClr val="bg1"/>
                    </a:solidFill>
                  </a:rPr>
                  <a:t>Is NP-Hard</a:t>
                </a:r>
              </a:p>
              <a:p>
                <a:pPr marL="457200" lvl="1" indent="0">
                  <a:buNone/>
                </a:pPr>
                <a:r>
                  <a:rPr lang="en-US" sz="1600" i="1" dirty="0">
                    <a:solidFill>
                      <a:schemeClr val="bg1"/>
                    </a:solidFill>
                  </a:rPr>
                  <a:t>How? Either:</a:t>
                </a:r>
              </a:p>
              <a:p>
                <a:pPr marL="457200" lvl="1" indent="0">
                  <a:buNone/>
                </a:pPr>
                <a:r>
                  <a:rPr lang="en-US" sz="1600" i="1" dirty="0">
                    <a:solidFill>
                      <a:schemeClr val="bg1"/>
                    </a:solidFill>
                  </a:rPr>
                  <a:t>	Show that </a:t>
                </a:r>
                <a14:m>
                  <m:oMath xmlns:m="http://schemas.openxmlformats.org/officeDocument/2006/math">
                    <m:sSub>
                      <m:sSubPr>
                        <m:ctrlPr>
                          <a:rPr lang="en-US" sz="1600" b="0" i="1" smtClean="0">
                            <a:solidFill>
                              <a:schemeClr val="bg1"/>
                            </a:solidFill>
                            <a:latin typeface="Cambria Math" panose="02040503050406030204" pitchFamily="18" charset="0"/>
                          </a:rPr>
                        </m:ctrlPr>
                      </m:sSubPr>
                      <m:e>
                        <m:r>
                          <a:rPr lang="en-US" sz="1600" b="0" i="1" smtClean="0">
                            <a:solidFill>
                              <a:schemeClr val="bg1"/>
                            </a:solidFill>
                            <a:latin typeface="Cambria Math" panose="02040503050406030204" pitchFamily="18" charset="0"/>
                          </a:rPr>
                          <m:t>∀</m:t>
                        </m:r>
                      </m:e>
                      <m:sub>
                        <m:r>
                          <a:rPr lang="en-US" sz="1600" b="0" i="1" smtClean="0">
                            <a:solidFill>
                              <a:schemeClr val="bg1"/>
                            </a:solidFill>
                            <a:latin typeface="Cambria Math" panose="02040503050406030204" pitchFamily="18" charset="0"/>
                          </a:rPr>
                          <m:t>𝐵</m:t>
                        </m:r>
                        <m:r>
                          <a:rPr lang="en-US" sz="1600" b="0" i="1" smtClean="0">
                            <a:solidFill>
                              <a:schemeClr val="bg1"/>
                            </a:solidFill>
                            <a:latin typeface="Cambria Math" panose="02040503050406030204" pitchFamily="18" charset="0"/>
                          </a:rPr>
                          <m:t>∈</m:t>
                        </m:r>
                        <m:r>
                          <a:rPr lang="en-US" sz="1600" b="0" i="1" smtClean="0">
                            <a:solidFill>
                              <a:schemeClr val="bg1"/>
                            </a:solidFill>
                            <a:latin typeface="Cambria Math" panose="02040503050406030204" pitchFamily="18" charset="0"/>
                          </a:rPr>
                          <m:t>𝑁𝑃</m:t>
                        </m:r>
                      </m:sub>
                    </m:sSub>
                    <m:r>
                      <a:rPr lang="en-US" sz="1600" b="0" i="1" smtClean="0">
                        <a:solidFill>
                          <a:schemeClr val="bg1"/>
                        </a:solidFill>
                        <a:latin typeface="Cambria Math" panose="02040503050406030204" pitchFamily="18" charset="0"/>
                      </a:rPr>
                      <m:t>𝐵</m:t>
                    </m:r>
                    <m:sSub>
                      <m:sSubPr>
                        <m:ctrlPr>
                          <a:rPr lang="en-US" sz="1600" b="0" i="1" smtClean="0">
                            <a:solidFill>
                              <a:schemeClr val="bg1"/>
                            </a:solidFill>
                            <a:latin typeface="Cambria Math" panose="02040503050406030204" pitchFamily="18" charset="0"/>
                          </a:rPr>
                        </m:ctrlPr>
                      </m:sSubPr>
                      <m:e>
                        <m:r>
                          <a:rPr lang="en-US" sz="1600" b="0" i="1" smtClean="0">
                            <a:solidFill>
                              <a:schemeClr val="bg1"/>
                            </a:solidFill>
                            <a:latin typeface="Cambria Math" panose="02040503050406030204" pitchFamily="18" charset="0"/>
                          </a:rPr>
                          <m:t>≤</m:t>
                        </m:r>
                      </m:e>
                      <m:sub>
                        <m:r>
                          <a:rPr lang="en-US" sz="1600" b="0" i="1" smtClean="0">
                            <a:solidFill>
                              <a:schemeClr val="bg1"/>
                            </a:solidFill>
                            <a:latin typeface="Cambria Math" panose="02040503050406030204" pitchFamily="18" charset="0"/>
                          </a:rPr>
                          <m:t>𝑝</m:t>
                        </m:r>
                      </m:sub>
                    </m:sSub>
                    <m:r>
                      <a:rPr lang="en-US" sz="1600" b="0" i="1" smtClean="0">
                        <a:solidFill>
                          <a:schemeClr val="bg1"/>
                        </a:solidFill>
                        <a:latin typeface="Cambria Math" panose="02040503050406030204" pitchFamily="18" charset="0"/>
                      </a:rPr>
                      <m:t>𝐴</m:t>
                    </m:r>
                  </m:oMath>
                </a14:m>
                <a:br>
                  <a:rPr lang="en-US" sz="1600" i="1" dirty="0">
                    <a:solidFill>
                      <a:schemeClr val="bg1"/>
                    </a:solidFill>
                  </a:rPr>
                </a:br>
                <a:r>
                  <a:rPr lang="en-US" sz="1600" i="1" dirty="0">
                    <a:solidFill>
                      <a:schemeClr val="bg1"/>
                    </a:solidFill>
                  </a:rPr>
                  <a:t>	</a:t>
                </a:r>
                <a:r>
                  <a:rPr lang="en-US" sz="1600" b="1" i="1" dirty="0">
                    <a:solidFill>
                      <a:schemeClr val="bg1"/>
                    </a:solidFill>
                  </a:rPr>
                  <a:t>Pick known NP-Complete problem B and show </a:t>
                </a:r>
                <a14:m>
                  <m:oMath xmlns:m="http://schemas.openxmlformats.org/officeDocument/2006/math">
                    <m:r>
                      <a:rPr lang="en-US" sz="1600" b="1" i="1" smtClean="0">
                        <a:solidFill>
                          <a:schemeClr val="bg1"/>
                        </a:solidFill>
                        <a:latin typeface="Cambria Math" panose="02040503050406030204" pitchFamily="18" charset="0"/>
                      </a:rPr>
                      <m:t>𝑩</m:t>
                    </m:r>
                    <m:sSub>
                      <m:sSubPr>
                        <m:ctrlPr>
                          <a:rPr lang="en-US" sz="1600" b="1" i="1" smtClean="0">
                            <a:solidFill>
                              <a:schemeClr val="bg1"/>
                            </a:solidFill>
                            <a:latin typeface="Cambria Math" panose="02040503050406030204" pitchFamily="18" charset="0"/>
                          </a:rPr>
                        </m:ctrlPr>
                      </m:sSubPr>
                      <m:e>
                        <m:r>
                          <a:rPr lang="en-US" sz="1600" b="1" i="1" smtClean="0">
                            <a:solidFill>
                              <a:schemeClr val="bg1"/>
                            </a:solidFill>
                            <a:latin typeface="Cambria Math" panose="02040503050406030204" pitchFamily="18" charset="0"/>
                          </a:rPr>
                          <m:t>≤</m:t>
                        </m:r>
                      </m:e>
                      <m:sub>
                        <m:r>
                          <a:rPr lang="en-US" sz="1600" b="1" i="1" smtClean="0">
                            <a:solidFill>
                              <a:schemeClr val="bg1"/>
                            </a:solidFill>
                            <a:latin typeface="Cambria Math" panose="02040503050406030204" pitchFamily="18" charset="0"/>
                          </a:rPr>
                          <m:t>𝒑</m:t>
                        </m:r>
                      </m:sub>
                    </m:sSub>
                    <m:r>
                      <a:rPr lang="en-US" sz="1600" b="1" i="1" smtClean="0">
                        <a:solidFill>
                          <a:schemeClr val="bg1"/>
                        </a:solidFill>
                        <a:latin typeface="Cambria Math" panose="02040503050406030204" pitchFamily="18" charset="0"/>
                      </a:rPr>
                      <m:t>𝑨</m:t>
                    </m:r>
                  </m:oMath>
                </a14:m>
                <a:endParaRPr lang="en-US" sz="1600" b="1" i="1" dirty="0">
                  <a:solidFill>
                    <a:schemeClr val="bg1"/>
                  </a:solidFill>
                </a:endParaRPr>
              </a:p>
            </p:txBody>
          </p:sp>
        </mc:Choice>
        <mc:Fallback xmlns="">
          <p:sp>
            <p:nvSpPr>
              <p:cNvPr id="21" name="Content Placeholder 4">
                <a:extLst>
                  <a:ext uri="{FF2B5EF4-FFF2-40B4-BE49-F238E27FC236}">
                    <a16:creationId xmlns:a16="http://schemas.microsoft.com/office/drawing/2014/main" id="{F52FCBCB-7180-2C4C-9A9D-CE6A6A75DE49}"/>
                  </a:ext>
                </a:extLst>
              </p:cNvPr>
              <p:cNvSpPr txBox="1">
                <a:spLocks noRot="1" noChangeAspect="1" noMove="1" noResize="1" noEditPoints="1" noAdjustHandles="1" noChangeArrowheads="1" noChangeShapeType="1" noTextEdit="1"/>
              </p:cNvSpPr>
              <p:nvPr/>
            </p:nvSpPr>
            <p:spPr>
              <a:xfrm>
                <a:off x="979637" y="2648395"/>
                <a:ext cx="5424226" cy="3585880"/>
              </a:xfrm>
              <a:prstGeom prst="rect">
                <a:avLst/>
              </a:prstGeom>
              <a:blipFill>
                <a:blip r:embed="rId2"/>
                <a:stretch>
                  <a:fillRect l="-1399"/>
                </a:stretch>
              </a:blipFill>
              <a:ln>
                <a:solidFill>
                  <a:schemeClr val="bg1"/>
                </a:solidFill>
              </a:ln>
            </p:spPr>
            <p:txBody>
              <a:bodyPr/>
              <a:lstStyle/>
              <a:p>
                <a:r>
                  <a:rPr lang="en-US">
                    <a:noFill/>
                  </a:rPr>
                  <a:t> </a:t>
                </a:r>
              </a:p>
            </p:txBody>
          </p:sp>
        </mc:Fallback>
      </mc:AlternateContent>
      <p:sp>
        <p:nvSpPr>
          <p:cNvPr id="22" name="Content Placeholder 4">
            <a:extLst>
              <a:ext uri="{FF2B5EF4-FFF2-40B4-BE49-F238E27FC236}">
                <a16:creationId xmlns:a16="http://schemas.microsoft.com/office/drawing/2014/main" id="{B8BCE67B-97DD-D340-958D-E99FCCFA56E1}"/>
              </a:ext>
            </a:extLst>
          </p:cNvPr>
          <p:cNvSpPr txBox="1">
            <a:spLocks/>
          </p:cNvSpPr>
          <p:nvPr/>
        </p:nvSpPr>
        <p:spPr>
          <a:xfrm>
            <a:off x="4516820" y="1316424"/>
            <a:ext cx="2345348" cy="850634"/>
          </a:xfrm>
          <a:prstGeom prst="rect">
            <a:avLst/>
          </a:prstGeom>
          <a:ln>
            <a:noFill/>
          </a:ln>
        </p:spPr>
        <p:txBody>
          <a:bodyPr vert="horz" lIns="91440" tIns="45720" rIns="91440" bIns="45720" rtlCol="0">
            <a:normAutofit fontScale="85000"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600" i="1" dirty="0"/>
              <a:t>But for second step, we need a known NP-Complete problem. What was the first one?</a:t>
            </a:r>
          </a:p>
        </p:txBody>
      </p:sp>
      <p:cxnSp>
        <p:nvCxnSpPr>
          <p:cNvPr id="23" name="Straight Connector 22">
            <a:extLst>
              <a:ext uri="{FF2B5EF4-FFF2-40B4-BE49-F238E27FC236}">
                <a16:creationId xmlns:a16="http://schemas.microsoft.com/office/drawing/2014/main" id="{147C092C-6AFB-D640-B94E-77752A9FB7B9}"/>
              </a:ext>
            </a:extLst>
          </p:cNvPr>
          <p:cNvCxnSpPr>
            <a:cxnSpLocks/>
          </p:cNvCxnSpPr>
          <p:nvPr/>
        </p:nvCxnSpPr>
        <p:spPr>
          <a:xfrm flipH="1">
            <a:off x="4020446" y="1954221"/>
            <a:ext cx="693443" cy="572523"/>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0116575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719C56-21DC-0A40-AA49-9AF4AF4C92DA}"/>
              </a:ext>
            </a:extLst>
          </p:cNvPr>
          <p:cNvSpPr>
            <a:spLocks noGrp="1"/>
          </p:cNvSpPr>
          <p:nvPr>
            <p:ph type="title"/>
          </p:nvPr>
        </p:nvSpPr>
        <p:spPr/>
        <p:txBody>
          <a:bodyPr/>
          <a:lstStyle/>
          <a:p>
            <a:pPr algn="ctr"/>
            <a:r>
              <a:rPr lang="en-US" dirty="0"/>
              <a:t>Cook-Levin Theorem</a:t>
            </a:r>
          </a:p>
        </p:txBody>
      </p:sp>
    </p:spTree>
    <p:extLst>
      <p:ext uri="{BB962C8B-B14F-4D97-AF65-F5344CB8AC3E}">
        <p14:creationId xmlns:p14="http://schemas.microsoft.com/office/powerpoint/2010/main" val="62326307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3" y="125537"/>
            <a:ext cx="9905998" cy="860425"/>
          </a:xfrm>
        </p:spPr>
        <p:txBody>
          <a:bodyPr/>
          <a:lstStyle/>
          <a:p>
            <a:pPr algn="ctr"/>
            <a:r>
              <a:rPr lang="en-US" dirty="0"/>
              <a:t>Cook-Levin Theorem</a:t>
            </a:r>
          </a:p>
        </p:txBody>
      </p:sp>
      <p:sp>
        <p:nvSpPr>
          <p:cNvPr id="3" name="Content Placeholder 2">
            <a:extLst>
              <a:ext uri="{FF2B5EF4-FFF2-40B4-BE49-F238E27FC236}">
                <a16:creationId xmlns:a16="http://schemas.microsoft.com/office/drawing/2014/main" id="{14278F5F-F936-6145-9FF8-704886F1A386}"/>
              </a:ext>
            </a:extLst>
          </p:cNvPr>
          <p:cNvSpPr>
            <a:spLocks noGrp="1"/>
          </p:cNvSpPr>
          <p:nvPr>
            <p:ph idx="1"/>
          </p:nvPr>
        </p:nvSpPr>
        <p:spPr>
          <a:xfrm>
            <a:off x="1141412" y="1474075"/>
            <a:ext cx="9905999" cy="742821"/>
          </a:xfrm>
          <a:solidFill>
            <a:schemeClr val="tx1">
              <a:lumMod val="95000"/>
            </a:schemeClr>
          </a:solidFill>
        </p:spPr>
        <p:txBody>
          <a:bodyPr/>
          <a:lstStyle/>
          <a:p>
            <a:pPr marL="0" indent="0" algn="ctr">
              <a:buNone/>
            </a:pPr>
            <a:r>
              <a:rPr lang="en-US" b="1" i="1" u="sng" dirty="0">
                <a:solidFill>
                  <a:schemeClr val="bg1"/>
                </a:solidFill>
              </a:rPr>
              <a:t>Cook-Levin Theorem</a:t>
            </a:r>
            <a:r>
              <a:rPr lang="en-US" dirty="0">
                <a:solidFill>
                  <a:schemeClr val="bg1"/>
                </a:solidFill>
              </a:rPr>
              <a:t>: The Satisfiability (SAT) problem is NP-Complete</a:t>
            </a:r>
          </a:p>
        </p:txBody>
      </p:sp>
      <p:sp>
        <p:nvSpPr>
          <p:cNvPr id="12" name="Content Placeholder 2">
            <a:extLst>
              <a:ext uri="{FF2B5EF4-FFF2-40B4-BE49-F238E27FC236}">
                <a16:creationId xmlns:a16="http://schemas.microsoft.com/office/drawing/2014/main" id="{0C1D73BF-42AC-884D-8672-B2AA1D5E4609}"/>
              </a:ext>
            </a:extLst>
          </p:cNvPr>
          <p:cNvSpPr txBox="1">
            <a:spLocks/>
          </p:cNvSpPr>
          <p:nvPr/>
        </p:nvSpPr>
        <p:spPr>
          <a:xfrm>
            <a:off x="2601309" y="3389586"/>
            <a:ext cx="2597223" cy="1615966"/>
          </a:xfrm>
          <a:prstGeom prst="rect">
            <a:avLst/>
          </a:prstGeom>
          <a:noFill/>
        </p:spPr>
        <p:txBody>
          <a:bodyPr vert="horz" lIns="91440" tIns="45720" rIns="91440" bIns="45720" rtlCol="0">
            <a:normAutofit fontScale="92500"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i="1" dirty="0">
                <a:solidFill>
                  <a:schemeClr val="tx1">
                    <a:lumMod val="95000"/>
                  </a:schemeClr>
                </a:solidFill>
              </a:rPr>
              <a:t>Incredibly famous theorem. Established the first known NP-Complete problem!</a:t>
            </a:r>
          </a:p>
        </p:txBody>
      </p:sp>
      <p:cxnSp>
        <p:nvCxnSpPr>
          <p:cNvPr id="14" name="Straight Connector 13">
            <a:extLst>
              <a:ext uri="{FF2B5EF4-FFF2-40B4-BE49-F238E27FC236}">
                <a16:creationId xmlns:a16="http://schemas.microsoft.com/office/drawing/2014/main" id="{0ADBD8E5-5916-254F-B8D4-827AE106A5D4}"/>
              </a:ext>
            </a:extLst>
          </p:cNvPr>
          <p:cNvCxnSpPr>
            <a:cxnSpLocks/>
          </p:cNvCxnSpPr>
          <p:nvPr/>
        </p:nvCxnSpPr>
        <p:spPr>
          <a:xfrm flipH="1">
            <a:off x="4311869" y="2358504"/>
            <a:ext cx="886664" cy="1031082"/>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
        <p:nvSpPr>
          <p:cNvPr id="7" name="Content Placeholder 2">
            <a:extLst>
              <a:ext uri="{FF2B5EF4-FFF2-40B4-BE49-F238E27FC236}">
                <a16:creationId xmlns:a16="http://schemas.microsoft.com/office/drawing/2014/main" id="{EE663AB3-581B-074C-ADB2-E40B3DDA7F2D}"/>
              </a:ext>
            </a:extLst>
          </p:cNvPr>
          <p:cNvSpPr txBox="1">
            <a:spLocks/>
          </p:cNvSpPr>
          <p:nvPr/>
        </p:nvSpPr>
        <p:spPr>
          <a:xfrm>
            <a:off x="7633136" y="4343401"/>
            <a:ext cx="3033400" cy="1933904"/>
          </a:xfrm>
          <a:prstGeom prst="rect">
            <a:avLst/>
          </a:prstGeom>
          <a:noFill/>
        </p:spPr>
        <p:txBody>
          <a:bodyPr vert="horz" lIns="91440" tIns="45720" rIns="91440" bIns="45720" rtlCol="0">
            <a:normAutofit fontScale="92500"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None/>
            </a:pPr>
            <a:r>
              <a:rPr lang="en-US" dirty="0"/>
              <a:t>Developed independently by Stephen Cook (US) and Leonid Levin (USSR) in 1971 &amp; 1973</a:t>
            </a:r>
          </a:p>
        </p:txBody>
      </p:sp>
      <p:cxnSp>
        <p:nvCxnSpPr>
          <p:cNvPr id="8" name="Straight Connector 7">
            <a:extLst>
              <a:ext uri="{FF2B5EF4-FFF2-40B4-BE49-F238E27FC236}">
                <a16:creationId xmlns:a16="http://schemas.microsoft.com/office/drawing/2014/main" id="{9CD4B60A-3E8B-F64D-81EE-69E66B365070}"/>
              </a:ext>
            </a:extLst>
          </p:cNvPr>
          <p:cNvCxnSpPr>
            <a:cxnSpLocks/>
          </p:cNvCxnSpPr>
          <p:nvPr/>
        </p:nvCxnSpPr>
        <p:spPr>
          <a:xfrm>
            <a:off x="7633136" y="2463214"/>
            <a:ext cx="943305" cy="1825007"/>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3164447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a:xfrm>
            <a:off x="1267537" y="184969"/>
            <a:ext cx="9905998" cy="705785"/>
          </a:xfrm>
        </p:spPr>
        <p:txBody>
          <a:bodyPr/>
          <a:lstStyle/>
          <a:p>
            <a:pPr algn="ctr"/>
            <a:r>
              <a:rPr lang="en-US" dirty="0"/>
              <a:t>Circuit Satisfiability (Circuit-SAT)</a:t>
            </a:r>
          </a:p>
        </p:txBody>
      </p:sp>
      <p:pic>
        <p:nvPicPr>
          <p:cNvPr id="9" name="Picture 24" descr="Picture1"/>
          <p:cNvPicPr>
            <a:picLocks noGrp="1" noChangeAspect="1" noChangeArrowheads="1"/>
          </p:cNvPicPr>
          <p:nvPr>
            <p:ph sz="quarter" idx="2"/>
          </p:nvPr>
        </p:nvPicPr>
        <p:blipFill>
          <a:blip r:embed="rId3" cstate="print"/>
          <a:srcRect/>
          <a:stretch>
            <a:fillRect/>
          </a:stretch>
        </p:blipFill>
        <p:spPr bwMode="auto">
          <a:xfrm>
            <a:off x="5366659" y="1551173"/>
            <a:ext cx="4718968" cy="4538311"/>
          </a:xfrm>
          <a:prstGeom prst="rect">
            <a:avLst/>
          </a:prstGeom>
          <a:noFill/>
        </p:spPr>
      </p:pic>
      <p:sp>
        <p:nvSpPr>
          <p:cNvPr id="8" name="Content Placeholder 2">
            <a:extLst>
              <a:ext uri="{FF2B5EF4-FFF2-40B4-BE49-F238E27FC236}">
                <a16:creationId xmlns:a16="http://schemas.microsoft.com/office/drawing/2014/main" id="{2286D9F1-8F9B-C248-9DC8-F174468D14B9}"/>
              </a:ext>
            </a:extLst>
          </p:cNvPr>
          <p:cNvSpPr txBox="1">
            <a:spLocks/>
          </p:cNvSpPr>
          <p:nvPr/>
        </p:nvSpPr>
        <p:spPr>
          <a:xfrm>
            <a:off x="943135" y="3614296"/>
            <a:ext cx="2971802" cy="2364828"/>
          </a:xfrm>
          <a:prstGeom prst="rect">
            <a:avLst/>
          </a:prstGeom>
          <a:noFill/>
        </p:spPr>
        <p:txBody>
          <a:bodyPr vert="horz" lIns="91440" tIns="45720" rIns="91440" bIns="45720" rtlCol="0">
            <a:normAutofit fontScale="92500"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i="1" dirty="0">
                <a:solidFill>
                  <a:schemeClr val="tx1">
                    <a:lumMod val="95000"/>
                  </a:schemeClr>
                </a:solidFill>
              </a:rPr>
              <a:t>Given a circuit with </a:t>
            </a:r>
            <a:r>
              <a:rPr lang="en-US" i="1" dirty="0" err="1">
                <a:solidFill>
                  <a:schemeClr val="tx1">
                    <a:lumMod val="95000"/>
                  </a:schemeClr>
                </a:solidFill>
              </a:rPr>
              <a:t>boolean</a:t>
            </a:r>
            <a:r>
              <a:rPr lang="en-US" i="1" dirty="0">
                <a:solidFill>
                  <a:schemeClr val="tx1">
                    <a:lumMod val="95000"/>
                  </a:schemeClr>
                </a:solidFill>
              </a:rPr>
              <a:t> inputs, AND, OR, and NOT gates…is it possible to assign values to the input such that the output is TRUE? </a:t>
            </a:r>
          </a:p>
        </p:txBody>
      </p:sp>
      <p:cxnSp>
        <p:nvCxnSpPr>
          <p:cNvPr id="10" name="Straight Connector 9">
            <a:extLst>
              <a:ext uri="{FF2B5EF4-FFF2-40B4-BE49-F238E27FC236}">
                <a16:creationId xmlns:a16="http://schemas.microsoft.com/office/drawing/2014/main" id="{81504375-5E04-9042-93AE-9CC4F36C12B4}"/>
              </a:ext>
            </a:extLst>
          </p:cNvPr>
          <p:cNvCxnSpPr>
            <a:cxnSpLocks/>
          </p:cNvCxnSpPr>
          <p:nvPr/>
        </p:nvCxnSpPr>
        <p:spPr>
          <a:xfrm flipH="1">
            <a:off x="3754134" y="2932386"/>
            <a:ext cx="1421831" cy="970169"/>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2709642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a:xfrm>
            <a:off x="1267537" y="184969"/>
            <a:ext cx="9905998" cy="705785"/>
          </a:xfrm>
        </p:spPr>
        <p:txBody>
          <a:bodyPr/>
          <a:lstStyle/>
          <a:p>
            <a:pPr algn="ctr"/>
            <a:r>
              <a:rPr lang="en-US" dirty="0"/>
              <a:t>Circuit Satisfiability (Circuit-SAT)</a:t>
            </a:r>
          </a:p>
        </p:txBody>
      </p:sp>
      <p:sp>
        <p:nvSpPr>
          <p:cNvPr id="4" name="Content Placeholder 3"/>
          <p:cNvSpPr>
            <a:spLocks noGrp="1"/>
          </p:cNvSpPr>
          <p:nvPr>
            <p:ph sz="quarter" idx="1"/>
          </p:nvPr>
        </p:nvSpPr>
        <p:spPr>
          <a:xfrm>
            <a:off x="2028650" y="2049471"/>
            <a:ext cx="2706312" cy="3541714"/>
          </a:xfrm>
        </p:spPr>
        <p:txBody>
          <a:bodyPr>
            <a:normAutofit fontScale="85000" lnSpcReduction="20000"/>
          </a:bodyPr>
          <a:lstStyle/>
          <a:p>
            <a:pPr marL="0" indent="0">
              <a:buNone/>
            </a:pPr>
            <a:r>
              <a:rPr lang="en-US" dirty="0"/>
              <a:t>Solutions:</a:t>
            </a:r>
          </a:p>
          <a:p>
            <a:pPr marL="457200" lvl="1" indent="0">
              <a:buNone/>
            </a:pPr>
            <a:r>
              <a:rPr lang="en-US" dirty="0"/>
              <a:t>1110111110011001</a:t>
            </a:r>
          </a:p>
          <a:p>
            <a:pPr marL="457200" lvl="1" indent="0">
              <a:buNone/>
            </a:pPr>
            <a:r>
              <a:rPr lang="en-US" dirty="0"/>
              <a:t>1010111111011001</a:t>
            </a:r>
          </a:p>
          <a:p>
            <a:pPr marL="457200" lvl="1" indent="0">
              <a:buNone/>
            </a:pPr>
            <a:r>
              <a:rPr lang="en-US" dirty="0"/>
              <a:t>0110111110111001</a:t>
            </a:r>
          </a:p>
          <a:p>
            <a:pPr marL="457200" lvl="1" indent="0">
              <a:buNone/>
            </a:pPr>
            <a:r>
              <a:rPr lang="en-US" dirty="0"/>
              <a:t>0110111110011001</a:t>
            </a:r>
          </a:p>
          <a:p>
            <a:pPr marL="457200" lvl="1" indent="0">
              <a:buNone/>
            </a:pPr>
            <a:r>
              <a:rPr lang="en-US" dirty="0"/>
              <a:t>1110111111011001</a:t>
            </a:r>
          </a:p>
          <a:p>
            <a:pPr marL="457200" lvl="1" indent="0">
              <a:buNone/>
            </a:pPr>
            <a:r>
              <a:rPr lang="en-US" dirty="0"/>
              <a:t>1010111110011001</a:t>
            </a:r>
          </a:p>
          <a:p>
            <a:pPr marL="457200" lvl="1" indent="0">
              <a:buNone/>
            </a:pPr>
            <a:r>
              <a:rPr lang="en-US" dirty="0"/>
              <a:t>1010111110111001</a:t>
            </a:r>
          </a:p>
          <a:p>
            <a:pPr marL="457200" lvl="1" indent="0">
              <a:buNone/>
            </a:pPr>
            <a:r>
              <a:rPr lang="en-US" dirty="0"/>
              <a:t>0110111111011001</a:t>
            </a:r>
          </a:p>
          <a:p>
            <a:pPr marL="457200" lvl="1" indent="0">
              <a:buNone/>
            </a:pPr>
            <a:r>
              <a:rPr lang="en-US" dirty="0"/>
              <a:t>1110111110111001</a:t>
            </a:r>
          </a:p>
          <a:p>
            <a:endParaRPr lang="en-US" dirty="0"/>
          </a:p>
        </p:txBody>
      </p:sp>
      <p:pic>
        <p:nvPicPr>
          <p:cNvPr id="8" name="Picture 24" descr="Picture1">
            <a:extLst>
              <a:ext uri="{FF2B5EF4-FFF2-40B4-BE49-F238E27FC236}">
                <a16:creationId xmlns:a16="http://schemas.microsoft.com/office/drawing/2014/main" id="{8AC67A27-3C86-804C-B10B-D99AA76E61BF}"/>
              </a:ext>
            </a:extLst>
          </p:cNvPr>
          <p:cNvPicPr>
            <a:picLocks noChangeAspect="1" noChangeArrowheads="1"/>
          </p:cNvPicPr>
          <p:nvPr/>
        </p:nvPicPr>
        <p:blipFill>
          <a:blip r:embed="rId3" cstate="print"/>
          <a:srcRect/>
          <a:stretch>
            <a:fillRect/>
          </a:stretch>
        </p:blipFill>
        <p:spPr bwMode="auto">
          <a:xfrm>
            <a:off x="5366659" y="1551173"/>
            <a:ext cx="4718968" cy="4538311"/>
          </a:xfrm>
          <a:prstGeom prst="rect">
            <a:avLst/>
          </a:prstGeom>
          <a:noFill/>
        </p:spPr>
      </p:pic>
    </p:spTree>
    <p:extLst>
      <p:ext uri="{BB962C8B-B14F-4D97-AF65-F5344CB8AC3E}">
        <p14:creationId xmlns:p14="http://schemas.microsoft.com/office/powerpoint/2010/main" val="272853846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a:xfrm>
            <a:off x="1267537" y="184969"/>
            <a:ext cx="9905998" cy="705785"/>
          </a:xfrm>
        </p:spPr>
        <p:txBody>
          <a:bodyPr/>
          <a:lstStyle/>
          <a:p>
            <a:pPr algn="ctr"/>
            <a:r>
              <a:rPr lang="en-US" dirty="0"/>
              <a:t>Circuit-Sat vs SAT</a:t>
            </a:r>
          </a:p>
        </p:txBody>
      </p:sp>
      <p:pic>
        <p:nvPicPr>
          <p:cNvPr id="8" name="Picture 24" descr="Picture1">
            <a:extLst>
              <a:ext uri="{FF2B5EF4-FFF2-40B4-BE49-F238E27FC236}">
                <a16:creationId xmlns:a16="http://schemas.microsoft.com/office/drawing/2014/main" id="{8AC67A27-3C86-804C-B10B-D99AA76E61BF}"/>
              </a:ext>
            </a:extLst>
          </p:cNvPr>
          <p:cNvPicPr>
            <a:picLocks noChangeAspect="1" noChangeArrowheads="1"/>
          </p:cNvPicPr>
          <p:nvPr/>
        </p:nvPicPr>
        <p:blipFill>
          <a:blip r:embed="rId3" cstate="print"/>
          <a:srcRect/>
          <a:stretch>
            <a:fillRect/>
          </a:stretch>
        </p:blipFill>
        <p:spPr bwMode="auto">
          <a:xfrm>
            <a:off x="1023259" y="1038793"/>
            <a:ext cx="4718968" cy="4538311"/>
          </a:xfrm>
          <a:prstGeom prst="rect">
            <a:avLst/>
          </a:prstGeom>
          <a:noFill/>
        </p:spPr>
      </p:pic>
      <p:sp>
        <p:nvSpPr>
          <p:cNvPr id="9" name="Content Placeholder 4">
            <a:extLst>
              <a:ext uri="{FF2B5EF4-FFF2-40B4-BE49-F238E27FC236}">
                <a16:creationId xmlns:a16="http://schemas.microsoft.com/office/drawing/2014/main" id="{42CE4033-F5A3-234B-B23C-75358EF1CF0F}"/>
              </a:ext>
            </a:extLst>
          </p:cNvPr>
          <p:cNvSpPr>
            <a:spLocks noGrp="1"/>
          </p:cNvSpPr>
          <p:nvPr>
            <p:ph sz="quarter" idx="1"/>
          </p:nvPr>
        </p:nvSpPr>
        <p:spPr>
          <a:xfrm>
            <a:off x="6227379" y="1038793"/>
            <a:ext cx="5411239" cy="4538311"/>
          </a:xfrm>
          <a:solidFill>
            <a:schemeClr val="tx1">
              <a:lumMod val="95000"/>
            </a:schemeClr>
          </a:solidFill>
        </p:spPr>
        <p:txBody>
          <a:bodyPr>
            <a:normAutofit fontScale="85000" lnSpcReduction="10000"/>
          </a:bodyPr>
          <a:lstStyle/>
          <a:p>
            <a:pPr marL="0" indent="0" algn="l">
              <a:buNone/>
            </a:pPr>
            <a:r>
              <a:rPr lang="en-US" sz="2600" b="1" dirty="0">
                <a:solidFill>
                  <a:schemeClr val="bg1"/>
                </a:solidFill>
                <a:latin typeface="Courier New" pitchFamily="49" charset="0"/>
              </a:rPr>
              <a:t>(v[0] || v[1]) &amp;&amp; (!v[1] || !v[3]) &amp;&amp; (v[2] || v[3]) &amp;&amp; (!v[3] || !v[4]) &amp;&amp; (v[4] || !v[5]) &amp;&amp; (v[5] || !v[6]) &amp;&amp; (v[5] || v[6]) &amp;&amp; (v[6] || !v[15]) &amp;&amp; (v[7] || !v[8]) &amp;&amp; (!v[7] || !v[13]) &amp;&amp; (v[8] || v[9]) &amp;&amp; (v[8] || !v[9]) &amp;&amp; (!v[9] || !v[10]) &amp;&amp; (v[9] || v[11]) &amp;&amp; (v[10] || v[11]) &amp;&amp; (v[12] || v[13]) &amp;&amp; (v[13] || !v[14]) &amp;&amp; (v[14] || v[15])</a:t>
            </a:r>
            <a:endParaRPr lang="en-US" sz="2600" dirty="0">
              <a:solidFill>
                <a:schemeClr val="bg1"/>
              </a:solidFill>
            </a:endParaRPr>
          </a:p>
        </p:txBody>
      </p:sp>
      <p:sp>
        <p:nvSpPr>
          <p:cNvPr id="10" name="Content Placeholder 2">
            <a:extLst>
              <a:ext uri="{FF2B5EF4-FFF2-40B4-BE49-F238E27FC236}">
                <a16:creationId xmlns:a16="http://schemas.microsoft.com/office/drawing/2014/main" id="{4F44A8C1-7B5E-5F4D-9D06-6C5523F75E94}"/>
              </a:ext>
            </a:extLst>
          </p:cNvPr>
          <p:cNvSpPr txBox="1">
            <a:spLocks/>
          </p:cNvSpPr>
          <p:nvPr/>
        </p:nvSpPr>
        <p:spPr>
          <a:xfrm>
            <a:off x="1615966" y="6156433"/>
            <a:ext cx="9041524" cy="575443"/>
          </a:xfrm>
          <a:prstGeom prst="rect">
            <a:avLst/>
          </a:prstGeom>
          <a:noFill/>
        </p:spPr>
        <p:txBody>
          <a:bodyPr vert="horz" lIns="91440" tIns="45720" rIns="91440" bIns="45720" rtlCol="0">
            <a:normAutofit fontScale="700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i="1" dirty="0">
                <a:solidFill>
                  <a:schemeClr val="tx1">
                    <a:lumMod val="95000"/>
                  </a:schemeClr>
                </a:solidFill>
              </a:rPr>
              <a:t>These are two variations of the exact same problem. We will stick with the right side (SAT) from now on</a:t>
            </a:r>
          </a:p>
        </p:txBody>
      </p:sp>
      <p:cxnSp>
        <p:nvCxnSpPr>
          <p:cNvPr id="11" name="Straight Connector 10">
            <a:extLst>
              <a:ext uri="{FF2B5EF4-FFF2-40B4-BE49-F238E27FC236}">
                <a16:creationId xmlns:a16="http://schemas.microsoft.com/office/drawing/2014/main" id="{C2562353-F683-FC48-9CAF-0154D79A9E32}"/>
              </a:ext>
            </a:extLst>
          </p:cNvPr>
          <p:cNvCxnSpPr>
            <a:cxnSpLocks/>
          </p:cNvCxnSpPr>
          <p:nvPr/>
        </p:nvCxnSpPr>
        <p:spPr>
          <a:xfrm flipH="1">
            <a:off x="6136729" y="5725143"/>
            <a:ext cx="949871" cy="431290"/>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6AE30D9A-EE56-7C4B-BE7C-94783A1EF3BC}"/>
              </a:ext>
            </a:extLst>
          </p:cNvPr>
          <p:cNvCxnSpPr>
            <a:cxnSpLocks/>
            <a:endCxn id="10" idx="0"/>
          </p:cNvCxnSpPr>
          <p:nvPr/>
        </p:nvCxnSpPr>
        <p:spPr>
          <a:xfrm>
            <a:off x="4674476" y="5725143"/>
            <a:ext cx="1462252" cy="431290"/>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33441095"/>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719C56-21DC-0A40-AA49-9AF4AF4C92DA}"/>
              </a:ext>
            </a:extLst>
          </p:cNvPr>
          <p:cNvSpPr>
            <a:spLocks noGrp="1"/>
          </p:cNvSpPr>
          <p:nvPr>
            <p:ph type="title"/>
          </p:nvPr>
        </p:nvSpPr>
        <p:spPr/>
        <p:txBody>
          <a:bodyPr/>
          <a:lstStyle/>
          <a:p>
            <a:pPr algn="ctr"/>
            <a:r>
              <a:rPr lang="en-US" dirty="0"/>
              <a:t>Proof of the Cook-Levin Theorem</a:t>
            </a:r>
          </a:p>
        </p:txBody>
      </p:sp>
    </p:spTree>
    <p:extLst>
      <p:ext uri="{BB962C8B-B14F-4D97-AF65-F5344CB8AC3E}">
        <p14:creationId xmlns:p14="http://schemas.microsoft.com/office/powerpoint/2010/main" val="3912422345"/>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p:cNvSpPr>
                <a:spLocks noGrp="1"/>
              </p:cNvSpPr>
              <p:nvPr>
                <p:ph type="title"/>
              </p:nvPr>
            </p:nvSpPr>
            <p:spPr>
              <a:xfrm>
                <a:off x="1141413" y="326848"/>
                <a:ext cx="9905998" cy="603310"/>
              </a:xfrm>
            </p:spPr>
            <p:txBody>
              <a:bodyPr/>
              <a:lstStyle/>
              <a:p>
                <a:pPr algn="ctr"/>
                <a14:m>
                  <m:oMathPara xmlns:m="http://schemas.openxmlformats.org/officeDocument/2006/math">
                    <m:oMathParaPr>
                      <m:jc m:val="centerGroup"/>
                    </m:oMathParaPr>
                    <m:oMath xmlns:m="http://schemas.openxmlformats.org/officeDocument/2006/math">
                      <m:r>
                        <a:rPr lang="en-US" b="0" i="1" dirty="0" smtClean="0">
                          <a:latin typeface="Cambria Math" panose="02040503050406030204" pitchFamily="18" charset="0"/>
                        </a:rPr>
                        <m:t>𝑆𝐴𝑇</m:t>
                      </m:r>
                      <m:r>
                        <a:rPr lang="en-US" b="0" i="1" dirty="0" smtClean="0">
                          <a:latin typeface="Cambria Math" panose="02040503050406030204" pitchFamily="18" charset="0"/>
                        </a:rPr>
                        <m:t>∈</m:t>
                      </m:r>
                      <m:r>
                        <a:rPr lang="en-US" b="0" i="1" dirty="0" smtClean="0">
                          <a:latin typeface="Cambria Math" panose="02040503050406030204" pitchFamily="18" charset="0"/>
                        </a:rPr>
                        <m:t>𝑁𝑃𝐶</m:t>
                      </m:r>
                    </m:oMath>
                  </m:oMathPara>
                </a14:m>
                <a:endParaRPr lang="en-US" dirty="0"/>
              </a:p>
            </p:txBody>
          </p:sp>
        </mc:Choice>
        <mc:Fallback xmlns="">
          <p:sp>
            <p:nvSpPr>
              <p:cNvPr id="2" name="Title 1"/>
              <p:cNvSpPr>
                <a:spLocks noGrp="1" noRot="1" noChangeAspect="1" noMove="1" noResize="1" noEditPoints="1" noAdjustHandles="1" noChangeArrowheads="1" noChangeShapeType="1" noTextEdit="1"/>
              </p:cNvSpPr>
              <p:nvPr>
                <p:ph type="title"/>
              </p:nvPr>
            </p:nvSpPr>
            <p:spPr>
              <a:xfrm>
                <a:off x="1141413" y="326848"/>
                <a:ext cx="9905998" cy="603310"/>
              </a:xfr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Content Placeholder 2"/>
              <p:cNvSpPr>
                <a:spLocks noGrp="1"/>
              </p:cNvSpPr>
              <p:nvPr>
                <p:ph sz="quarter" idx="1"/>
              </p:nvPr>
            </p:nvSpPr>
            <p:spPr>
              <a:xfrm>
                <a:off x="1070468" y="1744991"/>
                <a:ext cx="9905999" cy="477948"/>
              </a:xfrm>
            </p:spPr>
            <p:txBody>
              <a:bodyPr>
                <a:normAutofit/>
              </a:bodyPr>
              <a:lstStyle/>
              <a:p>
                <a:pPr marL="0" indent="0">
                  <a:buNone/>
                </a:pPr>
                <a:r>
                  <a:rPr lang="en-US" sz="1800" dirty="0"/>
                  <a:t>To show that </a:t>
                </a:r>
                <a14:m>
                  <m:oMath xmlns:m="http://schemas.openxmlformats.org/officeDocument/2006/math">
                    <m:r>
                      <a:rPr lang="en-US" sz="1800" b="0" i="1" smtClean="0">
                        <a:latin typeface="Cambria Math" panose="02040503050406030204" pitchFamily="18" charset="0"/>
                      </a:rPr>
                      <m:t>𝑆𝐴𝑇</m:t>
                    </m:r>
                    <m:r>
                      <a:rPr lang="en-US" sz="1800" b="0" i="1" smtClean="0">
                        <a:latin typeface="Cambria Math" panose="02040503050406030204" pitchFamily="18" charset="0"/>
                      </a:rPr>
                      <m:t>∈</m:t>
                    </m:r>
                    <m:r>
                      <a:rPr lang="en-US" sz="1800" b="0" i="1" smtClean="0">
                        <a:latin typeface="Cambria Math" panose="02040503050406030204" pitchFamily="18" charset="0"/>
                      </a:rPr>
                      <m:t>𝑁𝑃𝐶</m:t>
                    </m:r>
                  </m:oMath>
                </a14:m>
                <a:r>
                  <a:rPr lang="en-US" sz="1800" dirty="0"/>
                  <a:t>, we must show both that:</a:t>
                </a:r>
              </a:p>
            </p:txBody>
          </p:sp>
        </mc:Choice>
        <mc:Fallback xmlns="">
          <p:sp>
            <p:nvSpPr>
              <p:cNvPr id="3" name="Content Placeholder 2"/>
              <p:cNvSpPr>
                <a:spLocks noGrp="1" noRot="1" noChangeAspect="1" noMove="1" noResize="1" noEditPoints="1" noAdjustHandles="1" noChangeArrowheads="1" noChangeShapeType="1" noTextEdit="1"/>
              </p:cNvSpPr>
              <p:nvPr>
                <p:ph sz="quarter" idx="1"/>
              </p:nvPr>
            </p:nvSpPr>
            <p:spPr>
              <a:xfrm>
                <a:off x="1070468" y="1744991"/>
                <a:ext cx="9905999" cy="477948"/>
              </a:xfrm>
              <a:blipFill>
                <a:blip r:embed="rId3"/>
                <a:stretch>
                  <a:fillRect l="-513" b="-256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Content Placeholder 2">
                <a:extLst>
                  <a:ext uri="{FF2B5EF4-FFF2-40B4-BE49-F238E27FC236}">
                    <a16:creationId xmlns:a16="http://schemas.microsoft.com/office/drawing/2014/main" id="{12063473-8A28-4A47-9CBA-0765249DEEC2}"/>
                  </a:ext>
                </a:extLst>
              </p:cNvPr>
              <p:cNvSpPr txBox="1">
                <a:spLocks/>
              </p:cNvSpPr>
              <p:nvPr/>
            </p:nvSpPr>
            <p:spPr>
              <a:xfrm>
                <a:off x="1141413" y="2177887"/>
                <a:ext cx="4423817" cy="1779735"/>
              </a:xfrm>
              <a:prstGeom prst="rect">
                <a:avLst/>
              </a:prstGeom>
              <a:solidFill>
                <a:schemeClr val="tx1">
                  <a:lumMod val="95000"/>
                </a:schemeClr>
              </a:solid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14:m>
                  <m:oMathPara xmlns:m="http://schemas.openxmlformats.org/officeDocument/2006/math">
                    <m:oMathParaPr>
                      <m:jc m:val="center"/>
                    </m:oMathParaPr>
                    <m:oMath xmlns:m="http://schemas.openxmlformats.org/officeDocument/2006/math">
                      <m:r>
                        <a:rPr lang="en-US" sz="1800" b="0" i="1" smtClean="0">
                          <a:solidFill>
                            <a:schemeClr val="bg1"/>
                          </a:solidFill>
                          <a:latin typeface="Cambria Math" panose="02040503050406030204" pitchFamily="18" charset="0"/>
                        </a:rPr>
                        <m:t>𝑆𝐴𝑇</m:t>
                      </m:r>
                      <m:r>
                        <a:rPr lang="en-US" sz="1800" b="0" i="1" smtClean="0">
                          <a:solidFill>
                            <a:schemeClr val="bg1"/>
                          </a:solidFill>
                          <a:latin typeface="Cambria Math" panose="02040503050406030204" pitchFamily="18" charset="0"/>
                        </a:rPr>
                        <m:t>∈</m:t>
                      </m:r>
                      <m:r>
                        <a:rPr lang="en-US" sz="1800" b="0" i="1" smtClean="0">
                          <a:solidFill>
                            <a:schemeClr val="bg1"/>
                          </a:solidFill>
                          <a:latin typeface="Cambria Math" panose="02040503050406030204" pitchFamily="18" charset="0"/>
                        </a:rPr>
                        <m:t>𝑁𝑃</m:t>
                      </m:r>
                    </m:oMath>
                  </m:oMathPara>
                </a14:m>
                <a:endParaRPr lang="en-US" sz="1800" dirty="0">
                  <a:solidFill>
                    <a:schemeClr val="bg1"/>
                  </a:solidFill>
                </a:endParaRPr>
              </a:p>
              <a:p>
                <a:pPr marL="0" indent="0" algn="ctr">
                  <a:buFont typeface="Arial" panose="020B0604020202020204" pitchFamily="34" charset="0"/>
                  <a:buNone/>
                </a:pPr>
                <a:endParaRPr lang="en-US" sz="1800" dirty="0">
                  <a:solidFill>
                    <a:schemeClr val="bg1"/>
                  </a:solidFill>
                </a:endParaRPr>
              </a:p>
              <a:p>
                <a:pPr marL="0" indent="0" algn="ctr">
                  <a:buFont typeface="Arial" panose="020B0604020202020204" pitchFamily="34" charset="0"/>
                  <a:buNone/>
                </a:pPr>
                <a:r>
                  <a:rPr lang="en-US" sz="1800" dirty="0">
                    <a:solidFill>
                      <a:schemeClr val="bg1"/>
                    </a:solidFill>
                  </a:rPr>
                  <a:t>Provide a verifier TM that runs in Polynomial Time</a:t>
                </a:r>
              </a:p>
            </p:txBody>
          </p:sp>
        </mc:Choice>
        <mc:Fallback xmlns="">
          <p:sp>
            <p:nvSpPr>
              <p:cNvPr id="5" name="Content Placeholder 2">
                <a:extLst>
                  <a:ext uri="{FF2B5EF4-FFF2-40B4-BE49-F238E27FC236}">
                    <a16:creationId xmlns:a16="http://schemas.microsoft.com/office/drawing/2014/main" id="{12063473-8A28-4A47-9CBA-0765249DEEC2}"/>
                  </a:ext>
                </a:extLst>
              </p:cNvPr>
              <p:cNvSpPr txBox="1">
                <a:spLocks noRot="1" noChangeAspect="1" noMove="1" noResize="1" noEditPoints="1" noAdjustHandles="1" noChangeArrowheads="1" noChangeShapeType="1" noTextEdit="1"/>
              </p:cNvSpPr>
              <p:nvPr/>
            </p:nvSpPr>
            <p:spPr>
              <a:xfrm>
                <a:off x="1141413" y="2177887"/>
                <a:ext cx="4423817" cy="1779735"/>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Content Placeholder 2">
                <a:extLst>
                  <a:ext uri="{FF2B5EF4-FFF2-40B4-BE49-F238E27FC236}">
                    <a16:creationId xmlns:a16="http://schemas.microsoft.com/office/drawing/2014/main" id="{347E063C-4014-2747-B5DF-2F3FAAFF4FDD}"/>
                  </a:ext>
                </a:extLst>
              </p:cNvPr>
              <p:cNvSpPr txBox="1">
                <a:spLocks/>
              </p:cNvSpPr>
              <p:nvPr/>
            </p:nvSpPr>
            <p:spPr>
              <a:xfrm>
                <a:off x="6238048" y="2177886"/>
                <a:ext cx="4423817" cy="1779735"/>
              </a:xfrm>
              <a:prstGeom prst="rect">
                <a:avLst/>
              </a:prstGeom>
              <a:solidFill>
                <a:schemeClr val="tx1">
                  <a:lumMod val="95000"/>
                </a:schemeClr>
              </a:solid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14:m>
                  <m:oMathPara xmlns:m="http://schemas.openxmlformats.org/officeDocument/2006/math">
                    <m:oMathParaPr>
                      <m:jc m:val="center"/>
                    </m:oMathParaPr>
                    <m:oMath xmlns:m="http://schemas.openxmlformats.org/officeDocument/2006/math">
                      <m:r>
                        <a:rPr lang="en-US" sz="1800" b="0" i="1" smtClean="0">
                          <a:solidFill>
                            <a:schemeClr val="bg1"/>
                          </a:solidFill>
                          <a:latin typeface="Cambria Math" panose="02040503050406030204" pitchFamily="18" charset="0"/>
                        </a:rPr>
                        <m:t>𝑆𝐴𝑇</m:t>
                      </m:r>
                      <m:r>
                        <a:rPr lang="en-US" sz="1800" b="0" i="1" smtClean="0">
                          <a:solidFill>
                            <a:schemeClr val="bg1"/>
                          </a:solidFill>
                          <a:latin typeface="Cambria Math" panose="02040503050406030204" pitchFamily="18" charset="0"/>
                        </a:rPr>
                        <m:t>∈</m:t>
                      </m:r>
                      <m:r>
                        <a:rPr lang="en-US" sz="1800" b="0" i="1" smtClean="0">
                          <a:solidFill>
                            <a:schemeClr val="bg1"/>
                          </a:solidFill>
                          <a:latin typeface="Cambria Math" panose="02040503050406030204" pitchFamily="18" charset="0"/>
                        </a:rPr>
                        <m:t>𝑁𝑃</m:t>
                      </m:r>
                      <m:r>
                        <a:rPr lang="en-US" sz="1800" b="0" i="1" smtClean="0">
                          <a:solidFill>
                            <a:schemeClr val="bg1"/>
                          </a:solidFill>
                          <a:latin typeface="Cambria Math" panose="02040503050406030204" pitchFamily="18" charset="0"/>
                        </a:rPr>
                        <m:t>−</m:t>
                      </m:r>
                      <m:r>
                        <a:rPr lang="en-US" sz="1800" b="0" i="1" smtClean="0">
                          <a:solidFill>
                            <a:schemeClr val="bg1"/>
                          </a:solidFill>
                          <a:latin typeface="Cambria Math" panose="02040503050406030204" pitchFamily="18" charset="0"/>
                        </a:rPr>
                        <m:t>𝐻𝐴𝑅𝐷</m:t>
                      </m:r>
                    </m:oMath>
                  </m:oMathPara>
                </a14:m>
                <a:endParaRPr lang="en-US" sz="1800" dirty="0">
                  <a:solidFill>
                    <a:schemeClr val="bg1"/>
                  </a:solidFill>
                </a:endParaRPr>
              </a:p>
              <a:p>
                <a:pPr marL="0" indent="0" algn="ctr">
                  <a:buFont typeface="Arial" panose="020B0604020202020204" pitchFamily="34" charset="0"/>
                  <a:buNone/>
                </a:pPr>
                <a:endParaRPr lang="en-US" sz="1800" dirty="0">
                  <a:solidFill>
                    <a:schemeClr val="bg1"/>
                  </a:solidFill>
                </a:endParaRPr>
              </a:p>
              <a:p>
                <a:pPr marL="0" indent="0" algn="ctr">
                  <a:buFont typeface="Arial" panose="020B0604020202020204" pitchFamily="34" charset="0"/>
                  <a:buNone/>
                </a:pPr>
                <a:r>
                  <a:rPr lang="en-US" sz="1800" dirty="0">
                    <a:solidFill>
                      <a:schemeClr val="bg1"/>
                    </a:solidFill>
                  </a:rPr>
                  <a:t>Show that </a:t>
                </a:r>
                <a14:m>
                  <m:oMath xmlns:m="http://schemas.openxmlformats.org/officeDocument/2006/math">
                    <m:sSub>
                      <m:sSubPr>
                        <m:ctrlPr>
                          <a:rPr lang="en-US" sz="1800" b="0" i="1" smtClean="0">
                            <a:solidFill>
                              <a:schemeClr val="bg1"/>
                            </a:solidFill>
                            <a:latin typeface="Cambria Math" panose="02040503050406030204" pitchFamily="18" charset="0"/>
                          </a:rPr>
                        </m:ctrlPr>
                      </m:sSubPr>
                      <m:e>
                        <m:r>
                          <a:rPr lang="en-US" sz="1800" b="0" i="1" smtClean="0">
                            <a:solidFill>
                              <a:schemeClr val="bg1"/>
                            </a:solidFill>
                            <a:latin typeface="Cambria Math" panose="02040503050406030204" pitchFamily="18" charset="0"/>
                          </a:rPr>
                          <m:t>∃</m:t>
                        </m:r>
                      </m:e>
                      <m:sub>
                        <m:r>
                          <a:rPr lang="en-US" sz="1800" b="0" i="1" smtClean="0">
                            <a:solidFill>
                              <a:schemeClr val="bg1"/>
                            </a:solidFill>
                            <a:latin typeface="Cambria Math" panose="02040503050406030204" pitchFamily="18" charset="0"/>
                          </a:rPr>
                          <m:t>𝑥</m:t>
                        </m:r>
                        <m:r>
                          <a:rPr lang="en-US" sz="1800" b="0" i="1" smtClean="0">
                            <a:solidFill>
                              <a:schemeClr val="bg1"/>
                            </a:solidFill>
                            <a:latin typeface="Cambria Math" panose="02040503050406030204" pitchFamily="18" charset="0"/>
                          </a:rPr>
                          <m:t>∈</m:t>
                        </m:r>
                        <m:r>
                          <a:rPr lang="en-US" sz="1800" b="0" i="1" smtClean="0">
                            <a:solidFill>
                              <a:schemeClr val="bg1"/>
                            </a:solidFill>
                            <a:latin typeface="Cambria Math" panose="02040503050406030204" pitchFamily="18" charset="0"/>
                          </a:rPr>
                          <m:t>𝑁𝑃𝐶</m:t>
                        </m:r>
                      </m:sub>
                    </m:sSub>
                    <m:r>
                      <a:rPr lang="en-US" sz="1800" b="0" i="1" smtClean="0">
                        <a:solidFill>
                          <a:schemeClr val="bg1"/>
                        </a:solidFill>
                        <a:latin typeface="Cambria Math" panose="02040503050406030204" pitchFamily="18" charset="0"/>
                      </a:rPr>
                      <m:t>𝑥</m:t>
                    </m:r>
                    <m:sSub>
                      <m:sSubPr>
                        <m:ctrlPr>
                          <a:rPr lang="en-US" sz="1800" b="0" i="1" smtClean="0">
                            <a:solidFill>
                              <a:schemeClr val="bg1"/>
                            </a:solidFill>
                            <a:latin typeface="Cambria Math" panose="02040503050406030204" pitchFamily="18" charset="0"/>
                          </a:rPr>
                        </m:ctrlPr>
                      </m:sSubPr>
                      <m:e>
                        <m:r>
                          <a:rPr lang="en-US" sz="1800" b="0" i="1" smtClean="0">
                            <a:solidFill>
                              <a:schemeClr val="bg1"/>
                            </a:solidFill>
                            <a:latin typeface="Cambria Math" panose="02040503050406030204" pitchFamily="18" charset="0"/>
                          </a:rPr>
                          <m:t>≤</m:t>
                        </m:r>
                      </m:e>
                      <m:sub>
                        <m:r>
                          <a:rPr lang="en-US" sz="1800" b="0" i="1" smtClean="0">
                            <a:solidFill>
                              <a:schemeClr val="bg1"/>
                            </a:solidFill>
                            <a:latin typeface="Cambria Math" panose="02040503050406030204" pitchFamily="18" charset="0"/>
                          </a:rPr>
                          <m:t>𝑝</m:t>
                        </m:r>
                      </m:sub>
                    </m:sSub>
                    <m:r>
                      <a:rPr lang="en-US" sz="1800" b="0" i="1" smtClean="0">
                        <a:solidFill>
                          <a:schemeClr val="bg1"/>
                        </a:solidFill>
                        <a:latin typeface="Cambria Math" panose="02040503050406030204" pitchFamily="18" charset="0"/>
                      </a:rPr>
                      <m:t>𝑆𝐴𝑇</m:t>
                    </m:r>
                  </m:oMath>
                </a14:m>
                <a:br>
                  <a:rPr lang="en-US" sz="1800" dirty="0">
                    <a:solidFill>
                      <a:schemeClr val="bg1"/>
                    </a:solidFill>
                  </a:rPr>
                </a:br>
                <a:r>
                  <a:rPr lang="en-US" sz="1800" dirty="0">
                    <a:solidFill>
                      <a:schemeClr val="bg1"/>
                    </a:solidFill>
                  </a:rPr>
                  <a:t>OR </a:t>
                </a:r>
                <a14:m>
                  <m:oMath xmlns:m="http://schemas.openxmlformats.org/officeDocument/2006/math">
                    <m:sSub>
                      <m:sSubPr>
                        <m:ctrlPr>
                          <a:rPr lang="en-US" sz="1800" b="1" i="1" smtClean="0">
                            <a:solidFill>
                              <a:schemeClr val="bg1"/>
                            </a:solidFill>
                            <a:latin typeface="Cambria Math" panose="02040503050406030204" pitchFamily="18" charset="0"/>
                          </a:rPr>
                        </m:ctrlPr>
                      </m:sSubPr>
                      <m:e>
                        <m:r>
                          <a:rPr lang="en-US" sz="1800" b="1" i="1" smtClean="0">
                            <a:solidFill>
                              <a:schemeClr val="bg1"/>
                            </a:solidFill>
                            <a:latin typeface="Cambria Math" panose="02040503050406030204" pitchFamily="18" charset="0"/>
                          </a:rPr>
                          <m:t>∀</m:t>
                        </m:r>
                      </m:e>
                      <m:sub>
                        <m:r>
                          <a:rPr lang="en-US" sz="1800" b="1" i="1" smtClean="0">
                            <a:solidFill>
                              <a:schemeClr val="bg1"/>
                            </a:solidFill>
                            <a:latin typeface="Cambria Math" panose="02040503050406030204" pitchFamily="18" charset="0"/>
                          </a:rPr>
                          <m:t>𝒙</m:t>
                        </m:r>
                        <m:r>
                          <a:rPr lang="en-US" sz="1800" b="1" i="1" smtClean="0">
                            <a:solidFill>
                              <a:schemeClr val="bg1"/>
                            </a:solidFill>
                            <a:latin typeface="Cambria Math" panose="02040503050406030204" pitchFamily="18" charset="0"/>
                          </a:rPr>
                          <m:t>∈</m:t>
                        </m:r>
                        <m:r>
                          <a:rPr lang="en-US" sz="1800" b="1" i="1" smtClean="0">
                            <a:solidFill>
                              <a:schemeClr val="bg1"/>
                            </a:solidFill>
                            <a:latin typeface="Cambria Math" panose="02040503050406030204" pitchFamily="18" charset="0"/>
                          </a:rPr>
                          <m:t>𝑵𝑷</m:t>
                        </m:r>
                      </m:sub>
                    </m:sSub>
                    <m:r>
                      <a:rPr lang="en-US" sz="1800" b="1" i="1" smtClean="0">
                        <a:solidFill>
                          <a:schemeClr val="bg1"/>
                        </a:solidFill>
                        <a:latin typeface="Cambria Math" panose="02040503050406030204" pitchFamily="18" charset="0"/>
                      </a:rPr>
                      <m:t>𝒙</m:t>
                    </m:r>
                    <m:sSub>
                      <m:sSubPr>
                        <m:ctrlPr>
                          <a:rPr lang="en-US" sz="1800" b="1" i="1" smtClean="0">
                            <a:solidFill>
                              <a:schemeClr val="bg1"/>
                            </a:solidFill>
                            <a:latin typeface="Cambria Math" panose="02040503050406030204" pitchFamily="18" charset="0"/>
                          </a:rPr>
                        </m:ctrlPr>
                      </m:sSubPr>
                      <m:e>
                        <m:r>
                          <a:rPr lang="en-US" sz="1800" b="1" i="1" smtClean="0">
                            <a:solidFill>
                              <a:schemeClr val="bg1"/>
                            </a:solidFill>
                            <a:latin typeface="Cambria Math" panose="02040503050406030204" pitchFamily="18" charset="0"/>
                          </a:rPr>
                          <m:t>≤</m:t>
                        </m:r>
                      </m:e>
                      <m:sub>
                        <m:r>
                          <a:rPr lang="en-US" sz="1800" b="1" i="1" smtClean="0">
                            <a:solidFill>
                              <a:schemeClr val="bg1"/>
                            </a:solidFill>
                            <a:latin typeface="Cambria Math" panose="02040503050406030204" pitchFamily="18" charset="0"/>
                          </a:rPr>
                          <m:t>𝒑</m:t>
                        </m:r>
                      </m:sub>
                    </m:sSub>
                    <m:r>
                      <a:rPr lang="en-US" sz="1800" b="1" i="1" smtClean="0">
                        <a:solidFill>
                          <a:schemeClr val="bg1"/>
                        </a:solidFill>
                        <a:latin typeface="Cambria Math" panose="02040503050406030204" pitchFamily="18" charset="0"/>
                      </a:rPr>
                      <m:t>𝑺𝑨𝑻</m:t>
                    </m:r>
                  </m:oMath>
                </a14:m>
                <a:endParaRPr lang="en-US" sz="1800" b="1" dirty="0">
                  <a:solidFill>
                    <a:schemeClr val="bg1"/>
                  </a:solidFill>
                </a:endParaRPr>
              </a:p>
            </p:txBody>
          </p:sp>
        </mc:Choice>
        <mc:Fallback xmlns="">
          <p:sp>
            <p:nvSpPr>
              <p:cNvPr id="6" name="Content Placeholder 2">
                <a:extLst>
                  <a:ext uri="{FF2B5EF4-FFF2-40B4-BE49-F238E27FC236}">
                    <a16:creationId xmlns:a16="http://schemas.microsoft.com/office/drawing/2014/main" id="{347E063C-4014-2747-B5DF-2F3FAAFF4FDD}"/>
                  </a:ext>
                </a:extLst>
              </p:cNvPr>
              <p:cNvSpPr txBox="1">
                <a:spLocks noRot="1" noChangeAspect="1" noMove="1" noResize="1" noEditPoints="1" noAdjustHandles="1" noChangeArrowheads="1" noChangeShapeType="1" noTextEdit="1"/>
              </p:cNvSpPr>
              <p:nvPr/>
            </p:nvSpPr>
            <p:spPr>
              <a:xfrm>
                <a:off x="6238048" y="2177886"/>
                <a:ext cx="4423817" cy="1779735"/>
              </a:xfrm>
              <a:prstGeom prst="rect">
                <a:avLst/>
              </a:prstGeom>
              <a:blipFill>
                <a:blip r:embed="rId5"/>
                <a:stretch>
                  <a:fillRect/>
                </a:stretch>
              </a:blipFill>
            </p:spPr>
            <p:txBody>
              <a:bodyPr/>
              <a:lstStyle/>
              <a:p>
                <a:r>
                  <a:rPr lang="en-US">
                    <a:noFill/>
                  </a:rPr>
                  <a:t> </a:t>
                </a:r>
              </a:p>
            </p:txBody>
          </p:sp>
        </mc:Fallback>
      </mc:AlternateContent>
      <p:sp>
        <p:nvSpPr>
          <p:cNvPr id="7" name="Content Placeholder 2">
            <a:extLst>
              <a:ext uri="{FF2B5EF4-FFF2-40B4-BE49-F238E27FC236}">
                <a16:creationId xmlns:a16="http://schemas.microsoft.com/office/drawing/2014/main" id="{0C5FD4B0-68DF-F240-9768-BDFE8CB011AB}"/>
              </a:ext>
            </a:extLst>
          </p:cNvPr>
          <p:cNvSpPr txBox="1">
            <a:spLocks/>
          </p:cNvSpPr>
          <p:nvPr/>
        </p:nvSpPr>
        <p:spPr>
          <a:xfrm>
            <a:off x="7363643" y="5307629"/>
            <a:ext cx="2912678" cy="1478069"/>
          </a:xfrm>
          <a:prstGeom prst="rect">
            <a:avLst/>
          </a:prstGeom>
          <a:noFill/>
        </p:spPr>
        <p:txBody>
          <a:bodyPr vert="horz" lIns="91440" tIns="45720" rIns="91440" bIns="45720" rtlCol="0">
            <a:normAutofit fontScale="775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i="1" dirty="0">
                <a:solidFill>
                  <a:schemeClr val="tx1">
                    <a:lumMod val="95000"/>
                  </a:schemeClr>
                </a:solidFill>
              </a:rPr>
              <a:t>Here, we must use the second (bold) option because there are not any NPC problems that exist yet! Ugh!!</a:t>
            </a:r>
          </a:p>
        </p:txBody>
      </p:sp>
      <p:cxnSp>
        <p:nvCxnSpPr>
          <p:cNvPr id="8" name="Straight Connector 7">
            <a:extLst>
              <a:ext uri="{FF2B5EF4-FFF2-40B4-BE49-F238E27FC236}">
                <a16:creationId xmlns:a16="http://schemas.microsoft.com/office/drawing/2014/main" id="{A79899CF-A485-F543-AFE7-B4FF5ACA42A5}"/>
              </a:ext>
            </a:extLst>
          </p:cNvPr>
          <p:cNvCxnSpPr>
            <a:cxnSpLocks/>
          </p:cNvCxnSpPr>
          <p:nvPr/>
        </p:nvCxnSpPr>
        <p:spPr>
          <a:xfrm>
            <a:off x="8568559" y="4130566"/>
            <a:ext cx="307427" cy="1111468"/>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6042127"/>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p:cNvSpPr>
                <a:spLocks noGrp="1"/>
              </p:cNvSpPr>
              <p:nvPr>
                <p:ph type="title"/>
              </p:nvPr>
            </p:nvSpPr>
            <p:spPr>
              <a:xfrm>
                <a:off x="1141413" y="326848"/>
                <a:ext cx="9905998" cy="603310"/>
              </a:xfrm>
            </p:spPr>
            <p:txBody>
              <a:bodyPr/>
              <a:lstStyle/>
              <a:p>
                <a:pPr algn="ctr"/>
                <a14:m>
                  <m:oMathPara xmlns:m="http://schemas.openxmlformats.org/officeDocument/2006/math">
                    <m:oMathParaPr>
                      <m:jc m:val="centerGroup"/>
                    </m:oMathParaPr>
                    <m:oMath xmlns:m="http://schemas.openxmlformats.org/officeDocument/2006/math">
                      <m:r>
                        <a:rPr lang="en-US" b="0" i="1" dirty="0" smtClean="0">
                          <a:latin typeface="Cambria Math" panose="02040503050406030204" pitchFamily="18" charset="0"/>
                        </a:rPr>
                        <m:t>𝑆𝐴𝑇</m:t>
                      </m:r>
                      <m:r>
                        <a:rPr lang="en-US" b="0" i="1" dirty="0" smtClean="0">
                          <a:latin typeface="Cambria Math" panose="02040503050406030204" pitchFamily="18" charset="0"/>
                        </a:rPr>
                        <m:t>∈</m:t>
                      </m:r>
                      <m:r>
                        <a:rPr lang="en-US" b="0" i="1" dirty="0" smtClean="0">
                          <a:latin typeface="Cambria Math" panose="02040503050406030204" pitchFamily="18" charset="0"/>
                        </a:rPr>
                        <m:t>𝑁𝑃𝐶</m:t>
                      </m:r>
                    </m:oMath>
                  </m:oMathPara>
                </a14:m>
                <a:endParaRPr lang="en-US" dirty="0"/>
              </a:p>
            </p:txBody>
          </p:sp>
        </mc:Choice>
        <mc:Fallback xmlns="">
          <p:sp>
            <p:nvSpPr>
              <p:cNvPr id="2" name="Title 1"/>
              <p:cNvSpPr>
                <a:spLocks noGrp="1" noRot="1" noChangeAspect="1" noMove="1" noResize="1" noEditPoints="1" noAdjustHandles="1" noChangeArrowheads="1" noChangeShapeType="1" noTextEdit="1"/>
              </p:cNvSpPr>
              <p:nvPr>
                <p:ph type="title"/>
              </p:nvPr>
            </p:nvSpPr>
            <p:spPr>
              <a:xfrm>
                <a:off x="1141413" y="326848"/>
                <a:ext cx="9905998" cy="603310"/>
              </a:xfrm>
              <a:blipFill>
                <a:blip r:embed="rId2"/>
                <a:stretch>
                  <a:fillRect/>
                </a:stretch>
              </a:blipFill>
            </p:spPr>
            <p:txBody>
              <a:bodyPr/>
              <a:lstStyle/>
              <a:p>
                <a:r>
                  <a:rPr lang="en-US">
                    <a:noFill/>
                  </a:rPr>
                  <a:t> </a:t>
                </a:r>
              </a:p>
            </p:txBody>
          </p:sp>
        </mc:Fallback>
      </mc:AlternateContent>
      <p:sp>
        <p:nvSpPr>
          <p:cNvPr id="3" name="Content Placeholder 2"/>
          <p:cNvSpPr>
            <a:spLocks noGrp="1"/>
          </p:cNvSpPr>
          <p:nvPr>
            <p:ph sz="quarter" idx="1"/>
          </p:nvPr>
        </p:nvSpPr>
        <p:spPr>
          <a:xfrm>
            <a:off x="1070469" y="1413913"/>
            <a:ext cx="4494762" cy="477948"/>
          </a:xfrm>
        </p:spPr>
        <p:txBody>
          <a:bodyPr>
            <a:normAutofit/>
          </a:bodyPr>
          <a:lstStyle/>
          <a:p>
            <a:pPr marL="0" indent="0">
              <a:buNone/>
            </a:pPr>
            <a:r>
              <a:rPr lang="en-US" sz="1800" dirty="0"/>
              <a:t>Let’s do this one first:</a:t>
            </a:r>
          </a:p>
        </p:txBody>
      </p:sp>
      <mc:AlternateContent xmlns:mc="http://schemas.openxmlformats.org/markup-compatibility/2006" xmlns:a14="http://schemas.microsoft.com/office/drawing/2010/main">
        <mc:Choice Requires="a14">
          <p:sp>
            <p:nvSpPr>
              <p:cNvPr id="5" name="Content Placeholder 2">
                <a:extLst>
                  <a:ext uri="{FF2B5EF4-FFF2-40B4-BE49-F238E27FC236}">
                    <a16:creationId xmlns:a16="http://schemas.microsoft.com/office/drawing/2014/main" id="{12063473-8A28-4A47-9CBA-0765249DEEC2}"/>
                  </a:ext>
                </a:extLst>
              </p:cNvPr>
              <p:cNvSpPr txBox="1">
                <a:spLocks/>
              </p:cNvSpPr>
              <p:nvPr/>
            </p:nvSpPr>
            <p:spPr>
              <a:xfrm>
                <a:off x="1141413" y="1846809"/>
                <a:ext cx="4423817" cy="1779735"/>
              </a:xfrm>
              <a:prstGeom prst="rect">
                <a:avLst/>
              </a:prstGeom>
              <a:solidFill>
                <a:schemeClr val="tx1">
                  <a:lumMod val="95000"/>
                </a:schemeClr>
              </a:solid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14:m>
                  <m:oMathPara xmlns:m="http://schemas.openxmlformats.org/officeDocument/2006/math">
                    <m:oMathParaPr>
                      <m:jc m:val="center"/>
                    </m:oMathParaPr>
                    <m:oMath xmlns:m="http://schemas.openxmlformats.org/officeDocument/2006/math">
                      <m:r>
                        <a:rPr lang="en-US" sz="1800" b="0" i="1" smtClean="0">
                          <a:solidFill>
                            <a:schemeClr val="bg1"/>
                          </a:solidFill>
                          <a:latin typeface="Cambria Math" panose="02040503050406030204" pitchFamily="18" charset="0"/>
                        </a:rPr>
                        <m:t>𝑆𝐴𝑇</m:t>
                      </m:r>
                      <m:r>
                        <a:rPr lang="en-US" sz="1800" b="0" i="1" smtClean="0">
                          <a:solidFill>
                            <a:schemeClr val="bg1"/>
                          </a:solidFill>
                          <a:latin typeface="Cambria Math" panose="02040503050406030204" pitchFamily="18" charset="0"/>
                        </a:rPr>
                        <m:t>∈</m:t>
                      </m:r>
                      <m:r>
                        <a:rPr lang="en-US" sz="1800" b="0" i="1" smtClean="0">
                          <a:solidFill>
                            <a:schemeClr val="bg1"/>
                          </a:solidFill>
                          <a:latin typeface="Cambria Math" panose="02040503050406030204" pitchFamily="18" charset="0"/>
                        </a:rPr>
                        <m:t>𝑁𝑃</m:t>
                      </m:r>
                    </m:oMath>
                  </m:oMathPara>
                </a14:m>
                <a:endParaRPr lang="en-US" sz="1800" dirty="0">
                  <a:solidFill>
                    <a:schemeClr val="bg1"/>
                  </a:solidFill>
                </a:endParaRPr>
              </a:p>
              <a:p>
                <a:pPr marL="0" indent="0" algn="ctr">
                  <a:buFont typeface="Arial" panose="020B0604020202020204" pitchFamily="34" charset="0"/>
                  <a:buNone/>
                </a:pPr>
                <a:endParaRPr lang="en-US" sz="1800" dirty="0">
                  <a:solidFill>
                    <a:schemeClr val="bg1"/>
                  </a:solidFill>
                </a:endParaRPr>
              </a:p>
              <a:p>
                <a:pPr marL="0" indent="0" algn="ctr">
                  <a:buFont typeface="Arial" panose="020B0604020202020204" pitchFamily="34" charset="0"/>
                  <a:buNone/>
                </a:pPr>
                <a:r>
                  <a:rPr lang="en-US" sz="1800" dirty="0">
                    <a:solidFill>
                      <a:schemeClr val="bg1"/>
                    </a:solidFill>
                  </a:rPr>
                  <a:t>Provide a verifier TM that runs in Polynomial Time</a:t>
                </a:r>
              </a:p>
            </p:txBody>
          </p:sp>
        </mc:Choice>
        <mc:Fallback xmlns="">
          <p:sp>
            <p:nvSpPr>
              <p:cNvPr id="5" name="Content Placeholder 2">
                <a:extLst>
                  <a:ext uri="{FF2B5EF4-FFF2-40B4-BE49-F238E27FC236}">
                    <a16:creationId xmlns:a16="http://schemas.microsoft.com/office/drawing/2014/main" id="{12063473-8A28-4A47-9CBA-0765249DEEC2}"/>
                  </a:ext>
                </a:extLst>
              </p:cNvPr>
              <p:cNvSpPr txBox="1">
                <a:spLocks noRot="1" noChangeAspect="1" noMove="1" noResize="1" noEditPoints="1" noAdjustHandles="1" noChangeArrowheads="1" noChangeShapeType="1" noTextEdit="1"/>
              </p:cNvSpPr>
              <p:nvPr/>
            </p:nvSpPr>
            <p:spPr>
              <a:xfrm>
                <a:off x="1141413" y="1846809"/>
                <a:ext cx="4423817" cy="1779735"/>
              </a:xfrm>
              <a:prstGeom prst="rect">
                <a:avLst/>
              </a:prstGeom>
              <a:blipFill>
                <a:blip r:embed="rId3"/>
                <a:stretch>
                  <a:fillRect/>
                </a:stretch>
              </a:blipFill>
            </p:spPr>
            <p:txBody>
              <a:bodyPr/>
              <a:lstStyle/>
              <a:p>
                <a:r>
                  <a:rPr lang="en-US">
                    <a:noFill/>
                  </a:rPr>
                  <a:t> </a:t>
                </a:r>
              </a:p>
            </p:txBody>
          </p:sp>
        </mc:Fallback>
      </mc:AlternateContent>
      <p:sp>
        <p:nvSpPr>
          <p:cNvPr id="7" name="Content Placeholder 2">
            <a:extLst>
              <a:ext uri="{FF2B5EF4-FFF2-40B4-BE49-F238E27FC236}">
                <a16:creationId xmlns:a16="http://schemas.microsoft.com/office/drawing/2014/main" id="{0C5FD4B0-68DF-F240-9768-BDFE8CB011AB}"/>
              </a:ext>
            </a:extLst>
          </p:cNvPr>
          <p:cNvSpPr txBox="1">
            <a:spLocks/>
          </p:cNvSpPr>
          <p:nvPr/>
        </p:nvSpPr>
        <p:spPr>
          <a:xfrm>
            <a:off x="6022428" y="1846810"/>
            <a:ext cx="5234151" cy="3986430"/>
          </a:xfrm>
          <a:prstGeom prst="rect">
            <a:avLst/>
          </a:prstGeom>
          <a:noFill/>
          <a:ln>
            <a:solidFill>
              <a:schemeClr val="tx1">
                <a:lumMod val="95000"/>
              </a:schemeClr>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i="1" dirty="0">
                <a:solidFill>
                  <a:schemeClr val="tx1">
                    <a:lumMod val="95000"/>
                  </a:schemeClr>
                </a:solidFill>
              </a:rPr>
              <a:t>Given variables V, formula F, and potential values for each variable V’:</a:t>
            </a:r>
          </a:p>
          <a:p>
            <a:pPr marL="342900" indent="-342900">
              <a:buFont typeface="Arial" panose="020B0604020202020204" pitchFamily="34" charset="0"/>
              <a:buAutoNum type="arabicPeriod"/>
            </a:pPr>
            <a:r>
              <a:rPr lang="en-US" sz="1600" i="1" dirty="0">
                <a:solidFill>
                  <a:schemeClr val="tx1">
                    <a:lumMod val="95000"/>
                  </a:schemeClr>
                </a:solidFill>
              </a:rPr>
              <a:t>Scan over formula F for first operator (Op) that should be applied (deepest in </a:t>
            </a:r>
            <a:r>
              <a:rPr lang="en-US" sz="1600" i="1" dirty="0" err="1">
                <a:solidFill>
                  <a:schemeClr val="tx1">
                    <a:lumMod val="95000"/>
                  </a:schemeClr>
                </a:solidFill>
              </a:rPr>
              <a:t>parens</a:t>
            </a:r>
            <a:r>
              <a:rPr lang="en-US" sz="1600" i="1" dirty="0">
                <a:solidFill>
                  <a:schemeClr val="tx1">
                    <a:lumMod val="95000"/>
                  </a:schemeClr>
                </a:solidFill>
              </a:rPr>
              <a:t> and/or lowest precedence)</a:t>
            </a:r>
          </a:p>
          <a:p>
            <a:pPr marL="342900" indent="-342900">
              <a:buFont typeface="Arial" panose="020B0604020202020204" pitchFamily="34" charset="0"/>
              <a:buAutoNum type="arabicPeriod"/>
            </a:pPr>
            <a:r>
              <a:rPr lang="en-US" sz="1600" i="1" dirty="0">
                <a:solidFill>
                  <a:schemeClr val="tx1">
                    <a:lumMod val="95000"/>
                  </a:schemeClr>
                </a:solidFill>
              </a:rPr>
              <a:t>Find the two variables X and Y on each side of Op, this gives X Op Y (example: V1 AND V7)</a:t>
            </a:r>
          </a:p>
          <a:p>
            <a:pPr marL="342900" indent="-342900">
              <a:buFont typeface="Arial" panose="020B0604020202020204" pitchFamily="34" charset="0"/>
              <a:buAutoNum type="arabicPeriod"/>
            </a:pPr>
            <a:r>
              <a:rPr lang="en-US" sz="1600" i="1" dirty="0">
                <a:solidFill>
                  <a:schemeClr val="tx1">
                    <a:lumMod val="95000"/>
                  </a:schemeClr>
                </a:solidFill>
              </a:rPr>
              <a:t>Apply operator Op to the values X and Y given by V’ or by result of a previous operation and replace X Op Y with this Boolean result.</a:t>
            </a:r>
          </a:p>
          <a:p>
            <a:pPr marL="342900" indent="-342900">
              <a:buFont typeface="Arial" panose="020B0604020202020204" pitchFamily="34" charset="0"/>
              <a:buAutoNum type="arabicPeriod"/>
            </a:pPr>
            <a:r>
              <a:rPr lang="en-US" sz="1600" i="1" dirty="0">
                <a:solidFill>
                  <a:schemeClr val="tx1">
                    <a:lumMod val="95000"/>
                  </a:schemeClr>
                </a:solidFill>
              </a:rPr>
              <a:t>Loop back to step 1 until only one Boolean remains. This Boolean is true if and only if the solution V’ is verified.</a:t>
            </a:r>
          </a:p>
        </p:txBody>
      </p:sp>
      <p:sp>
        <p:nvSpPr>
          <p:cNvPr id="9" name="Content Placeholder 2">
            <a:extLst>
              <a:ext uri="{FF2B5EF4-FFF2-40B4-BE49-F238E27FC236}">
                <a16:creationId xmlns:a16="http://schemas.microsoft.com/office/drawing/2014/main" id="{235DE94F-C24A-0640-800E-AF0804595A96}"/>
              </a:ext>
            </a:extLst>
          </p:cNvPr>
          <p:cNvSpPr txBox="1">
            <a:spLocks/>
          </p:cNvSpPr>
          <p:nvPr/>
        </p:nvSpPr>
        <p:spPr>
          <a:xfrm>
            <a:off x="6022427" y="1413913"/>
            <a:ext cx="4494762" cy="477948"/>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800" dirty="0"/>
              <a:t>Verifier:</a:t>
            </a:r>
          </a:p>
        </p:txBody>
      </p:sp>
      <p:sp>
        <p:nvSpPr>
          <p:cNvPr id="10" name="Content Placeholder 2">
            <a:extLst>
              <a:ext uri="{FF2B5EF4-FFF2-40B4-BE49-F238E27FC236}">
                <a16:creationId xmlns:a16="http://schemas.microsoft.com/office/drawing/2014/main" id="{E40A1A6D-C30F-B449-B40C-731ABE0ADFA6}"/>
              </a:ext>
            </a:extLst>
          </p:cNvPr>
          <p:cNvSpPr txBox="1">
            <a:spLocks/>
          </p:cNvSpPr>
          <p:nvPr/>
        </p:nvSpPr>
        <p:spPr>
          <a:xfrm>
            <a:off x="1836683" y="4792714"/>
            <a:ext cx="2354151" cy="1205182"/>
          </a:xfrm>
          <a:prstGeom prst="rect">
            <a:avLst/>
          </a:prstGeom>
          <a:noFill/>
        </p:spPr>
        <p:txBody>
          <a:bodyPr vert="horz" lIns="91440" tIns="45720" rIns="91440" bIns="45720" rtlCol="0">
            <a:normAutofit fontScale="92500"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i="1" dirty="0">
                <a:solidFill>
                  <a:schemeClr val="tx1">
                    <a:lumMod val="95000"/>
                  </a:schemeClr>
                </a:solidFill>
              </a:rPr>
              <a:t>Needs to be polynomial runtime, is it? Yes!</a:t>
            </a:r>
          </a:p>
        </p:txBody>
      </p:sp>
      <p:cxnSp>
        <p:nvCxnSpPr>
          <p:cNvPr id="11" name="Straight Connector 10">
            <a:extLst>
              <a:ext uri="{FF2B5EF4-FFF2-40B4-BE49-F238E27FC236}">
                <a16:creationId xmlns:a16="http://schemas.microsoft.com/office/drawing/2014/main" id="{3E5921DF-92AA-0E45-BD6B-214DD7114DB1}"/>
              </a:ext>
            </a:extLst>
          </p:cNvPr>
          <p:cNvCxnSpPr>
            <a:cxnSpLocks/>
          </p:cNvCxnSpPr>
          <p:nvPr/>
        </p:nvCxnSpPr>
        <p:spPr>
          <a:xfrm flipH="1">
            <a:off x="3775841" y="4556232"/>
            <a:ext cx="1986457" cy="614856"/>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43565680"/>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p:cNvSpPr>
                <a:spLocks noGrp="1"/>
              </p:cNvSpPr>
              <p:nvPr>
                <p:ph type="title"/>
              </p:nvPr>
            </p:nvSpPr>
            <p:spPr>
              <a:xfrm>
                <a:off x="1141413" y="326848"/>
                <a:ext cx="9905998" cy="603310"/>
              </a:xfrm>
            </p:spPr>
            <p:txBody>
              <a:bodyPr/>
              <a:lstStyle/>
              <a:p>
                <a:pPr algn="ctr"/>
                <a14:m>
                  <m:oMathPara xmlns:m="http://schemas.openxmlformats.org/officeDocument/2006/math">
                    <m:oMathParaPr>
                      <m:jc m:val="centerGroup"/>
                    </m:oMathParaPr>
                    <m:oMath xmlns:m="http://schemas.openxmlformats.org/officeDocument/2006/math">
                      <m:r>
                        <a:rPr lang="en-US" b="0" i="1" dirty="0" smtClean="0">
                          <a:latin typeface="Cambria Math" panose="02040503050406030204" pitchFamily="18" charset="0"/>
                        </a:rPr>
                        <m:t>𝑆𝐴𝑇</m:t>
                      </m:r>
                      <m:r>
                        <a:rPr lang="en-US" b="0" i="1" dirty="0" smtClean="0">
                          <a:latin typeface="Cambria Math" panose="02040503050406030204" pitchFamily="18" charset="0"/>
                        </a:rPr>
                        <m:t>∈</m:t>
                      </m:r>
                      <m:r>
                        <a:rPr lang="en-US" b="0" i="1" dirty="0" smtClean="0">
                          <a:latin typeface="Cambria Math" panose="02040503050406030204" pitchFamily="18" charset="0"/>
                        </a:rPr>
                        <m:t>𝑁𝑃𝐶</m:t>
                      </m:r>
                    </m:oMath>
                  </m:oMathPara>
                </a14:m>
                <a:endParaRPr lang="en-US" dirty="0"/>
              </a:p>
            </p:txBody>
          </p:sp>
        </mc:Choice>
        <mc:Fallback xmlns="">
          <p:sp>
            <p:nvSpPr>
              <p:cNvPr id="2" name="Title 1"/>
              <p:cNvSpPr>
                <a:spLocks noGrp="1" noRot="1" noChangeAspect="1" noMove="1" noResize="1" noEditPoints="1" noAdjustHandles="1" noChangeArrowheads="1" noChangeShapeType="1" noTextEdit="1"/>
              </p:cNvSpPr>
              <p:nvPr>
                <p:ph type="title"/>
              </p:nvPr>
            </p:nvSpPr>
            <p:spPr>
              <a:xfrm>
                <a:off x="1141413" y="326848"/>
                <a:ext cx="9905998" cy="603310"/>
              </a:xfr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Content Placeholder 2"/>
              <p:cNvSpPr>
                <a:spLocks noGrp="1"/>
              </p:cNvSpPr>
              <p:nvPr>
                <p:ph sz="quarter" idx="1"/>
              </p:nvPr>
            </p:nvSpPr>
            <p:spPr>
              <a:xfrm>
                <a:off x="1070468" y="1744991"/>
                <a:ext cx="9905999" cy="477948"/>
              </a:xfrm>
            </p:spPr>
            <p:txBody>
              <a:bodyPr>
                <a:normAutofit/>
              </a:bodyPr>
              <a:lstStyle/>
              <a:p>
                <a:pPr marL="0" indent="0">
                  <a:buNone/>
                </a:pPr>
                <a:r>
                  <a:rPr lang="en-US" sz="1800" dirty="0"/>
                  <a:t>To show that </a:t>
                </a:r>
                <a14:m>
                  <m:oMath xmlns:m="http://schemas.openxmlformats.org/officeDocument/2006/math">
                    <m:r>
                      <a:rPr lang="en-US" sz="1800" b="0" i="1" smtClean="0">
                        <a:latin typeface="Cambria Math" panose="02040503050406030204" pitchFamily="18" charset="0"/>
                      </a:rPr>
                      <m:t>𝑆𝐴𝑇</m:t>
                    </m:r>
                    <m:r>
                      <a:rPr lang="en-US" sz="1800" b="0" i="1" smtClean="0">
                        <a:latin typeface="Cambria Math" panose="02040503050406030204" pitchFamily="18" charset="0"/>
                      </a:rPr>
                      <m:t>∈</m:t>
                    </m:r>
                    <m:r>
                      <a:rPr lang="en-US" sz="1800" b="0" i="1" smtClean="0">
                        <a:latin typeface="Cambria Math" panose="02040503050406030204" pitchFamily="18" charset="0"/>
                      </a:rPr>
                      <m:t>𝑁𝑃𝐶</m:t>
                    </m:r>
                  </m:oMath>
                </a14:m>
                <a:r>
                  <a:rPr lang="en-US" sz="1800" dirty="0"/>
                  <a:t>, we must show both that:</a:t>
                </a:r>
              </a:p>
            </p:txBody>
          </p:sp>
        </mc:Choice>
        <mc:Fallback xmlns="">
          <p:sp>
            <p:nvSpPr>
              <p:cNvPr id="3" name="Content Placeholder 2"/>
              <p:cNvSpPr>
                <a:spLocks noGrp="1" noRot="1" noChangeAspect="1" noMove="1" noResize="1" noEditPoints="1" noAdjustHandles="1" noChangeArrowheads="1" noChangeShapeType="1" noTextEdit="1"/>
              </p:cNvSpPr>
              <p:nvPr>
                <p:ph sz="quarter" idx="1"/>
              </p:nvPr>
            </p:nvSpPr>
            <p:spPr>
              <a:xfrm>
                <a:off x="1070468" y="1744991"/>
                <a:ext cx="9905999" cy="477948"/>
              </a:xfrm>
              <a:blipFill>
                <a:blip r:embed="rId3"/>
                <a:stretch>
                  <a:fillRect l="-513" b="-256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Content Placeholder 2">
                <a:extLst>
                  <a:ext uri="{FF2B5EF4-FFF2-40B4-BE49-F238E27FC236}">
                    <a16:creationId xmlns:a16="http://schemas.microsoft.com/office/drawing/2014/main" id="{12063473-8A28-4A47-9CBA-0765249DEEC2}"/>
                  </a:ext>
                </a:extLst>
              </p:cNvPr>
              <p:cNvSpPr txBox="1">
                <a:spLocks/>
              </p:cNvSpPr>
              <p:nvPr/>
            </p:nvSpPr>
            <p:spPr>
              <a:xfrm>
                <a:off x="1141413" y="2177887"/>
                <a:ext cx="4423817" cy="1779735"/>
              </a:xfrm>
              <a:prstGeom prst="rect">
                <a:avLst/>
              </a:prstGeom>
              <a:solidFill>
                <a:schemeClr val="accent1"/>
              </a:solid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14:m>
                  <m:oMathPara xmlns:m="http://schemas.openxmlformats.org/officeDocument/2006/math">
                    <m:oMathParaPr>
                      <m:jc m:val="center"/>
                    </m:oMathParaPr>
                    <m:oMath xmlns:m="http://schemas.openxmlformats.org/officeDocument/2006/math">
                      <m:r>
                        <a:rPr lang="en-US" sz="1800" b="0" i="1" smtClean="0">
                          <a:solidFill>
                            <a:schemeClr val="bg1"/>
                          </a:solidFill>
                          <a:latin typeface="Cambria Math" panose="02040503050406030204" pitchFamily="18" charset="0"/>
                        </a:rPr>
                        <m:t>𝑆𝐴𝑇</m:t>
                      </m:r>
                      <m:r>
                        <a:rPr lang="en-US" sz="1800" b="0" i="1" smtClean="0">
                          <a:solidFill>
                            <a:schemeClr val="bg1"/>
                          </a:solidFill>
                          <a:latin typeface="Cambria Math" panose="02040503050406030204" pitchFamily="18" charset="0"/>
                        </a:rPr>
                        <m:t>∈</m:t>
                      </m:r>
                      <m:r>
                        <a:rPr lang="en-US" sz="1800" b="0" i="1" smtClean="0">
                          <a:solidFill>
                            <a:schemeClr val="bg1"/>
                          </a:solidFill>
                          <a:latin typeface="Cambria Math" panose="02040503050406030204" pitchFamily="18" charset="0"/>
                        </a:rPr>
                        <m:t>𝑁𝑃</m:t>
                      </m:r>
                    </m:oMath>
                  </m:oMathPara>
                </a14:m>
                <a:endParaRPr lang="en-US" sz="1800" dirty="0">
                  <a:solidFill>
                    <a:schemeClr val="bg1"/>
                  </a:solidFill>
                </a:endParaRPr>
              </a:p>
              <a:p>
                <a:pPr marL="0" indent="0" algn="ctr">
                  <a:buFont typeface="Arial" panose="020B0604020202020204" pitchFamily="34" charset="0"/>
                  <a:buNone/>
                </a:pPr>
                <a:endParaRPr lang="en-US" sz="1800" dirty="0">
                  <a:solidFill>
                    <a:schemeClr val="bg1"/>
                  </a:solidFill>
                </a:endParaRPr>
              </a:p>
              <a:p>
                <a:pPr marL="0" indent="0" algn="ctr">
                  <a:buFont typeface="Arial" panose="020B0604020202020204" pitchFamily="34" charset="0"/>
                  <a:buNone/>
                </a:pPr>
                <a:r>
                  <a:rPr lang="en-US" sz="1800" dirty="0">
                    <a:solidFill>
                      <a:schemeClr val="bg1"/>
                    </a:solidFill>
                  </a:rPr>
                  <a:t>Provide a verifier TM that runs in Polynomial Time</a:t>
                </a:r>
              </a:p>
            </p:txBody>
          </p:sp>
        </mc:Choice>
        <mc:Fallback xmlns="">
          <p:sp>
            <p:nvSpPr>
              <p:cNvPr id="5" name="Content Placeholder 2">
                <a:extLst>
                  <a:ext uri="{FF2B5EF4-FFF2-40B4-BE49-F238E27FC236}">
                    <a16:creationId xmlns:a16="http://schemas.microsoft.com/office/drawing/2014/main" id="{12063473-8A28-4A47-9CBA-0765249DEEC2}"/>
                  </a:ext>
                </a:extLst>
              </p:cNvPr>
              <p:cNvSpPr txBox="1">
                <a:spLocks noRot="1" noChangeAspect="1" noMove="1" noResize="1" noEditPoints="1" noAdjustHandles="1" noChangeArrowheads="1" noChangeShapeType="1" noTextEdit="1"/>
              </p:cNvSpPr>
              <p:nvPr/>
            </p:nvSpPr>
            <p:spPr>
              <a:xfrm>
                <a:off x="1141413" y="2177887"/>
                <a:ext cx="4423817" cy="1779735"/>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Content Placeholder 2">
                <a:extLst>
                  <a:ext uri="{FF2B5EF4-FFF2-40B4-BE49-F238E27FC236}">
                    <a16:creationId xmlns:a16="http://schemas.microsoft.com/office/drawing/2014/main" id="{347E063C-4014-2747-B5DF-2F3FAAFF4FDD}"/>
                  </a:ext>
                </a:extLst>
              </p:cNvPr>
              <p:cNvSpPr txBox="1">
                <a:spLocks/>
              </p:cNvSpPr>
              <p:nvPr/>
            </p:nvSpPr>
            <p:spPr>
              <a:xfrm>
                <a:off x="6238048" y="2177886"/>
                <a:ext cx="4423817" cy="1779735"/>
              </a:xfrm>
              <a:prstGeom prst="rect">
                <a:avLst/>
              </a:prstGeom>
              <a:solidFill>
                <a:schemeClr val="tx1">
                  <a:lumMod val="95000"/>
                </a:schemeClr>
              </a:solid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14:m>
                  <m:oMathPara xmlns:m="http://schemas.openxmlformats.org/officeDocument/2006/math">
                    <m:oMathParaPr>
                      <m:jc m:val="center"/>
                    </m:oMathParaPr>
                    <m:oMath xmlns:m="http://schemas.openxmlformats.org/officeDocument/2006/math">
                      <m:r>
                        <a:rPr lang="en-US" sz="1800" b="0" i="1" smtClean="0">
                          <a:solidFill>
                            <a:schemeClr val="bg1"/>
                          </a:solidFill>
                          <a:latin typeface="Cambria Math" panose="02040503050406030204" pitchFamily="18" charset="0"/>
                        </a:rPr>
                        <m:t>𝑆𝐴𝑇</m:t>
                      </m:r>
                      <m:r>
                        <a:rPr lang="en-US" sz="1800" b="0" i="1" smtClean="0">
                          <a:solidFill>
                            <a:schemeClr val="bg1"/>
                          </a:solidFill>
                          <a:latin typeface="Cambria Math" panose="02040503050406030204" pitchFamily="18" charset="0"/>
                        </a:rPr>
                        <m:t>∈</m:t>
                      </m:r>
                      <m:r>
                        <a:rPr lang="en-US" sz="1800" b="0" i="1" smtClean="0">
                          <a:solidFill>
                            <a:schemeClr val="bg1"/>
                          </a:solidFill>
                          <a:latin typeface="Cambria Math" panose="02040503050406030204" pitchFamily="18" charset="0"/>
                        </a:rPr>
                        <m:t>𝑁𝑃</m:t>
                      </m:r>
                      <m:r>
                        <a:rPr lang="en-US" sz="1800" b="0" i="1" smtClean="0">
                          <a:solidFill>
                            <a:schemeClr val="bg1"/>
                          </a:solidFill>
                          <a:latin typeface="Cambria Math" panose="02040503050406030204" pitchFamily="18" charset="0"/>
                        </a:rPr>
                        <m:t>−</m:t>
                      </m:r>
                      <m:r>
                        <a:rPr lang="en-US" sz="1800" b="0" i="1" smtClean="0">
                          <a:solidFill>
                            <a:schemeClr val="bg1"/>
                          </a:solidFill>
                          <a:latin typeface="Cambria Math" panose="02040503050406030204" pitchFamily="18" charset="0"/>
                        </a:rPr>
                        <m:t>𝐻𝐴𝑅𝐷</m:t>
                      </m:r>
                    </m:oMath>
                  </m:oMathPara>
                </a14:m>
                <a:endParaRPr lang="en-US" sz="1800" dirty="0">
                  <a:solidFill>
                    <a:schemeClr val="bg1"/>
                  </a:solidFill>
                </a:endParaRPr>
              </a:p>
              <a:p>
                <a:pPr marL="0" indent="0" algn="ctr">
                  <a:buFont typeface="Arial" panose="020B0604020202020204" pitchFamily="34" charset="0"/>
                  <a:buNone/>
                </a:pPr>
                <a:endParaRPr lang="en-US" sz="1800" dirty="0">
                  <a:solidFill>
                    <a:schemeClr val="bg1"/>
                  </a:solidFill>
                </a:endParaRPr>
              </a:p>
              <a:p>
                <a:pPr marL="0" indent="0" algn="ctr">
                  <a:buFont typeface="Arial" panose="020B0604020202020204" pitchFamily="34" charset="0"/>
                  <a:buNone/>
                </a:pPr>
                <a:r>
                  <a:rPr lang="en-US" sz="1800" dirty="0">
                    <a:solidFill>
                      <a:schemeClr val="bg1"/>
                    </a:solidFill>
                  </a:rPr>
                  <a:t>Show that </a:t>
                </a:r>
                <a14:m>
                  <m:oMath xmlns:m="http://schemas.openxmlformats.org/officeDocument/2006/math">
                    <m:sSub>
                      <m:sSubPr>
                        <m:ctrlPr>
                          <a:rPr lang="en-US" sz="1800" b="0" i="1" smtClean="0">
                            <a:solidFill>
                              <a:schemeClr val="bg1"/>
                            </a:solidFill>
                            <a:latin typeface="Cambria Math" panose="02040503050406030204" pitchFamily="18" charset="0"/>
                          </a:rPr>
                        </m:ctrlPr>
                      </m:sSubPr>
                      <m:e>
                        <m:r>
                          <a:rPr lang="en-US" sz="1800" b="0" i="1" smtClean="0">
                            <a:solidFill>
                              <a:schemeClr val="bg1"/>
                            </a:solidFill>
                            <a:latin typeface="Cambria Math" panose="02040503050406030204" pitchFamily="18" charset="0"/>
                          </a:rPr>
                          <m:t>∃</m:t>
                        </m:r>
                      </m:e>
                      <m:sub>
                        <m:r>
                          <a:rPr lang="en-US" sz="1800" b="0" i="1" smtClean="0">
                            <a:solidFill>
                              <a:schemeClr val="bg1"/>
                            </a:solidFill>
                            <a:latin typeface="Cambria Math" panose="02040503050406030204" pitchFamily="18" charset="0"/>
                          </a:rPr>
                          <m:t>𝑥</m:t>
                        </m:r>
                        <m:r>
                          <a:rPr lang="en-US" sz="1800" b="0" i="1" smtClean="0">
                            <a:solidFill>
                              <a:schemeClr val="bg1"/>
                            </a:solidFill>
                            <a:latin typeface="Cambria Math" panose="02040503050406030204" pitchFamily="18" charset="0"/>
                          </a:rPr>
                          <m:t>∈</m:t>
                        </m:r>
                        <m:r>
                          <a:rPr lang="en-US" sz="1800" b="0" i="1" smtClean="0">
                            <a:solidFill>
                              <a:schemeClr val="bg1"/>
                            </a:solidFill>
                            <a:latin typeface="Cambria Math" panose="02040503050406030204" pitchFamily="18" charset="0"/>
                          </a:rPr>
                          <m:t>𝑁𝑃𝐶</m:t>
                        </m:r>
                      </m:sub>
                    </m:sSub>
                    <m:r>
                      <a:rPr lang="en-US" sz="1800" b="0" i="1" smtClean="0">
                        <a:solidFill>
                          <a:schemeClr val="bg1"/>
                        </a:solidFill>
                        <a:latin typeface="Cambria Math" panose="02040503050406030204" pitchFamily="18" charset="0"/>
                      </a:rPr>
                      <m:t>𝑥</m:t>
                    </m:r>
                    <m:sSub>
                      <m:sSubPr>
                        <m:ctrlPr>
                          <a:rPr lang="en-US" sz="1800" b="0" i="1" smtClean="0">
                            <a:solidFill>
                              <a:schemeClr val="bg1"/>
                            </a:solidFill>
                            <a:latin typeface="Cambria Math" panose="02040503050406030204" pitchFamily="18" charset="0"/>
                          </a:rPr>
                        </m:ctrlPr>
                      </m:sSubPr>
                      <m:e>
                        <m:r>
                          <a:rPr lang="en-US" sz="1800" b="0" i="1" smtClean="0">
                            <a:solidFill>
                              <a:schemeClr val="bg1"/>
                            </a:solidFill>
                            <a:latin typeface="Cambria Math" panose="02040503050406030204" pitchFamily="18" charset="0"/>
                          </a:rPr>
                          <m:t>≤</m:t>
                        </m:r>
                      </m:e>
                      <m:sub>
                        <m:r>
                          <a:rPr lang="en-US" sz="1800" b="0" i="1" smtClean="0">
                            <a:solidFill>
                              <a:schemeClr val="bg1"/>
                            </a:solidFill>
                            <a:latin typeface="Cambria Math" panose="02040503050406030204" pitchFamily="18" charset="0"/>
                          </a:rPr>
                          <m:t>𝑝</m:t>
                        </m:r>
                      </m:sub>
                    </m:sSub>
                    <m:r>
                      <a:rPr lang="en-US" sz="1800" b="0" i="1" smtClean="0">
                        <a:solidFill>
                          <a:schemeClr val="bg1"/>
                        </a:solidFill>
                        <a:latin typeface="Cambria Math" panose="02040503050406030204" pitchFamily="18" charset="0"/>
                      </a:rPr>
                      <m:t>𝑆𝐴𝑇</m:t>
                    </m:r>
                  </m:oMath>
                </a14:m>
                <a:br>
                  <a:rPr lang="en-US" sz="1800" dirty="0">
                    <a:solidFill>
                      <a:schemeClr val="bg1"/>
                    </a:solidFill>
                  </a:rPr>
                </a:br>
                <a:r>
                  <a:rPr lang="en-US" sz="1800" dirty="0">
                    <a:solidFill>
                      <a:schemeClr val="bg1"/>
                    </a:solidFill>
                  </a:rPr>
                  <a:t>OR </a:t>
                </a:r>
                <a14:m>
                  <m:oMath xmlns:m="http://schemas.openxmlformats.org/officeDocument/2006/math">
                    <m:sSub>
                      <m:sSubPr>
                        <m:ctrlPr>
                          <a:rPr lang="en-US" sz="1800" b="1" i="1" smtClean="0">
                            <a:solidFill>
                              <a:schemeClr val="bg1"/>
                            </a:solidFill>
                            <a:latin typeface="Cambria Math" panose="02040503050406030204" pitchFamily="18" charset="0"/>
                          </a:rPr>
                        </m:ctrlPr>
                      </m:sSubPr>
                      <m:e>
                        <m:r>
                          <a:rPr lang="en-US" sz="1800" b="1" i="1" smtClean="0">
                            <a:solidFill>
                              <a:schemeClr val="bg1"/>
                            </a:solidFill>
                            <a:latin typeface="Cambria Math" panose="02040503050406030204" pitchFamily="18" charset="0"/>
                          </a:rPr>
                          <m:t>∀</m:t>
                        </m:r>
                      </m:e>
                      <m:sub>
                        <m:r>
                          <a:rPr lang="en-US" sz="1800" b="1" i="1" smtClean="0">
                            <a:solidFill>
                              <a:schemeClr val="bg1"/>
                            </a:solidFill>
                            <a:latin typeface="Cambria Math" panose="02040503050406030204" pitchFamily="18" charset="0"/>
                          </a:rPr>
                          <m:t>𝒙</m:t>
                        </m:r>
                        <m:r>
                          <a:rPr lang="en-US" sz="1800" b="1" i="1" smtClean="0">
                            <a:solidFill>
                              <a:schemeClr val="bg1"/>
                            </a:solidFill>
                            <a:latin typeface="Cambria Math" panose="02040503050406030204" pitchFamily="18" charset="0"/>
                          </a:rPr>
                          <m:t>∈</m:t>
                        </m:r>
                        <m:r>
                          <a:rPr lang="en-US" sz="1800" b="1" i="1" smtClean="0">
                            <a:solidFill>
                              <a:schemeClr val="bg1"/>
                            </a:solidFill>
                            <a:latin typeface="Cambria Math" panose="02040503050406030204" pitchFamily="18" charset="0"/>
                          </a:rPr>
                          <m:t>𝑵𝑷</m:t>
                        </m:r>
                      </m:sub>
                    </m:sSub>
                    <m:r>
                      <a:rPr lang="en-US" sz="1800" b="1" i="1" smtClean="0">
                        <a:solidFill>
                          <a:schemeClr val="bg1"/>
                        </a:solidFill>
                        <a:latin typeface="Cambria Math" panose="02040503050406030204" pitchFamily="18" charset="0"/>
                      </a:rPr>
                      <m:t>𝒙</m:t>
                    </m:r>
                    <m:sSub>
                      <m:sSubPr>
                        <m:ctrlPr>
                          <a:rPr lang="en-US" sz="1800" b="1" i="1" smtClean="0">
                            <a:solidFill>
                              <a:schemeClr val="bg1"/>
                            </a:solidFill>
                            <a:latin typeface="Cambria Math" panose="02040503050406030204" pitchFamily="18" charset="0"/>
                          </a:rPr>
                        </m:ctrlPr>
                      </m:sSubPr>
                      <m:e>
                        <m:r>
                          <a:rPr lang="en-US" sz="1800" b="1" i="1" smtClean="0">
                            <a:solidFill>
                              <a:schemeClr val="bg1"/>
                            </a:solidFill>
                            <a:latin typeface="Cambria Math" panose="02040503050406030204" pitchFamily="18" charset="0"/>
                          </a:rPr>
                          <m:t>≤</m:t>
                        </m:r>
                      </m:e>
                      <m:sub>
                        <m:r>
                          <a:rPr lang="en-US" sz="1800" b="1" i="1" smtClean="0">
                            <a:solidFill>
                              <a:schemeClr val="bg1"/>
                            </a:solidFill>
                            <a:latin typeface="Cambria Math" panose="02040503050406030204" pitchFamily="18" charset="0"/>
                          </a:rPr>
                          <m:t>𝒑</m:t>
                        </m:r>
                      </m:sub>
                    </m:sSub>
                    <m:r>
                      <a:rPr lang="en-US" sz="1800" b="1" i="1" smtClean="0">
                        <a:solidFill>
                          <a:schemeClr val="bg1"/>
                        </a:solidFill>
                        <a:latin typeface="Cambria Math" panose="02040503050406030204" pitchFamily="18" charset="0"/>
                      </a:rPr>
                      <m:t>𝑺𝑨𝑻</m:t>
                    </m:r>
                  </m:oMath>
                </a14:m>
                <a:endParaRPr lang="en-US" sz="1800" b="1" dirty="0">
                  <a:solidFill>
                    <a:schemeClr val="bg1"/>
                  </a:solidFill>
                </a:endParaRPr>
              </a:p>
            </p:txBody>
          </p:sp>
        </mc:Choice>
        <mc:Fallback xmlns="">
          <p:sp>
            <p:nvSpPr>
              <p:cNvPr id="6" name="Content Placeholder 2">
                <a:extLst>
                  <a:ext uri="{FF2B5EF4-FFF2-40B4-BE49-F238E27FC236}">
                    <a16:creationId xmlns:a16="http://schemas.microsoft.com/office/drawing/2014/main" id="{347E063C-4014-2747-B5DF-2F3FAAFF4FDD}"/>
                  </a:ext>
                </a:extLst>
              </p:cNvPr>
              <p:cNvSpPr txBox="1">
                <a:spLocks noRot="1" noChangeAspect="1" noMove="1" noResize="1" noEditPoints="1" noAdjustHandles="1" noChangeArrowheads="1" noChangeShapeType="1" noTextEdit="1"/>
              </p:cNvSpPr>
              <p:nvPr/>
            </p:nvSpPr>
            <p:spPr>
              <a:xfrm>
                <a:off x="6238048" y="2177886"/>
                <a:ext cx="4423817" cy="1779735"/>
              </a:xfrm>
              <a:prstGeom prst="rect">
                <a:avLst/>
              </a:prstGeom>
              <a:blipFill>
                <a:blip r:embed="rId5"/>
                <a:stretch>
                  <a:fillRect/>
                </a:stretch>
              </a:blipFill>
            </p:spPr>
            <p:txBody>
              <a:bodyPr/>
              <a:lstStyle/>
              <a:p>
                <a:r>
                  <a:rPr lang="en-US">
                    <a:noFill/>
                  </a:rPr>
                  <a:t> </a:t>
                </a:r>
              </a:p>
            </p:txBody>
          </p:sp>
        </mc:Fallback>
      </mc:AlternateContent>
      <p:sp>
        <p:nvSpPr>
          <p:cNvPr id="7" name="Content Placeholder 2">
            <a:extLst>
              <a:ext uri="{FF2B5EF4-FFF2-40B4-BE49-F238E27FC236}">
                <a16:creationId xmlns:a16="http://schemas.microsoft.com/office/drawing/2014/main" id="{0C5FD4B0-68DF-F240-9768-BDFE8CB011AB}"/>
              </a:ext>
            </a:extLst>
          </p:cNvPr>
          <p:cNvSpPr txBox="1">
            <a:spLocks/>
          </p:cNvSpPr>
          <p:nvPr/>
        </p:nvSpPr>
        <p:spPr>
          <a:xfrm>
            <a:off x="1578478" y="5395944"/>
            <a:ext cx="2912678" cy="543130"/>
          </a:xfrm>
          <a:prstGeom prst="rect">
            <a:avLst/>
          </a:prstGeom>
          <a:no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i="1" dirty="0">
                <a:solidFill>
                  <a:schemeClr val="tx1">
                    <a:lumMod val="95000"/>
                  </a:schemeClr>
                </a:solidFill>
              </a:rPr>
              <a:t>This part is done!!</a:t>
            </a:r>
          </a:p>
        </p:txBody>
      </p:sp>
      <p:cxnSp>
        <p:nvCxnSpPr>
          <p:cNvPr id="8" name="Straight Connector 7">
            <a:extLst>
              <a:ext uri="{FF2B5EF4-FFF2-40B4-BE49-F238E27FC236}">
                <a16:creationId xmlns:a16="http://schemas.microsoft.com/office/drawing/2014/main" id="{A79899CF-A485-F543-AFE7-B4FF5ACA42A5}"/>
              </a:ext>
            </a:extLst>
          </p:cNvPr>
          <p:cNvCxnSpPr>
            <a:cxnSpLocks/>
          </p:cNvCxnSpPr>
          <p:nvPr/>
        </p:nvCxnSpPr>
        <p:spPr>
          <a:xfrm flipH="1">
            <a:off x="2855432" y="4264182"/>
            <a:ext cx="403816" cy="1237804"/>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69859442"/>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41413" y="247331"/>
            <a:ext cx="9905998" cy="658021"/>
          </a:xfrm>
        </p:spPr>
        <p:txBody>
          <a:bodyPr/>
          <a:lstStyle/>
          <a:p>
            <a:pPr algn="ctr"/>
            <a:r>
              <a:rPr lang="en-US" dirty="0">
                <a:sym typeface="Symbol"/>
              </a:rPr>
              <a:t>Sat is NP-Hard</a:t>
            </a:r>
            <a:endParaRPr lang="en-US" dirty="0"/>
          </a:p>
        </p:txBody>
      </p:sp>
      <mc:AlternateContent xmlns:mc="http://schemas.openxmlformats.org/markup-compatibility/2006" xmlns:a14="http://schemas.microsoft.com/office/drawing/2010/main">
        <mc:Choice Requires="a14">
          <p:sp>
            <p:nvSpPr>
              <p:cNvPr id="5" name="Content Placeholder 2">
                <a:extLst>
                  <a:ext uri="{FF2B5EF4-FFF2-40B4-BE49-F238E27FC236}">
                    <a16:creationId xmlns:a16="http://schemas.microsoft.com/office/drawing/2014/main" id="{120CCE8B-12E1-1A49-AC00-BFC4CE62DCB4}"/>
                  </a:ext>
                </a:extLst>
              </p:cNvPr>
              <p:cNvSpPr txBox="1">
                <a:spLocks/>
              </p:cNvSpPr>
              <p:nvPr/>
            </p:nvSpPr>
            <p:spPr>
              <a:xfrm>
                <a:off x="3882503" y="1761429"/>
                <a:ext cx="4423817" cy="1779735"/>
              </a:xfrm>
              <a:prstGeom prst="rect">
                <a:avLst/>
              </a:prstGeom>
              <a:solidFill>
                <a:schemeClr val="tx1">
                  <a:lumMod val="95000"/>
                </a:schemeClr>
              </a:solid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14:m>
                  <m:oMathPara xmlns:m="http://schemas.openxmlformats.org/officeDocument/2006/math">
                    <m:oMathParaPr>
                      <m:jc m:val="center"/>
                    </m:oMathParaPr>
                    <m:oMath xmlns:m="http://schemas.openxmlformats.org/officeDocument/2006/math">
                      <m:r>
                        <a:rPr lang="en-US" sz="1800" b="0" i="1" smtClean="0">
                          <a:solidFill>
                            <a:schemeClr val="bg1"/>
                          </a:solidFill>
                          <a:latin typeface="Cambria Math" panose="02040503050406030204" pitchFamily="18" charset="0"/>
                        </a:rPr>
                        <m:t>𝑆𝐴𝑇</m:t>
                      </m:r>
                      <m:r>
                        <a:rPr lang="en-US" sz="1800" b="0" i="1" smtClean="0">
                          <a:solidFill>
                            <a:schemeClr val="bg1"/>
                          </a:solidFill>
                          <a:latin typeface="Cambria Math" panose="02040503050406030204" pitchFamily="18" charset="0"/>
                        </a:rPr>
                        <m:t>∈</m:t>
                      </m:r>
                      <m:r>
                        <a:rPr lang="en-US" sz="1800" b="0" i="1" smtClean="0">
                          <a:solidFill>
                            <a:schemeClr val="bg1"/>
                          </a:solidFill>
                          <a:latin typeface="Cambria Math" panose="02040503050406030204" pitchFamily="18" charset="0"/>
                        </a:rPr>
                        <m:t>𝑁𝑃</m:t>
                      </m:r>
                      <m:r>
                        <a:rPr lang="en-US" sz="1800" b="0" i="1" smtClean="0">
                          <a:solidFill>
                            <a:schemeClr val="bg1"/>
                          </a:solidFill>
                          <a:latin typeface="Cambria Math" panose="02040503050406030204" pitchFamily="18" charset="0"/>
                        </a:rPr>
                        <m:t>−</m:t>
                      </m:r>
                      <m:r>
                        <a:rPr lang="en-US" sz="1800" b="0" i="1" smtClean="0">
                          <a:solidFill>
                            <a:schemeClr val="bg1"/>
                          </a:solidFill>
                          <a:latin typeface="Cambria Math" panose="02040503050406030204" pitchFamily="18" charset="0"/>
                        </a:rPr>
                        <m:t>𝐻𝐴𝑅𝐷</m:t>
                      </m:r>
                    </m:oMath>
                  </m:oMathPara>
                </a14:m>
                <a:endParaRPr lang="en-US" sz="1800" dirty="0">
                  <a:solidFill>
                    <a:schemeClr val="bg1"/>
                  </a:solidFill>
                </a:endParaRPr>
              </a:p>
              <a:p>
                <a:pPr marL="0" indent="0" algn="ctr">
                  <a:buFont typeface="Arial" panose="020B0604020202020204" pitchFamily="34" charset="0"/>
                  <a:buNone/>
                </a:pPr>
                <a:endParaRPr lang="en-US" sz="1800" dirty="0">
                  <a:solidFill>
                    <a:schemeClr val="bg1"/>
                  </a:solidFill>
                </a:endParaRPr>
              </a:p>
              <a:p>
                <a:pPr marL="0" indent="0" algn="ctr">
                  <a:buFont typeface="Arial" panose="020B0604020202020204" pitchFamily="34" charset="0"/>
                  <a:buNone/>
                </a:pPr>
                <a:r>
                  <a:rPr lang="en-US" sz="1800" dirty="0">
                    <a:solidFill>
                      <a:schemeClr val="bg1"/>
                    </a:solidFill>
                  </a:rPr>
                  <a:t>Show that </a:t>
                </a:r>
                <a14:m>
                  <m:oMath xmlns:m="http://schemas.openxmlformats.org/officeDocument/2006/math">
                    <m:sSub>
                      <m:sSubPr>
                        <m:ctrlPr>
                          <a:rPr lang="en-US" sz="1800" b="0" i="1" smtClean="0">
                            <a:solidFill>
                              <a:schemeClr val="bg1"/>
                            </a:solidFill>
                            <a:latin typeface="Cambria Math" panose="02040503050406030204" pitchFamily="18" charset="0"/>
                          </a:rPr>
                        </m:ctrlPr>
                      </m:sSubPr>
                      <m:e>
                        <m:r>
                          <a:rPr lang="en-US" sz="1800" b="0" i="1" smtClean="0">
                            <a:solidFill>
                              <a:schemeClr val="bg1"/>
                            </a:solidFill>
                            <a:latin typeface="Cambria Math" panose="02040503050406030204" pitchFamily="18" charset="0"/>
                          </a:rPr>
                          <m:t>∃</m:t>
                        </m:r>
                      </m:e>
                      <m:sub>
                        <m:r>
                          <a:rPr lang="en-US" sz="1800" b="0" i="1" smtClean="0">
                            <a:solidFill>
                              <a:schemeClr val="bg1"/>
                            </a:solidFill>
                            <a:latin typeface="Cambria Math" panose="02040503050406030204" pitchFamily="18" charset="0"/>
                          </a:rPr>
                          <m:t>𝑥</m:t>
                        </m:r>
                        <m:r>
                          <a:rPr lang="en-US" sz="1800" b="0" i="1" smtClean="0">
                            <a:solidFill>
                              <a:schemeClr val="bg1"/>
                            </a:solidFill>
                            <a:latin typeface="Cambria Math" panose="02040503050406030204" pitchFamily="18" charset="0"/>
                          </a:rPr>
                          <m:t>∈</m:t>
                        </m:r>
                        <m:r>
                          <a:rPr lang="en-US" sz="1800" b="0" i="1" smtClean="0">
                            <a:solidFill>
                              <a:schemeClr val="bg1"/>
                            </a:solidFill>
                            <a:latin typeface="Cambria Math" panose="02040503050406030204" pitchFamily="18" charset="0"/>
                          </a:rPr>
                          <m:t>𝑁𝑃𝐶</m:t>
                        </m:r>
                      </m:sub>
                    </m:sSub>
                    <m:r>
                      <a:rPr lang="en-US" sz="1800" b="0" i="1" smtClean="0">
                        <a:solidFill>
                          <a:schemeClr val="bg1"/>
                        </a:solidFill>
                        <a:latin typeface="Cambria Math" panose="02040503050406030204" pitchFamily="18" charset="0"/>
                      </a:rPr>
                      <m:t>𝑥</m:t>
                    </m:r>
                    <m:sSub>
                      <m:sSubPr>
                        <m:ctrlPr>
                          <a:rPr lang="en-US" sz="1800" b="0" i="1" smtClean="0">
                            <a:solidFill>
                              <a:schemeClr val="bg1"/>
                            </a:solidFill>
                            <a:latin typeface="Cambria Math" panose="02040503050406030204" pitchFamily="18" charset="0"/>
                          </a:rPr>
                        </m:ctrlPr>
                      </m:sSubPr>
                      <m:e>
                        <m:r>
                          <a:rPr lang="en-US" sz="1800" b="0" i="1" smtClean="0">
                            <a:solidFill>
                              <a:schemeClr val="bg1"/>
                            </a:solidFill>
                            <a:latin typeface="Cambria Math" panose="02040503050406030204" pitchFamily="18" charset="0"/>
                          </a:rPr>
                          <m:t>≤</m:t>
                        </m:r>
                      </m:e>
                      <m:sub>
                        <m:r>
                          <a:rPr lang="en-US" sz="1800" b="0" i="1" smtClean="0">
                            <a:solidFill>
                              <a:schemeClr val="bg1"/>
                            </a:solidFill>
                            <a:latin typeface="Cambria Math" panose="02040503050406030204" pitchFamily="18" charset="0"/>
                          </a:rPr>
                          <m:t>𝑝</m:t>
                        </m:r>
                      </m:sub>
                    </m:sSub>
                    <m:r>
                      <a:rPr lang="en-US" sz="1800" b="0" i="1" smtClean="0">
                        <a:solidFill>
                          <a:schemeClr val="bg1"/>
                        </a:solidFill>
                        <a:latin typeface="Cambria Math" panose="02040503050406030204" pitchFamily="18" charset="0"/>
                      </a:rPr>
                      <m:t>𝑆𝐴𝑇</m:t>
                    </m:r>
                  </m:oMath>
                </a14:m>
                <a:br>
                  <a:rPr lang="en-US" sz="1800" dirty="0">
                    <a:solidFill>
                      <a:schemeClr val="bg1"/>
                    </a:solidFill>
                  </a:rPr>
                </a:br>
                <a:r>
                  <a:rPr lang="en-US" sz="1800" dirty="0">
                    <a:solidFill>
                      <a:schemeClr val="bg1"/>
                    </a:solidFill>
                  </a:rPr>
                  <a:t>OR </a:t>
                </a:r>
                <a14:m>
                  <m:oMath xmlns:m="http://schemas.openxmlformats.org/officeDocument/2006/math">
                    <m:sSub>
                      <m:sSubPr>
                        <m:ctrlPr>
                          <a:rPr lang="en-US" sz="1800" b="1" i="1" smtClean="0">
                            <a:solidFill>
                              <a:schemeClr val="bg1"/>
                            </a:solidFill>
                            <a:latin typeface="Cambria Math" panose="02040503050406030204" pitchFamily="18" charset="0"/>
                          </a:rPr>
                        </m:ctrlPr>
                      </m:sSubPr>
                      <m:e>
                        <m:r>
                          <a:rPr lang="en-US" sz="1800" b="1" i="1" smtClean="0">
                            <a:solidFill>
                              <a:schemeClr val="bg1"/>
                            </a:solidFill>
                            <a:latin typeface="Cambria Math" panose="02040503050406030204" pitchFamily="18" charset="0"/>
                          </a:rPr>
                          <m:t>∀</m:t>
                        </m:r>
                      </m:e>
                      <m:sub>
                        <m:r>
                          <a:rPr lang="en-US" sz="1800" b="1" i="1" smtClean="0">
                            <a:solidFill>
                              <a:schemeClr val="bg1"/>
                            </a:solidFill>
                            <a:latin typeface="Cambria Math" panose="02040503050406030204" pitchFamily="18" charset="0"/>
                          </a:rPr>
                          <m:t>𝒙</m:t>
                        </m:r>
                        <m:r>
                          <a:rPr lang="en-US" sz="1800" b="1" i="1" smtClean="0">
                            <a:solidFill>
                              <a:schemeClr val="bg1"/>
                            </a:solidFill>
                            <a:latin typeface="Cambria Math" panose="02040503050406030204" pitchFamily="18" charset="0"/>
                          </a:rPr>
                          <m:t>∈</m:t>
                        </m:r>
                        <m:r>
                          <a:rPr lang="en-US" sz="1800" b="1" i="1" smtClean="0">
                            <a:solidFill>
                              <a:schemeClr val="bg1"/>
                            </a:solidFill>
                            <a:latin typeface="Cambria Math" panose="02040503050406030204" pitchFamily="18" charset="0"/>
                          </a:rPr>
                          <m:t>𝑵𝑷</m:t>
                        </m:r>
                      </m:sub>
                    </m:sSub>
                    <m:r>
                      <a:rPr lang="en-US" sz="1800" b="1" i="1" smtClean="0">
                        <a:solidFill>
                          <a:schemeClr val="bg1"/>
                        </a:solidFill>
                        <a:latin typeface="Cambria Math" panose="02040503050406030204" pitchFamily="18" charset="0"/>
                      </a:rPr>
                      <m:t>𝒙</m:t>
                    </m:r>
                    <m:sSub>
                      <m:sSubPr>
                        <m:ctrlPr>
                          <a:rPr lang="en-US" sz="1800" b="1" i="1" smtClean="0">
                            <a:solidFill>
                              <a:schemeClr val="bg1"/>
                            </a:solidFill>
                            <a:latin typeface="Cambria Math" panose="02040503050406030204" pitchFamily="18" charset="0"/>
                          </a:rPr>
                        </m:ctrlPr>
                      </m:sSubPr>
                      <m:e>
                        <m:r>
                          <a:rPr lang="en-US" sz="1800" b="1" i="1" smtClean="0">
                            <a:solidFill>
                              <a:schemeClr val="bg1"/>
                            </a:solidFill>
                            <a:latin typeface="Cambria Math" panose="02040503050406030204" pitchFamily="18" charset="0"/>
                          </a:rPr>
                          <m:t>≤</m:t>
                        </m:r>
                      </m:e>
                      <m:sub>
                        <m:r>
                          <a:rPr lang="en-US" sz="1800" b="1" i="1" smtClean="0">
                            <a:solidFill>
                              <a:schemeClr val="bg1"/>
                            </a:solidFill>
                            <a:latin typeface="Cambria Math" panose="02040503050406030204" pitchFamily="18" charset="0"/>
                          </a:rPr>
                          <m:t>𝒑</m:t>
                        </m:r>
                      </m:sub>
                    </m:sSub>
                    <m:r>
                      <a:rPr lang="en-US" sz="1800" b="1" i="1" smtClean="0">
                        <a:solidFill>
                          <a:schemeClr val="bg1"/>
                        </a:solidFill>
                        <a:latin typeface="Cambria Math" panose="02040503050406030204" pitchFamily="18" charset="0"/>
                      </a:rPr>
                      <m:t>𝑺𝑨𝑻</m:t>
                    </m:r>
                  </m:oMath>
                </a14:m>
                <a:endParaRPr lang="en-US" sz="1800" b="1" dirty="0">
                  <a:solidFill>
                    <a:schemeClr val="bg1"/>
                  </a:solidFill>
                </a:endParaRPr>
              </a:p>
            </p:txBody>
          </p:sp>
        </mc:Choice>
        <mc:Fallback xmlns="">
          <p:sp>
            <p:nvSpPr>
              <p:cNvPr id="5" name="Content Placeholder 2">
                <a:extLst>
                  <a:ext uri="{FF2B5EF4-FFF2-40B4-BE49-F238E27FC236}">
                    <a16:creationId xmlns:a16="http://schemas.microsoft.com/office/drawing/2014/main" id="{120CCE8B-12E1-1A49-AC00-BFC4CE62DCB4}"/>
                  </a:ext>
                </a:extLst>
              </p:cNvPr>
              <p:cNvSpPr txBox="1">
                <a:spLocks noRot="1" noChangeAspect="1" noMove="1" noResize="1" noEditPoints="1" noAdjustHandles="1" noChangeArrowheads="1" noChangeShapeType="1" noTextEdit="1"/>
              </p:cNvSpPr>
              <p:nvPr/>
            </p:nvSpPr>
            <p:spPr>
              <a:xfrm>
                <a:off x="3882503" y="1761429"/>
                <a:ext cx="4423817" cy="1779735"/>
              </a:xfrm>
              <a:prstGeom prst="rect">
                <a:avLst/>
              </a:prstGeom>
              <a:blipFill>
                <a:blip r:embed="rId2"/>
                <a:stretch>
                  <a:fillRect/>
                </a:stretch>
              </a:blipFill>
            </p:spPr>
            <p:txBody>
              <a:bodyPr/>
              <a:lstStyle/>
              <a:p>
                <a:r>
                  <a:rPr lang="en-US">
                    <a:noFill/>
                  </a:rPr>
                  <a:t> </a:t>
                </a:r>
              </a:p>
            </p:txBody>
          </p:sp>
        </mc:Fallback>
      </mc:AlternateContent>
      <p:sp>
        <p:nvSpPr>
          <p:cNvPr id="8" name="Content Placeholder 2">
            <a:extLst>
              <a:ext uri="{FF2B5EF4-FFF2-40B4-BE49-F238E27FC236}">
                <a16:creationId xmlns:a16="http://schemas.microsoft.com/office/drawing/2014/main" id="{0BD0DCA2-C01D-FF4A-B492-BB1489C73DDD}"/>
              </a:ext>
            </a:extLst>
          </p:cNvPr>
          <p:cNvSpPr txBox="1">
            <a:spLocks/>
          </p:cNvSpPr>
          <p:nvPr/>
        </p:nvSpPr>
        <p:spPr>
          <a:xfrm>
            <a:off x="3974471" y="4909276"/>
            <a:ext cx="4219553" cy="1478069"/>
          </a:xfrm>
          <a:prstGeom prst="rect">
            <a:avLst/>
          </a:prstGeom>
          <a:noFill/>
        </p:spPr>
        <p:txBody>
          <a:bodyPr vert="horz" lIns="91440" tIns="45720" rIns="91440" bIns="45720" rtlCol="0">
            <a:normAutofit fontScale="925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i="1" dirty="0">
                <a:solidFill>
                  <a:schemeClr val="tx1">
                    <a:lumMod val="95000"/>
                  </a:schemeClr>
                </a:solidFill>
              </a:rPr>
              <a:t>As we stated. before, we have to use the second option because there (when this proof was done) are no NP-Complete problems yet!</a:t>
            </a:r>
          </a:p>
        </p:txBody>
      </p:sp>
      <p:cxnSp>
        <p:nvCxnSpPr>
          <p:cNvPr id="9" name="Straight Connector 8">
            <a:extLst>
              <a:ext uri="{FF2B5EF4-FFF2-40B4-BE49-F238E27FC236}">
                <a16:creationId xmlns:a16="http://schemas.microsoft.com/office/drawing/2014/main" id="{11C6B672-E7C0-3143-859C-669356F325BA}"/>
              </a:ext>
            </a:extLst>
          </p:cNvPr>
          <p:cNvCxnSpPr>
            <a:cxnSpLocks/>
          </p:cNvCxnSpPr>
          <p:nvPr/>
        </p:nvCxnSpPr>
        <p:spPr>
          <a:xfrm>
            <a:off x="6486262" y="3732213"/>
            <a:ext cx="307427" cy="1111468"/>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54477735"/>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41413" y="247331"/>
            <a:ext cx="9905998" cy="658021"/>
          </a:xfrm>
        </p:spPr>
        <p:txBody>
          <a:bodyPr/>
          <a:lstStyle/>
          <a:p>
            <a:pPr algn="ctr"/>
            <a:r>
              <a:rPr lang="en-US" dirty="0">
                <a:sym typeface="Symbol"/>
              </a:rPr>
              <a:t>Sat is NP-Hard</a:t>
            </a:r>
            <a:endParaRPr lang="en-US" dirty="0"/>
          </a:p>
        </p:txBody>
      </p:sp>
      <mc:AlternateContent xmlns:mc="http://schemas.openxmlformats.org/markup-compatibility/2006" xmlns:a14="http://schemas.microsoft.com/office/drawing/2010/main">
        <mc:Choice Requires="a14">
          <p:sp>
            <p:nvSpPr>
              <p:cNvPr id="5" name="Content Placeholder 2">
                <a:extLst>
                  <a:ext uri="{FF2B5EF4-FFF2-40B4-BE49-F238E27FC236}">
                    <a16:creationId xmlns:a16="http://schemas.microsoft.com/office/drawing/2014/main" id="{120CCE8B-12E1-1A49-AC00-BFC4CE62DCB4}"/>
                  </a:ext>
                </a:extLst>
              </p:cNvPr>
              <p:cNvSpPr txBox="1">
                <a:spLocks/>
              </p:cNvSpPr>
              <p:nvPr/>
            </p:nvSpPr>
            <p:spPr>
              <a:xfrm>
                <a:off x="3770207" y="1071877"/>
                <a:ext cx="4423817" cy="1316749"/>
              </a:xfrm>
              <a:prstGeom prst="rect">
                <a:avLst/>
              </a:prstGeom>
              <a:solidFill>
                <a:schemeClr val="tx1">
                  <a:lumMod val="95000"/>
                </a:schemeClr>
              </a:solid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14:m>
                  <m:oMathPara xmlns:m="http://schemas.openxmlformats.org/officeDocument/2006/math">
                    <m:oMathParaPr>
                      <m:jc m:val="center"/>
                    </m:oMathParaPr>
                    <m:oMath xmlns:m="http://schemas.openxmlformats.org/officeDocument/2006/math">
                      <m:r>
                        <a:rPr lang="en-US" sz="1800" b="0" i="1" smtClean="0">
                          <a:solidFill>
                            <a:schemeClr val="bg1"/>
                          </a:solidFill>
                          <a:latin typeface="Cambria Math" panose="02040503050406030204" pitchFamily="18" charset="0"/>
                        </a:rPr>
                        <m:t>𝑆𝐴𝑇</m:t>
                      </m:r>
                      <m:r>
                        <a:rPr lang="en-US" sz="1800" b="0" i="1" smtClean="0">
                          <a:solidFill>
                            <a:schemeClr val="bg1"/>
                          </a:solidFill>
                          <a:latin typeface="Cambria Math" panose="02040503050406030204" pitchFamily="18" charset="0"/>
                        </a:rPr>
                        <m:t>∈</m:t>
                      </m:r>
                      <m:r>
                        <a:rPr lang="en-US" sz="1800" b="0" i="1" smtClean="0">
                          <a:solidFill>
                            <a:schemeClr val="bg1"/>
                          </a:solidFill>
                          <a:latin typeface="Cambria Math" panose="02040503050406030204" pitchFamily="18" charset="0"/>
                        </a:rPr>
                        <m:t>𝑁𝑃</m:t>
                      </m:r>
                      <m:r>
                        <a:rPr lang="en-US" sz="1800" b="0" i="1" smtClean="0">
                          <a:solidFill>
                            <a:schemeClr val="bg1"/>
                          </a:solidFill>
                          <a:latin typeface="Cambria Math" panose="02040503050406030204" pitchFamily="18" charset="0"/>
                        </a:rPr>
                        <m:t>−</m:t>
                      </m:r>
                      <m:r>
                        <a:rPr lang="en-US" sz="1800" b="0" i="1" smtClean="0">
                          <a:solidFill>
                            <a:schemeClr val="bg1"/>
                          </a:solidFill>
                          <a:latin typeface="Cambria Math" panose="02040503050406030204" pitchFamily="18" charset="0"/>
                        </a:rPr>
                        <m:t>𝐻𝐴𝑅𝐷</m:t>
                      </m:r>
                    </m:oMath>
                  </m:oMathPara>
                </a14:m>
                <a:endParaRPr lang="en-US" sz="1800" b="0" dirty="0">
                  <a:solidFill>
                    <a:schemeClr val="bg1"/>
                  </a:solidFill>
                </a:endParaRPr>
              </a:p>
              <a:p>
                <a:pPr marL="0" indent="0" algn="ctr">
                  <a:buFont typeface="Arial" panose="020B0604020202020204" pitchFamily="34" charset="0"/>
                  <a:buNone/>
                </a:pPr>
                <a:br>
                  <a:rPr lang="en-US" sz="1800" dirty="0">
                    <a:solidFill>
                      <a:schemeClr val="bg1"/>
                    </a:solidFill>
                  </a:rPr>
                </a:br>
                <a14:m>
                  <m:oMathPara xmlns:m="http://schemas.openxmlformats.org/officeDocument/2006/math">
                    <m:oMathParaPr>
                      <m:jc m:val="center"/>
                    </m:oMathParaPr>
                    <m:oMath xmlns:m="http://schemas.openxmlformats.org/officeDocument/2006/math">
                      <m:sSub>
                        <m:sSubPr>
                          <m:ctrlPr>
                            <a:rPr lang="en-US" sz="1800" b="1" i="1" smtClean="0">
                              <a:solidFill>
                                <a:schemeClr val="bg1"/>
                              </a:solidFill>
                              <a:latin typeface="Cambria Math" panose="02040503050406030204" pitchFamily="18" charset="0"/>
                            </a:rPr>
                          </m:ctrlPr>
                        </m:sSubPr>
                        <m:e>
                          <m:r>
                            <a:rPr lang="en-US" sz="1800" b="1" i="1" smtClean="0">
                              <a:solidFill>
                                <a:schemeClr val="bg1"/>
                              </a:solidFill>
                              <a:latin typeface="Cambria Math" panose="02040503050406030204" pitchFamily="18" charset="0"/>
                            </a:rPr>
                            <m:t>∀</m:t>
                          </m:r>
                        </m:e>
                        <m:sub>
                          <m:r>
                            <a:rPr lang="en-US" sz="1800" b="1" i="1" smtClean="0">
                              <a:solidFill>
                                <a:schemeClr val="bg1"/>
                              </a:solidFill>
                              <a:latin typeface="Cambria Math" panose="02040503050406030204" pitchFamily="18" charset="0"/>
                            </a:rPr>
                            <m:t>𝒙</m:t>
                          </m:r>
                          <m:r>
                            <a:rPr lang="en-US" sz="1800" b="1" i="1" smtClean="0">
                              <a:solidFill>
                                <a:schemeClr val="bg1"/>
                              </a:solidFill>
                              <a:latin typeface="Cambria Math" panose="02040503050406030204" pitchFamily="18" charset="0"/>
                            </a:rPr>
                            <m:t>∈</m:t>
                          </m:r>
                          <m:r>
                            <a:rPr lang="en-US" sz="1800" b="1" i="1" smtClean="0">
                              <a:solidFill>
                                <a:schemeClr val="bg1"/>
                              </a:solidFill>
                              <a:latin typeface="Cambria Math" panose="02040503050406030204" pitchFamily="18" charset="0"/>
                            </a:rPr>
                            <m:t>𝑵𝑷</m:t>
                          </m:r>
                        </m:sub>
                      </m:sSub>
                      <m:r>
                        <a:rPr lang="en-US" sz="1800" b="1" i="1" smtClean="0">
                          <a:solidFill>
                            <a:schemeClr val="bg1"/>
                          </a:solidFill>
                          <a:latin typeface="Cambria Math" panose="02040503050406030204" pitchFamily="18" charset="0"/>
                        </a:rPr>
                        <m:t>𝒙</m:t>
                      </m:r>
                      <m:sSub>
                        <m:sSubPr>
                          <m:ctrlPr>
                            <a:rPr lang="en-US" sz="1800" b="1" i="1" smtClean="0">
                              <a:solidFill>
                                <a:schemeClr val="bg1"/>
                              </a:solidFill>
                              <a:latin typeface="Cambria Math" panose="02040503050406030204" pitchFamily="18" charset="0"/>
                            </a:rPr>
                          </m:ctrlPr>
                        </m:sSubPr>
                        <m:e>
                          <m:r>
                            <a:rPr lang="en-US" sz="1800" b="1" i="1" smtClean="0">
                              <a:solidFill>
                                <a:schemeClr val="bg1"/>
                              </a:solidFill>
                              <a:latin typeface="Cambria Math" panose="02040503050406030204" pitchFamily="18" charset="0"/>
                            </a:rPr>
                            <m:t>≤</m:t>
                          </m:r>
                        </m:e>
                        <m:sub>
                          <m:r>
                            <a:rPr lang="en-US" sz="1800" b="1" i="1" smtClean="0">
                              <a:solidFill>
                                <a:schemeClr val="bg1"/>
                              </a:solidFill>
                              <a:latin typeface="Cambria Math" panose="02040503050406030204" pitchFamily="18" charset="0"/>
                            </a:rPr>
                            <m:t>𝒑</m:t>
                          </m:r>
                        </m:sub>
                      </m:sSub>
                      <m:r>
                        <a:rPr lang="en-US" sz="1800" b="1" i="1" smtClean="0">
                          <a:solidFill>
                            <a:schemeClr val="bg1"/>
                          </a:solidFill>
                          <a:latin typeface="Cambria Math" panose="02040503050406030204" pitchFamily="18" charset="0"/>
                        </a:rPr>
                        <m:t>𝑺𝑨𝑻</m:t>
                      </m:r>
                    </m:oMath>
                  </m:oMathPara>
                </a14:m>
                <a:endParaRPr lang="en-US" sz="1800" b="1" dirty="0">
                  <a:solidFill>
                    <a:schemeClr val="bg1"/>
                  </a:solidFill>
                </a:endParaRPr>
              </a:p>
            </p:txBody>
          </p:sp>
        </mc:Choice>
        <mc:Fallback xmlns="">
          <p:sp>
            <p:nvSpPr>
              <p:cNvPr id="5" name="Content Placeholder 2">
                <a:extLst>
                  <a:ext uri="{FF2B5EF4-FFF2-40B4-BE49-F238E27FC236}">
                    <a16:creationId xmlns:a16="http://schemas.microsoft.com/office/drawing/2014/main" id="{120CCE8B-12E1-1A49-AC00-BFC4CE62DCB4}"/>
                  </a:ext>
                </a:extLst>
              </p:cNvPr>
              <p:cNvSpPr txBox="1">
                <a:spLocks noRot="1" noChangeAspect="1" noMove="1" noResize="1" noEditPoints="1" noAdjustHandles="1" noChangeArrowheads="1" noChangeShapeType="1" noTextEdit="1"/>
              </p:cNvSpPr>
              <p:nvPr/>
            </p:nvSpPr>
            <p:spPr>
              <a:xfrm>
                <a:off x="3770207" y="1071877"/>
                <a:ext cx="4423817" cy="1316749"/>
              </a:xfrm>
              <a:prstGeom prst="rect">
                <a:avLst/>
              </a:prstGeom>
              <a:blipFill>
                <a:blip r:embed="rId2"/>
                <a:stretch>
                  <a:fillRect/>
                </a:stretch>
              </a:blipFill>
            </p:spPr>
            <p:txBody>
              <a:bodyPr/>
              <a:lstStyle/>
              <a:p>
                <a:r>
                  <a:rPr lang="en-US">
                    <a:noFill/>
                  </a:rPr>
                  <a:t> </a:t>
                </a:r>
              </a:p>
            </p:txBody>
          </p:sp>
        </mc:Fallback>
      </mc:AlternateContent>
      <p:sp>
        <p:nvSpPr>
          <p:cNvPr id="8" name="Content Placeholder 2">
            <a:extLst>
              <a:ext uri="{FF2B5EF4-FFF2-40B4-BE49-F238E27FC236}">
                <a16:creationId xmlns:a16="http://schemas.microsoft.com/office/drawing/2014/main" id="{0BD0DCA2-C01D-FF4A-B492-BB1489C73DDD}"/>
              </a:ext>
            </a:extLst>
          </p:cNvPr>
          <p:cNvSpPr txBox="1">
            <a:spLocks/>
          </p:cNvSpPr>
          <p:nvPr/>
        </p:nvSpPr>
        <p:spPr>
          <a:xfrm>
            <a:off x="1488735" y="3672356"/>
            <a:ext cx="1777784" cy="1018021"/>
          </a:xfrm>
          <a:prstGeom prst="rect">
            <a:avLst/>
          </a:prstGeom>
          <a:solidFill>
            <a:schemeClr val="accent1"/>
          </a:solid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2000" i="1" dirty="0">
                <a:solidFill>
                  <a:schemeClr val="bg1"/>
                </a:solidFill>
              </a:rPr>
              <a:t>NTM Decider for x</a:t>
            </a:r>
          </a:p>
        </p:txBody>
      </p:sp>
      <p:cxnSp>
        <p:nvCxnSpPr>
          <p:cNvPr id="9" name="Straight Connector 8">
            <a:extLst>
              <a:ext uri="{FF2B5EF4-FFF2-40B4-BE49-F238E27FC236}">
                <a16:creationId xmlns:a16="http://schemas.microsoft.com/office/drawing/2014/main" id="{11C6B672-E7C0-3143-859C-669356F325BA}"/>
              </a:ext>
            </a:extLst>
          </p:cNvPr>
          <p:cNvCxnSpPr>
            <a:cxnSpLocks/>
          </p:cNvCxnSpPr>
          <p:nvPr/>
        </p:nvCxnSpPr>
        <p:spPr>
          <a:xfrm>
            <a:off x="701098" y="2555265"/>
            <a:ext cx="10805856" cy="0"/>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7" name="Content Placeholder 2">
                <a:extLst>
                  <a:ext uri="{FF2B5EF4-FFF2-40B4-BE49-F238E27FC236}">
                    <a16:creationId xmlns:a16="http://schemas.microsoft.com/office/drawing/2014/main" id="{7AC1C10A-1039-2849-B473-1C424A1F53F4}"/>
                  </a:ext>
                </a:extLst>
              </p:cNvPr>
              <p:cNvSpPr txBox="1">
                <a:spLocks/>
              </p:cNvSpPr>
              <p:nvPr/>
            </p:nvSpPr>
            <p:spPr>
              <a:xfrm>
                <a:off x="1141413" y="3181960"/>
                <a:ext cx="2472428" cy="490396"/>
              </a:xfrm>
              <a:prstGeom prst="rect">
                <a:avLst/>
              </a:prstGeom>
              <a:no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800" i="1" dirty="0">
                    <a:solidFill>
                      <a:schemeClr val="tx1">
                        <a:lumMod val="95000"/>
                      </a:schemeClr>
                    </a:solidFill>
                  </a:rPr>
                  <a:t>Choose arbitrary </a:t>
                </a:r>
                <a14:m>
                  <m:oMath xmlns:m="http://schemas.openxmlformats.org/officeDocument/2006/math">
                    <m:r>
                      <a:rPr lang="en-US" sz="1800" b="0" i="1" smtClean="0">
                        <a:solidFill>
                          <a:schemeClr val="tx1">
                            <a:lumMod val="95000"/>
                          </a:schemeClr>
                        </a:solidFill>
                        <a:latin typeface="Cambria Math" panose="02040503050406030204" pitchFamily="18" charset="0"/>
                      </a:rPr>
                      <m:t>𝑥</m:t>
                    </m:r>
                    <m:r>
                      <a:rPr lang="en-US" sz="1800" b="0" i="1" smtClean="0">
                        <a:solidFill>
                          <a:schemeClr val="tx1">
                            <a:lumMod val="95000"/>
                          </a:schemeClr>
                        </a:solidFill>
                        <a:latin typeface="Cambria Math" panose="02040503050406030204" pitchFamily="18" charset="0"/>
                      </a:rPr>
                      <m:t>∈</m:t>
                    </m:r>
                    <m:r>
                      <a:rPr lang="en-US" sz="1800" b="0" i="1" smtClean="0">
                        <a:solidFill>
                          <a:schemeClr val="tx1">
                            <a:lumMod val="95000"/>
                          </a:schemeClr>
                        </a:solidFill>
                        <a:latin typeface="Cambria Math" panose="02040503050406030204" pitchFamily="18" charset="0"/>
                      </a:rPr>
                      <m:t>𝑁𝑃</m:t>
                    </m:r>
                  </m:oMath>
                </a14:m>
                <a:endParaRPr lang="en-US" sz="1800" i="1" dirty="0">
                  <a:solidFill>
                    <a:schemeClr val="tx1">
                      <a:lumMod val="95000"/>
                    </a:schemeClr>
                  </a:solidFill>
                </a:endParaRPr>
              </a:p>
            </p:txBody>
          </p:sp>
        </mc:Choice>
        <mc:Fallback xmlns="">
          <p:sp>
            <p:nvSpPr>
              <p:cNvPr id="7" name="Content Placeholder 2">
                <a:extLst>
                  <a:ext uri="{FF2B5EF4-FFF2-40B4-BE49-F238E27FC236}">
                    <a16:creationId xmlns:a16="http://schemas.microsoft.com/office/drawing/2014/main" id="{7AC1C10A-1039-2849-B473-1C424A1F53F4}"/>
                  </a:ext>
                </a:extLst>
              </p:cNvPr>
              <p:cNvSpPr txBox="1">
                <a:spLocks noRot="1" noChangeAspect="1" noMove="1" noResize="1" noEditPoints="1" noAdjustHandles="1" noChangeArrowheads="1" noChangeShapeType="1" noTextEdit="1"/>
              </p:cNvSpPr>
              <p:nvPr/>
            </p:nvSpPr>
            <p:spPr>
              <a:xfrm>
                <a:off x="1141413" y="3181960"/>
                <a:ext cx="2472428" cy="490396"/>
              </a:xfrm>
              <a:prstGeom prst="rect">
                <a:avLst/>
              </a:prstGeom>
              <a:blipFill>
                <a:blip r:embed="rId3"/>
                <a:stretch>
                  <a:fillRect l="-2041"/>
                </a:stretch>
              </a:blipFill>
            </p:spPr>
            <p:txBody>
              <a:bodyPr/>
              <a:lstStyle/>
              <a:p>
                <a:r>
                  <a:rPr lang="en-US">
                    <a:noFill/>
                  </a:rPr>
                  <a:t> </a:t>
                </a:r>
              </a:p>
            </p:txBody>
          </p:sp>
        </mc:Fallback>
      </mc:AlternateContent>
      <p:sp>
        <p:nvSpPr>
          <p:cNvPr id="10" name="Content Placeholder 2">
            <a:extLst>
              <a:ext uri="{FF2B5EF4-FFF2-40B4-BE49-F238E27FC236}">
                <a16:creationId xmlns:a16="http://schemas.microsoft.com/office/drawing/2014/main" id="{6D30C8A0-6054-794F-8E8E-F2F73B72B1A4}"/>
              </a:ext>
            </a:extLst>
          </p:cNvPr>
          <p:cNvSpPr txBox="1">
            <a:spLocks/>
          </p:cNvSpPr>
          <p:nvPr/>
        </p:nvSpPr>
        <p:spPr>
          <a:xfrm>
            <a:off x="3789529" y="3181960"/>
            <a:ext cx="2472428" cy="490396"/>
          </a:xfrm>
          <a:prstGeom prst="rect">
            <a:avLst/>
          </a:prstGeom>
          <a:no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800" i="1" dirty="0">
                <a:solidFill>
                  <a:schemeClr val="tx1">
                    <a:lumMod val="95000"/>
                  </a:schemeClr>
                </a:solidFill>
              </a:rPr>
              <a:t>Reduce problem x</a:t>
            </a:r>
          </a:p>
        </p:txBody>
      </p:sp>
      <p:sp>
        <p:nvSpPr>
          <p:cNvPr id="11" name="Content Placeholder 2">
            <a:extLst>
              <a:ext uri="{FF2B5EF4-FFF2-40B4-BE49-F238E27FC236}">
                <a16:creationId xmlns:a16="http://schemas.microsoft.com/office/drawing/2014/main" id="{4BAE2F71-E043-1643-9B88-54EE3D8AE950}"/>
              </a:ext>
            </a:extLst>
          </p:cNvPr>
          <p:cNvSpPr txBox="1">
            <a:spLocks/>
          </p:cNvSpPr>
          <p:nvPr/>
        </p:nvSpPr>
        <p:spPr>
          <a:xfrm>
            <a:off x="7388250" y="3181960"/>
            <a:ext cx="2472428" cy="490396"/>
          </a:xfrm>
          <a:prstGeom prst="rect">
            <a:avLst/>
          </a:prstGeom>
          <a:no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800" i="1" dirty="0">
                <a:solidFill>
                  <a:schemeClr val="tx1">
                    <a:lumMod val="95000"/>
                  </a:schemeClr>
                </a:solidFill>
              </a:rPr>
              <a:t>To an instance of SAT</a:t>
            </a:r>
          </a:p>
        </p:txBody>
      </p:sp>
      <p:sp>
        <p:nvSpPr>
          <p:cNvPr id="4" name="Right Arrow 3">
            <a:extLst>
              <a:ext uri="{FF2B5EF4-FFF2-40B4-BE49-F238E27FC236}">
                <a16:creationId xmlns:a16="http://schemas.microsoft.com/office/drawing/2014/main" id="{5E91AE8E-C231-554E-AA0F-920E940DA76D}"/>
              </a:ext>
            </a:extLst>
          </p:cNvPr>
          <p:cNvSpPr/>
          <p:nvPr/>
        </p:nvSpPr>
        <p:spPr>
          <a:xfrm>
            <a:off x="4265252" y="3993429"/>
            <a:ext cx="1520982" cy="375874"/>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2" name="Content Placeholder 2">
                <a:extLst>
                  <a:ext uri="{FF2B5EF4-FFF2-40B4-BE49-F238E27FC236}">
                    <a16:creationId xmlns:a16="http://schemas.microsoft.com/office/drawing/2014/main" id="{E2513A30-46E1-824D-8D69-4E40A20F0984}"/>
                  </a:ext>
                </a:extLst>
              </p:cNvPr>
              <p:cNvSpPr txBox="1">
                <a:spLocks/>
              </p:cNvSpPr>
              <p:nvPr/>
            </p:nvSpPr>
            <p:spPr>
              <a:xfrm>
                <a:off x="6633146" y="3966438"/>
                <a:ext cx="4676643" cy="477482"/>
              </a:xfrm>
              <a:prstGeom prst="rect">
                <a:avLst/>
              </a:prstGeom>
              <a:solidFill>
                <a:schemeClr val="accent1"/>
              </a:solid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14:m>
                  <m:oMathPara xmlns:m="http://schemas.openxmlformats.org/officeDocument/2006/math">
                    <m:oMathParaPr>
                      <m:jc m:val="centerGroup"/>
                    </m:oMathParaPr>
                    <m:oMath xmlns:m="http://schemas.openxmlformats.org/officeDocument/2006/math">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1</m:t>
                          </m:r>
                        </m:sub>
                      </m:sSub>
                      <m:r>
                        <a:rPr lang="en-US" sz="2000" b="0" i="1" smtClean="0">
                          <a:solidFill>
                            <a:schemeClr val="bg1"/>
                          </a:solidFill>
                          <a:latin typeface="Cambria Math" panose="02040503050406030204" pitchFamily="18" charset="0"/>
                        </a:rPr>
                        <m:t> ∧ </m:t>
                      </m:r>
                      <m:acc>
                        <m:accPr>
                          <m:chr m:val="̅"/>
                          <m:ctrlPr>
                            <a:rPr lang="en-US" sz="2000" b="0" i="1" smtClean="0">
                              <a:solidFill>
                                <a:schemeClr val="bg1"/>
                              </a:solidFill>
                              <a:latin typeface="Cambria Math" panose="02040503050406030204" pitchFamily="18" charset="0"/>
                            </a:rPr>
                          </m:ctrlPr>
                        </m:accPr>
                        <m:e>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2</m:t>
                              </m:r>
                            </m:sub>
                          </m:sSub>
                        </m:e>
                      </m:acc>
                      <m:r>
                        <a:rPr lang="en-US" sz="2000" b="0" i="1" smtClean="0">
                          <a:solidFill>
                            <a:schemeClr val="bg1"/>
                          </a:solidFill>
                          <a:latin typeface="Cambria Math" panose="02040503050406030204" pitchFamily="18" charset="0"/>
                        </a:rPr>
                        <m:t> ∨</m:t>
                      </m:r>
                      <m:d>
                        <m:dPr>
                          <m:ctrlPr>
                            <a:rPr lang="en-US" sz="2000" b="0" i="1" smtClean="0">
                              <a:solidFill>
                                <a:schemeClr val="bg1"/>
                              </a:solidFill>
                              <a:latin typeface="Cambria Math" panose="02040503050406030204" pitchFamily="18" charset="0"/>
                            </a:rPr>
                          </m:ctrlPr>
                        </m:dPr>
                        <m:e>
                          <m:acc>
                            <m:accPr>
                              <m:chr m:val="̅"/>
                              <m:ctrlPr>
                                <a:rPr lang="en-US" sz="2000" b="0" i="1" smtClean="0">
                                  <a:solidFill>
                                    <a:schemeClr val="bg1"/>
                                  </a:solidFill>
                                  <a:latin typeface="Cambria Math" panose="02040503050406030204" pitchFamily="18" charset="0"/>
                                </a:rPr>
                              </m:ctrlPr>
                            </m:accPr>
                            <m:e>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3</m:t>
                                  </m:r>
                                </m:sub>
                              </m:sSub>
                            </m:e>
                          </m:acc>
                          <m:r>
                            <a:rPr lang="en-US" sz="2000" b="0" i="1" smtClean="0">
                              <a:solidFill>
                                <a:schemeClr val="bg1"/>
                              </a:solidFill>
                              <a:latin typeface="Cambria Math" panose="02040503050406030204" pitchFamily="18" charset="0"/>
                            </a:rPr>
                            <m:t>∧</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2</m:t>
                              </m:r>
                            </m:sub>
                          </m:sSub>
                        </m:e>
                      </m:d>
                      <m:r>
                        <a:rPr lang="en-US" sz="2000" b="0" i="1" smtClean="0">
                          <a:solidFill>
                            <a:schemeClr val="bg1"/>
                          </a:solidFill>
                          <a:latin typeface="Cambria Math" panose="02040503050406030204" pitchFamily="18" charset="0"/>
                        </a:rPr>
                        <m:t>…</m:t>
                      </m:r>
                    </m:oMath>
                  </m:oMathPara>
                </a14:m>
                <a:endParaRPr lang="en-US" sz="2000" i="1" dirty="0">
                  <a:solidFill>
                    <a:schemeClr val="bg1"/>
                  </a:solidFill>
                </a:endParaRPr>
              </a:p>
            </p:txBody>
          </p:sp>
        </mc:Choice>
        <mc:Fallback xmlns="">
          <p:sp>
            <p:nvSpPr>
              <p:cNvPr id="12" name="Content Placeholder 2">
                <a:extLst>
                  <a:ext uri="{FF2B5EF4-FFF2-40B4-BE49-F238E27FC236}">
                    <a16:creationId xmlns:a16="http://schemas.microsoft.com/office/drawing/2014/main" id="{E2513A30-46E1-824D-8D69-4E40A20F0984}"/>
                  </a:ext>
                </a:extLst>
              </p:cNvPr>
              <p:cNvSpPr txBox="1">
                <a:spLocks noRot="1" noChangeAspect="1" noMove="1" noResize="1" noEditPoints="1" noAdjustHandles="1" noChangeArrowheads="1" noChangeShapeType="1" noTextEdit="1"/>
              </p:cNvSpPr>
              <p:nvPr/>
            </p:nvSpPr>
            <p:spPr>
              <a:xfrm>
                <a:off x="6633146" y="3966438"/>
                <a:ext cx="4676643" cy="477482"/>
              </a:xfrm>
              <a:prstGeom prst="rect">
                <a:avLst/>
              </a:prstGeom>
              <a:blipFill>
                <a:blip r:embed="rId4"/>
                <a:stretch>
                  <a:fillRect b="-5263"/>
                </a:stretch>
              </a:blipFill>
            </p:spPr>
            <p:txBody>
              <a:bodyPr/>
              <a:lstStyle/>
              <a:p>
                <a:r>
                  <a:rPr lang="en-US">
                    <a:noFill/>
                  </a:rPr>
                  <a:t> </a:t>
                </a:r>
              </a:p>
            </p:txBody>
          </p:sp>
        </mc:Fallback>
      </mc:AlternateContent>
      <p:sp>
        <p:nvSpPr>
          <p:cNvPr id="13" name="Content Placeholder 2">
            <a:extLst>
              <a:ext uri="{FF2B5EF4-FFF2-40B4-BE49-F238E27FC236}">
                <a16:creationId xmlns:a16="http://schemas.microsoft.com/office/drawing/2014/main" id="{18EECE4D-D200-634F-96A0-ADE2BE3407E1}"/>
              </a:ext>
            </a:extLst>
          </p:cNvPr>
          <p:cNvSpPr txBox="1">
            <a:spLocks/>
          </p:cNvSpPr>
          <p:nvPr/>
        </p:nvSpPr>
        <p:spPr>
          <a:xfrm>
            <a:off x="4173648" y="5855092"/>
            <a:ext cx="6102673" cy="930606"/>
          </a:xfrm>
          <a:prstGeom prst="rect">
            <a:avLst/>
          </a:prstGeom>
          <a:no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i="1" dirty="0">
                <a:solidFill>
                  <a:schemeClr val="tx1">
                    <a:lumMod val="95000"/>
                  </a:schemeClr>
                </a:solidFill>
              </a:rPr>
              <a:t>How are we going to do this? </a:t>
            </a:r>
          </a:p>
        </p:txBody>
      </p:sp>
      <p:cxnSp>
        <p:nvCxnSpPr>
          <p:cNvPr id="14" name="Straight Connector 13">
            <a:extLst>
              <a:ext uri="{FF2B5EF4-FFF2-40B4-BE49-F238E27FC236}">
                <a16:creationId xmlns:a16="http://schemas.microsoft.com/office/drawing/2014/main" id="{8E477510-0CC5-DD4A-B959-C893BD063BC9}"/>
              </a:ext>
            </a:extLst>
          </p:cNvPr>
          <p:cNvCxnSpPr>
            <a:cxnSpLocks/>
          </p:cNvCxnSpPr>
          <p:nvPr/>
        </p:nvCxnSpPr>
        <p:spPr>
          <a:xfrm>
            <a:off x="5273098" y="4576984"/>
            <a:ext cx="307427" cy="1111468"/>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6992173"/>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41413" y="247331"/>
            <a:ext cx="9905998" cy="658021"/>
          </a:xfrm>
        </p:spPr>
        <p:txBody>
          <a:bodyPr/>
          <a:lstStyle/>
          <a:p>
            <a:pPr algn="ctr"/>
            <a:r>
              <a:rPr lang="en-US" dirty="0">
                <a:sym typeface="Symbol"/>
              </a:rPr>
              <a:t>Sat is NP-Hard</a:t>
            </a:r>
            <a:endParaRPr lang="en-US" dirty="0"/>
          </a:p>
        </p:txBody>
      </p:sp>
      <mc:AlternateContent xmlns:mc="http://schemas.openxmlformats.org/markup-compatibility/2006" xmlns:a14="http://schemas.microsoft.com/office/drawing/2010/main">
        <mc:Choice Requires="a14">
          <p:sp>
            <p:nvSpPr>
              <p:cNvPr id="5" name="Content Placeholder 2">
                <a:extLst>
                  <a:ext uri="{FF2B5EF4-FFF2-40B4-BE49-F238E27FC236}">
                    <a16:creationId xmlns:a16="http://schemas.microsoft.com/office/drawing/2014/main" id="{120CCE8B-12E1-1A49-AC00-BFC4CE62DCB4}"/>
                  </a:ext>
                </a:extLst>
              </p:cNvPr>
              <p:cNvSpPr txBox="1">
                <a:spLocks/>
              </p:cNvSpPr>
              <p:nvPr/>
            </p:nvSpPr>
            <p:spPr>
              <a:xfrm>
                <a:off x="3770207" y="1071877"/>
                <a:ext cx="4423817" cy="1316749"/>
              </a:xfrm>
              <a:prstGeom prst="rect">
                <a:avLst/>
              </a:prstGeom>
              <a:solidFill>
                <a:schemeClr val="tx1">
                  <a:lumMod val="95000"/>
                </a:schemeClr>
              </a:solid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14:m>
                  <m:oMathPara xmlns:m="http://schemas.openxmlformats.org/officeDocument/2006/math">
                    <m:oMathParaPr>
                      <m:jc m:val="center"/>
                    </m:oMathParaPr>
                    <m:oMath xmlns:m="http://schemas.openxmlformats.org/officeDocument/2006/math">
                      <m:r>
                        <a:rPr lang="en-US" sz="1800" b="0" i="1" smtClean="0">
                          <a:solidFill>
                            <a:schemeClr val="bg1"/>
                          </a:solidFill>
                          <a:latin typeface="Cambria Math" panose="02040503050406030204" pitchFamily="18" charset="0"/>
                        </a:rPr>
                        <m:t>𝑆𝐴𝑇</m:t>
                      </m:r>
                      <m:r>
                        <a:rPr lang="en-US" sz="1800" b="0" i="1" smtClean="0">
                          <a:solidFill>
                            <a:schemeClr val="bg1"/>
                          </a:solidFill>
                          <a:latin typeface="Cambria Math" panose="02040503050406030204" pitchFamily="18" charset="0"/>
                        </a:rPr>
                        <m:t>∈</m:t>
                      </m:r>
                      <m:r>
                        <a:rPr lang="en-US" sz="1800" b="0" i="1" smtClean="0">
                          <a:solidFill>
                            <a:schemeClr val="bg1"/>
                          </a:solidFill>
                          <a:latin typeface="Cambria Math" panose="02040503050406030204" pitchFamily="18" charset="0"/>
                        </a:rPr>
                        <m:t>𝑁𝑃</m:t>
                      </m:r>
                      <m:r>
                        <a:rPr lang="en-US" sz="1800" b="0" i="1" smtClean="0">
                          <a:solidFill>
                            <a:schemeClr val="bg1"/>
                          </a:solidFill>
                          <a:latin typeface="Cambria Math" panose="02040503050406030204" pitchFamily="18" charset="0"/>
                        </a:rPr>
                        <m:t>−</m:t>
                      </m:r>
                      <m:r>
                        <a:rPr lang="en-US" sz="1800" b="0" i="1" smtClean="0">
                          <a:solidFill>
                            <a:schemeClr val="bg1"/>
                          </a:solidFill>
                          <a:latin typeface="Cambria Math" panose="02040503050406030204" pitchFamily="18" charset="0"/>
                        </a:rPr>
                        <m:t>𝐻𝐴𝑅𝐷</m:t>
                      </m:r>
                    </m:oMath>
                  </m:oMathPara>
                </a14:m>
                <a:endParaRPr lang="en-US" sz="1800" b="0" dirty="0">
                  <a:solidFill>
                    <a:schemeClr val="bg1"/>
                  </a:solidFill>
                </a:endParaRPr>
              </a:p>
              <a:p>
                <a:pPr marL="0" indent="0" algn="ctr">
                  <a:buFont typeface="Arial" panose="020B0604020202020204" pitchFamily="34" charset="0"/>
                  <a:buNone/>
                </a:pPr>
                <a:br>
                  <a:rPr lang="en-US" sz="1800" dirty="0">
                    <a:solidFill>
                      <a:schemeClr val="bg1"/>
                    </a:solidFill>
                  </a:rPr>
                </a:br>
                <a14:m>
                  <m:oMathPara xmlns:m="http://schemas.openxmlformats.org/officeDocument/2006/math">
                    <m:oMathParaPr>
                      <m:jc m:val="center"/>
                    </m:oMathParaPr>
                    <m:oMath xmlns:m="http://schemas.openxmlformats.org/officeDocument/2006/math">
                      <m:sSub>
                        <m:sSubPr>
                          <m:ctrlPr>
                            <a:rPr lang="en-US" sz="1800" b="1" i="1" smtClean="0">
                              <a:solidFill>
                                <a:schemeClr val="bg1"/>
                              </a:solidFill>
                              <a:latin typeface="Cambria Math" panose="02040503050406030204" pitchFamily="18" charset="0"/>
                            </a:rPr>
                          </m:ctrlPr>
                        </m:sSubPr>
                        <m:e>
                          <m:r>
                            <a:rPr lang="en-US" sz="1800" b="1" i="1" smtClean="0">
                              <a:solidFill>
                                <a:schemeClr val="bg1"/>
                              </a:solidFill>
                              <a:latin typeface="Cambria Math" panose="02040503050406030204" pitchFamily="18" charset="0"/>
                            </a:rPr>
                            <m:t>∀</m:t>
                          </m:r>
                        </m:e>
                        <m:sub>
                          <m:r>
                            <a:rPr lang="en-US" sz="1800" b="1" i="1" smtClean="0">
                              <a:solidFill>
                                <a:schemeClr val="bg1"/>
                              </a:solidFill>
                              <a:latin typeface="Cambria Math" panose="02040503050406030204" pitchFamily="18" charset="0"/>
                            </a:rPr>
                            <m:t>𝒙</m:t>
                          </m:r>
                          <m:r>
                            <a:rPr lang="en-US" sz="1800" b="1" i="1" smtClean="0">
                              <a:solidFill>
                                <a:schemeClr val="bg1"/>
                              </a:solidFill>
                              <a:latin typeface="Cambria Math" panose="02040503050406030204" pitchFamily="18" charset="0"/>
                            </a:rPr>
                            <m:t>∈</m:t>
                          </m:r>
                          <m:r>
                            <a:rPr lang="en-US" sz="1800" b="1" i="1" smtClean="0">
                              <a:solidFill>
                                <a:schemeClr val="bg1"/>
                              </a:solidFill>
                              <a:latin typeface="Cambria Math" panose="02040503050406030204" pitchFamily="18" charset="0"/>
                            </a:rPr>
                            <m:t>𝑵𝑷</m:t>
                          </m:r>
                        </m:sub>
                      </m:sSub>
                      <m:r>
                        <a:rPr lang="en-US" sz="1800" b="1" i="1" smtClean="0">
                          <a:solidFill>
                            <a:schemeClr val="bg1"/>
                          </a:solidFill>
                          <a:latin typeface="Cambria Math" panose="02040503050406030204" pitchFamily="18" charset="0"/>
                        </a:rPr>
                        <m:t>𝒙</m:t>
                      </m:r>
                      <m:sSub>
                        <m:sSubPr>
                          <m:ctrlPr>
                            <a:rPr lang="en-US" sz="1800" b="1" i="1" smtClean="0">
                              <a:solidFill>
                                <a:schemeClr val="bg1"/>
                              </a:solidFill>
                              <a:latin typeface="Cambria Math" panose="02040503050406030204" pitchFamily="18" charset="0"/>
                            </a:rPr>
                          </m:ctrlPr>
                        </m:sSubPr>
                        <m:e>
                          <m:r>
                            <a:rPr lang="en-US" sz="1800" b="1" i="1" smtClean="0">
                              <a:solidFill>
                                <a:schemeClr val="bg1"/>
                              </a:solidFill>
                              <a:latin typeface="Cambria Math" panose="02040503050406030204" pitchFamily="18" charset="0"/>
                            </a:rPr>
                            <m:t>≤</m:t>
                          </m:r>
                        </m:e>
                        <m:sub>
                          <m:r>
                            <a:rPr lang="en-US" sz="1800" b="1" i="1" smtClean="0">
                              <a:solidFill>
                                <a:schemeClr val="bg1"/>
                              </a:solidFill>
                              <a:latin typeface="Cambria Math" panose="02040503050406030204" pitchFamily="18" charset="0"/>
                            </a:rPr>
                            <m:t>𝒑</m:t>
                          </m:r>
                        </m:sub>
                      </m:sSub>
                      <m:r>
                        <a:rPr lang="en-US" sz="1800" b="1" i="1" smtClean="0">
                          <a:solidFill>
                            <a:schemeClr val="bg1"/>
                          </a:solidFill>
                          <a:latin typeface="Cambria Math" panose="02040503050406030204" pitchFamily="18" charset="0"/>
                        </a:rPr>
                        <m:t>𝑺𝑨𝑻</m:t>
                      </m:r>
                    </m:oMath>
                  </m:oMathPara>
                </a14:m>
                <a:endParaRPr lang="en-US" sz="1800" b="1" dirty="0">
                  <a:solidFill>
                    <a:schemeClr val="bg1"/>
                  </a:solidFill>
                </a:endParaRPr>
              </a:p>
            </p:txBody>
          </p:sp>
        </mc:Choice>
        <mc:Fallback xmlns="">
          <p:sp>
            <p:nvSpPr>
              <p:cNvPr id="5" name="Content Placeholder 2">
                <a:extLst>
                  <a:ext uri="{FF2B5EF4-FFF2-40B4-BE49-F238E27FC236}">
                    <a16:creationId xmlns:a16="http://schemas.microsoft.com/office/drawing/2014/main" id="{120CCE8B-12E1-1A49-AC00-BFC4CE62DCB4}"/>
                  </a:ext>
                </a:extLst>
              </p:cNvPr>
              <p:cNvSpPr txBox="1">
                <a:spLocks noRot="1" noChangeAspect="1" noMove="1" noResize="1" noEditPoints="1" noAdjustHandles="1" noChangeArrowheads="1" noChangeShapeType="1" noTextEdit="1"/>
              </p:cNvSpPr>
              <p:nvPr/>
            </p:nvSpPr>
            <p:spPr>
              <a:xfrm>
                <a:off x="3770207" y="1071877"/>
                <a:ext cx="4423817" cy="1316749"/>
              </a:xfrm>
              <a:prstGeom prst="rect">
                <a:avLst/>
              </a:prstGeom>
              <a:blipFill>
                <a:blip r:embed="rId2"/>
                <a:stretch>
                  <a:fillRect/>
                </a:stretch>
              </a:blipFill>
            </p:spPr>
            <p:txBody>
              <a:bodyPr/>
              <a:lstStyle/>
              <a:p>
                <a:r>
                  <a:rPr lang="en-US">
                    <a:noFill/>
                  </a:rPr>
                  <a:t> </a:t>
                </a:r>
              </a:p>
            </p:txBody>
          </p:sp>
        </mc:Fallback>
      </mc:AlternateContent>
      <p:sp>
        <p:nvSpPr>
          <p:cNvPr id="8" name="Content Placeholder 2">
            <a:extLst>
              <a:ext uri="{FF2B5EF4-FFF2-40B4-BE49-F238E27FC236}">
                <a16:creationId xmlns:a16="http://schemas.microsoft.com/office/drawing/2014/main" id="{0BD0DCA2-C01D-FF4A-B492-BB1489C73DDD}"/>
              </a:ext>
            </a:extLst>
          </p:cNvPr>
          <p:cNvSpPr txBox="1">
            <a:spLocks/>
          </p:cNvSpPr>
          <p:nvPr/>
        </p:nvSpPr>
        <p:spPr>
          <a:xfrm>
            <a:off x="1488735" y="3672356"/>
            <a:ext cx="1777784" cy="1018021"/>
          </a:xfrm>
          <a:prstGeom prst="rect">
            <a:avLst/>
          </a:prstGeom>
          <a:solidFill>
            <a:schemeClr val="accent1"/>
          </a:solid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2000" i="1" dirty="0">
                <a:solidFill>
                  <a:schemeClr val="bg1"/>
                </a:solidFill>
              </a:rPr>
              <a:t>NTM Decider for x</a:t>
            </a:r>
          </a:p>
        </p:txBody>
      </p:sp>
      <p:cxnSp>
        <p:nvCxnSpPr>
          <p:cNvPr id="9" name="Straight Connector 8">
            <a:extLst>
              <a:ext uri="{FF2B5EF4-FFF2-40B4-BE49-F238E27FC236}">
                <a16:creationId xmlns:a16="http://schemas.microsoft.com/office/drawing/2014/main" id="{11C6B672-E7C0-3143-859C-669356F325BA}"/>
              </a:ext>
            </a:extLst>
          </p:cNvPr>
          <p:cNvCxnSpPr>
            <a:cxnSpLocks/>
          </p:cNvCxnSpPr>
          <p:nvPr/>
        </p:nvCxnSpPr>
        <p:spPr>
          <a:xfrm>
            <a:off x="701098" y="2555265"/>
            <a:ext cx="10805856" cy="0"/>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7" name="Content Placeholder 2">
                <a:extLst>
                  <a:ext uri="{FF2B5EF4-FFF2-40B4-BE49-F238E27FC236}">
                    <a16:creationId xmlns:a16="http://schemas.microsoft.com/office/drawing/2014/main" id="{7AC1C10A-1039-2849-B473-1C424A1F53F4}"/>
                  </a:ext>
                </a:extLst>
              </p:cNvPr>
              <p:cNvSpPr txBox="1">
                <a:spLocks/>
              </p:cNvSpPr>
              <p:nvPr/>
            </p:nvSpPr>
            <p:spPr>
              <a:xfrm>
                <a:off x="1141413" y="3181960"/>
                <a:ext cx="2472428" cy="490396"/>
              </a:xfrm>
              <a:prstGeom prst="rect">
                <a:avLst/>
              </a:prstGeom>
              <a:no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800" i="1" dirty="0">
                    <a:solidFill>
                      <a:schemeClr val="tx1">
                        <a:lumMod val="95000"/>
                      </a:schemeClr>
                    </a:solidFill>
                  </a:rPr>
                  <a:t>Choose arbitrary </a:t>
                </a:r>
                <a14:m>
                  <m:oMath xmlns:m="http://schemas.openxmlformats.org/officeDocument/2006/math">
                    <m:r>
                      <a:rPr lang="en-US" sz="1800" b="0" i="1" smtClean="0">
                        <a:solidFill>
                          <a:schemeClr val="tx1">
                            <a:lumMod val="95000"/>
                          </a:schemeClr>
                        </a:solidFill>
                        <a:latin typeface="Cambria Math" panose="02040503050406030204" pitchFamily="18" charset="0"/>
                      </a:rPr>
                      <m:t>𝑥</m:t>
                    </m:r>
                    <m:r>
                      <a:rPr lang="en-US" sz="1800" b="0" i="1" smtClean="0">
                        <a:solidFill>
                          <a:schemeClr val="tx1">
                            <a:lumMod val="95000"/>
                          </a:schemeClr>
                        </a:solidFill>
                        <a:latin typeface="Cambria Math" panose="02040503050406030204" pitchFamily="18" charset="0"/>
                      </a:rPr>
                      <m:t>∈</m:t>
                    </m:r>
                    <m:r>
                      <a:rPr lang="en-US" sz="1800" b="0" i="1" smtClean="0">
                        <a:solidFill>
                          <a:schemeClr val="tx1">
                            <a:lumMod val="95000"/>
                          </a:schemeClr>
                        </a:solidFill>
                        <a:latin typeface="Cambria Math" panose="02040503050406030204" pitchFamily="18" charset="0"/>
                      </a:rPr>
                      <m:t>𝑁𝑃</m:t>
                    </m:r>
                  </m:oMath>
                </a14:m>
                <a:endParaRPr lang="en-US" sz="1800" i="1" dirty="0">
                  <a:solidFill>
                    <a:schemeClr val="tx1">
                      <a:lumMod val="95000"/>
                    </a:schemeClr>
                  </a:solidFill>
                </a:endParaRPr>
              </a:p>
            </p:txBody>
          </p:sp>
        </mc:Choice>
        <mc:Fallback xmlns="">
          <p:sp>
            <p:nvSpPr>
              <p:cNvPr id="7" name="Content Placeholder 2">
                <a:extLst>
                  <a:ext uri="{FF2B5EF4-FFF2-40B4-BE49-F238E27FC236}">
                    <a16:creationId xmlns:a16="http://schemas.microsoft.com/office/drawing/2014/main" id="{7AC1C10A-1039-2849-B473-1C424A1F53F4}"/>
                  </a:ext>
                </a:extLst>
              </p:cNvPr>
              <p:cNvSpPr txBox="1">
                <a:spLocks noRot="1" noChangeAspect="1" noMove="1" noResize="1" noEditPoints="1" noAdjustHandles="1" noChangeArrowheads="1" noChangeShapeType="1" noTextEdit="1"/>
              </p:cNvSpPr>
              <p:nvPr/>
            </p:nvSpPr>
            <p:spPr>
              <a:xfrm>
                <a:off x="1141413" y="3181960"/>
                <a:ext cx="2472428" cy="490396"/>
              </a:xfrm>
              <a:prstGeom prst="rect">
                <a:avLst/>
              </a:prstGeom>
              <a:blipFill>
                <a:blip r:embed="rId3"/>
                <a:stretch>
                  <a:fillRect l="-2041"/>
                </a:stretch>
              </a:blipFill>
            </p:spPr>
            <p:txBody>
              <a:bodyPr/>
              <a:lstStyle/>
              <a:p>
                <a:r>
                  <a:rPr lang="en-US">
                    <a:noFill/>
                  </a:rPr>
                  <a:t> </a:t>
                </a:r>
              </a:p>
            </p:txBody>
          </p:sp>
        </mc:Fallback>
      </mc:AlternateContent>
      <p:sp>
        <p:nvSpPr>
          <p:cNvPr id="10" name="Content Placeholder 2">
            <a:extLst>
              <a:ext uri="{FF2B5EF4-FFF2-40B4-BE49-F238E27FC236}">
                <a16:creationId xmlns:a16="http://schemas.microsoft.com/office/drawing/2014/main" id="{6D30C8A0-6054-794F-8E8E-F2F73B72B1A4}"/>
              </a:ext>
            </a:extLst>
          </p:cNvPr>
          <p:cNvSpPr txBox="1">
            <a:spLocks/>
          </p:cNvSpPr>
          <p:nvPr/>
        </p:nvSpPr>
        <p:spPr>
          <a:xfrm>
            <a:off x="3789529" y="3181960"/>
            <a:ext cx="2472428" cy="490396"/>
          </a:xfrm>
          <a:prstGeom prst="rect">
            <a:avLst/>
          </a:prstGeom>
          <a:no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800" i="1" dirty="0">
                <a:solidFill>
                  <a:schemeClr val="tx1">
                    <a:lumMod val="95000"/>
                  </a:schemeClr>
                </a:solidFill>
              </a:rPr>
              <a:t>Reduce problem x</a:t>
            </a:r>
          </a:p>
        </p:txBody>
      </p:sp>
      <p:sp>
        <p:nvSpPr>
          <p:cNvPr id="11" name="Content Placeholder 2">
            <a:extLst>
              <a:ext uri="{FF2B5EF4-FFF2-40B4-BE49-F238E27FC236}">
                <a16:creationId xmlns:a16="http://schemas.microsoft.com/office/drawing/2014/main" id="{4BAE2F71-E043-1643-9B88-54EE3D8AE950}"/>
              </a:ext>
            </a:extLst>
          </p:cNvPr>
          <p:cNvSpPr txBox="1">
            <a:spLocks/>
          </p:cNvSpPr>
          <p:nvPr/>
        </p:nvSpPr>
        <p:spPr>
          <a:xfrm>
            <a:off x="7388250" y="3181960"/>
            <a:ext cx="2472428" cy="490396"/>
          </a:xfrm>
          <a:prstGeom prst="rect">
            <a:avLst/>
          </a:prstGeom>
          <a:no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800" i="1" dirty="0">
                <a:solidFill>
                  <a:schemeClr val="tx1">
                    <a:lumMod val="95000"/>
                  </a:schemeClr>
                </a:solidFill>
              </a:rPr>
              <a:t>To an instance of SAT</a:t>
            </a:r>
          </a:p>
        </p:txBody>
      </p:sp>
      <p:sp>
        <p:nvSpPr>
          <p:cNvPr id="4" name="Right Arrow 3">
            <a:extLst>
              <a:ext uri="{FF2B5EF4-FFF2-40B4-BE49-F238E27FC236}">
                <a16:creationId xmlns:a16="http://schemas.microsoft.com/office/drawing/2014/main" id="{5E91AE8E-C231-554E-AA0F-920E940DA76D}"/>
              </a:ext>
            </a:extLst>
          </p:cNvPr>
          <p:cNvSpPr/>
          <p:nvPr/>
        </p:nvSpPr>
        <p:spPr>
          <a:xfrm>
            <a:off x="4265252" y="3993429"/>
            <a:ext cx="1520982" cy="375874"/>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Content Placeholder 2">
            <a:extLst>
              <a:ext uri="{FF2B5EF4-FFF2-40B4-BE49-F238E27FC236}">
                <a16:creationId xmlns:a16="http://schemas.microsoft.com/office/drawing/2014/main" id="{E2513A30-46E1-824D-8D69-4E40A20F0984}"/>
              </a:ext>
            </a:extLst>
          </p:cNvPr>
          <p:cNvSpPr txBox="1">
            <a:spLocks/>
          </p:cNvSpPr>
          <p:nvPr/>
        </p:nvSpPr>
        <p:spPr>
          <a:xfrm>
            <a:off x="6633146" y="3966438"/>
            <a:ext cx="4676643" cy="477482"/>
          </a:xfrm>
          <a:prstGeom prst="rect">
            <a:avLst/>
          </a:prstGeom>
          <a:solidFill>
            <a:schemeClr val="accent1"/>
          </a:solidFill>
        </p:spPr>
        <p:txBody>
          <a:bodyPr vert="horz" lIns="91440" tIns="45720" rIns="91440" bIns="45720" rtlCol="0">
            <a:normAutofit fontScale="700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2000" i="1" dirty="0">
                <a:solidFill>
                  <a:schemeClr val="bg1"/>
                </a:solidFill>
              </a:rPr>
              <a:t>Tape moved right AND 1 written to first cell of tape AND …</a:t>
            </a:r>
          </a:p>
        </p:txBody>
      </p:sp>
      <p:sp>
        <p:nvSpPr>
          <p:cNvPr id="13" name="Content Placeholder 2">
            <a:extLst>
              <a:ext uri="{FF2B5EF4-FFF2-40B4-BE49-F238E27FC236}">
                <a16:creationId xmlns:a16="http://schemas.microsoft.com/office/drawing/2014/main" id="{18EECE4D-D200-634F-96A0-ADE2BE3407E1}"/>
              </a:ext>
            </a:extLst>
          </p:cNvPr>
          <p:cNvSpPr txBox="1">
            <a:spLocks/>
          </p:cNvSpPr>
          <p:nvPr/>
        </p:nvSpPr>
        <p:spPr>
          <a:xfrm>
            <a:off x="1355821" y="5395867"/>
            <a:ext cx="9496409" cy="1004935"/>
          </a:xfrm>
          <a:prstGeom prst="rect">
            <a:avLst/>
          </a:prstGeom>
          <a:noFill/>
        </p:spPr>
        <p:txBody>
          <a:bodyPr vert="horz" lIns="91440" tIns="45720" rIns="91440" bIns="45720" rtlCol="0">
            <a:normAutofit fontScale="85000"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b="1" i="1" u="sng" dirty="0">
                <a:solidFill>
                  <a:schemeClr val="tx1">
                    <a:lumMod val="95000"/>
                  </a:schemeClr>
                </a:solidFill>
              </a:rPr>
              <a:t>IDEA</a:t>
            </a:r>
            <a:r>
              <a:rPr lang="en-US" i="1" dirty="0">
                <a:solidFill>
                  <a:schemeClr val="tx1">
                    <a:lumMod val="95000"/>
                  </a:schemeClr>
                </a:solidFill>
              </a:rPr>
              <a:t>: For any generic problem x in NP, it has a decider NTM. Convert that NTM into a Boolean expression that describes the operation of the machine. Why is this a valid reduction?</a:t>
            </a:r>
          </a:p>
        </p:txBody>
      </p:sp>
    </p:spTree>
    <p:extLst>
      <p:ext uri="{BB962C8B-B14F-4D97-AF65-F5344CB8AC3E}">
        <p14:creationId xmlns:p14="http://schemas.microsoft.com/office/powerpoint/2010/main" val="157670782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41413" y="202064"/>
            <a:ext cx="9905998" cy="648964"/>
          </a:xfrm>
        </p:spPr>
        <p:txBody>
          <a:bodyPr>
            <a:normAutofit/>
          </a:bodyPr>
          <a:lstStyle/>
          <a:p>
            <a:pPr algn="ctr"/>
            <a:r>
              <a:rPr lang="en-US" dirty="0"/>
              <a:t>Variables We Need</a:t>
            </a:r>
          </a:p>
        </p:txBody>
      </p:sp>
      <p:graphicFrame>
        <p:nvGraphicFramePr>
          <p:cNvPr id="6" name="Table 5"/>
          <p:cNvGraphicFramePr>
            <a:graphicFrameLocks noGrp="1"/>
          </p:cNvGraphicFramePr>
          <p:nvPr>
            <p:extLst>
              <p:ext uri="{D42A27DB-BD31-4B8C-83A1-F6EECF244321}">
                <p14:modId xmlns:p14="http://schemas.microsoft.com/office/powerpoint/2010/main" val="3325185740"/>
              </p:ext>
            </p:extLst>
          </p:nvPr>
        </p:nvGraphicFramePr>
        <p:xfrm>
          <a:off x="2212817" y="1348209"/>
          <a:ext cx="7467600" cy="2138680"/>
        </p:xfrm>
        <a:graphic>
          <a:graphicData uri="http://schemas.openxmlformats.org/drawingml/2006/table">
            <a:tbl>
              <a:tblPr firstRow="1" bandRow="1">
                <a:tableStyleId>{5C22544A-7EE6-4342-B048-85BDC9FD1C3A}</a:tableStyleId>
              </a:tblPr>
              <a:tblGrid>
                <a:gridCol w="990599">
                  <a:extLst>
                    <a:ext uri="{9D8B030D-6E8A-4147-A177-3AD203B41FA5}">
                      <a16:colId xmlns:a16="http://schemas.microsoft.com/office/drawing/2014/main" val="20000"/>
                    </a:ext>
                  </a:extLst>
                </a:gridCol>
                <a:gridCol w="5181600">
                  <a:extLst>
                    <a:ext uri="{9D8B030D-6E8A-4147-A177-3AD203B41FA5}">
                      <a16:colId xmlns:a16="http://schemas.microsoft.com/office/drawing/2014/main" val="20001"/>
                    </a:ext>
                  </a:extLst>
                </a:gridCol>
                <a:gridCol w="1295401">
                  <a:extLst>
                    <a:ext uri="{9D8B030D-6E8A-4147-A177-3AD203B41FA5}">
                      <a16:colId xmlns:a16="http://schemas.microsoft.com/office/drawing/2014/main" val="20002"/>
                    </a:ext>
                  </a:extLst>
                </a:gridCol>
              </a:tblGrid>
              <a:tr h="487680">
                <a:tc>
                  <a:txBody>
                    <a:bodyPr/>
                    <a:lstStyle/>
                    <a:p>
                      <a:r>
                        <a:rPr lang="en-US" dirty="0"/>
                        <a:t>Variable</a:t>
                      </a:r>
                    </a:p>
                  </a:txBody>
                  <a:tcPr/>
                </a:tc>
                <a:tc>
                  <a:txBody>
                    <a:bodyPr/>
                    <a:lstStyle/>
                    <a:p>
                      <a:r>
                        <a:rPr lang="en-US" dirty="0"/>
                        <a:t>Meaning</a:t>
                      </a:r>
                    </a:p>
                  </a:txBody>
                  <a:tcPr/>
                </a:tc>
                <a:tc>
                  <a:txBody>
                    <a:bodyPr/>
                    <a:lstStyle/>
                    <a:p>
                      <a:r>
                        <a:rPr lang="en-US" dirty="0"/>
                        <a:t>How many</a:t>
                      </a:r>
                    </a:p>
                  </a:txBody>
                  <a:tcPr/>
                </a:tc>
                <a:extLst>
                  <a:ext uri="{0D108BD9-81ED-4DB2-BD59-A6C34878D82A}">
                    <a16:rowId xmlns:a16="http://schemas.microsoft.com/office/drawing/2014/main" val="10000"/>
                  </a:ext>
                </a:extLst>
              </a:tr>
              <a:tr h="370840">
                <a:tc>
                  <a:txBody>
                    <a:bodyPr/>
                    <a:lstStyle/>
                    <a:p>
                      <a:r>
                        <a:rPr lang="en-US" dirty="0" err="1"/>
                        <a:t>T</a:t>
                      </a:r>
                      <a:r>
                        <a:rPr lang="en-US" baseline="-25000" dirty="0" err="1"/>
                        <a:t>ijk</a:t>
                      </a:r>
                      <a:endParaRPr lang="en-US" baseline="-25000" dirty="0"/>
                    </a:p>
                  </a:txBody>
                  <a:tcPr/>
                </a:tc>
                <a:tc>
                  <a:txBody>
                    <a:bodyPr/>
                    <a:lstStyle/>
                    <a:p>
                      <a:r>
                        <a:rPr lang="en-US" dirty="0"/>
                        <a:t>True if tape cell</a:t>
                      </a:r>
                      <a:r>
                        <a:rPr lang="en-US" baseline="0" dirty="0"/>
                        <a:t> </a:t>
                      </a:r>
                      <a:r>
                        <a:rPr lang="en-US" i="1" baseline="0" dirty="0" err="1"/>
                        <a:t>i</a:t>
                      </a:r>
                      <a:r>
                        <a:rPr lang="en-US" baseline="0" dirty="0"/>
                        <a:t> </a:t>
                      </a:r>
                      <a:r>
                        <a:rPr lang="en-US" dirty="0"/>
                        <a:t>contains symbol </a:t>
                      </a:r>
                      <a:r>
                        <a:rPr lang="en-US" i="1" dirty="0"/>
                        <a:t>j</a:t>
                      </a:r>
                      <a:r>
                        <a:rPr lang="en-US" dirty="0"/>
                        <a:t> at step </a:t>
                      </a:r>
                      <a:r>
                        <a:rPr lang="en-US" i="1" dirty="0"/>
                        <a:t>k</a:t>
                      </a:r>
                      <a:r>
                        <a:rPr lang="en-US" dirty="0"/>
                        <a:t> of the computation</a:t>
                      </a:r>
                    </a:p>
                  </a:txBody>
                  <a:tcPr/>
                </a:tc>
                <a:tc>
                  <a:txBody>
                    <a:bodyPr/>
                    <a:lstStyle/>
                    <a:p>
                      <a:r>
                        <a:rPr lang="en-US" dirty="0"/>
                        <a:t>O(p(n)</a:t>
                      </a:r>
                      <a:r>
                        <a:rPr lang="en-US" baseline="30000" dirty="0"/>
                        <a:t>2</a:t>
                      </a:r>
                      <a:r>
                        <a:rPr lang="en-US" dirty="0"/>
                        <a:t>)</a:t>
                      </a:r>
                    </a:p>
                  </a:txBody>
                  <a:tcPr/>
                </a:tc>
                <a:extLst>
                  <a:ext uri="{0D108BD9-81ED-4DB2-BD59-A6C34878D82A}">
                    <a16:rowId xmlns:a16="http://schemas.microsoft.com/office/drawing/2014/main" val="10001"/>
                  </a:ext>
                </a:extLst>
              </a:tr>
              <a:tr h="370840">
                <a:tc>
                  <a:txBody>
                    <a:bodyPr/>
                    <a:lstStyle/>
                    <a:p>
                      <a:r>
                        <a:rPr lang="en-US" dirty="0" err="1"/>
                        <a:t>H</a:t>
                      </a:r>
                      <a:r>
                        <a:rPr lang="en-US" baseline="-25000" dirty="0" err="1"/>
                        <a:t>ik</a:t>
                      </a:r>
                      <a:endParaRPr lang="en-US" baseline="-25000" dirty="0"/>
                    </a:p>
                  </a:txBody>
                  <a:tcPr/>
                </a:tc>
                <a:tc>
                  <a:txBody>
                    <a:bodyPr/>
                    <a:lstStyle/>
                    <a:p>
                      <a:r>
                        <a:rPr lang="en-US" dirty="0"/>
                        <a:t>True if the M’s read/write head is at tape</a:t>
                      </a:r>
                      <a:r>
                        <a:rPr lang="en-US" baseline="0" dirty="0"/>
                        <a:t> cell </a:t>
                      </a:r>
                      <a:r>
                        <a:rPr lang="en-US" i="1" baseline="0" dirty="0" err="1"/>
                        <a:t>i</a:t>
                      </a:r>
                      <a:r>
                        <a:rPr lang="en-US" baseline="0" dirty="0"/>
                        <a:t> at step </a:t>
                      </a:r>
                      <a:r>
                        <a:rPr lang="en-US" i="1" baseline="0" dirty="0"/>
                        <a:t>k</a:t>
                      </a:r>
                      <a:r>
                        <a:rPr lang="en-US" baseline="0" dirty="0"/>
                        <a:t> of the computation</a:t>
                      </a:r>
                      <a:endParaRPr lang="en-US" dirty="0"/>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dirty="0"/>
                        <a:t>O(p(n)</a:t>
                      </a:r>
                      <a:r>
                        <a:rPr lang="en-US" baseline="30000" dirty="0"/>
                        <a:t>2</a:t>
                      </a:r>
                      <a:r>
                        <a:rPr lang="en-US" dirty="0"/>
                        <a:t>)</a:t>
                      </a:r>
                    </a:p>
                  </a:txBody>
                  <a:tcPr/>
                </a:tc>
                <a:extLst>
                  <a:ext uri="{0D108BD9-81ED-4DB2-BD59-A6C34878D82A}">
                    <a16:rowId xmlns:a16="http://schemas.microsoft.com/office/drawing/2014/main" val="10002"/>
                  </a:ext>
                </a:extLst>
              </a:tr>
              <a:tr h="370840">
                <a:tc>
                  <a:txBody>
                    <a:bodyPr/>
                    <a:lstStyle/>
                    <a:p>
                      <a:r>
                        <a:rPr lang="en-US" dirty="0" err="1"/>
                        <a:t>Q</a:t>
                      </a:r>
                      <a:r>
                        <a:rPr lang="en-US" baseline="-25000" dirty="0" err="1"/>
                        <a:t>qk</a:t>
                      </a:r>
                      <a:endParaRPr lang="en-US" baseline="-25000" dirty="0"/>
                    </a:p>
                  </a:txBody>
                  <a:tcPr/>
                </a:tc>
                <a:tc>
                  <a:txBody>
                    <a:bodyPr/>
                    <a:lstStyle/>
                    <a:p>
                      <a:r>
                        <a:rPr lang="en-US" dirty="0"/>
                        <a:t>True if M is in</a:t>
                      </a:r>
                      <a:r>
                        <a:rPr lang="en-US" baseline="0" dirty="0"/>
                        <a:t> state </a:t>
                      </a:r>
                      <a:r>
                        <a:rPr lang="en-US" i="1" baseline="0" dirty="0"/>
                        <a:t>q</a:t>
                      </a:r>
                      <a:r>
                        <a:rPr lang="en-US" baseline="0" dirty="0"/>
                        <a:t> at step </a:t>
                      </a:r>
                      <a:r>
                        <a:rPr lang="en-US" i="1" baseline="0" dirty="0"/>
                        <a:t>k</a:t>
                      </a:r>
                      <a:r>
                        <a:rPr lang="en-US" baseline="0" dirty="0"/>
                        <a:t> of the computation</a:t>
                      </a:r>
                      <a:endParaRPr lang="en-US" dirty="0"/>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dirty="0"/>
                        <a:t>O(p(n))</a:t>
                      </a:r>
                    </a:p>
                  </a:txBody>
                  <a:tcPr/>
                </a:tc>
                <a:extLst>
                  <a:ext uri="{0D108BD9-81ED-4DB2-BD59-A6C34878D82A}">
                    <a16:rowId xmlns:a16="http://schemas.microsoft.com/office/drawing/2014/main" val="10003"/>
                  </a:ext>
                </a:extLst>
              </a:tr>
            </a:tbl>
          </a:graphicData>
        </a:graphic>
      </p:graphicFrame>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D97C09F2-DA07-AD45-9F29-9B15E2D9EEE2}"/>
                  </a:ext>
                </a:extLst>
              </p:cNvPr>
              <p:cNvSpPr txBox="1"/>
              <p:nvPr/>
            </p:nvSpPr>
            <p:spPr>
              <a:xfrm>
                <a:off x="2212817" y="4309989"/>
                <a:ext cx="2431611" cy="1200329"/>
              </a:xfrm>
              <a:prstGeom prst="rect">
                <a:avLst/>
              </a:prstGeom>
              <a:solidFill>
                <a:schemeClr val="tx1">
                  <a:lumMod val="95000"/>
                </a:schemeClr>
              </a:solidFill>
              <a:ln>
                <a:solidFill>
                  <a:schemeClr val="bg1"/>
                </a:solid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solidFill>
                            <a:schemeClr val="bg1"/>
                          </a:solidFill>
                          <a:latin typeface="Cambria Math" panose="02040503050406030204" pitchFamily="18" charset="0"/>
                        </a:rPr>
                        <m:t>𝑞</m:t>
                      </m:r>
                      <m:r>
                        <a:rPr lang="en-US" b="0" i="1" smtClean="0">
                          <a:solidFill>
                            <a:schemeClr val="bg1"/>
                          </a:solidFill>
                          <a:latin typeface="Cambria Math" panose="02040503050406030204" pitchFamily="18" charset="0"/>
                        </a:rPr>
                        <m:t>∈</m:t>
                      </m:r>
                      <m:r>
                        <a:rPr lang="en-US" b="0" i="1" smtClean="0">
                          <a:solidFill>
                            <a:schemeClr val="bg1"/>
                          </a:solidFill>
                          <a:latin typeface="Cambria Math" panose="02040503050406030204" pitchFamily="18" charset="0"/>
                        </a:rPr>
                        <m:t>𝑄</m:t>
                      </m:r>
                    </m:oMath>
                    <m:oMath xmlns:m="http://schemas.openxmlformats.org/officeDocument/2006/math">
                      <m:r>
                        <a:rPr lang="en-US" b="0" i="1" smtClean="0">
                          <a:solidFill>
                            <a:schemeClr val="bg1"/>
                          </a:solidFill>
                          <a:latin typeface="Cambria Math" panose="02040503050406030204" pitchFamily="18" charset="0"/>
                        </a:rPr>
                        <m:t>−</m:t>
                      </m:r>
                      <m:r>
                        <a:rPr lang="en-US" b="0" i="1" smtClean="0">
                          <a:solidFill>
                            <a:schemeClr val="bg1"/>
                          </a:solidFill>
                          <a:latin typeface="Cambria Math" panose="02040503050406030204" pitchFamily="18" charset="0"/>
                        </a:rPr>
                        <m:t>𝑝</m:t>
                      </m:r>
                      <m:d>
                        <m:dPr>
                          <m:ctrlPr>
                            <a:rPr lang="en-US" b="0" i="1" smtClean="0">
                              <a:solidFill>
                                <a:schemeClr val="bg1"/>
                              </a:solidFill>
                              <a:latin typeface="Cambria Math" panose="02040503050406030204" pitchFamily="18" charset="0"/>
                            </a:rPr>
                          </m:ctrlPr>
                        </m:dPr>
                        <m:e>
                          <m:r>
                            <a:rPr lang="en-US" b="0" i="1" smtClean="0">
                              <a:solidFill>
                                <a:schemeClr val="bg1"/>
                              </a:solidFill>
                              <a:latin typeface="Cambria Math" panose="02040503050406030204" pitchFamily="18" charset="0"/>
                            </a:rPr>
                            <m:t>𝑛</m:t>
                          </m:r>
                        </m:e>
                      </m:d>
                      <m:r>
                        <a:rPr lang="en-US" b="0" i="1" smtClean="0">
                          <a:solidFill>
                            <a:schemeClr val="bg1"/>
                          </a:solidFill>
                          <a:latin typeface="Cambria Math" panose="02040503050406030204" pitchFamily="18" charset="0"/>
                        </a:rPr>
                        <m:t>≤</m:t>
                      </m:r>
                      <m:r>
                        <a:rPr lang="en-US" b="0" i="1" smtClean="0">
                          <a:solidFill>
                            <a:schemeClr val="bg1"/>
                          </a:solidFill>
                          <a:latin typeface="Cambria Math" panose="02040503050406030204" pitchFamily="18" charset="0"/>
                        </a:rPr>
                        <m:t>𝑖</m:t>
                      </m:r>
                      <m:r>
                        <a:rPr lang="en-US" b="0" i="1" smtClean="0">
                          <a:solidFill>
                            <a:schemeClr val="bg1"/>
                          </a:solidFill>
                          <a:latin typeface="Cambria Math" panose="02040503050406030204" pitchFamily="18" charset="0"/>
                        </a:rPr>
                        <m:t>≤</m:t>
                      </m:r>
                      <m:r>
                        <a:rPr lang="en-US" b="0" i="1" smtClean="0">
                          <a:solidFill>
                            <a:schemeClr val="bg1"/>
                          </a:solidFill>
                          <a:latin typeface="Cambria Math" panose="02040503050406030204" pitchFamily="18" charset="0"/>
                        </a:rPr>
                        <m:t>𝑝</m:t>
                      </m:r>
                      <m:d>
                        <m:dPr>
                          <m:ctrlPr>
                            <a:rPr lang="en-US" b="0" i="1" smtClean="0">
                              <a:solidFill>
                                <a:schemeClr val="bg1"/>
                              </a:solidFill>
                              <a:latin typeface="Cambria Math" panose="02040503050406030204" pitchFamily="18" charset="0"/>
                            </a:rPr>
                          </m:ctrlPr>
                        </m:dPr>
                        <m:e>
                          <m:r>
                            <a:rPr lang="en-US" b="0" i="1" smtClean="0">
                              <a:solidFill>
                                <a:schemeClr val="bg1"/>
                              </a:solidFill>
                              <a:latin typeface="Cambria Math" panose="02040503050406030204" pitchFamily="18" charset="0"/>
                            </a:rPr>
                            <m:t>𝑛</m:t>
                          </m:r>
                        </m:e>
                      </m:d>
                    </m:oMath>
                    <m:oMath xmlns:m="http://schemas.openxmlformats.org/officeDocument/2006/math">
                      <m:r>
                        <a:rPr lang="en-US" b="0" i="1" smtClean="0">
                          <a:solidFill>
                            <a:schemeClr val="bg1"/>
                          </a:solidFill>
                          <a:latin typeface="Cambria Math" panose="02040503050406030204" pitchFamily="18" charset="0"/>
                        </a:rPr>
                        <m:t>𝑗</m:t>
                      </m:r>
                      <m:r>
                        <a:rPr lang="en-US" b="0" i="1" smtClean="0">
                          <a:solidFill>
                            <a:schemeClr val="bg1"/>
                          </a:solidFill>
                          <a:latin typeface="Cambria Math" panose="02040503050406030204" pitchFamily="18" charset="0"/>
                        </a:rPr>
                        <m:t>∈</m:t>
                      </m:r>
                      <m:r>
                        <m:rPr>
                          <m:sty m:val="p"/>
                        </m:rPr>
                        <a:rPr lang="en-US" b="0" i="0" smtClean="0">
                          <a:solidFill>
                            <a:schemeClr val="bg1"/>
                          </a:solidFill>
                          <a:latin typeface="Cambria Math" panose="02040503050406030204" pitchFamily="18" charset="0"/>
                        </a:rPr>
                        <m:t>Σ</m:t>
                      </m:r>
                    </m:oMath>
                    <m:oMath xmlns:m="http://schemas.openxmlformats.org/officeDocument/2006/math">
                      <m:r>
                        <a:rPr lang="en-US" i="1">
                          <a:solidFill>
                            <a:schemeClr val="bg1"/>
                          </a:solidFill>
                          <a:latin typeface="Cambria Math" panose="02040503050406030204" pitchFamily="18" charset="0"/>
                        </a:rPr>
                        <m:t>0</m:t>
                      </m:r>
                      <m:r>
                        <a:rPr lang="en-US" b="0" i="1" smtClean="0">
                          <a:solidFill>
                            <a:schemeClr val="bg1"/>
                          </a:solidFill>
                          <a:latin typeface="Cambria Math" panose="02040503050406030204" pitchFamily="18" charset="0"/>
                        </a:rPr>
                        <m:t>≤</m:t>
                      </m:r>
                      <m:r>
                        <a:rPr lang="en-US" b="0" i="1" smtClean="0">
                          <a:solidFill>
                            <a:schemeClr val="bg1"/>
                          </a:solidFill>
                          <a:latin typeface="Cambria Math" panose="02040503050406030204" pitchFamily="18" charset="0"/>
                        </a:rPr>
                        <m:t>𝑘</m:t>
                      </m:r>
                      <m:r>
                        <a:rPr lang="en-US" b="0" i="1" smtClean="0">
                          <a:solidFill>
                            <a:schemeClr val="bg1"/>
                          </a:solidFill>
                          <a:latin typeface="Cambria Math" panose="02040503050406030204" pitchFamily="18" charset="0"/>
                        </a:rPr>
                        <m:t>≤</m:t>
                      </m:r>
                      <m:r>
                        <a:rPr lang="en-US" b="0" i="1" smtClean="0">
                          <a:solidFill>
                            <a:schemeClr val="bg1"/>
                          </a:solidFill>
                          <a:latin typeface="Cambria Math" panose="02040503050406030204" pitchFamily="18" charset="0"/>
                        </a:rPr>
                        <m:t>𝑝</m:t>
                      </m:r>
                      <m:r>
                        <a:rPr lang="en-US" b="0" i="1" smtClean="0">
                          <a:solidFill>
                            <a:schemeClr val="bg1"/>
                          </a:solidFill>
                          <a:latin typeface="Cambria Math" panose="02040503050406030204" pitchFamily="18" charset="0"/>
                        </a:rPr>
                        <m:t>(</m:t>
                      </m:r>
                      <m:r>
                        <a:rPr lang="en-US" b="0" i="1" smtClean="0">
                          <a:solidFill>
                            <a:schemeClr val="bg1"/>
                          </a:solidFill>
                          <a:latin typeface="Cambria Math" panose="02040503050406030204" pitchFamily="18" charset="0"/>
                        </a:rPr>
                        <m:t>𝑛</m:t>
                      </m:r>
                      <m:r>
                        <a:rPr lang="en-US" b="0" i="1" smtClean="0">
                          <a:solidFill>
                            <a:schemeClr val="bg1"/>
                          </a:solidFill>
                          <a:latin typeface="Cambria Math" panose="02040503050406030204" pitchFamily="18" charset="0"/>
                        </a:rPr>
                        <m:t>)</m:t>
                      </m:r>
                    </m:oMath>
                  </m:oMathPara>
                </a14:m>
                <a:endParaRPr lang="en-US" b="0" dirty="0">
                  <a:solidFill>
                    <a:schemeClr val="bg1"/>
                  </a:solidFill>
                </a:endParaRPr>
              </a:p>
            </p:txBody>
          </p:sp>
        </mc:Choice>
        <mc:Fallback xmlns="">
          <p:sp>
            <p:nvSpPr>
              <p:cNvPr id="10" name="TextBox 9">
                <a:extLst>
                  <a:ext uri="{FF2B5EF4-FFF2-40B4-BE49-F238E27FC236}">
                    <a16:creationId xmlns:a16="http://schemas.microsoft.com/office/drawing/2014/main" id="{D97C09F2-DA07-AD45-9F29-9B15E2D9EEE2}"/>
                  </a:ext>
                </a:extLst>
              </p:cNvPr>
              <p:cNvSpPr txBox="1">
                <a:spLocks noRot="1" noChangeAspect="1" noMove="1" noResize="1" noEditPoints="1" noAdjustHandles="1" noChangeArrowheads="1" noChangeShapeType="1" noTextEdit="1"/>
              </p:cNvSpPr>
              <p:nvPr/>
            </p:nvSpPr>
            <p:spPr>
              <a:xfrm>
                <a:off x="2212817" y="4309989"/>
                <a:ext cx="2431611" cy="1200329"/>
              </a:xfrm>
              <a:prstGeom prst="rect">
                <a:avLst/>
              </a:prstGeom>
              <a:blipFill>
                <a:blip r:embed="rId2"/>
                <a:stretch>
                  <a:fillRect b="-2062"/>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Content Placeholder 2">
                <a:extLst>
                  <a:ext uri="{FF2B5EF4-FFF2-40B4-BE49-F238E27FC236}">
                    <a16:creationId xmlns:a16="http://schemas.microsoft.com/office/drawing/2014/main" id="{99F52E66-A237-2949-8C9C-59F1D5E6E5BE}"/>
                  </a:ext>
                </a:extLst>
              </p:cNvPr>
              <p:cNvSpPr txBox="1">
                <a:spLocks/>
              </p:cNvSpPr>
              <p:nvPr/>
            </p:nvSpPr>
            <p:spPr>
              <a:xfrm>
                <a:off x="8374455" y="4780230"/>
                <a:ext cx="2471597" cy="1086416"/>
              </a:xfrm>
              <a:prstGeom prst="rect">
                <a:avLst/>
              </a:prstGeom>
              <a:no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600" i="1" dirty="0">
                    <a:solidFill>
                      <a:schemeClr val="tx1">
                        <a:lumMod val="95000"/>
                      </a:schemeClr>
                    </a:solidFill>
                  </a:rPr>
                  <a:t>Note that p(n) is the time the original NTM takes and </a:t>
                </a:r>
                <a14:m>
                  <m:oMath xmlns:m="http://schemas.openxmlformats.org/officeDocument/2006/math">
                    <m:r>
                      <a:rPr lang="en-US" sz="1600" b="0" i="1" smtClean="0">
                        <a:solidFill>
                          <a:schemeClr val="tx1">
                            <a:lumMod val="95000"/>
                          </a:schemeClr>
                        </a:solidFill>
                        <a:latin typeface="Cambria Math" panose="02040503050406030204" pitchFamily="18" charset="0"/>
                      </a:rPr>
                      <m:t>𝑝</m:t>
                    </m:r>
                    <m:d>
                      <m:dPr>
                        <m:ctrlPr>
                          <a:rPr lang="en-US" sz="1600" b="0" i="1" smtClean="0">
                            <a:solidFill>
                              <a:schemeClr val="tx1">
                                <a:lumMod val="95000"/>
                              </a:schemeClr>
                            </a:solidFill>
                            <a:latin typeface="Cambria Math" panose="02040503050406030204" pitchFamily="18" charset="0"/>
                          </a:rPr>
                        </m:ctrlPr>
                      </m:dPr>
                      <m:e>
                        <m:r>
                          <a:rPr lang="en-US" sz="1600" b="0" i="1" smtClean="0">
                            <a:solidFill>
                              <a:schemeClr val="tx1">
                                <a:lumMod val="95000"/>
                              </a:schemeClr>
                            </a:solidFill>
                            <a:latin typeface="Cambria Math" panose="02040503050406030204" pitchFamily="18" charset="0"/>
                          </a:rPr>
                          <m:t>𝑛</m:t>
                        </m:r>
                      </m:e>
                    </m:d>
                    <m:r>
                      <a:rPr lang="en-US" sz="1600" b="0" i="1" smtClean="0">
                        <a:solidFill>
                          <a:schemeClr val="tx1">
                            <a:lumMod val="95000"/>
                          </a:schemeClr>
                        </a:solidFill>
                        <a:latin typeface="Cambria Math" panose="02040503050406030204" pitchFamily="18" charset="0"/>
                      </a:rPr>
                      <m:t>∈</m:t>
                    </m:r>
                    <m:r>
                      <m:rPr>
                        <m:sty m:val="p"/>
                      </m:rPr>
                      <a:rPr lang="en-US" sz="1600" b="0" i="0" smtClean="0">
                        <a:solidFill>
                          <a:schemeClr val="tx1">
                            <a:lumMod val="95000"/>
                          </a:schemeClr>
                        </a:solidFill>
                        <a:latin typeface="Cambria Math" panose="02040503050406030204" pitchFamily="18" charset="0"/>
                      </a:rPr>
                      <m:t>Θ</m:t>
                    </m:r>
                    <m:r>
                      <a:rPr lang="en-US" sz="1600" b="0" i="1" smtClean="0">
                        <a:solidFill>
                          <a:schemeClr val="tx1">
                            <a:lumMod val="95000"/>
                          </a:schemeClr>
                        </a:solidFill>
                        <a:latin typeface="Cambria Math" panose="02040503050406030204" pitchFamily="18" charset="0"/>
                      </a:rPr>
                      <m:t>(</m:t>
                    </m:r>
                    <m:sSup>
                      <m:sSupPr>
                        <m:ctrlPr>
                          <a:rPr lang="en-US" sz="1600" b="0" i="1" smtClean="0">
                            <a:solidFill>
                              <a:schemeClr val="tx1">
                                <a:lumMod val="95000"/>
                              </a:schemeClr>
                            </a:solidFill>
                            <a:latin typeface="Cambria Math" panose="02040503050406030204" pitchFamily="18" charset="0"/>
                          </a:rPr>
                        </m:ctrlPr>
                      </m:sSupPr>
                      <m:e>
                        <m:r>
                          <a:rPr lang="en-US" sz="1600" b="0" i="1" smtClean="0">
                            <a:solidFill>
                              <a:schemeClr val="tx1">
                                <a:lumMod val="95000"/>
                              </a:schemeClr>
                            </a:solidFill>
                            <a:latin typeface="Cambria Math" panose="02040503050406030204" pitchFamily="18" charset="0"/>
                          </a:rPr>
                          <m:t>𝑛</m:t>
                        </m:r>
                      </m:e>
                      <m:sup>
                        <m:r>
                          <a:rPr lang="en-US" sz="1600" b="0" i="1" smtClean="0">
                            <a:solidFill>
                              <a:schemeClr val="tx1">
                                <a:lumMod val="95000"/>
                              </a:schemeClr>
                            </a:solidFill>
                            <a:latin typeface="Cambria Math" panose="02040503050406030204" pitchFamily="18" charset="0"/>
                          </a:rPr>
                          <m:t>𝑐</m:t>
                        </m:r>
                      </m:sup>
                    </m:sSup>
                    <m:r>
                      <a:rPr lang="en-US" sz="1600" b="0" i="1" smtClean="0">
                        <a:solidFill>
                          <a:schemeClr val="tx1">
                            <a:lumMod val="95000"/>
                          </a:schemeClr>
                        </a:solidFill>
                        <a:latin typeface="Cambria Math" panose="02040503050406030204" pitchFamily="18" charset="0"/>
                      </a:rPr>
                      <m:t>)</m:t>
                    </m:r>
                  </m:oMath>
                </a14:m>
                <a:endParaRPr lang="en-US" sz="1600" i="1" dirty="0">
                  <a:solidFill>
                    <a:schemeClr val="tx1">
                      <a:lumMod val="95000"/>
                    </a:schemeClr>
                  </a:solidFill>
                </a:endParaRPr>
              </a:p>
            </p:txBody>
          </p:sp>
        </mc:Choice>
        <mc:Fallback xmlns="">
          <p:sp>
            <p:nvSpPr>
              <p:cNvPr id="15" name="Content Placeholder 2">
                <a:extLst>
                  <a:ext uri="{FF2B5EF4-FFF2-40B4-BE49-F238E27FC236}">
                    <a16:creationId xmlns:a16="http://schemas.microsoft.com/office/drawing/2014/main" id="{99F52E66-A237-2949-8C9C-59F1D5E6E5BE}"/>
                  </a:ext>
                </a:extLst>
              </p:cNvPr>
              <p:cNvSpPr txBox="1">
                <a:spLocks noRot="1" noChangeAspect="1" noMove="1" noResize="1" noEditPoints="1" noAdjustHandles="1" noChangeArrowheads="1" noChangeShapeType="1" noTextEdit="1"/>
              </p:cNvSpPr>
              <p:nvPr/>
            </p:nvSpPr>
            <p:spPr>
              <a:xfrm>
                <a:off x="8374455" y="4780230"/>
                <a:ext cx="2471597" cy="1086416"/>
              </a:xfrm>
              <a:prstGeom prst="rect">
                <a:avLst/>
              </a:prstGeom>
              <a:blipFill>
                <a:blip r:embed="rId3"/>
                <a:stretch>
                  <a:fillRect r="-2551"/>
                </a:stretch>
              </a:blipFill>
            </p:spPr>
            <p:txBody>
              <a:bodyPr/>
              <a:lstStyle/>
              <a:p>
                <a:r>
                  <a:rPr lang="en-US">
                    <a:noFill/>
                  </a:rPr>
                  <a:t> </a:t>
                </a:r>
              </a:p>
            </p:txBody>
          </p:sp>
        </mc:Fallback>
      </mc:AlternateContent>
      <p:cxnSp>
        <p:nvCxnSpPr>
          <p:cNvPr id="16" name="Straight Connector 15">
            <a:extLst>
              <a:ext uri="{FF2B5EF4-FFF2-40B4-BE49-F238E27FC236}">
                <a16:creationId xmlns:a16="http://schemas.microsoft.com/office/drawing/2014/main" id="{A91D0D62-1746-CE4D-AB80-83EFD6B055E5}"/>
              </a:ext>
            </a:extLst>
          </p:cNvPr>
          <p:cNvCxnSpPr>
            <a:cxnSpLocks/>
          </p:cNvCxnSpPr>
          <p:nvPr/>
        </p:nvCxnSpPr>
        <p:spPr>
          <a:xfrm>
            <a:off x="8912591" y="3615037"/>
            <a:ext cx="466799" cy="1165193"/>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
        <p:nvSpPr>
          <p:cNvPr id="19" name="Content Placeholder 2">
            <a:extLst>
              <a:ext uri="{FF2B5EF4-FFF2-40B4-BE49-F238E27FC236}">
                <a16:creationId xmlns:a16="http://schemas.microsoft.com/office/drawing/2014/main" id="{D3C9E635-C82C-C74F-B284-60AF181B581F}"/>
              </a:ext>
            </a:extLst>
          </p:cNvPr>
          <p:cNvSpPr txBox="1">
            <a:spLocks/>
          </p:cNvSpPr>
          <p:nvPr/>
        </p:nvSpPr>
        <p:spPr>
          <a:xfrm>
            <a:off x="2212818" y="3984070"/>
            <a:ext cx="2431610" cy="326682"/>
          </a:xfrm>
          <a:prstGeom prst="rect">
            <a:avLst/>
          </a:prstGeom>
          <a:noFill/>
        </p:spPr>
        <p:txBody>
          <a:bodyPr vert="horz" lIns="91440" tIns="45720" rIns="91440" bIns="45720" rtlCol="0">
            <a:normAutofit fontScale="925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i="1" dirty="0">
                <a:solidFill>
                  <a:schemeClr val="tx1">
                    <a:lumMod val="95000"/>
                  </a:schemeClr>
                </a:solidFill>
              </a:rPr>
              <a:t>Some constraints:</a:t>
            </a:r>
          </a:p>
        </p:txBody>
      </p:sp>
    </p:spTree>
    <p:extLst>
      <p:ext uri="{BB962C8B-B14F-4D97-AF65-F5344CB8AC3E}">
        <p14:creationId xmlns:p14="http://schemas.microsoft.com/office/powerpoint/2010/main" val="247195867"/>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41413" y="193009"/>
            <a:ext cx="9905998" cy="567486"/>
          </a:xfrm>
        </p:spPr>
        <p:txBody>
          <a:bodyPr>
            <a:normAutofit fontScale="90000"/>
          </a:bodyPr>
          <a:lstStyle/>
          <a:p>
            <a:pPr algn="ctr"/>
            <a:r>
              <a:rPr lang="en-US" dirty="0"/>
              <a:t>Create a conjunction ‘B’ of…</a:t>
            </a:r>
          </a:p>
        </p:txBody>
      </p:sp>
      <p:graphicFrame>
        <p:nvGraphicFramePr>
          <p:cNvPr id="7" name="Content Placeholder 6"/>
          <p:cNvGraphicFramePr>
            <a:graphicFrameLocks noGrp="1"/>
          </p:cNvGraphicFramePr>
          <p:nvPr>
            <p:ph sz="quarter" idx="1"/>
            <p:extLst>
              <p:ext uri="{D42A27DB-BD31-4B8C-83A1-F6EECF244321}">
                <p14:modId xmlns:p14="http://schemas.microsoft.com/office/powerpoint/2010/main" val="1477413978"/>
              </p:ext>
            </p:extLst>
          </p:nvPr>
        </p:nvGraphicFramePr>
        <p:xfrm>
          <a:off x="1437122" y="969023"/>
          <a:ext cx="8839200" cy="5269026"/>
        </p:xfrm>
        <a:graphic>
          <a:graphicData uri="http://schemas.openxmlformats.org/drawingml/2006/table">
            <a:tbl>
              <a:tblPr firstRow="1" bandRow="1">
                <a:tableStyleId>{5C22544A-7EE6-4342-B048-85BDC9FD1C3A}</a:tableStyleId>
              </a:tblPr>
              <a:tblGrid>
                <a:gridCol w="1828800">
                  <a:extLst>
                    <a:ext uri="{9D8B030D-6E8A-4147-A177-3AD203B41FA5}">
                      <a16:colId xmlns:a16="http://schemas.microsoft.com/office/drawing/2014/main" val="20000"/>
                    </a:ext>
                  </a:extLst>
                </a:gridCol>
                <a:gridCol w="1905000">
                  <a:extLst>
                    <a:ext uri="{9D8B030D-6E8A-4147-A177-3AD203B41FA5}">
                      <a16:colId xmlns:a16="http://schemas.microsoft.com/office/drawing/2014/main" val="20001"/>
                    </a:ext>
                  </a:extLst>
                </a:gridCol>
                <a:gridCol w="3674291">
                  <a:extLst>
                    <a:ext uri="{9D8B030D-6E8A-4147-A177-3AD203B41FA5}">
                      <a16:colId xmlns:a16="http://schemas.microsoft.com/office/drawing/2014/main" val="20002"/>
                    </a:ext>
                  </a:extLst>
                </a:gridCol>
                <a:gridCol w="1431109">
                  <a:extLst>
                    <a:ext uri="{9D8B030D-6E8A-4147-A177-3AD203B41FA5}">
                      <a16:colId xmlns:a16="http://schemas.microsoft.com/office/drawing/2014/main" val="20003"/>
                    </a:ext>
                  </a:extLst>
                </a:gridCol>
              </a:tblGrid>
              <a:tr h="388862">
                <a:tc>
                  <a:txBody>
                    <a:bodyPr/>
                    <a:lstStyle/>
                    <a:p>
                      <a:r>
                        <a:rPr lang="en-US" dirty="0"/>
                        <a:t>Expression</a:t>
                      </a:r>
                    </a:p>
                  </a:txBody>
                  <a:tcPr/>
                </a:tc>
                <a:tc>
                  <a:txBody>
                    <a:bodyPr/>
                    <a:lstStyle/>
                    <a:p>
                      <a:r>
                        <a:rPr lang="en-US" dirty="0"/>
                        <a:t>Conditions</a:t>
                      </a:r>
                    </a:p>
                  </a:txBody>
                  <a:tcPr/>
                </a:tc>
                <a:tc>
                  <a:txBody>
                    <a:bodyPr/>
                    <a:lstStyle/>
                    <a:p>
                      <a:r>
                        <a:rPr lang="en-US" dirty="0"/>
                        <a:t>Interpretation</a:t>
                      </a:r>
                    </a:p>
                  </a:txBody>
                  <a:tcPr/>
                </a:tc>
                <a:tc>
                  <a:txBody>
                    <a:bodyPr/>
                    <a:lstStyle/>
                    <a:p>
                      <a:r>
                        <a:rPr lang="en-US" dirty="0"/>
                        <a:t>How many</a:t>
                      </a:r>
                    </a:p>
                  </a:txBody>
                  <a:tcPr/>
                </a:tc>
                <a:extLst>
                  <a:ext uri="{0D108BD9-81ED-4DB2-BD59-A6C34878D82A}">
                    <a16:rowId xmlns:a16="http://schemas.microsoft.com/office/drawing/2014/main" val="10000"/>
                  </a:ext>
                </a:extLst>
              </a:tr>
              <a:tr h="671187">
                <a:tc>
                  <a:txBody>
                    <a:bodyPr/>
                    <a:lstStyle/>
                    <a:p>
                      <a:r>
                        <a:rPr lang="en-US" dirty="0"/>
                        <a:t>T</a:t>
                      </a:r>
                      <a:r>
                        <a:rPr lang="en-US" baseline="-25000" dirty="0"/>
                        <a:t>ij0</a:t>
                      </a:r>
                    </a:p>
                  </a:txBody>
                  <a:tcPr/>
                </a:tc>
                <a:tc>
                  <a:txBody>
                    <a:bodyPr/>
                    <a:lstStyle/>
                    <a:p>
                      <a:r>
                        <a:rPr lang="en-US" dirty="0"/>
                        <a:t>Tape</a:t>
                      </a:r>
                      <a:r>
                        <a:rPr lang="en-US" baseline="0" dirty="0"/>
                        <a:t> cell </a:t>
                      </a:r>
                      <a:r>
                        <a:rPr lang="en-US" baseline="0" dirty="0" err="1"/>
                        <a:t>i</a:t>
                      </a:r>
                      <a:r>
                        <a:rPr lang="en-US" baseline="0" dirty="0"/>
                        <a:t> initially contains symbol J</a:t>
                      </a:r>
                      <a:endParaRPr lang="en-US" dirty="0"/>
                    </a:p>
                  </a:txBody>
                  <a:tcPr/>
                </a:tc>
                <a:tc>
                  <a:txBody>
                    <a:bodyPr/>
                    <a:lstStyle/>
                    <a:p>
                      <a:r>
                        <a:rPr lang="en-US" dirty="0"/>
                        <a:t>Initial</a:t>
                      </a:r>
                      <a:r>
                        <a:rPr lang="en-US" baseline="0" dirty="0"/>
                        <a:t> tape state; blank symbols above n</a:t>
                      </a:r>
                      <a:endParaRPr lang="en-US" dirty="0"/>
                    </a:p>
                  </a:txBody>
                  <a:tcPr/>
                </a:tc>
                <a:tc>
                  <a:txBody>
                    <a:bodyPr/>
                    <a:lstStyle/>
                    <a:p>
                      <a:r>
                        <a:rPr lang="en-US" dirty="0"/>
                        <a:t>O(p(n))</a:t>
                      </a:r>
                    </a:p>
                  </a:txBody>
                  <a:tcPr/>
                </a:tc>
                <a:extLst>
                  <a:ext uri="{0D108BD9-81ED-4DB2-BD59-A6C34878D82A}">
                    <a16:rowId xmlns:a16="http://schemas.microsoft.com/office/drawing/2014/main" val="10001"/>
                  </a:ext>
                </a:extLst>
              </a:tr>
              <a:tr h="388862">
                <a:tc>
                  <a:txBody>
                    <a:bodyPr/>
                    <a:lstStyle/>
                    <a:p>
                      <a:r>
                        <a:rPr lang="en-US" dirty="0"/>
                        <a:t>Q</a:t>
                      </a:r>
                      <a:r>
                        <a:rPr lang="en-US" baseline="-25000" dirty="0"/>
                        <a:t>s0</a:t>
                      </a:r>
                    </a:p>
                  </a:txBody>
                  <a:tcPr/>
                </a:tc>
                <a:tc>
                  <a:txBody>
                    <a:bodyPr/>
                    <a:lstStyle/>
                    <a:p>
                      <a:endParaRPr lang="en-US" dirty="0"/>
                    </a:p>
                  </a:txBody>
                  <a:tcPr/>
                </a:tc>
                <a:tc>
                  <a:txBody>
                    <a:bodyPr/>
                    <a:lstStyle/>
                    <a:p>
                      <a:r>
                        <a:rPr lang="en-US" dirty="0"/>
                        <a:t>Initial</a:t>
                      </a:r>
                      <a:r>
                        <a:rPr lang="en-US" baseline="0" dirty="0"/>
                        <a:t> state of the NTM</a:t>
                      </a:r>
                      <a:endParaRPr lang="en-US" dirty="0"/>
                    </a:p>
                  </a:txBody>
                  <a:tcPr/>
                </a:tc>
                <a:tc>
                  <a:txBody>
                    <a:bodyPr/>
                    <a:lstStyle/>
                    <a:p>
                      <a:r>
                        <a:rPr lang="en-US" dirty="0"/>
                        <a:t>1</a:t>
                      </a:r>
                    </a:p>
                  </a:txBody>
                  <a:tcPr/>
                </a:tc>
                <a:extLst>
                  <a:ext uri="{0D108BD9-81ED-4DB2-BD59-A6C34878D82A}">
                    <a16:rowId xmlns:a16="http://schemas.microsoft.com/office/drawing/2014/main" val="10002"/>
                  </a:ext>
                </a:extLst>
              </a:tr>
              <a:tr h="388862">
                <a:tc>
                  <a:txBody>
                    <a:bodyPr/>
                    <a:lstStyle/>
                    <a:p>
                      <a:r>
                        <a:rPr lang="en-US" dirty="0"/>
                        <a:t>H</a:t>
                      </a:r>
                      <a:r>
                        <a:rPr lang="en-US" baseline="-25000" dirty="0"/>
                        <a:t>00</a:t>
                      </a:r>
                    </a:p>
                  </a:txBody>
                  <a:tcPr/>
                </a:tc>
                <a:tc>
                  <a:txBody>
                    <a:bodyPr/>
                    <a:lstStyle/>
                    <a:p>
                      <a:endParaRPr lang="en-US" dirty="0"/>
                    </a:p>
                  </a:txBody>
                  <a:tcPr/>
                </a:tc>
                <a:tc>
                  <a:txBody>
                    <a:bodyPr/>
                    <a:lstStyle/>
                    <a:p>
                      <a:r>
                        <a:rPr lang="en-US" dirty="0"/>
                        <a:t>Initial position of the read/write</a:t>
                      </a:r>
                      <a:r>
                        <a:rPr lang="en-US" baseline="0" dirty="0"/>
                        <a:t> head</a:t>
                      </a:r>
                      <a:endParaRPr lang="en-US" dirty="0"/>
                    </a:p>
                  </a:txBody>
                  <a:tcPr/>
                </a:tc>
                <a:tc>
                  <a:txBody>
                    <a:bodyPr/>
                    <a:lstStyle/>
                    <a:p>
                      <a:r>
                        <a:rPr lang="en-US" dirty="0"/>
                        <a:t>1</a:t>
                      </a:r>
                    </a:p>
                  </a:txBody>
                  <a:tcPr/>
                </a:tc>
                <a:extLst>
                  <a:ext uri="{0D108BD9-81ED-4DB2-BD59-A6C34878D82A}">
                    <a16:rowId xmlns:a16="http://schemas.microsoft.com/office/drawing/2014/main" val="10003"/>
                  </a:ext>
                </a:extLst>
              </a:tr>
              <a:tr h="416238">
                <a:tc>
                  <a:txBody>
                    <a:bodyPr/>
                    <a:lstStyle/>
                    <a:p>
                      <a:r>
                        <a:rPr lang="en-US" dirty="0" err="1"/>
                        <a:t>T</a:t>
                      </a:r>
                      <a:r>
                        <a:rPr lang="en-US" baseline="-25000" dirty="0" err="1"/>
                        <a:t>ijk</a:t>
                      </a:r>
                      <a:r>
                        <a:rPr lang="en-US" dirty="0"/>
                        <a:t> </a:t>
                      </a:r>
                      <a:r>
                        <a:rPr lang="en-US" dirty="0">
                          <a:sym typeface="Symbol"/>
                        </a:rPr>
                        <a:t> </a:t>
                      </a:r>
                      <a:r>
                        <a:rPr lang="en-US" dirty="0" err="1">
                          <a:sym typeface="Symbol"/>
                        </a:rPr>
                        <a:t>T</a:t>
                      </a:r>
                      <a:r>
                        <a:rPr lang="en-US" baseline="-25000" dirty="0" err="1">
                          <a:sym typeface="Symbol"/>
                        </a:rPr>
                        <a:t>ij’k</a:t>
                      </a:r>
                      <a:endParaRPr lang="en-US" baseline="-25000" dirty="0"/>
                    </a:p>
                  </a:txBody>
                  <a:tcPr/>
                </a:tc>
                <a:tc>
                  <a:txBody>
                    <a:bodyPr/>
                    <a:lstStyle/>
                    <a:p>
                      <a:r>
                        <a:rPr lang="en-US" dirty="0"/>
                        <a:t>j != j’</a:t>
                      </a:r>
                    </a:p>
                  </a:txBody>
                  <a:tcPr/>
                </a:tc>
                <a:tc>
                  <a:txBody>
                    <a:bodyPr/>
                    <a:lstStyle/>
                    <a:p>
                      <a:r>
                        <a:rPr lang="en-US" dirty="0"/>
                        <a:t>One</a:t>
                      </a:r>
                      <a:r>
                        <a:rPr lang="en-US" baseline="0" dirty="0"/>
                        <a:t> symbol per tape cell</a:t>
                      </a:r>
                      <a:endParaRPr lang="en-US" dirty="0"/>
                    </a:p>
                  </a:txBody>
                  <a:tcPr/>
                </a:tc>
                <a:tc>
                  <a:txBody>
                    <a:bodyPr/>
                    <a:lstStyle/>
                    <a:p>
                      <a:r>
                        <a:rPr lang="en-US" dirty="0"/>
                        <a:t>O(p(n)</a:t>
                      </a:r>
                      <a:r>
                        <a:rPr lang="en-US" baseline="30000" dirty="0"/>
                        <a:t>2</a:t>
                      </a:r>
                      <a:r>
                        <a:rPr lang="en-US" dirty="0"/>
                        <a:t>)</a:t>
                      </a:r>
                    </a:p>
                  </a:txBody>
                  <a:tcPr/>
                </a:tc>
                <a:extLst>
                  <a:ext uri="{0D108BD9-81ED-4DB2-BD59-A6C34878D82A}">
                    <a16:rowId xmlns:a16="http://schemas.microsoft.com/office/drawing/2014/main" val="10004"/>
                  </a:ext>
                </a:extLst>
              </a:tr>
              <a:tr h="671187">
                <a:tc>
                  <a:txBody>
                    <a:bodyPr/>
                    <a:lstStyle/>
                    <a:p>
                      <a:r>
                        <a:rPr lang="en-US" dirty="0" err="1"/>
                        <a:t>T</a:t>
                      </a:r>
                      <a:r>
                        <a:rPr lang="en-US" baseline="-25000" dirty="0" err="1"/>
                        <a:t>ijk</a:t>
                      </a:r>
                      <a:r>
                        <a:rPr lang="en-US" dirty="0"/>
                        <a:t> = </a:t>
                      </a:r>
                      <a:r>
                        <a:rPr lang="en-US" dirty="0" err="1"/>
                        <a:t>T</a:t>
                      </a:r>
                      <a:r>
                        <a:rPr lang="en-US" baseline="-25000" dirty="0" err="1"/>
                        <a:t>ij</a:t>
                      </a:r>
                      <a:r>
                        <a:rPr lang="en-US" baseline="-25000" dirty="0"/>
                        <a:t>(k+1)</a:t>
                      </a:r>
                      <a:r>
                        <a:rPr lang="en-US" baseline="0" dirty="0"/>
                        <a:t> </a:t>
                      </a:r>
                      <a:r>
                        <a:rPr lang="en-US" baseline="0" dirty="0">
                          <a:sym typeface="Symbol"/>
                        </a:rPr>
                        <a:t></a:t>
                      </a:r>
                      <a:r>
                        <a:rPr lang="en-US" baseline="0" dirty="0"/>
                        <a:t> </a:t>
                      </a:r>
                      <a:r>
                        <a:rPr lang="en-US" baseline="0" dirty="0" err="1"/>
                        <a:t>H</a:t>
                      </a:r>
                      <a:r>
                        <a:rPr lang="en-US" baseline="-25000" dirty="0" err="1"/>
                        <a:t>jk</a:t>
                      </a:r>
                      <a:endParaRPr lang="en-US" baseline="-25000" dirty="0"/>
                    </a:p>
                  </a:txBody>
                  <a:tcPr/>
                </a:tc>
                <a:tc>
                  <a:txBody>
                    <a:bodyPr/>
                    <a:lstStyle/>
                    <a:p>
                      <a:endParaRPr lang="en-US"/>
                    </a:p>
                  </a:txBody>
                  <a:tcPr/>
                </a:tc>
                <a:tc>
                  <a:txBody>
                    <a:bodyPr/>
                    <a:lstStyle/>
                    <a:p>
                      <a:r>
                        <a:rPr lang="en-US" dirty="0"/>
                        <a:t>Tape remains unchanged unless written</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dirty="0"/>
                        <a:t>O(p(n)</a:t>
                      </a:r>
                      <a:r>
                        <a:rPr lang="en-US" baseline="30000" dirty="0"/>
                        <a:t>2</a:t>
                      </a:r>
                      <a:r>
                        <a:rPr lang="en-US" dirty="0"/>
                        <a:t>)</a:t>
                      </a:r>
                    </a:p>
                  </a:txBody>
                  <a:tcPr/>
                </a:tc>
                <a:extLst>
                  <a:ext uri="{0D108BD9-81ED-4DB2-BD59-A6C34878D82A}">
                    <a16:rowId xmlns:a16="http://schemas.microsoft.com/office/drawing/2014/main" val="10005"/>
                  </a:ext>
                </a:extLst>
              </a:tr>
              <a:tr h="388862">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dirty="0" err="1"/>
                        <a:t>Q</a:t>
                      </a:r>
                      <a:r>
                        <a:rPr lang="en-US" baseline="-25000" dirty="0" err="1"/>
                        <a:t>qk</a:t>
                      </a:r>
                      <a:r>
                        <a:rPr lang="en-US" dirty="0"/>
                        <a:t> </a:t>
                      </a:r>
                      <a:r>
                        <a:rPr lang="en-US" dirty="0">
                          <a:sym typeface="Symbol"/>
                        </a:rPr>
                        <a:t> </a:t>
                      </a:r>
                      <a:r>
                        <a:rPr lang="en-US" dirty="0" err="1">
                          <a:sym typeface="Symbol"/>
                        </a:rPr>
                        <a:t>Q</a:t>
                      </a:r>
                      <a:r>
                        <a:rPr lang="en-US" baseline="-25000" dirty="0" err="1">
                          <a:sym typeface="Symbol"/>
                        </a:rPr>
                        <a:t>q’k</a:t>
                      </a:r>
                      <a:endParaRPr lang="en-US" baseline="-25000" dirty="0"/>
                    </a:p>
                  </a:txBody>
                  <a:tcPr/>
                </a:tc>
                <a:tc>
                  <a:txBody>
                    <a:bodyPr/>
                    <a:lstStyle/>
                    <a:p>
                      <a:r>
                        <a:rPr lang="en-US" dirty="0"/>
                        <a:t>q </a:t>
                      </a:r>
                      <a:r>
                        <a:rPr lang="en-US" dirty="0">
                          <a:sym typeface="Symbol"/>
                        </a:rPr>
                        <a:t> q’</a:t>
                      </a:r>
                      <a:endParaRPr lang="en-US" dirty="0"/>
                    </a:p>
                  </a:txBody>
                  <a:tcPr/>
                </a:tc>
                <a:tc>
                  <a:txBody>
                    <a:bodyPr/>
                    <a:lstStyle/>
                    <a:p>
                      <a:r>
                        <a:rPr lang="en-US" dirty="0"/>
                        <a:t>Only one state at a time</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dirty="0"/>
                        <a:t>O(p(n))</a:t>
                      </a:r>
                    </a:p>
                  </a:txBody>
                  <a:tcPr/>
                </a:tc>
                <a:extLst>
                  <a:ext uri="{0D108BD9-81ED-4DB2-BD59-A6C34878D82A}">
                    <a16:rowId xmlns:a16="http://schemas.microsoft.com/office/drawing/2014/main" val="10006"/>
                  </a:ext>
                </a:extLst>
              </a:tr>
              <a:tr h="388862">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dirty="0" err="1"/>
                        <a:t>H</a:t>
                      </a:r>
                      <a:r>
                        <a:rPr lang="en-US" baseline="-25000" dirty="0" err="1"/>
                        <a:t>jk</a:t>
                      </a:r>
                      <a:r>
                        <a:rPr lang="en-US" dirty="0"/>
                        <a:t> </a:t>
                      </a:r>
                      <a:r>
                        <a:rPr lang="en-US" dirty="0">
                          <a:sym typeface="Symbol"/>
                        </a:rPr>
                        <a:t> </a:t>
                      </a:r>
                      <a:r>
                        <a:rPr lang="en-US" dirty="0" err="1">
                          <a:sym typeface="Symbol"/>
                        </a:rPr>
                        <a:t>H</a:t>
                      </a:r>
                      <a:r>
                        <a:rPr lang="en-US" baseline="-25000" dirty="0" err="1">
                          <a:sym typeface="Symbol"/>
                        </a:rPr>
                        <a:t>j’k</a:t>
                      </a:r>
                      <a:endParaRPr lang="en-US" baseline="-25000" dirty="0"/>
                    </a:p>
                  </a:txBody>
                  <a:tcPr/>
                </a:tc>
                <a:tc>
                  <a:txBody>
                    <a:bodyPr/>
                    <a:lstStyle/>
                    <a:p>
                      <a:r>
                        <a:rPr lang="en-US" dirty="0" err="1"/>
                        <a:t>i</a:t>
                      </a:r>
                      <a:r>
                        <a:rPr lang="en-US" dirty="0"/>
                        <a:t> </a:t>
                      </a:r>
                      <a:r>
                        <a:rPr lang="en-US" dirty="0">
                          <a:sym typeface="Symbol"/>
                        </a:rPr>
                        <a:t> </a:t>
                      </a:r>
                      <a:r>
                        <a:rPr lang="en-US" dirty="0" err="1">
                          <a:sym typeface="Symbol"/>
                        </a:rPr>
                        <a:t>i</a:t>
                      </a:r>
                      <a:r>
                        <a:rPr lang="en-US" dirty="0">
                          <a:sym typeface="Symbol"/>
                        </a:rPr>
                        <a:t>’</a:t>
                      </a:r>
                      <a:endParaRPr lang="en-US" dirty="0"/>
                    </a:p>
                  </a:txBody>
                  <a:tcPr/>
                </a:tc>
                <a:tc>
                  <a:txBody>
                    <a:bodyPr/>
                    <a:lstStyle/>
                    <a:p>
                      <a:r>
                        <a:rPr lang="en-US" dirty="0"/>
                        <a:t>Only one head position at a time</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dirty="0"/>
                        <a:t>O(p(n)</a:t>
                      </a:r>
                      <a:r>
                        <a:rPr lang="en-US" baseline="30000" dirty="0"/>
                        <a:t>2</a:t>
                      </a:r>
                      <a:r>
                        <a:rPr lang="en-US" dirty="0"/>
                        <a:t>)</a:t>
                      </a:r>
                    </a:p>
                  </a:txBody>
                  <a:tcPr/>
                </a:tc>
                <a:extLst>
                  <a:ext uri="{0D108BD9-81ED-4DB2-BD59-A6C34878D82A}">
                    <a16:rowId xmlns:a16="http://schemas.microsoft.com/office/drawing/2014/main" val="10007"/>
                  </a:ext>
                </a:extLst>
              </a:tr>
              <a:tr h="958839">
                <a:tc>
                  <a:txBody>
                    <a:bodyPr/>
                    <a:lstStyle/>
                    <a:p>
                      <a:r>
                        <a:rPr lang="en-US" dirty="0">
                          <a:sym typeface="Symbol"/>
                        </a:rPr>
                        <a:t>(</a:t>
                      </a:r>
                      <a:r>
                        <a:rPr lang="en-US" dirty="0" err="1">
                          <a:sym typeface="Symbol"/>
                        </a:rPr>
                        <a:t>H</a:t>
                      </a:r>
                      <a:r>
                        <a:rPr lang="en-US" baseline="-25000" dirty="0" err="1">
                          <a:sym typeface="Symbol"/>
                        </a:rPr>
                        <a:t>ik</a:t>
                      </a:r>
                      <a:r>
                        <a:rPr lang="en-US" dirty="0">
                          <a:sym typeface="Symbol"/>
                        </a:rPr>
                        <a:t>  </a:t>
                      </a:r>
                      <a:r>
                        <a:rPr lang="en-US" dirty="0" err="1">
                          <a:sym typeface="Symbol"/>
                        </a:rPr>
                        <a:t>Q</a:t>
                      </a:r>
                      <a:r>
                        <a:rPr lang="en-US" baseline="-25000" dirty="0" err="1">
                          <a:sym typeface="Symbol"/>
                        </a:rPr>
                        <a:t>qk</a:t>
                      </a:r>
                      <a:r>
                        <a:rPr lang="en-US" dirty="0">
                          <a:sym typeface="Symbol"/>
                        </a:rPr>
                        <a:t>  </a:t>
                      </a:r>
                      <a:r>
                        <a:rPr lang="en-US" dirty="0" err="1">
                          <a:sym typeface="Symbol"/>
                        </a:rPr>
                        <a:t>T</a:t>
                      </a:r>
                      <a:r>
                        <a:rPr lang="en-US" baseline="-25000" dirty="0" err="1">
                          <a:sym typeface="Symbol"/>
                        </a:rPr>
                        <a:t>ik</a:t>
                      </a:r>
                      <a:r>
                        <a:rPr lang="en-US" dirty="0">
                          <a:sym typeface="Symbol"/>
                        </a:rPr>
                        <a:t>)</a:t>
                      </a:r>
                      <a:r>
                        <a:rPr lang="en-US" baseline="0" dirty="0">
                          <a:sym typeface="Symbol"/>
                        </a:rPr>
                        <a:t> </a:t>
                      </a:r>
                      <a:r>
                        <a:rPr lang="en-US" dirty="0">
                          <a:sym typeface="Symbol"/>
                        </a:rPr>
                        <a:t> (</a:t>
                      </a:r>
                      <a:r>
                        <a:rPr lang="en-US" baseline="0" dirty="0">
                          <a:sym typeface="Symbol"/>
                        </a:rPr>
                        <a:t>H</a:t>
                      </a:r>
                      <a:r>
                        <a:rPr lang="en-US" baseline="-25000" dirty="0">
                          <a:sym typeface="Symbol"/>
                        </a:rPr>
                        <a:t>(</a:t>
                      </a:r>
                      <a:r>
                        <a:rPr lang="en-US" baseline="-25000" dirty="0" err="1">
                          <a:sym typeface="Symbol"/>
                        </a:rPr>
                        <a:t>i+d</a:t>
                      </a:r>
                      <a:r>
                        <a:rPr lang="en-US" baseline="-25000" dirty="0">
                          <a:sym typeface="Symbol"/>
                        </a:rPr>
                        <a:t>)(k+1)</a:t>
                      </a:r>
                      <a:r>
                        <a:rPr lang="en-US" dirty="0">
                          <a:sym typeface="Symbol"/>
                        </a:rPr>
                        <a:t>  </a:t>
                      </a:r>
                      <a:r>
                        <a:rPr lang="en-US" dirty="0" err="1">
                          <a:sym typeface="Symbol"/>
                        </a:rPr>
                        <a:t>Q</a:t>
                      </a:r>
                      <a:r>
                        <a:rPr lang="en-US" baseline="-25000" dirty="0" err="1">
                          <a:sym typeface="Symbol"/>
                        </a:rPr>
                        <a:t>q</a:t>
                      </a:r>
                      <a:r>
                        <a:rPr lang="en-US" baseline="-25000" dirty="0">
                          <a:sym typeface="Symbol"/>
                        </a:rPr>
                        <a:t>’(k+1)</a:t>
                      </a:r>
                      <a:r>
                        <a:rPr lang="en-US" dirty="0">
                          <a:sym typeface="Symbol"/>
                        </a:rPr>
                        <a:t>  </a:t>
                      </a:r>
                      <a:r>
                        <a:rPr lang="en-US" dirty="0" err="1">
                          <a:sym typeface="Symbol"/>
                        </a:rPr>
                        <a:t>T</a:t>
                      </a:r>
                      <a:r>
                        <a:rPr lang="en-US" baseline="-25000" dirty="0" err="1">
                          <a:sym typeface="Symbol"/>
                        </a:rPr>
                        <a:t>i</a:t>
                      </a:r>
                      <a:r>
                        <a:rPr lang="en-US" baseline="-25000" dirty="0">
                          <a:sym typeface="Symbol"/>
                        </a:rPr>
                        <a:t>’(k+1)</a:t>
                      </a:r>
                      <a:r>
                        <a:rPr lang="en-US" dirty="0">
                          <a:sym typeface="Symbol"/>
                        </a:rPr>
                        <a:t>)</a:t>
                      </a:r>
                      <a:endParaRPr lang="en-US" dirty="0"/>
                    </a:p>
                  </a:txBody>
                  <a:tcPr/>
                </a:tc>
                <a:tc>
                  <a:txBody>
                    <a:bodyPr/>
                    <a:lstStyle/>
                    <a:p>
                      <a:r>
                        <a:rPr lang="en-US" dirty="0"/>
                        <a:t>(q, </a:t>
                      </a:r>
                      <a:r>
                        <a:rPr lang="en-US" dirty="0">
                          <a:sym typeface="Symbol"/>
                        </a:rPr>
                        <a:t>, q’, ’, d)  </a:t>
                      </a:r>
                      <a:endParaRPr lang="en-US" dirty="0"/>
                    </a:p>
                  </a:txBody>
                  <a:tcPr/>
                </a:tc>
                <a:tc>
                  <a:txBody>
                    <a:bodyPr/>
                    <a:lstStyle/>
                    <a:p>
                      <a:r>
                        <a:rPr lang="en-US" dirty="0"/>
                        <a:t>Possible transitions at computation step k when head position is at position I</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dirty="0"/>
                        <a:t>O(p(n)</a:t>
                      </a:r>
                      <a:r>
                        <a:rPr lang="en-US" baseline="30000" dirty="0"/>
                        <a:t>2</a:t>
                      </a:r>
                      <a:r>
                        <a:rPr lang="en-US" dirty="0"/>
                        <a:t>)</a:t>
                      </a:r>
                    </a:p>
                  </a:txBody>
                  <a:tcPr/>
                </a:tc>
                <a:extLst>
                  <a:ext uri="{0D108BD9-81ED-4DB2-BD59-A6C34878D82A}">
                    <a16:rowId xmlns:a16="http://schemas.microsoft.com/office/drawing/2014/main" val="10008"/>
                  </a:ext>
                </a:extLst>
              </a:tr>
              <a:tr h="607265">
                <a:tc>
                  <a:txBody>
                    <a:bodyPr/>
                    <a:lstStyle/>
                    <a:p>
                      <a:r>
                        <a:rPr lang="en-US" sz="3200" b="1" dirty="0">
                          <a:sym typeface="Symbol"/>
                        </a:rPr>
                        <a:t></a:t>
                      </a:r>
                      <a:r>
                        <a:rPr lang="en-US" baseline="-25000" dirty="0" err="1">
                          <a:sym typeface="Symbol"/>
                        </a:rPr>
                        <a:t>fF</a:t>
                      </a:r>
                      <a:r>
                        <a:rPr lang="en-US" dirty="0">
                          <a:sym typeface="Symbol"/>
                        </a:rPr>
                        <a:t> </a:t>
                      </a:r>
                      <a:r>
                        <a:rPr lang="en-US" dirty="0" err="1">
                          <a:sym typeface="Symbol"/>
                        </a:rPr>
                        <a:t>Q</a:t>
                      </a:r>
                      <a:r>
                        <a:rPr lang="en-US" baseline="-25000" dirty="0" err="1">
                          <a:sym typeface="Symbol"/>
                        </a:rPr>
                        <a:t>fp</a:t>
                      </a:r>
                      <a:r>
                        <a:rPr lang="en-US" baseline="-25000" dirty="0">
                          <a:sym typeface="Symbol"/>
                        </a:rPr>
                        <a:t>(n)</a:t>
                      </a:r>
                      <a:endParaRPr lang="en-US" baseline="-25000" dirty="0"/>
                    </a:p>
                  </a:txBody>
                  <a:tcPr/>
                </a:tc>
                <a:tc>
                  <a:txBody>
                    <a:bodyPr/>
                    <a:lstStyle/>
                    <a:p>
                      <a:endParaRPr lang="en-US"/>
                    </a:p>
                  </a:txBody>
                  <a:tcPr/>
                </a:tc>
                <a:tc>
                  <a:txBody>
                    <a:bodyPr/>
                    <a:lstStyle/>
                    <a:p>
                      <a:r>
                        <a:rPr lang="en-US" dirty="0"/>
                        <a:t>Must finish in an accepting state</a:t>
                      </a:r>
                    </a:p>
                  </a:txBody>
                  <a:tcPr/>
                </a:tc>
                <a:tc>
                  <a:txBody>
                    <a:bodyPr/>
                    <a:lstStyle/>
                    <a:p>
                      <a:r>
                        <a:rPr lang="en-US" dirty="0"/>
                        <a:t>1</a:t>
                      </a:r>
                    </a:p>
                  </a:txBody>
                  <a:tcPr/>
                </a:tc>
                <a:extLst>
                  <a:ext uri="{0D108BD9-81ED-4DB2-BD59-A6C34878D82A}">
                    <a16:rowId xmlns:a16="http://schemas.microsoft.com/office/drawing/2014/main" val="10009"/>
                  </a:ext>
                </a:extLst>
              </a:tr>
            </a:tbl>
          </a:graphicData>
        </a:graphic>
      </p:graphicFrame>
    </p:spTree>
    <p:extLst>
      <p:ext uri="{BB962C8B-B14F-4D97-AF65-F5344CB8AC3E}">
        <p14:creationId xmlns:p14="http://schemas.microsoft.com/office/powerpoint/2010/main" val="1401579549"/>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41413" y="355970"/>
            <a:ext cx="9905998" cy="603700"/>
          </a:xfrm>
        </p:spPr>
        <p:txBody>
          <a:bodyPr/>
          <a:lstStyle/>
          <a:p>
            <a:pPr algn="ctr"/>
            <a:r>
              <a:rPr lang="en-US" dirty="0"/>
              <a:t>Is the reduction Valid?</a:t>
            </a:r>
          </a:p>
        </p:txBody>
      </p:sp>
      <p:sp>
        <p:nvSpPr>
          <p:cNvPr id="3" name="Content Placeholder 2"/>
          <p:cNvSpPr>
            <a:spLocks noGrp="1"/>
          </p:cNvSpPr>
          <p:nvPr>
            <p:ph sz="quarter" idx="1"/>
          </p:nvPr>
        </p:nvSpPr>
        <p:spPr>
          <a:xfrm>
            <a:off x="6581871" y="2178117"/>
            <a:ext cx="4623600" cy="2647385"/>
          </a:xfrm>
          <a:solidFill>
            <a:schemeClr val="tx1">
              <a:lumMod val="95000"/>
            </a:schemeClr>
          </a:solidFill>
          <a:ln>
            <a:solidFill>
              <a:schemeClr val="bg1"/>
            </a:solidFill>
          </a:ln>
        </p:spPr>
        <p:txBody>
          <a:bodyPr>
            <a:normAutofit/>
          </a:bodyPr>
          <a:lstStyle/>
          <a:p>
            <a:pPr marL="0" indent="0">
              <a:buNone/>
            </a:pPr>
            <a:r>
              <a:rPr lang="en-US" sz="2000" dirty="0">
                <a:solidFill>
                  <a:schemeClr val="bg1"/>
                </a:solidFill>
              </a:rPr>
              <a:t>Yes!</a:t>
            </a:r>
          </a:p>
          <a:p>
            <a:pPr marL="0" indent="0">
              <a:buNone/>
            </a:pPr>
            <a:r>
              <a:rPr lang="en-US" sz="2000" dirty="0">
                <a:solidFill>
                  <a:schemeClr val="bg1"/>
                </a:solidFill>
              </a:rPr>
              <a:t>The number of sub-expressions is:</a:t>
            </a:r>
          </a:p>
          <a:p>
            <a:pPr marL="0" indent="0">
              <a:buNone/>
            </a:pPr>
            <a:r>
              <a:rPr lang="en-US" sz="2000" b="1" dirty="0">
                <a:solidFill>
                  <a:schemeClr val="bg1"/>
                </a:solidFill>
              </a:rPr>
              <a:t>2p(n) + 4p(n)</a:t>
            </a:r>
            <a:r>
              <a:rPr lang="en-US" sz="2000" b="1" baseline="30000" dirty="0">
                <a:solidFill>
                  <a:schemeClr val="bg1"/>
                </a:solidFill>
              </a:rPr>
              <a:t>2</a:t>
            </a:r>
            <a:r>
              <a:rPr lang="en-US" sz="2000" b="1" dirty="0">
                <a:solidFill>
                  <a:schemeClr val="bg1"/>
                </a:solidFill>
              </a:rPr>
              <a:t> + 3 = O(p(n)</a:t>
            </a:r>
            <a:r>
              <a:rPr lang="en-US" sz="2000" b="1" baseline="30000" dirty="0">
                <a:solidFill>
                  <a:schemeClr val="bg1"/>
                </a:solidFill>
              </a:rPr>
              <a:t>2</a:t>
            </a:r>
            <a:r>
              <a:rPr lang="en-US" sz="2000" b="1" dirty="0">
                <a:solidFill>
                  <a:schemeClr val="bg1"/>
                </a:solidFill>
              </a:rPr>
              <a:t>)</a:t>
            </a:r>
          </a:p>
          <a:p>
            <a:pPr marL="0" indent="0">
              <a:buNone/>
            </a:pPr>
            <a:endParaRPr lang="en-US" sz="2000" dirty="0">
              <a:solidFill>
                <a:schemeClr val="bg1"/>
              </a:solidFill>
            </a:endParaRPr>
          </a:p>
          <a:p>
            <a:pPr marL="0" indent="0">
              <a:buNone/>
            </a:pPr>
            <a:r>
              <a:rPr lang="en-US" sz="2000" dirty="0">
                <a:solidFill>
                  <a:schemeClr val="bg1"/>
                </a:solidFill>
              </a:rPr>
              <a:t>and each is computed in less than that.</a:t>
            </a:r>
          </a:p>
        </p:txBody>
      </p:sp>
      <p:sp>
        <p:nvSpPr>
          <p:cNvPr id="5" name="Content Placeholder 2">
            <a:extLst>
              <a:ext uri="{FF2B5EF4-FFF2-40B4-BE49-F238E27FC236}">
                <a16:creationId xmlns:a16="http://schemas.microsoft.com/office/drawing/2014/main" id="{BC08D7FD-6AD2-154A-9823-0E389D9671B1}"/>
              </a:ext>
            </a:extLst>
          </p:cNvPr>
          <p:cNvSpPr txBox="1">
            <a:spLocks/>
          </p:cNvSpPr>
          <p:nvPr/>
        </p:nvSpPr>
        <p:spPr>
          <a:xfrm>
            <a:off x="861811" y="1855400"/>
            <a:ext cx="5105478" cy="376475"/>
          </a:xfrm>
          <a:prstGeom prst="rect">
            <a:avLst/>
          </a:prstGeom>
        </p:spPr>
        <p:txBody>
          <a:bodyPr vert="horz" lIns="91440" tIns="45720" rIns="91440" bIns="45720" rtlCol="0">
            <a:normAutofit fontScale="625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None/>
            </a:pPr>
            <a:r>
              <a:rPr lang="en-US" dirty="0"/>
              <a:t>NTM for x accepts </a:t>
            </a:r>
            <a:r>
              <a:rPr lang="en-US" dirty="0" err="1"/>
              <a:t>iff</a:t>
            </a:r>
            <a:r>
              <a:rPr lang="en-US" dirty="0"/>
              <a:t> and only if SAT equation can be satisfied</a:t>
            </a:r>
          </a:p>
        </p:txBody>
      </p:sp>
      <p:sp>
        <p:nvSpPr>
          <p:cNvPr id="6" name="Content Placeholder 2">
            <a:extLst>
              <a:ext uri="{FF2B5EF4-FFF2-40B4-BE49-F238E27FC236}">
                <a16:creationId xmlns:a16="http://schemas.microsoft.com/office/drawing/2014/main" id="{5CDAAB48-0DA7-4044-81B2-6C91203ABADB}"/>
              </a:ext>
            </a:extLst>
          </p:cNvPr>
          <p:cNvSpPr txBox="1">
            <a:spLocks/>
          </p:cNvSpPr>
          <p:nvPr/>
        </p:nvSpPr>
        <p:spPr>
          <a:xfrm>
            <a:off x="6457574" y="1836351"/>
            <a:ext cx="4872194" cy="414575"/>
          </a:xfrm>
          <a:prstGeom prst="rect">
            <a:avLst/>
          </a:prstGeom>
        </p:spPr>
        <p:txBody>
          <a:bodyPr vert="horz" lIns="91440" tIns="45720" rIns="91440" bIns="45720" rtlCol="0">
            <a:normAutofit fontScale="625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None/>
            </a:pPr>
            <a:r>
              <a:rPr lang="en-US" dirty="0"/>
              <a:t>The time and space complexity of the reduction is polynomial</a:t>
            </a:r>
          </a:p>
        </p:txBody>
      </p:sp>
      <p:sp>
        <p:nvSpPr>
          <p:cNvPr id="7" name="Content Placeholder 2">
            <a:extLst>
              <a:ext uri="{FF2B5EF4-FFF2-40B4-BE49-F238E27FC236}">
                <a16:creationId xmlns:a16="http://schemas.microsoft.com/office/drawing/2014/main" id="{4509DA41-503B-5F42-A076-EE445E9C43A4}"/>
              </a:ext>
            </a:extLst>
          </p:cNvPr>
          <p:cNvSpPr txBox="1">
            <a:spLocks/>
          </p:cNvSpPr>
          <p:nvPr/>
        </p:nvSpPr>
        <p:spPr>
          <a:xfrm>
            <a:off x="1227047" y="2178117"/>
            <a:ext cx="4375007" cy="2647385"/>
          </a:xfrm>
          <a:prstGeom prst="rect">
            <a:avLst/>
          </a:prstGeom>
          <a:solidFill>
            <a:schemeClr val="tx1">
              <a:lumMod val="95000"/>
            </a:schemeClr>
          </a:solidFill>
          <a:ln>
            <a:solidFill>
              <a:schemeClr val="bg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None/>
            </a:pPr>
            <a:r>
              <a:rPr lang="en-US" dirty="0">
                <a:solidFill>
                  <a:schemeClr val="bg1"/>
                </a:solidFill>
              </a:rPr>
              <a:t>If there is an accepting computation for the NTM on input I, then B is satisfiable by assigning </a:t>
            </a:r>
            <a:r>
              <a:rPr lang="en-US" dirty="0" err="1">
                <a:solidFill>
                  <a:schemeClr val="bg1"/>
                </a:solidFill>
              </a:rPr>
              <a:t>T</a:t>
            </a:r>
            <a:r>
              <a:rPr lang="en-US" baseline="-25000" dirty="0" err="1">
                <a:solidFill>
                  <a:schemeClr val="bg1"/>
                </a:solidFill>
              </a:rPr>
              <a:t>ijk</a:t>
            </a:r>
            <a:r>
              <a:rPr lang="en-US" dirty="0">
                <a:solidFill>
                  <a:schemeClr val="bg1"/>
                </a:solidFill>
              </a:rPr>
              <a:t>, </a:t>
            </a:r>
            <a:r>
              <a:rPr lang="en-US" dirty="0" err="1">
                <a:solidFill>
                  <a:schemeClr val="bg1"/>
                </a:solidFill>
              </a:rPr>
              <a:t>H</a:t>
            </a:r>
            <a:r>
              <a:rPr lang="en-US" baseline="-25000" dirty="0" err="1">
                <a:solidFill>
                  <a:schemeClr val="bg1"/>
                </a:solidFill>
              </a:rPr>
              <a:t>jk</a:t>
            </a:r>
            <a:r>
              <a:rPr lang="en-US" dirty="0">
                <a:solidFill>
                  <a:schemeClr val="bg1"/>
                </a:solidFill>
              </a:rPr>
              <a:t>, and </a:t>
            </a:r>
            <a:r>
              <a:rPr lang="en-US" dirty="0" err="1">
                <a:solidFill>
                  <a:schemeClr val="bg1"/>
                </a:solidFill>
              </a:rPr>
              <a:t>Q</a:t>
            </a:r>
            <a:r>
              <a:rPr lang="en-US" baseline="-25000" dirty="0" err="1">
                <a:solidFill>
                  <a:schemeClr val="bg1"/>
                </a:solidFill>
              </a:rPr>
              <a:t>jk</a:t>
            </a:r>
            <a:r>
              <a:rPr lang="en-US" dirty="0">
                <a:solidFill>
                  <a:schemeClr val="bg1"/>
                </a:solidFill>
              </a:rPr>
              <a:t> their intended interpretations.</a:t>
            </a:r>
          </a:p>
        </p:txBody>
      </p:sp>
    </p:spTree>
    <p:extLst>
      <p:ext uri="{BB962C8B-B14F-4D97-AF65-F5344CB8AC3E}">
        <p14:creationId xmlns:p14="http://schemas.microsoft.com/office/powerpoint/2010/main" val="3212761124"/>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p:cNvSpPr>
                <a:spLocks noGrp="1"/>
              </p:cNvSpPr>
              <p:nvPr>
                <p:ph type="title"/>
              </p:nvPr>
            </p:nvSpPr>
            <p:spPr>
              <a:xfrm>
                <a:off x="1141413" y="326848"/>
                <a:ext cx="9905998" cy="603310"/>
              </a:xfrm>
            </p:spPr>
            <p:txBody>
              <a:bodyPr/>
              <a:lstStyle/>
              <a:p>
                <a:pPr algn="ctr"/>
                <a14:m>
                  <m:oMathPara xmlns:m="http://schemas.openxmlformats.org/officeDocument/2006/math">
                    <m:oMathParaPr>
                      <m:jc m:val="centerGroup"/>
                    </m:oMathParaPr>
                    <m:oMath xmlns:m="http://schemas.openxmlformats.org/officeDocument/2006/math">
                      <m:r>
                        <a:rPr lang="en-US" b="0" i="1" dirty="0" smtClean="0">
                          <a:latin typeface="Cambria Math" panose="02040503050406030204" pitchFamily="18" charset="0"/>
                        </a:rPr>
                        <m:t>𝑆𝐴𝑇</m:t>
                      </m:r>
                      <m:r>
                        <a:rPr lang="en-US" b="0" i="1" dirty="0" smtClean="0">
                          <a:latin typeface="Cambria Math" panose="02040503050406030204" pitchFamily="18" charset="0"/>
                        </a:rPr>
                        <m:t>∈</m:t>
                      </m:r>
                      <m:r>
                        <a:rPr lang="en-US" b="0" i="1" dirty="0" smtClean="0">
                          <a:latin typeface="Cambria Math" panose="02040503050406030204" pitchFamily="18" charset="0"/>
                        </a:rPr>
                        <m:t>𝑁𝑃𝐶</m:t>
                      </m:r>
                    </m:oMath>
                  </m:oMathPara>
                </a14:m>
                <a:endParaRPr lang="en-US" dirty="0"/>
              </a:p>
            </p:txBody>
          </p:sp>
        </mc:Choice>
        <mc:Fallback xmlns="">
          <p:sp>
            <p:nvSpPr>
              <p:cNvPr id="2" name="Title 1"/>
              <p:cNvSpPr>
                <a:spLocks noGrp="1" noRot="1" noChangeAspect="1" noMove="1" noResize="1" noEditPoints="1" noAdjustHandles="1" noChangeArrowheads="1" noChangeShapeType="1" noTextEdit="1"/>
              </p:cNvSpPr>
              <p:nvPr>
                <p:ph type="title"/>
              </p:nvPr>
            </p:nvSpPr>
            <p:spPr>
              <a:xfrm>
                <a:off x="1141413" y="326848"/>
                <a:ext cx="9905998" cy="603310"/>
              </a:xfr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Content Placeholder 2"/>
              <p:cNvSpPr>
                <a:spLocks noGrp="1"/>
              </p:cNvSpPr>
              <p:nvPr>
                <p:ph sz="quarter" idx="1"/>
              </p:nvPr>
            </p:nvSpPr>
            <p:spPr>
              <a:xfrm>
                <a:off x="1070468" y="1744991"/>
                <a:ext cx="9905999" cy="477948"/>
              </a:xfrm>
            </p:spPr>
            <p:txBody>
              <a:bodyPr>
                <a:normAutofit/>
              </a:bodyPr>
              <a:lstStyle/>
              <a:p>
                <a:pPr marL="0" indent="0">
                  <a:buNone/>
                </a:pPr>
                <a:r>
                  <a:rPr lang="en-US" sz="1800" dirty="0"/>
                  <a:t>To show that </a:t>
                </a:r>
                <a14:m>
                  <m:oMath xmlns:m="http://schemas.openxmlformats.org/officeDocument/2006/math">
                    <m:r>
                      <a:rPr lang="en-US" sz="1800" b="0" i="1" smtClean="0">
                        <a:latin typeface="Cambria Math" panose="02040503050406030204" pitchFamily="18" charset="0"/>
                      </a:rPr>
                      <m:t>𝑆𝐴𝑇</m:t>
                    </m:r>
                    <m:r>
                      <a:rPr lang="en-US" sz="1800" b="0" i="1" smtClean="0">
                        <a:latin typeface="Cambria Math" panose="02040503050406030204" pitchFamily="18" charset="0"/>
                      </a:rPr>
                      <m:t>∈</m:t>
                    </m:r>
                    <m:r>
                      <a:rPr lang="en-US" sz="1800" b="0" i="1" smtClean="0">
                        <a:latin typeface="Cambria Math" panose="02040503050406030204" pitchFamily="18" charset="0"/>
                      </a:rPr>
                      <m:t>𝑁𝑃𝐶</m:t>
                    </m:r>
                  </m:oMath>
                </a14:m>
                <a:r>
                  <a:rPr lang="en-US" sz="1800" dirty="0"/>
                  <a:t>, we must show both that:</a:t>
                </a:r>
              </a:p>
            </p:txBody>
          </p:sp>
        </mc:Choice>
        <mc:Fallback xmlns="">
          <p:sp>
            <p:nvSpPr>
              <p:cNvPr id="3" name="Content Placeholder 2"/>
              <p:cNvSpPr>
                <a:spLocks noGrp="1" noRot="1" noChangeAspect="1" noMove="1" noResize="1" noEditPoints="1" noAdjustHandles="1" noChangeArrowheads="1" noChangeShapeType="1" noTextEdit="1"/>
              </p:cNvSpPr>
              <p:nvPr>
                <p:ph sz="quarter" idx="1"/>
              </p:nvPr>
            </p:nvSpPr>
            <p:spPr>
              <a:xfrm>
                <a:off x="1070468" y="1744991"/>
                <a:ext cx="9905999" cy="477948"/>
              </a:xfrm>
              <a:blipFill>
                <a:blip r:embed="rId3"/>
                <a:stretch>
                  <a:fillRect l="-513" b="-256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Content Placeholder 2">
                <a:extLst>
                  <a:ext uri="{FF2B5EF4-FFF2-40B4-BE49-F238E27FC236}">
                    <a16:creationId xmlns:a16="http://schemas.microsoft.com/office/drawing/2014/main" id="{12063473-8A28-4A47-9CBA-0765249DEEC2}"/>
                  </a:ext>
                </a:extLst>
              </p:cNvPr>
              <p:cNvSpPr txBox="1">
                <a:spLocks/>
              </p:cNvSpPr>
              <p:nvPr/>
            </p:nvSpPr>
            <p:spPr>
              <a:xfrm>
                <a:off x="1141413" y="2177887"/>
                <a:ext cx="4423817" cy="1779735"/>
              </a:xfrm>
              <a:prstGeom prst="rect">
                <a:avLst/>
              </a:prstGeom>
              <a:solidFill>
                <a:schemeClr val="accent1"/>
              </a:solid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14:m>
                  <m:oMathPara xmlns:m="http://schemas.openxmlformats.org/officeDocument/2006/math">
                    <m:oMathParaPr>
                      <m:jc m:val="center"/>
                    </m:oMathParaPr>
                    <m:oMath xmlns:m="http://schemas.openxmlformats.org/officeDocument/2006/math">
                      <m:r>
                        <a:rPr lang="en-US" sz="1800" b="0" i="1" smtClean="0">
                          <a:solidFill>
                            <a:schemeClr val="bg1"/>
                          </a:solidFill>
                          <a:latin typeface="Cambria Math" panose="02040503050406030204" pitchFamily="18" charset="0"/>
                        </a:rPr>
                        <m:t>𝑆𝐴𝑇</m:t>
                      </m:r>
                      <m:r>
                        <a:rPr lang="en-US" sz="1800" b="0" i="1" smtClean="0">
                          <a:solidFill>
                            <a:schemeClr val="bg1"/>
                          </a:solidFill>
                          <a:latin typeface="Cambria Math" panose="02040503050406030204" pitchFamily="18" charset="0"/>
                        </a:rPr>
                        <m:t>∈</m:t>
                      </m:r>
                      <m:r>
                        <a:rPr lang="en-US" sz="1800" b="0" i="1" smtClean="0">
                          <a:solidFill>
                            <a:schemeClr val="bg1"/>
                          </a:solidFill>
                          <a:latin typeface="Cambria Math" panose="02040503050406030204" pitchFamily="18" charset="0"/>
                        </a:rPr>
                        <m:t>𝑁𝑃</m:t>
                      </m:r>
                    </m:oMath>
                  </m:oMathPara>
                </a14:m>
                <a:endParaRPr lang="en-US" sz="1800" dirty="0">
                  <a:solidFill>
                    <a:schemeClr val="bg1"/>
                  </a:solidFill>
                </a:endParaRPr>
              </a:p>
              <a:p>
                <a:pPr marL="0" indent="0" algn="ctr">
                  <a:buFont typeface="Arial" panose="020B0604020202020204" pitchFamily="34" charset="0"/>
                  <a:buNone/>
                </a:pPr>
                <a:endParaRPr lang="en-US" sz="1800" dirty="0">
                  <a:solidFill>
                    <a:schemeClr val="bg1"/>
                  </a:solidFill>
                </a:endParaRPr>
              </a:p>
              <a:p>
                <a:pPr marL="0" indent="0" algn="ctr">
                  <a:buFont typeface="Arial" panose="020B0604020202020204" pitchFamily="34" charset="0"/>
                  <a:buNone/>
                </a:pPr>
                <a:r>
                  <a:rPr lang="en-US" sz="1800" dirty="0">
                    <a:solidFill>
                      <a:schemeClr val="bg1"/>
                    </a:solidFill>
                  </a:rPr>
                  <a:t>Provide a verifier TM that runs in Polynomial Time</a:t>
                </a:r>
              </a:p>
            </p:txBody>
          </p:sp>
        </mc:Choice>
        <mc:Fallback xmlns="">
          <p:sp>
            <p:nvSpPr>
              <p:cNvPr id="5" name="Content Placeholder 2">
                <a:extLst>
                  <a:ext uri="{FF2B5EF4-FFF2-40B4-BE49-F238E27FC236}">
                    <a16:creationId xmlns:a16="http://schemas.microsoft.com/office/drawing/2014/main" id="{12063473-8A28-4A47-9CBA-0765249DEEC2}"/>
                  </a:ext>
                </a:extLst>
              </p:cNvPr>
              <p:cNvSpPr txBox="1">
                <a:spLocks noRot="1" noChangeAspect="1" noMove="1" noResize="1" noEditPoints="1" noAdjustHandles="1" noChangeArrowheads="1" noChangeShapeType="1" noTextEdit="1"/>
              </p:cNvSpPr>
              <p:nvPr/>
            </p:nvSpPr>
            <p:spPr>
              <a:xfrm>
                <a:off x="1141413" y="2177887"/>
                <a:ext cx="4423817" cy="1779735"/>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Content Placeholder 2">
                <a:extLst>
                  <a:ext uri="{FF2B5EF4-FFF2-40B4-BE49-F238E27FC236}">
                    <a16:creationId xmlns:a16="http://schemas.microsoft.com/office/drawing/2014/main" id="{347E063C-4014-2747-B5DF-2F3FAAFF4FDD}"/>
                  </a:ext>
                </a:extLst>
              </p:cNvPr>
              <p:cNvSpPr txBox="1">
                <a:spLocks/>
              </p:cNvSpPr>
              <p:nvPr/>
            </p:nvSpPr>
            <p:spPr>
              <a:xfrm>
                <a:off x="6238048" y="2177886"/>
                <a:ext cx="4423817" cy="1779735"/>
              </a:xfrm>
              <a:prstGeom prst="rect">
                <a:avLst/>
              </a:prstGeom>
              <a:solidFill>
                <a:schemeClr val="accent1"/>
              </a:solid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14:m>
                  <m:oMathPara xmlns:m="http://schemas.openxmlformats.org/officeDocument/2006/math">
                    <m:oMathParaPr>
                      <m:jc m:val="center"/>
                    </m:oMathParaPr>
                    <m:oMath xmlns:m="http://schemas.openxmlformats.org/officeDocument/2006/math">
                      <m:r>
                        <a:rPr lang="en-US" sz="1800" b="0" i="1" smtClean="0">
                          <a:solidFill>
                            <a:schemeClr val="bg1"/>
                          </a:solidFill>
                          <a:latin typeface="Cambria Math" panose="02040503050406030204" pitchFamily="18" charset="0"/>
                        </a:rPr>
                        <m:t>𝑆𝐴𝑇</m:t>
                      </m:r>
                      <m:r>
                        <a:rPr lang="en-US" sz="1800" b="0" i="1" smtClean="0">
                          <a:solidFill>
                            <a:schemeClr val="bg1"/>
                          </a:solidFill>
                          <a:latin typeface="Cambria Math" panose="02040503050406030204" pitchFamily="18" charset="0"/>
                        </a:rPr>
                        <m:t>∈</m:t>
                      </m:r>
                      <m:r>
                        <a:rPr lang="en-US" sz="1800" b="0" i="1" smtClean="0">
                          <a:solidFill>
                            <a:schemeClr val="bg1"/>
                          </a:solidFill>
                          <a:latin typeface="Cambria Math" panose="02040503050406030204" pitchFamily="18" charset="0"/>
                        </a:rPr>
                        <m:t>𝑁𝑃</m:t>
                      </m:r>
                      <m:r>
                        <a:rPr lang="en-US" sz="1800" b="0" i="1" smtClean="0">
                          <a:solidFill>
                            <a:schemeClr val="bg1"/>
                          </a:solidFill>
                          <a:latin typeface="Cambria Math" panose="02040503050406030204" pitchFamily="18" charset="0"/>
                        </a:rPr>
                        <m:t>−</m:t>
                      </m:r>
                      <m:r>
                        <a:rPr lang="en-US" sz="1800" b="0" i="1" smtClean="0">
                          <a:solidFill>
                            <a:schemeClr val="bg1"/>
                          </a:solidFill>
                          <a:latin typeface="Cambria Math" panose="02040503050406030204" pitchFamily="18" charset="0"/>
                        </a:rPr>
                        <m:t>𝐻𝐴𝑅𝐷</m:t>
                      </m:r>
                    </m:oMath>
                  </m:oMathPara>
                </a14:m>
                <a:endParaRPr lang="en-US" sz="1800" dirty="0">
                  <a:solidFill>
                    <a:schemeClr val="bg1"/>
                  </a:solidFill>
                </a:endParaRPr>
              </a:p>
              <a:p>
                <a:pPr marL="0" indent="0" algn="ctr">
                  <a:buFont typeface="Arial" panose="020B0604020202020204" pitchFamily="34" charset="0"/>
                  <a:buNone/>
                </a:pPr>
                <a:br>
                  <a:rPr lang="en-US" sz="1800" dirty="0">
                    <a:solidFill>
                      <a:schemeClr val="bg1"/>
                    </a:solidFill>
                  </a:rPr>
                </a:br>
                <a14:m>
                  <m:oMathPara xmlns:m="http://schemas.openxmlformats.org/officeDocument/2006/math">
                    <m:oMathParaPr>
                      <m:jc m:val="centerGroup"/>
                    </m:oMathParaPr>
                    <m:oMath xmlns:m="http://schemas.openxmlformats.org/officeDocument/2006/math">
                      <m:sSub>
                        <m:sSubPr>
                          <m:ctrlPr>
                            <a:rPr lang="en-US" sz="1800" b="1" i="1" smtClean="0">
                              <a:solidFill>
                                <a:schemeClr val="bg1"/>
                              </a:solidFill>
                              <a:latin typeface="Cambria Math" panose="02040503050406030204" pitchFamily="18" charset="0"/>
                            </a:rPr>
                          </m:ctrlPr>
                        </m:sSubPr>
                        <m:e>
                          <m:r>
                            <a:rPr lang="en-US" sz="1800" b="1" i="1" smtClean="0">
                              <a:solidFill>
                                <a:schemeClr val="bg1"/>
                              </a:solidFill>
                              <a:latin typeface="Cambria Math" panose="02040503050406030204" pitchFamily="18" charset="0"/>
                            </a:rPr>
                            <m:t>∀</m:t>
                          </m:r>
                        </m:e>
                        <m:sub>
                          <m:r>
                            <a:rPr lang="en-US" sz="1800" b="1" i="1" smtClean="0">
                              <a:solidFill>
                                <a:schemeClr val="bg1"/>
                              </a:solidFill>
                              <a:latin typeface="Cambria Math" panose="02040503050406030204" pitchFamily="18" charset="0"/>
                            </a:rPr>
                            <m:t>𝒙</m:t>
                          </m:r>
                          <m:r>
                            <a:rPr lang="en-US" sz="1800" b="1" i="1" smtClean="0">
                              <a:solidFill>
                                <a:schemeClr val="bg1"/>
                              </a:solidFill>
                              <a:latin typeface="Cambria Math" panose="02040503050406030204" pitchFamily="18" charset="0"/>
                            </a:rPr>
                            <m:t>∈</m:t>
                          </m:r>
                          <m:r>
                            <a:rPr lang="en-US" sz="1800" b="1" i="1" smtClean="0">
                              <a:solidFill>
                                <a:schemeClr val="bg1"/>
                              </a:solidFill>
                              <a:latin typeface="Cambria Math" panose="02040503050406030204" pitchFamily="18" charset="0"/>
                            </a:rPr>
                            <m:t>𝑵𝑷</m:t>
                          </m:r>
                        </m:sub>
                      </m:sSub>
                      <m:r>
                        <a:rPr lang="en-US" sz="1800" b="1" i="1" smtClean="0">
                          <a:solidFill>
                            <a:schemeClr val="bg1"/>
                          </a:solidFill>
                          <a:latin typeface="Cambria Math" panose="02040503050406030204" pitchFamily="18" charset="0"/>
                        </a:rPr>
                        <m:t>𝒙</m:t>
                      </m:r>
                      <m:sSub>
                        <m:sSubPr>
                          <m:ctrlPr>
                            <a:rPr lang="en-US" sz="1800" b="1" i="1" smtClean="0">
                              <a:solidFill>
                                <a:schemeClr val="bg1"/>
                              </a:solidFill>
                              <a:latin typeface="Cambria Math" panose="02040503050406030204" pitchFamily="18" charset="0"/>
                            </a:rPr>
                          </m:ctrlPr>
                        </m:sSubPr>
                        <m:e>
                          <m:r>
                            <a:rPr lang="en-US" sz="1800" b="1" i="1" smtClean="0">
                              <a:solidFill>
                                <a:schemeClr val="bg1"/>
                              </a:solidFill>
                              <a:latin typeface="Cambria Math" panose="02040503050406030204" pitchFamily="18" charset="0"/>
                            </a:rPr>
                            <m:t>≤</m:t>
                          </m:r>
                        </m:e>
                        <m:sub>
                          <m:r>
                            <a:rPr lang="en-US" sz="1800" b="1" i="1" smtClean="0">
                              <a:solidFill>
                                <a:schemeClr val="bg1"/>
                              </a:solidFill>
                              <a:latin typeface="Cambria Math" panose="02040503050406030204" pitchFamily="18" charset="0"/>
                            </a:rPr>
                            <m:t>𝒑</m:t>
                          </m:r>
                        </m:sub>
                      </m:sSub>
                      <m:r>
                        <a:rPr lang="en-US" sz="1800" b="1" i="1" smtClean="0">
                          <a:solidFill>
                            <a:schemeClr val="bg1"/>
                          </a:solidFill>
                          <a:latin typeface="Cambria Math" panose="02040503050406030204" pitchFamily="18" charset="0"/>
                        </a:rPr>
                        <m:t>𝑺𝑨𝑻</m:t>
                      </m:r>
                    </m:oMath>
                  </m:oMathPara>
                </a14:m>
                <a:endParaRPr lang="en-US" sz="1800" b="1" dirty="0">
                  <a:solidFill>
                    <a:schemeClr val="bg1"/>
                  </a:solidFill>
                </a:endParaRPr>
              </a:p>
            </p:txBody>
          </p:sp>
        </mc:Choice>
        <mc:Fallback xmlns="">
          <p:sp>
            <p:nvSpPr>
              <p:cNvPr id="6" name="Content Placeholder 2">
                <a:extLst>
                  <a:ext uri="{FF2B5EF4-FFF2-40B4-BE49-F238E27FC236}">
                    <a16:creationId xmlns:a16="http://schemas.microsoft.com/office/drawing/2014/main" id="{347E063C-4014-2747-B5DF-2F3FAAFF4FDD}"/>
                  </a:ext>
                </a:extLst>
              </p:cNvPr>
              <p:cNvSpPr txBox="1">
                <a:spLocks noRot="1" noChangeAspect="1" noMove="1" noResize="1" noEditPoints="1" noAdjustHandles="1" noChangeArrowheads="1" noChangeShapeType="1" noTextEdit="1"/>
              </p:cNvSpPr>
              <p:nvPr/>
            </p:nvSpPr>
            <p:spPr>
              <a:xfrm>
                <a:off x="6238048" y="2177886"/>
                <a:ext cx="4423817" cy="1779735"/>
              </a:xfrm>
              <a:prstGeom prst="rect">
                <a:avLst/>
              </a:prstGeom>
              <a:blipFill>
                <a:blip r:embed="rId5"/>
                <a:stretch>
                  <a:fillRect/>
                </a:stretch>
              </a:blipFill>
            </p:spPr>
            <p:txBody>
              <a:bodyPr/>
              <a:lstStyle/>
              <a:p>
                <a:r>
                  <a:rPr lang="en-US">
                    <a:noFill/>
                  </a:rPr>
                  <a:t> </a:t>
                </a:r>
              </a:p>
            </p:txBody>
          </p:sp>
        </mc:Fallback>
      </mc:AlternateContent>
      <p:sp>
        <p:nvSpPr>
          <p:cNvPr id="7" name="Content Placeholder 2">
            <a:extLst>
              <a:ext uri="{FF2B5EF4-FFF2-40B4-BE49-F238E27FC236}">
                <a16:creationId xmlns:a16="http://schemas.microsoft.com/office/drawing/2014/main" id="{0C5FD4B0-68DF-F240-9768-BDFE8CB011AB}"/>
              </a:ext>
            </a:extLst>
          </p:cNvPr>
          <p:cNvSpPr txBox="1">
            <a:spLocks/>
          </p:cNvSpPr>
          <p:nvPr/>
        </p:nvSpPr>
        <p:spPr>
          <a:xfrm>
            <a:off x="4567128" y="4753147"/>
            <a:ext cx="2912678" cy="543130"/>
          </a:xfrm>
          <a:prstGeom prst="rect">
            <a:avLst/>
          </a:prstGeom>
          <a:no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i="1" dirty="0">
                <a:solidFill>
                  <a:schemeClr val="tx1">
                    <a:lumMod val="95000"/>
                  </a:schemeClr>
                </a:solidFill>
              </a:rPr>
              <a:t>Thus, it is proven!!</a:t>
            </a:r>
          </a:p>
        </p:txBody>
      </p:sp>
    </p:spTree>
    <p:extLst>
      <p:ext uri="{BB962C8B-B14F-4D97-AF65-F5344CB8AC3E}">
        <p14:creationId xmlns:p14="http://schemas.microsoft.com/office/powerpoint/2010/main" val="489851111"/>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719C56-21DC-0A40-AA49-9AF4AF4C92DA}"/>
              </a:ext>
            </a:extLst>
          </p:cNvPr>
          <p:cNvSpPr>
            <a:spLocks noGrp="1"/>
          </p:cNvSpPr>
          <p:nvPr>
            <p:ph type="title"/>
          </p:nvPr>
        </p:nvSpPr>
        <p:spPr/>
        <p:txBody>
          <a:bodyPr/>
          <a:lstStyle/>
          <a:p>
            <a:pPr algn="ctr"/>
            <a:r>
              <a:rPr lang="en-US" dirty="0"/>
              <a:t>Other NP-Complete Problems (Reductions)</a:t>
            </a:r>
          </a:p>
        </p:txBody>
      </p:sp>
    </p:spTree>
    <p:extLst>
      <p:ext uri="{BB962C8B-B14F-4D97-AF65-F5344CB8AC3E}">
        <p14:creationId xmlns:p14="http://schemas.microsoft.com/office/powerpoint/2010/main" val="167486215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lstStyle/>
          <a:p>
            <a:pPr algn="ctr"/>
            <a:r>
              <a:rPr lang="en-US" dirty="0"/>
              <a:t>3-SAT</a:t>
            </a:r>
          </a:p>
        </p:txBody>
      </p:sp>
    </p:spTree>
    <p:extLst>
      <p:ext uri="{BB962C8B-B14F-4D97-AF65-F5344CB8AC3E}">
        <p14:creationId xmlns:p14="http://schemas.microsoft.com/office/powerpoint/2010/main" val="3539110323"/>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a:xfrm>
            <a:off x="1141413" y="346916"/>
            <a:ext cx="9905998" cy="658021"/>
          </a:xfrm>
        </p:spPr>
        <p:txBody>
          <a:bodyPr/>
          <a:lstStyle/>
          <a:p>
            <a:pPr algn="ctr"/>
            <a:r>
              <a:rPr lang="en-US" dirty="0"/>
              <a:t>3-SAT</a:t>
            </a:r>
          </a:p>
        </p:txBody>
      </p:sp>
      <mc:AlternateContent xmlns:mc="http://schemas.openxmlformats.org/markup-compatibility/2006" xmlns:a14="http://schemas.microsoft.com/office/drawing/2010/main">
        <mc:Choice Requires="a14">
          <p:sp>
            <p:nvSpPr>
              <p:cNvPr id="7" name="Content Placeholder 5">
                <a:extLst>
                  <a:ext uri="{FF2B5EF4-FFF2-40B4-BE49-F238E27FC236}">
                    <a16:creationId xmlns:a16="http://schemas.microsoft.com/office/drawing/2014/main" id="{26FA4A7C-F739-F04D-A789-C5BEFF100A13}"/>
                  </a:ext>
                </a:extLst>
              </p:cNvPr>
              <p:cNvSpPr txBox="1">
                <a:spLocks/>
              </p:cNvSpPr>
              <p:nvPr/>
            </p:nvSpPr>
            <p:spPr>
              <a:xfrm>
                <a:off x="1141411" y="1855836"/>
                <a:ext cx="9905999" cy="606700"/>
              </a:xfrm>
              <a:prstGeom prst="rect">
                <a:avLst/>
              </a:prstGeom>
              <a:solidFill>
                <a:schemeClr val="tx1">
                  <a:lumMod val="95000"/>
                </a:schemeClr>
              </a:solidFill>
              <a:ln>
                <a:solidFill>
                  <a:schemeClr val="bg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None/>
                </a:pPr>
                <a14:m>
                  <m:oMathPara xmlns:m="http://schemas.openxmlformats.org/officeDocument/2006/math">
                    <m:oMathParaPr>
                      <m:jc m:val="centerGroup"/>
                    </m:oMathParaPr>
                    <m:oMath xmlns:m="http://schemas.openxmlformats.org/officeDocument/2006/math">
                      <m:r>
                        <a:rPr lang="en-US" b="0" i="1" smtClean="0">
                          <a:solidFill>
                            <a:schemeClr val="bg1"/>
                          </a:solidFill>
                          <a:latin typeface="Cambria Math" panose="02040503050406030204" pitchFamily="18" charset="0"/>
                        </a:rPr>
                        <m:t>𝑉</m:t>
                      </m:r>
                      <m:r>
                        <a:rPr lang="en-US" b="0" i="1" smtClean="0">
                          <a:solidFill>
                            <a:schemeClr val="bg1"/>
                          </a:solidFill>
                          <a:latin typeface="Cambria Math" panose="02040503050406030204" pitchFamily="18" charset="0"/>
                        </a:rPr>
                        <m:t>=</m:t>
                      </m:r>
                      <m:d>
                        <m:dPr>
                          <m:ctrlPr>
                            <a:rPr lang="en-US" b="0" i="1" smtClean="0">
                              <a:solidFill>
                                <a:schemeClr val="bg1"/>
                              </a:solidFill>
                              <a:latin typeface="Cambria Math" panose="02040503050406030204" pitchFamily="18" charset="0"/>
                            </a:rPr>
                          </m:ctrlPr>
                        </m:dPr>
                        <m:e>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𝑣</m:t>
                              </m:r>
                            </m:e>
                            <m:sub>
                              <m:r>
                                <a:rPr lang="en-US" b="0" i="1" smtClean="0">
                                  <a:solidFill>
                                    <a:schemeClr val="bg1"/>
                                  </a:solidFill>
                                  <a:latin typeface="Cambria Math" panose="02040503050406030204" pitchFamily="18" charset="0"/>
                                </a:rPr>
                                <m:t>1</m:t>
                              </m:r>
                            </m:sub>
                          </m:sSub>
                          <m:r>
                            <a:rPr lang="en-US" b="0" i="1" smtClean="0">
                              <a:solidFill>
                                <a:schemeClr val="bg1"/>
                              </a:solidFill>
                              <a:latin typeface="Cambria Math" panose="02040503050406030204" pitchFamily="18" charset="0"/>
                            </a:rPr>
                            <m:t>∨</m:t>
                          </m:r>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𝑣</m:t>
                              </m:r>
                            </m:e>
                            <m:sub>
                              <m:r>
                                <a:rPr lang="en-US" b="0" i="1" smtClean="0">
                                  <a:solidFill>
                                    <a:schemeClr val="bg1"/>
                                  </a:solidFill>
                                  <a:latin typeface="Cambria Math" panose="02040503050406030204" pitchFamily="18" charset="0"/>
                                </a:rPr>
                                <m:t>2</m:t>
                              </m:r>
                            </m:sub>
                          </m:sSub>
                          <m:r>
                            <a:rPr lang="en-US" b="0" i="1" smtClean="0">
                              <a:solidFill>
                                <a:schemeClr val="bg1"/>
                              </a:solidFill>
                              <a:latin typeface="Cambria Math" panose="02040503050406030204" pitchFamily="18" charset="0"/>
                            </a:rPr>
                            <m:t>∨</m:t>
                          </m:r>
                          <m:acc>
                            <m:accPr>
                              <m:chr m:val="̅"/>
                              <m:ctrlPr>
                                <a:rPr lang="en-US" b="0" i="1" smtClean="0">
                                  <a:solidFill>
                                    <a:schemeClr val="bg1"/>
                                  </a:solidFill>
                                  <a:latin typeface="Cambria Math" panose="02040503050406030204" pitchFamily="18" charset="0"/>
                                </a:rPr>
                              </m:ctrlPr>
                            </m:accPr>
                            <m:e>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𝑣</m:t>
                                  </m:r>
                                </m:e>
                                <m:sub>
                                  <m:r>
                                    <a:rPr lang="en-US" b="0" i="1" smtClean="0">
                                      <a:solidFill>
                                        <a:schemeClr val="bg1"/>
                                      </a:solidFill>
                                      <a:latin typeface="Cambria Math" panose="02040503050406030204" pitchFamily="18" charset="0"/>
                                    </a:rPr>
                                    <m:t>3</m:t>
                                  </m:r>
                                </m:sub>
                              </m:sSub>
                            </m:e>
                          </m:acc>
                        </m:e>
                      </m:d>
                      <m:r>
                        <a:rPr lang="en-US" b="0" i="1" smtClean="0">
                          <a:solidFill>
                            <a:schemeClr val="bg1"/>
                          </a:solidFill>
                          <a:latin typeface="Cambria Math" panose="02040503050406030204" pitchFamily="18" charset="0"/>
                        </a:rPr>
                        <m:t>∧</m:t>
                      </m:r>
                      <m:d>
                        <m:dPr>
                          <m:ctrlPr>
                            <a:rPr lang="en-US" b="0" i="1" smtClean="0">
                              <a:solidFill>
                                <a:schemeClr val="bg1"/>
                              </a:solidFill>
                              <a:latin typeface="Cambria Math" panose="02040503050406030204" pitchFamily="18" charset="0"/>
                            </a:rPr>
                          </m:ctrlPr>
                        </m:dPr>
                        <m:e>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𝑣</m:t>
                              </m:r>
                            </m:e>
                            <m:sub>
                              <m:r>
                                <a:rPr lang="en-US" b="0" i="1" smtClean="0">
                                  <a:solidFill>
                                    <a:schemeClr val="bg1"/>
                                  </a:solidFill>
                                  <a:latin typeface="Cambria Math" panose="02040503050406030204" pitchFamily="18" charset="0"/>
                                </a:rPr>
                                <m:t>4</m:t>
                              </m:r>
                            </m:sub>
                          </m:sSub>
                          <m:r>
                            <a:rPr lang="en-US" i="1">
                              <a:solidFill>
                                <a:schemeClr val="bg1"/>
                              </a:solidFill>
                              <a:latin typeface="Cambria Math" panose="02040503050406030204" pitchFamily="18" charset="0"/>
                            </a:rPr>
                            <m:t>∨</m:t>
                          </m:r>
                          <m:acc>
                            <m:accPr>
                              <m:chr m:val="̅"/>
                              <m:ctrlPr>
                                <a:rPr lang="en-US" b="0" i="1" smtClean="0">
                                  <a:solidFill>
                                    <a:schemeClr val="bg1"/>
                                  </a:solidFill>
                                  <a:latin typeface="Cambria Math" panose="02040503050406030204" pitchFamily="18" charset="0"/>
                                </a:rPr>
                              </m:ctrlPr>
                            </m:accPr>
                            <m:e>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𝑣</m:t>
                                  </m:r>
                                </m:e>
                                <m:sub>
                                  <m:r>
                                    <a:rPr lang="en-US" b="0" i="1" smtClean="0">
                                      <a:solidFill>
                                        <a:schemeClr val="bg1"/>
                                      </a:solidFill>
                                      <a:latin typeface="Cambria Math" panose="02040503050406030204" pitchFamily="18" charset="0"/>
                                    </a:rPr>
                                    <m:t>1</m:t>
                                  </m:r>
                                </m:sub>
                              </m:sSub>
                            </m:e>
                          </m:acc>
                          <m:r>
                            <a:rPr lang="en-US" i="1">
                              <a:solidFill>
                                <a:schemeClr val="bg1"/>
                              </a:solidFill>
                              <a:latin typeface="Cambria Math" panose="02040503050406030204" pitchFamily="18" charset="0"/>
                            </a:rPr>
                            <m:t>∨</m:t>
                          </m:r>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𝑣</m:t>
                              </m:r>
                            </m:e>
                            <m:sub>
                              <m:r>
                                <a:rPr lang="en-US" b="0" i="1" smtClean="0">
                                  <a:solidFill>
                                    <a:schemeClr val="bg1"/>
                                  </a:solidFill>
                                  <a:latin typeface="Cambria Math" panose="02040503050406030204" pitchFamily="18" charset="0"/>
                                </a:rPr>
                                <m:t>2</m:t>
                              </m:r>
                            </m:sub>
                          </m:sSub>
                        </m:e>
                      </m:d>
                      <m:r>
                        <a:rPr lang="en-US" b="0" i="1" smtClean="0">
                          <a:solidFill>
                            <a:schemeClr val="bg1"/>
                          </a:solidFill>
                          <a:latin typeface="Cambria Math" panose="02040503050406030204" pitchFamily="18" charset="0"/>
                        </a:rPr>
                        <m:t>∧</m:t>
                      </m:r>
                      <m:d>
                        <m:dPr>
                          <m:ctrlPr>
                            <a:rPr lang="en-US" b="0" i="1" smtClean="0">
                              <a:solidFill>
                                <a:schemeClr val="bg1"/>
                              </a:solidFill>
                              <a:latin typeface="Cambria Math" panose="02040503050406030204" pitchFamily="18" charset="0"/>
                            </a:rPr>
                          </m:ctrlPr>
                        </m:dPr>
                        <m:e>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𝑣</m:t>
                              </m:r>
                            </m:e>
                            <m:sub>
                              <m:r>
                                <a:rPr lang="en-US" b="0" i="1" smtClean="0">
                                  <a:solidFill>
                                    <a:schemeClr val="bg1"/>
                                  </a:solidFill>
                                  <a:latin typeface="Cambria Math" panose="02040503050406030204" pitchFamily="18" charset="0"/>
                                </a:rPr>
                                <m:t>4</m:t>
                              </m:r>
                            </m:sub>
                          </m:sSub>
                          <m:r>
                            <a:rPr lang="en-US" i="1">
                              <a:solidFill>
                                <a:schemeClr val="bg1"/>
                              </a:solidFill>
                              <a:latin typeface="Cambria Math" panose="02040503050406030204" pitchFamily="18" charset="0"/>
                            </a:rPr>
                            <m:t>∨</m:t>
                          </m:r>
                          <m:acc>
                            <m:accPr>
                              <m:chr m:val="̅"/>
                              <m:ctrlPr>
                                <a:rPr lang="en-US" b="0" i="1" smtClean="0">
                                  <a:solidFill>
                                    <a:schemeClr val="bg1"/>
                                  </a:solidFill>
                                  <a:latin typeface="Cambria Math" panose="02040503050406030204" pitchFamily="18" charset="0"/>
                                </a:rPr>
                              </m:ctrlPr>
                            </m:accPr>
                            <m:e>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𝑣</m:t>
                                  </m:r>
                                </m:e>
                                <m:sub>
                                  <m:r>
                                    <a:rPr lang="en-US" b="0" i="1" smtClean="0">
                                      <a:solidFill>
                                        <a:schemeClr val="bg1"/>
                                      </a:solidFill>
                                      <a:latin typeface="Cambria Math" panose="02040503050406030204" pitchFamily="18" charset="0"/>
                                    </a:rPr>
                                    <m:t>3</m:t>
                                  </m:r>
                                </m:sub>
                              </m:sSub>
                            </m:e>
                          </m:acc>
                          <m:r>
                            <a:rPr lang="en-US" i="1">
                              <a:solidFill>
                                <a:schemeClr val="bg1"/>
                              </a:solidFill>
                              <a:latin typeface="Cambria Math" panose="02040503050406030204" pitchFamily="18" charset="0"/>
                            </a:rPr>
                            <m:t>∨</m:t>
                          </m:r>
                          <m:acc>
                            <m:accPr>
                              <m:chr m:val="̅"/>
                              <m:ctrlPr>
                                <a:rPr lang="en-US" b="0" i="1" smtClean="0">
                                  <a:solidFill>
                                    <a:schemeClr val="bg1"/>
                                  </a:solidFill>
                                  <a:latin typeface="Cambria Math" panose="02040503050406030204" pitchFamily="18" charset="0"/>
                                </a:rPr>
                              </m:ctrlPr>
                            </m:accPr>
                            <m:e>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𝑣</m:t>
                                  </m:r>
                                </m:e>
                                <m:sub>
                                  <m:r>
                                    <a:rPr lang="en-US" b="0" i="1" smtClean="0">
                                      <a:solidFill>
                                        <a:schemeClr val="bg1"/>
                                      </a:solidFill>
                                      <a:latin typeface="Cambria Math" panose="02040503050406030204" pitchFamily="18" charset="0"/>
                                    </a:rPr>
                                    <m:t>1</m:t>
                                  </m:r>
                                </m:sub>
                              </m:sSub>
                            </m:e>
                          </m:acc>
                        </m:e>
                      </m:d>
                      <m:r>
                        <a:rPr lang="en-US" b="0" i="1" smtClean="0">
                          <a:solidFill>
                            <a:schemeClr val="bg1"/>
                          </a:solidFill>
                          <a:latin typeface="Cambria Math" panose="02040503050406030204" pitchFamily="18" charset="0"/>
                        </a:rPr>
                        <m:t>∧…</m:t>
                      </m:r>
                    </m:oMath>
                  </m:oMathPara>
                </a14:m>
                <a:endParaRPr lang="en-US" dirty="0">
                  <a:solidFill>
                    <a:schemeClr val="bg1"/>
                  </a:solidFill>
                </a:endParaRPr>
              </a:p>
            </p:txBody>
          </p:sp>
        </mc:Choice>
        <mc:Fallback xmlns="">
          <p:sp>
            <p:nvSpPr>
              <p:cNvPr id="7" name="Content Placeholder 5">
                <a:extLst>
                  <a:ext uri="{FF2B5EF4-FFF2-40B4-BE49-F238E27FC236}">
                    <a16:creationId xmlns:a16="http://schemas.microsoft.com/office/drawing/2014/main" id="{26FA4A7C-F739-F04D-A789-C5BEFF100A13}"/>
                  </a:ext>
                </a:extLst>
              </p:cNvPr>
              <p:cNvSpPr txBox="1">
                <a:spLocks noRot="1" noChangeAspect="1" noMove="1" noResize="1" noEditPoints="1" noAdjustHandles="1" noChangeArrowheads="1" noChangeShapeType="1" noTextEdit="1"/>
              </p:cNvSpPr>
              <p:nvPr/>
            </p:nvSpPr>
            <p:spPr>
              <a:xfrm>
                <a:off x="1141411" y="1855836"/>
                <a:ext cx="9905999" cy="606700"/>
              </a:xfrm>
              <a:prstGeom prst="rect">
                <a:avLst/>
              </a:prstGeom>
              <a:blipFill>
                <a:blip r:embed="rId2"/>
                <a:stretch>
                  <a:fillRect/>
                </a:stretch>
              </a:blipFill>
              <a:ln>
                <a:solidFill>
                  <a:schemeClr val="bg1"/>
                </a:solidFill>
              </a:ln>
            </p:spPr>
            <p:txBody>
              <a:bodyPr/>
              <a:lstStyle/>
              <a:p>
                <a:r>
                  <a:rPr lang="en-US">
                    <a:noFill/>
                  </a:rPr>
                  <a:t> </a:t>
                </a:r>
              </a:p>
            </p:txBody>
          </p:sp>
        </mc:Fallback>
      </mc:AlternateContent>
      <p:sp>
        <p:nvSpPr>
          <p:cNvPr id="8" name="Content Placeholder 5">
            <a:extLst>
              <a:ext uri="{FF2B5EF4-FFF2-40B4-BE49-F238E27FC236}">
                <a16:creationId xmlns:a16="http://schemas.microsoft.com/office/drawing/2014/main" id="{588DB659-DB6F-4349-9252-B5B50C98450D}"/>
              </a:ext>
            </a:extLst>
          </p:cNvPr>
          <p:cNvSpPr txBox="1">
            <a:spLocks/>
          </p:cNvSpPr>
          <p:nvPr/>
        </p:nvSpPr>
        <p:spPr>
          <a:xfrm>
            <a:off x="1141411" y="1493817"/>
            <a:ext cx="9905999" cy="389299"/>
          </a:xfrm>
          <a:prstGeom prst="rect">
            <a:avLst/>
          </a:prstGeom>
        </p:spPr>
        <p:txBody>
          <a:bodyPr vert="horz" lIns="91440" tIns="45720" rIns="91440" bIns="45720" rtlCol="0">
            <a:normAutofit fontScale="775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None/>
            </a:pPr>
            <a:r>
              <a:rPr lang="en-US" dirty="0"/>
              <a:t>3-SAT = Can a provided Boolean expression in 3-Conjunctive-Normal Form (3-CNF) be satisfied?</a:t>
            </a:r>
          </a:p>
        </p:txBody>
      </p:sp>
      <p:sp>
        <p:nvSpPr>
          <p:cNvPr id="9" name="Content Placeholder 2">
            <a:extLst>
              <a:ext uri="{FF2B5EF4-FFF2-40B4-BE49-F238E27FC236}">
                <a16:creationId xmlns:a16="http://schemas.microsoft.com/office/drawing/2014/main" id="{B8DC2F3B-811D-E947-BC3E-94C7AEA72061}"/>
              </a:ext>
            </a:extLst>
          </p:cNvPr>
          <p:cNvSpPr txBox="1">
            <a:spLocks/>
          </p:cNvSpPr>
          <p:nvPr/>
        </p:nvSpPr>
        <p:spPr>
          <a:xfrm>
            <a:off x="4249848" y="6083930"/>
            <a:ext cx="7054160" cy="552261"/>
          </a:xfrm>
          <a:prstGeom prst="rect">
            <a:avLst/>
          </a:prstGeom>
          <a:noFill/>
          <a:ln>
            <a:solidFill>
              <a:schemeClr val="tx1">
                <a:lumMod val="95000"/>
              </a:schemeClr>
            </a:solidFill>
          </a:ln>
        </p:spPr>
        <p:txBody>
          <a:bodyPr vert="horz" lIns="91440" tIns="45720" rIns="91440" bIns="45720" rtlCol="0">
            <a:no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2200" i="1" dirty="0">
                <a:solidFill>
                  <a:schemeClr val="tx1">
                    <a:lumMod val="95000"/>
                  </a:schemeClr>
                </a:solidFill>
              </a:rPr>
              <a:t>Is it easier to decide 3-SAT because the format is simpler?</a:t>
            </a:r>
          </a:p>
        </p:txBody>
      </p:sp>
      <p:cxnSp>
        <p:nvCxnSpPr>
          <p:cNvPr id="10" name="Straight Connector 9">
            <a:extLst>
              <a:ext uri="{FF2B5EF4-FFF2-40B4-BE49-F238E27FC236}">
                <a16:creationId xmlns:a16="http://schemas.microsoft.com/office/drawing/2014/main" id="{E6E2EB16-B748-6744-80F8-41B17CF328D9}"/>
              </a:ext>
            </a:extLst>
          </p:cNvPr>
          <p:cNvCxnSpPr>
            <a:cxnSpLocks/>
          </p:cNvCxnSpPr>
          <p:nvPr/>
        </p:nvCxnSpPr>
        <p:spPr>
          <a:xfrm>
            <a:off x="7201487" y="2619149"/>
            <a:ext cx="466799" cy="1165193"/>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
        <p:nvSpPr>
          <p:cNvPr id="11" name="Content Placeholder 2">
            <a:extLst>
              <a:ext uri="{FF2B5EF4-FFF2-40B4-BE49-F238E27FC236}">
                <a16:creationId xmlns:a16="http://schemas.microsoft.com/office/drawing/2014/main" id="{D370B333-C64C-3143-8A4B-DAA9B89DB5C9}"/>
              </a:ext>
            </a:extLst>
          </p:cNvPr>
          <p:cNvSpPr txBox="1">
            <a:spLocks/>
          </p:cNvSpPr>
          <p:nvPr/>
        </p:nvSpPr>
        <p:spPr>
          <a:xfrm>
            <a:off x="2171324" y="3874881"/>
            <a:ext cx="2362955" cy="1077361"/>
          </a:xfrm>
          <a:prstGeom prst="rect">
            <a:avLst/>
          </a:prstGeom>
          <a:noFill/>
        </p:spPr>
        <p:txBody>
          <a:bodyPr vert="horz" lIns="91440" tIns="45720" rIns="91440" bIns="45720" rtlCol="0">
            <a:normAutofit fontScale="925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600" i="1" dirty="0">
                <a:solidFill>
                  <a:schemeClr val="tx1">
                    <a:lumMod val="95000"/>
                  </a:schemeClr>
                </a:solidFill>
              </a:rPr>
              <a:t>Each Clause contains a disjunction (OR) of exactly 3 literals (or negated literals)</a:t>
            </a:r>
          </a:p>
        </p:txBody>
      </p:sp>
      <p:cxnSp>
        <p:nvCxnSpPr>
          <p:cNvPr id="12" name="Straight Connector 11">
            <a:extLst>
              <a:ext uri="{FF2B5EF4-FFF2-40B4-BE49-F238E27FC236}">
                <a16:creationId xmlns:a16="http://schemas.microsoft.com/office/drawing/2014/main" id="{B1A13CFE-1743-5144-A36B-B13BB50C7E6E}"/>
              </a:ext>
            </a:extLst>
          </p:cNvPr>
          <p:cNvCxnSpPr>
            <a:cxnSpLocks/>
          </p:cNvCxnSpPr>
          <p:nvPr/>
        </p:nvCxnSpPr>
        <p:spPr>
          <a:xfrm>
            <a:off x="3279828" y="2586112"/>
            <a:ext cx="466799" cy="1165193"/>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50D81B4A-8754-EA4E-90E7-432538789144}"/>
              </a:ext>
            </a:extLst>
          </p:cNvPr>
          <p:cNvCxnSpPr>
            <a:cxnSpLocks/>
          </p:cNvCxnSpPr>
          <p:nvPr/>
        </p:nvCxnSpPr>
        <p:spPr>
          <a:xfrm flipH="1">
            <a:off x="3746627" y="2586112"/>
            <a:ext cx="1006442" cy="1165193"/>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
        <p:nvSpPr>
          <p:cNvPr id="14" name="Content Placeholder 2">
            <a:extLst>
              <a:ext uri="{FF2B5EF4-FFF2-40B4-BE49-F238E27FC236}">
                <a16:creationId xmlns:a16="http://schemas.microsoft.com/office/drawing/2014/main" id="{73B5FC53-6A02-8748-8F98-77750EBACA2B}"/>
              </a:ext>
            </a:extLst>
          </p:cNvPr>
          <p:cNvSpPr txBox="1">
            <a:spLocks/>
          </p:cNvSpPr>
          <p:nvPr/>
        </p:nvSpPr>
        <p:spPr>
          <a:xfrm>
            <a:off x="6486808" y="3829611"/>
            <a:ext cx="2362955" cy="1077361"/>
          </a:xfrm>
          <a:prstGeom prst="rect">
            <a:avLst/>
          </a:prstGeom>
          <a:no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600" i="1" dirty="0">
                <a:solidFill>
                  <a:schemeClr val="tx1">
                    <a:lumMod val="95000"/>
                  </a:schemeClr>
                </a:solidFill>
              </a:rPr>
              <a:t>The expression must be a conjunction (AND) of multiple clauses</a:t>
            </a:r>
          </a:p>
        </p:txBody>
      </p:sp>
    </p:spTree>
    <p:extLst>
      <p:ext uri="{BB962C8B-B14F-4D97-AF65-F5344CB8AC3E}">
        <p14:creationId xmlns:p14="http://schemas.microsoft.com/office/powerpoint/2010/main" val="3471429375"/>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p:cNvSpPr>
                <a:spLocks noGrp="1"/>
              </p:cNvSpPr>
              <p:nvPr>
                <p:ph type="title"/>
              </p:nvPr>
            </p:nvSpPr>
            <p:spPr>
              <a:xfrm>
                <a:off x="1141413" y="326848"/>
                <a:ext cx="9905998" cy="603310"/>
              </a:xfrm>
            </p:spPr>
            <p:txBody>
              <a:bodyPr/>
              <a:lstStyle/>
              <a:p>
                <a:pPr algn="ctr"/>
                <a:r>
                  <a:rPr lang="en-US" b="0" dirty="0"/>
                  <a:t>Showing that </a:t>
                </a:r>
                <a14:m>
                  <m:oMath xmlns:m="http://schemas.openxmlformats.org/officeDocument/2006/math">
                    <m:r>
                      <a:rPr lang="en-US" b="0" i="0" dirty="0" smtClean="0">
                        <a:latin typeface="Cambria Math" panose="02040503050406030204" pitchFamily="18" charset="0"/>
                      </a:rPr>
                      <m:t>3</m:t>
                    </m:r>
                    <m:r>
                      <a:rPr lang="en-US" b="0" i="1" dirty="0" smtClean="0">
                        <a:latin typeface="Cambria Math" panose="02040503050406030204" pitchFamily="18" charset="0"/>
                      </a:rPr>
                      <m:t>𝑆𝐴𝑇</m:t>
                    </m:r>
                    <m:r>
                      <a:rPr lang="en-US" b="0" i="1" dirty="0" smtClean="0">
                        <a:latin typeface="Cambria Math" panose="02040503050406030204" pitchFamily="18" charset="0"/>
                      </a:rPr>
                      <m:t>∈</m:t>
                    </m:r>
                    <m:r>
                      <a:rPr lang="en-US" b="0" i="1" dirty="0" smtClean="0">
                        <a:latin typeface="Cambria Math" panose="02040503050406030204" pitchFamily="18" charset="0"/>
                      </a:rPr>
                      <m:t>𝑁𝑃𝐶</m:t>
                    </m:r>
                  </m:oMath>
                </a14:m>
                <a:endParaRPr lang="en-US" dirty="0"/>
              </a:p>
            </p:txBody>
          </p:sp>
        </mc:Choice>
        <mc:Fallback xmlns="">
          <p:sp>
            <p:nvSpPr>
              <p:cNvPr id="2" name="Title 1"/>
              <p:cNvSpPr>
                <a:spLocks noGrp="1" noRot="1" noChangeAspect="1" noMove="1" noResize="1" noEditPoints="1" noAdjustHandles="1" noChangeArrowheads="1" noChangeShapeType="1" noTextEdit="1"/>
              </p:cNvSpPr>
              <p:nvPr>
                <p:ph type="title"/>
              </p:nvPr>
            </p:nvSpPr>
            <p:spPr>
              <a:xfrm>
                <a:off x="1141413" y="326848"/>
                <a:ext cx="9905998" cy="603310"/>
              </a:xfrm>
              <a:blipFill>
                <a:blip r:embed="rId2"/>
                <a:stretch>
                  <a:fillRect t="-22917" b="-3541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Content Placeholder 2"/>
              <p:cNvSpPr>
                <a:spLocks noGrp="1"/>
              </p:cNvSpPr>
              <p:nvPr>
                <p:ph sz="quarter" idx="1"/>
              </p:nvPr>
            </p:nvSpPr>
            <p:spPr>
              <a:xfrm>
                <a:off x="1070468" y="1744991"/>
                <a:ext cx="9905999" cy="477948"/>
              </a:xfrm>
            </p:spPr>
            <p:txBody>
              <a:bodyPr>
                <a:normAutofit/>
              </a:bodyPr>
              <a:lstStyle/>
              <a:p>
                <a:pPr marL="0" indent="0">
                  <a:buNone/>
                </a:pPr>
                <a:r>
                  <a:rPr lang="en-US" sz="1800" dirty="0"/>
                  <a:t>To show that </a:t>
                </a:r>
                <a14:m>
                  <m:oMath xmlns:m="http://schemas.openxmlformats.org/officeDocument/2006/math">
                    <m:r>
                      <a:rPr lang="en-US" sz="1800" b="0" i="0" smtClean="0">
                        <a:latin typeface="Cambria Math" panose="02040503050406030204" pitchFamily="18" charset="0"/>
                      </a:rPr>
                      <m:t>3</m:t>
                    </m:r>
                    <m:r>
                      <a:rPr lang="en-US" sz="1800" b="0" i="1" smtClean="0">
                        <a:latin typeface="Cambria Math" panose="02040503050406030204" pitchFamily="18" charset="0"/>
                      </a:rPr>
                      <m:t>𝑆𝐴𝑇</m:t>
                    </m:r>
                    <m:r>
                      <a:rPr lang="en-US" sz="1800" b="0" i="1" smtClean="0">
                        <a:latin typeface="Cambria Math" panose="02040503050406030204" pitchFamily="18" charset="0"/>
                      </a:rPr>
                      <m:t>∈</m:t>
                    </m:r>
                    <m:r>
                      <a:rPr lang="en-US" sz="1800" b="0" i="1" smtClean="0">
                        <a:latin typeface="Cambria Math" panose="02040503050406030204" pitchFamily="18" charset="0"/>
                      </a:rPr>
                      <m:t>𝑁𝑃𝐶</m:t>
                    </m:r>
                  </m:oMath>
                </a14:m>
                <a:r>
                  <a:rPr lang="en-US" sz="1800" dirty="0"/>
                  <a:t>, we must show both that:</a:t>
                </a:r>
              </a:p>
            </p:txBody>
          </p:sp>
        </mc:Choice>
        <mc:Fallback xmlns="">
          <p:sp>
            <p:nvSpPr>
              <p:cNvPr id="3" name="Content Placeholder 2"/>
              <p:cNvSpPr>
                <a:spLocks noGrp="1" noRot="1" noChangeAspect="1" noMove="1" noResize="1" noEditPoints="1" noAdjustHandles="1" noChangeArrowheads="1" noChangeShapeType="1" noTextEdit="1"/>
              </p:cNvSpPr>
              <p:nvPr>
                <p:ph sz="quarter" idx="1"/>
              </p:nvPr>
            </p:nvSpPr>
            <p:spPr>
              <a:xfrm>
                <a:off x="1070468" y="1744991"/>
                <a:ext cx="9905999" cy="477948"/>
              </a:xfrm>
              <a:blipFill>
                <a:blip r:embed="rId3"/>
                <a:stretch>
                  <a:fillRect l="-513" b="-256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Content Placeholder 2">
                <a:extLst>
                  <a:ext uri="{FF2B5EF4-FFF2-40B4-BE49-F238E27FC236}">
                    <a16:creationId xmlns:a16="http://schemas.microsoft.com/office/drawing/2014/main" id="{12063473-8A28-4A47-9CBA-0765249DEEC2}"/>
                  </a:ext>
                </a:extLst>
              </p:cNvPr>
              <p:cNvSpPr txBox="1">
                <a:spLocks/>
              </p:cNvSpPr>
              <p:nvPr/>
            </p:nvSpPr>
            <p:spPr>
              <a:xfrm>
                <a:off x="1141413" y="2177887"/>
                <a:ext cx="4423817" cy="1779735"/>
              </a:xfrm>
              <a:prstGeom prst="rect">
                <a:avLst/>
              </a:prstGeom>
              <a:solidFill>
                <a:schemeClr val="tx1">
                  <a:lumMod val="95000"/>
                </a:schemeClr>
              </a:solidFill>
              <a:ln>
                <a:solidFill>
                  <a:schemeClr val="bg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14:m>
                  <m:oMathPara xmlns:m="http://schemas.openxmlformats.org/officeDocument/2006/math">
                    <m:oMathParaPr>
                      <m:jc m:val="center"/>
                    </m:oMathParaPr>
                    <m:oMath xmlns:m="http://schemas.openxmlformats.org/officeDocument/2006/math">
                      <m:r>
                        <a:rPr lang="en-US" sz="1800" b="0" i="1" smtClean="0">
                          <a:solidFill>
                            <a:schemeClr val="bg1"/>
                          </a:solidFill>
                          <a:latin typeface="Cambria Math" panose="02040503050406030204" pitchFamily="18" charset="0"/>
                        </a:rPr>
                        <m:t>3</m:t>
                      </m:r>
                      <m:r>
                        <a:rPr lang="en-US" sz="1800" b="0" i="1" smtClean="0">
                          <a:solidFill>
                            <a:schemeClr val="bg1"/>
                          </a:solidFill>
                          <a:latin typeface="Cambria Math" panose="02040503050406030204" pitchFamily="18" charset="0"/>
                        </a:rPr>
                        <m:t>𝑆𝐴𝑇</m:t>
                      </m:r>
                      <m:r>
                        <a:rPr lang="en-US" sz="1800" b="0" i="1" smtClean="0">
                          <a:solidFill>
                            <a:schemeClr val="bg1"/>
                          </a:solidFill>
                          <a:latin typeface="Cambria Math" panose="02040503050406030204" pitchFamily="18" charset="0"/>
                        </a:rPr>
                        <m:t>∈</m:t>
                      </m:r>
                      <m:r>
                        <a:rPr lang="en-US" sz="1800" b="0" i="1" smtClean="0">
                          <a:solidFill>
                            <a:schemeClr val="bg1"/>
                          </a:solidFill>
                          <a:latin typeface="Cambria Math" panose="02040503050406030204" pitchFamily="18" charset="0"/>
                        </a:rPr>
                        <m:t>𝑁𝑃</m:t>
                      </m:r>
                    </m:oMath>
                  </m:oMathPara>
                </a14:m>
                <a:endParaRPr lang="en-US" sz="1800" dirty="0">
                  <a:solidFill>
                    <a:schemeClr val="bg1"/>
                  </a:solidFill>
                </a:endParaRPr>
              </a:p>
              <a:p>
                <a:pPr marL="0" indent="0" algn="ctr">
                  <a:buFont typeface="Arial" panose="020B0604020202020204" pitchFamily="34" charset="0"/>
                  <a:buNone/>
                </a:pPr>
                <a:endParaRPr lang="en-US" sz="1800" dirty="0">
                  <a:solidFill>
                    <a:schemeClr val="bg1"/>
                  </a:solidFill>
                </a:endParaRPr>
              </a:p>
              <a:p>
                <a:pPr marL="0" indent="0" algn="ctr">
                  <a:buFont typeface="Arial" panose="020B0604020202020204" pitchFamily="34" charset="0"/>
                  <a:buNone/>
                </a:pPr>
                <a:r>
                  <a:rPr lang="en-US" sz="1800" dirty="0">
                    <a:solidFill>
                      <a:schemeClr val="bg1"/>
                    </a:solidFill>
                  </a:rPr>
                  <a:t>Provide a verifier TM that runs in Polynomial Time</a:t>
                </a:r>
              </a:p>
            </p:txBody>
          </p:sp>
        </mc:Choice>
        <mc:Fallback xmlns="">
          <p:sp>
            <p:nvSpPr>
              <p:cNvPr id="5" name="Content Placeholder 2">
                <a:extLst>
                  <a:ext uri="{FF2B5EF4-FFF2-40B4-BE49-F238E27FC236}">
                    <a16:creationId xmlns:a16="http://schemas.microsoft.com/office/drawing/2014/main" id="{12063473-8A28-4A47-9CBA-0765249DEEC2}"/>
                  </a:ext>
                </a:extLst>
              </p:cNvPr>
              <p:cNvSpPr txBox="1">
                <a:spLocks noRot="1" noChangeAspect="1" noMove="1" noResize="1" noEditPoints="1" noAdjustHandles="1" noChangeArrowheads="1" noChangeShapeType="1" noTextEdit="1"/>
              </p:cNvSpPr>
              <p:nvPr/>
            </p:nvSpPr>
            <p:spPr>
              <a:xfrm>
                <a:off x="1141413" y="2177887"/>
                <a:ext cx="4423817" cy="1779735"/>
              </a:xfrm>
              <a:prstGeom prst="rect">
                <a:avLst/>
              </a:prstGeom>
              <a:blipFill>
                <a:blip r:embed="rId4"/>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Content Placeholder 2">
                <a:extLst>
                  <a:ext uri="{FF2B5EF4-FFF2-40B4-BE49-F238E27FC236}">
                    <a16:creationId xmlns:a16="http://schemas.microsoft.com/office/drawing/2014/main" id="{347E063C-4014-2747-B5DF-2F3FAAFF4FDD}"/>
                  </a:ext>
                </a:extLst>
              </p:cNvPr>
              <p:cNvSpPr txBox="1">
                <a:spLocks/>
              </p:cNvSpPr>
              <p:nvPr/>
            </p:nvSpPr>
            <p:spPr>
              <a:xfrm>
                <a:off x="6238048" y="2177886"/>
                <a:ext cx="4423817" cy="1779735"/>
              </a:xfrm>
              <a:prstGeom prst="rect">
                <a:avLst/>
              </a:prstGeom>
              <a:solidFill>
                <a:schemeClr val="tx1">
                  <a:lumMod val="95000"/>
                </a:schemeClr>
              </a:solidFill>
              <a:ln>
                <a:solidFill>
                  <a:schemeClr val="bg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14:m>
                  <m:oMathPara xmlns:m="http://schemas.openxmlformats.org/officeDocument/2006/math">
                    <m:oMathParaPr>
                      <m:jc m:val="center"/>
                    </m:oMathParaPr>
                    <m:oMath xmlns:m="http://schemas.openxmlformats.org/officeDocument/2006/math">
                      <m:r>
                        <a:rPr lang="en-US" sz="1800" b="0" i="1" smtClean="0">
                          <a:solidFill>
                            <a:schemeClr val="bg1"/>
                          </a:solidFill>
                          <a:latin typeface="Cambria Math" panose="02040503050406030204" pitchFamily="18" charset="0"/>
                        </a:rPr>
                        <m:t>3</m:t>
                      </m:r>
                      <m:r>
                        <a:rPr lang="en-US" sz="1800" b="0" i="1" smtClean="0">
                          <a:solidFill>
                            <a:schemeClr val="bg1"/>
                          </a:solidFill>
                          <a:latin typeface="Cambria Math" panose="02040503050406030204" pitchFamily="18" charset="0"/>
                        </a:rPr>
                        <m:t>𝑆𝐴𝑇</m:t>
                      </m:r>
                      <m:r>
                        <a:rPr lang="en-US" sz="1800" b="0" i="1" smtClean="0">
                          <a:solidFill>
                            <a:schemeClr val="bg1"/>
                          </a:solidFill>
                          <a:latin typeface="Cambria Math" panose="02040503050406030204" pitchFamily="18" charset="0"/>
                        </a:rPr>
                        <m:t>∈</m:t>
                      </m:r>
                      <m:r>
                        <a:rPr lang="en-US" sz="1800" b="0" i="1" smtClean="0">
                          <a:solidFill>
                            <a:schemeClr val="bg1"/>
                          </a:solidFill>
                          <a:latin typeface="Cambria Math" panose="02040503050406030204" pitchFamily="18" charset="0"/>
                        </a:rPr>
                        <m:t>𝑁𝑃</m:t>
                      </m:r>
                      <m:r>
                        <a:rPr lang="en-US" sz="1800" b="0" i="1" smtClean="0">
                          <a:solidFill>
                            <a:schemeClr val="bg1"/>
                          </a:solidFill>
                          <a:latin typeface="Cambria Math" panose="02040503050406030204" pitchFamily="18" charset="0"/>
                        </a:rPr>
                        <m:t>−</m:t>
                      </m:r>
                      <m:r>
                        <a:rPr lang="en-US" sz="1800" b="0" i="1" smtClean="0">
                          <a:solidFill>
                            <a:schemeClr val="bg1"/>
                          </a:solidFill>
                          <a:latin typeface="Cambria Math" panose="02040503050406030204" pitchFamily="18" charset="0"/>
                        </a:rPr>
                        <m:t>𝐻𝐴𝑅𝐷</m:t>
                      </m:r>
                    </m:oMath>
                  </m:oMathPara>
                </a14:m>
                <a:endParaRPr lang="en-US" sz="1800" dirty="0">
                  <a:solidFill>
                    <a:schemeClr val="bg1"/>
                  </a:solidFill>
                </a:endParaRPr>
              </a:p>
              <a:p>
                <a:pPr marL="0" indent="0" algn="ctr">
                  <a:buFont typeface="Arial" panose="020B0604020202020204" pitchFamily="34" charset="0"/>
                  <a:buNone/>
                </a:pPr>
                <a:br>
                  <a:rPr lang="en-US" sz="1800" dirty="0">
                    <a:solidFill>
                      <a:schemeClr val="bg1"/>
                    </a:solidFill>
                  </a:rPr>
                </a:br>
                <a14:m>
                  <m:oMathPara xmlns:m="http://schemas.openxmlformats.org/officeDocument/2006/math">
                    <m:oMathParaPr>
                      <m:jc m:val="centerGroup"/>
                    </m:oMathParaPr>
                    <m:oMath xmlns:m="http://schemas.openxmlformats.org/officeDocument/2006/math">
                      <m:sSub>
                        <m:sSubPr>
                          <m:ctrlPr>
                            <a:rPr lang="en-US" sz="1800" b="1" i="1" smtClean="0">
                              <a:solidFill>
                                <a:schemeClr val="bg1"/>
                              </a:solidFill>
                              <a:latin typeface="Cambria Math" panose="02040503050406030204" pitchFamily="18" charset="0"/>
                            </a:rPr>
                          </m:ctrlPr>
                        </m:sSubPr>
                        <m:e>
                          <m:r>
                            <a:rPr lang="en-US" sz="1800" b="1" i="1" smtClean="0">
                              <a:solidFill>
                                <a:schemeClr val="bg1"/>
                              </a:solidFill>
                              <a:latin typeface="Cambria Math" panose="02040503050406030204" pitchFamily="18" charset="0"/>
                            </a:rPr>
                            <m:t>∃</m:t>
                          </m:r>
                        </m:e>
                        <m:sub>
                          <m:r>
                            <a:rPr lang="en-US" sz="1800" b="1" i="1" smtClean="0">
                              <a:solidFill>
                                <a:schemeClr val="bg1"/>
                              </a:solidFill>
                              <a:latin typeface="Cambria Math" panose="02040503050406030204" pitchFamily="18" charset="0"/>
                            </a:rPr>
                            <m:t>𝒙</m:t>
                          </m:r>
                          <m:r>
                            <a:rPr lang="en-US" sz="1800" b="1" i="1" smtClean="0">
                              <a:solidFill>
                                <a:schemeClr val="bg1"/>
                              </a:solidFill>
                              <a:latin typeface="Cambria Math" panose="02040503050406030204" pitchFamily="18" charset="0"/>
                            </a:rPr>
                            <m:t>∈</m:t>
                          </m:r>
                          <m:r>
                            <a:rPr lang="en-US" sz="1800" b="1" i="1" smtClean="0">
                              <a:solidFill>
                                <a:schemeClr val="bg1"/>
                              </a:solidFill>
                              <a:latin typeface="Cambria Math" panose="02040503050406030204" pitchFamily="18" charset="0"/>
                            </a:rPr>
                            <m:t>𝑵𝑷𝑪</m:t>
                          </m:r>
                        </m:sub>
                      </m:sSub>
                      <m:r>
                        <a:rPr lang="en-US" sz="1800" b="1" i="1" smtClean="0">
                          <a:solidFill>
                            <a:schemeClr val="bg1"/>
                          </a:solidFill>
                          <a:latin typeface="Cambria Math" panose="02040503050406030204" pitchFamily="18" charset="0"/>
                        </a:rPr>
                        <m:t>𝒙</m:t>
                      </m:r>
                      <m:sSub>
                        <m:sSubPr>
                          <m:ctrlPr>
                            <a:rPr lang="en-US" sz="1800" b="1" i="1" smtClean="0">
                              <a:solidFill>
                                <a:schemeClr val="bg1"/>
                              </a:solidFill>
                              <a:latin typeface="Cambria Math" panose="02040503050406030204" pitchFamily="18" charset="0"/>
                            </a:rPr>
                          </m:ctrlPr>
                        </m:sSubPr>
                        <m:e>
                          <m:r>
                            <a:rPr lang="en-US" sz="1800" b="1" i="1" smtClean="0">
                              <a:solidFill>
                                <a:schemeClr val="bg1"/>
                              </a:solidFill>
                              <a:latin typeface="Cambria Math" panose="02040503050406030204" pitchFamily="18" charset="0"/>
                            </a:rPr>
                            <m:t>≤</m:t>
                          </m:r>
                        </m:e>
                        <m:sub>
                          <m:r>
                            <a:rPr lang="en-US" sz="1800" b="1" i="1" smtClean="0">
                              <a:solidFill>
                                <a:schemeClr val="bg1"/>
                              </a:solidFill>
                              <a:latin typeface="Cambria Math" panose="02040503050406030204" pitchFamily="18" charset="0"/>
                            </a:rPr>
                            <m:t>𝒑</m:t>
                          </m:r>
                        </m:sub>
                      </m:sSub>
                      <m:r>
                        <a:rPr lang="en-US" sz="1800" b="1" i="1" smtClean="0">
                          <a:solidFill>
                            <a:schemeClr val="bg1"/>
                          </a:solidFill>
                          <a:latin typeface="Cambria Math" panose="02040503050406030204" pitchFamily="18" charset="0"/>
                        </a:rPr>
                        <m:t>𝟑</m:t>
                      </m:r>
                      <m:r>
                        <a:rPr lang="en-US" sz="1800" b="1" i="1" smtClean="0">
                          <a:solidFill>
                            <a:schemeClr val="bg1"/>
                          </a:solidFill>
                          <a:latin typeface="Cambria Math" panose="02040503050406030204" pitchFamily="18" charset="0"/>
                        </a:rPr>
                        <m:t>𝑺𝑨𝑻</m:t>
                      </m:r>
                    </m:oMath>
                  </m:oMathPara>
                </a14:m>
                <a:endParaRPr lang="en-US" sz="1800" b="1" dirty="0">
                  <a:solidFill>
                    <a:schemeClr val="bg1"/>
                  </a:solidFill>
                </a:endParaRPr>
              </a:p>
            </p:txBody>
          </p:sp>
        </mc:Choice>
        <mc:Fallback xmlns="">
          <p:sp>
            <p:nvSpPr>
              <p:cNvPr id="6" name="Content Placeholder 2">
                <a:extLst>
                  <a:ext uri="{FF2B5EF4-FFF2-40B4-BE49-F238E27FC236}">
                    <a16:creationId xmlns:a16="http://schemas.microsoft.com/office/drawing/2014/main" id="{347E063C-4014-2747-B5DF-2F3FAAFF4FDD}"/>
                  </a:ext>
                </a:extLst>
              </p:cNvPr>
              <p:cNvSpPr txBox="1">
                <a:spLocks noRot="1" noChangeAspect="1" noMove="1" noResize="1" noEditPoints="1" noAdjustHandles="1" noChangeArrowheads="1" noChangeShapeType="1" noTextEdit="1"/>
              </p:cNvSpPr>
              <p:nvPr/>
            </p:nvSpPr>
            <p:spPr>
              <a:xfrm>
                <a:off x="6238048" y="2177886"/>
                <a:ext cx="4423817" cy="1779735"/>
              </a:xfrm>
              <a:prstGeom prst="rect">
                <a:avLst/>
              </a:prstGeom>
              <a:blipFill>
                <a:blip r:embed="rId5"/>
                <a:stretch>
                  <a:fillRect/>
                </a:stretch>
              </a:blipFill>
              <a:ln>
                <a:solidFill>
                  <a:schemeClr val="bg1"/>
                </a:solidFill>
              </a:ln>
            </p:spPr>
            <p:txBody>
              <a:bodyPr/>
              <a:lstStyle/>
              <a:p>
                <a:r>
                  <a:rPr lang="en-US">
                    <a:noFill/>
                  </a:rPr>
                  <a:t> </a:t>
                </a:r>
              </a:p>
            </p:txBody>
          </p:sp>
        </mc:Fallback>
      </mc:AlternateContent>
      <p:sp>
        <p:nvSpPr>
          <p:cNvPr id="7" name="Content Placeholder 2">
            <a:extLst>
              <a:ext uri="{FF2B5EF4-FFF2-40B4-BE49-F238E27FC236}">
                <a16:creationId xmlns:a16="http://schemas.microsoft.com/office/drawing/2014/main" id="{0C5FD4B0-68DF-F240-9768-BDFE8CB011AB}"/>
              </a:ext>
            </a:extLst>
          </p:cNvPr>
          <p:cNvSpPr txBox="1">
            <a:spLocks/>
          </p:cNvSpPr>
          <p:nvPr/>
        </p:nvSpPr>
        <p:spPr>
          <a:xfrm>
            <a:off x="1984248" y="5246922"/>
            <a:ext cx="2368296" cy="1217885"/>
          </a:xfrm>
          <a:prstGeom prst="rect">
            <a:avLst/>
          </a:prstGeom>
          <a:no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i="1" dirty="0">
                <a:solidFill>
                  <a:schemeClr val="tx1">
                    <a:lumMod val="95000"/>
                  </a:schemeClr>
                </a:solidFill>
              </a:rPr>
              <a:t>This one, as usual, is not difficult.</a:t>
            </a:r>
          </a:p>
        </p:txBody>
      </p:sp>
      <p:cxnSp>
        <p:nvCxnSpPr>
          <p:cNvPr id="8" name="Straight Connector 7">
            <a:extLst>
              <a:ext uri="{FF2B5EF4-FFF2-40B4-BE49-F238E27FC236}">
                <a16:creationId xmlns:a16="http://schemas.microsoft.com/office/drawing/2014/main" id="{CEF9D5DB-A4DF-8A41-A950-0FDFB07C17D4}"/>
              </a:ext>
            </a:extLst>
          </p:cNvPr>
          <p:cNvCxnSpPr>
            <a:cxnSpLocks/>
          </p:cNvCxnSpPr>
          <p:nvPr/>
        </p:nvCxnSpPr>
        <p:spPr>
          <a:xfrm flipH="1">
            <a:off x="2850100" y="4151376"/>
            <a:ext cx="318296" cy="1200129"/>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
        <p:nvSpPr>
          <p:cNvPr id="9" name="Content Placeholder 2">
            <a:extLst>
              <a:ext uri="{FF2B5EF4-FFF2-40B4-BE49-F238E27FC236}">
                <a16:creationId xmlns:a16="http://schemas.microsoft.com/office/drawing/2014/main" id="{39A534F1-9322-0D4C-83D0-8E2F41914E18}"/>
              </a:ext>
            </a:extLst>
          </p:cNvPr>
          <p:cNvSpPr txBox="1">
            <a:spLocks/>
          </p:cNvSpPr>
          <p:nvPr/>
        </p:nvSpPr>
        <p:spPr>
          <a:xfrm>
            <a:off x="7549896" y="5106714"/>
            <a:ext cx="3203448" cy="1358093"/>
          </a:xfrm>
          <a:prstGeom prst="rect">
            <a:avLst/>
          </a:prstGeom>
          <a:noFill/>
        </p:spPr>
        <p:txBody>
          <a:bodyPr vert="horz" lIns="91440" tIns="45720" rIns="91440" bIns="45720" rtlCol="0">
            <a:normAutofit fontScale="775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i="1" dirty="0">
                <a:solidFill>
                  <a:schemeClr val="tx1">
                    <a:lumMod val="95000"/>
                  </a:schemeClr>
                </a:solidFill>
              </a:rPr>
              <a:t>This time we can reduce from a concrete, known, NPC problem. We only have SAT so far, so that is what we will choose!</a:t>
            </a:r>
          </a:p>
        </p:txBody>
      </p:sp>
      <p:cxnSp>
        <p:nvCxnSpPr>
          <p:cNvPr id="10" name="Straight Connector 9">
            <a:extLst>
              <a:ext uri="{FF2B5EF4-FFF2-40B4-BE49-F238E27FC236}">
                <a16:creationId xmlns:a16="http://schemas.microsoft.com/office/drawing/2014/main" id="{7CA7E5AC-38B0-D042-A816-77E7092C3180}"/>
              </a:ext>
            </a:extLst>
          </p:cNvPr>
          <p:cNvCxnSpPr>
            <a:cxnSpLocks/>
          </p:cNvCxnSpPr>
          <p:nvPr/>
        </p:nvCxnSpPr>
        <p:spPr>
          <a:xfrm>
            <a:off x="8609104" y="4151376"/>
            <a:ext cx="333728" cy="955338"/>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35580347"/>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p:cNvSpPr>
                <a:spLocks noGrp="1"/>
              </p:cNvSpPr>
              <p:nvPr>
                <p:ph type="title"/>
              </p:nvPr>
            </p:nvSpPr>
            <p:spPr>
              <a:xfrm>
                <a:off x="1141413" y="326848"/>
                <a:ext cx="9905998" cy="603310"/>
              </a:xfrm>
            </p:spPr>
            <p:txBody>
              <a:bodyPr/>
              <a:lstStyle/>
              <a:p>
                <a:pPr algn="ctr"/>
                <a:r>
                  <a:rPr lang="en-US" b="0" dirty="0"/>
                  <a:t>Showing that </a:t>
                </a:r>
                <a14:m>
                  <m:oMath xmlns:m="http://schemas.openxmlformats.org/officeDocument/2006/math">
                    <m:r>
                      <a:rPr lang="en-US" b="0" i="0" dirty="0" smtClean="0">
                        <a:latin typeface="Cambria Math" panose="02040503050406030204" pitchFamily="18" charset="0"/>
                      </a:rPr>
                      <m:t>3</m:t>
                    </m:r>
                    <m:r>
                      <a:rPr lang="en-US" b="0" i="1" dirty="0" smtClean="0">
                        <a:latin typeface="Cambria Math" panose="02040503050406030204" pitchFamily="18" charset="0"/>
                      </a:rPr>
                      <m:t>𝑆𝐴𝑇</m:t>
                    </m:r>
                    <m:r>
                      <a:rPr lang="en-US" b="0" i="1" dirty="0" smtClean="0">
                        <a:latin typeface="Cambria Math" panose="02040503050406030204" pitchFamily="18" charset="0"/>
                      </a:rPr>
                      <m:t>∈</m:t>
                    </m:r>
                    <m:r>
                      <a:rPr lang="en-US" b="0" i="1" dirty="0" smtClean="0">
                        <a:latin typeface="Cambria Math" panose="02040503050406030204" pitchFamily="18" charset="0"/>
                      </a:rPr>
                      <m:t>𝑁𝑃𝐶</m:t>
                    </m:r>
                  </m:oMath>
                </a14:m>
                <a:endParaRPr lang="en-US" dirty="0"/>
              </a:p>
            </p:txBody>
          </p:sp>
        </mc:Choice>
        <mc:Fallback xmlns="">
          <p:sp>
            <p:nvSpPr>
              <p:cNvPr id="2" name="Title 1"/>
              <p:cNvSpPr>
                <a:spLocks noGrp="1" noRot="1" noChangeAspect="1" noMove="1" noResize="1" noEditPoints="1" noAdjustHandles="1" noChangeArrowheads="1" noChangeShapeType="1" noTextEdit="1"/>
              </p:cNvSpPr>
              <p:nvPr>
                <p:ph type="title"/>
              </p:nvPr>
            </p:nvSpPr>
            <p:spPr>
              <a:xfrm>
                <a:off x="1141413" y="326848"/>
                <a:ext cx="9905998" cy="603310"/>
              </a:xfrm>
              <a:blipFill>
                <a:blip r:embed="rId2"/>
                <a:stretch>
                  <a:fillRect t="-22917" b="-3541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Content Placeholder 2">
                <a:extLst>
                  <a:ext uri="{FF2B5EF4-FFF2-40B4-BE49-F238E27FC236}">
                    <a16:creationId xmlns:a16="http://schemas.microsoft.com/office/drawing/2014/main" id="{12063473-8A28-4A47-9CBA-0765249DEEC2}"/>
                  </a:ext>
                </a:extLst>
              </p:cNvPr>
              <p:cNvSpPr txBox="1">
                <a:spLocks/>
              </p:cNvSpPr>
              <p:nvPr/>
            </p:nvSpPr>
            <p:spPr>
              <a:xfrm>
                <a:off x="3882503" y="1455511"/>
                <a:ext cx="4423817" cy="1779735"/>
              </a:xfrm>
              <a:prstGeom prst="rect">
                <a:avLst/>
              </a:prstGeom>
              <a:solidFill>
                <a:schemeClr val="accent1"/>
              </a:solidFill>
              <a:ln>
                <a:solidFill>
                  <a:schemeClr val="bg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14:m>
                  <m:oMathPara xmlns:m="http://schemas.openxmlformats.org/officeDocument/2006/math">
                    <m:oMathParaPr>
                      <m:jc m:val="center"/>
                    </m:oMathParaPr>
                    <m:oMath xmlns:m="http://schemas.openxmlformats.org/officeDocument/2006/math">
                      <m:r>
                        <a:rPr lang="en-US" sz="1800" b="0" i="1" smtClean="0">
                          <a:solidFill>
                            <a:schemeClr val="bg1"/>
                          </a:solidFill>
                          <a:latin typeface="Cambria Math" panose="02040503050406030204" pitchFamily="18" charset="0"/>
                        </a:rPr>
                        <m:t>3</m:t>
                      </m:r>
                      <m:r>
                        <a:rPr lang="en-US" sz="1800" b="0" i="1" smtClean="0">
                          <a:solidFill>
                            <a:schemeClr val="bg1"/>
                          </a:solidFill>
                          <a:latin typeface="Cambria Math" panose="02040503050406030204" pitchFamily="18" charset="0"/>
                        </a:rPr>
                        <m:t>𝑆𝐴𝑇</m:t>
                      </m:r>
                      <m:r>
                        <a:rPr lang="en-US" sz="1800" b="0" i="1" smtClean="0">
                          <a:solidFill>
                            <a:schemeClr val="bg1"/>
                          </a:solidFill>
                          <a:latin typeface="Cambria Math" panose="02040503050406030204" pitchFamily="18" charset="0"/>
                        </a:rPr>
                        <m:t>∈</m:t>
                      </m:r>
                      <m:r>
                        <a:rPr lang="en-US" sz="1800" b="0" i="1" smtClean="0">
                          <a:solidFill>
                            <a:schemeClr val="bg1"/>
                          </a:solidFill>
                          <a:latin typeface="Cambria Math" panose="02040503050406030204" pitchFamily="18" charset="0"/>
                        </a:rPr>
                        <m:t>𝑁𝑃</m:t>
                      </m:r>
                    </m:oMath>
                  </m:oMathPara>
                </a14:m>
                <a:endParaRPr lang="en-US" sz="1800" dirty="0">
                  <a:solidFill>
                    <a:schemeClr val="bg1"/>
                  </a:solidFill>
                </a:endParaRPr>
              </a:p>
              <a:p>
                <a:pPr marL="0" indent="0" algn="ctr">
                  <a:buFont typeface="Arial" panose="020B0604020202020204" pitchFamily="34" charset="0"/>
                  <a:buNone/>
                </a:pPr>
                <a:endParaRPr lang="en-US" sz="1800" dirty="0">
                  <a:solidFill>
                    <a:schemeClr val="bg1"/>
                  </a:solidFill>
                </a:endParaRPr>
              </a:p>
              <a:p>
                <a:pPr marL="0" indent="0" algn="ctr">
                  <a:buFont typeface="Arial" panose="020B0604020202020204" pitchFamily="34" charset="0"/>
                  <a:buNone/>
                </a:pPr>
                <a:r>
                  <a:rPr lang="en-US" sz="1800" dirty="0">
                    <a:solidFill>
                      <a:schemeClr val="bg1"/>
                    </a:solidFill>
                  </a:rPr>
                  <a:t>Provide a verifier TM that runs in Polynomial Time</a:t>
                </a:r>
              </a:p>
            </p:txBody>
          </p:sp>
        </mc:Choice>
        <mc:Fallback xmlns="">
          <p:sp>
            <p:nvSpPr>
              <p:cNvPr id="5" name="Content Placeholder 2">
                <a:extLst>
                  <a:ext uri="{FF2B5EF4-FFF2-40B4-BE49-F238E27FC236}">
                    <a16:creationId xmlns:a16="http://schemas.microsoft.com/office/drawing/2014/main" id="{12063473-8A28-4A47-9CBA-0765249DEEC2}"/>
                  </a:ext>
                </a:extLst>
              </p:cNvPr>
              <p:cNvSpPr txBox="1">
                <a:spLocks noRot="1" noChangeAspect="1" noMove="1" noResize="1" noEditPoints="1" noAdjustHandles="1" noChangeArrowheads="1" noChangeShapeType="1" noTextEdit="1"/>
              </p:cNvSpPr>
              <p:nvPr/>
            </p:nvSpPr>
            <p:spPr>
              <a:xfrm>
                <a:off x="3882503" y="1455511"/>
                <a:ext cx="4423817" cy="1779735"/>
              </a:xfrm>
              <a:prstGeom prst="rect">
                <a:avLst/>
              </a:prstGeom>
              <a:blipFill>
                <a:blip r:embed="rId3"/>
                <a:stretch>
                  <a:fillRect/>
                </a:stretch>
              </a:blipFill>
              <a:ln>
                <a:solidFill>
                  <a:schemeClr val="bg1"/>
                </a:solidFill>
              </a:ln>
            </p:spPr>
            <p:txBody>
              <a:bodyPr/>
              <a:lstStyle/>
              <a:p>
                <a:r>
                  <a:rPr lang="en-US">
                    <a:noFill/>
                  </a:rPr>
                  <a:t> </a:t>
                </a:r>
              </a:p>
            </p:txBody>
          </p:sp>
        </mc:Fallback>
      </mc:AlternateContent>
      <p:sp>
        <p:nvSpPr>
          <p:cNvPr id="7" name="Content Placeholder 2">
            <a:extLst>
              <a:ext uri="{FF2B5EF4-FFF2-40B4-BE49-F238E27FC236}">
                <a16:creationId xmlns:a16="http://schemas.microsoft.com/office/drawing/2014/main" id="{0C5FD4B0-68DF-F240-9768-BDFE8CB011AB}"/>
              </a:ext>
            </a:extLst>
          </p:cNvPr>
          <p:cNvSpPr txBox="1">
            <a:spLocks/>
          </p:cNvSpPr>
          <p:nvPr/>
        </p:nvSpPr>
        <p:spPr>
          <a:xfrm>
            <a:off x="4050792" y="4177074"/>
            <a:ext cx="4361688" cy="1775670"/>
          </a:xfrm>
          <a:prstGeom prst="rect">
            <a:avLst/>
          </a:prstGeom>
          <a:no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i="1" dirty="0">
                <a:solidFill>
                  <a:schemeClr val="tx1">
                    <a:lumMod val="95000"/>
                  </a:schemeClr>
                </a:solidFill>
              </a:rPr>
              <a:t>This is trivial. The verifier we developed for SAT will also work for 3SAT.</a:t>
            </a:r>
          </a:p>
        </p:txBody>
      </p:sp>
      <p:cxnSp>
        <p:nvCxnSpPr>
          <p:cNvPr id="8" name="Straight Connector 7">
            <a:extLst>
              <a:ext uri="{FF2B5EF4-FFF2-40B4-BE49-F238E27FC236}">
                <a16:creationId xmlns:a16="http://schemas.microsoft.com/office/drawing/2014/main" id="{CEF9D5DB-A4DF-8A41-A950-0FDFB07C17D4}"/>
              </a:ext>
            </a:extLst>
          </p:cNvPr>
          <p:cNvCxnSpPr>
            <a:cxnSpLocks/>
          </p:cNvCxnSpPr>
          <p:nvPr/>
        </p:nvCxnSpPr>
        <p:spPr>
          <a:xfrm flipH="1">
            <a:off x="5660136" y="3465576"/>
            <a:ext cx="192024" cy="777240"/>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14175402"/>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p:cNvSpPr>
                <a:spLocks noGrp="1"/>
              </p:cNvSpPr>
              <p:nvPr>
                <p:ph type="title"/>
              </p:nvPr>
            </p:nvSpPr>
            <p:spPr>
              <a:xfrm>
                <a:off x="1141413" y="326848"/>
                <a:ext cx="9905998" cy="603310"/>
              </a:xfrm>
            </p:spPr>
            <p:txBody>
              <a:bodyPr/>
              <a:lstStyle/>
              <a:p>
                <a:pPr algn="ctr"/>
                <a:r>
                  <a:rPr lang="en-US" b="0" dirty="0"/>
                  <a:t>Showing that </a:t>
                </a:r>
                <a14:m>
                  <m:oMath xmlns:m="http://schemas.openxmlformats.org/officeDocument/2006/math">
                    <m:r>
                      <a:rPr lang="en-US" b="0" i="0" dirty="0" smtClean="0">
                        <a:latin typeface="Cambria Math" panose="02040503050406030204" pitchFamily="18" charset="0"/>
                      </a:rPr>
                      <m:t>3</m:t>
                    </m:r>
                    <m:r>
                      <a:rPr lang="en-US" b="0" i="1" dirty="0" smtClean="0">
                        <a:latin typeface="Cambria Math" panose="02040503050406030204" pitchFamily="18" charset="0"/>
                      </a:rPr>
                      <m:t>𝑆𝐴𝑇</m:t>
                    </m:r>
                    <m:r>
                      <a:rPr lang="en-US" b="0" i="1" dirty="0" smtClean="0">
                        <a:latin typeface="Cambria Math" panose="02040503050406030204" pitchFamily="18" charset="0"/>
                      </a:rPr>
                      <m:t>∈</m:t>
                    </m:r>
                    <m:r>
                      <a:rPr lang="en-US" b="0" i="1" dirty="0" smtClean="0">
                        <a:latin typeface="Cambria Math" panose="02040503050406030204" pitchFamily="18" charset="0"/>
                      </a:rPr>
                      <m:t>𝑁𝑃𝐶</m:t>
                    </m:r>
                  </m:oMath>
                </a14:m>
                <a:endParaRPr lang="en-US" dirty="0"/>
              </a:p>
            </p:txBody>
          </p:sp>
        </mc:Choice>
        <mc:Fallback xmlns="">
          <p:sp>
            <p:nvSpPr>
              <p:cNvPr id="2" name="Title 1"/>
              <p:cNvSpPr>
                <a:spLocks noGrp="1" noRot="1" noChangeAspect="1" noMove="1" noResize="1" noEditPoints="1" noAdjustHandles="1" noChangeArrowheads="1" noChangeShapeType="1" noTextEdit="1"/>
              </p:cNvSpPr>
              <p:nvPr>
                <p:ph type="title"/>
              </p:nvPr>
            </p:nvSpPr>
            <p:spPr>
              <a:xfrm>
                <a:off x="1141413" y="326848"/>
                <a:ext cx="9905998" cy="603310"/>
              </a:xfrm>
              <a:blipFill>
                <a:blip r:embed="rId2"/>
                <a:stretch>
                  <a:fillRect t="-22917" b="-3541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Content Placeholder 2">
                <a:extLst>
                  <a:ext uri="{FF2B5EF4-FFF2-40B4-BE49-F238E27FC236}">
                    <a16:creationId xmlns:a16="http://schemas.microsoft.com/office/drawing/2014/main" id="{347E063C-4014-2747-B5DF-2F3FAAFF4FDD}"/>
                  </a:ext>
                </a:extLst>
              </p:cNvPr>
              <p:cNvSpPr txBox="1">
                <a:spLocks/>
              </p:cNvSpPr>
              <p:nvPr/>
            </p:nvSpPr>
            <p:spPr>
              <a:xfrm>
                <a:off x="3882503" y="1238700"/>
                <a:ext cx="4423817" cy="1779735"/>
              </a:xfrm>
              <a:prstGeom prst="rect">
                <a:avLst/>
              </a:prstGeom>
              <a:solidFill>
                <a:schemeClr val="tx1">
                  <a:lumMod val="95000"/>
                </a:schemeClr>
              </a:solidFill>
              <a:ln>
                <a:solidFill>
                  <a:schemeClr val="bg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14:m>
                  <m:oMathPara xmlns:m="http://schemas.openxmlformats.org/officeDocument/2006/math">
                    <m:oMathParaPr>
                      <m:jc m:val="center"/>
                    </m:oMathParaPr>
                    <m:oMath xmlns:m="http://schemas.openxmlformats.org/officeDocument/2006/math">
                      <m:r>
                        <a:rPr lang="en-US" sz="1800" b="0" i="1" smtClean="0">
                          <a:solidFill>
                            <a:schemeClr val="bg1"/>
                          </a:solidFill>
                          <a:latin typeface="Cambria Math" panose="02040503050406030204" pitchFamily="18" charset="0"/>
                        </a:rPr>
                        <m:t>3</m:t>
                      </m:r>
                      <m:r>
                        <a:rPr lang="en-US" sz="1800" b="0" i="1" smtClean="0">
                          <a:solidFill>
                            <a:schemeClr val="bg1"/>
                          </a:solidFill>
                          <a:latin typeface="Cambria Math" panose="02040503050406030204" pitchFamily="18" charset="0"/>
                        </a:rPr>
                        <m:t>𝑆𝐴𝑇</m:t>
                      </m:r>
                      <m:r>
                        <a:rPr lang="en-US" sz="1800" b="0" i="1" smtClean="0">
                          <a:solidFill>
                            <a:schemeClr val="bg1"/>
                          </a:solidFill>
                          <a:latin typeface="Cambria Math" panose="02040503050406030204" pitchFamily="18" charset="0"/>
                        </a:rPr>
                        <m:t>∈</m:t>
                      </m:r>
                      <m:r>
                        <a:rPr lang="en-US" sz="1800" b="0" i="1" smtClean="0">
                          <a:solidFill>
                            <a:schemeClr val="bg1"/>
                          </a:solidFill>
                          <a:latin typeface="Cambria Math" panose="02040503050406030204" pitchFamily="18" charset="0"/>
                        </a:rPr>
                        <m:t>𝑁𝑃</m:t>
                      </m:r>
                      <m:r>
                        <a:rPr lang="en-US" sz="1800" b="0" i="1" smtClean="0">
                          <a:solidFill>
                            <a:schemeClr val="bg1"/>
                          </a:solidFill>
                          <a:latin typeface="Cambria Math" panose="02040503050406030204" pitchFamily="18" charset="0"/>
                        </a:rPr>
                        <m:t>−</m:t>
                      </m:r>
                      <m:r>
                        <a:rPr lang="en-US" sz="1800" b="0" i="1" smtClean="0">
                          <a:solidFill>
                            <a:schemeClr val="bg1"/>
                          </a:solidFill>
                          <a:latin typeface="Cambria Math" panose="02040503050406030204" pitchFamily="18" charset="0"/>
                        </a:rPr>
                        <m:t>𝐻𝐴𝑅𝐷</m:t>
                      </m:r>
                    </m:oMath>
                  </m:oMathPara>
                </a14:m>
                <a:endParaRPr lang="en-US" sz="1800" dirty="0">
                  <a:solidFill>
                    <a:schemeClr val="bg1"/>
                  </a:solidFill>
                </a:endParaRPr>
              </a:p>
              <a:p>
                <a:pPr marL="0" indent="0" algn="ctr">
                  <a:buFont typeface="Arial" panose="020B0604020202020204" pitchFamily="34" charset="0"/>
                  <a:buNone/>
                </a:pPr>
                <a:br>
                  <a:rPr lang="en-US" sz="1800" dirty="0">
                    <a:solidFill>
                      <a:schemeClr val="bg1"/>
                    </a:solidFill>
                  </a:rPr>
                </a:br>
                <a14:m>
                  <m:oMathPara xmlns:m="http://schemas.openxmlformats.org/officeDocument/2006/math">
                    <m:oMathParaPr>
                      <m:jc m:val="centerGroup"/>
                    </m:oMathParaPr>
                    <m:oMath xmlns:m="http://schemas.openxmlformats.org/officeDocument/2006/math">
                      <m:sSub>
                        <m:sSubPr>
                          <m:ctrlPr>
                            <a:rPr lang="en-US" sz="1800" b="1" i="1" smtClean="0">
                              <a:solidFill>
                                <a:schemeClr val="bg1"/>
                              </a:solidFill>
                              <a:latin typeface="Cambria Math" panose="02040503050406030204" pitchFamily="18" charset="0"/>
                            </a:rPr>
                          </m:ctrlPr>
                        </m:sSubPr>
                        <m:e>
                          <m:r>
                            <a:rPr lang="en-US" sz="1800" b="1" i="1" smtClean="0">
                              <a:solidFill>
                                <a:schemeClr val="bg1"/>
                              </a:solidFill>
                              <a:latin typeface="Cambria Math" panose="02040503050406030204" pitchFamily="18" charset="0"/>
                            </a:rPr>
                            <m:t>∃</m:t>
                          </m:r>
                        </m:e>
                        <m:sub>
                          <m:r>
                            <a:rPr lang="en-US" sz="1800" b="1" i="1" smtClean="0">
                              <a:solidFill>
                                <a:schemeClr val="bg1"/>
                              </a:solidFill>
                              <a:latin typeface="Cambria Math" panose="02040503050406030204" pitchFamily="18" charset="0"/>
                            </a:rPr>
                            <m:t>𝒙</m:t>
                          </m:r>
                          <m:r>
                            <a:rPr lang="en-US" sz="1800" b="1" i="1" smtClean="0">
                              <a:solidFill>
                                <a:schemeClr val="bg1"/>
                              </a:solidFill>
                              <a:latin typeface="Cambria Math" panose="02040503050406030204" pitchFamily="18" charset="0"/>
                            </a:rPr>
                            <m:t>∈</m:t>
                          </m:r>
                          <m:r>
                            <a:rPr lang="en-US" sz="1800" b="1" i="1" smtClean="0">
                              <a:solidFill>
                                <a:schemeClr val="bg1"/>
                              </a:solidFill>
                              <a:latin typeface="Cambria Math" panose="02040503050406030204" pitchFamily="18" charset="0"/>
                            </a:rPr>
                            <m:t>𝑵𝑷𝑪</m:t>
                          </m:r>
                        </m:sub>
                      </m:sSub>
                      <m:r>
                        <a:rPr lang="en-US" sz="1800" b="1" i="1" smtClean="0">
                          <a:solidFill>
                            <a:schemeClr val="bg1"/>
                          </a:solidFill>
                          <a:latin typeface="Cambria Math" panose="02040503050406030204" pitchFamily="18" charset="0"/>
                        </a:rPr>
                        <m:t>𝒙</m:t>
                      </m:r>
                      <m:sSub>
                        <m:sSubPr>
                          <m:ctrlPr>
                            <a:rPr lang="en-US" sz="1800" b="1" i="1" smtClean="0">
                              <a:solidFill>
                                <a:schemeClr val="bg1"/>
                              </a:solidFill>
                              <a:latin typeface="Cambria Math" panose="02040503050406030204" pitchFamily="18" charset="0"/>
                            </a:rPr>
                          </m:ctrlPr>
                        </m:sSubPr>
                        <m:e>
                          <m:r>
                            <a:rPr lang="en-US" sz="1800" b="1" i="1" smtClean="0">
                              <a:solidFill>
                                <a:schemeClr val="bg1"/>
                              </a:solidFill>
                              <a:latin typeface="Cambria Math" panose="02040503050406030204" pitchFamily="18" charset="0"/>
                            </a:rPr>
                            <m:t>≤</m:t>
                          </m:r>
                        </m:e>
                        <m:sub>
                          <m:r>
                            <a:rPr lang="en-US" sz="1800" b="1" i="1" smtClean="0">
                              <a:solidFill>
                                <a:schemeClr val="bg1"/>
                              </a:solidFill>
                              <a:latin typeface="Cambria Math" panose="02040503050406030204" pitchFamily="18" charset="0"/>
                            </a:rPr>
                            <m:t>𝒑</m:t>
                          </m:r>
                        </m:sub>
                      </m:sSub>
                      <m:r>
                        <a:rPr lang="en-US" sz="1800" b="1" i="1" smtClean="0">
                          <a:solidFill>
                            <a:schemeClr val="bg1"/>
                          </a:solidFill>
                          <a:latin typeface="Cambria Math" panose="02040503050406030204" pitchFamily="18" charset="0"/>
                        </a:rPr>
                        <m:t>𝟑</m:t>
                      </m:r>
                      <m:r>
                        <a:rPr lang="en-US" sz="1800" b="1" i="1" smtClean="0">
                          <a:solidFill>
                            <a:schemeClr val="bg1"/>
                          </a:solidFill>
                          <a:latin typeface="Cambria Math" panose="02040503050406030204" pitchFamily="18" charset="0"/>
                        </a:rPr>
                        <m:t>𝑺𝑨𝑻</m:t>
                      </m:r>
                    </m:oMath>
                    <m:oMath xmlns:m="http://schemas.openxmlformats.org/officeDocument/2006/math">
                      <m:r>
                        <a:rPr lang="en-US" sz="1800" b="1" i="1" smtClean="0">
                          <a:solidFill>
                            <a:schemeClr val="bg1"/>
                          </a:solidFill>
                          <a:latin typeface="Cambria Math" panose="02040503050406030204" pitchFamily="18" charset="0"/>
                        </a:rPr>
                        <m:t>𝑺𝑨𝑻</m:t>
                      </m:r>
                      <m:sSub>
                        <m:sSubPr>
                          <m:ctrlPr>
                            <a:rPr lang="en-US" sz="1800" b="1" i="1" smtClean="0">
                              <a:solidFill>
                                <a:schemeClr val="bg1"/>
                              </a:solidFill>
                              <a:latin typeface="Cambria Math" panose="02040503050406030204" pitchFamily="18" charset="0"/>
                            </a:rPr>
                          </m:ctrlPr>
                        </m:sSubPr>
                        <m:e>
                          <m:r>
                            <a:rPr lang="en-US" sz="1800" b="1" i="1" smtClean="0">
                              <a:solidFill>
                                <a:schemeClr val="bg1"/>
                              </a:solidFill>
                              <a:latin typeface="Cambria Math" panose="02040503050406030204" pitchFamily="18" charset="0"/>
                            </a:rPr>
                            <m:t>≤</m:t>
                          </m:r>
                        </m:e>
                        <m:sub>
                          <m:r>
                            <a:rPr lang="en-US" sz="1800" b="1" i="1" smtClean="0">
                              <a:solidFill>
                                <a:schemeClr val="bg1"/>
                              </a:solidFill>
                              <a:latin typeface="Cambria Math" panose="02040503050406030204" pitchFamily="18" charset="0"/>
                            </a:rPr>
                            <m:t>𝒑</m:t>
                          </m:r>
                        </m:sub>
                      </m:sSub>
                      <m:r>
                        <a:rPr lang="en-US" sz="1800" b="1" i="1" smtClean="0">
                          <a:solidFill>
                            <a:schemeClr val="bg1"/>
                          </a:solidFill>
                          <a:latin typeface="Cambria Math" panose="02040503050406030204" pitchFamily="18" charset="0"/>
                        </a:rPr>
                        <m:t>𝟑</m:t>
                      </m:r>
                      <m:r>
                        <a:rPr lang="en-US" sz="1800" b="1" i="1" smtClean="0">
                          <a:solidFill>
                            <a:schemeClr val="bg1"/>
                          </a:solidFill>
                          <a:latin typeface="Cambria Math" panose="02040503050406030204" pitchFamily="18" charset="0"/>
                        </a:rPr>
                        <m:t>𝑺𝑨𝑻</m:t>
                      </m:r>
                    </m:oMath>
                  </m:oMathPara>
                </a14:m>
                <a:endParaRPr lang="en-US" sz="1800" b="1" dirty="0">
                  <a:solidFill>
                    <a:schemeClr val="bg1"/>
                  </a:solidFill>
                </a:endParaRPr>
              </a:p>
            </p:txBody>
          </p:sp>
        </mc:Choice>
        <mc:Fallback xmlns="">
          <p:sp>
            <p:nvSpPr>
              <p:cNvPr id="6" name="Content Placeholder 2">
                <a:extLst>
                  <a:ext uri="{FF2B5EF4-FFF2-40B4-BE49-F238E27FC236}">
                    <a16:creationId xmlns:a16="http://schemas.microsoft.com/office/drawing/2014/main" id="{347E063C-4014-2747-B5DF-2F3FAAFF4FDD}"/>
                  </a:ext>
                </a:extLst>
              </p:cNvPr>
              <p:cNvSpPr txBox="1">
                <a:spLocks noRot="1" noChangeAspect="1" noMove="1" noResize="1" noEditPoints="1" noAdjustHandles="1" noChangeArrowheads="1" noChangeShapeType="1" noTextEdit="1"/>
              </p:cNvSpPr>
              <p:nvPr/>
            </p:nvSpPr>
            <p:spPr>
              <a:xfrm>
                <a:off x="3882503" y="1238700"/>
                <a:ext cx="4423817" cy="1779735"/>
              </a:xfrm>
              <a:prstGeom prst="rect">
                <a:avLst/>
              </a:prstGeom>
              <a:blipFill>
                <a:blip r:embed="rId3"/>
                <a:stretch>
                  <a:fillRect/>
                </a:stretch>
              </a:blipFill>
              <a:ln>
                <a:solidFill>
                  <a:schemeClr val="bg1"/>
                </a:solidFill>
              </a:ln>
            </p:spPr>
            <p:txBody>
              <a:bodyPr/>
              <a:lstStyle/>
              <a:p>
                <a:r>
                  <a:rPr lang="en-US">
                    <a:noFill/>
                  </a:rPr>
                  <a:t> </a:t>
                </a:r>
              </a:p>
            </p:txBody>
          </p:sp>
        </mc:Fallback>
      </mc:AlternateContent>
      <p:sp>
        <p:nvSpPr>
          <p:cNvPr id="7" name="Content Placeholder 2">
            <a:extLst>
              <a:ext uri="{FF2B5EF4-FFF2-40B4-BE49-F238E27FC236}">
                <a16:creationId xmlns:a16="http://schemas.microsoft.com/office/drawing/2014/main" id="{0C5FD4B0-68DF-F240-9768-BDFE8CB011AB}"/>
              </a:ext>
            </a:extLst>
          </p:cNvPr>
          <p:cNvSpPr txBox="1">
            <a:spLocks/>
          </p:cNvSpPr>
          <p:nvPr/>
        </p:nvSpPr>
        <p:spPr>
          <a:xfrm>
            <a:off x="905256" y="4498984"/>
            <a:ext cx="6574536" cy="365624"/>
          </a:xfrm>
          <a:prstGeom prst="rect">
            <a:avLst/>
          </a:prstGeom>
          <a:noFill/>
        </p:spPr>
        <p:txBody>
          <a:bodyPr vert="horz" lIns="91440" tIns="45720" rIns="91440" bIns="45720" rtlCol="0">
            <a:normAutofit fontScale="625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i="1" dirty="0">
                <a:solidFill>
                  <a:schemeClr val="tx1">
                    <a:lumMod val="95000"/>
                  </a:schemeClr>
                </a:solidFill>
              </a:rPr>
              <a:t>Given a generic SAT input, can we convert it into an equivalent formula in 3SAT? </a:t>
            </a:r>
          </a:p>
        </p:txBody>
      </p:sp>
      <p:cxnSp>
        <p:nvCxnSpPr>
          <p:cNvPr id="8" name="Straight Connector 7">
            <a:extLst>
              <a:ext uri="{FF2B5EF4-FFF2-40B4-BE49-F238E27FC236}">
                <a16:creationId xmlns:a16="http://schemas.microsoft.com/office/drawing/2014/main" id="{CEF9D5DB-A4DF-8A41-A950-0FDFB07C17D4}"/>
              </a:ext>
            </a:extLst>
          </p:cNvPr>
          <p:cNvCxnSpPr>
            <a:cxnSpLocks/>
          </p:cNvCxnSpPr>
          <p:nvPr/>
        </p:nvCxnSpPr>
        <p:spPr>
          <a:xfrm flipH="1">
            <a:off x="4352544" y="3158645"/>
            <a:ext cx="318296" cy="1200129"/>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
        <p:nvSpPr>
          <p:cNvPr id="9" name="Content Placeholder 2">
            <a:extLst>
              <a:ext uri="{FF2B5EF4-FFF2-40B4-BE49-F238E27FC236}">
                <a16:creationId xmlns:a16="http://schemas.microsoft.com/office/drawing/2014/main" id="{39A534F1-9322-0D4C-83D0-8E2F41914E18}"/>
              </a:ext>
            </a:extLst>
          </p:cNvPr>
          <p:cNvSpPr txBox="1">
            <a:spLocks/>
          </p:cNvSpPr>
          <p:nvPr/>
        </p:nvSpPr>
        <p:spPr>
          <a:xfrm>
            <a:off x="8647176" y="3393218"/>
            <a:ext cx="3203448" cy="1358093"/>
          </a:xfrm>
          <a:prstGeom prst="rect">
            <a:avLst/>
          </a:prstGeom>
          <a:noFill/>
        </p:spPr>
        <p:txBody>
          <a:bodyPr vert="horz" lIns="91440" tIns="45720" rIns="91440" bIns="45720" rtlCol="0">
            <a:normAutofit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i="1" dirty="0">
                <a:solidFill>
                  <a:schemeClr val="tx1">
                    <a:lumMod val="95000"/>
                  </a:schemeClr>
                </a:solidFill>
              </a:rPr>
              <a:t>Need to show 3SAT is at least as hard as SAT. How? Show a reduction.</a:t>
            </a:r>
          </a:p>
        </p:txBody>
      </p:sp>
      <p:cxnSp>
        <p:nvCxnSpPr>
          <p:cNvPr id="10" name="Straight Connector 9">
            <a:extLst>
              <a:ext uri="{FF2B5EF4-FFF2-40B4-BE49-F238E27FC236}">
                <a16:creationId xmlns:a16="http://schemas.microsoft.com/office/drawing/2014/main" id="{7CA7E5AC-38B0-D042-A816-77E7092C3180}"/>
              </a:ext>
            </a:extLst>
          </p:cNvPr>
          <p:cNvCxnSpPr>
            <a:cxnSpLocks/>
          </p:cNvCxnSpPr>
          <p:nvPr/>
        </p:nvCxnSpPr>
        <p:spPr>
          <a:xfrm>
            <a:off x="8476488" y="2734056"/>
            <a:ext cx="662192" cy="762048"/>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
        <p:nvSpPr>
          <p:cNvPr id="13" name="Content Placeholder 2">
            <a:extLst>
              <a:ext uri="{FF2B5EF4-FFF2-40B4-BE49-F238E27FC236}">
                <a16:creationId xmlns:a16="http://schemas.microsoft.com/office/drawing/2014/main" id="{9FAD5B40-E72C-EC47-9F0D-805813C9833F}"/>
              </a:ext>
            </a:extLst>
          </p:cNvPr>
          <p:cNvSpPr txBox="1">
            <a:spLocks/>
          </p:cNvSpPr>
          <p:nvPr/>
        </p:nvSpPr>
        <p:spPr>
          <a:xfrm>
            <a:off x="1236839" y="5004818"/>
            <a:ext cx="2960257" cy="1340339"/>
          </a:xfrm>
          <a:prstGeom prst="rect">
            <a:avLst/>
          </a:prstGeom>
          <a:solidFill>
            <a:schemeClr val="accent1"/>
          </a:solidFill>
          <a:ln>
            <a:solidFill>
              <a:schemeClr val="bg1"/>
            </a:solidFill>
          </a:ln>
        </p:spPr>
        <p:txBody>
          <a:bodyPr vert="horz" lIns="91440" tIns="45720" rIns="91440" bIns="45720" rtlCol="0">
            <a:normAutofit fontScale="925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800" i="1" dirty="0">
                <a:solidFill>
                  <a:schemeClr val="bg1"/>
                </a:solidFill>
              </a:rPr>
              <a:t>SAT input x:</a:t>
            </a:r>
          </a:p>
          <a:p>
            <a:pPr marL="0" indent="0" algn="ctr">
              <a:buNone/>
            </a:pPr>
            <a:r>
              <a:rPr lang="en-US" sz="1800" i="1" dirty="0">
                <a:solidFill>
                  <a:schemeClr val="bg1"/>
                </a:solidFill>
              </a:rPr>
              <a:t>e.g., </a:t>
            </a:r>
            <a:br>
              <a:rPr lang="en-US" sz="1800" i="1" dirty="0">
                <a:solidFill>
                  <a:schemeClr val="bg1"/>
                </a:solidFill>
              </a:rPr>
            </a:br>
            <a:r>
              <a:rPr lang="en-US" sz="1800" dirty="0">
                <a:solidFill>
                  <a:schemeClr val="bg1"/>
                </a:solidFill>
                <a:sym typeface="Symbol"/>
              </a:rPr>
              <a:t> = ((x</a:t>
            </a:r>
            <a:r>
              <a:rPr lang="en-US" sz="1800" baseline="-25000" dirty="0">
                <a:solidFill>
                  <a:schemeClr val="bg1"/>
                </a:solidFill>
                <a:sym typeface="Symbol"/>
              </a:rPr>
              <a:t>1</a:t>
            </a:r>
            <a:r>
              <a:rPr lang="en-US" sz="1800" dirty="0">
                <a:solidFill>
                  <a:schemeClr val="bg1"/>
                </a:solidFill>
                <a:sym typeface="Symbol"/>
              </a:rPr>
              <a:t>  x</a:t>
            </a:r>
            <a:r>
              <a:rPr lang="en-US" sz="1800" baseline="-25000" dirty="0">
                <a:solidFill>
                  <a:schemeClr val="bg1"/>
                </a:solidFill>
                <a:sym typeface="Symbol"/>
              </a:rPr>
              <a:t>2</a:t>
            </a:r>
            <a:r>
              <a:rPr lang="en-US" sz="1800" dirty="0">
                <a:solidFill>
                  <a:schemeClr val="bg1"/>
                </a:solidFill>
                <a:sym typeface="Symbol"/>
              </a:rPr>
              <a:t>)  ((x</a:t>
            </a:r>
            <a:r>
              <a:rPr lang="en-US" sz="1800" baseline="-25000" dirty="0">
                <a:solidFill>
                  <a:schemeClr val="bg1"/>
                </a:solidFill>
                <a:sym typeface="Symbol"/>
              </a:rPr>
              <a:t>1</a:t>
            </a:r>
            <a:r>
              <a:rPr lang="en-US" sz="1800" dirty="0">
                <a:solidFill>
                  <a:schemeClr val="bg1"/>
                </a:solidFill>
                <a:sym typeface="Symbol"/>
              </a:rPr>
              <a:t>  x</a:t>
            </a:r>
            <a:r>
              <a:rPr lang="en-US" sz="1800" baseline="-25000" dirty="0">
                <a:solidFill>
                  <a:schemeClr val="bg1"/>
                </a:solidFill>
                <a:sym typeface="Symbol"/>
              </a:rPr>
              <a:t>3</a:t>
            </a:r>
            <a:r>
              <a:rPr lang="en-US" sz="1800" dirty="0">
                <a:solidFill>
                  <a:schemeClr val="bg1"/>
                </a:solidFill>
                <a:sym typeface="Symbol"/>
              </a:rPr>
              <a:t>)  x</a:t>
            </a:r>
            <a:r>
              <a:rPr lang="en-US" sz="1800" baseline="-25000" dirty="0">
                <a:solidFill>
                  <a:schemeClr val="bg1"/>
                </a:solidFill>
                <a:sym typeface="Symbol"/>
              </a:rPr>
              <a:t>4</a:t>
            </a:r>
            <a:r>
              <a:rPr lang="en-US" sz="1800" dirty="0">
                <a:solidFill>
                  <a:schemeClr val="bg1"/>
                </a:solidFill>
                <a:sym typeface="Symbol"/>
              </a:rPr>
              <a:t>))  x</a:t>
            </a:r>
            <a:r>
              <a:rPr lang="en-US" sz="1800" baseline="-25000" dirty="0">
                <a:solidFill>
                  <a:schemeClr val="bg1"/>
                </a:solidFill>
                <a:sym typeface="Symbol"/>
              </a:rPr>
              <a:t>2</a:t>
            </a:r>
            <a:endParaRPr lang="en-US" sz="1800" i="1" dirty="0">
              <a:solidFill>
                <a:schemeClr val="bg1"/>
              </a:solidFill>
            </a:endParaRPr>
          </a:p>
        </p:txBody>
      </p:sp>
      <p:sp>
        <p:nvSpPr>
          <p:cNvPr id="14" name="Right Arrow 13">
            <a:extLst>
              <a:ext uri="{FF2B5EF4-FFF2-40B4-BE49-F238E27FC236}">
                <a16:creationId xmlns:a16="http://schemas.microsoft.com/office/drawing/2014/main" id="{8D1604E1-11BA-1546-AFA9-63B40A1147D8}"/>
              </a:ext>
            </a:extLst>
          </p:cNvPr>
          <p:cNvSpPr/>
          <p:nvPr/>
        </p:nvSpPr>
        <p:spPr>
          <a:xfrm>
            <a:off x="4352544" y="5458968"/>
            <a:ext cx="498434" cy="246888"/>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Content Placeholder 2">
            <a:extLst>
              <a:ext uri="{FF2B5EF4-FFF2-40B4-BE49-F238E27FC236}">
                <a16:creationId xmlns:a16="http://schemas.microsoft.com/office/drawing/2014/main" id="{499739F5-9BF7-944A-BACB-57CBEDE77F85}"/>
              </a:ext>
            </a:extLst>
          </p:cNvPr>
          <p:cNvSpPr txBox="1">
            <a:spLocks/>
          </p:cNvSpPr>
          <p:nvPr/>
        </p:nvSpPr>
        <p:spPr>
          <a:xfrm>
            <a:off x="4905842" y="5004817"/>
            <a:ext cx="2960257" cy="1340339"/>
          </a:xfrm>
          <a:prstGeom prst="rect">
            <a:avLst/>
          </a:prstGeom>
          <a:solidFill>
            <a:schemeClr val="accent1"/>
          </a:solidFill>
          <a:ln>
            <a:solidFill>
              <a:schemeClr val="bg1"/>
            </a:solidFill>
          </a:ln>
        </p:spPr>
        <p:txBody>
          <a:bodyPr vert="horz" lIns="91440" tIns="45720" rIns="91440" bIns="45720" rtlCol="0">
            <a:normAutofit fontScale="775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800" i="1" dirty="0">
                <a:solidFill>
                  <a:schemeClr val="bg1"/>
                </a:solidFill>
              </a:rPr>
              <a:t>Equivalent 3SAT formula:</a:t>
            </a:r>
          </a:p>
          <a:p>
            <a:pPr marL="0" indent="0" algn="ctr">
              <a:buNone/>
            </a:pPr>
            <a:r>
              <a:rPr lang="en-US" sz="1800" i="1" dirty="0">
                <a:solidFill>
                  <a:schemeClr val="bg1"/>
                </a:solidFill>
              </a:rPr>
              <a:t>e.g.,</a:t>
            </a:r>
            <a:br>
              <a:rPr lang="en-US" sz="1800" i="1" dirty="0">
                <a:solidFill>
                  <a:schemeClr val="bg1"/>
                </a:solidFill>
              </a:rPr>
            </a:br>
            <a:r>
              <a:rPr lang="en-US" sz="1800" dirty="0">
                <a:solidFill>
                  <a:schemeClr val="bg1"/>
                </a:solidFill>
                <a:sym typeface="Symbol"/>
              </a:rPr>
              <a:t>’</a:t>
            </a:r>
            <a:r>
              <a:rPr lang="en-US" sz="1800" baseline="-25000" dirty="0" err="1">
                <a:solidFill>
                  <a:schemeClr val="bg1"/>
                </a:solidFill>
                <a:sym typeface="Symbol"/>
              </a:rPr>
              <a:t>i</a:t>
            </a:r>
            <a:r>
              <a:rPr lang="en-US" sz="1800" dirty="0">
                <a:solidFill>
                  <a:schemeClr val="bg1"/>
                </a:solidFill>
                <a:sym typeface="Symbol"/>
              </a:rPr>
              <a:t> = (y</a:t>
            </a:r>
            <a:r>
              <a:rPr lang="en-US" sz="1800" baseline="-25000" dirty="0">
                <a:solidFill>
                  <a:schemeClr val="bg1"/>
                </a:solidFill>
                <a:sym typeface="Symbol"/>
              </a:rPr>
              <a:t>1</a:t>
            </a:r>
            <a:r>
              <a:rPr lang="en-US" sz="1800" dirty="0">
                <a:solidFill>
                  <a:schemeClr val="bg1"/>
                </a:solidFill>
                <a:sym typeface="Symbol"/>
              </a:rPr>
              <a:t>y</a:t>
            </a:r>
            <a:r>
              <a:rPr lang="en-US" sz="1800" baseline="-25000" dirty="0">
                <a:solidFill>
                  <a:schemeClr val="bg1"/>
                </a:solidFill>
                <a:sym typeface="Symbol"/>
              </a:rPr>
              <a:t>2</a:t>
            </a:r>
            <a:r>
              <a:rPr lang="en-US" sz="1800" dirty="0">
                <a:solidFill>
                  <a:schemeClr val="bg1"/>
                </a:solidFill>
                <a:sym typeface="Symbol"/>
              </a:rPr>
              <a:t>x</a:t>
            </a:r>
            <a:r>
              <a:rPr lang="en-US" sz="1800" baseline="-25000" dirty="0">
                <a:solidFill>
                  <a:schemeClr val="bg1"/>
                </a:solidFill>
                <a:sym typeface="Symbol"/>
              </a:rPr>
              <a:t>2</a:t>
            </a:r>
            <a:r>
              <a:rPr lang="en-US" sz="1800" dirty="0">
                <a:solidFill>
                  <a:schemeClr val="bg1"/>
                </a:solidFill>
                <a:sym typeface="Symbol"/>
              </a:rPr>
              <a:t>)  (y</a:t>
            </a:r>
            <a:r>
              <a:rPr lang="en-US" sz="1800" baseline="-25000" dirty="0">
                <a:solidFill>
                  <a:schemeClr val="bg1"/>
                </a:solidFill>
                <a:sym typeface="Symbol"/>
              </a:rPr>
              <a:t>1</a:t>
            </a:r>
            <a:r>
              <a:rPr lang="en-US" sz="1800" dirty="0">
                <a:solidFill>
                  <a:schemeClr val="bg1"/>
                </a:solidFill>
                <a:sym typeface="Symbol"/>
              </a:rPr>
              <a:t>y</a:t>
            </a:r>
            <a:r>
              <a:rPr lang="en-US" sz="1800" baseline="-25000" dirty="0">
                <a:solidFill>
                  <a:schemeClr val="bg1"/>
                </a:solidFill>
                <a:sym typeface="Symbol"/>
              </a:rPr>
              <a:t>2</a:t>
            </a:r>
            <a:r>
              <a:rPr lang="en-US" sz="1800" dirty="0">
                <a:solidFill>
                  <a:schemeClr val="bg1"/>
                </a:solidFill>
                <a:sym typeface="Symbol"/>
              </a:rPr>
              <a:t>x</a:t>
            </a:r>
            <a:r>
              <a:rPr lang="en-US" sz="1800" baseline="-25000" dirty="0">
                <a:solidFill>
                  <a:schemeClr val="bg1"/>
                </a:solidFill>
                <a:sym typeface="Symbol"/>
              </a:rPr>
              <a:t>2</a:t>
            </a:r>
            <a:r>
              <a:rPr lang="en-US" sz="1800" dirty="0">
                <a:solidFill>
                  <a:schemeClr val="bg1"/>
                </a:solidFill>
                <a:sym typeface="Symbol"/>
              </a:rPr>
              <a:t>)  (y</a:t>
            </a:r>
            <a:r>
              <a:rPr lang="en-US" sz="1800" baseline="-25000" dirty="0">
                <a:solidFill>
                  <a:schemeClr val="bg1"/>
                </a:solidFill>
                <a:sym typeface="Symbol"/>
              </a:rPr>
              <a:t>1</a:t>
            </a:r>
            <a:r>
              <a:rPr lang="en-US" sz="1800" dirty="0">
                <a:solidFill>
                  <a:schemeClr val="bg1"/>
                </a:solidFill>
                <a:sym typeface="Symbol"/>
              </a:rPr>
              <a:t>y</a:t>
            </a:r>
            <a:r>
              <a:rPr lang="en-US" sz="1800" baseline="-25000" dirty="0">
                <a:solidFill>
                  <a:schemeClr val="bg1"/>
                </a:solidFill>
                <a:sym typeface="Symbol"/>
              </a:rPr>
              <a:t>2</a:t>
            </a:r>
            <a:r>
              <a:rPr lang="en-US" sz="1800" dirty="0">
                <a:solidFill>
                  <a:schemeClr val="bg1"/>
                </a:solidFill>
                <a:sym typeface="Symbol"/>
              </a:rPr>
              <a:t>x</a:t>
            </a:r>
            <a:r>
              <a:rPr lang="en-US" sz="1800" baseline="-25000" dirty="0">
                <a:solidFill>
                  <a:schemeClr val="bg1"/>
                </a:solidFill>
                <a:sym typeface="Symbol"/>
              </a:rPr>
              <a:t>2</a:t>
            </a:r>
            <a:r>
              <a:rPr lang="en-US" sz="1800" dirty="0">
                <a:solidFill>
                  <a:schemeClr val="bg1"/>
                </a:solidFill>
                <a:sym typeface="Symbol"/>
              </a:rPr>
              <a:t>)  (y</a:t>
            </a:r>
            <a:r>
              <a:rPr lang="en-US" sz="1800" baseline="-25000" dirty="0">
                <a:solidFill>
                  <a:schemeClr val="bg1"/>
                </a:solidFill>
                <a:sym typeface="Symbol"/>
              </a:rPr>
              <a:t>1</a:t>
            </a:r>
            <a:r>
              <a:rPr lang="en-US" sz="1800" dirty="0">
                <a:solidFill>
                  <a:schemeClr val="bg1"/>
                </a:solidFill>
                <a:sym typeface="Symbol"/>
              </a:rPr>
              <a:t>y</a:t>
            </a:r>
            <a:r>
              <a:rPr lang="en-US" sz="1800" baseline="-25000" dirty="0">
                <a:solidFill>
                  <a:schemeClr val="bg1"/>
                </a:solidFill>
                <a:sym typeface="Symbol"/>
              </a:rPr>
              <a:t>2</a:t>
            </a:r>
            <a:r>
              <a:rPr lang="en-US" sz="1800" dirty="0">
                <a:solidFill>
                  <a:schemeClr val="bg1"/>
                </a:solidFill>
                <a:sym typeface="Symbol"/>
              </a:rPr>
              <a:t>x</a:t>
            </a:r>
            <a:r>
              <a:rPr lang="en-US" sz="1800" baseline="-25000" dirty="0">
                <a:solidFill>
                  <a:schemeClr val="bg1"/>
                </a:solidFill>
                <a:sym typeface="Symbol"/>
              </a:rPr>
              <a:t>2</a:t>
            </a:r>
            <a:r>
              <a:rPr lang="en-US" sz="1800" dirty="0">
                <a:solidFill>
                  <a:schemeClr val="bg1"/>
                </a:solidFill>
                <a:sym typeface="Symbol"/>
              </a:rPr>
              <a:t>)…</a:t>
            </a:r>
          </a:p>
          <a:p>
            <a:pPr marL="0" indent="0" algn="ctr">
              <a:buFont typeface="Arial" panose="020B0604020202020204" pitchFamily="34" charset="0"/>
              <a:buNone/>
            </a:pPr>
            <a:endParaRPr lang="en-US" sz="1800" i="1" dirty="0">
              <a:solidFill>
                <a:schemeClr val="bg1"/>
              </a:solidFill>
            </a:endParaRPr>
          </a:p>
        </p:txBody>
      </p:sp>
    </p:spTree>
    <p:extLst>
      <p:ext uri="{BB962C8B-B14F-4D97-AF65-F5344CB8AC3E}">
        <p14:creationId xmlns:p14="http://schemas.microsoft.com/office/powerpoint/2010/main" val="124028815"/>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a:xfrm>
            <a:off x="1141413" y="243614"/>
            <a:ext cx="9905998" cy="634210"/>
          </a:xfrm>
        </p:spPr>
        <p:txBody>
          <a:bodyPr/>
          <a:lstStyle/>
          <a:p>
            <a:pPr algn="ctr"/>
            <a:r>
              <a:rPr lang="en-US" dirty="0"/>
              <a:t>Converting SAT to 3-SAT, step 1</a:t>
            </a:r>
          </a:p>
        </p:txBody>
      </p:sp>
      <p:sp>
        <p:nvSpPr>
          <p:cNvPr id="6" name="Content Placeholder 5"/>
          <p:cNvSpPr>
            <a:spLocks noGrp="1"/>
          </p:cNvSpPr>
          <p:nvPr>
            <p:ph sz="quarter" idx="1"/>
          </p:nvPr>
        </p:nvSpPr>
        <p:spPr>
          <a:xfrm>
            <a:off x="5002180" y="1170432"/>
            <a:ext cx="5661726" cy="950976"/>
          </a:xfrm>
          <a:noFill/>
          <a:ln>
            <a:solidFill>
              <a:schemeClr val="tx1">
                <a:lumMod val="95000"/>
              </a:schemeClr>
            </a:solidFill>
          </a:ln>
        </p:spPr>
        <p:txBody>
          <a:bodyPr>
            <a:normAutofit lnSpcReduction="10000"/>
          </a:bodyPr>
          <a:lstStyle/>
          <a:p>
            <a:pPr marL="0" indent="0" algn="just">
              <a:buNone/>
            </a:pPr>
            <a:r>
              <a:rPr lang="en-US" dirty="0">
                <a:sym typeface="Symbol"/>
              </a:rPr>
              <a:t>Input:</a:t>
            </a:r>
            <a:br>
              <a:rPr lang="en-US" dirty="0">
                <a:sym typeface="Symbol"/>
              </a:rPr>
            </a:br>
            <a:r>
              <a:rPr lang="en-US" dirty="0">
                <a:sym typeface="Symbol"/>
              </a:rPr>
              <a:t> = ((x</a:t>
            </a:r>
            <a:r>
              <a:rPr lang="en-US" baseline="-25000" dirty="0">
                <a:sym typeface="Symbol"/>
              </a:rPr>
              <a:t>1</a:t>
            </a:r>
            <a:r>
              <a:rPr lang="en-US" dirty="0">
                <a:sym typeface="Symbol"/>
              </a:rPr>
              <a:t>  x</a:t>
            </a:r>
            <a:r>
              <a:rPr lang="en-US" baseline="-25000" dirty="0">
                <a:sym typeface="Symbol"/>
              </a:rPr>
              <a:t>2</a:t>
            </a:r>
            <a:r>
              <a:rPr lang="en-US" dirty="0">
                <a:sym typeface="Symbol"/>
              </a:rPr>
              <a:t>)  ((x</a:t>
            </a:r>
            <a:r>
              <a:rPr lang="en-US" baseline="-25000" dirty="0">
                <a:sym typeface="Symbol"/>
              </a:rPr>
              <a:t>1</a:t>
            </a:r>
            <a:r>
              <a:rPr lang="en-US" dirty="0">
                <a:sym typeface="Symbol"/>
              </a:rPr>
              <a:t>  x</a:t>
            </a:r>
            <a:r>
              <a:rPr lang="en-US" baseline="-25000" dirty="0">
                <a:sym typeface="Symbol"/>
              </a:rPr>
              <a:t>3</a:t>
            </a:r>
            <a:r>
              <a:rPr lang="en-US" dirty="0">
                <a:sym typeface="Symbol"/>
              </a:rPr>
              <a:t>)  x</a:t>
            </a:r>
            <a:r>
              <a:rPr lang="en-US" baseline="-25000" dirty="0">
                <a:sym typeface="Symbol"/>
              </a:rPr>
              <a:t>4</a:t>
            </a:r>
            <a:r>
              <a:rPr lang="en-US" dirty="0">
                <a:sym typeface="Symbol"/>
              </a:rPr>
              <a:t>))  x</a:t>
            </a:r>
            <a:r>
              <a:rPr lang="en-US" baseline="-25000" dirty="0">
                <a:sym typeface="Symbol"/>
              </a:rPr>
              <a:t>2</a:t>
            </a:r>
            <a:r>
              <a:rPr lang="en-US" dirty="0">
                <a:sym typeface="Symbol"/>
              </a:rPr>
              <a:t> </a:t>
            </a:r>
            <a:endParaRPr lang="en-US" dirty="0"/>
          </a:p>
          <a:p>
            <a:pPr algn="just"/>
            <a:endParaRPr lang="en-US" dirty="0"/>
          </a:p>
        </p:txBody>
      </p:sp>
      <p:pic>
        <p:nvPicPr>
          <p:cNvPr id="8" name="Content Placeholder 7" descr="cormen-fig-34-11.png"/>
          <p:cNvPicPr>
            <a:picLocks noGrp="1" noChangeAspect="1"/>
          </p:cNvPicPr>
          <p:nvPr>
            <p:ph sz="quarter" idx="2"/>
          </p:nvPr>
        </p:nvPicPr>
        <p:blipFill>
          <a:blip r:embed="rId2" cstate="print"/>
          <a:stretch>
            <a:fillRect/>
          </a:stretch>
        </p:blipFill>
        <p:spPr>
          <a:xfrm>
            <a:off x="5717414" y="2730760"/>
            <a:ext cx="4231258" cy="3950642"/>
          </a:xfrm>
        </p:spPr>
      </p:pic>
      <p:sp>
        <p:nvSpPr>
          <p:cNvPr id="7" name="Content Placeholder 5">
            <a:extLst>
              <a:ext uri="{FF2B5EF4-FFF2-40B4-BE49-F238E27FC236}">
                <a16:creationId xmlns:a16="http://schemas.microsoft.com/office/drawing/2014/main" id="{F060A579-86EB-B64C-BC3F-E3DF0F9E37F6}"/>
              </a:ext>
            </a:extLst>
          </p:cNvPr>
          <p:cNvSpPr txBox="1">
            <a:spLocks/>
          </p:cNvSpPr>
          <p:nvPr/>
        </p:nvSpPr>
        <p:spPr>
          <a:xfrm>
            <a:off x="1581911" y="3136547"/>
            <a:ext cx="2560321" cy="1596966"/>
          </a:xfrm>
          <a:prstGeom prst="rect">
            <a:avLst/>
          </a:prstGeom>
          <a:solidFill>
            <a:schemeClr val="tx1">
              <a:lumMod val="95000"/>
            </a:schemeClr>
          </a:solidFill>
          <a:ln>
            <a:solidFill>
              <a:schemeClr val="bg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None/>
            </a:pPr>
            <a:r>
              <a:rPr lang="en-US" b="1" i="1" u="sng" dirty="0">
                <a:solidFill>
                  <a:schemeClr val="bg1"/>
                </a:solidFill>
              </a:rPr>
              <a:t>Step 1</a:t>
            </a:r>
            <a:r>
              <a:rPr lang="en-US" i="1" dirty="0">
                <a:solidFill>
                  <a:schemeClr val="bg1"/>
                </a:solidFill>
              </a:rPr>
              <a:t>: Parse the expression into an expression tree</a:t>
            </a:r>
          </a:p>
        </p:txBody>
      </p:sp>
      <p:sp>
        <p:nvSpPr>
          <p:cNvPr id="2" name="Right Arrow 1">
            <a:extLst>
              <a:ext uri="{FF2B5EF4-FFF2-40B4-BE49-F238E27FC236}">
                <a16:creationId xmlns:a16="http://schemas.microsoft.com/office/drawing/2014/main" id="{804BF96A-C3AF-5B41-9EB6-6821FFA8557D}"/>
              </a:ext>
            </a:extLst>
          </p:cNvPr>
          <p:cNvSpPr/>
          <p:nvPr/>
        </p:nvSpPr>
        <p:spPr>
          <a:xfrm rot="5400000">
            <a:off x="7621269" y="2221773"/>
            <a:ext cx="423546" cy="405701"/>
          </a:xfrm>
          <a:prstGeom prst="rightArrow">
            <a:avLst/>
          </a:prstGeom>
          <a:solidFill>
            <a:schemeClr val="tx1">
              <a:lumMod val="9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477370780"/>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a:xfrm>
            <a:off x="1141413" y="252758"/>
            <a:ext cx="9905998" cy="615922"/>
          </a:xfrm>
        </p:spPr>
        <p:txBody>
          <a:bodyPr/>
          <a:lstStyle/>
          <a:p>
            <a:pPr algn="ctr"/>
            <a:r>
              <a:rPr lang="en-US" dirty="0"/>
              <a:t>Converting SAT to 3-SAT, step 2</a:t>
            </a:r>
          </a:p>
        </p:txBody>
      </p:sp>
      <mc:AlternateContent xmlns:mc="http://schemas.openxmlformats.org/markup-compatibility/2006" xmlns:a14="http://schemas.microsoft.com/office/drawing/2010/main">
        <mc:Choice Requires="a14">
          <p:sp>
            <p:nvSpPr>
              <p:cNvPr id="6" name="Content Placeholder 5"/>
              <p:cNvSpPr>
                <a:spLocks noGrp="1"/>
              </p:cNvSpPr>
              <p:nvPr>
                <p:ph sz="quarter" idx="1"/>
              </p:nvPr>
            </p:nvSpPr>
            <p:spPr>
              <a:xfrm>
                <a:off x="1156650" y="1271078"/>
                <a:ext cx="4878389" cy="1115506"/>
              </a:xfrm>
              <a:solidFill>
                <a:schemeClr val="tx1">
                  <a:lumMod val="95000"/>
                </a:schemeClr>
              </a:solidFill>
              <a:ln>
                <a:solidFill>
                  <a:schemeClr val="bg1"/>
                </a:solidFill>
              </a:ln>
            </p:spPr>
            <p:txBody>
              <a:bodyPr>
                <a:normAutofit/>
              </a:bodyPr>
              <a:lstStyle/>
              <a:p>
                <a:pPr marL="0" indent="0" algn="just">
                  <a:buNone/>
                </a:pPr>
                <a:r>
                  <a:rPr lang="en-US" sz="1800" b="1" i="1" u="sng" dirty="0">
                    <a:solidFill>
                      <a:schemeClr val="bg1"/>
                    </a:solidFill>
                    <a:sym typeface="Symbol"/>
                  </a:rPr>
                  <a:t>Step 2</a:t>
                </a:r>
                <a:r>
                  <a:rPr lang="en-US" sz="1800" i="1" dirty="0">
                    <a:solidFill>
                      <a:schemeClr val="bg1"/>
                    </a:solidFill>
                    <a:sym typeface="Symbol"/>
                  </a:rPr>
                  <a:t>: Introduce a variable </a:t>
                </a:r>
                <a14:m>
                  <m:oMath xmlns:m="http://schemas.openxmlformats.org/officeDocument/2006/math">
                    <m:sSub>
                      <m:sSubPr>
                        <m:ctrlPr>
                          <a:rPr lang="en-US" sz="1800" b="0" i="1" smtClean="0">
                            <a:solidFill>
                              <a:schemeClr val="bg1"/>
                            </a:solidFill>
                            <a:latin typeface="Cambria Math" panose="02040503050406030204" pitchFamily="18" charset="0"/>
                            <a:sym typeface="Symbol"/>
                          </a:rPr>
                        </m:ctrlPr>
                      </m:sSubPr>
                      <m:e>
                        <m:r>
                          <a:rPr lang="en-US" sz="1800" b="0" i="1" smtClean="0">
                            <a:solidFill>
                              <a:schemeClr val="bg1"/>
                            </a:solidFill>
                            <a:latin typeface="Cambria Math" panose="02040503050406030204" pitchFamily="18" charset="0"/>
                            <a:sym typeface="Symbol"/>
                          </a:rPr>
                          <m:t>𝑦</m:t>
                        </m:r>
                      </m:e>
                      <m:sub>
                        <m:r>
                          <a:rPr lang="en-US" sz="1800" b="0" i="1" smtClean="0">
                            <a:solidFill>
                              <a:schemeClr val="bg1"/>
                            </a:solidFill>
                            <a:latin typeface="Cambria Math" panose="02040503050406030204" pitchFamily="18" charset="0"/>
                            <a:sym typeface="Symbol"/>
                          </a:rPr>
                          <m:t>𝑖</m:t>
                        </m:r>
                      </m:sub>
                    </m:sSub>
                  </m:oMath>
                </a14:m>
                <a:r>
                  <a:rPr lang="en-US" sz="1800" i="1" dirty="0">
                    <a:solidFill>
                      <a:schemeClr val="bg1"/>
                    </a:solidFill>
                    <a:sym typeface="Symbol"/>
                  </a:rPr>
                  <a:t> for each internal node. This variable will represent whether or not that subtree expression evaluated to True or False</a:t>
                </a:r>
              </a:p>
            </p:txBody>
          </p:sp>
        </mc:Choice>
        <mc:Fallback xmlns="">
          <p:sp>
            <p:nvSpPr>
              <p:cNvPr id="6" name="Content Placeholder 5"/>
              <p:cNvSpPr>
                <a:spLocks noGrp="1" noRot="1" noChangeAspect="1" noMove="1" noResize="1" noEditPoints="1" noAdjustHandles="1" noChangeArrowheads="1" noChangeShapeType="1" noTextEdit="1"/>
              </p:cNvSpPr>
              <p:nvPr>
                <p:ph sz="quarter" idx="1"/>
              </p:nvPr>
            </p:nvSpPr>
            <p:spPr>
              <a:xfrm>
                <a:off x="1156650" y="1271078"/>
                <a:ext cx="4878389" cy="1115506"/>
              </a:xfrm>
              <a:blipFill>
                <a:blip r:embed="rId2"/>
                <a:stretch>
                  <a:fillRect l="-1036" r="-777" b="-2222"/>
                </a:stretch>
              </a:blipFill>
              <a:ln>
                <a:solidFill>
                  <a:schemeClr val="bg1"/>
                </a:solidFill>
              </a:ln>
            </p:spPr>
            <p:txBody>
              <a:bodyPr/>
              <a:lstStyle/>
              <a:p>
                <a:r>
                  <a:rPr lang="en-US">
                    <a:noFill/>
                  </a:rPr>
                  <a:t> </a:t>
                </a:r>
              </a:p>
            </p:txBody>
          </p:sp>
        </mc:Fallback>
      </mc:AlternateContent>
      <p:pic>
        <p:nvPicPr>
          <p:cNvPr id="8" name="Content Placeholder 7" descr="cormen-fig-34-11.png"/>
          <p:cNvPicPr>
            <a:picLocks noGrp="1" noChangeAspect="1"/>
          </p:cNvPicPr>
          <p:nvPr>
            <p:ph sz="quarter" idx="2"/>
          </p:nvPr>
        </p:nvPicPr>
        <p:blipFill>
          <a:blip r:embed="rId3" cstate="print"/>
          <a:stretch>
            <a:fillRect/>
          </a:stretch>
        </p:blipFill>
        <p:spPr>
          <a:xfrm>
            <a:off x="6199221" y="1490534"/>
            <a:ext cx="5190491" cy="4846258"/>
          </a:xfrm>
        </p:spPr>
      </p:pic>
      <p:sp>
        <p:nvSpPr>
          <p:cNvPr id="7" name="Content Placeholder 5">
            <a:extLst>
              <a:ext uri="{FF2B5EF4-FFF2-40B4-BE49-F238E27FC236}">
                <a16:creationId xmlns:a16="http://schemas.microsoft.com/office/drawing/2014/main" id="{23763225-C8DA-D640-A330-B5CBCC0C2126}"/>
              </a:ext>
            </a:extLst>
          </p:cNvPr>
          <p:cNvSpPr txBox="1">
            <a:spLocks/>
          </p:cNvSpPr>
          <p:nvPr/>
        </p:nvSpPr>
        <p:spPr>
          <a:xfrm>
            <a:off x="1156650" y="2895630"/>
            <a:ext cx="4878389" cy="3642329"/>
          </a:xfrm>
          <a:prstGeom prst="rect">
            <a:avLst/>
          </a:prstGeom>
          <a:ln>
            <a:solidFill>
              <a:schemeClr val="tx1">
                <a:lumMod val="95000"/>
              </a:schemeClr>
            </a:solidFill>
          </a:ln>
        </p:spPr>
        <p:txBody>
          <a:bodyPr vert="horz" lIns="91440" tIns="45720" rIns="91440" bIns="45720" rtlCol="0">
            <a:normAutofit fontScale="850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just">
              <a:buNone/>
            </a:pPr>
            <a:r>
              <a:rPr lang="en-US" dirty="0">
                <a:sym typeface="Symbol"/>
              </a:rPr>
              <a:t>We can then re-write our expression:</a:t>
            </a:r>
          </a:p>
          <a:p>
            <a:pPr algn="just"/>
            <a:endParaRPr lang="en-US" dirty="0">
              <a:sym typeface="Symbol"/>
            </a:endParaRPr>
          </a:p>
          <a:p>
            <a:pPr marL="0" indent="0" algn="just">
              <a:buNone/>
            </a:pPr>
            <a:r>
              <a:rPr lang="en-US" dirty="0">
                <a:sym typeface="Symbol"/>
              </a:rPr>
              <a:t>’ =    y</a:t>
            </a:r>
            <a:r>
              <a:rPr lang="en-US" baseline="-25000" dirty="0">
                <a:sym typeface="Symbol"/>
              </a:rPr>
              <a:t>1</a:t>
            </a:r>
            <a:r>
              <a:rPr lang="en-US" dirty="0">
                <a:sym typeface="Symbol"/>
              </a:rPr>
              <a:t>  (y</a:t>
            </a:r>
            <a:r>
              <a:rPr lang="en-US" baseline="-25000" dirty="0">
                <a:sym typeface="Symbol"/>
              </a:rPr>
              <a:t>1</a:t>
            </a:r>
            <a:r>
              <a:rPr lang="en-US" dirty="0">
                <a:sym typeface="Symbol"/>
              </a:rPr>
              <a:t>  (y</a:t>
            </a:r>
            <a:r>
              <a:rPr lang="en-US" baseline="-25000" dirty="0">
                <a:sym typeface="Symbol"/>
              </a:rPr>
              <a:t>2</a:t>
            </a:r>
            <a:r>
              <a:rPr lang="en-US" dirty="0">
                <a:sym typeface="Symbol"/>
              </a:rPr>
              <a:t>  x</a:t>
            </a:r>
            <a:r>
              <a:rPr lang="en-US" baseline="-25000" dirty="0">
                <a:sym typeface="Symbol"/>
              </a:rPr>
              <a:t>2</a:t>
            </a:r>
            <a:r>
              <a:rPr lang="en-US" dirty="0">
                <a:sym typeface="Symbol"/>
              </a:rPr>
              <a:t>))</a:t>
            </a:r>
          </a:p>
          <a:p>
            <a:pPr algn="just">
              <a:buFont typeface="Arial" panose="020B0604020202020204" pitchFamily="34" charset="0"/>
              <a:buNone/>
            </a:pPr>
            <a:r>
              <a:rPr lang="en-US" dirty="0">
                <a:sym typeface="Symbol"/>
              </a:rPr>
              <a:t>		  (y</a:t>
            </a:r>
            <a:r>
              <a:rPr lang="en-US" baseline="-25000" dirty="0">
                <a:sym typeface="Symbol"/>
              </a:rPr>
              <a:t>2</a:t>
            </a:r>
            <a:r>
              <a:rPr lang="en-US" dirty="0">
                <a:sym typeface="Symbol"/>
              </a:rPr>
              <a:t>  (y</a:t>
            </a:r>
            <a:r>
              <a:rPr lang="en-US" baseline="-25000" dirty="0">
                <a:sym typeface="Symbol"/>
              </a:rPr>
              <a:t>3</a:t>
            </a:r>
            <a:r>
              <a:rPr lang="en-US" dirty="0">
                <a:sym typeface="Symbol"/>
              </a:rPr>
              <a:t>  y</a:t>
            </a:r>
            <a:r>
              <a:rPr lang="en-US" baseline="-25000" dirty="0">
                <a:sym typeface="Symbol"/>
              </a:rPr>
              <a:t>4</a:t>
            </a:r>
            <a:r>
              <a:rPr lang="en-US" dirty="0">
                <a:sym typeface="Symbol"/>
              </a:rPr>
              <a:t>))</a:t>
            </a:r>
          </a:p>
          <a:p>
            <a:pPr algn="just">
              <a:buFont typeface="Arial" panose="020B0604020202020204" pitchFamily="34" charset="0"/>
              <a:buNone/>
            </a:pPr>
            <a:r>
              <a:rPr lang="en-US" dirty="0">
                <a:sym typeface="Symbol"/>
              </a:rPr>
              <a:t>		  (y</a:t>
            </a:r>
            <a:r>
              <a:rPr lang="en-US" baseline="-25000" dirty="0">
                <a:sym typeface="Symbol"/>
              </a:rPr>
              <a:t>3</a:t>
            </a:r>
            <a:r>
              <a:rPr lang="en-US" dirty="0">
                <a:sym typeface="Symbol"/>
              </a:rPr>
              <a:t>  (x</a:t>
            </a:r>
            <a:r>
              <a:rPr lang="en-US" baseline="-25000" dirty="0">
                <a:sym typeface="Symbol"/>
              </a:rPr>
              <a:t>1</a:t>
            </a:r>
            <a:r>
              <a:rPr lang="en-US" dirty="0">
                <a:sym typeface="Symbol"/>
              </a:rPr>
              <a:t>  x</a:t>
            </a:r>
            <a:r>
              <a:rPr lang="en-US" baseline="-25000" dirty="0">
                <a:sym typeface="Symbol"/>
              </a:rPr>
              <a:t>2</a:t>
            </a:r>
            <a:r>
              <a:rPr lang="en-US" dirty="0">
                <a:sym typeface="Symbol"/>
              </a:rPr>
              <a:t>))</a:t>
            </a:r>
          </a:p>
          <a:p>
            <a:pPr algn="just">
              <a:buFont typeface="Arial" panose="020B0604020202020204" pitchFamily="34" charset="0"/>
              <a:buNone/>
            </a:pPr>
            <a:r>
              <a:rPr lang="en-US" dirty="0">
                <a:sym typeface="Symbol"/>
              </a:rPr>
              <a:t>		  (y</a:t>
            </a:r>
            <a:r>
              <a:rPr lang="en-US" baseline="-25000" dirty="0">
                <a:sym typeface="Symbol"/>
              </a:rPr>
              <a:t>4</a:t>
            </a:r>
            <a:r>
              <a:rPr lang="en-US" dirty="0">
                <a:sym typeface="Symbol"/>
              </a:rPr>
              <a:t>  y</a:t>
            </a:r>
            <a:r>
              <a:rPr lang="en-US" baseline="-25000" dirty="0">
                <a:sym typeface="Symbol"/>
              </a:rPr>
              <a:t>5</a:t>
            </a:r>
            <a:r>
              <a:rPr lang="en-US" dirty="0">
                <a:sym typeface="Symbol"/>
              </a:rPr>
              <a:t>)</a:t>
            </a:r>
          </a:p>
          <a:p>
            <a:pPr algn="just">
              <a:buFont typeface="Arial" panose="020B0604020202020204" pitchFamily="34" charset="0"/>
              <a:buNone/>
            </a:pPr>
            <a:r>
              <a:rPr lang="en-US" dirty="0">
                <a:sym typeface="Symbol"/>
              </a:rPr>
              <a:t>		  (y</a:t>
            </a:r>
            <a:r>
              <a:rPr lang="en-US" baseline="-25000" dirty="0">
                <a:sym typeface="Symbol"/>
              </a:rPr>
              <a:t>5</a:t>
            </a:r>
            <a:r>
              <a:rPr lang="en-US" dirty="0">
                <a:sym typeface="Symbol"/>
              </a:rPr>
              <a:t>  (y</a:t>
            </a:r>
            <a:r>
              <a:rPr lang="en-US" baseline="-25000" dirty="0">
                <a:sym typeface="Symbol"/>
              </a:rPr>
              <a:t>6</a:t>
            </a:r>
            <a:r>
              <a:rPr lang="en-US" dirty="0">
                <a:sym typeface="Symbol"/>
              </a:rPr>
              <a:t>  x</a:t>
            </a:r>
            <a:r>
              <a:rPr lang="en-US" baseline="-25000" dirty="0">
                <a:sym typeface="Symbol"/>
              </a:rPr>
              <a:t>4</a:t>
            </a:r>
            <a:r>
              <a:rPr lang="en-US" dirty="0">
                <a:sym typeface="Symbol"/>
              </a:rPr>
              <a:t>))</a:t>
            </a:r>
          </a:p>
          <a:p>
            <a:pPr algn="just">
              <a:buFont typeface="Arial" panose="020B0604020202020204" pitchFamily="34" charset="0"/>
              <a:buNone/>
            </a:pPr>
            <a:r>
              <a:rPr lang="en-US" dirty="0">
                <a:sym typeface="Symbol"/>
              </a:rPr>
              <a:t>		  (y</a:t>
            </a:r>
            <a:r>
              <a:rPr lang="en-US" baseline="-25000" dirty="0">
                <a:sym typeface="Symbol"/>
              </a:rPr>
              <a:t>6</a:t>
            </a:r>
            <a:r>
              <a:rPr lang="en-US" dirty="0">
                <a:sym typeface="Symbol"/>
              </a:rPr>
              <a:t>  (x</a:t>
            </a:r>
            <a:r>
              <a:rPr lang="en-US" baseline="-25000" dirty="0">
                <a:sym typeface="Symbol"/>
              </a:rPr>
              <a:t>1</a:t>
            </a:r>
            <a:r>
              <a:rPr lang="en-US" dirty="0">
                <a:sym typeface="Symbol"/>
              </a:rPr>
              <a:t>  x</a:t>
            </a:r>
            <a:r>
              <a:rPr lang="en-US" baseline="-25000" dirty="0">
                <a:sym typeface="Symbol"/>
              </a:rPr>
              <a:t>3</a:t>
            </a:r>
            <a:r>
              <a:rPr lang="en-US" dirty="0">
                <a:sym typeface="Symbol"/>
              </a:rPr>
              <a:t>))</a:t>
            </a:r>
          </a:p>
          <a:p>
            <a:pPr algn="just"/>
            <a:endParaRPr lang="en-US" dirty="0"/>
          </a:p>
        </p:txBody>
      </p:sp>
    </p:spTree>
    <p:extLst>
      <p:ext uri="{BB962C8B-B14F-4D97-AF65-F5344CB8AC3E}">
        <p14:creationId xmlns:p14="http://schemas.microsoft.com/office/powerpoint/2010/main" val="3721789864"/>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41413" y="197894"/>
            <a:ext cx="9905998" cy="615922"/>
          </a:xfrm>
        </p:spPr>
        <p:txBody>
          <a:bodyPr/>
          <a:lstStyle/>
          <a:p>
            <a:pPr algn="ctr"/>
            <a:r>
              <a:rPr lang="en-US" dirty="0"/>
              <a:t>Converting SAT to 3-SAT, step 3</a:t>
            </a:r>
          </a:p>
        </p:txBody>
      </p:sp>
      <p:sp>
        <p:nvSpPr>
          <p:cNvPr id="3" name="Content Placeholder 2"/>
          <p:cNvSpPr>
            <a:spLocks noGrp="1"/>
          </p:cNvSpPr>
          <p:nvPr>
            <p:ph sz="quarter" idx="1"/>
          </p:nvPr>
        </p:nvSpPr>
        <p:spPr>
          <a:xfrm>
            <a:off x="1981200" y="3081528"/>
            <a:ext cx="4038600" cy="2962656"/>
          </a:xfrm>
          <a:ln>
            <a:solidFill>
              <a:schemeClr val="tx1">
                <a:lumMod val="95000"/>
              </a:schemeClr>
            </a:solidFill>
          </a:ln>
        </p:spPr>
        <p:txBody>
          <a:bodyPr>
            <a:normAutofit fontScale="85000" lnSpcReduction="10000"/>
          </a:bodyPr>
          <a:lstStyle/>
          <a:p>
            <a:pPr algn="just"/>
            <a:r>
              <a:rPr lang="en-US" dirty="0">
                <a:sym typeface="Symbol"/>
              </a:rPr>
              <a:t>’ = y</a:t>
            </a:r>
            <a:r>
              <a:rPr lang="en-US" baseline="-25000" dirty="0">
                <a:sym typeface="Symbol"/>
              </a:rPr>
              <a:t>1</a:t>
            </a:r>
            <a:r>
              <a:rPr lang="en-US" dirty="0">
                <a:sym typeface="Symbol"/>
              </a:rPr>
              <a:t>  (y</a:t>
            </a:r>
            <a:r>
              <a:rPr lang="en-US" baseline="-25000" dirty="0">
                <a:sym typeface="Symbol"/>
              </a:rPr>
              <a:t>1</a:t>
            </a:r>
            <a:r>
              <a:rPr lang="en-US" dirty="0">
                <a:sym typeface="Symbol"/>
              </a:rPr>
              <a:t>  (y</a:t>
            </a:r>
            <a:r>
              <a:rPr lang="en-US" baseline="-25000" dirty="0">
                <a:sym typeface="Symbol"/>
              </a:rPr>
              <a:t>2</a:t>
            </a:r>
            <a:r>
              <a:rPr lang="en-US" dirty="0">
                <a:sym typeface="Symbol"/>
              </a:rPr>
              <a:t>  x</a:t>
            </a:r>
            <a:r>
              <a:rPr lang="en-US" baseline="-25000" dirty="0">
                <a:sym typeface="Symbol"/>
              </a:rPr>
              <a:t>2</a:t>
            </a:r>
            <a:r>
              <a:rPr lang="en-US" dirty="0">
                <a:sym typeface="Symbol"/>
              </a:rPr>
              <a:t>)</a:t>
            </a:r>
          </a:p>
          <a:p>
            <a:pPr algn="just">
              <a:buNone/>
            </a:pPr>
            <a:r>
              <a:rPr lang="en-US" dirty="0">
                <a:sym typeface="Symbol"/>
              </a:rPr>
              <a:t>		  (y</a:t>
            </a:r>
            <a:r>
              <a:rPr lang="en-US" baseline="-25000" dirty="0">
                <a:sym typeface="Symbol"/>
              </a:rPr>
              <a:t>2</a:t>
            </a:r>
            <a:r>
              <a:rPr lang="en-US" dirty="0">
                <a:sym typeface="Symbol"/>
              </a:rPr>
              <a:t>  (y</a:t>
            </a:r>
            <a:r>
              <a:rPr lang="en-US" baseline="-25000" dirty="0">
                <a:sym typeface="Symbol"/>
              </a:rPr>
              <a:t>3</a:t>
            </a:r>
            <a:r>
              <a:rPr lang="en-US" dirty="0">
                <a:sym typeface="Symbol"/>
              </a:rPr>
              <a:t>  y</a:t>
            </a:r>
            <a:r>
              <a:rPr lang="en-US" baseline="-25000" dirty="0">
                <a:sym typeface="Symbol"/>
              </a:rPr>
              <a:t>4</a:t>
            </a:r>
            <a:r>
              <a:rPr lang="en-US" dirty="0">
                <a:sym typeface="Symbol"/>
              </a:rPr>
              <a:t>))</a:t>
            </a:r>
          </a:p>
          <a:p>
            <a:pPr algn="just">
              <a:buNone/>
            </a:pPr>
            <a:r>
              <a:rPr lang="en-US" dirty="0">
                <a:sym typeface="Symbol"/>
              </a:rPr>
              <a:t>		  (y</a:t>
            </a:r>
            <a:r>
              <a:rPr lang="en-US" baseline="-25000" dirty="0">
                <a:sym typeface="Symbol"/>
              </a:rPr>
              <a:t>3</a:t>
            </a:r>
            <a:r>
              <a:rPr lang="en-US" dirty="0">
                <a:sym typeface="Symbol"/>
              </a:rPr>
              <a:t>  (x</a:t>
            </a:r>
            <a:r>
              <a:rPr lang="en-US" baseline="-25000" dirty="0">
                <a:sym typeface="Symbol"/>
              </a:rPr>
              <a:t>1</a:t>
            </a:r>
            <a:r>
              <a:rPr lang="en-US" dirty="0">
                <a:sym typeface="Symbol"/>
              </a:rPr>
              <a:t>  x</a:t>
            </a:r>
            <a:r>
              <a:rPr lang="en-US" baseline="-25000" dirty="0">
                <a:sym typeface="Symbol"/>
              </a:rPr>
              <a:t>2</a:t>
            </a:r>
            <a:r>
              <a:rPr lang="en-US" dirty="0">
                <a:sym typeface="Symbol"/>
              </a:rPr>
              <a:t>))</a:t>
            </a:r>
          </a:p>
          <a:p>
            <a:pPr algn="just">
              <a:buNone/>
            </a:pPr>
            <a:r>
              <a:rPr lang="en-US" dirty="0">
                <a:sym typeface="Symbol"/>
              </a:rPr>
              <a:t>		  (y</a:t>
            </a:r>
            <a:r>
              <a:rPr lang="en-US" baseline="-25000" dirty="0">
                <a:sym typeface="Symbol"/>
              </a:rPr>
              <a:t>4</a:t>
            </a:r>
            <a:r>
              <a:rPr lang="en-US" dirty="0">
                <a:sym typeface="Symbol"/>
              </a:rPr>
              <a:t>  y</a:t>
            </a:r>
            <a:r>
              <a:rPr lang="en-US" baseline="-25000" dirty="0">
                <a:sym typeface="Symbol"/>
              </a:rPr>
              <a:t>5</a:t>
            </a:r>
            <a:r>
              <a:rPr lang="en-US" dirty="0">
                <a:sym typeface="Symbol"/>
              </a:rPr>
              <a:t>)</a:t>
            </a:r>
          </a:p>
          <a:p>
            <a:pPr algn="just">
              <a:buNone/>
            </a:pPr>
            <a:r>
              <a:rPr lang="en-US" dirty="0">
                <a:sym typeface="Symbol"/>
              </a:rPr>
              <a:t>		  (y</a:t>
            </a:r>
            <a:r>
              <a:rPr lang="en-US" baseline="-25000" dirty="0">
                <a:sym typeface="Symbol"/>
              </a:rPr>
              <a:t>5</a:t>
            </a:r>
            <a:r>
              <a:rPr lang="en-US" dirty="0">
                <a:sym typeface="Symbol"/>
              </a:rPr>
              <a:t>  (y</a:t>
            </a:r>
            <a:r>
              <a:rPr lang="en-US" baseline="-25000" dirty="0">
                <a:sym typeface="Symbol"/>
              </a:rPr>
              <a:t>6</a:t>
            </a:r>
            <a:r>
              <a:rPr lang="en-US" dirty="0">
                <a:sym typeface="Symbol"/>
              </a:rPr>
              <a:t>  x</a:t>
            </a:r>
            <a:r>
              <a:rPr lang="en-US" baseline="-25000" dirty="0">
                <a:sym typeface="Symbol"/>
              </a:rPr>
              <a:t>4</a:t>
            </a:r>
            <a:r>
              <a:rPr lang="en-US" dirty="0">
                <a:sym typeface="Symbol"/>
              </a:rPr>
              <a:t>))</a:t>
            </a:r>
          </a:p>
          <a:p>
            <a:pPr algn="just">
              <a:buNone/>
            </a:pPr>
            <a:r>
              <a:rPr lang="en-US" dirty="0">
                <a:sym typeface="Symbol"/>
              </a:rPr>
              <a:t>		  (y</a:t>
            </a:r>
            <a:r>
              <a:rPr lang="en-US" baseline="-25000" dirty="0">
                <a:sym typeface="Symbol"/>
              </a:rPr>
              <a:t>6</a:t>
            </a:r>
            <a:r>
              <a:rPr lang="en-US" dirty="0">
                <a:sym typeface="Symbol"/>
              </a:rPr>
              <a:t>  (x</a:t>
            </a:r>
            <a:r>
              <a:rPr lang="en-US" baseline="-25000" dirty="0">
                <a:sym typeface="Symbol"/>
              </a:rPr>
              <a:t>1</a:t>
            </a:r>
            <a:r>
              <a:rPr lang="en-US" dirty="0">
                <a:sym typeface="Symbol"/>
              </a:rPr>
              <a:t>  x</a:t>
            </a:r>
            <a:r>
              <a:rPr lang="en-US" baseline="-25000" dirty="0">
                <a:sym typeface="Symbol"/>
              </a:rPr>
              <a:t>3</a:t>
            </a:r>
            <a:r>
              <a:rPr lang="en-US" dirty="0">
                <a:sym typeface="Symbol"/>
              </a:rPr>
              <a:t>))</a:t>
            </a:r>
          </a:p>
          <a:p>
            <a:pPr marL="0" indent="0" algn="just">
              <a:buNone/>
            </a:pPr>
            <a:endParaRPr lang="en-US" dirty="0"/>
          </a:p>
        </p:txBody>
      </p:sp>
      <p:sp>
        <p:nvSpPr>
          <p:cNvPr id="7" name="Content Placeholder 6"/>
          <p:cNvSpPr>
            <a:spLocks noGrp="1"/>
          </p:cNvSpPr>
          <p:nvPr>
            <p:ph sz="quarter" idx="2"/>
          </p:nvPr>
        </p:nvSpPr>
        <p:spPr>
          <a:xfrm>
            <a:off x="3881564" y="1243977"/>
            <a:ext cx="4425696" cy="878956"/>
          </a:xfrm>
          <a:solidFill>
            <a:schemeClr val="tx1">
              <a:lumMod val="95000"/>
            </a:schemeClr>
          </a:solidFill>
          <a:ln>
            <a:solidFill>
              <a:schemeClr val="bg1"/>
            </a:solidFill>
          </a:ln>
        </p:spPr>
        <p:txBody>
          <a:bodyPr>
            <a:normAutofit fontScale="85000" lnSpcReduction="10000"/>
          </a:bodyPr>
          <a:lstStyle/>
          <a:p>
            <a:pPr marL="0" indent="0" algn="just">
              <a:buNone/>
            </a:pPr>
            <a:r>
              <a:rPr lang="en-US" b="1" i="1" u="sng" dirty="0">
                <a:solidFill>
                  <a:schemeClr val="bg1"/>
                </a:solidFill>
              </a:rPr>
              <a:t>Step 3</a:t>
            </a:r>
            <a:r>
              <a:rPr lang="en-US" dirty="0">
                <a:solidFill>
                  <a:schemeClr val="bg1"/>
                </a:solidFill>
              </a:rPr>
              <a:t>:</a:t>
            </a:r>
          </a:p>
          <a:p>
            <a:pPr marL="0" indent="0" algn="just">
              <a:buNone/>
            </a:pPr>
            <a:r>
              <a:rPr lang="en-US" dirty="0">
                <a:solidFill>
                  <a:schemeClr val="bg1"/>
                </a:solidFill>
              </a:rPr>
              <a:t>Build a truth table for each clause </a:t>
            </a:r>
            <a:r>
              <a:rPr lang="en-US" dirty="0">
                <a:solidFill>
                  <a:schemeClr val="bg1"/>
                </a:solidFill>
                <a:sym typeface="Symbol"/>
              </a:rPr>
              <a:t>’</a:t>
            </a:r>
            <a:r>
              <a:rPr lang="en-US" baseline="-25000" dirty="0" err="1">
                <a:solidFill>
                  <a:schemeClr val="bg1"/>
                </a:solidFill>
                <a:sym typeface="Symbol"/>
              </a:rPr>
              <a:t>i</a:t>
            </a:r>
            <a:r>
              <a:rPr lang="en-US" dirty="0">
                <a:solidFill>
                  <a:schemeClr val="bg1"/>
                </a:solidFill>
              </a:rPr>
              <a:t>:</a:t>
            </a:r>
          </a:p>
        </p:txBody>
      </p:sp>
      <p:graphicFrame>
        <p:nvGraphicFramePr>
          <p:cNvPr id="8" name="Content Placeholder 5"/>
          <p:cNvGraphicFramePr>
            <a:graphicFrameLocks/>
          </p:cNvGraphicFramePr>
          <p:nvPr>
            <p:extLst>
              <p:ext uri="{D42A27DB-BD31-4B8C-83A1-F6EECF244321}">
                <p14:modId xmlns:p14="http://schemas.microsoft.com/office/powerpoint/2010/main" val="2387923968"/>
              </p:ext>
            </p:extLst>
          </p:nvPr>
        </p:nvGraphicFramePr>
        <p:xfrm>
          <a:off x="7317071" y="2740719"/>
          <a:ext cx="3034984" cy="3606800"/>
        </p:xfrm>
        <a:graphic>
          <a:graphicData uri="http://schemas.openxmlformats.org/drawingml/2006/table">
            <a:tbl>
              <a:tblPr firstRow="1" bandRow="1">
                <a:tableStyleId>{5C22544A-7EE6-4342-B048-85BDC9FD1C3A}</a:tableStyleId>
              </a:tblPr>
              <a:tblGrid>
                <a:gridCol w="403543">
                  <a:extLst>
                    <a:ext uri="{9D8B030D-6E8A-4147-A177-3AD203B41FA5}">
                      <a16:colId xmlns:a16="http://schemas.microsoft.com/office/drawing/2014/main" val="20000"/>
                    </a:ext>
                  </a:extLst>
                </a:gridCol>
                <a:gridCol w="403543">
                  <a:extLst>
                    <a:ext uri="{9D8B030D-6E8A-4147-A177-3AD203B41FA5}">
                      <a16:colId xmlns:a16="http://schemas.microsoft.com/office/drawing/2014/main" val="20001"/>
                    </a:ext>
                  </a:extLst>
                </a:gridCol>
                <a:gridCol w="403543">
                  <a:extLst>
                    <a:ext uri="{9D8B030D-6E8A-4147-A177-3AD203B41FA5}">
                      <a16:colId xmlns:a16="http://schemas.microsoft.com/office/drawing/2014/main" val="20002"/>
                    </a:ext>
                  </a:extLst>
                </a:gridCol>
                <a:gridCol w="1824355">
                  <a:extLst>
                    <a:ext uri="{9D8B030D-6E8A-4147-A177-3AD203B41FA5}">
                      <a16:colId xmlns:a16="http://schemas.microsoft.com/office/drawing/2014/main" val="20003"/>
                    </a:ext>
                  </a:extLst>
                </a:gridCol>
              </a:tblGrid>
              <a:tr h="370840">
                <a:tc>
                  <a:txBody>
                    <a:bodyPr/>
                    <a:lstStyle/>
                    <a:p>
                      <a:pPr algn="ctr"/>
                      <a:r>
                        <a:rPr lang="en-US" dirty="0"/>
                        <a:t>y</a:t>
                      </a:r>
                      <a:r>
                        <a:rPr lang="en-US" baseline="-25000" dirty="0"/>
                        <a:t>1</a:t>
                      </a:r>
                    </a:p>
                  </a:txBody>
                  <a:tcPr/>
                </a:tc>
                <a:tc>
                  <a:txBody>
                    <a:bodyPr/>
                    <a:lstStyle/>
                    <a:p>
                      <a:pPr algn="ctr"/>
                      <a:r>
                        <a:rPr lang="en-US" dirty="0"/>
                        <a:t>y</a:t>
                      </a:r>
                      <a:r>
                        <a:rPr lang="en-US" baseline="-25000" dirty="0"/>
                        <a:t>2</a:t>
                      </a:r>
                    </a:p>
                  </a:txBody>
                  <a:tcPr/>
                </a:tc>
                <a:tc>
                  <a:txBody>
                    <a:bodyPr/>
                    <a:lstStyle/>
                    <a:p>
                      <a:pPr algn="ctr"/>
                      <a:r>
                        <a:rPr lang="en-US" baseline="-25000" dirty="0"/>
                        <a:t>X2</a:t>
                      </a:r>
                    </a:p>
                  </a:txBody>
                  <a:tcPr/>
                </a:tc>
                <a:tc>
                  <a:txBody>
                    <a:bodyPr/>
                    <a:lstStyle/>
                    <a:p>
                      <a:pPr algn="ctr"/>
                      <a:r>
                        <a:rPr lang="en-US" dirty="0"/>
                        <a:t>(y</a:t>
                      </a:r>
                      <a:r>
                        <a:rPr lang="en-US" baseline="-25000" dirty="0"/>
                        <a:t>1</a:t>
                      </a:r>
                      <a:r>
                        <a:rPr lang="en-US" dirty="0"/>
                        <a:t> </a:t>
                      </a:r>
                      <a:r>
                        <a:rPr lang="en-US" dirty="0">
                          <a:sym typeface="Symbol"/>
                        </a:rPr>
                        <a:t> (y</a:t>
                      </a:r>
                      <a:r>
                        <a:rPr lang="en-US" baseline="-25000" dirty="0">
                          <a:sym typeface="Symbol"/>
                        </a:rPr>
                        <a:t>2</a:t>
                      </a:r>
                      <a:r>
                        <a:rPr lang="en-US" dirty="0">
                          <a:sym typeface="Symbol"/>
                        </a:rPr>
                        <a:t>  x</a:t>
                      </a:r>
                      <a:r>
                        <a:rPr lang="en-US" baseline="-25000" dirty="0">
                          <a:sym typeface="Symbol"/>
                        </a:rPr>
                        <a:t>2</a:t>
                      </a:r>
                      <a:r>
                        <a:rPr lang="en-US" dirty="0">
                          <a:sym typeface="Symbol"/>
                        </a:rPr>
                        <a:t>))</a:t>
                      </a:r>
                      <a:endParaRPr lang="en-US" dirty="0"/>
                    </a:p>
                  </a:txBody>
                  <a:tcPr/>
                </a:tc>
                <a:extLst>
                  <a:ext uri="{0D108BD9-81ED-4DB2-BD59-A6C34878D82A}">
                    <a16:rowId xmlns:a16="http://schemas.microsoft.com/office/drawing/2014/main" val="10000"/>
                  </a:ext>
                </a:extLst>
              </a:tr>
              <a:tr h="370840">
                <a:tc>
                  <a:txBody>
                    <a:bodyPr/>
                    <a:lstStyle/>
                    <a:p>
                      <a:pPr algn="ctr"/>
                      <a:r>
                        <a:rPr lang="en-US" dirty="0"/>
                        <a:t>1</a:t>
                      </a:r>
                    </a:p>
                  </a:txBody>
                  <a:tcPr/>
                </a:tc>
                <a:tc>
                  <a:txBody>
                    <a:bodyPr/>
                    <a:lstStyle/>
                    <a:p>
                      <a:pPr algn="ctr"/>
                      <a:r>
                        <a:rPr lang="en-US" dirty="0"/>
                        <a:t>1</a:t>
                      </a:r>
                    </a:p>
                  </a:txBody>
                  <a:tcPr/>
                </a:tc>
                <a:tc>
                  <a:txBody>
                    <a:bodyPr/>
                    <a:lstStyle/>
                    <a:p>
                      <a:pPr algn="ctr"/>
                      <a:r>
                        <a:rPr lang="en-US" dirty="0"/>
                        <a:t>1</a:t>
                      </a:r>
                    </a:p>
                  </a:txBody>
                  <a:tcPr/>
                </a:tc>
                <a:tc>
                  <a:txBody>
                    <a:bodyPr/>
                    <a:lstStyle/>
                    <a:p>
                      <a:pPr algn="ctr"/>
                      <a:r>
                        <a:rPr lang="en-US" dirty="0"/>
                        <a:t>0</a:t>
                      </a:r>
                    </a:p>
                  </a:txBody>
                  <a:tcPr/>
                </a:tc>
                <a:extLst>
                  <a:ext uri="{0D108BD9-81ED-4DB2-BD59-A6C34878D82A}">
                    <a16:rowId xmlns:a16="http://schemas.microsoft.com/office/drawing/2014/main" val="10001"/>
                  </a:ext>
                </a:extLst>
              </a:tr>
              <a:tr h="370840">
                <a:tc>
                  <a:txBody>
                    <a:bodyPr/>
                    <a:lstStyle/>
                    <a:p>
                      <a:pPr algn="ctr"/>
                      <a:r>
                        <a:rPr lang="en-US" dirty="0"/>
                        <a:t>1</a:t>
                      </a:r>
                    </a:p>
                  </a:txBody>
                  <a:tcPr/>
                </a:tc>
                <a:tc>
                  <a:txBody>
                    <a:bodyPr/>
                    <a:lstStyle/>
                    <a:p>
                      <a:pPr algn="ctr"/>
                      <a:r>
                        <a:rPr lang="en-US" dirty="0"/>
                        <a:t>1</a:t>
                      </a:r>
                    </a:p>
                  </a:txBody>
                  <a:tcPr/>
                </a:tc>
                <a:tc>
                  <a:txBody>
                    <a:bodyPr/>
                    <a:lstStyle/>
                    <a:p>
                      <a:pPr algn="ctr"/>
                      <a:r>
                        <a:rPr lang="en-US" dirty="0"/>
                        <a:t>0</a:t>
                      </a:r>
                    </a:p>
                  </a:txBody>
                  <a:tcPr/>
                </a:tc>
                <a:tc>
                  <a:txBody>
                    <a:bodyPr/>
                    <a:lstStyle/>
                    <a:p>
                      <a:pPr algn="ctr"/>
                      <a:r>
                        <a:rPr lang="en-US" dirty="0"/>
                        <a:t>1</a:t>
                      </a:r>
                    </a:p>
                  </a:txBody>
                  <a:tcPr/>
                </a:tc>
                <a:extLst>
                  <a:ext uri="{0D108BD9-81ED-4DB2-BD59-A6C34878D82A}">
                    <a16:rowId xmlns:a16="http://schemas.microsoft.com/office/drawing/2014/main" val="10002"/>
                  </a:ext>
                </a:extLst>
              </a:tr>
              <a:tr h="370840">
                <a:tc>
                  <a:txBody>
                    <a:bodyPr/>
                    <a:lstStyle/>
                    <a:p>
                      <a:pPr algn="ctr"/>
                      <a:r>
                        <a:rPr lang="en-US" dirty="0"/>
                        <a:t>1</a:t>
                      </a:r>
                    </a:p>
                  </a:txBody>
                  <a:tcPr/>
                </a:tc>
                <a:tc>
                  <a:txBody>
                    <a:bodyPr/>
                    <a:lstStyle/>
                    <a:p>
                      <a:pPr algn="ctr"/>
                      <a:r>
                        <a:rPr lang="en-US" dirty="0"/>
                        <a:t>0</a:t>
                      </a:r>
                    </a:p>
                  </a:txBody>
                  <a:tcPr/>
                </a:tc>
                <a:tc>
                  <a:txBody>
                    <a:bodyPr/>
                    <a:lstStyle/>
                    <a:p>
                      <a:pPr algn="ctr"/>
                      <a:r>
                        <a:rPr lang="en-US" dirty="0"/>
                        <a:t>1</a:t>
                      </a:r>
                    </a:p>
                  </a:txBody>
                  <a:tcPr/>
                </a:tc>
                <a:tc>
                  <a:txBody>
                    <a:bodyPr/>
                    <a:lstStyle/>
                    <a:p>
                      <a:pPr algn="ctr"/>
                      <a:r>
                        <a:rPr lang="en-US" dirty="0"/>
                        <a:t>0</a:t>
                      </a:r>
                    </a:p>
                  </a:txBody>
                  <a:tcPr/>
                </a:tc>
                <a:extLst>
                  <a:ext uri="{0D108BD9-81ED-4DB2-BD59-A6C34878D82A}">
                    <a16:rowId xmlns:a16="http://schemas.microsoft.com/office/drawing/2014/main" val="10003"/>
                  </a:ext>
                </a:extLst>
              </a:tr>
              <a:tr h="370840">
                <a:tc>
                  <a:txBody>
                    <a:bodyPr/>
                    <a:lstStyle/>
                    <a:p>
                      <a:pPr algn="ctr"/>
                      <a:r>
                        <a:rPr lang="en-US" dirty="0"/>
                        <a:t>1</a:t>
                      </a:r>
                    </a:p>
                  </a:txBody>
                  <a:tcPr/>
                </a:tc>
                <a:tc>
                  <a:txBody>
                    <a:bodyPr/>
                    <a:lstStyle/>
                    <a:p>
                      <a:pPr algn="ctr"/>
                      <a:r>
                        <a:rPr lang="en-US" dirty="0"/>
                        <a:t>0</a:t>
                      </a:r>
                    </a:p>
                  </a:txBody>
                  <a:tcPr/>
                </a:tc>
                <a:tc>
                  <a:txBody>
                    <a:bodyPr/>
                    <a:lstStyle/>
                    <a:p>
                      <a:pPr algn="ctr"/>
                      <a:r>
                        <a:rPr lang="en-US" dirty="0"/>
                        <a:t>0</a:t>
                      </a:r>
                    </a:p>
                  </a:txBody>
                  <a:tcPr/>
                </a:tc>
                <a:tc>
                  <a:txBody>
                    <a:bodyPr/>
                    <a:lstStyle/>
                    <a:p>
                      <a:pPr algn="ctr"/>
                      <a:r>
                        <a:rPr lang="en-US" dirty="0"/>
                        <a:t>0</a:t>
                      </a:r>
                    </a:p>
                  </a:txBody>
                  <a:tcPr/>
                </a:tc>
                <a:extLst>
                  <a:ext uri="{0D108BD9-81ED-4DB2-BD59-A6C34878D82A}">
                    <a16:rowId xmlns:a16="http://schemas.microsoft.com/office/drawing/2014/main" val="10004"/>
                  </a:ext>
                </a:extLst>
              </a:tr>
              <a:tr h="370840">
                <a:tc>
                  <a:txBody>
                    <a:bodyPr/>
                    <a:lstStyle/>
                    <a:p>
                      <a:pPr algn="ctr"/>
                      <a:r>
                        <a:rPr lang="en-US" dirty="0"/>
                        <a:t>0</a:t>
                      </a:r>
                    </a:p>
                  </a:txBody>
                  <a:tcPr/>
                </a:tc>
                <a:tc>
                  <a:txBody>
                    <a:bodyPr/>
                    <a:lstStyle/>
                    <a:p>
                      <a:pPr algn="ctr"/>
                      <a:r>
                        <a:rPr lang="en-US" dirty="0"/>
                        <a:t>1</a:t>
                      </a:r>
                    </a:p>
                  </a:txBody>
                  <a:tcPr/>
                </a:tc>
                <a:tc>
                  <a:txBody>
                    <a:bodyPr/>
                    <a:lstStyle/>
                    <a:p>
                      <a:pPr algn="ctr"/>
                      <a:r>
                        <a:rPr lang="en-US" dirty="0"/>
                        <a:t>1</a:t>
                      </a:r>
                    </a:p>
                  </a:txBody>
                  <a:tcPr/>
                </a:tc>
                <a:tc>
                  <a:txBody>
                    <a:bodyPr/>
                    <a:lstStyle/>
                    <a:p>
                      <a:pPr algn="ctr"/>
                      <a:r>
                        <a:rPr lang="en-US" dirty="0"/>
                        <a:t>1</a:t>
                      </a:r>
                    </a:p>
                  </a:txBody>
                  <a:tcPr/>
                </a:tc>
                <a:extLst>
                  <a:ext uri="{0D108BD9-81ED-4DB2-BD59-A6C34878D82A}">
                    <a16:rowId xmlns:a16="http://schemas.microsoft.com/office/drawing/2014/main" val="10005"/>
                  </a:ext>
                </a:extLst>
              </a:tr>
              <a:tr h="370840">
                <a:tc>
                  <a:txBody>
                    <a:bodyPr/>
                    <a:lstStyle/>
                    <a:p>
                      <a:pPr algn="ctr"/>
                      <a:r>
                        <a:rPr lang="en-US" dirty="0"/>
                        <a:t>0</a:t>
                      </a:r>
                    </a:p>
                  </a:txBody>
                  <a:tcPr/>
                </a:tc>
                <a:tc>
                  <a:txBody>
                    <a:bodyPr/>
                    <a:lstStyle/>
                    <a:p>
                      <a:pPr algn="ctr"/>
                      <a:r>
                        <a:rPr lang="en-US" dirty="0"/>
                        <a:t>1</a:t>
                      </a:r>
                    </a:p>
                  </a:txBody>
                  <a:tcPr/>
                </a:tc>
                <a:tc>
                  <a:txBody>
                    <a:bodyPr/>
                    <a:lstStyle/>
                    <a:p>
                      <a:pPr algn="ctr"/>
                      <a:r>
                        <a:rPr lang="en-US" dirty="0"/>
                        <a:t>0</a:t>
                      </a:r>
                    </a:p>
                  </a:txBody>
                  <a:tcPr/>
                </a:tc>
                <a:tc>
                  <a:txBody>
                    <a:bodyPr/>
                    <a:lstStyle/>
                    <a:p>
                      <a:pPr algn="ctr"/>
                      <a:r>
                        <a:rPr lang="en-US" dirty="0"/>
                        <a:t>0</a:t>
                      </a:r>
                    </a:p>
                  </a:txBody>
                  <a:tcPr/>
                </a:tc>
                <a:extLst>
                  <a:ext uri="{0D108BD9-81ED-4DB2-BD59-A6C34878D82A}">
                    <a16:rowId xmlns:a16="http://schemas.microsoft.com/office/drawing/2014/main" val="10006"/>
                  </a:ext>
                </a:extLst>
              </a:tr>
              <a:tr h="370840">
                <a:tc>
                  <a:txBody>
                    <a:bodyPr/>
                    <a:lstStyle/>
                    <a:p>
                      <a:pPr algn="ctr"/>
                      <a:r>
                        <a:rPr lang="en-US" dirty="0"/>
                        <a:t>0</a:t>
                      </a:r>
                    </a:p>
                  </a:txBody>
                  <a:tcPr/>
                </a:tc>
                <a:tc>
                  <a:txBody>
                    <a:bodyPr/>
                    <a:lstStyle/>
                    <a:p>
                      <a:pPr algn="ctr"/>
                      <a:r>
                        <a:rPr lang="en-US" dirty="0"/>
                        <a:t>0</a:t>
                      </a:r>
                    </a:p>
                  </a:txBody>
                  <a:tcPr/>
                </a:tc>
                <a:tc>
                  <a:txBody>
                    <a:bodyPr/>
                    <a:lstStyle/>
                    <a:p>
                      <a:pPr algn="ctr"/>
                      <a:r>
                        <a:rPr lang="en-US" dirty="0"/>
                        <a:t>1</a:t>
                      </a:r>
                    </a:p>
                  </a:txBody>
                  <a:tcPr/>
                </a:tc>
                <a:tc>
                  <a:txBody>
                    <a:bodyPr/>
                    <a:lstStyle/>
                    <a:p>
                      <a:pPr algn="ctr"/>
                      <a:r>
                        <a:rPr lang="en-US" dirty="0"/>
                        <a:t>1</a:t>
                      </a:r>
                    </a:p>
                  </a:txBody>
                  <a:tcPr/>
                </a:tc>
                <a:extLst>
                  <a:ext uri="{0D108BD9-81ED-4DB2-BD59-A6C34878D82A}">
                    <a16:rowId xmlns:a16="http://schemas.microsoft.com/office/drawing/2014/main" val="10007"/>
                  </a:ext>
                </a:extLst>
              </a:tr>
              <a:tr h="370840">
                <a:tc>
                  <a:txBody>
                    <a:bodyPr/>
                    <a:lstStyle/>
                    <a:p>
                      <a:pPr algn="ctr"/>
                      <a:r>
                        <a:rPr lang="en-US" dirty="0"/>
                        <a:t>0</a:t>
                      </a:r>
                    </a:p>
                  </a:txBody>
                  <a:tcPr/>
                </a:tc>
                <a:tc>
                  <a:txBody>
                    <a:bodyPr/>
                    <a:lstStyle/>
                    <a:p>
                      <a:pPr algn="ctr"/>
                      <a:r>
                        <a:rPr lang="en-US" dirty="0"/>
                        <a:t>0</a:t>
                      </a:r>
                    </a:p>
                  </a:txBody>
                  <a:tcPr/>
                </a:tc>
                <a:tc>
                  <a:txBody>
                    <a:bodyPr/>
                    <a:lstStyle/>
                    <a:p>
                      <a:pPr algn="ctr"/>
                      <a:r>
                        <a:rPr lang="en-US" dirty="0"/>
                        <a:t>0</a:t>
                      </a:r>
                    </a:p>
                  </a:txBody>
                  <a:tcPr/>
                </a:tc>
                <a:tc>
                  <a:txBody>
                    <a:bodyPr/>
                    <a:lstStyle/>
                    <a:p>
                      <a:pPr algn="ctr"/>
                      <a:r>
                        <a:rPr lang="en-US" dirty="0"/>
                        <a:t>1</a:t>
                      </a:r>
                    </a:p>
                  </a:txBody>
                  <a:tcPr/>
                </a:tc>
                <a:extLst>
                  <a:ext uri="{0D108BD9-81ED-4DB2-BD59-A6C34878D82A}">
                    <a16:rowId xmlns:a16="http://schemas.microsoft.com/office/drawing/2014/main" val="10008"/>
                  </a:ext>
                </a:extLst>
              </a:tr>
            </a:tbl>
          </a:graphicData>
        </a:graphic>
      </p:graphicFrame>
      <p:sp>
        <p:nvSpPr>
          <p:cNvPr id="10" name="Rectangle 9">
            <a:extLst>
              <a:ext uri="{FF2B5EF4-FFF2-40B4-BE49-F238E27FC236}">
                <a16:creationId xmlns:a16="http://schemas.microsoft.com/office/drawing/2014/main" id="{02810338-38DC-F745-8D12-4B26438A6C9B}"/>
              </a:ext>
            </a:extLst>
          </p:cNvPr>
          <p:cNvSpPr/>
          <p:nvPr/>
        </p:nvSpPr>
        <p:spPr>
          <a:xfrm>
            <a:off x="3273552" y="3163824"/>
            <a:ext cx="1799497" cy="374904"/>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3" name="Straight Arrow Connector 12">
            <a:extLst>
              <a:ext uri="{FF2B5EF4-FFF2-40B4-BE49-F238E27FC236}">
                <a16:creationId xmlns:a16="http://schemas.microsoft.com/office/drawing/2014/main" id="{4838339F-DB7E-3348-BC91-C1D76ECE675A}"/>
              </a:ext>
            </a:extLst>
          </p:cNvPr>
          <p:cNvCxnSpPr>
            <a:cxnSpLocks/>
            <a:stCxn id="10" idx="3"/>
          </p:cNvCxnSpPr>
          <p:nvPr/>
        </p:nvCxnSpPr>
        <p:spPr>
          <a:xfrm flipV="1">
            <a:off x="5073049" y="3081528"/>
            <a:ext cx="2050127" cy="26974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037456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41413" y="152174"/>
            <a:ext cx="9905998" cy="606778"/>
          </a:xfrm>
        </p:spPr>
        <p:txBody>
          <a:bodyPr/>
          <a:lstStyle/>
          <a:p>
            <a:pPr algn="ctr"/>
            <a:r>
              <a:rPr lang="en-US" dirty="0"/>
              <a:t>Converting SAT to 3-SAT, step 4 / 5</a:t>
            </a:r>
          </a:p>
        </p:txBody>
      </p:sp>
      <p:sp>
        <p:nvSpPr>
          <p:cNvPr id="3" name="Content Placeholder 2"/>
          <p:cNvSpPr>
            <a:spLocks noGrp="1"/>
          </p:cNvSpPr>
          <p:nvPr>
            <p:ph sz="quarter" idx="1"/>
          </p:nvPr>
        </p:nvSpPr>
        <p:spPr>
          <a:xfrm>
            <a:off x="3855451" y="3421888"/>
            <a:ext cx="2238961" cy="2066544"/>
          </a:xfrm>
          <a:ln>
            <a:solidFill>
              <a:schemeClr val="tx1">
                <a:lumMod val="95000"/>
              </a:schemeClr>
            </a:solidFill>
          </a:ln>
        </p:spPr>
        <p:txBody>
          <a:bodyPr>
            <a:normAutofit fontScale="70000" lnSpcReduction="20000"/>
          </a:bodyPr>
          <a:lstStyle/>
          <a:p>
            <a:pPr marL="0" indent="0" algn="l">
              <a:buNone/>
            </a:pPr>
            <a:r>
              <a:rPr lang="en-US" dirty="0">
                <a:sym typeface="Symbol"/>
              </a:rPr>
              <a:t>’</a:t>
            </a:r>
            <a:r>
              <a:rPr lang="en-US" baseline="-25000" dirty="0" err="1">
                <a:sym typeface="Symbol"/>
              </a:rPr>
              <a:t>i</a:t>
            </a:r>
            <a:r>
              <a:rPr lang="en-US" dirty="0">
                <a:sym typeface="Symbol"/>
              </a:rPr>
              <a:t> = </a:t>
            </a:r>
          </a:p>
          <a:p>
            <a:pPr marL="0" indent="0" algn="l">
              <a:buNone/>
            </a:pPr>
            <a:r>
              <a:rPr lang="en-US" dirty="0">
                <a:sym typeface="Symbol"/>
              </a:rPr>
              <a:t>    (y</a:t>
            </a:r>
            <a:r>
              <a:rPr lang="en-US" baseline="-25000" dirty="0">
                <a:sym typeface="Symbol"/>
              </a:rPr>
              <a:t>1</a:t>
            </a:r>
            <a:r>
              <a:rPr lang="en-US" dirty="0">
                <a:sym typeface="Symbol"/>
              </a:rPr>
              <a:t>y</a:t>
            </a:r>
            <a:r>
              <a:rPr lang="en-US" baseline="-25000" dirty="0">
                <a:sym typeface="Symbol"/>
              </a:rPr>
              <a:t>2</a:t>
            </a:r>
            <a:r>
              <a:rPr lang="en-US" dirty="0">
                <a:sym typeface="Symbol"/>
              </a:rPr>
              <a:t>x</a:t>
            </a:r>
            <a:r>
              <a:rPr lang="en-US" baseline="-25000" dirty="0">
                <a:sym typeface="Symbol"/>
              </a:rPr>
              <a:t>2</a:t>
            </a:r>
            <a:r>
              <a:rPr lang="en-US" dirty="0">
                <a:sym typeface="Symbol"/>
              </a:rPr>
              <a:t>) </a:t>
            </a:r>
          </a:p>
          <a:p>
            <a:pPr marL="0" indent="0" algn="l">
              <a:buNone/>
            </a:pPr>
            <a:r>
              <a:rPr lang="en-US" dirty="0">
                <a:sym typeface="Symbol"/>
              </a:rPr>
              <a:t>    (y</a:t>
            </a:r>
            <a:r>
              <a:rPr lang="en-US" baseline="-25000" dirty="0">
                <a:sym typeface="Symbol"/>
              </a:rPr>
              <a:t>1</a:t>
            </a:r>
            <a:r>
              <a:rPr lang="en-US" dirty="0">
                <a:sym typeface="Symbol"/>
              </a:rPr>
              <a:t>y</a:t>
            </a:r>
            <a:r>
              <a:rPr lang="en-US" baseline="-25000" dirty="0">
                <a:sym typeface="Symbol"/>
              </a:rPr>
              <a:t>2</a:t>
            </a:r>
            <a:r>
              <a:rPr lang="en-US" dirty="0">
                <a:sym typeface="Symbol"/>
              </a:rPr>
              <a:t>x</a:t>
            </a:r>
            <a:r>
              <a:rPr lang="en-US" baseline="-25000" dirty="0">
                <a:sym typeface="Symbol"/>
              </a:rPr>
              <a:t>2</a:t>
            </a:r>
            <a:r>
              <a:rPr lang="en-US" dirty="0">
                <a:sym typeface="Symbol"/>
              </a:rPr>
              <a:t>) </a:t>
            </a:r>
          </a:p>
          <a:p>
            <a:pPr marL="0" indent="0" algn="l">
              <a:buNone/>
            </a:pPr>
            <a:r>
              <a:rPr lang="en-US" dirty="0">
                <a:sym typeface="Symbol"/>
              </a:rPr>
              <a:t>    (y</a:t>
            </a:r>
            <a:r>
              <a:rPr lang="en-US" baseline="-25000" dirty="0">
                <a:sym typeface="Symbol"/>
              </a:rPr>
              <a:t>1</a:t>
            </a:r>
            <a:r>
              <a:rPr lang="en-US" dirty="0">
                <a:sym typeface="Symbol"/>
              </a:rPr>
              <a:t>y</a:t>
            </a:r>
            <a:r>
              <a:rPr lang="en-US" baseline="-25000" dirty="0">
                <a:sym typeface="Symbol"/>
              </a:rPr>
              <a:t>2</a:t>
            </a:r>
            <a:r>
              <a:rPr lang="en-US" dirty="0">
                <a:sym typeface="Symbol"/>
              </a:rPr>
              <a:t>x</a:t>
            </a:r>
            <a:r>
              <a:rPr lang="en-US" baseline="-25000" dirty="0">
                <a:sym typeface="Symbol"/>
              </a:rPr>
              <a:t>2</a:t>
            </a:r>
            <a:r>
              <a:rPr lang="en-US" dirty="0">
                <a:sym typeface="Symbol"/>
              </a:rPr>
              <a:t>) </a:t>
            </a:r>
          </a:p>
          <a:p>
            <a:pPr marL="0" indent="0" algn="l">
              <a:buNone/>
            </a:pPr>
            <a:r>
              <a:rPr lang="en-US" dirty="0">
                <a:sym typeface="Symbol"/>
              </a:rPr>
              <a:t>    (y</a:t>
            </a:r>
            <a:r>
              <a:rPr lang="en-US" baseline="-25000" dirty="0">
                <a:sym typeface="Symbol"/>
              </a:rPr>
              <a:t>1</a:t>
            </a:r>
            <a:r>
              <a:rPr lang="en-US" dirty="0">
                <a:sym typeface="Symbol"/>
              </a:rPr>
              <a:t>y</a:t>
            </a:r>
            <a:r>
              <a:rPr lang="en-US" baseline="-25000" dirty="0">
                <a:sym typeface="Symbol"/>
              </a:rPr>
              <a:t>2</a:t>
            </a:r>
            <a:r>
              <a:rPr lang="en-US" dirty="0">
                <a:sym typeface="Symbol"/>
              </a:rPr>
              <a:t>x</a:t>
            </a:r>
            <a:r>
              <a:rPr lang="en-US" baseline="-25000" dirty="0">
                <a:sym typeface="Symbol"/>
              </a:rPr>
              <a:t>2</a:t>
            </a:r>
            <a:r>
              <a:rPr lang="en-US" dirty="0">
                <a:sym typeface="Symbol"/>
              </a:rPr>
              <a:t>)</a:t>
            </a:r>
          </a:p>
        </p:txBody>
      </p:sp>
      <p:sp>
        <p:nvSpPr>
          <p:cNvPr id="7" name="Content Placeholder 6"/>
          <p:cNvSpPr>
            <a:spLocks noGrp="1"/>
          </p:cNvSpPr>
          <p:nvPr>
            <p:ph sz="quarter" idx="2"/>
          </p:nvPr>
        </p:nvSpPr>
        <p:spPr>
          <a:xfrm>
            <a:off x="1180894" y="1351280"/>
            <a:ext cx="4349908" cy="932688"/>
          </a:xfrm>
          <a:solidFill>
            <a:schemeClr val="tx1">
              <a:lumMod val="95000"/>
            </a:schemeClr>
          </a:solidFill>
          <a:ln>
            <a:solidFill>
              <a:schemeClr val="bg1"/>
            </a:solidFill>
          </a:ln>
        </p:spPr>
        <p:txBody>
          <a:bodyPr>
            <a:normAutofit fontScale="70000" lnSpcReduction="20000"/>
          </a:bodyPr>
          <a:lstStyle/>
          <a:p>
            <a:pPr marL="0" indent="0" algn="just">
              <a:buNone/>
            </a:pPr>
            <a:r>
              <a:rPr lang="en-US" b="1" i="1" u="sng" dirty="0">
                <a:solidFill>
                  <a:schemeClr val="bg1"/>
                </a:solidFill>
              </a:rPr>
              <a:t>Step 4</a:t>
            </a:r>
            <a:r>
              <a:rPr lang="en-US" dirty="0">
                <a:solidFill>
                  <a:schemeClr val="bg1"/>
                </a:solidFill>
              </a:rPr>
              <a:t>: For each clause, construct a DNF (disjunctive normal form) for when it is False (based on truth table)</a:t>
            </a:r>
          </a:p>
        </p:txBody>
      </p:sp>
      <p:graphicFrame>
        <p:nvGraphicFramePr>
          <p:cNvPr id="8" name="Content Placeholder 5"/>
          <p:cNvGraphicFramePr>
            <a:graphicFrameLocks/>
          </p:cNvGraphicFramePr>
          <p:nvPr>
            <p:extLst>
              <p:ext uri="{D42A27DB-BD31-4B8C-83A1-F6EECF244321}">
                <p14:modId xmlns:p14="http://schemas.microsoft.com/office/powerpoint/2010/main" val="4223445928"/>
              </p:ext>
            </p:extLst>
          </p:nvPr>
        </p:nvGraphicFramePr>
        <p:xfrm>
          <a:off x="332232" y="2651760"/>
          <a:ext cx="3034984" cy="3606800"/>
        </p:xfrm>
        <a:graphic>
          <a:graphicData uri="http://schemas.openxmlformats.org/drawingml/2006/table">
            <a:tbl>
              <a:tblPr firstRow="1" bandRow="1">
                <a:tableStyleId>{5C22544A-7EE6-4342-B048-85BDC9FD1C3A}</a:tableStyleId>
              </a:tblPr>
              <a:tblGrid>
                <a:gridCol w="403543">
                  <a:extLst>
                    <a:ext uri="{9D8B030D-6E8A-4147-A177-3AD203B41FA5}">
                      <a16:colId xmlns:a16="http://schemas.microsoft.com/office/drawing/2014/main" val="20000"/>
                    </a:ext>
                  </a:extLst>
                </a:gridCol>
                <a:gridCol w="403543">
                  <a:extLst>
                    <a:ext uri="{9D8B030D-6E8A-4147-A177-3AD203B41FA5}">
                      <a16:colId xmlns:a16="http://schemas.microsoft.com/office/drawing/2014/main" val="20001"/>
                    </a:ext>
                  </a:extLst>
                </a:gridCol>
                <a:gridCol w="403543">
                  <a:extLst>
                    <a:ext uri="{9D8B030D-6E8A-4147-A177-3AD203B41FA5}">
                      <a16:colId xmlns:a16="http://schemas.microsoft.com/office/drawing/2014/main" val="20002"/>
                    </a:ext>
                  </a:extLst>
                </a:gridCol>
                <a:gridCol w="1824355">
                  <a:extLst>
                    <a:ext uri="{9D8B030D-6E8A-4147-A177-3AD203B41FA5}">
                      <a16:colId xmlns:a16="http://schemas.microsoft.com/office/drawing/2014/main" val="20003"/>
                    </a:ext>
                  </a:extLst>
                </a:gridCol>
              </a:tblGrid>
              <a:tr h="370840">
                <a:tc>
                  <a:txBody>
                    <a:bodyPr/>
                    <a:lstStyle/>
                    <a:p>
                      <a:pPr algn="ctr"/>
                      <a:r>
                        <a:rPr lang="en-US" dirty="0"/>
                        <a:t>y</a:t>
                      </a:r>
                      <a:r>
                        <a:rPr lang="en-US" baseline="-25000" dirty="0"/>
                        <a:t>1</a:t>
                      </a:r>
                    </a:p>
                  </a:txBody>
                  <a:tcPr/>
                </a:tc>
                <a:tc>
                  <a:txBody>
                    <a:bodyPr/>
                    <a:lstStyle/>
                    <a:p>
                      <a:pPr algn="ctr"/>
                      <a:r>
                        <a:rPr lang="en-US" dirty="0"/>
                        <a:t>y</a:t>
                      </a:r>
                      <a:r>
                        <a:rPr lang="en-US" baseline="-25000" dirty="0"/>
                        <a:t>2</a:t>
                      </a:r>
                    </a:p>
                  </a:txBody>
                  <a:tcPr/>
                </a:tc>
                <a:tc>
                  <a:txBody>
                    <a:bodyPr/>
                    <a:lstStyle/>
                    <a:p>
                      <a:pPr algn="ctr"/>
                      <a:r>
                        <a:rPr lang="en-US" dirty="0"/>
                        <a:t>x</a:t>
                      </a:r>
                      <a:r>
                        <a:rPr lang="en-US" baseline="-25000" dirty="0"/>
                        <a:t>2</a:t>
                      </a:r>
                    </a:p>
                  </a:txBody>
                  <a:tcPr/>
                </a:tc>
                <a:tc>
                  <a:txBody>
                    <a:bodyPr/>
                    <a:lstStyle/>
                    <a:p>
                      <a:pPr algn="ctr"/>
                      <a:r>
                        <a:rPr lang="en-US" dirty="0"/>
                        <a:t>(y</a:t>
                      </a:r>
                      <a:r>
                        <a:rPr lang="en-US" baseline="-25000" dirty="0"/>
                        <a:t>1</a:t>
                      </a:r>
                      <a:r>
                        <a:rPr lang="en-US" dirty="0"/>
                        <a:t> </a:t>
                      </a:r>
                      <a:r>
                        <a:rPr lang="en-US" dirty="0">
                          <a:sym typeface="Symbol"/>
                        </a:rPr>
                        <a:t> (y</a:t>
                      </a:r>
                      <a:r>
                        <a:rPr lang="en-US" baseline="-25000" dirty="0">
                          <a:sym typeface="Symbol"/>
                        </a:rPr>
                        <a:t>2</a:t>
                      </a:r>
                      <a:r>
                        <a:rPr lang="en-US" dirty="0">
                          <a:sym typeface="Symbol"/>
                        </a:rPr>
                        <a:t>  x</a:t>
                      </a:r>
                      <a:r>
                        <a:rPr lang="en-US" baseline="-25000" dirty="0">
                          <a:sym typeface="Symbol"/>
                        </a:rPr>
                        <a:t>2</a:t>
                      </a:r>
                      <a:r>
                        <a:rPr lang="en-US" dirty="0">
                          <a:sym typeface="Symbol"/>
                        </a:rPr>
                        <a:t>))</a:t>
                      </a:r>
                      <a:endParaRPr lang="en-US" dirty="0"/>
                    </a:p>
                  </a:txBody>
                  <a:tcPr/>
                </a:tc>
                <a:extLst>
                  <a:ext uri="{0D108BD9-81ED-4DB2-BD59-A6C34878D82A}">
                    <a16:rowId xmlns:a16="http://schemas.microsoft.com/office/drawing/2014/main" val="10000"/>
                  </a:ext>
                </a:extLst>
              </a:tr>
              <a:tr h="370840">
                <a:tc>
                  <a:txBody>
                    <a:bodyPr/>
                    <a:lstStyle/>
                    <a:p>
                      <a:pPr algn="ctr"/>
                      <a:r>
                        <a:rPr lang="en-US" b="1" dirty="0"/>
                        <a:t>1</a:t>
                      </a:r>
                    </a:p>
                  </a:txBody>
                  <a:tcPr/>
                </a:tc>
                <a:tc>
                  <a:txBody>
                    <a:bodyPr/>
                    <a:lstStyle/>
                    <a:p>
                      <a:pPr algn="ctr"/>
                      <a:r>
                        <a:rPr lang="en-US" b="1" dirty="0"/>
                        <a:t>1</a:t>
                      </a:r>
                    </a:p>
                  </a:txBody>
                  <a:tcPr/>
                </a:tc>
                <a:tc>
                  <a:txBody>
                    <a:bodyPr/>
                    <a:lstStyle/>
                    <a:p>
                      <a:pPr algn="ctr"/>
                      <a:r>
                        <a:rPr lang="en-US" b="1" dirty="0"/>
                        <a:t>1</a:t>
                      </a:r>
                    </a:p>
                  </a:txBody>
                  <a:tcPr/>
                </a:tc>
                <a:tc>
                  <a:txBody>
                    <a:bodyPr/>
                    <a:lstStyle/>
                    <a:p>
                      <a:pPr algn="ctr"/>
                      <a:r>
                        <a:rPr lang="en-US" b="1" dirty="0"/>
                        <a:t>0</a:t>
                      </a:r>
                    </a:p>
                  </a:txBody>
                  <a:tcPr/>
                </a:tc>
                <a:extLst>
                  <a:ext uri="{0D108BD9-81ED-4DB2-BD59-A6C34878D82A}">
                    <a16:rowId xmlns:a16="http://schemas.microsoft.com/office/drawing/2014/main" val="10001"/>
                  </a:ext>
                </a:extLst>
              </a:tr>
              <a:tr h="370840">
                <a:tc>
                  <a:txBody>
                    <a:bodyPr/>
                    <a:lstStyle/>
                    <a:p>
                      <a:pPr algn="ctr"/>
                      <a:r>
                        <a:rPr lang="en-US" dirty="0"/>
                        <a:t>1</a:t>
                      </a:r>
                    </a:p>
                  </a:txBody>
                  <a:tcPr/>
                </a:tc>
                <a:tc>
                  <a:txBody>
                    <a:bodyPr/>
                    <a:lstStyle/>
                    <a:p>
                      <a:pPr algn="ctr"/>
                      <a:r>
                        <a:rPr lang="en-US" dirty="0"/>
                        <a:t>1</a:t>
                      </a:r>
                    </a:p>
                  </a:txBody>
                  <a:tcPr/>
                </a:tc>
                <a:tc>
                  <a:txBody>
                    <a:bodyPr/>
                    <a:lstStyle/>
                    <a:p>
                      <a:pPr algn="ctr"/>
                      <a:r>
                        <a:rPr lang="en-US" dirty="0"/>
                        <a:t>0</a:t>
                      </a:r>
                    </a:p>
                  </a:txBody>
                  <a:tcPr/>
                </a:tc>
                <a:tc>
                  <a:txBody>
                    <a:bodyPr/>
                    <a:lstStyle/>
                    <a:p>
                      <a:pPr algn="ctr"/>
                      <a:r>
                        <a:rPr lang="en-US" dirty="0"/>
                        <a:t>1</a:t>
                      </a:r>
                    </a:p>
                  </a:txBody>
                  <a:tcPr/>
                </a:tc>
                <a:extLst>
                  <a:ext uri="{0D108BD9-81ED-4DB2-BD59-A6C34878D82A}">
                    <a16:rowId xmlns:a16="http://schemas.microsoft.com/office/drawing/2014/main" val="10002"/>
                  </a:ext>
                </a:extLst>
              </a:tr>
              <a:tr h="370840">
                <a:tc>
                  <a:txBody>
                    <a:bodyPr/>
                    <a:lstStyle/>
                    <a:p>
                      <a:pPr algn="ctr"/>
                      <a:r>
                        <a:rPr lang="en-US" b="1" dirty="0"/>
                        <a:t>1</a:t>
                      </a:r>
                    </a:p>
                  </a:txBody>
                  <a:tcPr/>
                </a:tc>
                <a:tc>
                  <a:txBody>
                    <a:bodyPr/>
                    <a:lstStyle/>
                    <a:p>
                      <a:pPr algn="ctr"/>
                      <a:r>
                        <a:rPr lang="en-US" b="1" dirty="0"/>
                        <a:t>0</a:t>
                      </a:r>
                    </a:p>
                  </a:txBody>
                  <a:tcPr/>
                </a:tc>
                <a:tc>
                  <a:txBody>
                    <a:bodyPr/>
                    <a:lstStyle/>
                    <a:p>
                      <a:pPr algn="ctr"/>
                      <a:r>
                        <a:rPr lang="en-US" b="1" dirty="0"/>
                        <a:t>1</a:t>
                      </a:r>
                    </a:p>
                  </a:txBody>
                  <a:tcPr/>
                </a:tc>
                <a:tc>
                  <a:txBody>
                    <a:bodyPr/>
                    <a:lstStyle/>
                    <a:p>
                      <a:pPr algn="ctr"/>
                      <a:r>
                        <a:rPr lang="en-US" b="1" dirty="0"/>
                        <a:t>0</a:t>
                      </a:r>
                    </a:p>
                  </a:txBody>
                  <a:tcPr/>
                </a:tc>
                <a:extLst>
                  <a:ext uri="{0D108BD9-81ED-4DB2-BD59-A6C34878D82A}">
                    <a16:rowId xmlns:a16="http://schemas.microsoft.com/office/drawing/2014/main" val="10003"/>
                  </a:ext>
                </a:extLst>
              </a:tr>
              <a:tr h="370840">
                <a:tc>
                  <a:txBody>
                    <a:bodyPr/>
                    <a:lstStyle/>
                    <a:p>
                      <a:pPr algn="ctr"/>
                      <a:r>
                        <a:rPr lang="en-US" b="1" dirty="0"/>
                        <a:t>1</a:t>
                      </a:r>
                    </a:p>
                  </a:txBody>
                  <a:tcPr/>
                </a:tc>
                <a:tc>
                  <a:txBody>
                    <a:bodyPr/>
                    <a:lstStyle/>
                    <a:p>
                      <a:pPr algn="ctr"/>
                      <a:r>
                        <a:rPr lang="en-US" b="1" dirty="0"/>
                        <a:t>0</a:t>
                      </a:r>
                    </a:p>
                  </a:txBody>
                  <a:tcPr/>
                </a:tc>
                <a:tc>
                  <a:txBody>
                    <a:bodyPr/>
                    <a:lstStyle/>
                    <a:p>
                      <a:pPr algn="ctr"/>
                      <a:r>
                        <a:rPr lang="en-US" b="1" dirty="0"/>
                        <a:t>0</a:t>
                      </a:r>
                    </a:p>
                  </a:txBody>
                  <a:tcPr/>
                </a:tc>
                <a:tc>
                  <a:txBody>
                    <a:bodyPr/>
                    <a:lstStyle/>
                    <a:p>
                      <a:pPr algn="ctr"/>
                      <a:r>
                        <a:rPr lang="en-US" b="1" dirty="0"/>
                        <a:t>0</a:t>
                      </a:r>
                    </a:p>
                  </a:txBody>
                  <a:tcPr/>
                </a:tc>
                <a:extLst>
                  <a:ext uri="{0D108BD9-81ED-4DB2-BD59-A6C34878D82A}">
                    <a16:rowId xmlns:a16="http://schemas.microsoft.com/office/drawing/2014/main" val="10004"/>
                  </a:ext>
                </a:extLst>
              </a:tr>
              <a:tr h="370840">
                <a:tc>
                  <a:txBody>
                    <a:bodyPr/>
                    <a:lstStyle/>
                    <a:p>
                      <a:pPr algn="ctr"/>
                      <a:r>
                        <a:rPr lang="en-US" dirty="0"/>
                        <a:t>0</a:t>
                      </a:r>
                    </a:p>
                  </a:txBody>
                  <a:tcPr/>
                </a:tc>
                <a:tc>
                  <a:txBody>
                    <a:bodyPr/>
                    <a:lstStyle/>
                    <a:p>
                      <a:pPr algn="ctr"/>
                      <a:r>
                        <a:rPr lang="en-US" dirty="0"/>
                        <a:t>1</a:t>
                      </a:r>
                    </a:p>
                  </a:txBody>
                  <a:tcPr/>
                </a:tc>
                <a:tc>
                  <a:txBody>
                    <a:bodyPr/>
                    <a:lstStyle/>
                    <a:p>
                      <a:pPr algn="ctr"/>
                      <a:r>
                        <a:rPr lang="en-US" dirty="0"/>
                        <a:t>1</a:t>
                      </a:r>
                    </a:p>
                  </a:txBody>
                  <a:tcPr/>
                </a:tc>
                <a:tc>
                  <a:txBody>
                    <a:bodyPr/>
                    <a:lstStyle/>
                    <a:p>
                      <a:pPr algn="ctr"/>
                      <a:r>
                        <a:rPr lang="en-US" dirty="0"/>
                        <a:t>1</a:t>
                      </a:r>
                    </a:p>
                  </a:txBody>
                  <a:tcPr/>
                </a:tc>
                <a:extLst>
                  <a:ext uri="{0D108BD9-81ED-4DB2-BD59-A6C34878D82A}">
                    <a16:rowId xmlns:a16="http://schemas.microsoft.com/office/drawing/2014/main" val="10005"/>
                  </a:ext>
                </a:extLst>
              </a:tr>
              <a:tr h="370840">
                <a:tc>
                  <a:txBody>
                    <a:bodyPr/>
                    <a:lstStyle/>
                    <a:p>
                      <a:pPr algn="ctr"/>
                      <a:r>
                        <a:rPr lang="en-US" b="1" dirty="0"/>
                        <a:t>0</a:t>
                      </a:r>
                    </a:p>
                  </a:txBody>
                  <a:tcPr/>
                </a:tc>
                <a:tc>
                  <a:txBody>
                    <a:bodyPr/>
                    <a:lstStyle/>
                    <a:p>
                      <a:pPr algn="ctr"/>
                      <a:r>
                        <a:rPr lang="en-US" b="1" dirty="0"/>
                        <a:t>1</a:t>
                      </a:r>
                    </a:p>
                  </a:txBody>
                  <a:tcPr/>
                </a:tc>
                <a:tc>
                  <a:txBody>
                    <a:bodyPr/>
                    <a:lstStyle/>
                    <a:p>
                      <a:pPr algn="ctr"/>
                      <a:r>
                        <a:rPr lang="en-US" b="1" dirty="0"/>
                        <a:t>0</a:t>
                      </a:r>
                    </a:p>
                  </a:txBody>
                  <a:tcPr/>
                </a:tc>
                <a:tc>
                  <a:txBody>
                    <a:bodyPr/>
                    <a:lstStyle/>
                    <a:p>
                      <a:pPr algn="ctr"/>
                      <a:r>
                        <a:rPr lang="en-US" b="1" dirty="0"/>
                        <a:t>0</a:t>
                      </a:r>
                    </a:p>
                  </a:txBody>
                  <a:tcPr/>
                </a:tc>
                <a:extLst>
                  <a:ext uri="{0D108BD9-81ED-4DB2-BD59-A6C34878D82A}">
                    <a16:rowId xmlns:a16="http://schemas.microsoft.com/office/drawing/2014/main" val="10006"/>
                  </a:ext>
                </a:extLst>
              </a:tr>
              <a:tr h="370840">
                <a:tc>
                  <a:txBody>
                    <a:bodyPr/>
                    <a:lstStyle/>
                    <a:p>
                      <a:pPr algn="ctr"/>
                      <a:r>
                        <a:rPr lang="en-US" dirty="0"/>
                        <a:t>0</a:t>
                      </a:r>
                    </a:p>
                  </a:txBody>
                  <a:tcPr/>
                </a:tc>
                <a:tc>
                  <a:txBody>
                    <a:bodyPr/>
                    <a:lstStyle/>
                    <a:p>
                      <a:pPr algn="ctr"/>
                      <a:r>
                        <a:rPr lang="en-US" dirty="0"/>
                        <a:t>0</a:t>
                      </a:r>
                    </a:p>
                  </a:txBody>
                  <a:tcPr/>
                </a:tc>
                <a:tc>
                  <a:txBody>
                    <a:bodyPr/>
                    <a:lstStyle/>
                    <a:p>
                      <a:pPr algn="ctr"/>
                      <a:r>
                        <a:rPr lang="en-US" dirty="0"/>
                        <a:t>1</a:t>
                      </a:r>
                    </a:p>
                  </a:txBody>
                  <a:tcPr/>
                </a:tc>
                <a:tc>
                  <a:txBody>
                    <a:bodyPr/>
                    <a:lstStyle/>
                    <a:p>
                      <a:pPr algn="ctr"/>
                      <a:r>
                        <a:rPr lang="en-US" dirty="0"/>
                        <a:t>1</a:t>
                      </a:r>
                    </a:p>
                  </a:txBody>
                  <a:tcPr/>
                </a:tc>
                <a:extLst>
                  <a:ext uri="{0D108BD9-81ED-4DB2-BD59-A6C34878D82A}">
                    <a16:rowId xmlns:a16="http://schemas.microsoft.com/office/drawing/2014/main" val="10007"/>
                  </a:ext>
                </a:extLst>
              </a:tr>
              <a:tr h="370840">
                <a:tc>
                  <a:txBody>
                    <a:bodyPr/>
                    <a:lstStyle/>
                    <a:p>
                      <a:pPr algn="ctr"/>
                      <a:r>
                        <a:rPr lang="en-US" dirty="0"/>
                        <a:t>0</a:t>
                      </a:r>
                    </a:p>
                  </a:txBody>
                  <a:tcPr/>
                </a:tc>
                <a:tc>
                  <a:txBody>
                    <a:bodyPr/>
                    <a:lstStyle/>
                    <a:p>
                      <a:pPr algn="ctr"/>
                      <a:r>
                        <a:rPr lang="en-US" dirty="0"/>
                        <a:t>0</a:t>
                      </a:r>
                    </a:p>
                  </a:txBody>
                  <a:tcPr/>
                </a:tc>
                <a:tc>
                  <a:txBody>
                    <a:bodyPr/>
                    <a:lstStyle/>
                    <a:p>
                      <a:pPr algn="ctr"/>
                      <a:r>
                        <a:rPr lang="en-US" dirty="0"/>
                        <a:t>0</a:t>
                      </a:r>
                    </a:p>
                  </a:txBody>
                  <a:tcPr/>
                </a:tc>
                <a:tc>
                  <a:txBody>
                    <a:bodyPr/>
                    <a:lstStyle/>
                    <a:p>
                      <a:pPr algn="ctr"/>
                      <a:r>
                        <a:rPr lang="en-US" dirty="0"/>
                        <a:t>1</a:t>
                      </a:r>
                    </a:p>
                  </a:txBody>
                  <a:tcPr/>
                </a:tc>
                <a:extLst>
                  <a:ext uri="{0D108BD9-81ED-4DB2-BD59-A6C34878D82A}">
                    <a16:rowId xmlns:a16="http://schemas.microsoft.com/office/drawing/2014/main" val="10008"/>
                  </a:ext>
                </a:extLst>
              </a:tr>
            </a:tbl>
          </a:graphicData>
        </a:graphic>
      </p:graphicFrame>
      <p:cxnSp>
        <p:nvCxnSpPr>
          <p:cNvPr id="6" name="Straight Arrow Connector 5">
            <a:extLst>
              <a:ext uri="{FF2B5EF4-FFF2-40B4-BE49-F238E27FC236}">
                <a16:creationId xmlns:a16="http://schemas.microsoft.com/office/drawing/2014/main" id="{ECBC6DCB-8421-324A-A28E-E1182D5E9C09}"/>
              </a:ext>
            </a:extLst>
          </p:cNvPr>
          <p:cNvCxnSpPr>
            <a:cxnSpLocks/>
          </p:cNvCxnSpPr>
          <p:nvPr/>
        </p:nvCxnSpPr>
        <p:spPr>
          <a:xfrm>
            <a:off x="2642616" y="3511296"/>
            <a:ext cx="1444752" cy="44805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209971F6-4E53-1448-A294-5110C4ECF238}"/>
              </a:ext>
            </a:extLst>
          </p:cNvPr>
          <p:cNvCxnSpPr>
            <a:cxnSpLocks/>
          </p:cNvCxnSpPr>
          <p:nvPr/>
        </p:nvCxnSpPr>
        <p:spPr>
          <a:xfrm>
            <a:off x="2633472" y="4240784"/>
            <a:ext cx="1453896" cy="13716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5E0A3DB6-A224-A04A-97D0-C387E575908C}"/>
              </a:ext>
            </a:extLst>
          </p:cNvPr>
          <p:cNvCxnSpPr>
            <a:cxnSpLocks/>
          </p:cNvCxnSpPr>
          <p:nvPr/>
        </p:nvCxnSpPr>
        <p:spPr>
          <a:xfrm>
            <a:off x="2633472" y="4612132"/>
            <a:ext cx="1444752" cy="15392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CD16774A-1A44-6F42-906A-212A65D81238}"/>
              </a:ext>
            </a:extLst>
          </p:cNvPr>
          <p:cNvCxnSpPr>
            <a:cxnSpLocks/>
          </p:cNvCxnSpPr>
          <p:nvPr/>
        </p:nvCxnSpPr>
        <p:spPr>
          <a:xfrm flipV="1">
            <a:off x="2633472" y="5157216"/>
            <a:ext cx="1444752" cy="18491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E561056F-BBA6-8448-917B-B6B93B6C1D5D}"/>
              </a:ext>
            </a:extLst>
          </p:cNvPr>
          <p:cNvCxnSpPr/>
          <p:nvPr/>
        </p:nvCxnSpPr>
        <p:spPr>
          <a:xfrm>
            <a:off x="6318504" y="896112"/>
            <a:ext cx="0" cy="5797296"/>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
        <p:nvSpPr>
          <p:cNvPr id="18" name="Content Placeholder 6">
            <a:extLst>
              <a:ext uri="{FF2B5EF4-FFF2-40B4-BE49-F238E27FC236}">
                <a16:creationId xmlns:a16="http://schemas.microsoft.com/office/drawing/2014/main" id="{F622BB6B-9293-574E-A459-CFC6C68F1CFD}"/>
              </a:ext>
            </a:extLst>
          </p:cNvPr>
          <p:cNvSpPr txBox="1">
            <a:spLocks/>
          </p:cNvSpPr>
          <p:nvPr/>
        </p:nvSpPr>
        <p:spPr>
          <a:xfrm>
            <a:off x="6883702" y="1351280"/>
            <a:ext cx="4349908" cy="932688"/>
          </a:xfrm>
          <a:prstGeom prst="rect">
            <a:avLst/>
          </a:prstGeom>
          <a:solidFill>
            <a:schemeClr val="tx1">
              <a:lumMod val="95000"/>
            </a:schemeClr>
          </a:solidFill>
          <a:ln>
            <a:solidFill>
              <a:schemeClr val="bg1"/>
            </a:solidFill>
          </a:ln>
        </p:spPr>
        <p:txBody>
          <a:bodyPr vert="horz" lIns="91440" tIns="45720" rIns="91440" bIns="45720" rtlCol="0">
            <a:normAutofit fontScale="700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just">
              <a:buFont typeface="Arial" panose="020B0604020202020204" pitchFamily="34" charset="0"/>
              <a:buNone/>
            </a:pPr>
            <a:r>
              <a:rPr lang="en-US" b="1" i="1" u="sng" dirty="0">
                <a:solidFill>
                  <a:schemeClr val="bg1"/>
                </a:solidFill>
              </a:rPr>
              <a:t>Step 5</a:t>
            </a:r>
            <a:r>
              <a:rPr lang="en-US" dirty="0">
                <a:solidFill>
                  <a:schemeClr val="bg1"/>
                </a:solidFill>
              </a:rPr>
              <a:t>: Take this formula and negate it to get all the instances where the clause is true in CNF (conjunctive normal form).</a:t>
            </a:r>
          </a:p>
        </p:txBody>
      </p:sp>
      <p:sp>
        <p:nvSpPr>
          <p:cNvPr id="19" name="Content Placeholder 2">
            <a:extLst>
              <a:ext uri="{FF2B5EF4-FFF2-40B4-BE49-F238E27FC236}">
                <a16:creationId xmlns:a16="http://schemas.microsoft.com/office/drawing/2014/main" id="{43E7970F-7CFF-B54F-8B82-9D084691C371}"/>
              </a:ext>
            </a:extLst>
          </p:cNvPr>
          <p:cNvSpPr txBox="1">
            <a:spLocks/>
          </p:cNvSpPr>
          <p:nvPr/>
        </p:nvSpPr>
        <p:spPr>
          <a:xfrm>
            <a:off x="6629401" y="2651760"/>
            <a:ext cx="4937759" cy="627380"/>
          </a:xfrm>
          <a:prstGeom prst="rect">
            <a:avLst/>
          </a:prstGeom>
          <a:ln>
            <a:solidFill>
              <a:schemeClr val="tx1">
                <a:lumMod val="95000"/>
              </a:schemeClr>
            </a:solidFill>
          </a:ln>
        </p:spPr>
        <p:txBody>
          <a:bodyPr vert="horz" lIns="91440" tIns="45720" rIns="91440" bIns="45720" rtlCol="0">
            <a:normAutofit fontScale="700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sym typeface="Symbol"/>
              </a:rPr>
              <a:t>’</a:t>
            </a:r>
            <a:r>
              <a:rPr lang="en-US" baseline="-25000" dirty="0" err="1">
                <a:sym typeface="Symbol"/>
              </a:rPr>
              <a:t>i</a:t>
            </a:r>
            <a:r>
              <a:rPr lang="en-US" dirty="0">
                <a:sym typeface="Symbol"/>
              </a:rPr>
              <a:t> = (y</a:t>
            </a:r>
            <a:r>
              <a:rPr lang="en-US" baseline="-25000" dirty="0">
                <a:sym typeface="Symbol"/>
              </a:rPr>
              <a:t>1</a:t>
            </a:r>
            <a:r>
              <a:rPr lang="en-US" dirty="0">
                <a:sym typeface="Symbol"/>
              </a:rPr>
              <a:t>y</a:t>
            </a:r>
            <a:r>
              <a:rPr lang="en-US" baseline="-25000" dirty="0">
                <a:sym typeface="Symbol"/>
              </a:rPr>
              <a:t>2</a:t>
            </a:r>
            <a:r>
              <a:rPr lang="en-US" dirty="0">
                <a:sym typeface="Symbol"/>
              </a:rPr>
              <a:t>x</a:t>
            </a:r>
            <a:r>
              <a:rPr lang="en-US" baseline="-25000" dirty="0">
                <a:sym typeface="Symbol"/>
              </a:rPr>
              <a:t>2</a:t>
            </a:r>
            <a:r>
              <a:rPr lang="en-US" dirty="0">
                <a:sym typeface="Symbol"/>
              </a:rPr>
              <a:t>)  (y</a:t>
            </a:r>
            <a:r>
              <a:rPr lang="en-US" baseline="-25000" dirty="0">
                <a:sym typeface="Symbol"/>
              </a:rPr>
              <a:t>1</a:t>
            </a:r>
            <a:r>
              <a:rPr lang="en-US" dirty="0">
                <a:sym typeface="Symbol"/>
              </a:rPr>
              <a:t>y</a:t>
            </a:r>
            <a:r>
              <a:rPr lang="en-US" baseline="-25000" dirty="0">
                <a:sym typeface="Symbol"/>
              </a:rPr>
              <a:t>2</a:t>
            </a:r>
            <a:r>
              <a:rPr lang="en-US" dirty="0">
                <a:sym typeface="Symbol"/>
              </a:rPr>
              <a:t>x</a:t>
            </a:r>
            <a:r>
              <a:rPr lang="en-US" baseline="-25000" dirty="0">
                <a:sym typeface="Symbol"/>
              </a:rPr>
              <a:t>2</a:t>
            </a:r>
            <a:r>
              <a:rPr lang="en-US" dirty="0">
                <a:sym typeface="Symbol"/>
              </a:rPr>
              <a:t>)  (y</a:t>
            </a:r>
            <a:r>
              <a:rPr lang="en-US" baseline="-25000" dirty="0">
                <a:sym typeface="Symbol"/>
              </a:rPr>
              <a:t>1</a:t>
            </a:r>
            <a:r>
              <a:rPr lang="en-US" dirty="0">
                <a:sym typeface="Symbol"/>
              </a:rPr>
              <a:t>y</a:t>
            </a:r>
            <a:r>
              <a:rPr lang="en-US" baseline="-25000" dirty="0">
                <a:sym typeface="Symbol"/>
              </a:rPr>
              <a:t>2</a:t>
            </a:r>
            <a:r>
              <a:rPr lang="en-US" dirty="0">
                <a:sym typeface="Symbol"/>
              </a:rPr>
              <a:t>x</a:t>
            </a:r>
            <a:r>
              <a:rPr lang="en-US" baseline="-25000" dirty="0">
                <a:sym typeface="Symbol"/>
              </a:rPr>
              <a:t>2</a:t>
            </a:r>
            <a:r>
              <a:rPr lang="en-US" dirty="0">
                <a:sym typeface="Symbol"/>
              </a:rPr>
              <a:t>)  (y</a:t>
            </a:r>
            <a:r>
              <a:rPr lang="en-US" baseline="-25000" dirty="0">
                <a:sym typeface="Symbol"/>
              </a:rPr>
              <a:t>1</a:t>
            </a:r>
            <a:r>
              <a:rPr lang="en-US" dirty="0">
                <a:sym typeface="Symbol"/>
              </a:rPr>
              <a:t>y</a:t>
            </a:r>
            <a:r>
              <a:rPr lang="en-US" baseline="-25000" dirty="0">
                <a:sym typeface="Symbol"/>
              </a:rPr>
              <a:t>2</a:t>
            </a:r>
            <a:r>
              <a:rPr lang="en-US" dirty="0">
                <a:sym typeface="Symbol"/>
              </a:rPr>
              <a:t>x</a:t>
            </a:r>
            <a:r>
              <a:rPr lang="en-US" baseline="-25000" dirty="0">
                <a:sym typeface="Symbol"/>
              </a:rPr>
              <a:t>2</a:t>
            </a:r>
            <a:r>
              <a:rPr lang="en-US" dirty="0">
                <a:sym typeface="Symbol"/>
              </a:rPr>
              <a:t>)</a:t>
            </a:r>
          </a:p>
        </p:txBody>
      </p:sp>
      <p:sp>
        <p:nvSpPr>
          <p:cNvPr id="21" name="Content Placeholder 2">
            <a:extLst>
              <a:ext uri="{FF2B5EF4-FFF2-40B4-BE49-F238E27FC236}">
                <a16:creationId xmlns:a16="http://schemas.microsoft.com/office/drawing/2014/main" id="{1BBB2694-AAC0-CB47-A5A1-24E5C597CCAB}"/>
              </a:ext>
            </a:extLst>
          </p:cNvPr>
          <p:cNvSpPr txBox="1">
            <a:spLocks/>
          </p:cNvSpPr>
          <p:nvPr/>
        </p:nvSpPr>
        <p:spPr>
          <a:xfrm>
            <a:off x="9173716" y="3644900"/>
            <a:ext cx="1435607" cy="380492"/>
          </a:xfrm>
          <a:prstGeom prst="rect">
            <a:avLst/>
          </a:prstGeom>
          <a:ln>
            <a:no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i="1" dirty="0">
                <a:sym typeface="Symbol"/>
              </a:rPr>
              <a:t>Negate formula</a:t>
            </a:r>
          </a:p>
        </p:txBody>
      </p:sp>
      <p:sp>
        <p:nvSpPr>
          <p:cNvPr id="22" name="Content Placeholder 2">
            <a:extLst>
              <a:ext uri="{FF2B5EF4-FFF2-40B4-BE49-F238E27FC236}">
                <a16:creationId xmlns:a16="http://schemas.microsoft.com/office/drawing/2014/main" id="{ECCCCD6F-77EE-0D40-BD10-B728039DC088}"/>
              </a:ext>
            </a:extLst>
          </p:cNvPr>
          <p:cNvSpPr txBox="1">
            <a:spLocks/>
          </p:cNvSpPr>
          <p:nvPr/>
        </p:nvSpPr>
        <p:spPr>
          <a:xfrm>
            <a:off x="6629401" y="4614164"/>
            <a:ext cx="4937759" cy="627380"/>
          </a:xfrm>
          <a:prstGeom prst="rect">
            <a:avLst/>
          </a:prstGeom>
          <a:ln>
            <a:solidFill>
              <a:schemeClr val="tx1">
                <a:lumMod val="95000"/>
              </a:schemeClr>
            </a:solidFill>
          </a:ln>
        </p:spPr>
        <p:txBody>
          <a:bodyPr vert="horz" lIns="91440" tIns="45720" rIns="91440" bIns="45720" rtlCol="0">
            <a:normAutofit fontScale="700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None/>
            </a:pPr>
            <a:r>
              <a:rPr lang="en-US" dirty="0">
                <a:sym typeface="Symbol"/>
              </a:rPr>
              <a:t>’</a:t>
            </a:r>
            <a:r>
              <a:rPr lang="en-US" baseline="-25000" dirty="0" err="1">
                <a:sym typeface="Symbol"/>
              </a:rPr>
              <a:t>i</a:t>
            </a:r>
            <a:r>
              <a:rPr lang="en-US" dirty="0">
                <a:sym typeface="Symbol"/>
              </a:rPr>
              <a:t> = (y</a:t>
            </a:r>
            <a:r>
              <a:rPr lang="en-US" baseline="-25000" dirty="0">
                <a:sym typeface="Symbol"/>
              </a:rPr>
              <a:t>1</a:t>
            </a:r>
            <a:r>
              <a:rPr lang="en-US" dirty="0">
                <a:sym typeface="Symbol"/>
              </a:rPr>
              <a:t>y</a:t>
            </a:r>
            <a:r>
              <a:rPr lang="en-US" baseline="-25000" dirty="0">
                <a:sym typeface="Symbol"/>
              </a:rPr>
              <a:t>2</a:t>
            </a:r>
            <a:r>
              <a:rPr lang="en-US" dirty="0">
                <a:sym typeface="Symbol"/>
              </a:rPr>
              <a:t>x</a:t>
            </a:r>
            <a:r>
              <a:rPr lang="en-US" baseline="-25000" dirty="0">
                <a:sym typeface="Symbol"/>
              </a:rPr>
              <a:t>2</a:t>
            </a:r>
            <a:r>
              <a:rPr lang="en-US" dirty="0">
                <a:sym typeface="Symbol"/>
              </a:rPr>
              <a:t>)  (y</a:t>
            </a:r>
            <a:r>
              <a:rPr lang="en-US" baseline="-25000" dirty="0">
                <a:sym typeface="Symbol"/>
              </a:rPr>
              <a:t>1</a:t>
            </a:r>
            <a:r>
              <a:rPr lang="en-US" dirty="0">
                <a:sym typeface="Symbol"/>
              </a:rPr>
              <a:t>y</a:t>
            </a:r>
            <a:r>
              <a:rPr lang="en-US" baseline="-25000" dirty="0">
                <a:sym typeface="Symbol"/>
              </a:rPr>
              <a:t>2</a:t>
            </a:r>
            <a:r>
              <a:rPr lang="en-US" dirty="0">
                <a:sym typeface="Symbol"/>
              </a:rPr>
              <a:t>x</a:t>
            </a:r>
            <a:r>
              <a:rPr lang="en-US" baseline="-25000" dirty="0">
                <a:sym typeface="Symbol"/>
              </a:rPr>
              <a:t>2</a:t>
            </a:r>
            <a:r>
              <a:rPr lang="en-US" dirty="0">
                <a:sym typeface="Symbol"/>
              </a:rPr>
              <a:t>)  (y</a:t>
            </a:r>
            <a:r>
              <a:rPr lang="en-US" baseline="-25000" dirty="0">
                <a:sym typeface="Symbol"/>
              </a:rPr>
              <a:t>1</a:t>
            </a:r>
            <a:r>
              <a:rPr lang="en-US" dirty="0">
                <a:sym typeface="Symbol"/>
              </a:rPr>
              <a:t>y</a:t>
            </a:r>
            <a:r>
              <a:rPr lang="en-US" baseline="-25000" dirty="0">
                <a:sym typeface="Symbol"/>
              </a:rPr>
              <a:t>2</a:t>
            </a:r>
            <a:r>
              <a:rPr lang="en-US" dirty="0">
                <a:sym typeface="Symbol"/>
              </a:rPr>
              <a:t>x</a:t>
            </a:r>
            <a:r>
              <a:rPr lang="en-US" baseline="-25000" dirty="0">
                <a:sym typeface="Symbol"/>
              </a:rPr>
              <a:t>2</a:t>
            </a:r>
            <a:r>
              <a:rPr lang="en-US" dirty="0">
                <a:sym typeface="Symbol"/>
              </a:rPr>
              <a:t>)  (y</a:t>
            </a:r>
            <a:r>
              <a:rPr lang="en-US" baseline="-25000" dirty="0">
                <a:sym typeface="Symbol"/>
              </a:rPr>
              <a:t>1</a:t>
            </a:r>
            <a:r>
              <a:rPr lang="en-US" dirty="0">
                <a:sym typeface="Symbol"/>
              </a:rPr>
              <a:t>y</a:t>
            </a:r>
            <a:r>
              <a:rPr lang="en-US" baseline="-25000" dirty="0">
                <a:sym typeface="Symbol"/>
              </a:rPr>
              <a:t>2</a:t>
            </a:r>
            <a:r>
              <a:rPr lang="en-US" dirty="0">
                <a:sym typeface="Symbol"/>
              </a:rPr>
              <a:t>x</a:t>
            </a:r>
            <a:r>
              <a:rPr lang="en-US" baseline="-25000" dirty="0">
                <a:sym typeface="Symbol"/>
              </a:rPr>
              <a:t>2</a:t>
            </a:r>
            <a:r>
              <a:rPr lang="en-US" dirty="0">
                <a:sym typeface="Symbol"/>
              </a:rPr>
              <a:t>)</a:t>
            </a:r>
          </a:p>
        </p:txBody>
      </p:sp>
      <p:cxnSp>
        <p:nvCxnSpPr>
          <p:cNvPr id="24" name="Elbow Connector 23">
            <a:extLst>
              <a:ext uri="{FF2B5EF4-FFF2-40B4-BE49-F238E27FC236}">
                <a16:creationId xmlns:a16="http://schemas.microsoft.com/office/drawing/2014/main" id="{73DDA0CF-6B15-F947-A345-A307A36659B0}"/>
              </a:ext>
            </a:extLst>
          </p:cNvPr>
          <p:cNvCxnSpPr>
            <a:stCxn id="3" idx="0"/>
            <a:endCxn id="19" idx="1"/>
          </p:cNvCxnSpPr>
          <p:nvPr/>
        </p:nvCxnSpPr>
        <p:spPr>
          <a:xfrm rot="5400000" flipH="1" flipV="1">
            <a:off x="5573947" y="2366435"/>
            <a:ext cx="456438" cy="1654469"/>
          </a:xfrm>
          <a:prstGeom prst="bentConnector2">
            <a:avLst/>
          </a:prstGeom>
          <a:ln>
            <a:solidFill>
              <a:schemeClr val="tx1">
                <a:lumMod val="9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19AC4D97-E38C-0549-B1D2-66ADD2AB9468}"/>
              </a:ext>
            </a:extLst>
          </p:cNvPr>
          <p:cNvCxnSpPr>
            <a:cxnSpLocks/>
          </p:cNvCxnSpPr>
          <p:nvPr/>
        </p:nvCxnSpPr>
        <p:spPr>
          <a:xfrm>
            <a:off x="9098280" y="3421888"/>
            <a:ext cx="1" cy="1033272"/>
          </a:xfrm>
          <a:prstGeom prst="straightConnector1">
            <a:avLst/>
          </a:prstGeom>
          <a:ln>
            <a:solidFill>
              <a:schemeClr val="tx1">
                <a:lumMod val="95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81880530"/>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p:cNvSpPr>
            <a:spLocks noGrp="1"/>
          </p:cNvSpPr>
          <p:nvPr>
            <p:ph type="title"/>
          </p:nvPr>
        </p:nvSpPr>
        <p:spPr>
          <a:xfrm>
            <a:off x="1141413" y="271046"/>
            <a:ext cx="9905998" cy="588490"/>
          </a:xfrm>
        </p:spPr>
        <p:txBody>
          <a:bodyPr/>
          <a:lstStyle/>
          <a:p>
            <a:pPr algn="ctr"/>
            <a:r>
              <a:rPr lang="en-US" dirty="0"/>
              <a:t>Converting SAT to 3-SAT, step 6</a:t>
            </a:r>
          </a:p>
        </p:txBody>
      </p:sp>
      <p:sp>
        <p:nvSpPr>
          <p:cNvPr id="8" name="Content Placeholder 2">
            <a:extLst>
              <a:ext uri="{FF2B5EF4-FFF2-40B4-BE49-F238E27FC236}">
                <a16:creationId xmlns:a16="http://schemas.microsoft.com/office/drawing/2014/main" id="{AB49451B-8C3E-8345-A09A-173D468017E0}"/>
              </a:ext>
            </a:extLst>
          </p:cNvPr>
          <p:cNvSpPr txBox="1">
            <a:spLocks/>
          </p:cNvSpPr>
          <p:nvPr/>
        </p:nvSpPr>
        <p:spPr>
          <a:xfrm>
            <a:off x="1234440" y="1340612"/>
            <a:ext cx="9812969" cy="625348"/>
          </a:xfrm>
          <a:prstGeom prst="rect">
            <a:avLst/>
          </a:prstGeom>
          <a:ln>
            <a:solidFill>
              <a:schemeClr val="tx1">
                <a:lumMod val="95000"/>
              </a:schemeClr>
            </a:solidFill>
          </a:ln>
        </p:spPr>
        <p:txBody>
          <a:bodyPr vert="horz" lIns="91440" tIns="45720" rIns="91440" bIns="45720" rtlCol="0">
            <a:normAutofit fontScale="925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None/>
            </a:pPr>
            <a:r>
              <a:rPr lang="en-US" dirty="0">
                <a:sym typeface="Symbol"/>
              </a:rPr>
              <a:t>’</a:t>
            </a:r>
            <a:r>
              <a:rPr lang="en-US" baseline="-25000" dirty="0" err="1">
                <a:sym typeface="Symbol"/>
              </a:rPr>
              <a:t>i</a:t>
            </a:r>
            <a:r>
              <a:rPr lang="en-US" dirty="0">
                <a:sym typeface="Symbol"/>
              </a:rPr>
              <a:t> = (y</a:t>
            </a:r>
            <a:r>
              <a:rPr lang="en-US" baseline="-25000" dirty="0">
                <a:sym typeface="Symbol"/>
              </a:rPr>
              <a:t>1 </a:t>
            </a:r>
            <a:r>
              <a:rPr lang="en-US" dirty="0">
                <a:sym typeface="Symbol"/>
              </a:rPr>
              <a:t> y</a:t>
            </a:r>
            <a:r>
              <a:rPr lang="en-US" baseline="-25000" dirty="0">
                <a:sym typeface="Symbol"/>
              </a:rPr>
              <a:t>2 </a:t>
            </a:r>
            <a:r>
              <a:rPr lang="en-US" dirty="0">
                <a:sym typeface="Symbol"/>
              </a:rPr>
              <a:t> x</a:t>
            </a:r>
            <a:r>
              <a:rPr lang="en-US" baseline="-25000" dirty="0">
                <a:sym typeface="Symbol"/>
              </a:rPr>
              <a:t>2</a:t>
            </a:r>
            <a:r>
              <a:rPr lang="en-US" dirty="0">
                <a:sym typeface="Symbol"/>
              </a:rPr>
              <a:t>)  (y</a:t>
            </a:r>
            <a:r>
              <a:rPr lang="en-US" baseline="-25000" dirty="0">
                <a:sym typeface="Symbol"/>
              </a:rPr>
              <a:t>1 </a:t>
            </a:r>
            <a:r>
              <a:rPr lang="en-US" dirty="0">
                <a:sym typeface="Symbol"/>
              </a:rPr>
              <a:t> y</a:t>
            </a:r>
            <a:r>
              <a:rPr lang="en-US" baseline="-25000" dirty="0">
                <a:sym typeface="Symbol"/>
              </a:rPr>
              <a:t>2 </a:t>
            </a:r>
            <a:r>
              <a:rPr lang="en-US" dirty="0">
                <a:sym typeface="Symbol"/>
              </a:rPr>
              <a:t> x</a:t>
            </a:r>
            <a:r>
              <a:rPr lang="en-US" baseline="-25000" dirty="0">
                <a:sym typeface="Symbol"/>
              </a:rPr>
              <a:t>2</a:t>
            </a:r>
            <a:r>
              <a:rPr lang="en-US" dirty="0">
                <a:sym typeface="Symbol"/>
              </a:rPr>
              <a:t>)  (y</a:t>
            </a:r>
            <a:r>
              <a:rPr lang="en-US" baseline="-25000" dirty="0">
                <a:sym typeface="Symbol"/>
              </a:rPr>
              <a:t>1 </a:t>
            </a:r>
            <a:r>
              <a:rPr lang="en-US" dirty="0">
                <a:sym typeface="Symbol"/>
              </a:rPr>
              <a:t> y</a:t>
            </a:r>
            <a:r>
              <a:rPr lang="en-US" baseline="-25000" dirty="0">
                <a:sym typeface="Symbol"/>
              </a:rPr>
              <a:t>2 </a:t>
            </a:r>
            <a:r>
              <a:rPr lang="en-US" dirty="0">
                <a:sym typeface="Symbol"/>
              </a:rPr>
              <a:t> x</a:t>
            </a:r>
            <a:r>
              <a:rPr lang="en-US" baseline="-25000" dirty="0">
                <a:sym typeface="Symbol"/>
              </a:rPr>
              <a:t>2</a:t>
            </a:r>
            <a:r>
              <a:rPr lang="en-US" dirty="0">
                <a:sym typeface="Symbol"/>
              </a:rPr>
              <a:t>)  (y</a:t>
            </a:r>
            <a:r>
              <a:rPr lang="en-US" baseline="-25000" dirty="0">
                <a:sym typeface="Symbol"/>
              </a:rPr>
              <a:t>1 </a:t>
            </a:r>
            <a:r>
              <a:rPr lang="en-US" dirty="0">
                <a:sym typeface="Symbol"/>
              </a:rPr>
              <a:t> y</a:t>
            </a:r>
            <a:r>
              <a:rPr lang="en-US" baseline="-25000" dirty="0">
                <a:sym typeface="Symbol"/>
              </a:rPr>
              <a:t>2 </a:t>
            </a:r>
            <a:r>
              <a:rPr lang="en-US" dirty="0">
                <a:sym typeface="Symbol"/>
              </a:rPr>
              <a:t> x</a:t>
            </a:r>
            <a:r>
              <a:rPr lang="en-US" baseline="-25000" dirty="0">
                <a:sym typeface="Symbol"/>
              </a:rPr>
              <a:t>2</a:t>
            </a:r>
            <a:r>
              <a:rPr lang="en-US" dirty="0">
                <a:sym typeface="Symbol"/>
              </a:rPr>
              <a:t>)</a:t>
            </a:r>
          </a:p>
        </p:txBody>
      </p:sp>
      <p:sp>
        <p:nvSpPr>
          <p:cNvPr id="9" name="Content Placeholder 2">
            <a:extLst>
              <a:ext uri="{FF2B5EF4-FFF2-40B4-BE49-F238E27FC236}">
                <a16:creationId xmlns:a16="http://schemas.microsoft.com/office/drawing/2014/main" id="{5E5896C1-ABA5-DD45-9061-D4CE98186D93}"/>
              </a:ext>
            </a:extLst>
          </p:cNvPr>
          <p:cNvSpPr txBox="1">
            <a:spLocks/>
          </p:cNvSpPr>
          <p:nvPr/>
        </p:nvSpPr>
        <p:spPr>
          <a:xfrm>
            <a:off x="1234440" y="2134362"/>
            <a:ext cx="9812969" cy="625348"/>
          </a:xfrm>
          <a:prstGeom prst="rect">
            <a:avLst/>
          </a:prstGeom>
          <a:solidFill>
            <a:schemeClr val="tx1">
              <a:lumMod val="95000"/>
            </a:schemeClr>
          </a:solidFill>
          <a:ln>
            <a:solidFill>
              <a:schemeClr val="bg1"/>
            </a:solidFill>
          </a:ln>
        </p:spPr>
        <p:txBody>
          <a:bodyPr vert="horz" lIns="91440" tIns="45720" rIns="91440" bIns="45720" rtlCol="0">
            <a:normAutofit fontScale="700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None/>
            </a:pPr>
            <a:r>
              <a:rPr lang="en-US" b="1" i="1" u="sng" dirty="0">
                <a:solidFill>
                  <a:schemeClr val="bg1"/>
                </a:solidFill>
                <a:sym typeface="Symbol"/>
              </a:rPr>
              <a:t>Step 6</a:t>
            </a:r>
            <a:r>
              <a:rPr lang="en-US" dirty="0">
                <a:solidFill>
                  <a:schemeClr val="bg1"/>
                </a:solidFill>
                <a:sym typeface="Symbol"/>
              </a:rPr>
              <a:t>: Almost done. This works but some clauses may have only 1 or 2 literals (3 are required for every single clause). Add dummy variables to force each clause to have three literals.</a:t>
            </a:r>
          </a:p>
        </p:txBody>
      </p:sp>
      <p:sp>
        <p:nvSpPr>
          <p:cNvPr id="10" name="Content Placeholder 6">
            <a:extLst>
              <a:ext uri="{FF2B5EF4-FFF2-40B4-BE49-F238E27FC236}">
                <a16:creationId xmlns:a16="http://schemas.microsoft.com/office/drawing/2014/main" id="{D427333A-6B04-FF47-97D3-C846946249C3}"/>
              </a:ext>
            </a:extLst>
          </p:cNvPr>
          <p:cNvSpPr txBox="1">
            <a:spLocks/>
          </p:cNvSpPr>
          <p:nvPr/>
        </p:nvSpPr>
        <p:spPr>
          <a:xfrm>
            <a:off x="8101584" y="3434331"/>
            <a:ext cx="3073841" cy="423610"/>
          </a:xfrm>
          <a:prstGeom prst="rect">
            <a:avLst/>
          </a:prstGeom>
        </p:spPr>
        <p:txBody>
          <a:bodyPr vert="horz" lIns="91440" tIns="45720" rIns="91440" bIns="45720" rtlCol="0">
            <a:normAutofit fontScale="700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None/>
            </a:pPr>
            <a:r>
              <a:rPr lang="en-US" dirty="0"/>
              <a:t>Case 3: Clause has only 1 literal</a:t>
            </a:r>
          </a:p>
        </p:txBody>
      </p:sp>
      <mc:AlternateContent xmlns:mc="http://schemas.openxmlformats.org/markup-compatibility/2006" xmlns:a14="http://schemas.microsoft.com/office/drawing/2010/main">
        <mc:Choice Requires="a14">
          <p:sp>
            <p:nvSpPr>
              <p:cNvPr id="12" name="Content Placeholder 6">
                <a:extLst>
                  <a:ext uri="{FF2B5EF4-FFF2-40B4-BE49-F238E27FC236}">
                    <a16:creationId xmlns:a16="http://schemas.microsoft.com/office/drawing/2014/main" id="{4F29268B-AC98-7A4C-B9CE-C416CD4703A6}"/>
                  </a:ext>
                </a:extLst>
              </p:cNvPr>
              <p:cNvSpPr txBox="1">
                <a:spLocks/>
              </p:cNvSpPr>
              <p:nvPr/>
            </p:nvSpPr>
            <p:spPr>
              <a:xfrm>
                <a:off x="8101584" y="3826981"/>
                <a:ext cx="3073841" cy="423610"/>
              </a:xfrm>
              <a:prstGeom prst="rect">
                <a:avLst/>
              </a:prstGeom>
              <a:solidFill>
                <a:schemeClr val="tx1">
                  <a:lumMod val="95000"/>
                </a:schemeClr>
              </a:solidFill>
              <a:ln>
                <a:solidFill>
                  <a:schemeClr val="bg1"/>
                </a:solidFill>
              </a:ln>
            </p:spPr>
            <p:txBody>
              <a:bodyPr vert="horz" lIns="91440" tIns="45720" rIns="91440" bIns="45720" rtlCol="0">
                <a:normAutofit fontScale="700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None/>
                </a:pPr>
                <a14:m>
                  <m:oMathPara xmlns:m="http://schemas.openxmlformats.org/officeDocument/2006/math">
                    <m:oMathParaPr>
                      <m:jc m:val="centerGroup"/>
                    </m:oMathParaPr>
                    <m:oMath xmlns:m="http://schemas.openxmlformats.org/officeDocument/2006/math">
                      <m:r>
                        <a:rPr lang="en-US" b="0" i="1" smtClean="0">
                          <a:solidFill>
                            <a:schemeClr val="bg1"/>
                          </a:solidFill>
                          <a:latin typeface="Cambria Math" panose="02040503050406030204" pitchFamily="18" charset="0"/>
                        </a:rPr>
                        <m:t>(</m:t>
                      </m:r>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𝑣</m:t>
                          </m:r>
                        </m:e>
                        <m:sub>
                          <m:r>
                            <a:rPr lang="en-US" b="0" i="1" smtClean="0">
                              <a:solidFill>
                                <a:schemeClr val="bg1"/>
                              </a:solidFill>
                              <a:latin typeface="Cambria Math" panose="02040503050406030204" pitchFamily="18" charset="0"/>
                            </a:rPr>
                            <m:t>𝑖</m:t>
                          </m:r>
                        </m:sub>
                      </m:sSub>
                      <m:r>
                        <a:rPr lang="en-US" b="0" i="1" smtClean="0">
                          <a:solidFill>
                            <a:schemeClr val="bg1"/>
                          </a:solidFill>
                          <a:latin typeface="Cambria Math" panose="02040503050406030204" pitchFamily="18" charset="0"/>
                        </a:rPr>
                        <m:t>)</m:t>
                      </m:r>
                    </m:oMath>
                  </m:oMathPara>
                </a14:m>
                <a:endParaRPr lang="en-US" dirty="0">
                  <a:solidFill>
                    <a:schemeClr val="bg1"/>
                  </a:solidFill>
                </a:endParaRPr>
              </a:p>
            </p:txBody>
          </p:sp>
        </mc:Choice>
        <mc:Fallback xmlns="">
          <p:sp>
            <p:nvSpPr>
              <p:cNvPr id="12" name="Content Placeholder 6">
                <a:extLst>
                  <a:ext uri="{FF2B5EF4-FFF2-40B4-BE49-F238E27FC236}">
                    <a16:creationId xmlns:a16="http://schemas.microsoft.com/office/drawing/2014/main" id="{4F29268B-AC98-7A4C-B9CE-C416CD4703A6}"/>
                  </a:ext>
                </a:extLst>
              </p:cNvPr>
              <p:cNvSpPr txBox="1">
                <a:spLocks noRot="1" noChangeAspect="1" noMove="1" noResize="1" noEditPoints="1" noAdjustHandles="1" noChangeArrowheads="1" noChangeShapeType="1" noTextEdit="1"/>
              </p:cNvSpPr>
              <p:nvPr/>
            </p:nvSpPr>
            <p:spPr>
              <a:xfrm>
                <a:off x="8101584" y="3826981"/>
                <a:ext cx="3073841" cy="423610"/>
              </a:xfrm>
              <a:prstGeom prst="rect">
                <a:avLst/>
              </a:prstGeom>
              <a:blipFill>
                <a:blip r:embed="rId2"/>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Content Placeholder 6">
                <a:extLst>
                  <a:ext uri="{FF2B5EF4-FFF2-40B4-BE49-F238E27FC236}">
                    <a16:creationId xmlns:a16="http://schemas.microsoft.com/office/drawing/2014/main" id="{DFB884C9-4A65-E048-933F-99BF3DC746C2}"/>
                  </a:ext>
                </a:extLst>
              </p:cNvPr>
              <p:cNvSpPr txBox="1">
                <a:spLocks/>
              </p:cNvSpPr>
              <p:nvPr/>
            </p:nvSpPr>
            <p:spPr>
              <a:xfrm>
                <a:off x="8101584" y="5421440"/>
                <a:ext cx="3073841" cy="814768"/>
              </a:xfrm>
              <a:prstGeom prst="rect">
                <a:avLst/>
              </a:prstGeom>
              <a:solidFill>
                <a:schemeClr val="tx1">
                  <a:lumMod val="95000"/>
                </a:schemeClr>
              </a:solidFill>
              <a:ln>
                <a:solidFill>
                  <a:schemeClr val="bg1"/>
                </a:solidFill>
              </a:ln>
            </p:spPr>
            <p:txBody>
              <a:bodyPr vert="horz" lIns="91440" tIns="45720" rIns="91440" bIns="45720" rtlCol="0">
                <a:normAutofit fontScale="625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None/>
                </a:pPr>
                <a14:m>
                  <m:oMathPara xmlns:m="http://schemas.openxmlformats.org/officeDocument/2006/math">
                    <m:oMathParaPr>
                      <m:jc m:val="centerGroup"/>
                    </m:oMathParaPr>
                    <m:oMath xmlns:m="http://schemas.openxmlformats.org/officeDocument/2006/math">
                      <m:d>
                        <m:dPr>
                          <m:ctrlPr>
                            <a:rPr lang="en-US" b="0" i="1" smtClean="0">
                              <a:solidFill>
                                <a:schemeClr val="bg1"/>
                              </a:solidFill>
                              <a:latin typeface="Cambria Math" panose="02040503050406030204" pitchFamily="18" charset="0"/>
                            </a:rPr>
                          </m:ctrlPr>
                        </m:dPr>
                        <m:e>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𝑣</m:t>
                              </m:r>
                            </m:e>
                            <m:sub>
                              <m:r>
                                <a:rPr lang="en-US" b="0" i="1" smtClean="0">
                                  <a:solidFill>
                                    <a:schemeClr val="bg1"/>
                                  </a:solidFill>
                                  <a:latin typeface="Cambria Math" panose="02040503050406030204" pitchFamily="18" charset="0"/>
                                </a:rPr>
                                <m:t>𝑖</m:t>
                              </m:r>
                            </m:sub>
                          </m:sSub>
                          <m:r>
                            <a:rPr lang="en-US" b="0" i="1" smtClean="0">
                              <a:solidFill>
                                <a:schemeClr val="bg1"/>
                              </a:solidFill>
                              <a:latin typeface="Cambria Math" panose="02040503050406030204" pitchFamily="18" charset="0"/>
                            </a:rPr>
                            <m:t>∨</m:t>
                          </m:r>
                          <m:r>
                            <a:rPr lang="en-US" b="0" i="1" smtClean="0">
                              <a:solidFill>
                                <a:schemeClr val="bg1"/>
                              </a:solidFill>
                              <a:latin typeface="Cambria Math" panose="02040503050406030204" pitchFamily="18" charset="0"/>
                            </a:rPr>
                            <m:t>𝑝</m:t>
                          </m:r>
                          <m:r>
                            <a:rPr lang="en-US" b="0" i="1" smtClean="0">
                              <a:solidFill>
                                <a:schemeClr val="bg1"/>
                              </a:solidFill>
                              <a:latin typeface="Cambria Math" panose="02040503050406030204" pitchFamily="18" charset="0"/>
                            </a:rPr>
                            <m:t>∨</m:t>
                          </m:r>
                          <m:r>
                            <a:rPr lang="en-US" b="0" i="1" smtClean="0">
                              <a:solidFill>
                                <a:schemeClr val="bg1"/>
                              </a:solidFill>
                              <a:latin typeface="Cambria Math" panose="02040503050406030204" pitchFamily="18" charset="0"/>
                            </a:rPr>
                            <m:t>𝑞</m:t>
                          </m:r>
                        </m:e>
                      </m:d>
                      <m:r>
                        <a:rPr lang="en-US" b="0" i="1" smtClean="0">
                          <a:solidFill>
                            <a:schemeClr val="bg1"/>
                          </a:solidFill>
                          <a:latin typeface="Cambria Math" panose="02040503050406030204" pitchFamily="18" charset="0"/>
                        </a:rPr>
                        <m:t>∧</m:t>
                      </m:r>
                      <m:d>
                        <m:dPr>
                          <m:ctrlPr>
                            <a:rPr lang="en-US" b="0" i="1" smtClean="0">
                              <a:solidFill>
                                <a:schemeClr val="bg1"/>
                              </a:solidFill>
                              <a:latin typeface="Cambria Math" panose="02040503050406030204" pitchFamily="18" charset="0"/>
                            </a:rPr>
                          </m:ctrlPr>
                        </m:dPr>
                        <m:e>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𝑣</m:t>
                              </m:r>
                            </m:e>
                            <m:sub>
                              <m:r>
                                <a:rPr lang="en-US" b="0" i="1" smtClean="0">
                                  <a:solidFill>
                                    <a:schemeClr val="bg1"/>
                                  </a:solidFill>
                                  <a:latin typeface="Cambria Math" panose="02040503050406030204" pitchFamily="18" charset="0"/>
                                </a:rPr>
                                <m:t>𝑖</m:t>
                              </m:r>
                            </m:sub>
                          </m:sSub>
                          <m:r>
                            <a:rPr lang="en-US" b="0" i="1" smtClean="0">
                              <a:solidFill>
                                <a:schemeClr val="bg1"/>
                              </a:solidFill>
                              <a:latin typeface="Cambria Math" panose="02040503050406030204" pitchFamily="18" charset="0"/>
                            </a:rPr>
                            <m:t>∨¬</m:t>
                          </m:r>
                          <m:r>
                            <a:rPr lang="en-US" b="0" i="1" smtClean="0">
                              <a:solidFill>
                                <a:schemeClr val="bg1"/>
                              </a:solidFill>
                              <a:latin typeface="Cambria Math" panose="02040503050406030204" pitchFamily="18" charset="0"/>
                            </a:rPr>
                            <m:t>𝑝</m:t>
                          </m:r>
                          <m:r>
                            <a:rPr lang="en-US" b="0" i="1" smtClean="0">
                              <a:solidFill>
                                <a:schemeClr val="bg1"/>
                              </a:solidFill>
                              <a:latin typeface="Cambria Math" panose="02040503050406030204" pitchFamily="18" charset="0"/>
                            </a:rPr>
                            <m:t>∨</m:t>
                          </m:r>
                          <m:r>
                            <a:rPr lang="en-US" b="0" i="1" smtClean="0">
                              <a:solidFill>
                                <a:schemeClr val="bg1"/>
                              </a:solidFill>
                              <a:latin typeface="Cambria Math" panose="02040503050406030204" pitchFamily="18" charset="0"/>
                            </a:rPr>
                            <m:t>𝑞</m:t>
                          </m:r>
                        </m:e>
                      </m:d>
                      <m:r>
                        <a:rPr lang="en-US" b="0" i="1" smtClean="0">
                          <a:solidFill>
                            <a:schemeClr val="bg1"/>
                          </a:solidFill>
                          <a:latin typeface="Cambria Math" panose="02040503050406030204" pitchFamily="18" charset="0"/>
                        </a:rPr>
                        <m:t>∨</m:t>
                      </m:r>
                      <m:d>
                        <m:dPr>
                          <m:ctrlPr>
                            <a:rPr lang="en-US" b="0" i="1" smtClean="0">
                              <a:solidFill>
                                <a:schemeClr val="bg1"/>
                              </a:solidFill>
                              <a:latin typeface="Cambria Math" panose="02040503050406030204" pitchFamily="18" charset="0"/>
                            </a:rPr>
                          </m:ctrlPr>
                        </m:dPr>
                        <m:e>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𝑣</m:t>
                              </m:r>
                            </m:e>
                            <m:sub>
                              <m:r>
                                <a:rPr lang="en-US" b="0" i="1" smtClean="0">
                                  <a:solidFill>
                                    <a:schemeClr val="bg1"/>
                                  </a:solidFill>
                                  <a:latin typeface="Cambria Math" panose="02040503050406030204" pitchFamily="18" charset="0"/>
                                </a:rPr>
                                <m:t>𝑖</m:t>
                              </m:r>
                            </m:sub>
                          </m:sSub>
                          <m:r>
                            <a:rPr lang="en-US" b="0" i="1" smtClean="0">
                              <a:solidFill>
                                <a:schemeClr val="bg1"/>
                              </a:solidFill>
                              <a:latin typeface="Cambria Math" panose="02040503050406030204" pitchFamily="18" charset="0"/>
                            </a:rPr>
                            <m:t>∨</m:t>
                          </m:r>
                          <m:r>
                            <a:rPr lang="en-US" b="0" i="1" smtClean="0">
                              <a:solidFill>
                                <a:schemeClr val="bg1"/>
                              </a:solidFill>
                              <a:latin typeface="Cambria Math" panose="02040503050406030204" pitchFamily="18" charset="0"/>
                            </a:rPr>
                            <m:t>𝑝</m:t>
                          </m:r>
                          <m:r>
                            <a:rPr lang="en-US" b="0" i="1" smtClean="0">
                              <a:solidFill>
                                <a:schemeClr val="bg1"/>
                              </a:solidFill>
                              <a:latin typeface="Cambria Math" panose="02040503050406030204" pitchFamily="18" charset="0"/>
                            </a:rPr>
                            <m:t>∨¬</m:t>
                          </m:r>
                          <m:r>
                            <a:rPr lang="en-US" b="0" i="1" smtClean="0">
                              <a:solidFill>
                                <a:schemeClr val="bg1"/>
                              </a:solidFill>
                              <a:latin typeface="Cambria Math" panose="02040503050406030204" pitchFamily="18" charset="0"/>
                            </a:rPr>
                            <m:t>𝑞</m:t>
                          </m:r>
                        </m:e>
                      </m:d>
                      <m:r>
                        <a:rPr lang="en-US" b="0" i="1" smtClean="0">
                          <a:solidFill>
                            <a:schemeClr val="bg1"/>
                          </a:solidFill>
                          <a:latin typeface="Cambria Math" panose="02040503050406030204" pitchFamily="18" charset="0"/>
                        </a:rPr>
                        <m:t>∧(</m:t>
                      </m:r>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𝑣</m:t>
                          </m:r>
                        </m:e>
                        <m:sub>
                          <m:r>
                            <a:rPr lang="en-US" b="0" i="1" smtClean="0">
                              <a:solidFill>
                                <a:schemeClr val="bg1"/>
                              </a:solidFill>
                              <a:latin typeface="Cambria Math" panose="02040503050406030204" pitchFamily="18" charset="0"/>
                            </a:rPr>
                            <m:t>𝑖</m:t>
                          </m:r>
                        </m:sub>
                      </m:sSub>
                      <m:r>
                        <a:rPr lang="en-US" b="0" i="1" smtClean="0">
                          <a:solidFill>
                            <a:schemeClr val="bg1"/>
                          </a:solidFill>
                          <a:latin typeface="Cambria Math" panose="02040503050406030204" pitchFamily="18" charset="0"/>
                        </a:rPr>
                        <m:t>∨¬</m:t>
                      </m:r>
                      <m:r>
                        <a:rPr lang="en-US" b="0" i="1" smtClean="0">
                          <a:solidFill>
                            <a:schemeClr val="bg1"/>
                          </a:solidFill>
                          <a:latin typeface="Cambria Math" panose="02040503050406030204" pitchFamily="18" charset="0"/>
                        </a:rPr>
                        <m:t>𝑝</m:t>
                      </m:r>
                      <m:r>
                        <a:rPr lang="en-US" b="0" i="1" smtClean="0">
                          <a:solidFill>
                            <a:schemeClr val="bg1"/>
                          </a:solidFill>
                          <a:latin typeface="Cambria Math" panose="02040503050406030204" pitchFamily="18" charset="0"/>
                        </a:rPr>
                        <m:t>∨¬</m:t>
                      </m:r>
                      <m:r>
                        <a:rPr lang="en-US" b="0" i="1" smtClean="0">
                          <a:solidFill>
                            <a:schemeClr val="bg1"/>
                          </a:solidFill>
                          <a:latin typeface="Cambria Math" panose="02040503050406030204" pitchFamily="18" charset="0"/>
                        </a:rPr>
                        <m:t>𝑞</m:t>
                      </m:r>
                      <m:r>
                        <a:rPr lang="en-US" b="0" i="1" smtClean="0">
                          <a:solidFill>
                            <a:schemeClr val="bg1"/>
                          </a:solidFill>
                          <a:latin typeface="Cambria Math" panose="02040503050406030204" pitchFamily="18" charset="0"/>
                        </a:rPr>
                        <m:t>)</m:t>
                      </m:r>
                    </m:oMath>
                  </m:oMathPara>
                </a14:m>
                <a:endParaRPr lang="en-US" dirty="0">
                  <a:solidFill>
                    <a:schemeClr val="bg1"/>
                  </a:solidFill>
                </a:endParaRPr>
              </a:p>
            </p:txBody>
          </p:sp>
        </mc:Choice>
        <mc:Fallback xmlns="">
          <p:sp>
            <p:nvSpPr>
              <p:cNvPr id="13" name="Content Placeholder 6">
                <a:extLst>
                  <a:ext uri="{FF2B5EF4-FFF2-40B4-BE49-F238E27FC236}">
                    <a16:creationId xmlns:a16="http://schemas.microsoft.com/office/drawing/2014/main" id="{DFB884C9-4A65-E048-933F-99BF3DC746C2}"/>
                  </a:ext>
                </a:extLst>
              </p:cNvPr>
              <p:cNvSpPr txBox="1">
                <a:spLocks noRot="1" noChangeAspect="1" noMove="1" noResize="1" noEditPoints="1" noAdjustHandles="1" noChangeArrowheads="1" noChangeShapeType="1" noTextEdit="1"/>
              </p:cNvSpPr>
              <p:nvPr/>
            </p:nvSpPr>
            <p:spPr>
              <a:xfrm>
                <a:off x="8101584" y="5421440"/>
                <a:ext cx="3073841" cy="814768"/>
              </a:xfrm>
              <a:prstGeom prst="rect">
                <a:avLst/>
              </a:prstGeom>
              <a:blipFill>
                <a:blip r:embed="rId3"/>
                <a:stretch>
                  <a:fillRect/>
                </a:stretch>
              </a:blipFill>
              <a:ln>
                <a:solidFill>
                  <a:schemeClr val="bg1"/>
                </a:solidFill>
              </a:ln>
            </p:spPr>
            <p:txBody>
              <a:bodyPr/>
              <a:lstStyle/>
              <a:p>
                <a:r>
                  <a:rPr lang="en-US">
                    <a:noFill/>
                  </a:rPr>
                  <a:t> </a:t>
                </a:r>
              </a:p>
            </p:txBody>
          </p:sp>
        </mc:Fallback>
      </mc:AlternateContent>
      <p:cxnSp>
        <p:nvCxnSpPr>
          <p:cNvPr id="3" name="Straight Arrow Connector 2">
            <a:extLst>
              <a:ext uri="{FF2B5EF4-FFF2-40B4-BE49-F238E27FC236}">
                <a16:creationId xmlns:a16="http://schemas.microsoft.com/office/drawing/2014/main" id="{D3F89E28-9AD4-E84C-8017-16681167878E}"/>
              </a:ext>
            </a:extLst>
          </p:cNvPr>
          <p:cNvCxnSpPr>
            <a:stCxn id="12" idx="2"/>
            <a:endCxn id="13" idx="0"/>
          </p:cNvCxnSpPr>
          <p:nvPr/>
        </p:nvCxnSpPr>
        <p:spPr>
          <a:xfrm>
            <a:off x="9638505" y="4250591"/>
            <a:ext cx="0" cy="1170849"/>
          </a:xfrm>
          <a:prstGeom prst="straightConnector1">
            <a:avLst/>
          </a:prstGeom>
          <a:ln>
            <a:solidFill>
              <a:schemeClr val="tx1">
                <a:lumMod val="9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5" name="Content Placeholder 6">
            <a:extLst>
              <a:ext uri="{FF2B5EF4-FFF2-40B4-BE49-F238E27FC236}">
                <a16:creationId xmlns:a16="http://schemas.microsoft.com/office/drawing/2014/main" id="{EFC89C1B-3A5C-BB46-9E12-66F905193203}"/>
              </a:ext>
            </a:extLst>
          </p:cNvPr>
          <p:cNvSpPr txBox="1">
            <a:spLocks/>
          </p:cNvSpPr>
          <p:nvPr/>
        </p:nvSpPr>
        <p:spPr>
          <a:xfrm>
            <a:off x="9611072" y="4570338"/>
            <a:ext cx="1564353" cy="608973"/>
          </a:xfrm>
          <a:prstGeom prst="rect">
            <a:avLst/>
          </a:prstGeom>
        </p:spPr>
        <p:txBody>
          <a:bodyPr vert="horz" lIns="91440" tIns="45720" rIns="91440" bIns="45720" rtlCol="0">
            <a:normAutofit fontScale="475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None/>
            </a:pPr>
            <a:r>
              <a:rPr lang="en-US" dirty="0"/>
              <a:t>Becomes:</a:t>
            </a:r>
            <a:br>
              <a:rPr lang="en-US" dirty="0"/>
            </a:br>
            <a:r>
              <a:rPr lang="en-US" dirty="0"/>
              <a:t>Introduce dummy variables p and q</a:t>
            </a:r>
          </a:p>
        </p:txBody>
      </p:sp>
      <p:sp>
        <p:nvSpPr>
          <p:cNvPr id="17" name="Content Placeholder 6">
            <a:extLst>
              <a:ext uri="{FF2B5EF4-FFF2-40B4-BE49-F238E27FC236}">
                <a16:creationId xmlns:a16="http://schemas.microsoft.com/office/drawing/2014/main" id="{CD20FF09-A418-BE47-BF66-0E826C5923A7}"/>
              </a:ext>
            </a:extLst>
          </p:cNvPr>
          <p:cNvSpPr txBox="1">
            <a:spLocks/>
          </p:cNvSpPr>
          <p:nvPr/>
        </p:nvSpPr>
        <p:spPr>
          <a:xfrm>
            <a:off x="4587240" y="3434331"/>
            <a:ext cx="3073841" cy="423610"/>
          </a:xfrm>
          <a:prstGeom prst="rect">
            <a:avLst/>
          </a:prstGeom>
        </p:spPr>
        <p:txBody>
          <a:bodyPr vert="horz" lIns="91440" tIns="45720" rIns="91440" bIns="45720" rtlCol="0">
            <a:normAutofit fontScale="700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None/>
            </a:pPr>
            <a:r>
              <a:rPr lang="en-US" dirty="0"/>
              <a:t>Case 2: Clause has only 2 literals</a:t>
            </a:r>
          </a:p>
        </p:txBody>
      </p:sp>
      <mc:AlternateContent xmlns:mc="http://schemas.openxmlformats.org/markup-compatibility/2006" xmlns:a14="http://schemas.microsoft.com/office/drawing/2010/main">
        <mc:Choice Requires="a14">
          <p:sp>
            <p:nvSpPr>
              <p:cNvPr id="18" name="Content Placeholder 6">
                <a:extLst>
                  <a:ext uri="{FF2B5EF4-FFF2-40B4-BE49-F238E27FC236}">
                    <a16:creationId xmlns:a16="http://schemas.microsoft.com/office/drawing/2014/main" id="{B36E528F-8F52-F342-B6E9-16EBE60D066F}"/>
                  </a:ext>
                </a:extLst>
              </p:cNvPr>
              <p:cNvSpPr txBox="1">
                <a:spLocks/>
              </p:cNvSpPr>
              <p:nvPr/>
            </p:nvSpPr>
            <p:spPr>
              <a:xfrm>
                <a:off x="4587240" y="3826980"/>
                <a:ext cx="3073841" cy="423611"/>
              </a:xfrm>
              <a:prstGeom prst="rect">
                <a:avLst/>
              </a:prstGeom>
              <a:solidFill>
                <a:schemeClr val="tx1">
                  <a:lumMod val="95000"/>
                </a:schemeClr>
              </a:solidFill>
              <a:ln>
                <a:solidFill>
                  <a:schemeClr val="bg1"/>
                </a:solidFill>
              </a:ln>
            </p:spPr>
            <p:txBody>
              <a:bodyPr vert="horz" lIns="91440" tIns="45720" rIns="91440" bIns="45720" rtlCol="0">
                <a:normAutofit fontScale="625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None/>
                </a:pPr>
                <a14:m>
                  <m:oMathPara xmlns:m="http://schemas.openxmlformats.org/officeDocument/2006/math">
                    <m:oMathParaPr>
                      <m:jc m:val="centerGroup"/>
                    </m:oMathParaPr>
                    <m:oMath xmlns:m="http://schemas.openxmlformats.org/officeDocument/2006/math">
                      <m:r>
                        <a:rPr lang="en-US" b="0" i="1" smtClean="0">
                          <a:solidFill>
                            <a:schemeClr val="bg1"/>
                          </a:solidFill>
                          <a:latin typeface="Cambria Math" panose="02040503050406030204" pitchFamily="18" charset="0"/>
                        </a:rPr>
                        <m:t>(</m:t>
                      </m:r>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𝑣</m:t>
                          </m:r>
                        </m:e>
                        <m:sub>
                          <m:r>
                            <a:rPr lang="en-US" b="0" i="1" smtClean="0">
                              <a:solidFill>
                                <a:schemeClr val="bg1"/>
                              </a:solidFill>
                              <a:latin typeface="Cambria Math" panose="02040503050406030204" pitchFamily="18" charset="0"/>
                            </a:rPr>
                            <m:t>𝑖</m:t>
                          </m:r>
                        </m:sub>
                      </m:sSub>
                      <m:r>
                        <a:rPr lang="en-US" b="0" i="1" smtClean="0">
                          <a:solidFill>
                            <a:schemeClr val="bg1"/>
                          </a:solidFill>
                          <a:latin typeface="Cambria Math" panose="02040503050406030204" pitchFamily="18" charset="0"/>
                        </a:rPr>
                        <m:t>∨</m:t>
                      </m:r>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𝑣</m:t>
                          </m:r>
                        </m:e>
                        <m:sub>
                          <m:r>
                            <a:rPr lang="en-US" b="0" i="1" smtClean="0">
                              <a:solidFill>
                                <a:schemeClr val="bg1"/>
                              </a:solidFill>
                              <a:latin typeface="Cambria Math" panose="02040503050406030204" pitchFamily="18" charset="0"/>
                            </a:rPr>
                            <m:t>𝑗</m:t>
                          </m:r>
                        </m:sub>
                      </m:sSub>
                      <m:r>
                        <a:rPr lang="en-US" b="0" i="1" smtClean="0">
                          <a:solidFill>
                            <a:schemeClr val="bg1"/>
                          </a:solidFill>
                          <a:latin typeface="Cambria Math" panose="02040503050406030204" pitchFamily="18" charset="0"/>
                        </a:rPr>
                        <m:t>)</m:t>
                      </m:r>
                    </m:oMath>
                  </m:oMathPara>
                </a14:m>
                <a:endParaRPr lang="en-US" dirty="0">
                  <a:solidFill>
                    <a:schemeClr val="bg1"/>
                  </a:solidFill>
                </a:endParaRPr>
              </a:p>
            </p:txBody>
          </p:sp>
        </mc:Choice>
        <mc:Fallback xmlns="">
          <p:sp>
            <p:nvSpPr>
              <p:cNvPr id="18" name="Content Placeholder 6">
                <a:extLst>
                  <a:ext uri="{FF2B5EF4-FFF2-40B4-BE49-F238E27FC236}">
                    <a16:creationId xmlns:a16="http://schemas.microsoft.com/office/drawing/2014/main" id="{B36E528F-8F52-F342-B6E9-16EBE60D066F}"/>
                  </a:ext>
                </a:extLst>
              </p:cNvPr>
              <p:cNvSpPr txBox="1">
                <a:spLocks noRot="1" noChangeAspect="1" noMove="1" noResize="1" noEditPoints="1" noAdjustHandles="1" noChangeArrowheads="1" noChangeShapeType="1" noTextEdit="1"/>
              </p:cNvSpPr>
              <p:nvPr/>
            </p:nvSpPr>
            <p:spPr>
              <a:xfrm>
                <a:off x="4587240" y="3826980"/>
                <a:ext cx="3073841" cy="423611"/>
              </a:xfrm>
              <a:prstGeom prst="rect">
                <a:avLst/>
              </a:prstGeom>
              <a:blipFill>
                <a:blip r:embed="rId4"/>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Content Placeholder 6">
                <a:extLst>
                  <a:ext uri="{FF2B5EF4-FFF2-40B4-BE49-F238E27FC236}">
                    <a16:creationId xmlns:a16="http://schemas.microsoft.com/office/drawing/2014/main" id="{C87D34C3-71A4-3746-BC63-28C676505E6A}"/>
                  </a:ext>
                </a:extLst>
              </p:cNvPr>
              <p:cNvSpPr txBox="1">
                <a:spLocks/>
              </p:cNvSpPr>
              <p:nvPr/>
            </p:nvSpPr>
            <p:spPr>
              <a:xfrm>
                <a:off x="4587239" y="5593689"/>
                <a:ext cx="3073841" cy="470269"/>
              </a:xfrm>
              <a:prstGeom prst="rect">
                <a:avLst/>
              </a:prstGeom>
              <a:solidFill>
                <a:schemeClr val="tx1">
                  <a:lumMod val="95000"/>
                </a:schemeClr>
              </a:solidFill>
              <a:ln>
                <a:solidFill>
                  <a:schemeClr val="bg1"/>
                </a:solidFill>
              </a:ln>
            </p:spPr>
            <p:txBody>
              <a:bodyPr vert="horz" lIns="91440" tIns="45720" rIns="91440" bIns="45720" rtlCol="0">
                <a:normAutofit fontScale="700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None/>
                </a:pPr>
                <a14:m>
                  <m:oMathPara xmlns:m="http://schemas.openxmlformats.org/officeDocument/2006/math">
                    <m:oMathParaPr>
                      <m:jc m:val="centerGroup"/>
                    </m:oMathParaPr>
                    <m:oMath xmlns:m="http://schemas.openxmlformats.org/officeDocument/2006/math">
                      <m:d>
                        <m:dPr>
                          <m:ctrlPr>
                            <a:rPr lang="en-US" b="0" i="1" smtClean="0">
                              <a:solidFill>
                                <a:schemeClr val="bg1"/>
                              </a:solidFill>
                              <a:latin typeface="Cambria Math" panose="02040503050406030204" pitchFamily="18" charset="0"/>
                            </a:rPr>
                          </m:ctrlPr>
                        </m:dPr>
                        <m:e>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𝑣</m:t>
                              </m:r>
                            </m:e>
                            <m:sub>
                              <m:r>
                                <a:rPr lang="en-US" b="0" i="1" smtClean="0">
                                  <a:solidFill>
                                    <a:schemeClr val="bg1"/>
                                  </a:solidFill>
                                  <a:latin typeface="Cambria Math" panose="02040503050406030204" pitchFamily="18" charset="0"/>
                                </a:rPr>
                                <m:t>𝑖</m:t>
                              </m:r>
                            </m:sub>
                          </m:sSub>
                          <m:r>
                            <a:rPr lang="en-US" b="0" i="1" smtClean="0">
                              <a:solidFill>
                                <a:schemeClr val="bg1"/>
                              </a:solidFill>
                              <a:latin typeface="Cambria Math" panose="02040503050406030204" pitchFamily="18" charset="0"/>
                            </a:rPr>
                            <m:t>∨</m:t>
                          </m:r>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𝑣</m:t>
                              </m:r>
                            </m:e>
                            <m:sub>
                              <m:r>
                                <a:rPr lang="en-US" b="0" i="1" smtClean="0">
                                  <a:solidFill>
                                    <a:schemeClr val="bg1"/>
                                  </a:solidFill>
                                  <a:latin typeface="Cambria Math" panose="02040503050406030204" pitchFamily="18" charset="0"/>
                                </a:rPr>
                                <m:t>𝑗</m:t>
                              </m:r>
                            </m:sub>
                          </m:sSub>
                          <m:r>
                            <a:rPr lang="en-US" b="0" i="1" smtClean="0">
                              <a:solidFill>
                                <a:schemeClr val="bg1"/>
                              </a:solidFill>
                              <a:latin typeface="Cambria Math" panose="02040503050406030204" pitchFamily="18" charset="0"/>
                            </a:rPr>
                            <m:t>∨</m:t>
                          </m:r>
                          <m:r>
                            <a:rPr lang="en-US" b="0" i="1" smtClean="0">
                              <a:solidFill>
                                <a:schemeClr val="bg1"/>
                              </a:solidFill>
                              <a:latin typeface="Cambria Math" panose="02040503050406030204" pitchFamily="18" charset="0"/>
                            </a:rPr>
                            <m:t>𝑝</m:t>
                          </m:r>
                        </m:e>
                      </m:d>
                      <m:r>
                        <a:rPr lang="en-US" b="0" i="1" smtClean="0">
                          <a:solidFill>
                            <a:schemeClr val="bg1"/>
                          </a:solidFill>
                          <a:latin typeface="Cambria Math" panose="02040503050406030204" pitchFamily="18" charset="0"/>
                        </a:rPr>
                        <m:t>∧</m:t>
                      </m:r>
                      <m:d>
                        <m:dPr>
                          <m:ctrlPr>
                            <a:rPr lang="en-US" b="0" i="1" smtClean="0">
                              <a:solidFill>
                                <a:schemeClr val="bg1"/>
                              </a:solidFill>
                              <a:latin typeface="Cambria Math" panose="02040503050406030204" pitchFamily="18" charset="0"/>
                            </a:rPr>
                          </m:ctrlPr>
                        </m:dPr>
                        <m:e>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𝑣</m:t>
                              </m:r>
                            </m:e>
                            <m:sub>
                              <m:r>
                                <a:rPr lang="en-US" b="0" i="1" smtClean="0">
                                  <a:solidFill>
                                    <a:schemeClr val="bg1"/>
                                  </a:solidFill>
                                  <a:latin typeface="Cambria Math" panose="02040503050406030204" pitchFamily="18" charset="0"/>
                                </a:rPr>
                                <m:t>𝑖</m:t>
                              </m:r>
                            </m:sub>
                          </m:sSub>
                          <m:r>
                            <a:rPr lang="en-US" b="0" i="1" smtClean="0">
                              <a:solidFill>
                                <a:schemeClr val="bg1"/>
                              </a:solidFill>
                              <a:latin typeface="Cambria Math" panose="02040503050406030204" pitchFamily="18" charset="0"/>
                            </a:rPr>
                            <m:t>∨</m:t>
                          </m:r>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𝑣</m:t>
                              </m:r>
                            </m:e>
                            <m:sub>
                              <m:r>
                                <a:rPr lang="en-US" b="0" i="1" smtClean="0">
                                  <a:solidFill>
                                    <a:schemeClr val="bg1"/>
                                  </a:solidFill>
                                  <a:latin typeface="Cambria Math" panose="02040503050406030204" pitchFamily="18" charset="0"/>
                                </a:rPr>
                                <m:t>𝑗</m:t>
                              </m:r>
                            </m:sub>
                          </m:sSub>
                          <m:r>
                            <a:rPr lang="en-US" b="0" i="1" smtClean="0">
                              <a:solidFill>
                                <a:schemeClr val="bg1"/>
                              </a:solidFill>
                              <a:latin typeface="Cambria Math" panose="02040503050406030204" pitchFamily="18" charset="0"/>
                            </a:rPr>
                            <m:t>∨¬</m:t>
                          </m:r>
                          <m:r>
                            <a:rPr lang="en-US" b="0" i="1" smtClean="0">
                              <a:solidFill>
                                <a:schemeClr val="bg1"/>
                              </a:solidFill>
                              <a:latin typeface="Cambria Math" panose="02040503050406030204" pitchFamily="18" charset="0"/>
                            </a:rPr>
                            <m:t>𝑝</m:t>
                          </m:r>
                        </m:e>
                      </m:d>
                    </m:oMath>
                  </m:oMathPara>
                </a14:m>
                <a:endParaRPr lang="en-US" dirty="0">
                  <a:solidFill>
                    <a:schemeClr val="bg1"/>
                  </a:solidFill>
                </a:endParaRPr>
              </a:p>
            </p:txBody>
          </p:sp>
        </mc:Choice>
        <mc:Fallback xmlns="">
          <p:sp>
            <p:nvSpPr>
              <p:cNvPr id="19" name="Content Placeholder 6">
                <a:extLst>
                  <a:ext uri="{FF2B5EF4-FFF2-40B4-BE49-F238E27FC236}">
                    <a16:creationId xmlns:a16="http://schemas.microsoft.com/office/drawing/2014/main" id="{C87D34C3-71A4-3746-BC63-28C676505E6A}"/>
                  </a:ext>
                </a:extLst>
              </p:cNvPr>
              <p:cNvSpPr txBox="1">
                <a:spLocks noRot="1" noChangeAspect="1" noMove="1" noResize="1" noEditPoints="1" noAdjustHandles="1" noChangeArrowheads="1" noChangeShapeType="1" noTextEdit="1"/>
              </p:cNvSpPr>
              <p:nvPr/>
            </p:nvSpPr>
            <p:spPr>
              <a:xfrm>
                <a:off x="4587239" y="5593689"/>
                <a:ext cx="3073841" cy="470269"/>
              </a:xfrm>
              <a:prstGeom prst="rect">
                <a:avLst/>
              </a:prstGeom>
              <a:blipFill>
                <a:blip r:embed="rId5"/>
                <a:stretch>
                  <a:fillRect/>
                </a:stretch>
              </a:blipFill>
              <a:ln>
                <a:solidFill>
                  <a:schemeClr val="bg1"/>
                </a:solidFill>
              </a:ln>
            </p:spPr>
            <p:txBody>
              <a:bodyPr/>
              <a:lstStyle/>
              <a:p>
                <a:r>
                  <a:rPr lang="en-US">
                    <a:noFill/>
                  </a:rPr>
                  <a:t> </a:t>
                </a:r>
              </a:p>
            </p:txBody>
          </p:sp>
        </mc:Fallback>
      </mc:AlternateContent>
      <p:cxnSp>
        <p:nvCxnSpPr>
          <p:cNvPr id="20" name="Straight Arrow Connector 19">
            <a:extLst>
              <a:ext uri="{FF2B5EF4-FFF2-40B4-BE49-F238E27FC236}">
                <a16:creationId xmlns:a16="http://schemas.microsoft.com/office/drawing/2014/main" id="{15170E25-AE8B-F343-A8A9-CEB628C4A1D2}"/>
              </a:ext>
            </a:extLst>
          </p:cNvPr>
          <p:cNvCxnSpPr>
            <a:cxnSpLocks/>
            <a:stCxn id="18" idx="2"/>
            <a:endCxn id="19" idx="0"/>
          </p:cNvCxnSpPr>
          <p:nvPr/>
        </p:nvCxnSpPr>
        <p:spPr>
          <a:xfrm flipH="1">
            <a:off x="6124160" y="4250591"/>
            <a:ext cx="1" cy="1343098"/>
          </a:xfrm>
          <a:prstGeom prst="straightConnector1">
            <a:avLst/>
          </a:prstGeom>
          <a:ln>
            <a:solidFill>
              <a:schemeClr val="tx1">
                <a:lumMod val="9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3" name="Content Placeholder 6">
            <a:extLst>
              <a:ext uri="{FF2B5EF4-FFF2-40B4-BE49-F238E27FC236}">
                <a16:creationId xmlns:a16="http://schemas.microsoft.com/office/drawing/2014/main" id="{E09285C7-4CF5-DB46-8C48-9CB98179FB37}"/>
              </a:ext>
            </a:extLst>
          </p:cNvPr>
          <p:cNvSpPr txBox="1">
            <a:spLocks/>
          </p:cNvSpPr>
          <p:nvPr/>
        </p:nvSpPr>
        <p:spPr>
          <a:xfrm>
            <a:off x="6151596" y="4489704"/>
            <a:ext cx="1509486" cy="786384"/>
          </a:xfrm>
          <a:prstGeom prst="rect">
            <a:avLst/>
          </a:prstGeom>
        </p:spPr>
        <p:txBody>
          <a:bodyPr vert="horz" lIns="91440" tIns="45720" rIns="91440" bIns="45720" rtlCol="0">
            <a:normAutofit fontScale="625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None/>
            </a:pPr>
            <a:r>
              <a:rPr lang="en-US" dirty="0"/>
              <a:t>Becomes:</a:t>
            </a:r>
            <a:br>
              <a:rPr lang="en-US" dirty="0"/>
            </a:br>
            <a:r>
              <a:rPr lang="en-US" dirty="0"/>
              <a:t>Introduce dummy variable p</a:t>
            </a:r>
          </a:p>
        </p:txBody>
      </p:sp>
      <p:sp>
        <p:nvSpPr>
          <p:cNvPr id="26" name="Content Placeholder 6">
            <a:extLst>
              <a:ext uri="{FF2B5EF4-FFF2-40B4-BE49-F238E27FC236}">
                <a16:creationId xmlns:a16="http://schemas.microsoft.com/office/drawing/2014/main" id="{9B9DA80A-A303-A545-9F03-ADE2537EDFE0}"/>
              </a:ext>
            </a:extLst>
          </p:cNvPr>
          <p:cNvSpPr txBox="1">
            <a:spLocks/>
          </p:cNvSpPr>
          <p:nvPr/>
        </p:nvSpPr>
        <p:spPr>
          <a:xfrm>
            <a:off x="1072893" y="3434331"/>
            <a:ext cx="3073841" cy="423610"/>
          </a:xfrm>
          <a:prstGeom prst="rect">
            <a:avLst/>
          </a:prstGeom>
        </p:spPr>
        <p:txBody>
          <a:bodyPr vert="horz" lIns="91440" tIns="45720" rIns="91440" bIns="45720" rtlCol="0">
            <a:normAutofit fontScale="85000"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None/>
            </a:pPr>
            <a:r>
              <a:rPr lang="en-US" dirty="0"/>
              <a:t>Case 1: Clause has 3 literals</a:t>
            </a:r>
          </a:p>
        </p:txBody>
      </p:sp>
      <mc:AlternateContent xmlns:mc="http://schemas.openxmlformats.org/markup-compatibility/2006" xmlns:a14="http://schemas.microsoft.com/office/drawing/2010/main">
        <mc:Choice Requires="a14">
          <p:sp>
            <p:nvSpPr>
              <p:cNvPr id="27" name="Content Placeholder 6">
                <a:extLst>
                  <a:ext uri="{FF2B5EF4-FFF2-40B4-BE49-F238E27FC236}">
                    <a16:creationId xmlns:a16="http://schemas.microsoft.com/office/drawing/2014/main" id="{E0EE379F-A4F3-374F-8B64-C034B49D906A}"/>
                  </a:ext>
                </a:extLst>
              </p:cNvPr>
              <p:cNvSpPr txBox="1">
                <a:spLocks/>
              </p:cNvSpPr>
              <p:nvPr/>
            </p:nvSpPr>
            <p:spPr>
              <a:xfrm>
                <a:off x="1072893" y="3826980"/>
                <a:ext cx="3073841" cy="423611"/>
              </a:xfrm>
              <a:prstGeom prst="rect">
                <a:avLst/>
              </a:prstGeom>
              <a:solidFill>
                <a:schemeClr val="tx1">
                  <a:lumMod val="95000"/>
                </a:schemeClr>
              </a:solidFill>
              <a:ln>
                <a:solidFill>
                  <a:schemeClr val="bg1"/>
                </a:solidFill>
              </a:ln>
            </p:spPr>
            <p:txBody>
              <a:bodyPr vert="horz" lIns="91440" tIns="45720" rIns="91440" bIns="45720" rtlCol="0">
                <a:normAutofit fontScale="625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None/>
                </a:pPr>
                <a14:m>
                  <m:oMathPara xmlns:m="http://schemas.openxmlformats.org/officeDocument/2006/math">
                    <m:oMathParaPr>
                      <m:jc m:val="centerGroup"/>
                    </m:oMathParaPr>
                    <m:oMath xmlns:m="http://schemas.openxmlformats.org/officeDocument/2006/math">
                      <m:r>
                        <a:rPr lang="en-US" b="0" i="1" smtClean="0">
                          <a:solidFill>
                            <a:schemeClr val="bg1"/>
                          </a:solidFill>
                          <a:latin typeface="Cambria Math" panose="02040503050406030204" pitchFamily="18" charset="0"/>
                        </a:rPr>
                        <m:t>(</m:t>
                      </m:r>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𝑣</m:t>
                          </m:r>
                        </m:e>
                        <m:sub>
                          <m:r>
                            <a:rPr lang="en-US" b="0" i="1" smtClean="0">
                              <a:solidFill>
                                <a:schemeClr val="bg1"/>
                              </a:solidFill>
                              <a:latin typeface="Cambria Math" panose="02040503050406030204" pitchFamily="18" charset="0"/>
                            </a:rPr>
                            <m:t>𝑖</m:t>
                          </m:r>
                        </m:sub>
                      </m:sSub>
                      <m:r>
                        <a:rPr lang="en-US" b="0" i="1" smtClean="0">
                          <a:solidFill>
                            <a:schemeClr val="bg1"/>
                          </a:solidFill>
                          <a:latin typeface="Cambria Math" panose="02040503050406030204" pitchFamily="18" charset="0"/>
                        </a:rPr>
                        <m:t>∨</m:t>
                      </m:r>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𝑣</m:t>
                          </m:r>
                        </m:e>
                        <m:sub>
                          <m:r>
                            <a:rPr lang="en-US" b="0" i="1" smtClean="0">
                              <a:solidFill>
                                <a:schemeClr val="bg1"/>
                              </a:solidFill>
                              <a:latin typeface="Cambria Math" panose="02040503050406030204" pitchFamily="18" charset="0"/>
                            </a:rPr>
                            <m:t>𝑗</m:t>
                          </m:r>
                        </m:sub>
                      </m:sSub>
                      <m:r>
                        <a:rPr lang="en-US" b="0" i="1" smtClean="0">
                          <a:solidFill>
                            <a:schemeClr val="bg1"/>
                          </a:solidFill>
                          <a:latin typeface="Cambria Math" panose="02040503050406030204" pitchFamily="18" charset="0"/>
                        </a:rPr>
                        <m:t>∨</m:t>
                      </m:r>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𝑣</m:t>
                          </m:r>
                        </m:e>
                        <m:sub>
                          <m:r>
                            <a:rPr lang="en-US" b="0" i="1" smtClean="0">
                              <a:solidFill>
                                <a:schemeClr val="bg1"/>
                              </a:solidFill>
                              <a:latin typeface="Cambria Math" panose="02040503050406030204" pitchFamily="18" charset="0"/>
                            </a:rPr>
                            <m:t>𝑘</m:t>
                          </m:r>
                        </m:sub>
                      </m:sSub>
                      <m:r>
                        <a:rPr lang="en-US" b="0" i="1" smtClean="0">
                          <a:solidFill>
                            <a:schemeClr val="bg1"/>
                          </a:solidFill>
                          <a:latin typeface="Cambria Math" panose="02040503050406030204" pitchFamily="18" charset="0"/>
                        </a:rPr>
                        <m:t>)</m:t>
                      </m:r>
                    </m:oMath>
                  </m:oMathPara>
                </a14:m>
                <a:endParaRPr lang="en-US" dirty="0">
                  <a:solidFill>
                    <a:schemeClr val="bg1"/>
                  </a:solidFill>
                </a:endParaRPr>
              </a:p>
            </p:txBody>
          </p:sp>
        </mc:Choice>
        <mc:Fallback xmlns="">
          <p:sp>
            <p:nvSpPr>
              <p:cNvPr id="27" name="Content Placeholder 6">
                <a:extLst>
                  <a:ext uri="{FF2B5EF4-FFF2-40B4-BE49-F238E27FC236}">
                    <a16:creationId xmlns:a16="http://schemas.microsoft.com/office/drawing/2014/main" id="{E0EE379F-A4F3-374F-8B64-C034B49D906A}"/>
                  </a:ext>
                </a:extLst>
              </p:cNvPr>
              <p:cNvSpPr txBox="1">
                <a:spLocks noRot="1" noChangeAspect="1" noMove="1" noResize="1" noEditPoints="1" noAdjustHandles="1" noChangeArrowheads="1" noChangeShapeType="1" noTextEdit="1"/>
              </p:cNvSpPr>
              <p:nvPr/>
            </p:nvSpPr>
            <p:spPr>
              <a:xfrm>
                <a:off x="1072893" y="3826980"/>
                <a:ext cx="3073841" cy="423611"/>
              </a:xfrm>
              <a:prstGeom prst="rect">
                <a:avLst/>
              </a:prstGeom>
              <a:blipFill>
                <a:blip r:embed="rId6"/>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Content Placeholder 6">
                <a:extLst>
                  <a:ext uri="{FF2B5EF4-FFF2-40B4-BE49-F238E27FC236}">
                    <a16:creationId xmlns:a16="http://schemas.microsoft.com/office/drawing/2014/main" id="{AA5CDEB7-8636-D14B-95E7-8902F0649BB7}"/>
                  </a:ext>
                </a:extLst>
              </p:cNvPr>
              <p:cNvSpPr txBox="1">
                <a:spLocks/>
              </p:cNvSpPr>
              <p:nvPr/>
            </p:nvSpPr>
            <p:spPr>
              <a:xfrm>
                <a:off x="1072892" y="5593689"/>
                <a:ext cx="3073841" cy="470269"/>
              </a:xfrm>
              <a:prstGeom prst="rect">
                <a:avLst/>
              </a:prstGeom>
              <a:solidFill>
                <a:schemeClr val="tx1">
                  <a:lumMod val="95000"/>
                </a:schemeClr>
              </a:solidFill>
              <a:ln>
                <a:solidFill>
                  <a:schemeClr val="bg1"/>
                </a:solidFill>
              </a:ln>
            </p:spPr>
            <p:txBody>
              <a:bodyPr vert="horz" lIns="91440" tIns="45720" rIns="91440" bIns="45720" rtlCol="0">
                <a:normAutofit fontScale="700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None/>
                </a:pPr>
                <a14:m>
                  <m:oMathPara xmlns:m="http://schemas.openxmlformats.org/officeDocument/2006/math">
                    <m:oMathParaPr>
                      <m:jc m:val="centerGroup"/>
                    </m:oMathParaPr>
                    <m:oMath xmlns:m="http://schemas.openxmlformats.org/officeDocument/2006/math">
                      <m:d>
                        <m:dPr>
                          <m:ctrlPr>
                            <a:rPr lang="en-US" b="0" i="1" smtClean="0">
                              <a:solidFill>
                                <a:schemeClr val="bg1"/>
                              </a:solidFill>
                              <a:latin typeface="Cambria Math" panose="02040503050406030204" pitchFamily="18" charset="0"/>
                            </a:rPr>
                          </m:ctrlPr>
                        </m:dPr>
                        <m:e>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𝑣</m:t>
                              </m:r>
                            </m:e>
                            <m:sub>
                              <m:r>
                                <a:rPr lang="en-US" b="0" i="1" smtClean="0">
                                  <a:solidFill>
                                    <a:schemeClr val="bg1"/>
                                  </a:solidFill>
                                  <a:latin typeface="Cambria Math" panose="02040503050406030204" pitchFamily="18" charset="0"/>
                                </a:rPr>
                                <m:t>𝑖</m:t>
                              </m:r>
                            </m:sub>
                          </m:sSub>
                          <m:r>
                            <a:rPr lang="en-US" b="0" i="1" smtClean="0">
                              <a:solidFill>
                                <a:schemeClr val="bg1"/>
                              </a:solidFill>
                              <a:latin typeface="Cambria Math" panose="02040503050406030204" pitchFamily="18" charset="0"/>
                            </a:rPr>
                            <m:t>∨</m:t>
                          </m:r>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𝑣</m:t>
                              </m:r>
                            </m:e>
                            <m:sub>
                              <m:r>
                                <a:rPr lang="en-US" b="0" i="1" smtClean="0">
                                  <a:solidFill>
                                    <a:schemeClr val="bg1"/>
                                  </a:solidFill>
                                  <a:latin typeface="Cambria Math" panose="02040503050406030204" pitchFamily="18" charset="0"/>
                                </a:rPr>
                                <m:t>𝑗</m:t>
                              </m:r>
                            </m:sub>
                          </m:sSub>
                          <m:r>
                            <a:rPr lang="en-US" b="0" i="1" smtClean="0">
                              <a:solidFill>
                                <a:schemeClr val="bg1"/>
                              </a:solidFill>
                              <a:latin typeface="Cambria Math" panose="02040503050406030204" pitchFamily="18" charset="0"/>
                            </a:rPr>
                            <m:t>∨</m:t>
                          </m:r>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𝑣</m:t>
                              </m:r>
                            </m:e>
                            <m:sub>
                              <m:r>
                                <a:rPr lang="en-US" b="0" i="1" smtClean="0">
                                  <a:solidFill>
                                    <a:schemeClr val="bg1"/>
                                  </a:solidFill>
                                  <a:latin typeface="Cambria Math" panose="02040503050406030204" pitchFamily="18" charset="0"/>
                                </a:rPr>
                                <m:t>𝑘</m:t>
                              </m:r>
                            </m:sub>
                          </m:sSub>
                        </m:e>
                      </m:d>
                    </m:oMath>
                  </m:oMathPara>
                </a14:m>
                <a:endParaRPr lang="en-US" dirty="0">
                  <a:solidFill>
                    <a:schemeClr val="bg1"/>
                  </a:solidFill>
                </a:endParaRPr>
              </a:p>
            </p:txBody>
          </p:sp>
        </mc:Choice>
        <mc:Fallback xmlns="">
          <p:sp>
            <p:nvSpPr>
              <p:cNvPr id="28" name="Content Placeholder 6">
                <a:extLst>
                  <a:ext uri="{FF2B5EF4-FFF2-40B4-BE49-F238E27FC236}">
                    <a16:creationId xmlns:a16="http://schemas.microsoft.com/office/drawing/2014/main" id="{AA5CDEB7-8636-D14B-95E7-8902F0649BB7}"/>
                  </a:ext>
                </a:extLst>
              </p:cNvPr>
              <p:cNvSpPr txBox="1">
                <a:spLocks noRot="1" noChangeAspect="1" noMove="1" noResize="1" noEditPoints="1" noAdjustHandles="1" noChangeArrowheads="1" noChangeShapeType="1" noTextEdit="1"/>
              </p:cNvSpPr>
              <p:nvPr/>
            </p:nvSpPr>
            <p:spPr>
              <a:xfrm>
                <a:off x="1072892" y="5593689"/>
                <a:ext cx="3073841" cy="470269"/>
              </a:xfrm>
              <a:prstGeom prst="rect">
                <a:avLst/>
              </a:prstGeom>
              <a:blipFill>
                <a:blip r:embed="rId7"/>
                <a:stretch>
                  <a:fillRect/>
                </a:stretch>
              </a:blipFill>
              <a:ln>
                <a:solidFill>
                  <a:schemeClr val="bg1"/>
                </a:solidFill>
              </a:ln>
            </p:spPr>
            <p:txBody>
              <a:bodyPr/>
              <a:lstStyle/>
              <a:p>
                <a:r>
                  <a:rPr lang="en-US">
                    <a:noFill/>
                  </a:rPr>
                  <a:t> </a:t>
                </a:r>
              </a:p>
            </p:txBody>
          </p:sp>
        </mc:Fallback>
      </mc:AlternateContent>
      <p:cxnSp>
        <p:nvCxnSpPr>
          <p:cNvPr id="29" name="Straight Arrow Connector 28">
            <a:extLst>
              <a:ext uri="{FF2B5EF4-FFF2-40B4-BE49-F238E27FC236}">
                <a16:creationId xmlns:a16="http://schemas.microsoft.com/office/drawing/2014/main" id="{A9AB96E8-B140-0F45-8EDE-185A797A24DA}"/>
              </a:ext>
            </a:extLst>
          </p:cNvPr>
          <p:cNvCxnSpPr>
            <a:cxnSpLocks/>
            <a:stCxn id="27" idx="2"/>
            <a:endCxn id="28" idx="0"/>
          </p:cNvCxnSpPr>
          <p:nvPr/>
        </p:nvCxnSpPr>
        <p:spPr>
          <a:xfrm flipH="1">
            <a:off x="2609813" y="4250591"/>
            <a:ext cx="1" cy="1343098"/>
          </a:xfrm>
          <a:prstGeom prst="straightConnector1">
            <a:avLst/>
          </a:prstGeom>
          <a:ln>
            <a:solidFill>
              <a:schemeClr val="tx1">
                <a:lumMod val="9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0" name="Content Placeholder 6">
            <a:extLst>
              <a:ext uri="{FF2B5EF4-FFF2-40B4-BE49-F238E27FC236}">
                <a16:creationId xmlns:a16="http://schemas.microsoft.com/office/drawing/2014/main" id="{FCFA03CC-7542-9A41-AA5B-4A15E822489A}"/>
              </a:ext>
            </a:extLst>
          </p:cNvPr>
          <p:cNvSpPr txBox="1">
            <a:spLocks/>
          </p:cNvSpPr>
          <p:nvPr/>
        </p:nvSpPr>
        <p:spPr>
          <a:xfrm>
            <a:off x="2637249" y="4663440"/>
            <a:ext cx="1509486" cy="557784"/>
          </a:xfrm>
          <a:prstGeom prst="rect">
            <a:avLst/>
          </a:prstGeom>
        </p:spPr>
        <p:txBody>
          <a:bodyPr vert="horz" lIns="91440" tIns="45720" rIns="91440" bIns="45720" rtlCol="0">
            <a:normAutofit fontScale="625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None/>
            </a:pPr>
            <a:r>
              <a:rPr lang="en-US" dirty="0"/>
              <a:t>Do nothing, already fine</a:t>
            </a:r>
          </a:p>
        </p:txBody>
      </p:sp>
      <p:cxnSp>
        <p:nvCxnSpPr>
          <p:cNvPr id="32" name="Straight Connector 31">
            <a:extLst>
              <a:ext uri="{FF2B5EF4-FFF2-40B4-BE49-F238E27FC236}">
                <a16:creationId xmlns:a16="http://schemas.microsoft.com/office/drawing/2014/main" id="{260F4D5F-D65D-1E41-8E48-DF0ECD8425A8}"/>
              </a:ext>
            </a:extLst>
          </p:cNvPr>
          <p:cNvCxnSpPr/>
          <p:nvPr/>
        </p:nvCxnSpPr>
        <p:spPr>
          <a:xfrm>
            <a:off x="338328" y="3108960"/>
            <a:ext cx="11466576" cy="0"/>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15996378"/>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p:cNvSpPr>
                <a:spLocks noGrp="1"/>
              </p:cNvSpPr>
              <p:nvPr>
                <p:ph type="title"/>
              </p:nvPr>
            </p:nvSpPr>
            <p:spPr>
              <a:xfrm>
                <a:off x="1141413" y="326848"/>
                <a:ext cx="9905998" cy="603310"/>
              </a:xfrm>
            </p:spPr>
            <p:txBody>
              <a:bodyPr/>
              <a:lstStyle/>
              <a:p>
                <a:pPr algn="ctr"/>
                <a:r>
                  <a:rPr lang="en-US" b="0" dirty="0"/>
                  <a:t>Showing that </a:t>
                </a:r>
                <a14:m>
                  <m:oMath xmlns:m="http://schemas.openxmlformats.org/officeDocument/2006/math">
                    <m:r>
                      <a:rPr lang="en-US" b="0" i="0" dirty="0" smtClean="0">
                        <a:latin typeface="Cambria Math" panose="02040503050406030204" pitchFamily="18" charset="0"/>
                      </a:rPr>
                      <m:t>3</m:t>
                    </m:r>
                    <m:r>
                      <a:rPr lang="en-US" b="0" i="1" dirty="0" smtClean="0">
                        <a:latin typeface="Cambria Math" panose="02040503050406030204" pitchFamily="18" charset="0"/>
                      </a:rPr>
                      <m:t>𝑆𝐴𝑇</m:t>
                    </m:r>
                    <m:r>
                      <a:rPr lang="en-US" b="0" i="1" dirty="0" smtClean="0">
                        <a:latin typeface="Cambria Math" panose="02040503050406030204" pitchFamily="18" charset="0"/>
                      </a:rPr>
                      <m:t>∈</m:t>
                    </m:r>
                    <m:r>
                      <a:rPr lang="en-US" b="0" i="1" dirty="0" smtClean="0">
                        <a:latin typeface="Cambria Math" panose="02040503050406030204" pitchFamily="18" charset="0"/>
                      </a:rPr>
                      <m:t>𝑁𝑃𝐶</m:t>
                    </m:r>
                  </m:oMath>
                </a14:m>
                <a:endParaRPr lang="en-US" dirty="0"/>
              </a:p>
            </p:txBody>
          </p:sp>
        </mc:Choice>
        <mc:Fallback xmlns="">
          <p:sp>
            <p:nvSpPr>
              <p:cNvPr id="2" name="Title 1"/>
              <p:cNvSpPr>
                <a:spLocks noGrp="1" noRot="1" noChangeAspect="1" noMove="1" noResize="1" noEditPoints="1" noAdjustHandles="1" noChangeArrowheads="1" noChangeShapeType="1" noTextEdit="1"/>
              </p:cNvSpPr>
              <p:nvPr>
                <p:ph type="title"/>
              </p:nvPr>
            </p:nvSpPr>
            <p:spPr>
              <a:xfrm>
                <a:off x="1141413" y="326848"/>
                <a:ext cx="9905998" cy="603310"/>
              </a:xfrm>
              <a:blipFill>
                <a:blip r:embed="rId2"/>
                <a:stretch>
                  <a:fillRect t="-22917" b="-3541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Content Placeholder 2"/>
              <p:cNvSpPr>
                <a:spLocks noGrp="1"/>
              </p:cNvSpPr>
              <p:nvPr>
                <p:ph sz="quarter" idx="1"/>
              </p:nvPr>
            </p:nvSpPr>
            <p:spPr>
              <a:xfrm>
                <a:off x="1070468" y="1744991"/>
                <a:ext cx="9905999" cy="477948"/>
              </a:xfrm>
            </p:spPr>
            <p:txBody>
              <a:bodyPr>
                <a:normAutofit/>
              </a:bodyPr>
              <a:lstStyle/>
              <a:p>
                <a:pPr marL="0" indent="0">
                  <a:buNone/>
                </a:pPr>
                <a:r>
                  <a:rPr lang="en-US" sz="1800" dirty="0"/>
                  <a:t>To show that </a:t>
                </a:r>
                <a14:m>
                  <m:oMath xmlns:m="http://schemas.openxmlformats.org/officeDocument/2006/math">
                    <m:r>
                      <a:rPr lang="en-US" sz="1800" b="0" i="0" smtClean="0">
                        <a:latin typeface="Cambria Math" panose="02040503050406030204" pitchFamily="18" charset="0"/>
                      </a:rPr>
                      <m:t>3</m:t>
                    </m:r>
                    <m:r>
                      <a:rPr lang="en-US" sz="1800" b="0" i="1" smtClean="0">
                        <a:latin typeface="Cambria Math" panose="02040503050406030204" pitchFamily="18" charset="0"/>
                      </a:rPr>
                      <m:t>𝑆𝐴𝑇</m:t>
                    </m:r>
                    <m:r>
                      <a:rPr lang="en-US" sz="1800" b="0" i="1" smtClean="0">
                        <a:latin typeface="Cambria Math" panose="02040503050406030204" pitchFamily="18" charset="0"/>
                      </a:rPr>
                      <m:t>∈</m:t>
                    </m:r>
                    <m:r>
                      <a:rPr lang="en-US" sz="1800" b="0" i="1" smtClean="0">
                        <a:latin typeface="Cambria Math" panose="02040503050406030204" pitchFamily="18" charset="0"/>
                      </a:rPr>
                      <m:t>𝑁𝑃𝐶</m:t>
                    </m:r>
                  </m:oMath>
                </a14:m>
                <a:r>
                  <a:rPr lang="en-US" sz="1800" dirty="0"/>
                  <a:t>, we must show both that:</a:t>
                </a:r>
              </a:p>
            </p:txBody>
          </p:sp>
        </mc:Choice>
        <mc:Fallback xmlns="">
          <p:sp>
            <p:nvSpPr>
              <p:cNvPr id="3" name="Content Placeholder 2"/>
              <p:cNvSpPr>
                <a:spLocks noGrp="1" noRot="1" noChangeAspect="1" noMove="1" noResize="1" noEditPoints="1" noAdjustHandles="1" noChangeArrowheads="1" noChangeShapeType="1" noTextEdit="1"/>
              </p:cNvSpPr>
              <p:nvPr>
                <p:ph sz="quarter" idx="1"/>
              </p:nvPr>
            </p:nvSpPr>
            <p:spPr>
              <a:xfrm>
                <a:off x="1070468" y="1744991"/>
                <a:ext cx="9905999" cy="477948"/>
              </a:xfrm>
              <a:blipFill>
                <a:blip r:embed="rId3"/>
                <a:stretch>
                  <a:fillRect l="-513" b="-256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Content Placeholder 2">
                <a:extLst>
                  <a:ext uri="{FF2B5EF4-FFF2-40B4-BE49-F238E27FC236}">
                    <a16:creationId xmlns:a16="http://schemas.microsoft.com/office/drawing/2014/main" id="{12063473-8A28-4A47-9CBA-0765249DEEC2}"/>
                  </a:ext>
                </a:extLst>
              </p:cNvPr>
              <p:cNvSpPr txBox="1">
                <a:spLocks/>
              </p:cNvSpPr>
              <p:nvPr/>
            </p:nvSpPr>
            <p:spPr>
              <a:xfrm>
                <a:off x="1141413" y="2177887"/>
                <a:ext cx="4423817" cy="1779735"/>
              </a:xfrm>
              <a:prstGeom prst="rect">
                <a:avLst/>
              </a:prstGeom>
              <a:solidFill>
                <a:schemeClr val="accent1"/>
              </a:solidFill>
              <a:ln>
                <a:solidFill>
                  <a:schemeClr val="bg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14:m>
                  <m:oMathPara xmlns:m="http://schemas.openxmlformats.org/officeDocument/2006/math">
                    <m:oMathParaPr>
                      <m:jc m:val="center"/>
                    </m:oMathParaPr>
                    <m:oMath xmlns:m="http://schemas.openxmlformats.org/officeDocument/2006/math">
                      <m:r>
                        <a:rPr lang="en-US" sz="1800" b="0" i="1" smtClean="0">
                          <a:solidFill>
                            <a:schemeClr val="bg1"/>
                          </a:solidFill>
                          <a:latin typeface="Cambria Math" panose="02040503050406030204" pitchFamily="18" charset="0"/>
                        </a:rPr>
                        <m:t>3</m:t>
                      </m:r>
                      <m:r>
                        <a:rPr lang="en-US" sz="1800" b="0" i="1" smtClean="0">
                          <a:solidFill>
                            <a:schemeClr val="bg1"/>
                          </a:solidFill>
                          <a:latin typeface="Cambria Math" panose="02040503050406030204" pitchFamily="18" charset="0"/>
                        </a:rPr>
                        <m:t>𝑆𝐴𝑇</m:t>
                      </m:r>
                      <m:r>
                        <a:rPr lang="en-US" sz="1800" b="0" i="1" smtClean="0">
                          <a:solidFill>
                            <a:schemeClr val="bg1"/>
                          </a:solidFill>
                          <a:latin typeface="Cambria Math" panose="02040503050406030204" pitchFamily="18" charset="0"/>
                        </a:rPr>
                        <m:t>∈</m:t>
                      </m:r>
                      <m:r>
                        <a:rPr lang="en-US" sz="1800" b="0" i="1" smtClean="0">
                          <a:solidFill>
                            <a:schemeClr val="bg1"/>
                          </a:solidFill>
                          <a:latin typeface="Cambria Math" panose="02040503050406030204" pitchFamily="18" charset="0"/>
                        </a:rPr>
                        <m:t>𝑁𝑃</m:t>
                      </m:r>
                    </m:oMath>
                  </m:oMathPara>
                </a14:m>
                <a:endParaRPr lang="en-US" sz="1800" dirty="0">
                  <a:solidFill>
                    <a:schemeClr val="bg1"/>
                  </a:solidFill>
                </a:endParaRPr>
              </a:p>
              <a:p>
                <a:pPr marL="0" indent="0" algn="ctr">
                  <a:buFont typeface="Arial" panose="020B0604020202020204" pitchFamily="34" charset="0"/>
                  <a:buNone/>
                </a:pPr>
                <a:endParaRPr lang="en-US" sz="1800" dirty="0">
                  <a:solidFill>
                    <a:schemeClr val="bg1"/>
                  </a:solidFill>
                </a:endParaRPr>
              </a:p>
              <a:p>
                <a:pPr marL="0" indent="0" algn="ctr">
                  <a:buFont typeface="Arial" panose="020B0604020202020204" pitchFamily="34" charset="0"/>
                  <a:buNone/>
                </a:pPr>
                <a:r>
                  <a:rPr lang="en-US" sz="1800" dirty="0">
                    <a:solidFill>
                      <a:schemeClr val="bg1"/>
                    </a:solidFill>
                  </a:rPr>
                  <a:t>Provide a verifier TM that runs in Polynomial Time</a:t>
                </a:r>
              </a:p>
            </p:txBody>
          </p:sp>
        </mc:Choice>
        <mc:Fallback xmlns="">
          <p:sp>
            <p:nvSpPr>
              <p:cNvPr id="5" name="Content Placeholder 2">
                <a:extLst>
                  <a:ext uri="{FF2B5EF4-FFF2-40B4-BE49-F238E27FC236}">
                    <a16:creationId xmlns:a16="http://schemas.microsoft.com/office/drawing/2014/main" id="{12063473-8A28-4A47-9CBA-0765249DEEC2}"/>
                  </a:ext>
                </a:extLst>
              </p:cNvPr>
              <p:cNvSpPr txBox="1">
                <a:spLocks noRot="1" noChangeAspect="1" noMove="1" noResize="1" noEditPoints="1" noAdjustHandles="1" noChangeArrowheads="1" noChangeShapeType="1" noTextEdit="1"/>
              </p:cNvSpPr>
              <p:nvPr/>
            </p:nvSpPr>
            <p:spPr>
              <a:xfrm>
                <a:off x="1141413" y="2177887"/>
                <a:ext cx="4423817" cy="1779735"/>
              </a:xfrm>
              <a:prstGeom prst="rect">
                <a:avLst/>
              </a:prstGeom>
              <a:blipFill>
                <a:blip r:embed="rId4"/>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Content Placeholder 2">
                <a:extLst>
                  <a:ext uri="{FF2B5EF4-FFF2-40B4-BE49-F238E27FC236}">
                    <a16:creationId xmlns:a16="http://schemas.microsoft.com/office/drawing/2014/main" id="{347E063C-4014-2747-B5DF-2F3FAAFF4FDD}"/>
                  </a:ext>
                </a:extLst>
              </p:cNvPr>
              <p:cNvSpPr txBox="1">
                <a:spLocks/>
              </p:cNvSpPr>
              <p:nvPr/>
            </p:nvSpPr>
            <p:spPr>
              <a:xfrm>
                <a:off x="6238048" y="2177886"/>
                <a:ext cx="4423817" cy="1779735"/>
              </a:xfrm>
              <a:prstGeom prst="rect">
                <a:avLst/>
              </a:prstGeom>
              <a:solidFill>
                <a:schemeClr val="accent1"/>
              </a:solidFill>
              <a:ln>
                <a:solidFill>
                  <a:schemeClr val="bg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14:m>
                  <m:oMathPara xmlns:m="http://schemas.openxmlformats.org/officeDocument/2006/math">
                    <m:oMathParaPr>
                      <m:jc m:val="center"/>
                    </m:oMathParaPr>
                    <m:oMath xmlns:m="http://schemas.openxmlformats.org/officeDocument/2006/math">
                      <m:r>
                        <a:rPr lang="en-US" sz="1800" b="0" i="1" smtClean="0">
                          <a:solidFill>
                            <a:schemeClr val="bg1"/>
                          </a:solidFill>
                          <a:latin typeface="Cambria Math" panose="02040503050406030204" pitchFamily="18" charset="0"/>
                        </a:rPr>
                        <m:t>3</m:t>
                      </m:r>
                      <m:r>
                        <a:rPr lang="en-US" sz="1800" b="0" i="1" smtClean="0">
                          <a:solidFill>
                            <a:schemeClr val="bg1"/>
                          </a:solidFill>
                          <a:latin typeface="Cambria Math" panose="02040503050406030204" pitchFamily="18" charset="0"/>
                        </a:rPr>
                        <m:t>𝑆𝐴𝑇</m:t>
                      </m:r>
                      <m:r>
                        <a:rPr lang="en-US" sz="1800" b="0" i="1" smtClean="0">
                          <a:solidFill>
                            <a:schemeClr val="bg1"/>
                          </a:solidFill>
                          <a:latin typeface="Cambria Math" panose="02040503050406030204" pitchFamily="18" charset="0"/>
                        </a:rPr>
                        <m:t>∈</m:t>
                      </m:r>
                      <m:r>
                        <a:rPr lang="en-US" sz="1800" b="0" i="1" smtClean="0">
                          <a:solidFill>
                            <a:schemeClr val="bg1"/>
                          </a:solidFill>
                          <a:latin typeface="Cambria Math" panose="02040503050406030204" pitchFamily="18" charset="0"/>
                        </a:rPr>
                        <m:t>𝑁𝑃</m:t>
                      </m:r>
                      <m:r>
                        <a:rPr lang="en-US" sz="1800" b="0" i="1" smtClean="0">
                          <a:solidFill>
                            <a:schemeClr val="bg1"/>
                          </a:solidFill>
                          <a:latin typeface="Cambria Math" panose="02040503050406030204" pitchFamily="18" charset="0"/>
                        </a:rPr>
                        <m:t>−</m:t>
                      </m:r>
                      <m:r>
                        <a:rPr lang="en-US" sz="1800" b="0" i="1" smtClean="0">
                          <a:solidFill>
                            <a:schemeClr val="bg1"/>
                          </a:solidFill>
                          <a:latin typeface="Cambria Math" panose="02040503050406030204" pitchFamily="18" charset="0"/>
                        </a:rPr>
                        <m:t>𝐻𝐴𝑅𝐷</m:t>
                      </m:r>
                    </m:oMath>
                  </m:oMathPara>
                </a14:m>
                <a:endParaRPr lang="en-US" sz="1800" dirty="0">
                  <a:solidFill>
                    <a:schemeClr val="bg1"/>
                  </a:solidFill>
                </a:endParaRPr>
              </a:p>
              <a:p>
                <a:pPr marL="0" indent="0" algn="ctr">
                  <a:buFont typeface="Arial" panose="020B0604020202020204" pitchFamily="34" charset="0"/>
                  <a:buNone/>
                </a:pPr>
                <a:br>
                  <a:rPr lang="en-US" sz="1800" dirty="0">
                    <a:solidFill>
                      <a:schemeClr val="bg1"/>
                    </a:solidFill>
                  </a:rPr>
                </a:br>
                <a14:m>
                  <m:oMathPara xmlns:m="http://schemas.openxmlformats.org/officeDocument/2006/math">
                    <m:oMathParaPr>
                      <m:jc m:val="centerGroup"/>
                    </m:oMathParaPr>
                    <m:oMath xmlns:m="http://schemas.openxmlformats.org/officeDocument/2006/math">
                      <m:sSub>
                        <m:sSubPr>
                          <m:ctrlPr>
                            <a:rPr lang="en-US" sz="1800" b="1" i="1" smtClean="0">
                              <a:solidFill>
                                <a:schemeClr val="bg1"/>
                              </a:solidFill>
                              <a:latin typeface="Cambria Math" panose="02040503050406030204" pitchFamily="18" charset="0"/>
                            </a:rPr>
                          </m:ctrlPr>
                        </m:sSubPr>
                        <m:e>
                          <m:r>
                            <a:rPr lang="en-US" sz="1800" b="1" i="1" smtClean="0">
                              <a:solidFill>
                                <a:schemeClr val="bg1"/>
                              </a:solidFill>
                              <a:latin typeface="Cambria Math" panose="02040503050406030204" pitchFamily="18" charset="0"/>
                            </a:rPr>
                            <m:t>∃</m:t>
                          </m:r>
                        </m:e>
                        <m:sub>
                          <m:r>
                            <a:rPr lang="en-US" sz="1800" b="1" i="1" smtClean="0">
                              <a:solidFill>
                                <a:schemeClr val="bg1"/>
                              </a:solidFill>
                              <a:latin typeface="Cambria Math" panose="02040503050406030204" pitchFamily="18" charset="0"/>
                            </a:rPr>
                            <m:t>𝒙</m:t>
                          </m:r>
                          <m:r>
                            <a:rPr lang="en-US" sz="1800" b="1" i="1" smtClean="0">
                              <a:solidFill>
                                <a:schemeClr val="bg1"/>
                              </a:solidFill>
                              <a:latin typeface="Cambria Math" panose="02040503050406030204" pitchFamily="18" charset="0"/>
                            </a:rPr>
                            <m:t>∈</m:t>
                          </m:r>
                          <m:r>
                            <a:rPr lang="en-US" sz="1800" b="1" i="1" smtClean="0">
                              <a:solidFill>
                                <a:schemeClr val="bg1"/>
                              </a:solidFill>
                              <a:latin typeface="Cambria Math" panose="02040503050406030204" pitchFamily="18" charset="0"/>
                            </a:rPr>
                            <m:t>𝑵𝑷𝑪</m:t>
                          </m:r>
                        </m:sub>
                      </m:sSub>
                      <m:r>
                        <a:rPr lang="en-US" sz="1800" b="1" i="1" smtClean="0">
                          <a:solidFill>
                            <a:schemeClr val="bg1"/>
                          </a:solidFill>
                          <a:latin typeface="Cambria Math" panose="02040503050406030204" pitchFamily="18" charset="0"/>
                        </a:rPr>
                        <m:t>𝒙</m:t>
                      </m:r>
                      <m:sSub>
                        <m:sSubPr>
                          <m:ctrlPr>
                            <a:rPr lang="en-US" sz="1800" b="1" i="1" smtClean="0">
                              <a:solidFill>
                                <a:schemeClr val="bg1"/>
                              </a:solidFill>
                              <a:latin typeface="Cambria Math" panose="02040503050406030204" pitchFamily="18" charset="0"/>
                            </a:rPr>
                          </m:ctrlPr>
                        </m:sSubPr>
                        <m:e>
                          <m:r>
                            <a:rPr lang="en-US" sz="1800" b="1" i="1" smtClean="0">
                              <a:solidFill>
                                <a:schemeClr val="bg1"/>
                              </a:solidFill>
                              <a:latin typeface="Cambria Math" panose="02040503050406030204" pitchFamily="18" charset="0"/>
                            </a:rPr>
                            <m:t>≤</m:t>
                          </m:r>
                        </m:e>
                        <m:sub>
                          <m:r>
                            <a:rPr lang="en-US" sz="1800" b="1" i="1" smtClean="0">
                              <a:solidFill>
                                <a:schemeClr val="bg1"/>
                              </a:solidFill>
                              <a:latin typeface="Cambria Math" panose="02040503050406030204" pitchFamily="18" charset="0"/>
                            </a:rPr>
                            <m:t>𝒑</m:t>
                          </m:r>
                        </m:sub>
                      </m:sSub>
                      <m:r>
                        <a:rPr lang="en-US" sz="1800" b="1" i="1" smtClean="0">
                          <a:solidFill>
                            <a:schemeClr val="bg1"/>
                          </a:solidFill>
                          <a:latin typeface="Cambria Math" panose="02040503050406030204" pitchFamily="18" charset="0"/>
                        </a:rPr>
                        <m:t>𝟑</m:t>
                      </m:r>
                      <m:r>
                        <a:rPr lang="en-US" sz="1800" b="1" i="1" smtClean="0">
                          <a:solidFill>
                            <a:schemeClr val="bg1"/>
                          </a:solidFill>
                          <a:latin typeface="Cambria Math" panose="02040503050406030204" pitchFamily="18" charset="0"/>
                        </a:rPr>
                        <m:t>𝑺𝑨𝑻</m:t>
                      </m:r>
                    </m:oMath>
                  </m:oMathPara>
                </a14:m>
                <a:endParaRPr lang="en-US" sz="1800" b="1" dirty="0">
                  <a:solidFill>
                    <a:schemeClr val="bg1"/>
                  </a:solidFill>
                </a:endParaRPr>
              </a:p>
            </p:txBody>
          </p:sp>
        </mc:Choice>
        <mc:Fallback xmlns="">
          <p:sp>
            <p:nvSpPr>
              <p:cNvPr id="6" name="Content Placeholder 2">
                <a:extLst>
                  <a:ext uri="{FF2B5EF4-FFF2-40B4-BE49-F238E27FC236}">
                    <a16:creationId xmlns:a16="http://schemas.microsoft.com/office/drawing/2014/main" id="{347E063C-4014-2747-B5DF-2F3FAAFF4FDD}"/>
                  </a:ext>
                </a:extLst>
              </p:cNvPr>
              <p:cNvSpPr txBox="1">
                <a:spLocks noRot="1" noChangeAspect="1" noMove="1" noResize="1" noEditPoints="1" noAdjustHandles="1" noChangeArrowheads="1" noChangeShapeType="1" noTextEdit="1"/>
              </p:cNvSpPr>
              <p:nvPr/>
            </p:nvSpPr>
            <p:spPr>
              <a:xfrm>
                <a:off x="6238048" y="2177886"/>
                <a:ext cx="4423817" cy="1779735"/>
              </a:xfrm>
              <a:prstGeom prst="rect">
                <a:avLst/>
              </a:prstGeom>
              <a:blipFill>
                <a:blip r:embed="rId5"/>
                <a:stretch>
                  <a:fillRect/>
                </a:stretch>
              </a:blipFill>
              <a:ln>
                <a:solidFill>
                  <a:schemeClr val="bg1"/>
                </a:solidFill>
              </a:ln>
            </p:spPr>
            <p:txBody>
              <a:bodyPr/>
              <a:lstStyle/>
              <a:p>
                <a:r>
                  <a:rPr lang="en-US">
                    <a:noFill/>
                  </a:rPr>
                  <a:t> </a:t>
                </a:r>
              </a:p>
            </p:txBody>
          </p:sp>
        </mc:Fallback>
      </mc:AlternateContent>
      <p:sp>
        <p:nvSpPr>
          <p:cNvPr id="11" name="Content Placeholder 2">
            <a:extLst>
              <a:ext uri="{FF2B5EF4-FFF2-40B4-BE49-F238E27FC236}">
                <a16:creationId xmlns:a16="http://schemas.microsoft.com/office/drawing/2014/main" id="{4A28EFFD-022F-1E4E-9149-D8B803B3D932}"/>
              </a:ext>
            </a:extLst>
          </p:cNvPr>
          <p:cNvSpPr txBox="1">
            <a:spLocks/>
          </p:cNvSpPr>
          <p:nvPr/>
        </p:nvSpPr>
        <p:spPr>
          <a:xfrm>
            <a:off x="5026773" y="4937760"/>
            <a:ext cx="1803796" cy="903155"/>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800" dirty="0"/>
              <a:t>We are done!!</a:t>
            </a:r>
          </a:p>
        </p:txBody>
      </p:sp>
    </p:spTree>
    <p:extLst>
      <p:ext uri="{BB962C8B-B14F-4D97-AF65-F5344CB8AC3E}">
        <p14:creationId xmlns:p14="http://schemas.microsoft.com/office/powerpoint/2010/main" val="3191069700"/>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lstStyle/>
          <a:p>
            <a:pPr algn="ctr"/>
            <a:r>
              <a:rPr lang="en-US" dirty="0"/>
              <a:t>Cliques</a:t>
            </a:r>
          </a:p>
        </p:txBody>
      </p:sp>
    </p:spTree>
    <p:extLst>
      <p:ext uri="{BB962C8B-B14F-4D97-AF65-F5344CB8AC3E}">
        <p14:creationId xmlns:p14="http://schemas.microsoft.com/office/powerpoint/2010/main" val="2748725374"/>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a:xfrm>
            <a:off x="1141413" y="220170"/>
            <a:ext cx="9905998" cy="676128"/>
          </a:xfrm>
        </p:spPr>
        <p:txBody>
          <a:bodyPr>
            <a:normAutofit/>
          </a:bodyPr>
          <a:lstStyle/>
          <a:p>
            <a:pPr algn="ctr"/>
            <a:r>
              <a:rPr lang="en-US" dirty="0"/>
              <a:t>Clique</a:t>
            </a:r>
          </a:p>
        </p:txBody>
      </p:sp>
      <p:sp>
        <p:nvSpPr>
          <p:cNvPr id="6" name="Content Placeholder 5"/>
          <p:cNvSpPr>
            <a:spLocks noGrp="1"/>
          </p:cNvSpPr>
          <p:nvPr>
            <p:ph sz="quarter" idx="1"/>
          </p:nvPr>
        </p:nvSpPr>
        <p:spPr>
          <a:xfrm>
            <a:off x="1205879" y="1113580"/>
            <a:ext cx="9777066" cy="1050197"/>
          </a:xfrm>
          <a:solidFill>
            <a:schemeClr val="tx1">
              <a:lumMod val="95000"/>
            </a:schemeClr>
          </a:solidFill>
          <a:ln>
            <a:solidFill>
              <a:schemeClr val="bg1"/>
            </a:solidFill>
          </a:ln>
        </p:spPr>
        <p:txBody>
          <a:bodyPr>
            <a:normAutofit/>
          </a:bodyPr>
          <a:lstStyle/>
          <a:p>
            <a:pPr marL="0" indent="0">
              <a:buNone/>
            </a:pPr>
            <a:r>
              <a:rPr lang="en-US" dirty="0">
                <a:solidFill>
                  <a:schemeClr val="bg1"/>
                </a:solidFill>
              </a:rPr>
              <a:t>A </a:t>
            </a:r>
            <a:r>
              <a:rPr lang="en-US" b="1" u="sng" dirty="0">
                <a:solidFill>
                  <a:schemeClr val="bg1"/>
                </a:solidFill>
              </a:rPr>
              <a:t>Clique</a:t>
            </a:r>
            <a:r>
              <a:rPr lang="en-US" dirty="0">
                <a:solidFill>
                  <a:schemeClr val="bg1"/>
                </a:solidFill>
              </a:rPr>
              <a:t> in a graph G is a set of nodes such that each one is connected to each other in the set</a:t>
            </a:r>
          </a:p>
        </p:txBody>
      </p:sp>
      <p:pic>
        <p:nvPicPr>
          <p:cNvPr id="7" name="Picture 2" descr="images/lecture28/VertexClique.png">
            <a:extLst>
              <a:ext uri="{FF2B5EF4-FFF2-40B4-BE49-F238E27FC236}">
                <a16:creationId xmlns:a16="http://schemas.microsoft.com/office/drawing/2014/main" id="{93C118D8-E2BB-5D46-99DB-53DFEEC5D76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449985" y="2888354"/>
            <a:ext cx="5478208" cy="3295163"/>
          </a:xfrm>
          <a:prstGeom prst="rect">
            <a:avLst/>
          </a:prstGeom>
          <a:noFill/>
          <a:extLst>
            <a:ext uri="{909E8E84-426E-40DD-AFC4-6F175D3DCCD1}">
              <a14:hiddenFill xmlns:a14="http://schemas.microsoft.com/office/drawing/2010/main">
                <a:solidFill>
                  <a:srgbClr val="FFFFFF"/>
                </a:solidFill>
              </a14:hiddenFill>
            </a:ext>
          </a:extLst>
        </p:spPr>
      </p:pic>
      <p:sp>
        <p:nvSpPr>
          <p:cNvPr id="8" name="Content Placeholder 2">
            <a:extLst>
              <a:ext uri="{FF2B5EF4-FFF2-40B4-BE49-F238E27FC236}">
                <a16:creationId xmlns:a16="http://schemas.microsoft.com/office/drawing/2014/main" id="{7814680D-30F3-114B-AEB1-1932B601B4B9}"/>
              </a:ext>
            </a:extLst>
          </p:cNvPr>
          <p:cNvSpPr txBox="1">
            <a:spLocks/>
          </p:cNvSpPr>
          <p:nvPr/>
        </p:nvSpPr>
        <p:spPr>
          <a:xfrm>
            <a:off x="7767879" y="2922523"/>
            <a:ext cx="3476530" cy="861821"/>
          </a:xfrm>
          <a:prstGeom prst="rect">
            <a:avLst/>
          </a:prstGeom>
          <a:no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2000" i="1" dirty="0">
                <a:solidFill>
                  <a:schemeClr val="tx1">
                    <a:lumMod val="95000"/>
                  </a:schemeClr>
                </a:solidFill>
              </a:rPr>
              <a:t>In other words, it is a maximal sub-graph of G</a:t>
            </a:r>
          </a:p>
        </p:txBody>
      </p:sp>
      <p:cxnSp>
        <p:nvCxnSpPr>
          <p:cNvPr id="9" name="Straight Connector 8">
            <a:extLst>
              <a:ext uri="{FF2B5EF4-FFF2-40B4-BE49-F238E27FC236}">
                <a16:creationId xmlns:a16="http://schemas.microsoft.com/office/drawing/2014/main" id="{995C29B9-3037-7E4C-897D-8560D4005B76}"/>
              </a:ext>
            </a:extLst>
          </p:cNvPr>
          <p:cNvCxnSpPr>
            <a:cxnSpLocks/>
          </p:cNvCxnSpPr>
          <p:nvPr/>
        </p:nvCxnSpPr>
        <p:spPr>
          <a:xfrm flipV="1">
            <a:off x="7043596" y="3257620"/>
            <a:ext cx="813314" cy="418088"/>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
        <p:nvSpPr>
          <p:cNvPr id="10" name="Content Placeholder 2">
            <a:extLst>
              <a:ext uri="{FF2B5EF4-FFF2-40B4-BE49-F238E27FC236}">
                <a16:creationId xmlns:a16="http://schemas.microsoft.com/office/drawing/2014/main" id="{882643D6-88BE-134B-A2F3-7587EAB54B6A}"/>
              </a:ext>
            </a:extLst>
          </p:cNvPr>
          <p:cNvSpPr txBox="1">
            <a:spLocks/>
          </p:cNvSpPr>
          <p:nvPr/>
        </p:nvSpPr>
        <p:spPr>
          <a:xfrm>
            <a:off x="7856910" y="5148171"/>
            <a:ext cx="3476530" cy="861821"/>
          </a:xfrm>
          <a:prstGeom prst="rect">
            <a:avLst/>
          </a:prstGeom>
          <a:noFill/>
          <a:ln>
            <a:solidFill>
              <a:schemeClr val="tx1">
                <a:lumMod val="95000"/>
              </a:schemeClr>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2000" i="1" dirty="0">
                <a:solidFill>
                  <a:schemeClr val="tx1">
                    <a:lumMod val="95000"/>
                  </a:schemeClr>
                </a:solidFill>
              </a:rPr>
              <a:t>Problem: Find the maximum size clique in a graph G</a:t>
            </a:r>
          </a:p>
        </p:txBody>
      </p:sp>
      <p:cxnSp>
        <p:nvCxnSpPr>
          <p:cNvPr id="11" name="Straight Connector 10">
            <a:extLst>
              <a:ext uri="{FF2B5EF4-FFF2-40B4-BE49-F238E27FC236}">
                <a16:creationId xmlns:a16="http://schemas.microsoft.com/office/drawing/2014/main" id="{37AFFD20-7FBD-DE4E-B347-2FED5635B8B7}"/>
              </a:ext>
            </a:extLst>
          </p:cNvPr>
          <p:cNvCxnSpPr>
            <a:cxnSpLocks/>
          </p:cNvCxnSpPr>
          <p:nvPr/>
        </p:nvCxnSpPr>
        <p:spPr>
          <a:xfrm>
            <a:off x="6985894" y="5048581"/>
            <a:ext cx="781985" cy="229589"/>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30367332"/>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a:xfrm>
            <a:off x="1141413" y="220170"/>
            <a:ext cx="9905998" cy="676128"/>
          </a:xfrm>
        </p:spPr>
        <p:txBody>
          <a:bodyPr>
            <a:normAutofit/>
          </a:bodyPr>
          <a:lstStyle/>
          <a:p>
            <a:pPr algn="ctr"/>
            <a:r>
              <a:rPr lang="en-US" dirty="0"/>
              <a:t>Clique</a:t>
            </a:r>
          </a:p>
        </p:txBody>
      </p:sp>
      <p:sp>
        <p:nvSpPr>
          <p:cNvPr id="6" name="Content Placeholder 5"/>
          <p:cNvSpPr>
            <a:spLocks noGrp="1"/>
          </p:cNvSpPr>
          <p:nvPr>
            <p:ph sz="quarter" idx="1"/>
          </p:nvPr>
        </p:nvSpPr>
        <p:spPr>
          <a:xfrm>
            <a:off x="1205879" y="1113580"/>
            <a:ext cx="9777066" cy="1050197"/>
          </a:xfrm>
          <a:solidFill>
            <a:schemeClr val="tx1">
              <a:lumMod val="95000"/>
            </a:schemeClr>
          </a:solidFill>
          <a:ln>
            <a:solidFill>
              <a:schemeClr val="bg1"/>
            </a:solidFill>
          </a:ln>
        </p:spPr>
        <p:txBody>
          <a:bodyPr>
            <a:normAutofit/>
          </a:bodyPr>
          <a:lstStyle/>
          <a:p>
            <a:pPr marL="0" indent="0">
              <a:buNone/>
            </a:pPr>
            <a:r>
              <a:rPr lang="en-US" dirty="0">
                <a:solidFill>
                  <a:schemeClr val="bg1"/>
                </a:solidFill>
              </a:rPr>
              <a:t>A </a:t>
            </a:r>
            <a:r>
              <a:rPr lang="en-US" b="1" u="sng" dirty="0">
                <a:solidFill>
                  <a:schemeClr val="bg1"/>
                </a:solidFill>
              </a:rPr>
              <a:t>Clique</a:t>
            </a:r>
            <a:r>
              <a:rPr lang="en-US" dirty="0">
                <a:solidFill>
                  <a:schemeClr val="bg1"/>
                </a:solidFill>
              </a:rPr>
              <a:t> in a graph G is a set of nodes such that each one is connected to each other in the set</a:t>
            </a:r>
          </a:p>
        </p:txBody>
      </p:sp>
      <p:pic>
        <p:nvPicPr>
          <p:cNvPr id="7" name="Picture 2" descr="images/lecture28/VertexClique.png">
            <a:extLst>
              <a:ext uri="{FF2B5EF4-FFF2-40B4-BE49-F238E27FC236}">
                <a16:creationId xmlns:a16="http://schemas.microsoft.com/office/drawing/2014/main" id="{93C118D8-E2BB-5D46-99DB-53DFEEC5D76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244317" y="2779713"/>
            <a:ext cx="4936356" cy="2969237"/>
          </a:xfrm>
          <a:prstGeom prst="rect">
            <a:avLst/>
          </a:prstGeom>
          <a:noFill/>
          <a:extLst>
            <a:ext uri="{909E8E84-426E-40DD-AFC4-6F175D3DCCD1}">
              <a14:hiddenFill xmlns:a14="http://schemas.microsoft.com/office/drawing/2010/main">
                <a:solidFill>
                  <a:srgbClr val="FFFFFF"/>
                </a:solidFill>
              </a14:hiddenFill>
            </a:ext>
          </a:extLst>
        </p:spPr>
      </p:pic>
      <p:sp>
        <p:nvSpPr>
          <p:cNvPr id="10" name="Content Placeholder 2">
            <a:extLst>
              <a:ext uri="{FF2B5EF4-FFF2-40B4-BE49-F238E27FC236}">
                <a16:creationId xmlns:a16="http://schemas.microsoft.com/office/drawing/2014/main" id="{882643D6-88BE-134B-A2F3-7587EAB54B6A}"/>
              </a:ext>
            </a:extLst>
          </p:cNvPr>
          <p:cNvSpPr txBox="1">
            <a:spLocks/>
          </p:cNvSpPr>
          <p:nvPr/>
        </p:nvSpPr>
        <p:spPr>
          <a:xfrm>
            <a:off x="6455122" y="3259540"/>
            <a:ext cx="4527824" cy="1891875"/>
          </a:xfrm>
          <a:prstGeom prst="rect">
            <a:avLst/>
          </a:prstGeom>
          <a:noFill/>
          <a:ln>
            <a:solidFill>
              <a:schemeClr val="tx1">
                <a:lumMod val="95000"/>
              </a:schemeClr>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2000" i="1" dirty="0">
                <a:solidFill>
                  <a:schemeClr val="tx1">
                    <a:lumMod val="95000"/>
                  </a:schemeClr>
                </a:solidFill>
              </a:rPr>
              <a:t>Can we frame this as a </a:t>
            </a:r>
            <a:r>
              <a:rPr lang="en-US" sz="2000" b="1" i="1" u="sng" dirty="0">
                <a:solidFill>
                  <a:schemeClr val="tx1">
                    <a:lumMod val="95000"/>
                  </a:schemeClr>
                </a:solidFill>
              </a:rPr>
              <a:t>Decision Problem</a:t>
            </a:r>
            <a:r>
              <a:rPr lang="en-US" sz="2000" i="1" dirty="0">
                <a:solidFill>
                  <a:schemeClr val="tx1">
                    <a:lumMod val="95000"/>
                  </a:schemeClr>
                </a:solidFill>
              </a:rPr>
              <a:t>?</a:t>
            </a:r>
          </a:p>
          <a:p>
            <a:pPr marL="0" indent="0" algn="ctr">
              <a:buFont typeface="Arial" panose="020B0604020202020204" pitchFamily="34" charset="0"/>
              <a:buNone/>
            </a:pPr>
            <a:endParaRPr lang="en-US" sz="2000" i="1" dirty="0">
              <a:solidFill>
                <a:schemeClr val="tx1">
                  <a:lumMod val="95000"/>
                </a:schemeClr>
              </a:solidFill>
            </a:endParaRPr>
          </a:p>
          <a:p>
            <a:pPr marL="0" indent="0" algn="ctr">
              <a:buFont typeface="Arial" panose="020B0604020202020204" pitchFamily="34" charset="0"/>
              <a:buNone/>
            </a:pPr>
            <a:r>
              <a:rPr lang="en-US" sz="2000" i="1" dirty="0">
                <a:solidFill>
                  <a:schemeClr val="tx1">
                    <a:lumMod val="95000"/>
                  </a:schemeClr>
                </a:solidFill>
              </a:rPr>
              <a:t>Given a graph G and an integer k, return Yes </a:t>
            </a:r>
            <a:r>
              <a:rPr lang="en-US" sz="2000" i="1" dirty="0" err="1">
                <a:solidFill>
                  <a:schemeClr val="tx1">
                    <a:lumMod val="95000"/>
                  </a:schemeClr>
                </a:solidFill>
              </a:rPr>
              <a:t>iff</a:t>
            </a:r>
            <a:r>
              <a:rPr lang="en-US" sz="2000" i="1" dirty="0">
                <a:solidFill>
                  <a:schemeClr val="tx1">
                    <a:lumMod val="95000"/>
                  </a:schemeClr>
                </a:solidFill>
              </a:rPr>
              <a:t> G has a clique of size k or larger.</a:t>
            </a:r>
          </a:p>
        </p:txBody>
      </p:sp>
    </p:spTree>
    <p:extLst>
      <p:ext uri="{BB962C8B-B14F-4D97-AF65-F5344CB8AC3E}">
        <p14:creationId xmlns:p14="http://schemas.microsoft.com/office/powerpoint/2010/main" val="2415190200"/>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p:cNvSpPr>
                <a:spLocks noGrp="1"/>
              </p:cNvSpPr>
              <p:nvPr>
                <p:ph type="title"/>
              </p:nvPr>
            </p:nvSpPr>
            <p:spPr>
              <a:xfrm>
                <a:off x="1141413" y="326848"/>
                <a:ext cx="9905998" cy="603310"/>
              </a:xfrm>
            </p:spPr>
            <p:txBody>
              <a:bodyPr/>
              <a:lstStyle/>
              <a:p>
                <a:pPr algn="ctr"/>
                <a:r>
                  <a:rPr lang="en-US" b="0" dirty="0"/>
                  <a:t>Showing that </a:t>
                </a:r>
                <a14:m>
                  <m:oMath xmlns:m="http://schemas.openxmlformats.org/officeDocument/2006/math">
                    <m:r>
                      <m:rPr>
                        <m:sty m:val="p"/>
                      </m:rPr>
                      <a:rPr lang="en-US" dirty="0">
                        <a:latin typeface="Cambria Math" panose="02040503050406030204" pitchFamily="18" charset="0"/>
                      </a:rPr>
                      <m:t>C</m:t>
                    </m:r>
                    <m:r>
                      <m:rPr>
                        <m:sty m:val="p"/>
                      </m:rPr>
                      <a:rPr lang="en-US" b="0" i="0" dirty="0" smtClean="0">
                        <a:latin typeface="Cambria Math" panose="02040503050406030204" pitchFamily="18" charset="0"/>
                      </a:rPr>
                      <m:t>lique</m:t>
                    </m:r>
                    <m:r>
                      <a:rPr lang="en-US" b="0" i="1" dirty="0" smtClean="0">
                        <a:latin typeface="Cambria Math" panose="02040503050406030204" pitchFamily="18" charset="0"/>
                      </a:rPr>
                      <m:t>∈</m:t>
                    </m:r>
                    <m:r>
                      <a:rPr lang="en-US" b="0" i="1" dirty="0" smtClean="0">
                        <a:latin typeface="Cambria Math" panose="02040503050406030204" pitchFamily="18" charset="0"/>
                      </a:rPr>
                      <m:t>𝑁𝑃𝐶</m:t>
                    </m:r>
                  </m:oMath>
                </a14:m>
                <a:endParaRPr lang="en-US" dirty="0"/>
              </a:p>
            </p:txBody>
          </p:sp>
        </mc:Choice>
        <mc:Fallback xmlns="">
          <p:sp>
            <p:nvSpPr>
              <p:cNvPr id="2" name="Title 1"/>
              <p:cNvSpPr>
                <a:spLocks noGrp="1" noRot="1" noChangeAspect="1" noMove="1" noResize="1" noEditPoints="1" noAdjustHandles="1" noChangeArrowheads="1" noChangeShapeType="1" noTextEdit="1"/>
              </p:cNvSpPr>
              <p:nvPr>
                <p:ph type="title"/>
              </p:nvPr>
            </p:nvSpPr>
            <p:spPr>
              <a:xfrm>
                <a:off x="1141413" y="326848"/>
                <a:ext cx="9905998" cy="603310"/>
              </a:xfrm>
              <a:blipFill>
                <a:blip r:embed="rId2"/>
                <a:stretch>
                  <a:fillRect t="-22917" b="-3541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Content Placeholder 2"/>
              <p:cNvSpPr>
                <a:spLocks noGrp="1"/>
              </p:cNvSpPr>
              <p:nvPr>
                <p:ph sz="quarter" idx="1"/>
              </p:nvPr>
            </p:nvSpPr>
            <p:spPr>
              <a:xfrm>
                <a:off x="1070468" y="1744991"/>
                <a:ext cx="9905999" cy="477948"/>
              </a:xfrm>
            </p:spPr>
            <p:txBody>
              <a:bodyPr>
                <a:normAutofit/>
              </a:bodyPr>
              <a:lstStyle/>
              <a:p>
                <a:pPr marL="0" indent="0">
                  <a:buNone/>
                </a:pPr>
                <a:r>
                  <a:rPr lang="en-US" sz="1800" dirty="0"/>
                  <a:t>To show that </a:t>
                </a:r>
                <a14:m>
                  <m:oMath xmlns:m="http://schemas.openxmlformats.org/officeDocument/2006/math">
                    <m:r>
                      <a:rPr lang="en-US" sz="1800" b="0" i="1" smtClean="0">
                        <a:latin typeface="Cambria Math" panose="02040503050406030204" pitchFamily="18" charset="0"/>
                      </a:rPr>
                      <m:t>𝐶𝑙𝑖𝑞𝑢𝑒</m:t>
                    </m:r>
                    <m:r>
                      <a:rPr lang="en-US" sz="1800" b="0" i="1" smtClean="0">
                        <a:latin typeface="Cambria Math" panose="02040503050406030204" pitchFamily="18" charset="0"/>
                      </a:rPr>
                      <m:t>∈</m:t>
                    </m:r>
                    <m:r>
                      <a:rPr lang="en-US" sz="1800" b="0" i="1" smtClean="0">
                        <a:latin typeface="Cambria Math" panose="02040503050406030204" pitchFamily="18" charset="0"/>
                      </a:rPr>
                      <m:t>𝑁𝑃𝐶</m:t>
                    </m:r>
                  </m:oMath>
                </a14:m>
                <a:r>
                  <a:rPr lang="en-US" sz="1800" dirty="0"/>
                  <a:t>, we must show both that:</a:t>
                </a:r>
              </a:p>
            </p:txBody>
          </p:sp>
        </mc:Choice>
        <mc:Fallback xmlns="">
          <p:sp>
            <p:nvSpPr>
              <p:cNvPr id="3" name="Content Placeholder 2"/>
              <p:cNvSpPr>
                <a:spLocks noGrp="1" noRot="1" noChangeAspect="1" noMove="1" noResize="1" noEditPoints="1" noAdjustHandles="1" noChangeArrowheads="1" noChangeShapeType="1" noTextEdit="1"/>
              </p:cNvSpPr>
              <p:nvPr>
                <p:ph sz="quarter" idx="1"/>
              </p:nvPr>
            </p:nvSpPr>
            <p:spPr>
              <a:xfrm>
                <a:off x="1070468" y="1744991"/>
                <a:ext cx="9905999" cy="477948"/>
              </a:xfrm>
              <a:blipFill>
                <a:blip r:embed="rId3"/>
                <a:stretch>
                  <a:fillRect l="-513" b="-256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Content Placeholder 2">
                <a:extLst>
                  <a:ext uri="{FF2B5EF4-FFF2-40B4-BE49-F238E27FC236}">
                    <a16:creationId xmlns:a16="http://schemas.microsoft.com/office/drawing/2014/main" id="{12063473-8A28-4A47-9CBA-0765249DEEC2}"/>
                  </a:ext>
                </a:extLst>
              </p:cNvPr>
              <p:cNvSpPr txBox="1">
                <a:spLocks/>
              </p:cNvSpPr>
              <p:nvPr/>
            </p:nvSpPr>
            <p:spPr>
              <a:xfrm>
                <a:off x="1141413" y="2177887"/>
                <a:ext cx="4423817" cy="1779735"/>
              </a:xfrm>
              <a:prstGeom prst="rect">
                <a:avLst/>
              </a:prstGeom>
              <a:solidFill>
                <a:schemeClr val="tx1">
                  <a:lumMod val="95000"/>
                </a:schemeClr>
              </a:solidFill>
              <a:ln>
                <a:solidFill>
                  <a:schemeClr val="bg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14:m>
                  <m:oMathPara xmlns:m="http://schemas.openxmlformats.org/officeDocument/2006/math">
                    <m:oMathParaPr>
                      <m:jc m:val="center"/>
                    </m:oMathParaPr>
                    <m:oMath xmlns:m="http://schemas.openxmlformats.org/officeDocument/2006/math">
                      <m:r>
                        <m:rPr>
                          <m:sty m:val="p"/>
                        </m:rPr>
                        <a:rPr lang="en-US" sz="1800" i="1" smtClean="0">
                          <a:solidFill>
                            <a:schemeClr val="bg1"/>
                          </a:solidFill>
                          <a:latin typeface="Cambria Math" panose="02040503050406030204" pitchFamily="18" charset="0"/>
                        </a:rPr>
                        <m:t>C</m:t>
                      </m:r>
                      <m:r>
                        <a:rPr lang="en-US" sz="1800" b="0" i="1" smtClean="0">
                          <a:solidFill>
                            <a:schemeClr val="bg1"/>
                          </a:solidFill>
                          <a:latin typeface="Cambria Math" panose="02040503050406030204" pitchFamily="18" charset="0"/>
                        </a:rPr>
                        <m:t>𝑙𝑖𝑞𝑢𝑒</m:t>
                      </m:r>
                      <m:r>
                        <a:rPr lang="en-US" sz="1800" b="0" i="1" smtClean="0">
                          <a:solidFill>
                            <a:schemeClr val="bg1"/>
                          </a:solidFill>
                          <a:latin typeface="Cambria Math" panose="02040503050406030204" pitchFamily="18" charset="0"/>
                        </a:rPr>
                        <m:t>∈</m:t>
                      </m:r>
                      <m:r>
                        <a:rPr lang="en-US" sz="1800" b="0" i="1" smtClean="0">
                          <a:solidFill>
                            <a:schemeClr val="bg1"/>
                          </a:solidFill>
                          <a:latin typeface="Cambria Math" panose="02040503050406030204" pitchFamily="18" charset="0"/>
                        </a:rPr>
                        <m:t>𝑁𝑃</m:t>
                      </m:r>
                    </m:oMath>
                  </m:oMathPara>
                </a14:m>
                <a:endParaRPr lang="en-US" sz="1800" dirty="0">
                  <a:solidFill>
                    <a:schemeClr val="bg1"/>
                  </a:solidFill>
                </a:endParaRPr>
              </a:p>
              <a:p>
                <a:pPr marL="0" indent="0" algn="ctr">
                  <a:buFont typeface="Arial" panose="020B0604020202020204" pitchFamily="34" charset="0"/>
                  <a:buNone/>
                </a:pPr>
                <a:endParaRPr lang="en-US" sz="1800" dirty="0">
                  <a:solidFill>
                    <a:schemeClr val="bg1"/>
                  </a:solidFill>
                </a:endParaRPr>
              </a:p>
              <a:p>
                <a:pPr marL="0" indent="0" algn="ctr">
                  <a:buFont typeface="Arial" panose="020B0604020202020204" pitchFamily="34" charset="0"/>
                  <a:buNone/>
                </a:pPr>
                <a:r>
                  <a:rPr lang="en-US" sz="1800" dirty="0">
                    <a:solidFill>
                      <a:schemeClr val="bg1"/>
                    </a:solidFill>
                  </a:rPr>
                  <a:t>Provide a verifier TM that runs in Polynomial Time</a:t>
                </a:r>
              </a:p>
            </p:txBody>
          </p:sp>
        </mc:Choice>
        <mc:Fallback xmlns="">
          <p:sp>
            <p:nvSpPr>
              <p:cNvPr id="5" name="Content Placeholder 2">
                <a:extLst>
                  <a:ext uri="{FF2B5EF4-FFF2-40B4-BE49-F238E27FC236}">
                    <a16:creationId xmlns:a16="http://schemas.microsoft.com/office/drawing/2014/main" id="{12063473-8A28-4A47-9CBA-0765249DEEC2}"/>
                  </a:ext>
                </a:extLst>
              </p:cNvPr>
              <p:cNvSpPr txBox="1">
                <a:spLocks noRot="1" noChangeAspect="1" noMove="1" noResize="1" noEditPoints="1" noAdjustHandles="1" noChangeArrowheads="1" noChangeShapeType="1" noTextEdit="1"/>
              </p:cNvSpPr>
              <p:nvPr/>
            </p:nvSpPr>
            <p:spPr>
              <a:xfrm>
                <a:off x="1141413" y="2177887"/>
                <a:ext cx="4423817" cy="1779735"/>
              </a:xfrm>
              <a:prstGeom prst="rect">
                <a:avLst/>
              </a:prstGeom>
              <a:blipFill>
                <a:blip r:embed="rId4"/>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Content Placeholder 2">
                <a:extLst>
                  <a:ext uri="{FF2B5EF4-FFF2-40B4-BE49-F238E27FC236}">
                    <a16:creationId xmlns:a16="http://schemas.microsoft.com/office/drawing/2014/main" id="{347E063C-4014-2747-B5DF-2F3FAAFF4FDD}"/>
                  </a:ext>
                </a:extLst>
              </p:cNvPr>
              <p:cNvSpPr txBox="1">
                <a:spLocks/>
              </p:cNvSpPr>
              <p:nvPr/>
            </p:nvSpPr>
            <p:spPr>
              <a:xfrm>
                <a:off x="6238048" y="2177886"/>
                <a:ext cx="4423817" cy="1779735"/>
              </a:xfrm>
              <a:prstGeom prst="rect">
                <a:avLst/>
              </a:prstGeom>
              <a:solidFill>
                <a:schemeClr val="tx1">
                  <a:lumMod val="95000"/>
                </a:schemeClr>
              </a:solidFill>
              <a:ln>
                <a:solidFill>
                  <a:schemeClr val="bg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14:m>
                  <m:oMathPara xmlns:m="http://schemas.openxmlformats.org/officeDocument/2006/math">
                    <m:oMathParaPr>
                      <m:jc m:val="center"/>
                    </m:oMathParaPr>
                    <m:oMath xmlns:m="http://schemas.openxmlformats.org/officeDocument/2006/math">
                      <m:r>
                        <m:rPr>
                          <m:sty m:val="p"/>
                        </m:rPr>
                        <a:rPr lang="en-US" sz="1800" i="1" smtClean="0">
                          <a:solidFill>
                            <a:schemeClr val="bg1"/>
                          </a:solidFill>
                          <a:latin typeface="Cambria Math" panose="02040503050406030204" pitchFamily="18" charset="0"/>
                        </a:rPr>
                        <m:t>C</m:t>
                      </m:r>
                      <m:r>
                        <a:rPr lang="en-US" sz="1800" b="0" i="1" smtClean="0">
                          <a:solidFill>
                            <a:schemeClr val="bg1"/>
                          </a:solidFill>
                          <a:latin typeface="Cambria Math" panose="02040503050406030204" pitchFamily="18" charset="0"/>
                        </a:rPr>
                        <m:t>𝑙𝑖𝑞𝑢𝑒</m:t>
                      </m:r>
                      <m:r>
                        <a:rPr lang="en-US" sz="1800" b="0" i="1" smtClean="0">
                          <a:solidFill>
                            <a:schemeClr val="bg1"/>
                          </a:solidFill>
                          <a:latin typeface="Cambria Math" panose="02040503050406030204" pitchFamily="18" charset="0"/>
                        </a:rPr>
                        <m:t>∈</m:t>
                      </m:r>
                      <m:r>
                        <a:rPr lang="en-US" sz="1800" b="0" i="1" smtClean="0">
                          <a:solidFill>
                            <a:schemeClr val="bg1"/>
                          </a:solidFill>
                          <a:latin typeface="Cambria Math" panose="02040503050406030204" pitchFamily="18" charset="0"/>
                        </a:rPr>
                        <m:t>𝑁𝑃</m:t>
                      </m:r>
                      <m:r>
                        <a:rPr lang="en-US" sz="1800" b="0" i="1" smtClean="0">
                          <a:solidFill>
                            <a:schemeClr val="bg1"/>
                          </a:solidFill>
                          <a:latin typeface="Cambria Math" panose="02040503050406030204" pitchFamily="18" charset="0"/>
                        </a:rPr>
                        <m:t>−</m:t>
                      </m:r>
                      <m:r>
                        <a:rPr lang="en-US" sz="1800" b="0" i="1" smtClean="0">
                          <a:solidFill>
                            <a:schemeClr val="bg1"/>
                          </a:solidFill>
                          <a:latin typeface="Cambria Math" panose="02040503050406030204" pitchFamily="18" charset="0"/>
                        </a:rPr>
                        <m:t>𝐻𝐴𝑅𝐷</m:t>
                      </m:r>
                    </m:oMath>
                  </m:oMathPara>
                </a14:m>
                <a:endParaRPr lang="en-US" sz="1800" dirty="0">
                  <a:solidFill>
                    <a:schemeClr val="bg1"/>
                  </a:solidFill>
                </a:endParaRPr>
              </a:p>
              <a:p>
                <a:pPr marL="0" indent="0" algn="ctr">
                  <a:buFont typeface="Arial" panose="020B0604020202020204" pitchFamily="34" charset="0"/>
                  <a:buNone/>
                </a:pPr>
                <a:br>
                  <a:rPr lang="en-US" sz="1800" dirty="0">
                    <a:solidFill>
                      <a:schemeClr val="bg1"/>
                    </a:solidFill>
                  </a:rPr>
                </a:br>
                <a14:m>
                  <m:oMathPara xmlns:m="http://schemas.openxmlformats.org/officeDocument/2006/math">
                    <m:oMathParaPr>
                      <m:jc m:val="centerGroup"/>
                    </m:oMathParaPr>
                    <m:oMath xmlns:m="http://schemas.openxmlformats.org/officeDocument/2006/math">
                      <m:sSub>
                        <m:sSubPr>
                          <m:ctrlPr>
                            <a:rPr lang="en-US" sz="1800" b="1" i="1" smtClean="0">
                              <a:solidFill>
                                <a:schemeClr val="bg1"/>
                              </a:solidFill>
                              <a:latin typeface="Cambria Math" panose="02040503050406030204" pitchFamily="18" charset="0"/>
                            </a:rPr>
                          </m:ctrlPr>
                        </m:sSubPr>
                        <m:e>
                          <m:r>
                            <a:rPr lang="en-US" sz="1800" b="1" i="1" smtClean="0">
                              <a:solidFill>
                                <a:schemeClr val="bg1"/>
                              </a:solidFill>
                              <a:latin typeface="Cambria Math" panose="02040503050406030204" pitchFamily="18" charset="0"/>
                            </a:rPr>
                            <m:t>∃</m:t>
                          </m:r>
                        </m:e>
                        <m:sub>
                          <m:r>
                            <a:rPr lang="en-US" sz="1800" b="1" i="1" smtClean="0">
                              <a:solidFill>
                                <a:schemeClr val="bg1"/>
                              </a:solidFill>
                              <a:latin typeface="Cambria Math" panose="02040503050406030204" pitchFamily="18" charset="0"/>
                            </a:rPr>
                            <m:t>𝒙</m:t>
                          </m:r>
                          <m:r>
                            <a:rPr lang="en-US" sz="1800" b="1" i="1" smtClean="0">
                              <a:solidFill>
                                <a:schemeClr val="bg1"/>
                              </a:solidFill>
                              <a:latin typeface="Cambria Math" panose="02040503050406030204" pitchFamily="18" charset="0"/>
                            </a:rPr>
                            <m:t>∈</m:t>
                          </m:r>
                          <m:r>
                            <a:rPr lang="en-US" sz="1800" b="1" i="1" smtClean="0">
                              <a:solidFill>
                                <a:schemeClr val="bg1"/>
                              </a:solidFill>
                              <a:latin typeface="Cambria Math" panose="02040503050406030204" pitchFamily="18" charset="0"/>
                            </a:rPr>
                            <m:t>𝑵𝑷𝑪</m:t>
                          </m:r>
                        </m:sub>
                      </m:sSub>
                      <m:r>
                        <a:rPr lang="en-US" sz="1800" b="1" i="1" smtClean="0">
                          <a:solidFill>
                            <a:schemeClr val="bg1"/>
                          </a:solidFill>
                          <a:latin typeface="Cambria Math" panose="02040503050406030204" pitchFamily="18" charset="0"/>
                        </a:rPr>
                        <m:t>𝒙</m:t>
                      </m:r>
                      <m:sSub>
                        <m:sSubPr>
                          <m:ctrlPr>
                            <a:rPr lang="en-US" sz="1800" b="1" i="1" smtClean="0">
                              <a:solidFill>
                                <a:schemeClr val="bg1"/>
                              </a:solidFill>
                              <a:latin typeface="Cambria Math" panose="02040503050406030204" pitchFamily="18" charset="0"/>
                            </a:rPr>
                          </m:ctrlPr>
                        </m:sSubPr>
                        <m:e>
                          <m:r>
                            <a:rPr lang="en-US" sz="1800" b="1" i="1" smtClean="0">
                              <a:solidFill>
                                <a:schemeClr val="bg1"/>
                              </a:solidFill>
                              <a:latin typeface="Cambria Math" panose="02040503050406030204" pitchFamily="18" charset="0"/>
                            </a:rPr>
                            <m:t>≤</m:t>
                          </m:r>
                        </m:e>
                        <m:sub>
                          <m:r>
                            <a:rPr lang="en-US" sz="1800" b="1" i="1" smtClean="0">
                              <a:solidFill>
                                <a:schemeClr val="bg1"/>
                              </a:solidFill>
                              <a:latin typeface="Cambria Math" panose="02040503050406030204" pitchFamily="18" charset="0"/>
                            </a:rPr>
                            <m:t>𝒑</m:t>
                          </m:r>
                        </m:sub>
                      </m:sSub>
                      <m:r>
                        <a:rPr lang="en-US" sz="1800" b="1" i="1" smtClean="0">
                          <a:solidFill>
                            <a:schemeClr val="bg1"/>
                          </a:solidFill>
                          <a:latin typeface="Cambria Math" panose="02040503050406030204" pitchFamily="18" charset="0"/>
                        </a:rPr>
                        <m:t>𝑪𝒍𝒊𝒒𝒖𝒆</m:t>
                      </m:r>
                    </m:oMath>
                  </m:oMathPara>
                </a14:m>
                <a:endParaRPr lang="en-US" sz="1800" b="1" dirty="0">
                  <a:solidFill>
                    <a:schemeClr val="bg1"/>
                  </a:solidFill>
                </a:endParaRPr>
              </a:p>
            </p:txBody>
          </p:sp>
        </mc:Choice>
        <mc:Fallback xmlns="">
          <p:sp>
            <p:nvSpPr>
              <p:cNvPr id="6" name="Content Placeholder 2">
                <a:extLst>
                  <a:ext uri="{FF2B5EF4-FFF2-40B4-BE49-F238E27FC236}">
                    <a16:creationId xmlns:a16="http://schemas.microsoft.com/office/drawing/2014/main" id="{347E063C-4014-2747-B5DF-2F3FAAFF4FDD}"/>
                  </a:ext>
                </a:extLst>
              </p:cNvPr>
              <p:cNvSpPr txBox="1">
                <a:spLocks noRot="1" noChangeAspect="1" noMove="1" noResize="1" noEditPoints="1" noAdjustHandles="1" noChangeArrowheads="1" noChangeShapeType="1" noTextEdit="1"/>
              </p:cNvSpPr>
              <p:nvPr/>
            </p:nvSpPr>
            <p:spPr>
              <a:xfrm>
                <a:off x="6238048" y="2177886"/>
                <a:ext cx="4423817" cy="1779735"/>
              </a:xfrm>
              <a:prstGeom prst="rect">
                <a:avLst/>
              </a:prstGeom>
              <a:blipFill>
                <a:blip r:embed="rId5"/>
                <a:stretch>
                  <a:fillRect/>
                </a:stretch>
              </a:blipFill>
              <a:ln>
                <a:solidFill>
                  <a:schemeClr val="bg1"/>
                </a:solidFill>
              </a:ln>
            </p:spPr>
            <p:txBody>
              <a:bodyPr/>
              <a:lstStyle/>
              <a:p>
                <a:r>
                  <a:rPr lang="en-US">
                    <a:noFill/>
                  </a:rPr>
                  <a:t> </a:t>
                </a:r>
              </a:p>
            </p:txBody>
          </p:sp>
        </mc:Fallback>
      </mc:AlternateContent>
      <p:sp>
        <p:nvSpPr>
          <p:cNvPr id="11" name="Content Placeholder 2">
            <a:extLst>
              <a:ext uri="{FF2B5EF4-FFF2-40B4-BE49-F238E27FC236}">
                <a16:creationId xmlns:a16="http://schemas.microsoft.com/office/drawing/2014/main" id="{4A28EFFD-022F-1E4E-9149-D8B803B3D932}"/>
              </a:ext>
            </a:extLst>
          </p:cNvPr>
          <p:cNvSpPr txBox="1">
            <a:spLocks/>
          </p:cNvSpPr>
          <p:nvPr/>
        </p:nvSpPr>
        <p:spPr>
          <a:xfrm>
            <a:off x="2030075" y="4883440"/>
            <a:ext cx="1835755" cy="983206"/>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800" dirty="0"/>
              <a:t>As usual, this one is pretty simple</a:t>
            </a:r>
          </a:p>
        </p:txBody>
      </p:sp>
      <p:sp>
        <p:nvSpPr>
          <p:cNvPr id="7" name="Content Placeholder 2">
            <a:extLst>
              <a:ext uri="{FF2B5EF4-FFF2-40B4-BE49-F238E27FC236}">
                <a16:creationId xmlns:a16="http://schemas.microsoft.com/office/drawing/2014/main" id="{DB788968-185B-D64E-99C3-8E54573B8CD3}"/>
              </a:ext>
            </a:extLst>
          </p:cNvPr>
          <p:cNvSpPr txBox="1">
            <a:spLocks/>
          </p:cNvSpPr>
          <p:nvPr/>
        </p:nvSpPr>
        <p:spPr>
          <a:xfrm>
            <a:off x="8384099" y="5153534"/>
            <a:ext cx="2199403" cy="983206"/>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800" dirty="0"/>
              <a:t>For this one, we can choose SAT or 3-SAT</a:t>
            </a:r>
          </a:p>
        </p:txBody>
      </p:sp>
      <p:cxnSp>
        <p:nvCxnSpPr>
          <p:cNvPr id="8" name="Straight Connector 7">
            <a:extLst>
              <a:ext uri="{FF2B5EF4-FFF2-40B4-BE49-F238E27FC236}">
                <a16:creationId xmlns:a16="http://schemas.microsoft.com/office/drawing/2014/main" id="{30E16DAD-3F7A-1949-893B-94CA289CB518}"/>
              </a:ext>
            </a:extLst>
          </p:cNvPr>
          <p:cNvCxnSpPr>
            <a:cxnSpLocks/>
          </p:cNvCxnSpPr>
          <p:nvPr/>
        </p:nvCxnSpPr>
        <p:spPr>
          <a:xfrm flipV="1">
            <a:off x="2946664" y="4074059"/>
            <a:ext cx="330690" cy="734547"/>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39C2CEF3-2E7B-F64D-99FA-02BC2649D1B5}"/>
              </a:ext>
            </a:extLst>
          </p:cNvPr>
          <p:cNvCxnSpPr>
            <a:cxnSpLocks/>
          </p:cNvCxnSpPr>
          <p:nvPr/>
        </p:nvCxnSpPr>
        <p:spPr>
          <a:xfrm flipH="1" flipV="1">
            <a:off x="8449956" y="4074059"/>
            <a:ext cx="551967" cy="1108159"/>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73713163"/>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p:cNvSpPr>
                <a:spLocks noGrp="1"/>
              </p:cNvSpPr>
              <p:nvPr>
                <p:ph type="title"/>
              </p:nvPr>
            </p:nvSpPr>
            <p:spPr>
              <a:xfrm>
                <a:off x="1141413" y="326848"/>
                <a:ext cx="9905998" cy="603310"/>
              </a:xfrm>
            </p:spPr>
            <p:txBody>
              <a:bodyPr/>
              <a:lstStyle/>
              <a:p>
                <a:pPr algn="ctr"/>
                <a:r>
                  <a:rPr lang="en-US" b="0" dirty="0"/>
                  <a:t>Showing that </a:t>
                </a:r>
                <a14:m>
                  <m:oMath xmlns:m="http://schemas.openxmlformats.org/officeDocument/2006/math">
                    <m:r>
                      <m:rPr>
                        <m:sty m:val="p"/>
                      </m:rPr>
                      <a:rPr lang="en-US" dirty="0">
                        <a:latin typeface="Cambria Math" panose="02040503050406030204" pitchFamily="18" charset="0"/>
                      </a:rPr>
                      <m:t>C</m:t>
                    </m:r>
                    <m:r>
                      <m:rPr>
                        <m:sty m:val="p"/>
                      </m:rPr>
                      <a:rPr lang="en-US" b="0" i="0" dirty="0" smtClean="0">
                        <a:latin typeface="Cambria Math" panose="02040503050406030204" pitchFamily="18" charset="0"/>
                      </a:rPr>
                      <m:t>lique</m:t>
                    </m:r>
                    <m:r>
                      <a:rPr lang="en-US" b="0" i="1" dirty="0" smtClean="0">
                        <a:latin typeface="Cambria Math" panose="02040503050406030204" pitchFamily="18" charset="0"/>
                      </a:rPr>
                      <m:t>∈</m:t>
                    </m:r>
                    <m:r>
                      <a:rPr lang="en-US" b="0" i="1" dirty="0" smtClean="0">
                        <a:latin typeface="Cambria Math" panose="02040503050406030204" pitchFamily="18" charset="0"/>
                      </a:rPr>
                      <m:t>𝑁𝑃𝐶</m:t>
                    </m:r>
                  </m:oMath>
                </a14:m>
                <a:endParaRPr lang="en-US" dirty="0"/>
              </a:p>
            </p:txBody>
          </p:sp>
        </mc:Choice>
        <mc:Fallback xmlns="">
          <p:sp>
            <p:nvSpPr>
              <p:cNvPr id="2" name="Title 1"/>
              <p:cNvSpPr>
                <a:spLocks noGrp="1" noRot="1" noChangeAspect="1" noMove="1" noResize="1" noEditPoints="1" noAdjustHandles="1" noChangeArrowheads="1" noChangeShapeType="1" noTextEdit="1"/>
              </p:cNvSpPr>
              <p:nvPr>
                <p:ph type="title"/>
              </p:nvPr>
            </p:nvSpPr>
            <p:spPr>
              <a:xfrm>
                <a:off x="1141413" y="326848"/>
                <a:ext cx="9905998" cy="603310"/>
              </a:xfrm>
              <a:blipFill>
                <a:blip r:embed="rId2"/>
                <a:stretch>
                  <a:fillRect t="-22917" b="-3541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Content Placeholder 2">
                <a:extLst>
                  <a:ext uri="{FF2B5EF4-FFF2-40B4-BE49-F238E27FC236}">
                    <a16:creationId xmlns:a16="http://schemas.microsoft.com/office/drawing/2014/main" id="{12063473-8A28-4A47-9CBA-0765249DEEC2}"/>
                  </a:ext>
                </a:extLst>
              </p:cNvPr>
              <p:cNvSpPr txBox="1">
                <a:spLocks/>
              </p:cNvSpPr>
              <p:nvPr/>
            </p:nvSpPr>
            <p:spPr>
              <a:xfrm>
                <a:off x="1141413" y="2177887"/>
                <a:ext cx="4423817" cy="1779735"/>
              </a:xfrm>
              <a:prstGeom prst="rect">
                <a:avLst/>
              </a:prstGeom>
              <a:solidFill>
                <a:schemeClr val="accent1"/>
              </a:solidFill>
              <a:ln>
                <a:solidFill>
                  <a:schemeClr val="bg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14:m>
                  <m:oMathPara xmlns:m="http://schemas.openxmlformats.org/officeDocument/2006/math">
                    <m:oMathParaPr>
                      <m:jc m:val="center"/>
                    </m:oMathParaPr>
                    <m:oMath xmlns:m="http://schemas.openxmlformats.org/officeDocument/2006/math">
                      <m:r>
                        <m:rPr>
                          <m:sty m:val="p"/>
                        </m:rPr>
                        <a:rPr lang="en-US" sz="1800" i="1" smtClean="0">
                          <a:solidFill>
                            <a:schemeClr val="bg1"/>
                          </a:solidFill>
                          <a:latin typeface="Cambria Math" panose="02040503050406030204" pitchFamily="18" charset="0"/>
                        </a:rPr>
                        <m:t>C</m:t>
                      </m:r>
                      <m:r>
                        <a:rPr lang="en-US" sz="1800" b="0" i="1" smtClean="0">
                          <a:solidFill>
                            <a:schemeClr val="bg1"/>
                          </a:solidFill>
                          <a:latin typeface="Cambria Math" panose="02040503050406030204" pitchFamily="18" charset="0"/>
                        </a:rPr>
                        <m:t>𝑙𝑖𝑞𝑢𝑒</m:t>
                      </m:r>
                      <m:r>
                        <a:rPr lang="en-US" sz="1800" b="0" i="1" smtClean="0">
                          <a:solidFill>
                            <a:schemeClr val="bg1"/>
                          </a:solidFill>
                          <a:latin typeface="Cambria Math" panose="02040503050406030204" pitchFamily="18" charset="0"/>
                        </a:rPr>
                        <m:t>∈</m:t>
                      </m:r>
                      <m:r>
                        <a:rPr lang="en-US" sz="1800" b="0" i="1" smtClean="0">
                          <a:solidFill>
                            <a:schemeClr val="bg1"/>
                          </a:solidFill>
                          <a:latin typeface="Cambria Math" panose="02040503050406030204" pitchFamily="18" charset="0"/>
                        </a:rPr>
                        <m:t>𝑁𝑃</m:t>
                      </m:r>
                    </m:oMath>
                  </m:oMathPara>
                </a14:m>
                <a:endParaRPr lang="en-US" sz="1800" dirty="0">
                  <a:solidFill>
                    <a:schemeClr val="bg1"/>
                  </a:solidFill>
                </a:endParaRPr>
              </a:p>
              <a:p>
                <a:pPr marL="0" indent="0" algn="ctr">
                  <a:buFont typeface="Arial" panose="020B0604020202020204" pitchFamily="34" charset="0"/>
                  <a:buNone/>
                </a:pPr>
                <a:endParaRPr lang="en-US" sz="1800" dirty="0">
                  <a:solidFill>
                    <a:schemeClr val="bg1"/>
                  </a:solidFill>
                </a:endParaRPr>
              </a:p>
              <a:p>
                <a:pPr marL="0" indent="0" algn="ctr">
                  <a:buFont typeface="Arial" panose="020B0604020202020204" pitchFamily="34" charset="0"/>
                  <a:buNone/>
                </a:pPr>
                <a:r>
                  <a:rPr lang="en-US" sz="1800" dirty="0">
                    <a:solidFill>
                      <a:schemeClr val="bg1"/>
                    </a:solidFill>
                  </a:rPr>
                  <a:t>Provide a verifier TM that runs in Polynomial Time</a:t>
                </a:r>
              </a:p>
            </p:txBody>
          </p:sp>
        </mc:Choice>
        <mc:Fallback xmlns="">
          <p:sp>
            <p:nvSpPr>
              <p:cNvPr id="5" name="Content Placeholder 2">
                <a:extLst>
                  <a:ext uri="{FF2B5EF4-FFF2-40B4-BE49-F238E27FC236}">
                    <a16:creationId xmlns:a16="http://schemas.microsoft.com/office/drawing/2014/main" id="{12063473-8A28-4A47-9CBA-0765249DEEC2}"/>
                  </a:ext>
                </a:extLst>
              </p:cNvPr>
              <p:cNvSpPr txBox="1">
                <a:spLocks noRot="1" noChangeAspect="1" noMove="1" noResize="1" noEditPoints="1" noAdjustHandles="1" noChangeArrowheads="1" noChangeShapeType="1" noTextEdit="1"/>
              </p:cNvSpPr>
              <p:nvPr/>
            </p:nvSpPr>
            <p:spPr>
              <a:xfrm>
                <a:off x="1141413" y="2177887"/>
                <a:ext cx="4423817" cy="1779735"/>
              </a:xfrm>
              <a:prstGeom prst="rect">
                <a:avLst/>
              </a:prstGeom>
              <a:blipFill>
                <a:blip r:embed="rId3"/>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Content Placeholder 2">
                <a:extLst>
                  <a:ext uri="{FF2B5EF4-FFF2-40B4-BE49-F238E27FC236}">
                    <a16:creationId xmlns:a16="http://schemas.microsoft.com/office/drawing/2014/main" id="{4A28EFFD-022F-1E4E-9149-D8B803B3D932}"/>
                  </a:ext>
                </a:extLst>
              </p:cNvPr>
              <p:cNvSpPr txBox="1">
                <a:spLocks/>
              </p:cNvSpPr>
              <p:nvPr/>
            </p:nvSpPr>
            <p:spPr>
              <a:xfrm>
                <a:off x="6094412" y="2177887"/>
                <a:ext cx="4952999" cy="3145551"/>
              </a:xfrm>
              <a:prstGeom prst="rect">
                <a:avLst/>
              </a:prstGeom>
              <a:ln>
                <a:solidFill>
                  <a:schemeClr val="tx1">
                    <a:lumMod val="95000"/>
                  </a:schemeClr>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800" b="1" u="sng" dirty="0"/>
                  <a:t>Verifier</a:t>
                </a:r>
                <a:r>
                  <a:rPr lang="en-US" sz="1800" dirty="0"/>
                  <a:t>:</a:t>
                </a:r>
              </a:p>
              <a:p>
                <a:pPr marL="0" indent="0">
                  <a:buFont typeface="Arial" panose="020B0604020202020204" pitchFamily="34" charset="0"/>
                  <a:buNone/>
                </a:pPr>
                <a:r>
                  <a:rPr lang="en-US" sz="1800" dirty="0"/>
                  <a:t>Given G, k, and a subset </a:t>
                </a:r>
                <a14:m>
                  <m:oMath xmlns:m="http://schemas.openxmlformats.org/officeDocument/2006/math">
                    <m:sSup>
                      <m:sSupPr>
                        <m:ctrlPr>
                          <a:rPr lang="en-US" sz="1800" b="0" i="1" smtClean="0">
                            <a:latin typeface="Cambria Math" panose="02040503050406030204" pitchFamily="18" charset="0"/>
                          </a:rPr>
                        </m:ctrlPr>
                      </m:sSupPr>
                      <m:e>
                        <m:r>
                          <a:rPr lang="en-US" sz="1800" b="0" i="1" smtClean="0">
                            <a:latin typeface="Cambria Math" panose="02040503050406030204" pitchFamily="18" charset="0"/>
                          </a:rPr>
                          <m:t>𝑉</m:t>
                        </m:r>
                      </m:e>
                      <m:sup>
                        <m:r>
                          <a:rPr lang="en-US" sz="1800" b="0" i="1" smtClean="0">
                            <a:latin typeface="Cambria Math" panose="02040503050406030204" pitchFamily="18" charset="0"/>
                          </a:rPr>
                          <m:t>′</m:t>
                        </m:r>
                      </m:sup>
                    </m:sSup>
                    <m:r>
                      <a:rPr lang="en-US" sz="1800" b="0" i="1" smtClean="0">
                        <a:latin typeface="Cambria Math" panose="02040503050406030204" pitchFamily="18" charset="0"/>
                      </a:rPr>
                      <m:t>⊆</m:t>
                    </m:r>
                    <m:r>
                      <a:rPr lang="en-US" sz="1800" b="0" i="1" smtClean="0">
                        <a:latin typeface="Cambria Math" panose="02040503050406030204" pitchFamily="18" charset="0"/>
                      </a:rPr>
                      <m:t>𝑉</m:t>
                    </m:r>
                  </m:oMath>
                </a14:m>
                <a:r>
                  <a:rPr lang="en-US" sz="1800" dirty="0"/>
                  <a:t> of nodes</a:t>
                </a:r>
              </a:p>
              <a:p>
                <a:pPr marL="342900" indent="-342900">
                  <a:buFont typeface="Arial" panose="020B0604020202020204" pitchFamily="34" charset="0"/>
                  <a:buAutoNum type="arabicPeriod"/>
                </a:pPr>
                <a:r>
                  <a:rPr lang="en-US" sz="1800" dirty="0"/>
                  <a:t>Verify that number of nodes in V’ is k or larger</a:t>
                </a:r>
              </a:p>
              <a:p>
                <a:pPr marL="342900" indent="-342900">
                  <a:buFont typeface="Arial" panose="020B0604020202020204" pitchFamily="34" charset="0"/>
                  <a:buAutoNum type="arabicPeriod"/>
                </a:pPr>
                <a:r>
                  <a:rPr lang="en-US" sz="1800" dirty="0"/>
                  <a:t>For each pair of nodes (</a:t>
                </a:r>
                <a:r>
                  <a:rPr lang="en-US" sz="1800" dirty="0" err="1"/>
                  <a:t>p,q</a:t>
                </a:r>
                <a:r>
                  <a:rPr lang="en-US" sz="1800" dirty="0"/>
                  <a:t>) in V’:</a:t>
                </a:r>
              </a:p>
              <a:p>
                <a:pPr marL="800100" lvl="1" indent="-342900">
                  <a:buFont typeface="Arial" panose="020B0604020202020204" pitchFamily="34" charset="0"/>
                  <a:buAutoNum type="arabicPeriod"/>
                </a:pPr>
                <a:r>
                  <a:rPr lang="en-US" sz="1400" dirty="0"/>
                  <a:t>check that edge </a:t>
                </a:r>
                <a:r>
                  <a:rPr lang="en-US" sz="1400" dirty="0" err="1"/>
                  <a:t>p,q</a:t>
                </a:r>
                <a:r>
                  <a:rPr lang="en-US" sz="1400" dirty="0"/>
                  <a:t> exists in G</a:t>
                </a:r>
              </a:p>
              <a:p>
                <a:pPr marL="800100" lvl="1" indent="-342900">
                  <a:buFont typeface="Arial" panose="020B0604020202020204" pitchFamily="34" charset="0"/>
                  <a:buAutoNum type="arabicPeriod"/>
                </a:pPr>
                <a:r>
                  <a:rPr lang="en-US" sz="1400" dirty="0"/>
                  <a:t>If not, return </a:t>
                </a:r>
                <a:r>
                  <a:rPr lang="en-US" sz="1400" b="1" u="sng" dirty="0"/>
                  <a:t>NO</a:t>
                </a:r>
              </a:p>
              <a:p>
                <a:pPr marL="342900" indent="-342900">
                  <a:buFont typeface="Arial" panose="020B0604020202020204" pitchFamily="34" charset="0"/>
                  <a:buAutoNum type="arabicPeriod"/>
                </a:pPr>
                <a:r>
                  <a:rPr lang="en-US" sz="1800" dirty="0"/>
                  <a:t>Return </a:t>
                </a:r>
                <a:r>
                  <a:rPr lang="en-US" sz="1800" b="1" u="sng" dirty="0"/>
                  <a:t>YES</a:t>
                </a:r>
              </a:p>
            </p:txBody>
          </p:sp>
        </mc:Choice>
        <mc:Fallback xmlns="">
          <p:sp>
            <p:nvSpPr>
              <p:cNvPr id="11" name="Content Placeholder 2">
                <a:extLst>
                  <a:ext uri="{FF2B5EF4-FFF2-40B4-BE49-F238E27FC236}">
                    <a16:creationId xmlns:a16="http://schemas.microsoft.com/office/drawing/2014/main" id="{4A28EFFD-022F-1E4E-9149-D8B803B3D932}"/>
                  </a:ext>
                </a:extLst>
              </p:cNvPr>
              <p:cNvSpPr txBox="1">
                <a:spLocks noRot="1" noChangeAspect="1" noMove="1" noResize="1" noEditPoints="1" noAdjustHandles="1" noChangeArrowheads="1" noChangeShapeType="1" noTextEdit="1"/>
              </p:cNvSpPr>
              <p:nvPr/>
            </p:nvSpPr>
            <p:spPr>
              <a:xfrm>
                <a:off x="6094412" y="2177887"/>
                <a:ext cx="4952999" cy="3145551"/>
              </a:xfrm>
              <a:prstGeom prst="rect">
                <a:avLst/>
              </a:prstGeom>
              <a:blipFill>
                <a:blip r:embed="rId4"/>
                <a:stretch>
                  <a:fillRect l="-1535"/>
                </a:stretch>
              </a:blipFill>
              <a:ln>
                <a:solidFill>
                  <a:schemeClr val="tx1">
                    <a:lumMod val="95000"/>
                  </a:schemeClr>
                </a:solidFill>
              </a:ln>
            </p:spPr>
            <p:txBody>
              <a:bodyPr/>
              <a:lstStyle/>
              <a:p>
                <a:r>
                  <a:rPr lang="en-US">
                    <a:noFill/>
                  </a:rPr>
                  <a:t> </a:t>
                </a:r>
              </a:p>
            </p:txBody>
          </p:sp>
        </mc:Fallback>
      </mc:AlternateContent>
    </p:spTree>
    <p:extLst>
      <p:ext uri="{BB962C8B-B14F-4D97-AF65-F5344CB8AC3E}">
        <p14:creationId xmlns:p14="http://schemas.microsoft.com/office/powerpoint/2010/main" val="3322148233"/>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p:cNvSpPr>
                <a:spLocks noGrp="1"/>
              </p:cNvSpPr>
              <p:nvPr>
                <p:ph type="title"/>
              </p:nvPr>
            </p:nvSpPr>
            <p:spPr>
              <a:xfrm>
                <a:off x="1141413" y="326848"/>
                <a:ext cx="9905998" cy="603310"/>
              </a:xfrm>
            </p:spPr>
            <p:txBody>
              <a:bodyPr/>
              <a:lstStyle/>
              <a:p>
                <a:pPr algn="ctr"/>
                <a:r>
                  <a:rPr lang="en-US" b="0" dirty="0"/>
                  <a:t>Showing that </a:t>
                </a:r>
                <a14:m>
                  <m:oMath xmlns:m="http://schemas.openxmlformats.org/officeDocument/2006/math">
                    <m:r>
                      <m:rPr>
                        <m:sty m:val="p"/>
                      </m:rPr>
                      <a:rPr lang="en-US" dirty="0">
                        <a:latin typeface="Cambria Math" panose="02040503050406030204" pitchFamily="18" charset="0"/>
                      </a:rPr>
                      <m:t>C</m:t>
                    </m:r>
                    <m:r>
                      <m:rPr>
                        <m:sty m:val="p"/>
                      </m:rPr>
                      <a:rPr lang="en-US" b="0" i="0" dirty="0" smtClean="0">
                        <a:latin typeface="Cambria Math" panose="02040503050406030204" pitchFamily="18" charset="0"/>
                      </a:rPr>
                      <m:t>lique</m:t>
                    </m:r>
                    <m:r>
                      <a:rPr lang="en-US" b="0" i="1" dirty="0" smtClean="0">
                        <a:latin typeface="Cambria Math" panose="02040503050406030204" pitchFamily="18" charset="0"/>
                      </a:rPr>
                      <m:t>∈</m:t>
                    </m:r>
                    <m:r>
                      <a:rPr lang="en-US" b="0" i="1" dirty="0" smtClean="0">
                        <a:latin typeface="Cambria Math" panose="02040503050406030204" pitchFamily="18" charset="0"/>
                      </a:rPr>
                      <m:t>𝑁𝑃𝐶</m:t>
                    </m:r>
                  </m:oMath>
                </a14:m>
                <a:endParaRPr lang="en-US" dirty="0"/>
              </a:p>
            </p:txBody>
          </p:sp>
        </mc:Choice>
        <mc:Fallback xmlns="">
          <p:sp>
            <p:nvSpPr>
              <p:cNvPr id="2" name="Title 1"/>
              <p:cNvSpPr>
                <a:spLocks noGrp="1" noRot="1" noChangeAspect="1" noMove="1" noResize="1" noEditPoints="1" noAdjustHandles="1" noChangeArrowheads="1" noChangeShapeType="1" noTextEdit="1"/>
              </p:cNvSpPr>
              <p:nvPr>
                <p:ph type="title"/>
              </p:nvPr>
            </p:nvSpPr>
            <p:spPr>
              <a:xfrm>
                <a:off x="1141413" y="326848"/>
                <a:ext cx="9905998" cy="603310"/>
              </a:xfrm>
              <a:blipFill>
                <a:blip r:embed="rId2"/>
                <a:stretch>
                  <a:fillRect t="-22917" b="-3541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Content Placeholder 2">
                <a:extLst>
                  <a:ext uri="{FF2B5EF4-FFF2-40B4-BE49-F238E27FC236}">
                    <a16:creationId xmlns:a16="http://schemas.microsoft.com/office/drawing/2014/main" id="{347E063C-4014-2747-B5DF-2F3FAAFF4FDD}"/>
                  </a:ext>
                </a:extLst>
              </p:cNvPr>
              <p:cNvSpPr txBox="1">
                <a:spLocks/>
              </p:cNvSpPr>
              <p:nvPr/>
            </p:nvSpPr>
            <p:spPr>
              <a:xfrm>
                <a:off x="3882503" y="1262111"/>
                <a:ext cx="4423817" cy="1417716"/>
              </a:xfrm>
              <a:prstGeom prst="rect">
                <a:avLst/>
              </a:prstGeom>
              <a:solidFill>
                <a:schemeClr val="tx1">
                  <a:lumMod val="95000"/>
                </a:schemeClr>
              </a:solidFill>
              <a:ln>
                <a:solidFill>
                  <a:schemeClr val="bg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14:m>
                  <m:oMathPara xmlns:m="http://schemas.openxmlformats.org/officeDocument/2006/math">
                    <m:oMathParaPr>
                      <m:jc m:val="center"/>
                    </m:oMathParaPr>
                    <m:oMath xmlns:m="http://schemas.openxmlformats.org/officeDocument/2006/math">
                      <m:r>
                        <m:rPr>
                          <m:sty m:val="p"/>
                        </m:rPr>
                        <a:rPr lang="en-US" sz="1800" i="1" smtClean="0">
                          <a:solidFill>
                            <a:schemeClr val="bg1"/>
                          </a:solidFill>
                          <a:latin typeface="Cambria Math" panose="02040503050406030204" pitchFamily="18" charset="0"/>
                        </a:rPr>
                        <m:t>C</m:t>
                      </m:r>
                      <m:r>
                        <a:rPr lang="en-US" sz="1800" b="0" i="1" smtClean="0">
                          <a:solidFill>
                            <a:schemeClr val="bg1"/>
                          </a:solidFill>
                          <a:latin typeface="Cambria Math" panose="02040503050406030204" pitchFamily="18" charset="0"/>
                        </a:rPr>
                        <m:t>𝑙𝑖𝑞𝑢𝑒</m:t>
                      </m:r>
                      <m:r>
                        <a:rPr lang="en-US" sz="1800" b="0" i="1" smtClean="0">
                          <a:solidFill>
                            <a:schemeClr val="bg1"/>
                          </a:solidFill>
                          <a:latin typeface="Cambria Math" panose="02040503050406030204" pitchFamily="18" charset="0"/>
                        </a:rPr>
                        <m:t>∈</m:t>
                      </m:r>
                      <m:r>
                        <a:rPr lang="en-US" sz="1800" b="0" i="1" smtClean="0">
                          <a:solidFill>
                            <a:schemeClr val="bg1"/>
                          </a:solidFill>
                          <a:latin typeface="Cambria Math" panose="02040503050406030204" pitchFamily="18" charset="0"/>
                        </a:rPr>
                        <m:t>𝑁𝑃</m:t>
                      </m:r>
                      <m:r>
                        <a:rPr lang="en-US" sz="1800" b="0" i="1" smtClean="0">
                          <a:solidFill>
                            <a:schemeClr val="bg1"/>
                          </a:solidFill>
                          <a:latin typeface="Cambria Math" panose="02040503050406030204" pitchFamily="18" charset="0"/>
                        </a:rPr>
                        <m:t>−</m:t>
                      </m:r>
                      <m:r>
                        <a:rPr lang="en-US" sz="1800" b="0" i="1" smtClean="0">
                          <a:solidFill>
                            <a:schemeClr val="bg1"/>
                          </a:solidFill>
                          <a:latin typeface="Cambria Math" panose="02040503050406030204" pitchFamily="18" charset="0"/>
                        </a:rPr>
                        <m:t>𝐻𝐴𝑅𝐷</m:t>
                      </m:r>
                    </m:oMath>
                  </m:oMathPara>
                </a14:m>
                <a:endParaRPr lang="en-US" sz="1800" dirty="0">
                  <a:solidFill>
                    <a:schemeClr val="bg1"/>
                  </a:solidFill>
                </a:endParaRPr>
              </a:p>
              <a:p>
                <a:pPr marL="0" indent="0" algn="ctr">
                  <a:buFont typeface="Arial" panose="020B0604020202020204" pitchFamily="34" charset="0"/>
                  <a:buNone/>
                </a:pPr>
                <a:br>
                  <a:rPr lang="en-US" sz="1800" dirty="0">
                    <a:solidFill>
                      <a:schemeClr val="bg1"/>
                    </a:solidFill>
                  </a:rPr>
                </a:br>
                <a:r>
                  <a:rPr lang="en-US" sz="1800" dirty="0">
                    <a:solidFill>
                      <a:schemeClr val="bg1"/>
                    </a:solidFill>
                  </a:rPr>
                  <a:t>3-SAT</a:t>
                </a:r>
                <a14:m>
                  <m:oMath xmlns:m="http://schemas.openxmlformats.org/officeDocument/2006/math">
                    <m:sSub>
                      <m:sSubPr>
                        <m:ctrlPr>
                          <a:rPr lang="en-US" sz="1800" b="1" i="1" smtClean="0">
                            <a:solidFill>
                              <a:schemeClr val="bg1"/>
                            </a:solidFill>
                            <a:latin typeface="Cambria Math" panose="02040503050406030204" pitchFamily="18" charset="0"/>
                          </a:rPr>
                        </m:ctrlPr>
                      </m:sSubPr>
                      <m:e>
                        <m:r>
                          <a:rPr lang="en-US" sz="1800" b="1" i="1" smtClean="0">
                            <a:solidFill>
                              <a:schemeClr val="bg1"/>
                            </a:solidFill>
                            <a:latin typeface="Cambria Math" panose="02040503050406030204" pitchFamily="18" charset="0"/>
                          </a:rPr>
                          <m:t>≤</m:t>
                        </m:r>
                      </m:e>
                      <m:sub>
                        <m:r>
                          <a:rPr lang="en-US" sz="1800" b="1" i="1" smtClean="0">
                            <a:solidFill>
                              <a:schemeClr val="bg1"/>
                            </a:solidFill>
                            <a:latin typeface="Cambria Math" panose="02040503050406030204" pitchFamily="18" charset="0"/>
                          </a:rPr>
                          <m:t>𝒑</m:t>
                        </m:r>
                      </m:sub>
                    </m:sSub>
                    <m:r>
                      <a:rPr lang="en-US" sz="1800" b="1" i="1" smtClean="0">
                        <a:solidFill>
                          <a:schemeClr val="bg1"/>
                        </a:solidFill>
                        <a:latin typeface="Cambria Math" panose="02040503050406030204" pitchFamily="18" charset="0"/>
                      </a:rPr>
                      <m:t>𝑪𝒍𝒊𝒒𝒖𝒆</m:t>
                    </m:r>
                  </m:oMath>
                </a14:m>
                <a:endParaRPr lang="en-US" sz="1800" b="1" dirty="0">
                  <a:solidFill>
                    <a:schemeClr val="bg1"/>
                  </a:solidFill>
                </a:endParaRPr>
              </a:p>
            </p:txBody>
          </p:sp>
        </mc:Choice>
        <mc:Fallback xmlns="">
          <p:sp>
            <p:nvSpPr>
              <p:cNvPr id="6" name="Content Placeholder 2">
                <a:extLst>
                  <a:ext uri="{FF2B5EF4-FFF2-40B4-BE49-F238E27FC236}">
                    <a16:creationId xmlns:a16="http://schemas.microsoft.com/office/drawing/2014/main" id="{347E063C-4014-2747-B5DF-2F3FAAFF4FDD}"/>
                  </a:ext>
                </a:extLst>
              </p:cNvPr>
              <p:cNvSpPr txBox="1">
                <a:spLocks noRot="1" noChangeAspect="1" noMove="1" noResize="1" noEditPoints="1" noAdjustHandles="1" noChangeArrowheads="1" noChangeShapeType="1" noTextEdit="1"/>
              </p:cNvSpPr>
              <p:nvPr/>
            </p:nvSpPr>
            <p:spPr>
              <a:xfrm>
                <a:off x="3882503" y="1262111"/>
                <a:ext cx="4423817" cy="1417716"/>
              </a:xfrm>
              <a:prstGeom prst="rect">
                <a:avLst/>
              </a:prstGeom>
              <a:blipFill>
                <a:blip r:embed="rId3"/>
                <a:stretch>
                  <a:fillRect/>
                </a:stretch>
              </a:blipFill>
              <a:ln>
                <a:solidFill>
                  <a:schemeClr val="bg1"/>
                </a:solidFill>
              </a:ln>
            </p:spPr>
            <p:txBody>
              <a:bodyPr/>
              <a:lstStyle/>
              <a:p>
                <a:r>
                  <a:rPr lang="en-US">
                    <a:noFill/>
                  </a:rPr>
                  <a:t> </a:t>
                </a:r>
              </a:p>
            </p:txBody>
          </p:sp>
        </mc:Fallback>
      </mc:AlternateContent>
      <p:sp>
        <p:nvSpPr>
          <p:cNvPr id="7" name="Content Placeholder 2">
            <a:extLst>
              <a:ext uri="{FF2B5EF4-FFF2-40B4-BE49-F238E27FC236}">
                <a16:creationId xmlns:a16="http://schemas.microsoft.com/office/drawing/2014/main" id="{DB788968-185B-D64E-99C3-8E54573B8CD3}"/>
              </a:ext>
            </a:extLst>
          </p:cNvPr>
          <p:cNvSpPr txBox="1">
            <a:spLocks/>
          </p:cNvSpPr>
          <p:nvPr/>
        </p:nvSpPr>
        <p:spPr>
          <a:xfrm>
            <a:off x="8848008" y="2023785"/>
            <a:ext cx="2199403" cy="478323"/>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800" dirty="0"/>
              <a:t>We choose 3-SAT</a:t>
            </a:r>
          </a:p>
        </p:txBody>
      </p:sp>
      <p:cxnSp>
        <p:nvCxnSpPr>
          <p:cNvPr id="10" name="Straight Connector 9">
            <a:extLst>
              <a:ext uri="{FF2B5EF4-FFF2-40B4-BE49-F238E27FC236}">
                <a16:creationId xmlns:a16="http://schemas.microsoft.com/office/drawing/2014/main" id="{39C2CEF3-2E7B-F64D-99FA-02BC2649D1B5}"/>
              </a:ext>
            </a:extLst>
          </p:cNvPr>
          <p:cNvCxnSpPr>
            <a:cxnSpLocks/>
          </p:cNvCxnSpPr>
          <p:nvPr/>
        </p:nvCxnSpPr>
        <p:spPr>
          <a:xfrm flipH="1" flipV="1">
            <a:off x="8445873" y="1933687"/>
            <a:ext cx="562325" cy="218290"/>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
        <p:nvSpPr>
          <p:cNvPr id="13" name="Content Placeholder 2">
            <a:extLst>
              <a:ext uri="{FF2B5EF4-FFF2-40B4-BE49-F238E27FC236}">
                <a16:creationId xmlns:a16="http://schemas.microsoft.com/office/drawing/2014/main" id="{F1A21CD3-C94C-6D4A-B7AC-E1F97DA3A563}"/>
              </a:ext>
            </a:extLst>
          </p:cNvPr>
          <p:cNvSpPr txBox="1">
            <a:spLocks/>
          </p:cNvSpPr>
          <p:nvPr/>
        </p:nvSpPr>
        <p:spPr>
          <a:xfrm>
            <a:off x="2766875" y="3183147"/>
            <a:ext cx="6729844" cy="602288"/>
          </a:xfrm>
          <a:prstGeom prst="rect">
            <a:avLst/>
          </a:prstGeom>
          <a:noFill/>
        </p:spPr>
        <p:txBody>
          <a:bodyPr vert="horz" lIns="91440" tIns="45720" rIns="91440" bIns="45720" rtlCol="0">
            <a:normAutofit fontScale="625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b="1" i="1" u="sng" dirty="0">
                <a:solidFill>
                  <a:schemeClr val="tx1">
                    <a:lumMod val="95000"/>
                  </a:schemeClr>
                </a:solidFill>
              </a:rPr>
              <a:t>Goal</a:t>
            </a:r>
            <a:r>
              <a:rPr lang="en-US" i="1" dirty="0">
                <a:solidFill>
                  <a:schemeClr val="tx1">
                    <a:lumMod val="95000"/>
                  </a:schemeClr>
                </a:solidFill>
              </a:rPr>
              <a:t>: Given a generic 3-SAT input, can we convert it into graph and integer k such that the 3-SAT formula is satisfiable IFF the graph has a click of at least size k? </a:t>
            </a:r>
          </a:p>
        </p:txBody>
      </p:sp>
      <p:sp>
        <p:nvSpPr>
          <p:cNvPr id="14" name="Content Placeholder 2">
            <a:extLst>
              <a:ext uri="{FF2B5EF4-FFF2-40B4-BE49-F238E27FC236}">
                <a16:creationId xmlns:a16="http://schemas.microsoft.com/office/drawing/2014/main" id="{E9A11A9A-DCC6-E443-A08D-75744B98035F}"/>
              </a:ext>
            </a:extLst>
          </p:cNvPr>
          <p:cNvSpPr txBox="1">
            <a:spLocks/>
          </p:cNvSpPr>
          <p:nvPr/>
        </p:nvSpPr>
        <p:spPr>
          <a:xfrm>
            <a:off x="6536462" y="3694508"/>
            <a:ext cx="2960257" cy="1340339"/>
          </a:xfrm>
          <a:prstGeom prst="rect">
            <a:avLst/>
          </a:prstGeom>
          <a:solidFill>
            <a:schemeClr val="accent1"/>
          </a:solidFill>
          <a:ln>
            <a:solidFill>
              <a:schemeClr val="bg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800" i="1" dirty="0">
                <a:solidFill>
                  <a:schemeClr val="bg1"/>
                </a:solidFill>
              </a:rPr>
              <a:t>Graph G and integer k</a:t>
            </a:r>
          </a:p>
        </p:txBody>
      </p:sp>
      <p:sp>
        <p:nvSpPr>
          <p:cNvPr id="15" name="Right Arrow 14">
            <a:extLst>
              <a:ext uri="{FF2B5EF4-FFF2-40B4-BE49-F238E27FC236}">
                <a16:creationId xmlns:a16="http://schemas.microsoft.com/office/drawing/2014/main" id="{3572CDE1-F158-3447-B0B5-87F1FA3E0749}"/>
              </a:ext>
            </a:extLst>
          </p:cNvPr>
          <p:cNvSpPr/>
          <p:nvPr/>
        </p:nvSpPr>
        <p:spPr>
          <a:xfrm>
            <a:off x="5882580" y="4166422"/>
            <a:ext cx="498434" cy="246888"/>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Content Placeholder 2">
            <a:extLst>
              <a:ext uri="{FF2B5EF4-FFF2-40B4-BE49-F238E27FC236}">
                <a16:creationId xmlns:a16="http://schemas.microsoft.com/office/drawing/2014/main" id="{196EFBFF-44F3-944B-896C-DA9DC23A1E3D}"/>
              </a:ext>
            </a:extLst>
          </p:cNvPr>
          <p:cNvSpPr txBox="1">
            <a:spLocks/>
          </p:cNvSpPr>
          <p:nvPr/>
        </p:nvSpPr>
        <p:spPr>
          <a:xfrm>
            <a:off x="2766875" y="3694509"/>
            <a:ext cx="2960257" cy="1340339"/>
          </a:xfrm>
          <a:prstGeom prst="rect">
            <a:avLst/>
          </a:prstGeom>
          <a:solidFill>
            <a:schemeClr val="accent1"/>
          </a:solidFill>
          <a:ln>
            <a:solidFill>
              <a:schemeClr val="bg1"/>
            </a:solidFill>
          </a:ln>
        </p:spPr>
        <p:txBody>
          <a:bodyPr vert="horz" lIns="91440" tIns="45720" rIns="91440" bIns="45720" rtlCol="0">
            <a:normAutofit fontScale="775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800" i="1" dirty="0">
                <a:solidFill>
                  <a:schemeClr val="bg1"/>
                </a:solidFill>
              </a:rPr>
              <a:t>Input: 3SAT formula:</a:t>
            </a:r>
          </a:p>
          <a:p>
            <a:pPr marL="0" indent="0" algn="ctr">
              <a:buNone/>
            </a:pPr>
            <a:r>
              <a:rPr lang="en-US" sz="1800" i="1" dirty="0">
                <a:solidFill>
                  <a:schemeClr val="bg1"/>
                </a:solidFill>
              </a:rPr>
              <a:t>e.g.,</a:t>
            </a:r>
            <a:br>
              <a:rPr lang="en-US" sz="1800" i="1" dirty="0">
                <a:solidFill>
                  <a:schemeClr val="bg1"/>
                </a:solidFill>
              </a:rPr>
            </a:br>
            <a:r>
              <a:rPr lang="en-US" sz="1800" dirty="0">
                <a:solidFill>
                  <a:schemeClr val="bg1"/>
                </a:solidFill>
                <a:sym typeface="Symbol"/>
              </a:rPr>
              <a:t>’</a:t>
            </a:r>
            <a:r>
              <a:rPr lang="en-US" sz="1800" baseline="-25000" dirty="0" err="1">
                <a:solidFill>
                  <a:schemeClr val="bg1"/>
                </a:solidFill>
                <a:sym typeface="Symbol"/>
              </a:rPr>
              <a:t>i</a:t>
            </a:r>
            <a:r>
              <a:rPr lang="en-US" sz="1800" dirty="0">
                <a:solidFill>
                  <a:schemeClr val="bg1"/>
                </a:solidFill>
                <a:sym typeface="Symbol"/>
              </a:rPr>
              <a:t> = (y</a:t>
            </a:r>
            <a:r>
              <a:rPr lang="en-US" sz="1800" baseline="-25000" dirty="0">
                <a:solidFill>
                  <a:schemeClr val="bg1"/>
                </a:solidFill>
                <a:sym typeface="Symbol"/>
              </a:rPr>
              <a:t>1</a:t>
            </a:r>
            <a:r>
              <a:rPr lang="en-US" sz="1800" dirty="0">
                <a:solidFill>
                  <a:schemeClr val="bg1"/>
                </a:solidFill>
                <a:sym typeface="Symbol"/>
              </a:rPr>
              <a:t>y</a:t>
            </a:r>
            <a:r>
              <a:rPr lang="en-US" sz="1800" baseline="-25000" dirty="0">
                <a:solidFill>
                  <a:schemeClr val="bg1"/>
                </a:solidFill>
                <a:sym typeface="Symbol"/>
              </a:rPr>
              <a:t>2</a:t>
            </a:r>
            <a:r>
              <a:rPr lang="en-US" sz="1800" dirty="0">
                <a:solidFill>
                  <a:schemeClr val="bg1"/>
                </a:solidFill>
                <a:sym typeface="Symbol"/>
              </a:rPr>
              <a:t>x</a:t>
            </a:r>
            <a:r>
              <a:rPr lang="en-US" sz="1800" baseline="-25000" dirty="0">
                <a:solidFill>
                  <a:schemeClr val="bg1"/>
                </a:solidFill>
                <a:sym typeface="Symbol"/>
              </a:rPr>
              <a:t>2</a:t>
            </a:r>
            <a:r>
              <a:rPr lang="en-US" sz="1800" dirty="0">
                <a:solidFill>
                  <a:schemeClr val="bg1"/>
                </a:solidFill>
                <a:sym typeface="Symbol"/>
              </a:rPr>
              <a:t>)  (y</a:t>
            </a:r>
            <a:r>
              <a:rPr lang="en-US" sz="1800" baseline="-25000" dirty="0">
                <a:solidFill>
                  <a:schemeClr val="bg1"/>
                </a:solidFill>
                <a:sym typeface="Symbol"/>
              </a:rPr>
              <a:t>1</a:t>
            </a:r>
            <a:r>
              <a:rPr lang="en-US" sz="1800" dirty="0">
                <a:solidFill>
                  <a:schemeClr val="bg1"/>
                </a:solidFill>
                <a:sym typeface="Symbol"/>
              </a:rPr>
              <a:t>y</a:t>
            </a:r>
            <a:r>
              <a:rPr lang="en-US" sz="1800" baseline="-25000" dirty="0">
                <a:solidFill>
                  <a:schemeClr val="bg1"/>
                </a:solidFill>
                <a:sym typeface="Symbol"/>
              </a:rPr>
              <a:t>2</a:t>
            </a:r>
            <a:r>
              <a:rPr lang="en-US" sz="1800" dirty="0">
                <a:solidFill>
                  <a:schemeClr val="bg1"/>
                </a:solidFill>
                <a:sym typeface="Symbol"/>
              </a:rPr>
              <a:t>x</a:t>
            </a:r>
            <a:r>
              <a:rPr lang="en-US" sz="1800" baseline="-25000" dirty="0">
                <a:solidFill>
                  <a:schemeClr val="bg1"/>
                </a:solidFill>
                <a:sym typeface="Symbol"/>
              </a:rPr>
              <a:t>2</a:t>
            </a:r>
            <a:r>
              <a:rPr lang="en-US" sz="1800" dirty="0">
                <a:solidFill>
                  <a:schemeClr val="bg1"/>
                </a:solidFill>
                <a:sym typeface="Symbol"/>
              </a:rPr>
              <a:t>)  (y</a:t>
            </a:r>
            <a:r>
              <a:rPr lang="en-US" sz="1800" baseline="-25000" dirty="0">
                <a:solidFill>
                  <a:schemeClr val="bg1"/>
                </a:solidFill>
                <a:sym typeface="Symbol"/>
              </a:rPr>
              <a:t>1</a:t>
            </a:r>
            <a:r>
              <a:rPr lang="en-US" sz="1800" dirty="0">
                <a:solidFill>
                  <a:schemeClr val="bg1"/>
                </a:solidFill>
                <a:sym typeface="Symbol"/>
              </a:rPr>
              <a:t>y</a:t>
            </a:r>
            <a:r>
              <a:rPr lang="en-US" sz="1800" baseline="-25000" dirty="0">
                <a:solidFill>
                  <a:schemeClr val="bg1"/>
                </a:solidFill>
                <a:sym typeface="Symbol"/>
              </a:rPr>
              <a:t>2</a:t>
            </a:r>
            <a:r>
              <a:rPr lang="en-US" sz="1800" dirty="0">
                <a:solidFill>
                  <a:schemeClr val="bg1"/>
                </a:solidFill>
                <a:sym typeface="Symbol"/>
              </a:rPr>
              <a:t>x</a:t>
            </a:r>
            <a:r>
              <a:rPr lang="en-US" sz="1800" baseline="-25000" dirty="0">
                <a:solidFill>
                  <a:schemeClr val="bg1"/>
                </a:solidFill>
                <a:sym typeface="Symbol"/>
              </a:rPr>
              <a:t>2</a:t>
            </a:r>
            <a:r>
              <a:rPr lang="en-US" sz="1800" dirty="0">
                <a:solidFill>
                  <a:schemeClr val="bg1"/>
                </a:solidFill>
                <a:sym typeface="Symbol"/>
              </a:rPr>
              <a:t>)  (y</a:t>
            </a:r>
            <a:r>
              <a:rPr lang="en-US" sz="1800" baseline="-25000" dirty="0">
                <a:solidFill>
                  <a:schemeClr val="bg1"/>
                </a:solidFill>
                <a:sym typeface="Symbol"/>
              </a:rPr>
              <a:t>1</a:t>
            </a:r>
            <a:r>
              <a:rPr lang="en-US" sz="1800" dirty="0">
                <a:solidFill>
                  <a:schemeClr val="bg1"/>
                </a:solidFill>
                <a:sym typeface="Symbol"/>
              </a:rPr>
              <a:t>y</a:t>
            </a:r>
            <a:r>
              <a:rPr lang="en-US" sz="1800" baseline="-25000" dirty="0">
                <a:solidFill>
                  <a:schemeClr val="bg1"/>
                </a:solidFill>
                <a:sym typeface="Symbol"/>
              </a:rPr>
              <a:t>2</a:t>
            </a:r>
            <a:r>
              <a:rPr lang="en-US" sz="1800" dirty="0">
                <a:solidFill>
                  <a:schemeClr val="bg1"/>
                </a:solidFill>
                <a:sym typeface="Symbol"/>
              </a:rPr>
              <a:t>x</a:t>
            </a:r>
            <a:r>
              <a:rPr lang="en-US" sz="1800" baseline="-25000" dirty="0">
                <a:solidFill>
                  <a:schemeClr val="bg1"/>
                </a:solidFill>
                <a:sym typeface="Symbol"/>
              </a:rPr>
              <a:t>2</a:t>
            </a:r>
            <a:r>
              <a:rPr lang="en-US" sz="1800" dirty="0">
                <a:solidFill>
                  <a:schemeClr val="bg1"/>
                </a:solidFill>
                <a:sym typeface="Symbol"/>
              </a:rPr>
              <a:t>)…</a:t>
            </a:r>
          </a:p>
          <a:p>
            <a:pPr marL="0" indent="0" algn="ctr">
              <a:buFont typeface="Arial" panose="020B0604020202020204" pitchFamily="34" charset="0"/>
              <a:buNone/>
            </a:pPr>
            <a:endParaRPr lang="en-US" sz="1800" i="1" dirty="0">
              <a:solidFill>
                <a:schemeClr val="bg1"/>
              </a:solidFill>
            </a:endParaRPr>
          </a:p>
        </p:txBody>
      </p:sp>
      <p:pic>
        <p:nvPicPr>
          <p:cNvPr id="17" name="Picture 2" descr="images/lecture28/VertexClique.png">
            <a:extLst>
              <a:ext uri="{FF2B5EF4-FFF2-40B4-BE49-F238E27FC236}">
                <a16:creationId xmlns:a16="http://schemas.microsoft.com/office/drawing/2014/main" id="{35973397-6F5B-3B47-A209-C0FA3639EEF5}"/>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362360" y="4140157"/>
            <a:ext cx="1319913" cy="793933"/>
          </a:xfrm>
          <a:prstGeom prst="rect">
            <a:avLst/>
          </a:prstGeom>
          <a:noFill/>
          <a:extLst>
            <a:ext uri="{909E8E84-426E-40DD-AFC4-6F175D3DCCD1}">
              <a14:hiddenFill xmlns:a14="http://schemas.microsoft.com/office/drawing/2010/main">
                <a:solidFill>
                  <a:srgbClr val="FFFFFF"/>
                </a:solidFill>
              </a14:hiddenFill>
            </a:ext>
          </a:extLst>
        </p:spPr>
      </p:pic>
      <p:sp>
        <p:nvSpPr>
          <p:cNvPr id="18" name="Content Placeholder 2">
            <a:extLst>
              <a:ext uri="{FF2B5EF4-FFF2-40B4-BE49-F238E27FC236}">
                <a16:creationId xmlns:a16="http://schemas.microsoft.com/office/drawing/2014/main" id="{2B567843-DBA4-FA4F-AABF-F76B9289A312}"/>
              </a:ext>
            </a:extLst>
          </p:cNvPr>
          <p:cNvSpPr txBox="1">
            <a:spLocks/>
          </p:cNvSpPr>
          <p:nvPr/>
        </p:nvSpPr>
        <p:spPr>
          <a:xfrm>
            <a:off x="3232087" y="5752306"/>
            <a:ext cx="7815324" cy="478323"/>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800" dirty="0"/>
              <a:t>Converting a Boolean formula into a graph is strange, right? Let’s see how it works!</a:t>
            </a:r>
          </a:p>
        </p:txBody>
      </p:sp>
      <p:cxnSp>
        <p:nvCxnSpPr>
          <p:cNvPr id="19" name="Straight Connector 18">
            <a:extLst>
              <a:ext uri="{FF2B5EF4-FFF2-40B4-BE49-F238E27FC236}">
                <a16:creationId xmlns:a16="http://schemas.microsoft.com/office/drawing/2014/main" id="{B929181E-2BAD-C744-B008-789AA10EA17E}"/>
              </a:ext>
            </a:extLst>
          </p:cNvPr>
          <p:cNvCxnSpPr>
            <a:cxnSpLocks/>
          </p:cNvCxnSpPr>
          <p:nvPr/>
        </p:nvCxnSpPr>
        <p:spPr>
          <a:xfrm flipH="1" flipV="1">
            <a:off x="5164808" y="5175287"/>
            <a:ext cx="1580024" cy="577019"/>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79C68369-0764-084F-A526-AB726125D194}"/>
              </a:ext>
            </a:extLst>
          </p:cNvPr>
          <p:cNvCxnSpPr>
            <a:cxnSpLocks/>
          </p:cNvCxnSpPr>
          <p:nvPr/>
        </p:nvCxnSpPr>
        <p:spPr>
          <a:xfrm flipV="1">
            <a:off x="6744832" y="5175286"/>
            <a:ext cx="688063" cy="577020"/>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34556253"/>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p:cNvSpPr>
                <a:spLocks noGrp="1"/>
              </p:cNvSpPr>
              <p:nvPr>
                <p:ph type="title"/>
              </p:nvPr>
            </p:nvSpPr>
            <p:spPr>
              <a:xfrm>
                <a:off x="1141413" y="274490"/>
                <a:ext cx="9905998" cy="612753"/>
              </a:xfrm>
            </p:spPr>
            <p:txBody>
              <a:bodyPr>
                <a:normAutofit fontScale="90000"/>
              </a:bodyPr>
              <a:lstStyle/>
              <a:p>
                <a:pPr algn="ctr"/>
                <a14:m>
                  <m:oMath xmlns:m="http://schemas.openxmlformats.org/officeDocument/2006/math">
                    <m:r>
                      <a:rPr lang="en-US" b="0" i="1" smtClean="0">
                        <a:latin typeface="Cambria Math" panose="02040503050406030204" pitchFamily="18" charset="0"/>
                      </a:rPr>
                      <m:t>3</m:t>
                    </m:r>
                    <m:r>
                      <a:rPr lang="en-US" b="0" i="1" smtClean="0">
                        <a:latin typeface="Cambria Math" panose="02040503050406030204" pitchFamily="18" charset="0"/>
                      </a:rPr>
                      <m:t>𝑆𝐴𝑇</m:t>
                    </m:r>
                    <m:sSub>
                      <m:sSubPr>
                        <m:ctrlPr>
                          <a:rPr lang="en-US" b="0" i="1" smtClean="0">
                            <a:latin typeface="Cambria Math" panose="02040503050406030204" pitchFamily="18" charset="0"/>
                          </a:rPr>
                        </m:ctrlPr>
                      </m:sSubPr>
                      <m:e>
                        <m:r>
                          <a:rPr lang="en-US" b="0" i="1" smtClean="0">
                            <a:latin typeface="Cambria Math" panose="02040503050406030204" pitchFamily="18" charset="0"/>
                          </a:rPr>
                          <m:t>≤</m:t>
                        </m:r>
                      </m:e>
                      <m:sub>
                        <m:r>
                          <a:rPr lang="en-US" b="0" i="1" smtClean="0">
                            <a:latin typeface="Cambria Math" panose="02040503050406030204" pitchFamily="18" charset="0"/>
                          </a:rPr>
                          <m:t>𝑝</m:t>
                        </m:r>
                      </m:sub>
                    </m:sSub>
                    <m:r>
                      <a:rPr lang="en-US" b="0" i="1" smtClean="0">
                        <a:latin typeface="Cambria Math" panose="02040503050406030204" pitchFamily="18" charset="0"/>
                      </a:rPr>
                      <m:t>𝐶𝑙𝑖𝑞𝑢𝑒</m:t>
                    </m:r>
                  </m:oMath>
                </a14:m>
                <a:r>
                  <a:rPr lang="en-US" dirty="0"/>
                  <a:t>, Intuition</a:t>
                </a:r>
              </a:p>
            </p:txBody>
          </p:sp>
        </mc:Choice>
        <mc:Fallback xmlns="">
          <p:sp>
            <p:nvSpPr>
              <p:cNvPr id="2" name="Title 1"/>
              <p:cNvSpPr>
                <a:spLocks noGrp="1" noRot="1" noChangeAspect="1" noMove="1" noResize="1" noEditPoints="1" noAdjustHandles="1" noChangeArrowheads="1" noChangeShapeType="1" noTextEdit="1"/>
              </p:cNvSpPr>
              <p:nvPr>
                <p:ph type="title"/>
              </p:nvPr>
            </p:nvSpPr>
            <p:spPr>
              <a:xfrm>
                <a:off x="1141413" y="274490"/>
                <a:ext cx="9905998" cy="612753"/>
              </a:xfrm>
              <a:blipFill>
                <a:blip r:embed="rId2"/>
                <a:stretch>
                  <a:fillRect t="-16327" b="-20408"/>
                </a:stretch>
              </a:blipFill>
            </p:spPr>
            <p:txBody>
              <a:bodyPr/>
              <a:lstStyle/>
              <a:p>
                <a:r>
                  <a:rPr lang="en-US">
                    <a:noFill/>
                  </a:rPr>
                  <a:t> </a:t>
                </a:r>
              </a:p>
            </p:txBody>
          </p:sp>
        </mc:Fallback>
      </mc:AlternateContent>
      <p:sp>
        <p:nvSpPr>
          <p:cNvPr id="3" name="Content Placeholder 2"/>
          <p:cNvSpPr>
            <a:spLocks noGrp="1"/>
          </p:cNvSpPr>
          <p:nvPr>
            <p:ph sz="quarter" idx="1"/>
          </p:nvPr>
        </p:nvSpPr>
        <p:spPr>
          <a:xfrm>
            <a:off x="969397" y="3263475"/>
            <a:ext cx="3475855" cy="1869840"/>
          </a:xfrm>
          <a:ln>
            <a:solidFill>
              <a:schemeClr val="tx1">
                <a:lumMod val="95000"/>
              </a:schemeClr>
            </a:solidFill>
          </a:ln>
        </p:spPr>
        <p:txBody>
          <a:bodyPr>
            <a:normAutofit/>
          </a:bodyPr>
          <a:lstStyle/>
          <a:p>
            <a:pPr marL="0" indent="0" algn="ctr">
              <a:buNone/>
            </a:pPr>
            <a:r>
              <a:rPr lang="en-US" b="1" i="1" u="sng" dirty="0"/>
              <a:t>TIP</a:t>
            </a:r>
            <a:r>
              <a:rPr lang="en-US" i="1" dirty="0"/>
              <a:t>: When doing a reduction, think about the “spirit” of how the problems relate to each other</a:t>
            </a:r>
          </a:p>
        </p:txBody>
      </p:sp>
      <mc:AlternateContent xmlns:mc="http://schemas.openxmlformats.org/markup-compatibility/2006" xmlns:a14="http://schemas.microsoft.com/office/drawing/2010/main">
        <mc:Choice Requires="a14">
          <p:sp>
            <p:nvSpPr>
              <p:cNvPr id="5" name="Content Placeholder 2">
                <a:extLst>
                  <a:ext uri="{FF2B5EF4-FFF2-40B4-BE49-F238E27FC236}">
                    <a16:creationId xmlns:a16="http://schemas.microsoft.com/office/drawing/2014/main" id="{E8FD7EC5-F759-3443-A400-8D08882410D9}"/>
                  </a:ext>
                </a:extLst>
              </p:cNvPr>
              <p:cNvSpPr txBox="1">
                <a:spLocks/>
              </p:cNvSpPr>
              <p:nvPr/>
            </p:nvSpPr>
            <p:spPr>
              <a:xfrm>
                <a:off x="2300256" y="1484196"/>
                <a:ext cx="7586129" cy="598099"/>
              </a:xfrm>
              <a:prstGeom prst="rect">
                <a:avLst/>
              </a:prstGeom>
              <a:solidFill>
                <a:schemeClr val="tx1">
                  <a:lumMod val="95000"/>
                </a:schemeClr>
              </a:solidFill>
              <a:ln>
                <a:solidFill>
                  <a:schemeClr val="bg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None/>
                </a:pPr>
                <a14:m>
                  <m:oMathPara xmlns:m="http://schemas.openxmlformats.org/officeDocument/2006/math">
                    <m:oMathParaPr>
                      <m:jc m:val="centerGroup"/>
                    </m:oMathParaPr>
                    <m:oMath xmlns:m="http://schemas.openxmlformats.org/officeDocument/2006/math">
                      <m:r>
                        <a:rPr lang="en-US" b="0" i="1" smtClean="0">
                          <a:solidFill>
                            <a:schemeClr val="bg1"/>
                          </a:solidFill>
                          <a:latin typeface="Cambria Math" panose="02040503050406030204" pitchFamily="18" charset="0"/>
                        </a:rPr>
                        <m:t>𝜃</m:t>
                      </m:r>
                      <m:r>
                        <a:rPr lang="en-US" b="0" i="1" smtClean="0">
                          <a:solidFill>
                            <a:schemeClr val="bg1"/>
                          </a:solidFill>
                          <a:latin typeface="Cambria Math" panose="02040503050406030204" pitchFamily="18" charset="0"/>
                        </a:rPr>
                        <m:t>=</m:t>
                      </m:r>
                      <m:d>
                        <m:dPr>
                          <m:ctrlPr>
                            <a:rPr lang="en-US" b="0" i="1" smtClean="0">
                              <a:solidFill>
                                <a:schemeClr val="bg1"/>
                              </a:solidFill>
                              <a:latin typeface="Cambria Math" panose="02040503050406030204" pitchFamily="18" charset="0"/>
                            </a:rPr>
                          </m:ctrlPr>
                        </m:dPr>
                        <m:e>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𝑥</m:t>
                              </m:r>
                            </m:e>
                            <m:sub>
                              <m:r>
                                <a:rPr lang="en-US" b="0" i="1" smtClean="0">
                                  <a:solidFill>
                                    <a:schemeClr val="bg1"/>
                                  </a:solidFill>
                                  <a:latin typeface="Cambria Math" panose="02040503050406030204" pitchFamily="18" charset="0"/>
                                </a:rPr>
                                <m:t>1</m:t>
                              </m:r>
                            </m:sub>
                          </m:sSub>
                          <m:r>
                            <a:rPr lang="en-US" b="0" i="1" smtClean="0">
                              <a:solidFill>
                                <a:schemeClr val="bg1"/>
                              </a:solidFill>
                              <a:latin typeface="Cambria Math" panose="02040503050406030204" pitchFamily="18" charset="0"/>
                            </a:rPr>
                            <m:t>∨</m:t>
                          </m:r>
                          <m:acc>
                            <m:accPr>
                              <m:chr m:val="̅"/>
                              <m:ctrlPr>
                                <a:rPr lang="en-US" b="0" i="1" smtClean="0">
                                  <a:solidFill>
                                    <a:schemeClr val="bg1"/>
                                  </a:solidFill>
                                  <a:latin typeface="Cambria Math" panose="02040503050406030204" pitchFamily="18" charset="0"/>
                                </a:rPr>
                              </m:ctrlPr>
                            </m:accPr>
                            <m:e>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𝑥</m:t>
                                  </m:r>
                                </m:e>
                                <m:sub>
                                  <m:r>
                                    <a:rPr lang="en-US" b="0" i="1" smtClean="0">
                                      <a:solidFill>
                                        <a:schemeClr val="bg1"/>
                                      </a:solidFill>
                                      <a:latin typeface="Cambria Math" panose="02040503050406030204" pitchFamily="18" charset="0"/>
                                    </a:rPr>
                                    <m:t>2</m:t>
                                  </m:r>
                                </m:sub>
                              </m:sSub>
                            </m:e>
                          </m:acc>
                          <m:r>
                            <a:rPr lang="en-US" b="0" i="1" smtClean="0">
                              <a:solidFill>
                                <a:schemeClr val="bg1"/>
                              </a:solidFill>
                              <a:latin typeface="Cambria Math" panose="02040503050406030204" pitchFamily="18" charset="0"/>
                            </a:rPr>
                            <m:t>∨</m:t>
                          </m:r>
                          <m:acc>
                            <m:accPr>
                              <m:chr m:val="̅"/>
                              <m:ctrlPr>
                                <a:rPr lang="en-US" b="0" i="1" smtClean="0">
                                  <a:solidFill>
                                    <a:schemeClr val="bg1"/>
                                  </a:solidFill>
                                  <a:latin typeface="Cambria Math" panose="02040503050406030204" pitchFamily="18" charset="0"/>
                                </a:rPr>
                              </m:ctrlPr>
                            </m:accPr>
                            <m:e>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𝑥</m:t>
                                  </m:r>
                                </m:e>
                                <m:sub>
                                  <m:r>
                                    <a:rPr lang="en-US" b="0" i="1" smtClean="0">
                                      <a:solidFill>
                                        <a:schemeClr val="bg1"/>
                                      </a:solidFill>
                                      <a:latin typeface="Cambria Math" panose="02040503050406030204" pitchFamily="18" charset="0"/>
                                    </a:rPr>
                                    <m:t>3</m:t>
                                  </m:r>
                                </m:sub>
                              </m:sSub>
                            </m:e>
                          </m:acc>
                        </m:e>
                      </m:d>
                      <m:r>
                        <a:rPr lang="en-US" b="0" i="1" smtClean="0">
                          <a:solidFill>
                            <a:schemeClr val="bg1"/>
                          </a:solidFill>
                          <a:latin typeface="Cambria Math" panose="02040503050406030204" pitchFamily="18" charset="0"/>
                        </a:rPr>
                        <m:t>∧</m:t>
                      </m:r>
                      <m:d>
                        <m:dPr>
                          <m:ctrlPr>
                            <a:rPr lang="en-US" b="0" i="1" smtClean="0">
                              <a:solidFill>
                                <a:schemeClr val="bg1"/>
                              </a:solidFill>
                              <a:latin typeface="Cambria Math" panose="02040503050406030204" pitchFamily="18" charset="0"/>
                            </a:rPr>
                          </m:ctrlPr>
                        </m:dPr>
                        <m:e>
                          <m:acc>
                            <m:accPr>
                              <m:chr m:val="̅"/>
                              <m:ctrlPr>
                                <a:rPr lang="en-US" b="0" i="1" smtClean="0">
                                  <a:solidFill>
                                    <a:schemeClr val="bg1"/>
                                  </a:solidFill>
                                  <a:latin typeface="Cambria Math" panose="02040503050406030204" pitchFamily="18" charset="0"/>
                                </a:rPr>
                              </m:ctrlPr>
                            </m:accPr>
                            <m:e>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𝑥</m:t>
                                  </m:r>
                                </m:e>
                                <m:sub>
                                  <m:r>
                                    <a:rPr lang="en-US" b="0" i="1" smtClean="0">
                                      <a:solidFill>
                                        <a:schemeClr val="bg1"/>
                                      </a:solidFill>
                                      <a:latin typeface="Cambria Math" panose="02040503050406030204" pitchFamily="18" charset="0"/>
                                    </a:rPr>
                                    <m:t>1</m:t>
                                  </m:r>
                                </m:sub>
                              </m:sSub>
                            </m:e>
                          </m:acc>
                          <m:r>
                            <a:rPr lang="en-US" b="0" i="1" smtClean="0">
                              <a:solidFill>
                                <a:schemeClr val="bg1"/>
                              </a:solidFill>
                              <a:latin typeface="Cambria Math" panose="02040503050406030204" pitchFamily="18" charset="0"/>
                            </a:rPr>
                            <m:t>∨</m:t>
                          </m:r>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𝑥</m:t>
                              </m:r>
                            </m:e>
                            <m:sub>
                              <m:r>
                                <a:rPr lang="en-US" b="0" i="1" smtClean="0">
                                  <a:solidFill>
                                    <a:schemeClr val="bg1"/>
                                  </a:solidFill>
                                  <a:latin typeface="Cambria Math" panose="02040503050406030204" pitchFamily="18" charset="0"/>
                                </a:rPr>
                                <m:t>2</m:t>
                              </m:r>
                            </m:sub>
                          </m:sSub>
                          <m:r>
                            <a:rPr lang="en-US" b="0" i="1" smtClean="0">
                              <a:solidFill>
                                <a:schemeClr val="bg1"/>
                              </a:solidFill>
                              <a:latin typeface="Cambria Math" panose="02040503050406030204" pitchFamily="18" charset="0"/>
                            </a:rPr>
                            <m:t>∨</m:t>
                          </m:r>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𝑥</m:t>
                              </m:r>
                            </m:e>
                            <m:sub>
                              <m:r>
                                <a:rPr lang="en-US" b="0" i="1" smtClean="0">
                                  <a:solidFill>
                                    <a:schemeClr val="bg1"/>
                                  </a:solidFill>
                                  <a:latin typeface="Cambria Math" panose="02040503050406030204" pitchFamily="18" charset="0"/>
                                </a:rPr>
                                <m:t>3</m:t>
                              </m:r>
                            </m:sub>
                          </m:sSub>
                        </m:e>
                      </m:d>
                      <m:r>
                        <a:rPr lang="en-US" b="0" i="1" smtClean="0">
                          <a:solidFill>
                            <a:schemeClr val="bg1"/>
                          </a:solidFill>
                          <a:latin typeface="Cambria Math" panose="02040503050406030204" pitchFamily="18" charset="0"/>
                        </a:rPr>
                        <m:t>∧(</m:t>
                      </m:r>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𝑥</m:t>
                          </m:r>
                        </m:e>
                        <m:sub>
                          <m:r>
                            <a:rPr lang="en-US" b="0" i="1" smtClean="0">
                              <a:solidFill>
                                <a:schemeClr val="bg1"/>
                              </a:solidFill>
                              <a:latin typeface="Cambria Math" panose="02040503050406030204" pitchFamily="18" charset="0"/>
                            </a:rPr>
                            <m:t>1</m:t>
                          </m:r>
                        </m:sub>
                      </m:sSub>
                      <m:r>
                        <a:rPr lang="en-US" b="0" i="1" smtClean="0">
                          <a:solidFill>
                            <a:schemeClr val="bg1"/>
                          </a:solidFill>
                          <a:latin typeface="Cambria Math" panose="02040503050406030204" pitchFamily="18" charset="0"/>
                        </a:rPr>
                        <m:t>∨</m:t>
                      </m:r>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𝑥</m:t>
                          </m:r>
                        </m:e>
                        <m:sub>
                          <m:r>
                            <a:rPr lang="en-US" b="0" i="1" smtClean="0">
                              <a:solidFill>
                                <a:schemeClr val="bg1"/>
                              </a:solidFill>
                              <a:latin typeface="Cambria Math" panose="02040503050406030204" pitchFamily="18" charset="0"/>
                            </a:rPr>
                            <m:t>2</m:t>
                          </m:r>
                        </m:sub>
                      </m:sSub>
                      <m:r>
                        <a:rPr lang="en-US" b="0" i="1" smtClean="0">
                          <a:solidFill>
                            <a:schemeClr val="bg1"/>
                          </a:solidFill>
                          <a:latin typeface="Cambria Math" panose="02040503050406030204" pitchFamily="18" charset="0"/>
                        </a:rPr>
                        <m:t>∨</m:t>
                      </m:r>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𝑥</m:t>
                          </m:r>
                        </m:e>
                        <m:sub>
                          <m:r>
                            <a:rPr lang="en-US" b="0" i="1" smtClean="0">
                              <a:solidFill>
                                <a:schemeClr val="bg1"/>
                              </a:solidFill>
                              <a:latin typeface="Cambria Math" panose="02040503050406030204" pitchFamily="18" charset="0"/>
                            </a:rPr>
                            <m:t>3</m:t>
                          </m:r>
                        </m:sub>
                      </m:sSub>
                      <m:r>
                        <a:rPr lang="en-US" b="0" i="1" smtClean="0">
                          <a:solidFill>
                            <a:schemeClr val="bg1"/>
                          </a:solidFill>
                          <a:latin typeface="Cambria Math" panose="02040503050406030204" pitchFamily="18" charset="0"/>
                        </a:rPr>
                        <m:t>)</m:t>
                      </m:r>
                    </m:oMath>
                  </m:oMathPara>
                </a14:m>
                <a:endParaRPr lang="en-US" dirty="0">
                  <a:solidFill>
                    <a:schemeClr val="bg1"/>
                  </a:solidFill>
                </a:endParaRPr>
              </a:p>
            </p:txBody>
          </p:sp>
        </mc:Choice>
        <mc:Fallback xmlns="">
          <p:sp>
            <p:nvSpPr>
              <p:cNvPr id="5" name="Content Placeholder 2">
                <a:extLst>
                  <a:ext uri="{FF2B5EF4-FFF2-40B4-BE49-F238E27FC236}">
                    <a16:creationId xmlns:a16="http://schemas.microsoft.com/office/drawing/2014/main" id="{E8FD7EC5-F759-3443-A400-8D08882410D9}"/>
                  </a:ext>
                </a:extLst>
              </p:cNvPr>
              <p:cNvSpPr txBox="1">
                <a:spLocks noRot="1" noChangeAspect="1" noMove="1" noResize="1" noEditPoints="1" noAdjustHandles="1" noChangeArrowheads="1" noChangeShapeType="1" noTextEdit="1"/>
              </p:cNvSpPr>
              <p:nvPr/>
            </p:nvSpPr>
            <p:spPr>
              <a:xfrm>
                <a:off x="2300256" y="1484196"/>
                <a:ext cx="7586129" cy="598099"/>
              </a:xfrm>
              <a:prstGeom prst="rect">
                <a:avLst/>
              </a:prstGeom>
              <a:blipFill>
                <a:blip r:embed="rId3"/>
                <a:stretch>
                  <a:fillRect/>
                </a:stretch>
              </a:blipFill>
              <a:ln>
                <a:solidFill>
                  <a:schemeClr val="bg1"/>
                </a:solidFill>
              </a:ln>
            </p:spPr>
            <p:txBody>
              <a:bodyPr/>
              <a:lstStyle/>
              <a:p>
                <a:r>
                  <a:rPr lang="en-US">
                    <a:noFill/>
                  </a:rPr>
                  <a:t> </a:t>
                </a:r>
              </a:p>
            </p:txBody>
          </p:sp>
        </mc:Fallback>
      </mc:AlternateContent>
      <p:sp>
        <p:nvSpPr>
          <p:cNvPr id="6" name="Content Placeholder 2">
            <a:extLst>
              <a:ext uri="{FF2B5EF4-FFF2-40B4-BE49-F238E27FC236}">
                <a16:creationId xmlns:a16="http://schemas.microsoft.com/office/drawing/2014/main" id="{FF448FEF-4075-E342-87D1-5ACB33834248}"/>
              </a:ext>
            </a:extLst>
          </p:cNvPr>
          <p:cNvSpPr txBox="1">
            <a:spLocks/>
          </p:cNvSpPr>
          <p:nvPr/>
        </p:nvSpPr>
        <p:spPr>
          <a:xfrm>
            <a:off x="2300256" y="1164628"/>
            <a:ext cx="7586129" cy="356343"/>
          </a:xfrm>
          <a:prstGeom prst="rect">
            <a:avLst/>
          </a:prstGeom>
          <a:noFill/>
          <a:ln>
            <a:noFill/>
          </a:ln>
        </p:spPr>
        <p:txBody>
          <a:bodyPr vert="horz" lIns="91440" tIns="45720" rIns="91440" bIns="45720" rtlCol="0">
            <a:normAutofit fontScale="700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None/>
            </a:pPr>
            <a:r>
              <a:rPr lang="en-US" dirty="0">
                <a:solidFill>
                  <a:schemeClr val="tx1">
                    <a:lumMod val="95000"/>
                  </a:schemeClr>
                </a:solidFill>
              </a:rPr>
              <a:t>Consider this 3-SAT formula:</a:t>
            </a:r>
          </a:p>
        </p:txBody>
      </p:sp>
      <p:sp>
        <p:nvSpPr>
          <p:cNvPr id="7" name="Content Placeholder 2">
            <a:extLst>
              <a:ext uri="{FF2B5EF4-FFF2-40B4-BE49-F238E27FC236}">
                <a16:creationId xmlns:a16="http://schemas.microsoft.com/office/drawing/2014/main" id="{6789BD02-8560-B14C-93B3-F0E44B74CCF4}"/>
              </a:ext>
            </a:extLst>
          </p:cNvPr>
          <p:cNvSpPr txBox="1">
            <a:spLocks/>
          </p:cNvSpPr>
          <p:nvPr/>
        </p:nvSpPr>
        <p:spPr>
          <a:xfrm>
            <a:off x="5241123" y="2693106"/>
            <a:ext cx="5496286" cy="366965"/>
          </a:xfrm>
          <a:prstGeom prst="rect">
            <a:avLst/>
          </a:prstGeom>
          <a:ln>
            <a:noFill/>
          </a:ln>
        </p:spPr>
        <p:txBody>
          <a:bodyPr vert="horz" lIns="91440" tIns="45720" rIns="91440" bIns="45720" rtlCol="0">
            <a:normAutofit fontScale="700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i="1" dirty="0"/>
              <a:t>With a 3-Sat formula, we have:</a:t>
            </a:r>
          </a:p>
        </p:txBody>
      </p:sp>
      <p:sp>
        <p:nvSpPr>
          <p:cNvPr id="8" name="Content Placeholder 2">
            <a:extLst>
              <a:ext uri="{FF2B5EF4-FFF2-40B4-BE49-F238E27FC236}">
                <a16:creationId xmlns:a16="http://schemas.microsoft.com/office/drawing/2014/main" id="{5CD8AC63-7F5C-5B48-A1C1-5B5C2EFAAE20}"/>
              </a:ext>
            </a:extLst>
          </p:cNvPr>
          <p:cNvSpPr txBox="1">
            <a:spLocks/>
          </p:cNvSpPr>
          <p:nvPr/>
        </p:nvSpPr>
        <p:spPr>
          <a:xfrm>
            <a:off x="5241123" y="3023270"/>
            <a:ext cx="5496286" cy="2789057"/>
          </a:xfrm>
          <a:prstGeom prst="rect">
            <a:avLst/>
          </a:prstGeom>
          <a:solidFill>
            <a:schemeClr val="tx1">
              <a:lumMod val="95000"/>
            </a:schemeClr>
          </a:solidFill>
          <a:ln>
            <a:solidFill>
              <a:schemeClr val="bg1"/>
            </a:solidFill>
          </a:ln>
        </p:spPr>
        <p:txBody>
          <a:bodyPr vert="horz" lIns="91440" tIns="45720" rIns="91440" bIns="45720" rtlCol="0">
            <a:normAutofit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457200" indent="-457200">
              <a:buFont typeface="Arial" panose="020B0604020202020204" pitchFamily="34" charset="0"/>
              <a:buAutoNum type="arabicPeriod"/>
            </a:pPr>
            <a:r>
              <a:rPr lang="en-US" i="1" dirty="0">
                <a:solidFill>
                  <a:schemeClr val="bg1"/>
                </a:solidFill>
              </a:rPr>
              <a:t>A bunch of “things” (variables)</a:t>
            </a:r>
          </a:p>
          <a:p>
            <a:pPr marL="457200" indent="-457200">
              <a:buFont typeface="Arial" panose="020B0604020202020204" pitchFamily="34" charset="0"/>
              <a:buAutoNum type="arabicPeriod"/>
            </a:pPr>
            <a:r>
              <a:rPr lang="en-US" i="1" dirty="0">
                <a:solidFill>
                  <a:schemeClr val="bg1"/>
                </a:solidFill>
              </a:rPr>
              <a:t>Some can be assigned TRUE without issue (they are “connected”)</a:t>
            </a:r>
          </a:p>
          <a:p>
            <a:pPr marL="457200" indent="-457200">
              <a:buFont typeface="Arial" panose="020B0604020202020204" pitchFamily="34" charset="0"/>
              <a:buAutoNum type="arabicPeriod"/>
            </a:pPr>
            <a:r>
              <a:rPr lang="en-US" i="1" dirty="0">
                <a:solidFill>
                  <a:schemeClr val="bg1"/>
                </a:solidFill>
              </a:rPr>
              <a:t>Each clause must have a TRUE item that is connected (valid) with the other items in the other clauses</a:t>
            </a:r>
          </a:p>
        </p:txBody>
      </p:sp>
    </p:spTree>
    <p:extLst>
      <p:ext uri="{BB962C8B-B14F-4D97-AF65-F5344CB8AC3E}">
        <p14:creationId xmlns:p14="http://schemas.microsoft.com/office/powerpoint/2010/main" val="2606950632"/>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p:cNvSpPr>
                <a:spLocks noGrp="1"/>
              </p:cNvSpPr>
              <p:nvPr>
                <p:ph type="title"/>
              </p:nvPr>
            </p:nvSpPr>
            <p:spPr>
              <a:xfrm>
                <a:off x="1141413" y="274490"/>
                <a:ext cx="9905998" cy="612753"/>
              </a:xfrm>
            </p:spPr>
            <p:txBody>
              <a:bodyPr>
                <a:normAutofit fontScale="90000"/>
              </a:bodyPr>
              <a:lstStyle/>
              <a:p>
                <a:pPr algn="ctr"/>
                <a14:m>
                  <m:oMath xmlns:m="http://schemas.openxmlformats.org/officeDocument/2006/math">
                    <m:r>
                      <a:rPr lang="en-US" b="0" i="1" smtClean="0">
                        <a:latin typeface="Cambria Math" panose="02040503050406030204" pitchFamily="18" charset="0"/>
                      </a:rPr>
                      <m:t>3</m:t>
                    </m:r>
                    <m:r>
                      <a:rPr lang="en-US" b="0" i="1" smtClean="0">
                        <a:latin typeface="Cambria Math" panose="02040503050406030204" pitchFamily="18" charset="0"/>
                      </a:rPr>
                      <m:t>𝑆𝐴𝑇</m:t>
                    </m:r>
                    <m:sSub>
                      <m:sSubPr>
                        <m:ctrlPr>
                          <a:rPr lang="en-US" b="0" i="1" smtClean="0">
                            <a:latin typeface="Cambria Math" panose="02040503050406030204" pitchFamily="18" charset="0"/>
                          </a:rPr>
                        </m:ctrlPr>
                      </m:sSubPr>
                      <m:e>
                        <m:r>
                          <a:rPr lang="en-US" b="0" i="1" smtClean="0">
                            <a:latin typeface="Cambria Math" panose="02040503050406030204" pitchFamily="18" charset="0"/>
                          </a:rPr>
                          <m:t>≤</m:t>
                        </m:r>
                      </m:e>
                      <m:sub>
                        <m:r>
                          <a:rPr lang="en-US" b="0" i="1" smtClean="0">
                            <a:latin typeface="Cambria Math" panose="02040503050406030204" pitchFamily="18" charset="0"/>
                          </a:rPr>
                          <m:t>𝑝</m:t>
                        </m:r>
                      </m:sub>
                    </m:sSub>
                    <m:r>
                      <a:rPr lang="en-US" b="0" i="1" smtClean="0">
                        <a:latin typeface="Cambria Math" panose="02040503050406030204" pitchFamily="18" charset="0"/>
                      </a:rPr>
                      <m:t>𝐶𝑙𝑖𝑞𝑢𝑒</m:t>
                    </m:r>
                  </m:oMath>
                </a14:m>
                <a:r>
                  <a:rPr lang="en-US" dirty="0"/>
                  <a:t>, Step 1</a:t>
                </a:r>
              </a:p>
            </p:txBody>
          </p:sp>
        </mc:Choice>
        <mc:Fallback xmlns="">
          <p:sp>
            <p:nvSpPr>
              <p:cNvPr id="2" name="Title 1"/>
              <p:cNvSpPr>
                <a:spLocks noGrp="1" noRot="1" noChangeAspect="1" noMove="1" noResize="1" noEditPoints="1" noAdjustHandles="1" noChangeArrowheads="1" noChangeShapeType="1" noTextEdit="1"/>
              </p:cNvSpPr>
              <p:nvPr>
                <p:ph type="title"/>
              </p:nvPr>
            </p:nvSpPr>
            <p:spPr>
              <a:xfrm>
                <a:off x="1141413" y="274490"/>
                <a:ext cx="9905998" cy="612753"/>
              </a:xfrm>
              <a:blipFill>
                <a:blip r:embed="rId2"/>
                <a:stretch>
                  <a:fillRect t="-16327" b="-2040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Content Placeholder 2"/>
              <p:cNvSpPr>
                <a:spLocks noGrp="1"/>
              </p:cNvSpPr>
              <p:nvPr>
                <p:ph sz="quarter" idx="1"/>
              </p:nvPr>
            </p:nvSpPr>
            <p:spPr>
              <a:xfrm>
                <a:off x="969397" y="3263475"/>
                <a:ext cx="3475855" cy="1869840"/>
              </a:xfrm>
              <a:ln>
                <a:solidFill>
                  <a:schemeClr val="tx1">
                    <a:lumMod val="95000"/>
                  </a:schemeClr>
                </a:solidFill>
              </a:ln>
            </p:spPr>
            <p:txBody>
              <a:bodyPr>
                <a:normAutofit/>
              </a:bodyPr>
              <a:lstStyle/>
              <a:p>
                <a:pPr marL="0" indent="0" algn="ctr">
                  <a:buNone/>
                </a:pPr>
                <a:r>
                  <a:rPr lang="en-US" b="1" i="1" u="sng" dirty="0"/>
                  <a:t>Step 1</a:t>
                </a:r>
                <a:r>
                  <a:rPr lang="en-US" i="1" dirty="0"/>
                  <a:t>: Create a graph G with nodes where each variable in </a:t>
                </a:r>
                <a14:m>
                  <m:oMath xmlns:m="http://schemas.openxmlformats.org/officeDocument/2006/math">
                    <m:r>
                      <a:rPr lang="en-US" b="0" i="1" smtClean="0">
                        <a:latin typeface="Cambria Math" panose="02040503050406030204" pitchFamily="18" charset="0"/>
                      </a:rPr>
                      <m:t>𝜃</m:t>
                    </m:r>
                  </m:oMath>
                </a14:m>
                <a:r>
                  <a:rPr lang="en-US" i="1" dirty="0"/>
                  <a:t> represents a node in G</a:t>
                </a:r>
              </a:p>
            </p:txBody>
          </p:sp>
        </mc:Choice>
        <mc:Fallback xmlns="">
          <p:sp>
            <p:nvSpPr>
              <p:cNvPr id="3" name="Content Placeholder 2"/>
              <p:cNvSpPr>
                <a:spLocks noGrp="1" noRot="1" noChangeAspect="1" noMove="1" noResize="1" noEditPoints="1" noAdjustHandles="1" noChangeArrowheads="1" noChangeShapeType="1" noTextEdit="1"/>
              </p:cNvSpPr>
              <p:nvPr>
                <p:ph sz="quarter" idx="1"/>
              </p:nvPr>
            </p:nvSpPr>
            <p:spPr>
              <a:xfrm>
                <a:off x="969397" y="3263475"/>
                <a:ext cx="3475855" cy="1869840"/>
              </a:xfrm>
              <a:blipFill>
                <a:blip r:embed="rId3"/>
                <a:stretch>
                  <a:fillRect t="-671" r="-725" b="-4027"/>
                </a:stretch>
              </a:blipFill>
              <a:ln>
                <a:solidFill>
                  <a:schemeClr val="tx1">
                    <a:lumMod val="95000"/>
                  </a:schemeClr>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Content Placeholder 2">
                <a:extLst>
                  <a:ext uri="{FF2B5EF4-FFF2-40B4-BE49-F238E27FC236}">
                    <a16:creationId xmlns:a16="http://schemas.microsoft.com/office/drawing/2014/main" id="{E8FD7EC5-F759-3443-A400-8D08882410D9}"/>
                  </a:ext>
                </a:extLst>
              </p:cNvPr>
              <p:cNvSpPr txBox="1">
                <a:spLocks/>
              </p:cNvSpPr>
              <p:nvPr/>
            </p:nvSpPr>
            <p:spPr>
              <a:xfrm>
                <a:off x="2300256" y="1484196"/>
                <a:ext cx="7586129" cy="598099"/>
              </a:xfrm>
              <a:prstGeom prst="rect">
                <a:avLst/>
              </a:prstGeom>
              <a:solidFill>
                <a:schemeClr val="tx1">
                  <a:lumMod val="95000"/>
                </a:schemeClr>
              </a:solidFill>
              <a:ln>
                <a:solidFill>
                  <a:schemeClr val="bg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None/>
                </a:pPr>
                <a14:m>
                  <m:oMathPara xmlns:m="http://schemas.openxmlformats.org/officeDocument/2006/math">
                    <m:oMathParaPr>
                      <m:jc m:val="centerGroup"/>
                    </m:oMathParaPr>
                    <m:oMath xmlns:m="http://schemas.openxmlformats.org/officeDocument/2006/math">
                      <m:r>
                        <a:rPr lang="en-US" b="0" i="1" smtClean="0">
                          <a:solidFill>
                            <a:schemeClr val="bg1"/>
                          </a:solidFill>
                          <a:latin typeface="Cambria Math" panose="02040503050406030204" pitchFamily="18" charset="0"/>
                        </a:rPr>
                        <m:t>𝜃</m:t>
                      </m:r>
                      <m:r>
                        <a:rPr lang="en-US" b="0" i="1" smtClean="0">
                          <a:solidFill>
                            <a:schemeClr val="bg1"/>
                          </a:solidFill>
                          <a:latin typeface="Cambria Math" panose="02040503050406030204" pitchFamily="18" charset="0"/>
                        </a:rPr>
                        <m:t>=</m:t>
                      </m:r>
                      <m:d>
                        <m:dPr>
                          <m:ctrlPr>
                            <a:rPr lang="en-US" b="0" i="1" smtClean="0">
                              <a:solidFill>
                                <a:schemeClr val="bg1"/>
                              </a:solidFill>
                              <a:latin typeface="Cambria Math" panose="02040503050406030204" pitchFamily="18" charset="0"/>
                            </a:rPr>
                          </m:ctrlPr>
                        </m:dPr>
                        <m:e>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𝑥</m:t>
                              </m:r>
                            </m:e>
                            <m:sub>
                              <m:r>
                                <a:rPr lang="en-US" b="0" i="1" smtClean="0">
                                  <a:solidFill>
                                    <a:schemeClr val="bg1"/>
                                  </a:solidFill>
                                  <a:latin typeface="Cambria Math" panose="02040503050406030204" pitchFamily="18" charset="0"/>
                                </a:rPr>
                                <m:t>1</m:t>
                              </m:r>
                            </m:sub>
                          </m:sSub>
                          <m:r>
                            <a:rPr lang="en-US" b="0" i="1" smtClean="0">
                              <a:solidFill>
                                <a:schemeClr val="bg1"/>
                              </a:solidFill>
                              <a:latin typeface="Cambria Math" panose="02040503050406030204" pitchFamily="18" charset="0"/>
                            </a:rPr>
                            <m:t>∨</m:t>
                          </m:r>
                          <m:acc>
                            <m:accPr>
                              <m:chr m:val="̅"/>
                              <m:ctrlPr>
                                <a:rPr lang="en-US" b="0" i="1" smtClean="0">
                                  <a:solidFill>
                                    <a:schemeClr val="bg1"/>
                                  </a:solidFill>
                                  <a:latin typeface="Cambria Math" panose="02040503050406030204" pitchFamily="18" charset="0"/>
                                </a:rPr>
                              </m:ctrlPr>
                            </m:accPr>
                            <m:e>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𝑥</m:t>
                                  </m:r>
                                </m:e>
                                <m:sub>
                                  <m:r>
                                    <a:rPr lang="en-US" b="0" i="1" smtClean="0">
                                      <a:solidFill>
                                        <a:schemeClr val="bg1"/>
                                      </a:solidFill>
                                      <a:latin typeface="Cambria Math" panose="02040503050406030204" pitchFamily="18" charset="0"/>
                                    </a:rPr>
                                    <m:t>2</m:t>
                                  </m:r>
                                </m:sub>
                              </m:sSub>
                            </m:e>
                          </m:acc>
                          <m:r>
                            <a:rPr lang="en-US" b="0" i="1" smtClean="0">
                              <a:solidFill>
                                <a:schemeClr val="bg1"/>
                              </a:solidFill>
                              <a:latin typeface="Cambria Math" panose="02040503050406030204" pitchFamily="18" charset="0"/>
                            </a:rPr>
                            <m:t>∨</m:t>
                          </m:r>
                          <m:acc>
                            <m:accPr>
                              <m:chr m:val="̅"/>
                              <m:ctrlPr>
                                <a:rPr lang="en-US" b="0" i="1" smtClean="0">
                                  <a:solidFill>
                                    <a:schemeClr val="bg1"/>
                                  </a:solidFill>
                                  <a:latin typeface="Cambria Math" panose="02040503050406030204" pitchFamily="18" charset="0"/>
                                </a:rPr>
                              </m:ctrlPr>
                            </m:accPr>
                            <m:e>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𝑥</m:t>
                                  </m:r>
                                </m:e>
                                <m:sub>
                                  <m:r>
                                    <a:rPr lang="en-US" b="0" i="1" smtClean="0">
                                      <a:solidFill>
                                        <a:schemeClr val="bg1"/>
                                      </a:solidFill>
                                      <a:latin typeface="Cambria Math" panose="02040503050406030204" pitchFamily="18" charset="0"/>
                                    </a:rPr>
                                    <m:t>3</m:t>
                                  </m:r>
                                </m:sub>
                              </m:sSub>
                            </m:e>
                          </m:acc>
                        </m:e>
                      </m:d>
                      <m:r>
                        <a:rPr lang="en-US" b="0" i="1" smtClean="0">
                          <a:solidFill>
                            <a:schemeClr val="bg1"/>
                          </a:solidFill>
                          <a:latin typeface="Cambria Math" panose="02040503050406030204" pitchFamily="18" charset="0"/>
                        </a:rPr>
                        <m:t>∧</m:t>
                      </m:r>
                      <m:d>
                        <m:dPr>
                          <m:ctrlPr>
                            <a:rPr lang="en-US" b="0" i="1" smtClean="0">
                              <a:solidFill>
                                <a:schemeClr val="bg1"/>
                              </a:solidFill>
                              <a:latin typeface="Cambria Math" panose="02040503050406030204" pitchFamily="18" charset="0"/>
                            </a:rPr>
                          </m:ctrlPr>
                        </m:dPr>
                        <m:e>
                          <m:acc>
                            <m:accPr>
                              <m:chr m:val="̅"/>
                              <m:ctrlPr>
                                <a:rPr lang="en-US" b="0" i="1" smtClean="0">
                                  <a:solidFill>
                                    <a:schemeClr val="bg1"/>
                                  </a:solidFill>
                                  <a:latin typeface="Cambria Math" panose="02040503050406030204" pitchFamily="18" charset="0"/>
                                </a:rPr>
                              </m:ctrlPr>
                            </m:accPr>
                            <m:e>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𝑥</m:t>
                                  </m:r>
                                </m:e>
                                <m:sub>
                                  <m:r>
                                    <a:rPr lang="en-US" b="0" i="1" smtClean="0">
                                      <a:solidFill>
                                        <a:schemeClr val="bg1"/>
                                      </a:solidFill>
                                      <a:latin typeface="Cambria Math" panose="02040503050406030204" pitchFamily="18" charset="0"/>
                                    </a:rPr>
                                    <m:t>1</m:t>
                                  </m:r>
                                </m:sub>
                              </m:sSub>
                            </m:e>
                          </m:acc>
                          <m:r>
                            <a:rPr lang="en-US" b="0" i="1" smtClean="0">
                              <a:solidFill>
                                <a:schemeClr val="bg1"/>
                              </a:solidFill>
                              <a:latin typeface="Cambria Math" panose="02040503050406030204" pitchFamily="18" charset="0"/>
                            </a:rPr>
                            <m:t>∨</m:t>
                          </m:r>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𝑥</m:t>
                              </m:r>
                            </m:e>
                            <m:sub>
                              <m:r>
                                <a:rPr lang="en-US" b="0" i="1" smtClean="0">
                                  <a:solidFill>
                                    <a:schemeClr val="bg1"/>
                                  </a:solidFill>
                                  <a:latin typeface="Cambria Math" panose="02040503050406030204" pitchFamily="18" charset="0"/>
                                </a:rPr>
                                <m:t>2</m:t>
                              </m:r>
                            </m:sub>
                          </m:sSub>
                          <m:r>
                            <a:rPr lang="en-US" b="0" i="1" smtClean="0">
                              <a:solidFill>
                                <a:schemeClr val="bg1"/>
                              </a:solidFill>
                              <a:latin typeface="Cambria Math" panose="02040503050406030204" pitchFamily="18" charset="0"/>
                            </a:rPr>
                            <m:t>∨</m:t>
                          </m:r>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𝑥</m:t>
                              </m:r>
                            </m:e>
                            <m:sub>
                              <m:r>
                                <a:rPr lang="en-US" b="0" i="1" smtClean="0">
                                  <a:solidFill>
                                    <a:schemeClr val="bg1"/>
                                  </a:solidFill>
                                  <a:latin typeface="Cambria Math" panose="02040503050406030204" pitchFamily="18" charset="0"/>
                                </a:rPr>
                                <m:t>3</m:t>
                              </m:r>
                            </m:sub>
                          </m:sSub>
                        </m:e>
                      </m:d>
                      <m:r>
                        <a:rPr lang="en-US" b="0" i="1" smtClean="0">
                          <a:solidFill>
                            <a:schemeClr val="bg1"/>
                          </a:solidFill>
                          <a:latin typeface="Cambria Math" panose="02040503050406030204" pitchFamily="18" charset="0"/>
                        </a:rPr>
                        <m:t>∧(</m:t>
                      </m:r>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𝑥</m:t>
                          </m:r>
                        </m:e>
                        <m:sub>
                          <m:r>
                            <a:rPr lang="en-US" b="0" i="1" smtClean="0">
                              <a:solidFill>
                                <a:schemeClr val="bg1"/>
                              </a:solidFill>
                              <a:latin typeface="Cambria Math" panose="02040503050406030204" pitchFamily="18" charset="0"/>
                            </a:rPr>
                            <m:t>1</m:t>
                          </m:r>
                        </m:sub>
                      </m:sSub>
                      <m:r>
                        <a:rPr lang="en-US" b="0" i="1" smtClean="0">
                          <a:solidFill>
                            <a:schemeClr val="bg1"/>
                          </a:solidFill>
                          <a:latin typeface="Cambria Math" panose="02040503050406030204" pitchFamily="18" charset="0"/>
                        </a:rPr>
                        <m:t>∨</m:t>
                      </m:r>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𝑥</m:t>
                          </m:r>
                        </m:e>
                        <m:sub>
                          <m:r>
                            <a:rPr lang="en-US" b="0" i="1" smtClean="0">
                              <a:solidFill>
                                <a:schemeClr val="bg1"/>
                              </a:solidFill>
                              <a:latin typeface="Cambria Math" panose="02040503050406030204" pitchFamily="18" charset="0"/>
                            </a:rPr>
                            <m:t>2</m:t>
                          </m:r>
                        </m:sub>
                      </m:sSub>
                      <m:r>
                        <a:rPr lang="en-US" b="0" i="1" smtClean="0">
                          <a:solidFill>
                            <a:schemeClr val="bg1"/>
                          </a:solidFill>
                          <a:latin typeface="Cambria Math" panose="02040503050406030204" pitchFamily="18" charset="0"/>
                        </a:rPr>
                        <m:t>∨</m:t>
                      </m:r>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𝑥</m:t>
                          </m:r>
                        </m:e>
                        <m:sub>
                          <m:r>
                            <a:rPr lang="en-US" b="0" i="1" smtClean="0">
                              <a:solidFill>
                                <a:schemeClr val="bg1"/>
                              </a:solidFill>
                              <a:latin typeface="Cambria Math" panose="02040503050406030204" pitchFamily="18" charset="0"/>
                            </a:rPr>
                            <m:t>3</m:t>
                          </m:r>
                        </m:sub>
                      </m:sSub>
                      <m:r>
                        <a:rPr lang="en-US" b="0" i="1" smtClean="0">
                          <a:solidFill>
                            <a:schemeClr val="bg1"/>
                          </a:solidFill>
                          <a:latin typeface="Cambria Math" panose="02040503050406030204" pitchFamily="18" charset="0"/>
                        </a:rPr>
                        <m:t>)</m:t>
                      </m:r>
                    </m:oMath>
                  </m:oMathPara>
                </a14:m>
                <a:endParaRPr lang="en-US" dirty="0">
                  <a:solidFill>
                    <a:schemeClr val="bg1"/>
                  </a:solidFill>
                </a:endParaRPr>
              </a:p>
            </p:txBody>
          </p:sp>
        </mc:Choice>
        <mc:Fallback xmlns="">
          <p:sp>
            <p:nvSpPr>
              <p:cNvPr id="5" name="Content Placeholder 2">
                <a:extLst>
                  <a:ext uri="{FF2B5EF4-FFF2-40B4-BE49-F238E27FC236}">
                    <a16:creationId xmlns:a16="http://schemas.microsoft.com/office/drawing/2014/main" id="{E8FD7EC5-F759-3443-A400-8D08882410D9}"/>
                  </a:ext>
                </a:extLst>
              </p:cNvPr>
              <p:cNvSpPr txBox="1">
                <a:spLocks noRot="1" noChangeAspect="1" noMove="1" noResize="1" noEditPoints="1" noAdjustHandles="1" noChangeArrowheads="1" noChangeShapeType="1" noTextEdit="1"/>
              </p:cNvSpPr>
              <p:nvPr/>
            </p:nvSpPr>
            <p:spPr>
              <a:xfrm>
                <a:off x="2300256" y="1484196"/>
                <a:ext cx="7586129" cy="598099"/>
              </a:xfrm>
              <a:prstGeom prst="rect">
                <a:avLst/>
              </a:prstGeom>
              <a:blipFill>
                <a:blip r:embed="rId4"/>
                <a:stretch>
                  <a:fillRect/>
                </a:stretch>
              </a:blipFill>
              <a:ln>
                <a:solidFill>
                  <a:schemeClr val="bg1"/>
                </a:solidFill>
              </a:ln>
            </p:spPr>
            <p:txBody>
              <a:bodyPr/>
              <a:lstStyle/>
              <a:p>
                <a:r>
                  <a:rPr lang="en-US">
                    <a:noFill/>
                  </a:rPr>
                  <a:t> </a:t>
                </a:r>
              </a:p>
            </p:txBody>
          </p:sp>
        </mc:Fallback>
      </mc:AlternateContent>
      <p:sp>
        <p:nvSpPr>
          <p:cNvPr id="6" name="Content Placeholder 2">
            <a:extLst>
              <a:ext uri="{FF2B5EF4-FFF2-40B4-BE49-F238E27FC236}">
                <a16:creationId xmlns:a16="http://schemas.microsoft.com/office/drawing/2014/main" id="{FF448FEF-4075-E342-87D1-5ACB33834248}"/>
              </a:ext>
            </a:extLst>
          </p:cNvPr>
          <p:cNvSpPr txBox="1">
            <a:spLocks/>
          </p:cNvSpPr>
          <p:nvPr/>
        </p:nvSpPr>
        <p:spPr>
          <a:xfrm>
            <a:off x="2300256" y="1164628"/>
            <a:ext cx="7586129" cy="356343"/>
          </a:xfrm>
          <a:prstGeom prst="rect">
            <a:avLst/>
          </a:prstGeom>
          <a:noFill/>
          <a:ln>
            <a:noFill/>
          </a:ln>
        </p:spPr>
        <p:txBody>
          <a:bodyPr vert="horz" lIns="91440" tIns="45720" rIns="91440" bIns="45720" rtlCol="0">
            <a:normAutofit fontScale="700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None/>
            </a:pPr>
            <a:r>
              <a:rPr lang="en-US" dirty="0">
                <a:solidFill>
                  <a:schemeClr val="tx1">
                    <a:lumMod val="95000"/>
                  </a:schemeClr>
                </a:solidFill>
              </a:rPr>
              <a:t>Consider this 3-SAT formula:</a:t>
            </a:r>
          </a:p>
        </p:txBody>
      </p:sp>
      <mc:AlternateContent xmlns:mc="http://schemas.openxmlformats.org/markup-compatibility/2006" xmlns:a14="http://schemas.microsoft.com/office/drawing/2010/main">
        <mc:Choice Requires="a14">
          <p:sp>
            <p:nvSpPr>
              <p:cNvPr id="4" name="Oval 3">
                <a:extLst>
                  <a:ext uri="{FF2B5EF4-FFF2-40B4-BE49-F238E27FC236}">
                    <a16:creationId xmlns:a16="http://schemas.microsoft.com/office/drawing/2014/main" id="{AA49A5B1-9EEA-504D-8171-2D86014ED3D5}"/>
                  </a:ext>
                </a:extLst>
              </p:cNvPr>
              <p:cNvSpPr/>
              <p:nvPr/>
            </p:nvSpPr>
            <p:spPr>
              <a:xfrm>
                <a:off x="5377755" y="3766236"/>
                <a:ext cx="543208" cy="543208"/>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b="0" i="1" smtClean="0">
                          <a:solidFill>
                            <a:schemeClr val="bg1"/>
                          </a:solidFill>
                          <a:latin typeface="Cambria Math" panose="02040503050406030204" pitchFamily="18" charset="0"/>
                        </a:rPr>
                        <m:t> </m:t>
                      </m:r>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𝑥</m:t>
                          </m:r>
                        </m:e>
                        <m:sub>
                          <m:r>
                            <a:rPr lang="en-US" b="0" i="1" smtClean="0">
                              <a:solidFill>
                                <a:schemeClr val="bg1"/>
                              </a:solidFill>
                              <a:latin typeface="Cambria Math" panose="02040503050406030204" pitchFamily="18" charset="0"/>
                            </a:rPr>
                            <m:t>1</m:t>
                          </m:r>
                        </m:sub>
                      </m:sSub>
                    </m:oMath>
                  </m:oMathPara>
                </a14:m>
                <a:endParaRPr lang="en-US" dirty="0">
                  <a:solidFill>
                    <a:schemeClr val="bg1"/>
                  </a:solidFill>
                </a:endParaRPr>
              </a:p>
            </p:txBody>
          </p:sp>
        </mc:Choice>
        <mc:Fallback xmlns="">
          <p:sp>
            <p:nvSpPr>
              <p:cNvPr id="4" name="Oval 3">
                <a:extLst>
                  <a:ext uri="{FF2B5EF4-FFF2-40B4-BE49-F238E27FC236}">
                    <a16:creationId xmlns:a16="http://schemas.microsoft.com/office/drawing/2014/main" id="{AA49A5B1-9EEA-504D-8171-2D86014ED3D5}"/>
                  </a:ext>
                </a:extLst>
              </p:cNvPr>
              <p:cNvSpPr>
                <a:spLocks noRot="1" noChangeAspect="1" noMove="1" noResize="1" noEditPoints="1" noAdjustHandles="1" noChangeArrowheads="1" noChangeShapeType="1" noTextEdit="1"/>
              </p:cNvSpPr>
              <p:nvPr/>
            </p:nvSpPr>
            <p:spPr>
              <a:xfrm>
                <a:off x="5377755" y="3766236"/>
                <a:ext cx="543208" cy="543208"/>
              </a:xfrm>
              <a:prstGeom prst="ellipse">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Oval 8">
                <a:extLst>
                  <a:ext uri="{FF2B5EF4-FFF2-40B4-BE49-F238E27FC236}">
                    <a16:creationId xmlns:a16="http://schemas.microsoft.com/office/drawing/2014/main" id="{8E69667C-7276-FF41-86D4-6E1485A6ED44}"/>
                  </a:ext>
                </a:extLst>
              </p:cNvPr>
              <p:cNvSpPr/>
              <p:nvPr/>
            </p:nvSpPr>
            <p:spPr>
              <a:xfrm>
                <a:off x="5377755" y="4769662"/>
                <a:ext cx="543208" cy="543208"/>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i="1">
                          <a:solidFill>
                            <a:schemeClr val="bg1"/>
                          </a:solidFill>
                          <a:latin typeface="Cambria Math" panose="02040503050406030204" pitchFamily="18" charset="0"/>
                        </a:rPr>
                        <m:t> </m:t>
                      </m:r>
                      <m:acc>
                        <m:accPr>
                          <m:chr m:val="̅"/>
                          <m:ctrlPr>
                            <a:rPr lang="en-US" b="0" i="1" smtClean="0">
                              <a:solidFill>
                                <a:schemeClr val="bg1"/>
                              </a:solidFill>
                              <a:latin typeface="Cambria Math" panose="02040503050406030204" pitchFamily="18" charset="0"/>
                            </a:rPr>
                          </m:ctrlPr>
                        </m:accPr>
                        <m:e>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𝑥</m:t>
                              </m:r>
                            </m:e>
                            <m:sub>
                              <m:r>
                                <a:rPr lang="en-US" b="0" i="1" smtClean="0">
                                  <a:solidFill>
                                    <a:schemeClr val="bg1"/>
                                  </a:solidFill>
                                  <a:latin typeface="Cambria Math" panose="02040503050406030204" pitchFamily="18" charset="0"/>
                                </a:rPr>
                                <m:t>2</m:t>
                              </m:r>
                            </m:sub>
                          </m:sSub>
                        </m:e>
                      </m:acc>
                    </m:oMath>
                  </m:oMathPara>
                </a14:m>
                <a:endParaRPr lang="en-US" dirty="0">
                  <a:solidFill>
                    <a:schemeClr val="bg1"/>
                  </a:solidFill>
                </a:endParaRPr>
              </a:p>
            </p:txBody>
          </p:sp>
        </mc:Choice>
        <mc:Fallback xmlns="">
          <p:sp>
            <p:nvSpPr>
              <p:cNvPr id="9" name="Oval 8">
                <a:extLst>
                  <a:ext uri="{FF2B5EF4-FFF2-40B4-BE49-F238E27FC236}">
                    <a16:creationId xmlns:a16="http://schemas.microsoft.com/office/drawing/2014/main" id="{8E69667C-7276-FF41-86D4-6E1485A6ED44}"/>
                  </a:ext>
                </a:extLst>
              </p:cNvPr>
              <p:cNvSpPr>
                <a:spLocks noRot="1" noChangeAspect="1" noMove="1" noResize="1" noEditPoints="1" noAdjustHandles="1" noChangeArrowheads="1" noChangeShapeType="1" noTextEdit="1"/>
              </p:cNvSpPr>
              <p:nvPr/>
            </p:nvSpPr>
            <p:spPr>
              <a:xfrm>
                <a:off x="5377755" y="4769662"/>
                <a:ext cx="543208" cy="543208"/>
              </a:xfrm>
              <a:prstGeom prst="ellipse">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Oval 9">
                <a:extLst>
                  <a:ext uri="{FF2B5EF4-FFF2-40B4-BE49-F238E27FC236}">
                    <a16:creationId xmlns:a16="http://schemas.microsoft.com/office/drawing/2014/main" id="{7206D0A1-EC73-4F41-AD32-D60DD2780A2A}"/>
                  </a:ext>
                </a:extLst>
              </p:cNvPr>
              <p:cNvSpPr/>
              <p:nvPr/>
            </p:nvSpPr>
            <p:spPr>
              <a:xfrm>
                <a:off x="5377755" y="5773088"/>
                <a:ext cx="543208" cy="543208"/>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b="0" i="1" smtClean="0">
                          <a:solidFill>
                            <a:schemeClr val="bg1"/>
                          </a:solidFill>
                          <a:latin typeface="Cambria Math" panose="02040503050406030204" pitchFamily="18" charset="0"/>
                        </a:rPr>
                        <m:t> </m:t>
                      </m:r>
                      <m:acc>
                        <m:accPr>
                          <m:chr m:val="̅"/>
                          <m:ctrlPr>
                            <a:rPr lang="en-US" b="0" i="1" smtClean="0">
                              <a:solidFill>
                                <a:schemeClr val="bg1"/>
                              </a:solidFill>
                              <a:latin typeface="Cambria Math" panose="02040503050406030204" pitchFamily="18" charset="0"/>
                            </a:rPr>
                          </m:ctrlPr>
                        </m:accPr>
                        <m:e>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𝑥</m:t>
                              </m:r>
                            </m:e>
                            <m:sub>
                              <m:r>
                                <a:rPr lang="en-US" b="0" i="1" smtClean="0">
                                  <a:solidFill>
                                    <a:schemeClr val="bg1"/>
                                  </a:solidFill>
                                  <a:latin typeface="Cambria Math" panose="02040503050406030204" pitchFamily="18" charset="0"/>
                                </a:rPr>
                                <m:t>3</m:t>
                              </m:r>
                            </m:sub>
                          </m:sSub>
                        </m:e>
                      </m:acc>
                    </m:oMath>
                  </m:oMathPara>
                </a14:m>
                <a:endParaRPr lang="en-US" dirty="0">
                  <a:solidFill>
                    <a:schemeClr val="bg1"/>
                  </a:solidFill>
                </a:endParaRPr>
              </a:p>
            </p:txBody>
          </p:sp>
        </mc:Choice>
        <mc:Fallback xmlns="">
          <p:sp>
            <p:nvSpPr>
              <p:cNvPr id="10" name="Oval 9">
                <a:extLst>
                  <a:ext uri="{FF2B5EF4-FFF2-40B4-BE49-F238E27FC236}">
                    <a16:creationId xmlns:a16="http://schemas.microsoft.com/office/drawing/2014/main" id="{7206D0A1-EC73-4F41-AD32-D60DD2780A2A}"/>
                  </a:ext>
                </a:extLst>
              </p:cNvPr>
              <p:cNvSpPr>
                <a:spLocks noRot="1" noChangeAspect="1" noMove="1" noResize="1" noEditPoints="1" noAdjustHandles="1" noChangeArrowheads="1" noChangeShapeType="1" noTextEdit="1"/>
              </p:cNvSpPr>
              <p:nvPr/>
            </p:nvSpPr>
            <p:spPr>
              <a:xfrm>
                <a:off x="5377755" y="5773088"/>
                <a:ext cx="543208" cy="543208"/>
              </a:xfrm>
              <a:prstGeom prst="ellipse">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Oval 10">
                <a:extLst>
                  <a:ext uri="{FF2B5EF4-FFF2-40B4-BE49-F238E27FC236}">
                    <a16:creationId xmlns:a16="http://schemas.microsoft.com/office/drawing/2014/main" id="{5350F9A5-A6D1-BB4B-B24D-3DFE8D0734D1}"/>
                  </a:ext>
                </a:extLst>
              </p:cNvPr>
              <p:cNvSpPr/>
              <p:nvPr/>
            </p:nvSpPr>
            <p:spPr>
              <a:xfrm>
                <a:off x="9794338" y="3763219"/>
                <a:ext cx="543208" cy="543208"/>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b="0" i="1" smtClean="0">
                          <a:solidFill>
                            <a:schemeClr val="bg1"/>
                          </a:solidFill>
                          <a:latin typeface="Cambria Math" panose="02040503050406030204" pitchFamily="18" charset="0"/>
                        </a:rPr>
                        <m:t> </m:t>
                      </m:r>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𝑥</m:t>
                          </m:r>
                        </m:e>
                        <m:sub>
                          <m:r>
                            <a:rPr lang="en-US" b="0" i="1" smtClean="0">
                              <a:solidFill>
                                <a:schemeClr val="bg1"/>
                              </a:solidFill>
                              <a:latin typeface="Cambria Math" panose="02040503050406030204" pitchFamily="18" charset="0"/>
                            </a:rPr>
                            <m:t>1</m:t>
                          </m:r>
                        </m:sub>
                      </m:sSub>
                    </m:oMath>
                  </m:oMathPara>
                </a14:m>
                <a:endParaRPr lang="en-US" dirty="0">
                  <a:solidFill>
                    <a:schemeClr val="bg1"/>
                  </a:solidFill>
                </a:endParaRPr>
              </a:p>
            </p:txBody>
          </p:sp>
        </mc:Choice>
        <mc:Fallback xmlns="">
          <p:sp>
            <p:nvSpPr>
              <p:cNvPr id="11" name="Oval 10">
                <a:extLst>
                  <a:ext uri="{FF2B5EF4-FFF2-40B4-BE49-F238E27FC236}">
                    <a16:creationId xmlns:a16="http://schemas.microsoft.com/office/drawing/2014/main" id="{5350F9A5-A6D1-BB4B-B24D-3DFE8D0734D1}"/>
                  </a:ext>
                </a:extLst>
              </p:cNvPr>
              <p:cNvSpPr>
                <a:spLocks noRot="1" noChangeAspect="1" noMove="1" noResize="1" noEditPoints="1" noAdjustHandles="1" noChangeArrowheads="1" noChangeShapeType="1" noTextEdit="1"/>
              </p:cNvSpPr>
              <p:nvPr/>
            </p:nvSpPr>
            <p:spPr>
              <a:xfrm>
                <a:off x="9794338" y="3763219"/>
                <a:ext cx="543208" cy="543208"/>
              </a:xfrm>
              <a:prstGeom prst="ellipse">
                <a:avLst/>
              </a:prstGeom>
              <a:blipFill>
                <a:blip r:embed="rId8"/>
                <a:stretch>
                  <a:fillRect l="-222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Oval 11">
                <a:extLst>
                  <a:ext uri="{FF2B5EF4-FFF2-40B4-BE49-F238E27FC236}">
                    <a16:creationId xmlns:a16="http://schemas.microsoft.com/office/drawing/2014/main" id="{77033AA9-BB01-334B-BFAC-F224D9A3E0D8}"/>
                  </a:ext>
                </a:extLst>
              </p:cNvPr>
              <p:cNvSpPr/>
              <p:nvPr/>
            </p:nvSpPr>
            <p:spPr>
              <a:xfrm>
                <a:off x="9794338" y="4766645"/>
                <a:ext cx="543208" cy="543208"/>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b="0" i="1" smtClean="0">
                          <a:solidFill>
                            <a:schemeClr val="bg1"/>
                          </a:solidFill>
                          <a:latin typeface="Cambria Math" panose="02040503050406030204" pitchFamily="18" charset="0"/>
                        </a:rPr>
                        <m:t> </m:t>
                      </m:r>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𝑥</m:t>
                          </m:r>
                        </m:e>
                        <m:sub>
                          <m:r>
                            <a:rPr lang="en-US" b="0" i="1" smtClean="0">
                              <a:solidFill>
                                <a:schemeClr val="bg1"/>
                              </a:solidFill>
                              <a:latin typeface="Cambria Math" panose="02040503050406030204" pitchFamily="18" charset="0"/>
                            </a:rPr>
                            <m:t>2</m:t>
                          </m:r>
                        </m:sub>
                      </m:sSub>
                    </m:oMath>
                  </m:oMathPara>
                </a14:m>
                <a:endParaRPr lang="en-US" dirty="0">
                  <a:solidFill>
                    <a:schemeClr val="bg1"/>
                  </a:solidFill>
                </a:endParaRPr>
              </a:p>
            </p:txBody>
          </p:sp>
        </mc:Choice>
        <mc:Fallback xmlns="">
          <p:sp>
            <p:nvSpPr>
              <p:cNvPr id="12" name="Oval 11">
                <a:extLst>
                  <a:ext uri="{FF2B5EF4-FFF2-40B4-BE49-F238E27FC236}">
                    <a16:creationId xmlns:a16="http://schemas.microsoft.com/office/drawing/2014/main" id="{77033AA9-BB01-334B-BFAC-F224D9A3E0D8}"/>
                  </a:ext>
                </a:extLst>
              </p:cNvPr>
              <p:cNvSpPr>
                <a:spLocks noRot="1" noChangeAspect="1" noMove="1" noResize="1" noEditPoints="1" noAdjustHandles="1" noChangeArrowheads="1" noChangeShapeType="1" noTextEdit="1"/>
              </p:cNvSpPr>
              <p:nvPr/>
            </p:nvSpPr>
            <p:spPr>
              <a:xfrm>
                <a:off x="9794338" y="4766645"/>
                <a:ext cx="543208" cy="543208"/>
              </a:xfrm>
              <a:prstGeom prst="ellipse">
                <a:avLst/>
              </a:prstGeom>
              <a:blipFill>
                <a:blip r:embed="rId9"/>
                <a:stretch>
                  <a:fillRect l="-222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Oval 12">
                <a:extLst>
                  <a:ext uri="{FF2B5EF4-FFF2-40B4-BE49-F238E27FC236}">
                    <a16:creationId xmlns:a16="http://schemas.microsoft.com/office/drawing/2014/main" id="{4490E357-5B28-C24D-9D1A-EF3C2C12DBFB}"/>
                  </a:ext>
                </a:extLst>
              </p:cNvPr>
              <p:cNvSpPr/>
              <p:nvPr/>
            </p:nvSpPr>
            <p:spPr>
              <a:xfrm>
                <a:off x="9794338" y="5770071"/>
                <a:ext cx="543208" cy="543208"/>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b="0" i="1" smtClean="0">
                          <a:solidFill>
                            <a:schemeClr val="bg1"/>
                          </a:solidFill>
                          <a:latin typeface="Cambria Math" panose="02040503050406030204" pitchFamily="18" charset="0"/>
                        </a:rPr>
                        <m:t> </m:t>
                      </m:r>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𝑥</m:t>
                          </m:r>
                        </m:e>
                        <m:sub>
                          <m:r>
                            <a:rPr lang="en-US" b="0" i="1" smtClean="0">
                              <a:solidFill>
                                <a:schemeClr val="bg1"/>
                              </a:solidFill>
                              <a:latin typeface="Cambria Math" panose="02040503050406030204" pitchFamily="18" charset="0"/>
                            </a:rPr>
                            <m:t>3</m:t>
                          </m:r>
                        </m:sub>
                      </m:sSub>
                    </m:oMath>
                  </m:oMathPara>
                </a14:m>
                <a:endParaRPr lang="en-US" dirty="0">
                  <a:solidFill>
                    <a:schemeClr val="bg1"/>
                  </a:solidFill>
                </a:endParaRPr>
              </a:p>
            </p:txBody>
          </p:sp>
        </mc:Choice>
        <mc:Fallback xmlns="">
          <p:sp>
            <p:nvSpPr>
              <p:cNvPr id="13" name="Oval 12">
                <a:extLst>
                  <a:ext uri="{FF2B5EF4-FFF2-40B4-BE49-F238E27FC236}">
                    <a16:creationId xmlns:a16="http://schemas.microsoft.com/office/drawing/2014/main" id="{4490E357-5B28-C24D-9D1A-EF3C2C12DBFB}"/>
                  </a:ext>
                </a:extLst>
              </p:cNvPr>
              <p:cNvSpPr>
                <a:spLocks noRot="1" noChangeAspect="1" noMove="1" noResize="1" noEditPoints="1" noAdjustHandles="1" noChangeArrowheads="1" noChangeShapeType="1" noTextEdit="1"/>
              </p:cNvSpPr>
              <p:nvPr/>
            </p:nvSpPr>
            <p:spPr>
              <a:xfrm>
                <a:off x="9794338" y="5770071"/>
                <a:ext cx="543208" cy="543208"/>
              </a:xfrm>
              <a:prstGeom prst="ellipse">
                <a:avLst/>
              </a:prstGeom>
              <a:blipFill>
                <a:blip r:embed="rId10"/>
                <a:stretch>
                  <a:fillRect l="-222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Oval 13">
                <a:extLst>
                  <a:ext uri="{FF2B5EF4-FFF2-40B4-BE49-F238E27FC236}">
                    <a16:creationId xmlns:a16="http://schemas.microsoft.com/office/drawing/2014/main" id="{72C784C3-B233-0E4B-9B1D-CDBE9E2398EC}"/>
                  </a:ext>
                </a:extLst>
              </p:cNvPr>
              <p:cNvSpPr/>
              <p:nvPr/>
            </p:nvSpPr>
            <p:spPr>
              <a:xfrm>
                <a:off x="6444555" y="2749235"/>
                <a:ext cx="543208" cy="543208"/>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b="0" i="1" smtClean="0">
                          <a:solidFill>
                            <a:schemeClr val="bg1"/>
                          </a:solidFill>
                          <a:latin typeface="Cambria Math" panose="02040503050406030204" pitchFamily="18" charset="0"/>
                        </a:rPr>
                        <m:t> </m:t>
                      </m:r>
                      <m:acc>
                        <m:accPr>
                          <m:chr m:val="̅"/>
                          <m:ctrlPr>
                            <a:rPr lang="en-US" b="0" i="1" smtClean="0">
                              <a:solidFill>
                                <a:schemeClr val="bg1"/>
                              </a:solidFill>
                              <a:latin typeface="Cambria Math" panose="02040503050406030204" pitchFamily="18" charset="0"/>
                            </a:rPr>
                          </m:ctrlPr>
                        </m:accPr>
                        <m:e>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𝑥</m:t>
                              </m:r>
                            </m:e>
                            <m:sub>
                              <m:r>
                                <a:rPr lang="en-US" b="0" i="1" smtClean="0">
                                  <a:solidFill>
                                    <a:schemeClr val="bg1"/>
                                  </a:solidFill>
                                  <a:latin typeface="Cambria Math" panose="02040503050406030204" pitchFamily="18" charset="0"/>
                                </a:rPr>
                                <m:t>1</m:t>
                              </m:r>
                            </m:sub>
                          </m:sSub>
                        </m:e>
                      </m:acc>
                    </m:oMath>
                  </m:oMathPara>
                </a14:m>
                <a:endParaRPr lang="en-US" dirty="0">
                  <a:solidFill>
                    <a:schemeClr val="bg1"/>
                  </a:solidFill>
                </a:endParaRPr>
              </a:p>
            </p:txBody>
          </p:sp>
        </mc:Choice>
        <mc:Fallback xmlns="">
          <p:sp>
            <p:nvSpPr>
              <p:cNvPr id="14" name="Oval 13">
                <a:extLst>
                  <a:ext uri="{FF2B5EF4-FFF2-40B4-BE49-F238E27FC236}">
                    <a16:creationId xmlns:a16="http://schemas.microsoft.com/office/drawing/2014/main" id="{72C784C3-B233-0E4B-9B1D-CDBE9E2398EC}"/>
                  </a:ext>
                </a:extLst>
              </p:cNvPr>
              <p:cNvSpPr>
                <a:spLocks noRot="1" noChangeAspect="1" noMove="1" noResize="1" noEditPoints="1" noAdjustHandles="1" noChangeArrowheads="1" noChangeShapeType="1" noTextEdit="1"/>
              </p:cNvSpPr>
              <p:nvPr/>
            </p:nvSpPr>
            <p:spPr>
              <a:xfrm>
                <a:off x="6444555" y="2749235"/>
                <a:ext cx="543208" cy="543208"/>
              </a:xfrm>
              <a:prstGeom prst="ellipse">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Oval 14">
                <a:extLst>
                  <a:ext uri="{FF2B5EF4-FFF2-40B4-BE49-F238E27FC236}">
                    <a16:creationId xmlns:a16="http://schemas.microsoft.com/office/drawing/2014/main" id="{78A4BC7A-0AD2-B347-9390-C4D998A2025F}"/>
                  </a:ext>
                </a:extLst>
              </p:cNvPr>
              <p:cNvSpPr/>
              <p:nvPr/>
            </p:nvSpPr>
            <p:spPr>
              <a:xfrm>
                <a:off x="7610944" y="2749235"/>
                <a:ext cx="543208" cy="543208"/>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b="0" i="1" smtClean="0">
                          <a:solidFill>
                            <a:schemeClr val="bg1"/>
                          </a:solidFill>
                          <a:latin typeface="Cambria Math" panose="02040503050406030204" pitchFamily="18" charset="0"/>
                        </a:rPr>
                        <m:t> </m:t>
                      </m:r>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𝑥</m:t>
                          </m:r>
                        </m:e>
                        <m:sub>
                          <m:r>
                            <a:rPr lang="en-US" b="0" i="1" smtClean="0">
                              <a:solidFill>
                                <a:schemeClr val="bg1"/>
                              </a:solidFill>
                              <a:latin typeface="Cambria Math" panose="02040503050406030204" pitchFamily="18" charset="0"/>
                            </a:rPr>
                            <m:t>2</m:t>
                          </m:r>
                        </m:sub>
                      </m:sSub>
                    </m:oMath>
                  </m:oMathPara>
                </a14:m>
                <a:endParaRPr lang="en-US" dirty="0">
                  <a:solidFill>
                    <a:schemeClr val="bg1"/>
                  </a:solidFill>
                </a:endParaRPr>
              </a:p>
            </p:txBody>
          </p:sp>
        </mc:Choice>
        <mc:Fallback xmlns="">
          <p:sp>
            <p:nvSpPr>
              <p:cNvPr id="15" name="Oval 14">
                <a:extLst>
                  <a:ext uri="{FF2B5EF4-FFF2-40B4-BE49-F238E27FC236}">
                    <a16:creationId xmlns:a16="http://schemas.microsoft.com/office/drawing/2014/main" id="{78A4BC7A-0AD2-B347-9390-C4D998A2025F}"/>
                  </a:ext>
                </a:extLst>
              </p:cNvPr>
              <p:cNvSpPr>
                <a:spLocks noRot="1" noChangeAspect="1" noMove="1" noResize="1" noEditPoints="1" noAdjustHandles="1" noChangeArrowheads="1" noChangeShapeType="1" noTextEdit="1"/>
              </p:cNvSpPr>
              <p:nvPr/>
            </p:nvSpPr>
            <p:spPr>
              <a:xfrm>
                <a:off x="7610944" y="2749235"/>
                <a:ext cx="543208" cy="543208"/>
              </a:xfrm>
              <a:prstGeom prst="ellipse">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 name="Oval 15">
                <a:extLst>
                  <a:ext uri="{FF2B5EF4-FFF2-40B4-BE49-F238E27FC236}">
                    <a16:creationId xmlns:a16="http://schemas.microsoft.com/office/drawing/2014/main" id="{C7462B37-7CE7-1A49-BCE5-580A9CDD90E8}"/>
                  </a:ext>
                </a:extLst>
              </p:cNvPr>
              <p:cNvSpPr/>
              <p:nvPr/>
            </p:nvSpPr>
            <p:spPr>
              <a:xfrm>
                <a:off x="8777333" y="2749235"/>
                <a:ext cx="543208" cy="543208"/>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b="0" i="1" smtClean="0">
                          <a:solidFill>
                            <a:schemeClr val="bg1"/>
                          </a:solidFill>
                          <a:latin typeface="Cambria Math" panose="02040503050406030204" pitchFamily="18" charset="0"/>
                        </a:rPr>
                        <m:t> </m:t>
                      </m:r>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𝑥</m:t>
                          </m:r>
                        </m:e>
                        <m:sub>
                          <m:r>
                            <a:rPr lang="en-US" b="0" i="1" smtClean="0">
                              <a:solidFill>
                                <a:schemeClr val="bg1"/>
                              </a:solidFill>
                              <a:latin typeface="Cambria Math" panose="02040503050406030204" pitchFamily="18" charset="0"/>
                            </a:rPr>
                            <m:t>3</m:t>
                          </m:r>
                        </m:sub>
                      </m:sSub>
                    </m:oMath>
                  </m:oMathPara>
                </a14:m>
                <a:endParaRPr lang="en-US" dirty="0">
                  <a:solidFill>
                    <a:schemeClr val="bg1"/>
                  </a:solidFill>
                </a:endParaRPr>
              </a:p>
            </p:txBody>
          </p:sp>
        </mc:Choice>
        <mc:Fallback xmlns="">
          <p:sp>
            <p:nvSpPr>
              <p:cNvPr id="16" name="Oval 15">
                <a:extLst>
                  <a:ext uri="{FF2B5EF4-FFF2-40B4-BE49-F238E27FC236}">
                    <a16:creationId xmlns:a16="http://schemas.microsoft.com/office/drawing/2014/main" id="{C7462B37-7CE7-1A49-BCE5-580A9CDD90E8}"/>
                  </a:ext>
                </a:extLst>
              </p:cNvPr>
              <p:cNvSpPr>
                <a:spLocks noRot="1" noChangeAspect="1" noMove="1" noResize="1" noEditPoints="1" noAdjustHandles="1" noChangeArrowheads="1" noChangeShapeType="1" noTextEdit="1"/>
              </p:cNvSpPr>
              <p:nvPr/>
            </p:nvSpPr>
            <p:spPr>
              <a:xfrm>
                <a:off x="8777333" y="2749235"/>
                <a:ext cx="543208" cy="543208"/>
              </a:xfrm>
              <a:prstGeom prst="ellipse">
                <a:avLst/>
              </a:prstGeom>
              <a:blipFill>
                <a:blip r:embed="rId13"/>
                <a:stretch>
                  <a:fillRect l="-2222"/>
                </a:stretch>
              </a:blipFill>
            </p:spPr>
            <p:txBody>
              <a:bodyPr/>
              <a:lstStyle/>
              <a:p>
                <a:r>
                  <a:rPr lang="en-US">
                    <a:noFill/>
                  </a:rPr>
                  <a:t> </a:t>
                </a:r>
              </a:p>
            </p:txBody>
          </p:sp>
        </mc:Fallback>
      </mc:AlternateContent>
      <p:sp>
        <p:nvSpPr>
          <p:cNvPr id="18" name="Rectangle 17">
            <a:extLst>
              <a:ext uri="{FF2B5EF4-FFF2-40B4-BE49-F238E27FC236}">
                <a16:creationId xmlns:a16="http://schemas.microsoft.com/office/drawing/2014/main" id="{6BF33AED-B3BF-D84D-9C46-7A9DE45CD689}"/>
              </a:ext>
            </a:extLst>
          </p:cNvPr>
          <p:cNvSpPr/>
          <p:nvPr/>
        </p:nvSpPr>
        <p:spPr>
          <a:xfrm>
            <a:off x="5169528" y="2580237"/>
            <a:ext cx="5477346" cy="3974471"/>
          </a:xfrm>
          <a:prstGeom prst="rect">
            <a:avLst/>
          </a:pr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Content Placeholder 2">
            <a:extLst>
              <a:ext uri="{FF2B5EF4-FFF2-40B4-BE49-F238E27FC236}">
                <a16:creationId xmlns:a16="http://schemas.microsoft.com/office/drawing/2014/main" id="{41E88A37-34DA-FB4E-A626-20A988C9E9DE}"/>
              </a:ext>
            </a:extLst>
          </p:cNvPr>
          <p:cNvSpPr txBox="1">
            <a:spLocks/>
          </p:cNvSpPr>
          <p:nvPr/>
        </p:nvSpPr>
        <p:spPr>
          <a:xfrm>
            <a:off x="10153454" y="2626712"/>
            <a:ext cx="445962" cy="478637"/>
          </a:xfrm>
          <a:prstGeom prst="rect">
            <a:avLst/>
          </a:prstGeom>
          <a:ln>
            <a:noFill/>
          </a:ln>
        </p:spPr>
        <p:txBody>
          <a:bodyPr vert="horz" lIns="91440" tIns="45720" rIns="91440" bIns="45720" rtlCol="0">
            <a:normAutofit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i="1" dirty="0">
                <a:solidFill>
                  <a:schemeClr val="accent1"/>
                </a:solidFill>
              </a:rPr>
              <a:t>G</a:t>
            </a:r>
          </a:p>
        </p:txBody>
      </p:sp>
    </p:spTree>
    <p:extLst>
      <p:ext uri="{BB962C8B-B14F-4D97-AF65-F5344CB8AC3E}">
        <p14:creationId xmlns:p14="http://schemas.microsoft.com/office/powerpoint/2010/main" val="1452844732"/>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p:cNvSpPr>
                <a:spLocks noGrp="1"/>
              </p:cNvSpPr>
              <p:nvPr>
                <p:ph type="title"/>
              </p:nvPr>
            </p:nvSpPr>
            <p:spPr>
              <a:xfrm>
                <a:off x="1141413" y="274490"/>
                <a:ext cx="9905998" cy="612753"/>
              </a:xfrm>
            </p:spPr>
            <p:txBody>
              <a:bodyPr>
                <a:normAutofit fontScale="90000"/>
              </a:bodyPr>
              <a:lstStyle/>
              <a:p>
                <a:pPr algn="ctr"/>
                <a14:m>
                  <m:oMath xmlns:m="http://schemas.openxmlformats.org/officeDocument/2006/math">
                    <m:r>
                      <a:rPr lang="en-US" b="0" i="1" smtClean="0">
                        <a:latin typeface="Cambria Math" panose="02040503050406030204" pitchFamily="18" charset="0"/>
                      </a:rPr>
                      <m:t>3</m:t>
                    </m:r>
                    <m:r>
                      <a:rPr lang="en-US" b="0" i="1" smtClean="0">
                        <a:latin typeface="Cambria Math" panose="02040503050406030204" pitchFamily="18" charset="0"/>
                      </a:rPr>
                      <m:t>𝑆𝐴𝑇</m:t>
                    </m:r>
                    <m:sSub>
                      <m:sSubPr>
                        <m:ctrlPr>
                          <a:rPr lang="en-US" b="0" i="1" smtClean="0">
                            <a:latin typeface="Cambria Math" panose="02040503050406030204" pitchFamily="18" charset="0"/>
                          </a:rPr>
                        </m:ctrlPr>
                      </m:sSubPr>
                      <m:e>
                        <m:r>
                          <a:rPr lang="en-US" b="0" i="1" smtClean="0">
                            <a:latin typeface="Cambria Math" panose="02040503050406030204" pitchFamily="18" charset="0"/>
                          </a:rPr>
                          <m:t>≤</m:t>
                        </m:r>
                      </m:e>
                      <m:sub>
                        <m:r>
                          <a:rPr lang="en-US" b="0" i="1" smtClean="0">
                            <a:latin typeface="Cambria Math" panose="02040503050406030204" pitchFamily="18" charset="0"/>
                          </a:rPr>
                          <m:t>𝑝</m:t>
                        </m:r>
                      </m:sub>
                    </m:sSub>
                    <m:r>
                      <a:rPr lang="en-US" b="0" i="1" smtClean="0">
                        <a:latin typeface="Cambria Math" panose="02040503050406030204" pitchFamily="18" charset="0"/>
                      </a:rPr>
                      <m:t>𝐶𝑙𝑖𝑞𝑢𝑒</m:t>
                    </m:r>
                  </m:oMath>
                </a14:m>
                <a:r>
                  <a:rPr lang="en-US" dirty="0"/>
                  <a:t>, Step 1</a:t>
                </a:r>
              </a:p>
            </p:txBody>
          </p:sp>
        </mc:Choice>
        <mc:Fallback xmlns="">
          <p:sp>
            <p:nvSpPr>
              <p:cNvPr id="2" name="Title 1"/>
              <p:cNvSpPr>
                <a:spLocks noGrp="1" noRot="1" noChangeAspect="1" noMove="1" noResize="1" noEditPoints="1" noAdjustHandles="1" noChangeArrowheads="1" noChangeShapeType="1" noTextEdit="1"/>
              </p:cNvSpPr>
              <p:nvPr>
                <p:ph type="title"/>
              </p:nvPr>
            </p:nvSpPr>
            <p:spPr>
              <a:xfrm>
                <a:off x="1141413" y="274490"/>
                <a:ext cx="9905998" cy="612753"/>
              </a:xfrm>
              <a:blipFill>
                <a:blip r:embed="rId2"/>
                <a:stretch>
                  <a:fillRect t="-16327" b="-2040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Content Placeholder 2"/>
              <p:cNvSpPr>
                <a:spLocks noGrp="1"/>
              </p:cNvSpPr>
              <p:nvPr>
                <p:ph sz="quarter" idx="1"/>
              </p:nvPr>
            </p:nvSpPr>
            <p:spPr>
              <a:xfrm>
                <a:off x="969397" y="3263480"/>
                <a:ext cx="3475855" cy="1869840"/>
              </a:xfrm>
              <a:ln>
                <a:solidFill>
                  <a:schemeClr val="tx1">
                    <a:lumMod val="95000"/>
                  </a:schemeClr>
                </a:solidFill>
              </a:ln>
            </p:spPr>
            <p:txBody>
              <a:bodyPr>
                <a:normAutofit/>
              </a:bodyPr>
              <a:lstStyle/>
              <a:p>
                <a:pPr marL="0" indent="0" algn="ctr">
                  <a:buNone/>
                </a:pPr>
                <a:r>
                  <a:rPr lang="en-US" b="1" i="1" u="sng" dirty="0"/>
                  <a:t>Step 1</a:t>
                </a:r>
                <a:r>
                  <a:rPr lang="en-US" i="1" dirty="0"/>
                  <a:t>: Create a graph G with nodes where each variable in </a:t>
                </a:r>
                <a14:m>
                  <m:oMath xmlns:m="http://schemas.openxmlformats.org/officeDocument/2006/math">
                    <m:r>
                      <a:rPr lang="en-US" b="0" i="1" smtClean="0">
                        <a:latin typeface="Cambria Math" panose="02040503050406030204" pitchFamily="18" charset="0"/>
                      </a:rPr>
                      <m:t>𝜃</m:t>
                    </m:r>
                  </m:oMath>
                </a14:m>
                <a:r>
                  <a:rPr lang="en-US" i="1" dirty="0"/>
                  <a:t> represents a node in G</a:t>
                </a:r>
              </a:p>
            </p:txBody>
          </p:sp>
        </mc:Choice>
        <mc:Fallback xmlns="">
          <p:sp>
            <p:nvSpPr>
              <p:cNvPr id="3" name="Content Placeholder 2"/>
              <p:cNvSpPr>
                <a:spLocks noGrp="1" noRot="1" noChangeAspect="1" noMove="1" noResize="1" noEditPoints="1" noAdjustHandles="1" noChangeArrowheads="1" noChangeShapeType="1" noTextEdit="1"/>
              </p:cNvSpPr>
              <p:nvPr>
                <p:ph sz="quarter" idx="1"/>
              </p:nvPr>
            </p:nvSpPr>
            <p:spPr>
              <a:xfrm>
                <a:off x="969397" y="3263480"/>
                <a:ext cx="3475855" cy="1869840"/>
              </a:xfrm>
              <a:blipFill>
                <a:blip r:embed="rId3"/>
                <a:stretch>
                  <a:fillRect t="-671" r="-725" b="-4027"/>
                </a:stretch>
              </a:blipFill>
              <a:ln>
                <a:solidFill>
                  <a:schemeClr val="tx1">
                    <a:lumMod val="95000"/>
                  </a:schemeClr>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Content Placeholder 2">
                <a:extLst>
                  <a:ext uri="{FF2B5EF4-FFF2-40B4-BE49-F238E27FC236}">
                    <a16:creationId xmlns:a16="http://schemas.microsoft.com/office/drawing/2014/main" id="{E8FD7EC5-F759-3443-A400-8D08882410D9}"/>
                  </a:ext>
                </a:extLst>
              </p:cNvPr>
              <p:cNvSpPr txBox="1">
                <a:spLocks/>
              </p:cNvSpPr>
              <p:nvPr/>
            </p:nvSpPr>
            <p:spPr>
              <a:xfrm>
                <a:off x="2300256" y="1484196"/>
                <a:ext cx="7586129" cy="598099"/>
              </a:xfrm>
              <a:prstGeom prst="rect">
                <a:avLst/>
              </a:prstGeom>
              <a:solidFill>
                <a:schemeClr val="tx1">
                  <a:lumMod val="95000"/>
                </a:schemeClr>
              </a:solidFill>
              <a:ln>
                <a:solidFill>
                  <a:schemeClr val="bg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None/>
                </a:pPr>
                <a14:m>
                  <m:oMathPara xmlns:m="http://schemas.openxmlformats.org/officeDocument/2006/math">
                    <m:oMathParaPr>
                      <m:jc m:val="centerGroup"/>
                    </m:oMathParaPr>
                    <m:oMath xmlns:m="http://schemas.openxmlformats.org/officeDocument/2006/math">
                      <m:r>
                        <a:rPr lang="en-US" b="0" i="1" smtClean="0">
                          <a:solidFill>
                            <a:schemeClr val="bg1"/>
                          </a:solidFill>
                          <a:latin typeface="Cambria Math" panose="02040503050406030204" pitchFamily="18" charset="0"/>
                        </a:rPr>
                        <m:t>𝜃</m:t>
                      </m:r>
                      <m:r>
                        <a:rPr lang="en-US" b="0" i="1" smtClean="0">
                          <a:solidFill>
                            <a:schemeClr val="bg1"/>
                          </a:solidFill>
                          <a:latin typeface="Cambria Math" panose="02040503050406030204" pitchFamily="18" charset="0"/>
                        </a:rPr>
                        <m:t>=</m:t>
                      </m:r>
                      <m:d>
                        <m:dPr>
                          <m:ctrlPr>
                            <a:rPr lang="en-US" b="0" i="1" smtClean="0">
                              <a:solidFill>
                                <a:schemeClr val="bg1"/>
                              </a:solidFill>
                              <a:latin typeface="Cambria Math" panose="02040503050406030204" pitchFamily="18" charset="0"/>
                            </a:rPr>
                          </m:ctrlPr>
                        </m:dPr>
                        <m:e>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𝑥</m:t>
                              </m:r>
                            </m:e>
                            <m:sub>
                              <m:r>
                                <a:rPr lang="en-US" b="0" i="1" smtClean="0">
                                  <a:solidFill>
                                    <a:schemeClr val="bg1"/>
                                  </a:solidFill>
                                  <a:latin typeface="Cambria Math" panose="02040503050406030204" pitchFamily="18" charset="0"/>
                                </a:rPr>
                                <m:t>1</m:t>
                              </m:r>
                            </m:sub>
                          </m:sSub>
                          <m:r>
                            <a:rPr lang="en-US" b="0" i="1" smtClean="0">
                              <a:solidFill>
                                <a:schemeClr val="bg1"/>
                              </a:solidFill>
                              <a:latin typeface="Cambria Math" panose="02040503050406030204" pitchFamily="18" charset="0"/>
                            </a:rPr>
                            <m:t>∨</m:t>
                          </m:r>
                          <m:acc>
                            <m:accPr>
                              <m:chr m:val="̅"/>
                              <m:ctrlPr>
                                <a:rPr lang="en-US" b="0" i="1" smtClean="0">
                                  <a:solidFill>
                                    <a:schemeClr val="bg1"/>
                                  </a:solidFill>
                                  <a:latin typeface="Cambria Math" panose="02040503050406030204" pitchFamily="18" charset="0"/>
                                </a:rPr>
                              </m:ctrlPr>
                            </m:accPr>
                            <m:e>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𝑥</m:t>
                                  </m:r>
                                </m:e>
                                <m:sub>
                                  <m:r>
                                    <a:rPr lang="en-US" b="0" i="1" smtClean="0">
                                      <a:solidFill>
                                        <a:schemeClr val="bg1"/>
                                      </a:solidFill>
                                      <a:latin typeface="Cambria Math" panose="02040503050406030204" pitchFamily="18" charset="0"/>
                                    </a:rPr>
                                    <m:t>2</m:t>
                                  </m:r>
                                </m:sub>
                              </m:sSub>
                            </m:e>
                          </m:acc>
                          <m:r>
                            <a:rPr lang="en-US" b="0" i="1" smtClean="0">
                              <a:solidFill>
                                <a:schemeClr val="bg1"/>
                              </a:solidFill>
                              <a:latin typeface="Cambria Math" panose="02040503050406030204" pitchFamily="18" charset="0"/>
                            </a:rPr>
                            <m:t>∨</m:t>
                          </m:r>
                          <m:acc>
                            <m:accPr>
                              <m:chr m:val="̅"/>
                              <m:ctrlPr>
                                <a:rPr lang="en-US" b="0" i="1" smtClean="0">
                                  <a:solidFill>
                                    <a:schemeClr val="bg1"/>
                                  </a:solidFill>
                                  <a:latin typeface="Cambria Math" panose="02040503050406030204" pitchFamily="18" charset="0"/>
                                </a:rPr>
                              </m:ctrlPr>
                            </m:accPr>
                            <m:e>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𝑥</m:t>
                                  </m:r>
                                </m:e>
                                <m:sub>
                                  <m:r>
                                    <a:rPr lang="en-US" b="0" i="1" smtClean="0">
                                      <a:solidFill>
                                        <a:schemeClr val="bg1"/>
                                      </a:solidFill>
                                      <a:latin typeface="Cambria Math" panose="02040503050406030204" pitchFamily="18" charset="0"/>
                                    </a:rPr>
                                    <m:t>3</m:t>
                                  </m:r>
                                </m:sub>
                              </m:sSub>
                            </m:e>
                          </m:acc>
                        </m:e>
                      </m:d>
                      <m:r>
                        <a:rPr lang="en-US" b="0" i="1" smtClean="0">
                          <a:solidFill>
                            <a:schemeClr val="bg1"/>
                          </a:solidFill>
                          <a:latin typeface="Cambria Math" panose="02040503050406030204" pitchFamily="18" charset="0"/>
                        </a:rPr>
                        <m:t>∧</m:t>
                      </m:r>
                      <m:d>
                        <m:dPr>
                          <m:ctrlPr>
                            <a:rPr lang="en-US" b="0" i="1" smtClean="0">
                              <a:solidFill>
                                <a:schemeClr val="bg1"/>
                              </a:solidFill>
                              <a:latin typeface="Cambria Math" panose="02040503050406030204" pitchFamily="18" charset="0"/>
                            </a:rPr>
                          </m:ctrlPr>
                        </m:dPr>
                        <m:e>
                          <m:acc>
                            <m:accPr>
                              <m:chr m:val="̅"/>
                              <m:ctrlPr>
                                <a:rPr lang="en-US" b="0" i="1" smtClean="0">
                                  <a:solidFill>
                                    <a:schemeClr val="bg1"/>
                                  </a:solidFill>
                                  <a:latin typeface="Cambria Math" panose="02040503050406030204" pitchFamily="18" charset="0"/>
                                </a:rPr>
                              </m:ctrlPr>
                            </m:accPr>
                            <m:e>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𝑥</m:t>
                                  </m:r>
                                </m:e>
                                <m:sub>
                                  <m:r>
                                    <a:rPr lang="en-US" b="0" i="1" smtClean="0">
                                      <a:solidFill>
                                        <a:schemeClr val="bg1"/>
                                      </a:solidFill>
                                      <a:latin typeface="Cambria Math" panose="02040503050406030204" pitchFamily="18" charset="0"/>
                                    </a:rPr>
                                    <m:t>1</m:t>
                                  </m:r>
                                </m:sub>
                              </m:sSub>
                            </m:e>
                          </m:acc>
                          <m:r>
                            <a:rPr lang="en-US" b="0" i="1" smtClean="0">
                              <a:solidFill>
                                <a:schemeClr val="bg1"/>
                              </a:solidFill>
                              <a:latin typeface="Cambria Math" panose="02040503050406030204" pitchFamily="18" charset="0"/>
                            </a:rPr>
                            <m:t>∨</m:t>
                          </m:r>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𝑥</m:t>
                              </m:r>
                            </m:e>
                            <m:sub>
                              <m:r>
                                <a:rPr lang="en-US" b="0" i="1" smtClean="0">
                                  <a:solidFill>
                                    <a:schemeClr val="bg1"/>
                                  </a:solidFill>
                                  <a:latin typeface="Cambria Math" panose="02040503050406030204" pitchFamily="18" charset="0"/>
                                </a:rPr>
                                <m:t>2</m:t>
                              </m:r>
                            </m:sub>
                          </m:sSub>
                          <m:r>
                            <a:rPr lang="en-US" b="0" i="1" smtClean="0">
                              <a:solidFill>
                                <a:schemeClr val="bg1"/>
                              </a:solidFill>
                              <a:latin typeface="Cambria Math" panose="02040503050406030204" pitchFamily="18" charset="0"/>
                            </a:rPr>
                            <m:t>∨</m:t>
                          </m:r>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𝑥</m:t>
                              </m:r>
                            </m:e>
                            <m:sub>
                              <m:r>
                                <a:rPr lang="en-US" b="0" i="1" smtClean="0">
                                  <a:solidFill>
                                    <a:schemeClr val="bg1"/>
                                  </a:solidFill>
                                  <a:latin typeface="Cambria Math" panose="02040503050406030204" pitchFamily="18" charset="0"/>
                                </a:rPr>
                                <m:t>3</m:t>
                              </m:r>
                            </m:sub>
                          </m:sSub>
                        </m:e>
                      </m:d>
                      <m:r>
                        <a:rPr lang="en-US" b="0" i="1" smtClean="0">
                          <a:solidFill>
                            <a:schemeClr val="bg1"/>
                          </a:solidFill>
                          <a:latin typeface="Cambria Math" panose="02040503050406030204" pitchFamily="18" charset="0"/>
                        </a:rPr>
                        <m:t>∧(</m:t>
                      </m:r>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𝑥</m:t>
                          </m:r>
                        </m:e>
                        <m:sub>
                          <m:r>
                            <a:rPr lang="en-US" b="0" i="1" smtClean="0">
                              <a:solidFill>
                                <a:schemeClr val="bg1"/>
                              </a:solidFill>
                              <a:latin typeface="Cambria Math" panose="02040503050406030204" pitchFamily="18" charset="0"/>
                            </a:rPr>
                            <m:t>1</m:t>
                          </m:r>
                        </m:sub>
                      </m:sSub>
                      <m:r>
                        <a:rPr lang="en-US" b="0" i="1" smtClean="0">
                          <a:solidFill>
                            <a:schemeClr val="bg1"/>
                          </a:solidFill>
                          <a:latin typeface="Cambria Math" panose="02040503050406030204" pitchFamily="18" charset="0"/>
                        </a:rPr>
                        <m:t>∨</m:t>
                      </m:r>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𝑥</m:t>
                          </m:r>
                        </m:e>
                        <m:sub>
                          <m:r>
                            <a:rPr lang="en-US" b="0" i="1" smtClean="0">
                              <a:solidFill>
                                <a:schemeClr val="bg1"/>
                              </a:solidFill>
                              <a:latin typeface="Cambria Math" panose="02040503050406030204" pitchFamily="18" charset="0"/>
                            </a:rPr>
                            <m:t>2</m:t>
                          </m:r>
                        </m:sub>
                      </m:sSub>
                      <m:r>
                        <a:rPr lang="en-US" b="0" i="1" smtClean="0">
                          <a:solidFill>
                            <a:schemeClr val="bg1"/>
                          </a:solidFill>
                          <a:latin typeface="Cambria Math" panose="02040503050406030204" pitchFamily="18" charset="0"/>
                        </a:rPr>
                        <m:t>∨</m:t>
                      </m:r>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𝑥</m:t>
                          </m:r>
                        </m:e>
                        <m:sub>
                          <m:r>
                            <a:rPr lang="en-US" b="0" i="1" smtClean="0">
                              <a:solidFill>
                                <a:schemeClr val="bg1"/>
                              </a:solidFill>
                              <a:latin typeface="Cambria Math" panose="02040503050406030204" pitchFamily="18" charset="0"/>
                            </a:rPr>
                            <m:t>3</m:t>
                          </m:r>
                        </m:sub>
                      </m:sSub>
                      <m:r>
                        <a:rPr lang="en-US" b="0" i="1" smtClean="0">
                          <a:solidFill>
                            <a:schemeClr val="bg1"/>
                          </a:solidFill>
                          <a:latin typeface="Cambria Math" panose="02040503050406030204" pitchFamily="18" charset="0"/>
                        </a:rPr>
                        <m:t>)</m:t>
                      </m:r>
                    </m:oMath>
                  </m:oMathPara>
                </a14:m>
                <a:endParaRPr lang="en-US" dirty="0">
                  <a:solidFill>
                    <a:schemeClr val="bg1"/>
                  </a:solidFill>
                </a:endParaRPr>
              </a:p>
            </p:txBody>
          </p:sp>
        </mc:Choice>
        <mc:Fallback xmlns="">
          <p:sp>
            <p:nvSpPr>
              <p:cNvPr id="5" name="Content Placeholder 2">
                <a:extLst>
                  <a:ext uri="{FF2B5EF4-FFF2-40B4-BE49-F238E27FC236}">
                    <a16:creationId xmlns:a16="http://schemas.microsoft.com/office/drawing/2014/main" id="{E8FD7EC5-F759-3443-A400-8D08882410D9}"/>
                  </a:ext>
                </a:extLst>
              </p:cNvPr>
              <p:cNvSpPr txBox="1">
                <a:spLocks noRot="1" noChangeAspect="1" noMove="1" noResize="1" noEditPoints="1" noAdjustHandles="1" noChangeArrowheads="1" noChangeShapeType="1" noTextEdit="1"/>
              </p:cNvSpPr>
              <p:nvPr/>
            </p:nvSpPr>
            <p:spPr>
              <a:xfrm>
                <a:off x="2300256" y="1484196"/>
                <a:ext cx="7586129" cy="598099"/>
              </a:xfrm>
              <a:prstGeom prst="rect">
                <a:avLst/>
              </a:prstGeom>
              <a:blipFill>
                <a:blip r:embed="rId4"/>
                <a:stretch>
                  <a:fillRect/>
                </a:stretch>
              </a:blipFill>
              <a:ln>
                <a:solidFill>
                  <a:schemeClr val="bg1"/>
                </a:solidFill>
              </a:ln>
            </p:spPr>
            <p:txBody>
              <a:bodyPr/>
              <a:lstStyle/>
              <a:p>
                <a:r>
                  <a:rPr lang="en-US">
                    <a:noFill/>
                  </a:rPr>
                  <a:t> </a:t>
                </a:r>
              </a:p>
            </p:txBody>
          </p:sp>
        </mc:Fallback>
      </mc:AlternateContent>
      <p:sp>
        <p:nvSpPr>
          <p:cNvPr id="6" name="Content Placeholder 2">
            <a:extLst>
              <a:ext uri="{FF2B5EF4-FFF2-40B4-BE49-F238E27FC236}">
                <a16:creationId xmlns:a16="http://schemas.microsoft.com/office/drawing/2014/main" id="{FF448FEF-4075-E342-87D1-5ACB33834248}"/>
              </a:ext>
            </a:extLst>
          </p:cNvPr>
          <p:cNvSpPr txBox="1">
            <a:spLocks/>
          </p:cNvSpPr>
          <p:nvPr/>
        </p:nvSpPr>
        <p:spPr>
          <a:xfrm>
            <a:off x="2300256" y="1164628"/>
            <a:ext cx="7586129" cy="356343"/>
          </a:xfrm>
          <a:prstGeom prst="rect">
            <a:avLst/>
          </a:prstGeom>
          <a:noFill/>
          <a:ln>
            <a:noFill/>
          </a:ln>
        </p:spPr>
        <p:txBody>
          <a:bodyPr vert="horz" lIns="91440" tIns="45720" rIns="91440" bIns="45720" rtlCol="0">
            <a:normAutofit fontScale="700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None/>
            </a:pPr>
            <a:r>
              <a:rPr lang="en-US" dirty="0">
                <a:solidFill>
                  <a:schemeClr val="tx1">
                    <a:lumMod val="95000"/>
                  </a:schemeClr>
                </a:solidFill>
              </a:rPr>
              <a:t>Consider this 3-SAT formula:</a:t>
            </a:r>
          </a:p>
        </p:txBody>
      </p:sp>
      <mc:AlternateContent xmlns:mc="http://schemas.openxmlformats.org/markup-compatibility/2006" xmlns:a14="http://schemas.microsoft.com/office/drawing/2010/main">
        <mc:Choice Requires="a14">
          <p:sp>
            <p:nvSpPr>
              <p:cNvPr id="4" name="Oval 3">
                <a:extLst>
                  <a:ext uri="{FF2B5EF4-FFF2-40B4-BE49-F238E27FC236}">
                    <a16:creationId xmlns:a16="http://schemas.microsoft.com/office/drawing/2014/main" id="{AA49A5B1-9EEA-504D-8171-2D86014ED3D5}"/>
                  </a:ext>
                </a:extLst>
              </p:cNvPr>
              <p:cNvSpPr/>
              <p:nvPr/>
            </p:nvSpPr>
            <p:spPr>
              <a:xfrm>
                <a:off x="5377755" y="3766236"/>
                <a:ext cx="543208" cy="543208"/>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b="0" i="1" smtClean="0">
                          <a:solidFill>
                            <a:schemeClr val="bg1"/>
                          </a:solidFill>
                          <a:latin typeface="Cambria Math" panose="02040503050406030204" pitchFamily="18" charset="0"/>
                        </a:rPr>
                        <m:t> </m:t>
                      </m:r>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𝑥</m:t>
                          </m:r>
                        </m:e>
                        <m:sub>
                          <m:r>
                            <a:rPr lang="en-US" b="0" i="1" smtClean="0">
                              <a:solidFill>
                                <a:schemeClr val="bg1"/>
                              </a:solidFill>
                              <a:latin typeface="Cambria Math" panose="02040503050406030204" pitchFamily="18" charset="0"/>
                            </a:rPr>
                            <m:t>1</m:t>
                          </m:r>
                        </m:sub>
                      </m:sSub>
                    </m:oMath>
                  </m:oMathPara>
                </a14:m>
                <a:endParaRPr lang="en-US" dirty="0">
                  <a:solidFill>
                    <a:schemeClr val="bg1"/>
                  </a:solidFill>
                </a:endParaRPr>
              </a:p>
            </p:txBody>
          </p:sp>
        </mc:Choice>
        <mc:Fallback xmlns="">
          <p:sp>
            <p:nvSpPr>
              <p:cNvPr id="4" name="Oval 3">
                <a:extLst>
                  <a:ext uri="{FF2B5EF4-FFF2-40B4-BE49-F238E27FC236}">
                    <a16:creationId xmlns:a16="http://schemas.microsoft.com/office/drawing/2014/main" id="{AA49A5B1-9EEA-504D-8171-2D86014ED3D5}"/>
                  </a:ext>
                </a:extLst>
              </p:cNvPr>
              <p:cNvSpPr>
                <a:spLocks noRot="1" noChangeAspect="1" noMove="1" noResize="1" noEditPoints="1" noAdjustHandles="1" noChangeArrowheads="1" noChangeShapeType="1" noTextEdit="1"/>
              </p:cNvSpPr>
              <p:nvPr/>
            </p:nvSpPr>
            <p:spPr>
              <a:xfrm>
                <a:off x="5377755" y="3766236"/>
                <a:ext cx="543208" cy="543208"/>
              </a:xfrm>
              <a:prstGeom prst="ellipse">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Oval 8">
                <a:extLst>
                  <a:ext uri="{FF2B5EF4-FFF2-40B4-BE49-F238E27FC236}">
                    <a16:creationId xmlns:a16="http://schemas.microsoft.com/office/drawing/2014/main" id="{8E69667C-7276-FF41-86D4-6E1485A6ED44}"/>
                  </a:ext>
                </a:extLst>
              </p:cNvPr>
              <p:cNvSpPr/>
              <p:nvPr/>
            </p:nvSpPr>
            <p:spPr>
              <a:xfrm>
                <a:off x="5377755" y="4769662"/>
                <a:ext cx="543208" cy="543208"/>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i="1">
                          <a:solidFill>
                            <a:schemeClr val="bg1"/>
                          </a:solidFill>
                          <a:latin typeface="Cambria Math" panose="02040503050406030204" pitchFamily="18" charset="0"/>
                        </a:rPr>
                        <m:t> </m:t>
                      </m:r>
                      <m:acc>
                        <m:accPr>
                          <m:chr m:val="̅"/>
                          <m:ctrlPr>
                            <a:rPr lang="en-US" b="0" i="1" smtClean="0">
                              <a:solidFill>
                                <a:schemeClr val="bg1"/>
                              </a:solidFill>
                              <a:latin typeface="Cambria Math" panose="02040503050406030204" pitchFamily="18" charset="0"/>
                            </a:rPr>
                          </m:ctrlPr>
                        </m:accPr>
                        <m:e>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𝑥</m:t>
                              </m:r>
                            </m:e>
                            <m:sub>
                              <m:r>
                                <a:rPr lang="en-US" b="0" i="1" smtClean="0">
                                  <a:solidFill>
                                    <a:schemeClr val="bg1"/>
                                  </a:solidFill>
                                  <a:latin typeface="Cambria Math" panose="02040503050406030204" pitchFamily="18" charset="0"/>
                                </a:rPr>
                                <m:t>2</m:t>
                              </m:r>
                            </m:sub>
                          </m:sSub>
                        </m:e>
                      </m:acc>
                    </m:oMath>
                  </m:oMathPara>
                </a14:m>
                <a:endParaRPr lang="en-US" dirty="0">
                  <a:solidFill>
                    <a:schemeClr val="bg1"/>
                  </a:solidFill>
                </a:endParaRPr>
              </a:p>
            </p:txBody>
          </p:sp>
        </mc:Choice>
        <mc:Fallback xmlns="">
          <p:sp>
            <p:nvSpPr>
              <p:cNvPr id="9" name="Oval 8">
                <a:extLst>
                  <a:ext uri="{FF2B5EF4-FFF2-40B4-BE49-F238E27FC236}">
                    <a16:creationId xmlns:a16="http://schemas.microsoft.com/office/drawing/2014/main" id="{8E69667C-7276-FF41-86D4-6E1485A6ED44}"/>
                  </a:ext>
                </a:extLst>
              </p:cNvPr>
              <p:cNvSpPr>
                <a:spLocks noRot="1" noChangeAspect="1" noMove="1" noResize="1" noEditPoints="1" noAdjustHandles="1" noChangeArrowheads="1" noChangeShapeType="1" noTextEdit="1"/>
              </p:cNvSpPr>
              <p:nvPr/>
            </p:nvSpPr>
            <p:spPr>
              <a:xfrm>
                <a:off x="5377755" y="4769662"/>
                <a:ext cx="543208" cy="543208"/>
              </a:xfrm>
              <a:prstGeom prst="ellipse">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Oval 9">
                <a:extLst>
                  <a:ext uri="{FF2B5EF4-FFF2-40B4-BE49-F238E27FC236}">
                    <a16:creationId xmlns:a16="http://schemas.microsoft.com/office/drawing/2014/main" id="{7206D0A1-EC73-4F41-AD32-D60DD2780A2A}"/>
                  </a:ext>
                </a:extLst>
              </p:cNvPr>
              <p:cNvSpPr/>
              <p:nvPr/>
            </p:nvSpPr>
            <p:spPr>
              <a:xfrm>
                <a:off x="5377755" y="5773088"/>
                <a:ext cx="543208" cy="543208"/>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b="0" i="1" smtClean="0">
                          <a:solidFill>
                            <a:schemeClr val="bg1"/>
                          </a:solidFill>
                          <a:latin typeface="Cambria Math" panose="02040503050406030204" pitchFamily="18" charset="0"/>
                        </a:rPr>
                        <m:t> </m:t>
                      </m:r>
                      <m:acc>
                        <m:accPr>
                          <m:chr m:val="̅"/>
                          <m:ctrlPr>
                            <a:rPr lang="en-US" b="0" i="1" smtClean="0">
                              <a:solidFill>
                                <a:schemeClr val="bg1"/>
                              </a:solidFill>
                              <a:latin typeface="Cambria Math" panose="02040503050406030204" pitchFamily="18" charset="0"/>
                            </a:rPr>
                          </m:ctrlPr>
                        </m:accPr>
                        <m:e>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𝑥</m:t>
                              </m:r>
                            </m:e>
                            <m:sub>
                              <m:r>
                                <a:rPr lang="en-US" b="0" i="1" smtClean="0">
                                  <a:solidFill>
                                    <a:schemeClr val="bg1"/>
                                  </a:solidFill>
                                  <a:latin typeface="Cambria Math" panose="02040503050406030204" pitchFamily="18" charset="0"/>
                                </a:rPr>
                                <m:t>3</m:t>
                              </m:r>
                            </m:sub>
                          </m:sSub>
                        </m:e>
                      </m:acc>
                    </m:oMath>
                  </m:oMathPara>
                </a14:m>
                <a:endParaRPr lang="en-US" dirty="0">
                  <a:solidFill>
                    <a:schemeClr val="bg1"/>
                  </a:solidFill>
                </a:endParaRPr>
              </a:p>
            </p:txBody>
          </p:sp>
        </mc:Choice>
        <mc:Fallback xmlns="">
          <p:sp>
            <p:nvSpPr>
              <p:cNvPr id="10" name="Oval 9">
                <a:extLst>
                  <a:ext uri="{FF2B5EF4-FFF2-40B4-BE49-F238E27FC236}">
                    <a16:creationId xmlns:a16="http://schemas.microsoft.com/office/drawing/2014/main" id="{7206D0A1-EC73-4F41-AD32-D60DD2780A2A}"/>
                  </a:ext>
                </a:extLst>
              </p:cNvPr>
              <p:cNvSpPr>
                <a:spLocks noRot="1" noChangeAspect="1" noMove="1" noResize="1" noEditPoints="1" noAdjustHandles="1" noChangeArrowheads="1" noChangeShapeType="1" noTextEdit="1"/>
              </p:cNvSpPr>
              <p:nvPr/>
            </p:nvSpPr>
            <p:spPr>
              <a:xfrm>
                <a:off x="5377755" y="5773088"/>
                <a:ext cx="543208" cy="543208"/>
              </a:xfrm>
              <a:prstGeom prst="ellipse">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Oval 10">
                <a:extLst>
                  <a:ext uri="{FF2B5EF4-FFF2-40B4-BE49-F238E27FC236}">
                    <a16:creationId xmlns:a16="http://schemas.microsoft.com/office/drawing/2014/main" id="{5350F9A5-A6D1-BB4B-B24D-3DFE8D0734D1}"/>
                  </a:ext>
                </a:extLst>
              </p:cNvPr>
              <p:cNvSpPr/>
              <p:nvPr/>
            </p:nvSpPr>
            <p:spPr>
              <a:xfrm>
                <a:off x="9794338" y="3763219"/>
                <a:ext cx="543208" cy="543208"/>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b="0" i="1" smtClean="0">
                          <a:solidFill>
                            <a:schemeClr val="bg1"/>
                          </a:solidFill>
                          <a:latin typeface="Cambria Math" panose="02040503050406030204" pitchFamily="18" charset="0"/>
                        </a:rPr>
                        <m:t> </m:t>
                      </m:r>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𝑥</m:t>
                          </m:r>
                        </m:e>
                        <m:sub>
                          <m:r>
                            <a:rPr lang="en-US" b="0" i="1" smtClean="0">
                              <a:solidFill>
                                <a:schemeClr val="bg1"/>
                              </a:solidFill>
                              <a:latin typeface="Cambria Math" panose="02040503050406030204" pitchFamily="18" charset="0"/>
                            </a:rPr>
                            <m:t>1</m:t>
                          </m:r>
                        </m:sub>
                      </m:sSub>
                    </m:oMath>
                  </m:oMathPara>
                </a14:m>
                <a:endParaRPr lang="en-US" dirty="0">
                  <a:solidFill>
                    <a:schemeClr val="bg1"/>
                  </a:solidFill>
                </a:endParaRPr>
              </a:p>
            </p:txBody>
          </p:sp>
        </mc:Choice>
        <mc:Fallback xmlns="">
          <p:sp>
            <p:nvSpPr>
              <p:cNvPr id="11" name="Oval 10">
                <a:extLst>
                  <a:ext uri="{FF2B5EF4-FFF2-40B4-BE49-F238E27FC236}">
                    <a16:creationId xmlns:a16="http://schemas.microsoft.com/office/drawing/2014/main" id="{5350F9A5-A6D1-BB4B-B24D-3DFE8D0734D1}"/>
                  </a:ext>
                </a:extLst>
              </p:cNvPr>
              <p:cNvSpPr>
                <a:spLocks noRot="1" noChangeAspect="1" noMove="1" noResize="1" noEditPoints="1" noAdjustHandles="1" noChangeArrowheads="1" noChangeShapeType="1" noTextEdit="1"/>
              </p:cNvSpPr>
              <p:nvPr/>
            </p:nvSpPr>
            <p:spPr>
              <a:xfrm>
                <a:off x="9794338" y="3763219"/>
                <a:ext cx="543208" cy="543208"/>
              </a:xfrm>
              <a:prstGeom prst="ellipse">
                <a:avLst/>
              </a:prstGeom>
              <a:blipFill>
                <a:blip r:embed="rId8"/>
                <a:stretch>
                  <a:fillRect l="-222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Oval 11">
                <a:extLst>
                  <a:ext uri="{FF2B5EF4-FFF2-40B4-BE49-F238E27FC236}">
                    <a16:creationId xmlns:a16="http://schemas.microsoft.com/office/drawing/2014/main" id="{77033AA9-BB01-334B-BFAC-F224D9A3E0D8}"/>
                  </a:ext>
                </a:extLst>
              </p:cNvPr>
              <p:cNvSpPr/>
              <p:nvPr/>
            </p:nvSpPr>
            <p:spPr>
              <a:xfrm>
                <a:off x="9794338" y="4766645"/>
                <a:ext cx="543208" cy="543208"/>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b="0" i="1" smtClean="0">
                          <a:solidFill>
                            <a:schemeClr val="bg1"/>
                          </a:solidFill>
                          <a:latin typeface="Cambria Math" panose="02040503050406030204" pitchFamily="18" charset="0"/>
                        </a:rPr>
                        <m:t> </m:t>
                      </m:r>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𝑥</m:t>
                          </m:r>
                        </m:e>
                        <m:sub>
                          <m:r>
                            <a:rPr lang="en-US" b="0" i="1" smtClean="0">
                              <a:solidFill>
                                <a:schemeClr val="bg1"/>
                              </a:solidFill>
                              <a:latin typeface="Cambria Math" panose="02040503050406030204" pitchFamily="18" charset="0"/>
                            </a:rPr>
                            <m:t>2</m:t>
                          </m:r>
                        </m:sub>
                      </m:sSub>
                    </m:oMath>
                  </m:oMathPara>
                </a14:m>
                <a:endParaRPr lang="en-US" dirty="0">
                  <a:solidFill>
                    <a:schemeClr val="bg1"/>
                  </a:solidFill>
                </a:endParaRPr>
              </a:p>
            </p:txBody>
          </p:sp>
        </mc:Choice>
        <mc:Fallback xmlns="">
          <p:sp>
            <p:nvSpPr>
              <p:cNvPr id="12" name="Oval 11">
                <a:extLst>
                  <a:ext uri="{FF2B5EF4-FFF2-40B4-BE49-F238E27FC236}">
                    <a16:creationId xmlns:a16="http://schemas.microsoft.com/office/drawing/2014/main" id="{77033AA9-BB01-334B-BFAC-F224D9A3E0D8}"/>
                  </a:ext>
                </a:extLst>
              </p:cNvPr>
              <p:cNvSpPr>
                <a:spLocks noRot="1" noChangeAspect="1" noMove="1" noResize="1" noEditPoints="1" noAdjustHandles="1" noChangeArrowheads="1" noChangeShapeType="1" noTextEdit="1"/>
              </p:cNvSpPr>
              <p:nvPr/>
            </p:nvSpPr>
            <p:spPr>
              <a:xfrm>
                <a:off x="9794338" y="4766645"/>
                <a:ext cx="543208" cy="543208"/>
              </a:xfrm>
              <a:prstGeom prst="ellipse">
                <a:avLst/>
              </a:prstGeom>
              <a:blipFill>
                <a:blip r:embed="rId9"/>
                <a:stretch>
                  <a:fillRect l="-222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Oval 12">
                <a:extLst>
                  <a:ext uri="{FF2B5EF4-FFF2-40B4-BE49-F238E27FC236}">
                    <a16:creationId xmlns:a16="http://schemas.microsoft.com/office/drawing/2014/main" id="{4490E357-5B28-C24D-9D1A-EF3C2C12DBFB}"/>
                  </a:ext>
                </a:extLst>
              </p:cNvPr>
              <p:cNvSpPr/>
              <p:nvPr/>
            </p:nvSpPr>
            <p:spPr>
              <a:xfrm>
                <a:off x="9794338" y="5770071"/>
                <a:ext cx="543208" cy="543208"/>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b="0" i="1" smtClean="0">
                          <a:solidFill>
                            <a:schemeClr val="bg1"/>
                          </a:solidFill>
                          <a:latin typeface="Cambria Math" panose="02040503050406030204" pitchFamily="18" charset="0"/>
                        </a:rPr>
                        <m:t> </m:t>
                      </m:r>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𝑥</m:t>
                          </m:r>
                        </m:e>
                        <m:sub>
                          <m:r>
                            <a:rPr lang="en-US" b="0" i="1" smtClean="0">
                              <a:solidFill>
                                <a:schemeClr val="bg1"/>
                              </a:solidFill>
                              <a:latin typeface="Cambria Math" panose="02040503050406030204" pitchFamily="18" charset="0"/>
                            </a:rPr>
                            <m:t>3</m:t>
                          </m:r>
                        </m:sub>
                      </m:sSub>
                    </m:oMath>
                  </m:oMathPara>
                </a14:m>
                <a:endParaRPr lang="en-US" dirty="0">
                  <a:solidFill>
                    <a:schemeClr val="bg1"/>
                  </a:solidFill>
                </a:endParaRPr>
              </a:p>
            </p:txBody>
          </p:sp>
        </mc:Choice>
        <mc:Fallback xmlns="">
          <p:sp>
            <p:nvSpPr>
              <p:cNvPr id="13" name="Oval 12">
                <a:extLst>
                  <a:ext uri="{FF2B5EF4-FFF2-40B4-BE49-F238E27FC236}">
                    <a16:creationId xmlns:a16="http://schemas.microsoft.com/office/drawing/2014/main" id="{4490E357-5B28-C24D-9D1A-EF3C2C12DBFB}"/>
                  </a:ext>
                </a:extLst>
              </p:cNvPr>
              <p:cNvSpPr>
                <a:spLocks noRot="1" noChangeAspect="1" noMove="1" noResize="1" noEditPoints="1" noAdjustHandles="1" noChangeArrowheads="1" noChangeShapeType="1" noTextEdit="1"/>
              </p:cNvSpPr>
              <p:nvPr/>
            </p:nvSpPr>
            <p:spPr>
              <a:xfrm>
                <a:off x="9794338" y="5770071"/>
                <a:ext cx="543208" cy="543208"/>
              </a:xfrm>
              <a:prstGeom prst="ellipse">
                <a:avLst/>
              </a:prstGeom>
              <a:blipFill>
                <a:blip r:embed="rId10"/>
                <a:stretch>
                  <a:fillRect l="-222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Oval 13">
                <a:extLst>
                  <a:ext uri="{FF2B5EF4-FFF2-40B4-BE49-F238E27FC236}">
                    <a16:creationId xmlns:a16="http://schemas.microsoft.com/office/drawing/2014/main" id="{72C784C3-B233-0E4B-9B1D-CDBE9E2398EC}"/>
                  </a:ext>
                </a:extLst>
              </p:cNvPr>
              <p:cNvSpPr/>
              <p:nvPr/>
            </p:nvSpPr>
            <p:spPr>
              <a:xfrm>
                <a:off x="6444555" y="2749235"/>
                <a:ext cx="543208" cy="543208"/>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b="0" i="1" smtClean="0">
                          <a:solidFill>
                            <a:schemeClr val="bg1"/>
                          </a:solidFill>
                          <a:latin typeface="Cambria Math" panose="02040503050406030204" pitchFamily="18" charset="0"/>
                        </a:rPr>
                        <m:t> </m:t>
                      </m:r>
                      <m:acc>
                        <m:accPr>
                          <m:chr m:val="̅"/>
                          <m:ctrlPr>
                            <a:rPr lang="en-US" b="0" i="1" smtClean="0">
                              <a:solidFill>
                                <a:schemeClr val="bg1"/>
                              </a:solidFill>
                              <a:latin typeface="Cambria Math" panose="02040503050406030204" pitchFamily="18" charset="0"/>
                            </a:rPr>
                          </m:ctrlPr>
                        </m:accPr>
                        <m:e>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𝑥</m:t>
                              </m:r>
                            </m:e>
                            <m:sub>
                              <m:r>
                                <a:rPr lang="en-US" b="0" i="1" smtClean="0">
                                  <a:solidFill>
                                    <a:schemeClr val="bg1"/>
                                  </a:solidFill>
                                  <a:latin typeface="Cambria Math" panose="02040503050406030204" pitchFamily="18" charset="0"/>
                                </a:rPr>
                                <m:t>1</m:t>
                              </m:r>
                            </m:sub>
                          </m:sSub>
                        </m:e>
                      </m:acc>
                    </m:oMath>
                  </m:oMathPara>
                </a14:m>
                <a:endParaRPr lang="en-US" dirty="0">
                  <a:solidFill>
                    <a:schemeClr val="bg1"/>
                  </a:solidFill>
                </a:endParaRPr>
              </a:p>
            </p:txBody>
          </p:sp>
        </mc:Choice>
        <mc:Fallback xmlns="">
          <p:sp>
            <p:nvSpPr>
              <p:cNvPr id="14" name="Oval 13">
                <a:extLst>
                  <a:ext uri="{FF2B5EF4-FFF2-40B4-BE49-F238E27FC236}">
                    <a16:creationId xmlns:a16="http://schemas.microsoft.com/office/drawing/2014/main" id="{72C784C3-B233-0E4B-9B1D-CDBE9E2398EC}"/>
                  </a:ext>
                </a:extLst>
              </p:cNvPr>
              <p:cNvSpPr>
                <a:spLocks noRot="1" noChangeAspect="1" noMove="1" noResize="1" noEditPoints="1" noAdjustHandles="1" noChangeArrowheads="1" noChangeShapeType="1" noTextEdit="1"/>
              </p:cNvSpPr>
              <p:nvPr/>
            </p:nvSpPr>
            <p:spPr>
              <a:xfrm>
                <a:off x="6444555" y="2749235"/>
                <a:ext cx="543208" cy="543208"/>
              </a:xfrm>
              <a:prstGeom prst="ellipse">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Oval 14">
                <a:extLst>
                  <a:ext uri="{FF2B5EF4-FFF2-40B4-BE49-F238E27FC236}">
                    <a16:creationId xmlns:a16="http://schemas.microsoft.com/office/drawing/2014/main" id="{78A4BC7A-0AD2-B347-9390-C4D998A2025F}"/>
                  </a:ext>
                </a:extLst>
              </p:cNvPr>
              <p:cNvSpPr/>
              <p:nvPr/>
            </p:nvSpPr>
            <p:spPr>
              <a:xfrm>
                <a:off x="7610944" y="2749235"/>
                <a:ext cx="543208" cy="543208"/>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b="0" i="1" smtClean="0">
                          <a:solidFill>
                            <a:schemeClr val="bg1"/>
                          </a:solidFill>
                          <a:latin typeface="Cambria Math" panose="02040503050406030204" pitchFamily="18" charset="0"/>
                        </a:rPr>
                        <m:t> </m:t>
                      </m:r>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𝑥</m:t>
                          </m:r>
                        </m:e>
                        <m:sub>
                          <m:r>
                            <a:rPr lang="en-US" b="0" i="1" smtClean="0">
                              <a:solidFill>
                                <a:schemeClr val="bg1"/>
                              </a:solidFill>
                              <a:latin typeface="Cambria Math" panose="02040503050406030204" pitchFamily="18" charset="0"/>
                            </a:rPr>
                            <m:t>2</m:t>
                          </m:r>
                        </m:sub>
                      </m:sSub>
                    </m:oMath>
                  </m:oMathPara>
                </a14:m>
                <a:endParaRPr lang="en-US" dirty="0">
                  <a:solidFill>
                    <a:schemeClr val="bg1"/>
                  </a:solidFill>
                </a:endParaRPr>
              </a:p>
            </p:txBody>
          </p:sp>
        </mc:Choice>
        <mc:Fallback xmlns="">
          <p:sp>
            <p:nvSpPr>
              <p:cNvPr id="15" name="Oval 14">
                <a:extLst>
                  <a:ext uri="{FF2B5EF4-FFF2-40B4-BE49-F238E27FC236}">
                    <a16:creationId xmlns:a16="http://schemas.microsoft.com/office/drawing/2014/main" id="{78A4BC7A-0AD2-B347-9390-C4D998A2025F}"/>
                  </a:ext>
                </a:extLst>
              </p:cNvPr>
              <p:cNvSpPr>
                <a:spLocks noRot="1" noChangeAspect="1" noMove="1" noResize="1" noEditPoints="1" noAdjustHandles="1" noChangeArrowheads="1" noChangeShapeType="1" noTextEdit="1"/>
              </p:cNvSpPr>
              <p:nvPr/>
            </p:nvSpPr>
            <p:spPr>
              <a:xfrm>
                <a:off x="7610944" y="2749235"/>
                <a:ext cx="543208" cy="543208"/>
              </a:xfrm>
              <a:prstGeom prst="ellipse">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 name="Oval 15">
                <a:extLst>
                  <a:ext uri="{FF2B5EF4-FFF2-40B4-BE49-F238E27FC236}">
                    <a16:creationId xmlns:a16="http://schemas.microsoft.com/office/drawing/2014/main" id="{C7462B37-7CE7-1A49-BCE5-580A9CDD90E8}"/>
                  </a:ext>
                </a:extLst>
              </p:cNvPr>
              <p:cNvSpPr/>
              <p:nvPr/>
            </p:nvSpPr>
            <p:spPr>
              <a:xfrm>
                <a:off x="8777333" y="2749235"/>
                <a:ext cx="543208" cy="543208"/>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b="0" i="1" smtClean="0">
                          <a:solidFill>
                            <a:schemeClr val="bg1"/>
                          </a:solidFill>
                          <a:latin typeface="Cambria Math" panose="02040503050406030204" pitchFamily="18" charset="0"/>
                        </a:rPr>
                        <m:t> </m:t>
                      </m:r>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𝑥</m:t>
                          </m:r>
                        </m:e>
                        <m:sub>
                          <m:r>
                            <a:rPr lang="en-US" b="0" i="1" smtClean="0">
                              <a:solidFill>
                                <a:schemeClr val="bg1"/>
                              </a:solidFill>
                              <a:latin typeface="Cambria Math" panose="02040503050406030204" pitchFamily="18" charset="0"/>
                            </a:rPr>
                            <m:t>3</m:t>
                          </m:r>
                        </m:sub>
                      </m:sSub>
                    </m:oMath>
                  </m:oMathPara>
                </a14:m>
                <a:endParaRPr lang="en-US" dirty="0">
                  <a:solidFill>
                    <a:schemeClr val="bg1"/>
                  </a:solidFill>
                </a:endParaRPr>
              </a:p>
            </p:txBody>
          </p:sp>
        </mc:Choice>
        <mc:Fallback xmlns="">
          <p:sp>
            <p:nvSpPr>
              <p:cNvPr id="16" name="Oval 15">
                <a:extLst>
                  <a:ext uri="{FF2B5EF4-FFF2-40B4-BE49-F238E27FC236}">
                    <a16:creationId xmlns:a16="http://schemas.microsoft.com/office/drawing/2014/main" id="{C7462B37-7CE7-1A49-BCE5-580A9CDD90E8}"/>
                  </a:ext>
                </a:extLst>
              </p:cNvPr>
              <p:cNvSpPr>
                <a:spLocks noRot="1" noChangeAspect="1" noMove="1" noResize="1" noEditPoints="1" noAdjustHandles="1" noChangeArrowheads="1" noChangeShapeType="1" noTextEdit="1"/>
              </p:cNvSpPr>
              <p:nvPr/>
            </p:nvSpPr>
            <p:spPr>
              <a:xfrm>
                <a:off x="8777333" y="2749235"/>
                <a:ext cx="543208" cy="543208"/>
              </a:xfrm>
              <a:prstGeom prst="ellipse">
                <a:avLst/>
              </a:prstGeom>
              <a:blipFill>
                <a:blip r:embed="rId13"/>
                <a:stretch>
                  <a:fillRect l="-2222"/>
                </a:stretch>
              </a:blipFill>
            </p:spPr>
            <p:txBody>
              <a:bodyPr/>
              <a:lstStyle/>
              <a:p>
                <a:r>
                  <a:rPr lang="en-US">
                    <a:noFill/>
                  </a:rPr>
                  <a:t> </a:t>
                </a:r>
              </a:p>
            </p:txBody>
          </p:sp>
        </mc:Fallback>
      </mc:AlternateContent>
      <p:sp>
        <p:nvSpPr>
          <p:cNvPr id="18" name="Rectangle 17">
            <a:extLst>
              <a:ext uri="{FF2B5EF4-FFF2-40B4-BE49-F238E27FC236}">
                <a16:creationId xmlns:a16="http://schemas.microsoft.com/office/drawing/2014/main" id="{6BF33AED-B3BF-D84D-9C46-7A9DE45CD689}"/>
              </a:ext>
            </a:extLst>
          </p:cNvPr>
          <p:cNvSpPr/>
          <p:nvPr/>
        </p:nvSpPr>
        <p:spPr>
          <a:xfrm>
            <a:off x="5169528" y="2580237"/>
            <a:ext cx="5477346" cy="3974471"/>
          </a:xfrm>
          <a:prstGeom prst="rect">
            <a:avLst/>
          </a:pr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Content Placeholder 2">
            <a:extLst>
              <a:ext uri="{FF2B5EF4-FFF2-40B4-BE49-F238E27FC236}">
                <a16:creationId xmlns:a16="http://schemas.microsoft.com/office/drawing/2014/main" id="{41E88A37-34DA-FB4E-A626-20A988C9E9DE}"/>
              </a:ext>
            </a:extLst>
          </p:cNvPr>
          <p:cNvSpPr txBox="1">
            <a:spLocks/>
          </p:cNvSpPr>
          <p:nvPr/>
        </p:nvSpPr>
        <p:spPr>
          <a:xfrm>
            <a:off x="10153454" y="2626712"/>
            <a:ext cx="445962" cy="478637"/>
          </a:xfrm>
          <a:prstGeom prst="rect">
            <a:avLst/>
          </a:prstGeom>
          <a:ln>
            <a:noFill/>
          </a:ln>
        </p:spPr>
        <p:txBody>
          <a:bodyPr vert="horz" lIns="91440" tIns="45720" rIns="91440" bIns="45720" rtlCol="0">
            <a:normAutofit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i="1" dirty="0">
                <a:solidFill>
                  <a:schemeClr val="accent1"/>
                </a:solidFill>
              </a:rPr>
              <a:t>G</a:t>
            </a:r>
          </a:p>
        </p:txBody>
      </p:sp>
      <p:sp>
        <p:nvSpPr>
          <p:cNvPr id="17" name="Rectangle 16">
            <a:extLst>
              <a:ext uri="{FF2B5EF4-FFF2-40B4-BE49-F238E27FC236}">
                <a16:creationId xmlns:a16="http://schemas.microsoft.com/office/drawing/2014/main" id="{16052166-42DB-8741-B471-71AF22D8E630}"/>
              </a:ext>
            </a:extLst>
          </p:cNvPr>
          <p:cNvSpPr/>
          <p:nvPr/>
        </p:nvSpPr>
        <p:spPr>
          <a:xfrm>
            <a:off x="3336541" y="1569259"/>
            <a:ext cx="1814881" cy="386304"/>
          </a:xfrm>
          <a:prstGeom prst="rect">
            <a:avLst/>
          </a:pr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97F490F1-E6C0-964A-B02A-AC52DBFEF64B}"/>
              </a:ext>
            </a:extLst>
          </p:cNvPr>
          <p:cNvSpPr/>
          <p:nvPr/>
        </p:nvSpPr>
        <p:spPr>
          <a:xfrm>
            <a:off x="5441127" y="1567737"/>
            <a:ext cx="1814881" cy="386304"/>
          </a:xfrm>
          <a:prstGeom prst="rect">
            <a:avLst/>
          </a:pr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D6A0C2AD-7210-8243-8348-C161C1914D44}"/>
              </a:ext>
            </a:extLst>
          </p:cNvPr>
          <p:cNvSpPr/>
          <p:nvPr/>
        </p:nvSpPr>
        <p:spPr>
          <a:xfrm>
            <a:off x="7528293" y="1567737"/>
            <a:ext cx="1814881" cy="386304"/>
          </a:xfrm>
          <a:prstGeom prst="rect">
            <a:avLst/>
          </a:pr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 name="Straight Arrow Connector 7">
            <a:extLst>
              <a:ext uri="{FF2B5EF4-FFF2-40B4-BE49-F238E27FC236}">
                <a16:creationId xmlns:a16="http://schemas.microsoft.com/office/drawing/2014/main" id="{AFCECA5C-0D0C-C943-9C5D-3F5787CD913C}"/>
              </a:ext>
            </a:extLst>
          </p:cNvPr>
          <p:cNvCxnSpPr>
            <a:stCxn id="17" idx="2"/>
          </p:cNvCxnSpPr>
          <p:nvPr/>
        </p:nvCxnSpPr>
        <p:spPr>
          <a:xfrm>
            <a:off x="4243982" y="1955563"/>
            <a:ext cx="1133773" cy="168393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CAF6BC7-046A-A24E-8ED2-C4A6350E9601}"/>
              </a:ext>
            </a:extLst>
          </p:cNvPr>
          <p:cNvCxnSpPr>
            <a:cxnSpLocks/>
            <a:stCxn id="20" idx="2"/>
          </p:cNvCxnSpPr>
          <p:nvPr/>
        </p:nvCxnSpPr>
        <p:spPr>
          <a:xfrm>
            <a:off x="6348568" y="1954041"/>
            <a:ext cx="898263" cy="79519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62854FCD-F900-284E-A2D5-ED3672C2A003}"/>
              </a:ext>
            </a:extLst>
          </p:cNvPr>
          <p:cNvCxnSpPr>
            <a:cxnSpLocks/>
            <a:stCxn id="21" idx="3"/>
          </p:cNvCxnSpPr>
          <p:nvPr/>
        </p:nvCxnSpPr>
        <p:spPr>
          <a:xfrm>
            <a:off x="9343174" y="1760889"/>
            <a:ext cx="683249" cy="188614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8" name="Content Placeholder 2">
                <a:extLst>
                  <a:ext uri="{FF2B5EF4-FFF2-40B4-BE49-F238E27FC236}">
                    <a16:creationId xmlns:a16="http://schemas.microsoft.com/office/drawing/2014/main" id="{F9EEA7F2-2958-A543-9566-BB0955D18C32}"/>
                  </a:ext>
                </a:extLst>
              </p:cNvPr>
              <p:cNvSpPr txBox="1">
                <a:spLocks/>
              </p:cNvSpPr>
              <p:nvPr/>
            </p:nvSpPr>
            <p:spPr>
              <a:xfrm>
                <a:off x="6652599" y="4279268"/>
                <a:ext cx="2523528" cy="1535462"/>
              </a:xfrm>
              <a:prstGeom prst="rect">
                <a:avLst/>
              </a:prstGeom>
              <a:ln>
                <a:solidFill>
                  <a:schemeClr val="tx1">
                    <a:lumMod val="95000"/>
                  </a:schemeClr>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800" i="1" dirty="0"/>
                  <a:t>Goal: The nodes we choose in our clique will be the same variable we choose to set to TRUE in </a:t>
                </a:r>
                <a14:m>
                  <m:oMath xmlns:m="http://schemas.openxmlformats.org/officeDocument/2006/math">
                    <m:r>
                      <a:rPr lang="en-US" sz="1800" b="0" i="1" smtClean="0">
                        <a:latin typeface="Cambria Math" panose="02040503050406030204" pitchFamily="18" charset="0"/>
                      </a:rPr>
                      <m:t>𝜃</m:t>
                    </m:r>
                  </m:oMath>
                </a14:m>
                <a:endParaRPr lang="en-US" sz="1800" i="1" dirty="0"/>
              </a:p>
            </p:txBody>
          </p:sp>
        </mc:Choice>
        <mc:Fallback xmlns="">
          <p:sp>
            <p:nvSpPr>
              <p:cNvPr id="28" name="Content Placeholder 2">
                <a:extLst>
                  <a:ext uri="{FF2B5EF4-FFF2-40B4-BE49-F238E27FC236}">
                    <a16:creationId xmlns:a16="http://schemas.microsoft.com/office/drawing/2014/main" id="{F9EEA7F2-2958-A543-9566-BB0955D18C32}"/>
                  </a:ext>
                </a:extLst>
              </p:cNvPr>
              <p:cNvSpPr txBox="1">
                <a:spLocks noRot="1" noChangeAspect="1" noMove="1" noResize="1" noEditPoints="1" noAdjustHandles="1" noChangeArrowheads="1" noChangeShapeType="1" noTextEdit="1"/>
              </p:cNvSpPr>
              <p:nvPr/>
            </p:nvSpPr>
            <p:spPr>
              <a:xfrm>
                <a:off x="6652599" y="4279268"/>
                <a:ext cx="2523528" cy="1535462"/>
              </a:xfrm>
              <a:prstGeom prst="rect">
                <a:avLst/>
              </a:prstGeom>
              <a:blipFill>
                <a:blip r:embed="rId14"/>
                <a:stretch>
                  <a:fillRect l="-995"/>
                </a:stretch>
              </a:blipFill>
              <a:ln>
                <a:solidFill>
                  <a:schemeClr val="tx1">
                    <a:lumMod val="95000"/>
                  </a:schemeClr>
                </a:solidFill>
              </a:ln>
            </p:spPr>
            <p:txBody>
              <a:bodyPr/>
              <a:lstStyle/>
              <a:p>
                <a:r>
                  <a:rPr lang="en-US">
                    <a:noFill/>
                  </a:rPr>
                  <a:t> </a:t>
                </a:r>
              </a:p>
            </p:txBody>
          </p:sp>
        </mc:Fallback>
      </mc:AlternateContent>
    </p:spTree>
    <p:extLst>
      <p:ext uri="{BB962C8B-B14F-4D97-AF65-F5344CB8AC3E}">
        <p14:creationId xmlns:p14="http://schemas.microsoft.com/office/powerpoint/2010/main" val="2532280570"/>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p:cNvSpPr>
                <a:spLocks noGrp="1"/>
              </p:cNvSpPr>
              <p:nvPr>
                <p:ph type="title"/>
              </p:nvPr>
            </p:nvSpPr>
            <p:spPr>
              <a:xfrm>
                <a:off x="1141413" y="274490"/>
                <a:ext cx="9905998" cy="612753"/>
              </a:xfrm>
            </p:spPr>
            <p:txBody>
              <a:bodyPr>
                <a:normAutofit fontScale="90000"/>
              </a:bodyPr>
              <a:lstStyle/>
              <a:p>
                <a:pPr algn="ctr"/>
                <a14:m>
                  <m:oMath xmlns:m="http://schemas.openxmlformats.org/officeDocument/2006/math">
                    <m:r>
                      <a:rPr lang="en-US" b="0" i="1" smtClean="0">
                        <a:latin typeface="Cambria Math" panose="02040503050406030204" pitchFamily="18" charset="0"/>
                      </a:rPr>
                      <m:t>3</m:t>
                    </m:r>
                    <m:r>
                      <a:rPr lang="en-US" b="0" i="1" smtClean="0">
                        <a:latin typeface="Cambria Math" panose="02040503050406030204" pitchFamily="18" charset="0"/>
                      </a:rPr>
                      <m:t>𝑆𝐴𝑇</m:t>
                    </m:r>
                    <m:sSub>
                      <m:sSubPr>
                        <m:ctrlPr>
                          <a:rPr lang="en-US" b="0" i="1" smtClean="0">
                            <a:latin typeface="Cambria Math" panose="02040503050406030204" pitchFamily="18" charset="0"/>
                          </a:rPr>
                        </m:ctrlPr>
                      </m:sSubPr>
                      <m:e>
                        <m:r>
                          <a:rPr lang="en-US" b="0" i="1" smtClean="0">
                            <a:latin typeface="Cambria Math" panose="02040503050406030204" pitchFamily="18" charset="0"/>
                          </a:rPr>
                          <m:t>≤</m:t>
                        </m:r>
                      </m:e>
                      <m:sub>
                        <m:r>
                          <a:rPr lang="en-US" b="0" i="1" smtClean="0">
                            <a:latin typeface="Cambria Math" panose="02040503050406030204" pitchFamily="18" charset="0"/>
                          </a:rPr>
                          <m:t>𝑝</m:t>
                        </m:r>
                      </m:sub>
                    </m:sSub>
                    <m:r>
                      <a:rPr lang="en-US" b="0" i="1" smtClean="0">
                        <a:latin typeface="Cambria Math" panose="02040503050406030204" pitchFamily="18" charset="0"/>
                      </a:rPr>
                      <m:t>𝐶𝑙𝑖𝑞𝑢𝑒</m:t>
                    </m:r>
                  </m:oMath>
                </a14:m>
                <a:r>
                  <a:rPr lang="en-US" dirty="0"/>
                  <a:t>, Step 2</a:t>
                </a:r>
              </a:p>
            </p:txBody>
          </p:sp>
        </mc:Choice>
        <mc:Fallback xmlns="">
          <p:sp>
            <p:nvSpPr>
              <p:cNvPr id="2" name="Title 1"/>
              <p:cNvSpPr>
                <a:spLocks noGrp="1" noRot="1" noChangeAspect="1" noMove="1" noResize="1" noEditPoints="1" noAdjustHandles="1" noChangeArrowheads="1" noChangeShapeType="1" noTextEdit="1"/>
              </p:cNvSpPr>
              <p:nvPr>
                <p:ph type="title"/>
              </p:nvPr>
            </p:nvSpPr>
            <p:spPr>
              <a:xfrm>
                <a:off x="1141413" y="274490"/>
                <a:ext cx="9905998" cy="612753"/>
              </a:xfrm>
              <a:blipFill>
                <a:blip r:embed="rId2"/>
                <a:stretch>
                  <a:fillRect t="-16327" b="-20408"/>
                </a:stretch>
              </a:blipFill>
            </p:spPr>
            <p:txBody>
              <a:bodyPr/>
              <a:lstStyle/>
              <a:p>
                <a:r>
                  <a:rPr lang="en-US">
                    <a:noFill/>
                  </a:rPr>
                  <a:t> </a:t>
                </a:r>
              </a:p>
            </p:txBody>
          </p:sp>
        </mc:Fallback>
      </mc:AlternateContent>
      <p:sp>
        <p:nvSpPr>
          <p:cNvPr id="3" name="Content Placeholder 2"/>
          <p:cNvSpPr>
            <a:spLocks noGrp="1"/>
          </p:cNvSpPr>
          <p:nvPr>
            <p:ph sz="quarter" idx="1"/>
          </p:nvPr>
        </p:nvSpPr>
        <p:spPr>
          <a:xfrm>
            <a:off x="969397" y="3263475"/>
            <a:ext cx="3475855" cy="1869840"/>
          </a:xfrm>
          <a:ln>
            <a:solidFill>
              <a:schemeClr val="tx1">
                <a:lumMod val="95000"/>
              </a:schemeClr>
            </a:solidFill>
          </a:ln>
        </p:spPr>
        <p:txBody>
          <a:bodyPr>
            <a:normAutofit/>
          </a:bodyPr>
          <a:lstStyle/>
          <a:p>
            <a:pPr marL="0" indent="0" algn="ctr">
              <a:buNone/>
            </a:pPr>
            <a:r>
              <a:rPr lang="en-US" b="1" i="1" u="sng" dirty="0"/>
              <a:t>Step 2</a:t>
            </a:r>
            <a:r>
              <a:rPr lang="en-US" i="1" dirty="0"/>
              <a:t>: Connect any two nodes that are in different clauses AND can be set to true at the same time</a:t>
            </a:r>
          </a:p>
        </p:txBody>
      </p:sp>
      <mc:AlternateContent xmlns:mc="http://schemas.openxmlformats.org/markup-compatibility/2006" xmlns:a14="http://schemas.microsoft.com/office/drawing/2010/main">
        <mc:Choice Requires="a14">
          <p:sp>
            <p:nvSpPr>
              <p:cNvPr id="5" name="Content Placeholder 2">
                <a:extLst>
                  <a:ext uri="{FF2B5EF4-FFF2-40B4-BE49-F238E27FC236}">
                    <a16:creationId xmlns:a16="http://schemas.microsoft.com/office/drawing/2014/main" id="{E8FD7EC5-F759-3443-A400-8D08882410D9}"/>
                  </a:ext>
                </a:extLst>
              </p:cNvPr>
              <p:cNvSpPr txBox="1">
                <a:spLocks/>
              </p:cNvSpPr>
              <p:nvPr/>
            </p:nvSpPr>
            <p:spPr>
              <a:xfrm>
                <a:off x="2300256" y="1484196"/>
                <a:ext cx="7586129" cy="598099"/>
              </a:xfrm>
              <a:prstGeom prst="rect">
                <a:avLst/>
              </a:prstGeom>
              <a:solidFill>
                <a:schemeClr val="tx1">
                  <a:lumMod val="95000"/>
                </a:schemeClr>
              </a:solidFill>
              <a:ln>
                <a:solidFill>
                  <a:schemeClr val="bg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None/>
                </a:pPr>
                <a14:m>
                  <m:oMathPara xmlns:m="http://schemas.openxmlformats.org/officeDocument/2006/math">
                    <m:oMathParaPr>
                      <m:jc m:val="centerGroup"/>
                    </m:oMathParaPr>
                    <m:oMath xmlns:m="http://schemas.openxmlformats.org/officeDocument/2006/math">
                      <m:r>
                        <a:rPr lang="en-US" b="0" i="1" smtClean="0">
                          <a:solidFill>
                            <a:schemeClr val="bg1"/>
                          </a:solidFill>
                          <a:latin typeface="Cambria Math" panose="02040503050406030204" pitchFamily="18" charset="0"/>
                        </a:rPr>
                        <m:t>𝜃</m:t>
                      </m:r>
                      <m:r>
                        <a:rPr lang="en-US" b="0" i="1" smtClean="0">
                          <a:solidFill>
                            <a:schemeClr val="bg1"/>
                          </a:solidFill>
                          <a:latin typeface="Cambria Math" panose="02040503050406030204" pitchFamily="18" charset="0"/>
                        </a:rPr>
                        <m:t>=</m:t>
                      </m:r>
                      <m:d>
                        <m:dPr>
                          <m:ctrlPr>
                            <a:rPr lang="en-US" b="0" i="1" smtClean="0">
                              <a:solidFill>
                                <a:schemeClr val="bg1"/>
                              </a:solidFill>
                              <a:latin typeface="Cambria Math" panose="02040503050406030204" pitchFamily="18" charset="0"/>
                            </a:rPr>
                          </m:ctrlPr>
                        </m:dPr>
                        <m:e>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𝑥</m:t>
                              </m:r>
                            </m:e>
                            <m:sub>
                              <m:r>
                                <a:rPr lang="en-US" b="0" i="1" smtClean="0">
                                  <a:solidFill>
                                    <a:schemeClr val="bg1"/>
                                  </a:solidFill>
                                  <a:latin typeface="Cambria Math" panose="02040503050406030204" pitchFamily="18" charset="0"/>
                                </a:rPr>
                                <m:t>1</m:t>
                              </m:r>
                            </m:sub>
                          </m:sSub>
                          <m:r>
                            <a:rPr lang="en-US" b="0" i="1" smtClean="0">
                              <a:solidFill>
                                <a:schemeClr val="bg1"/>
                              </a:solidFill>
                              <a:latin typeface="Cambria Math" panose="02040503050406030204" pitchFamily="18" charset="0"/>
                            </a:rPr>
                            <m:t>∨</m:t>
                          </m:r>
                          <m:acc>
                            <m:accPr>
                              <m:chr m:val="̅"/>
                              <m:ctrlPr>
                                <a:rPr lang="en-US" b="0" i="1" smtClean="0">
                                  <a:solidFill>
                                    <a:schemeClr val="bg1"/>
                                  </a:solidFill>
                                  <a:latin typeface="Cambria Math" panose="02040503050406030204" pitchFamily="18" charset="0"/>
                                </a:rPr>
                              </m:ctrlPr>
                            </m:accPr>
                            <m:e>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𝑥</m:t>
                                  </m:r>
                                </m:e>
                                <m:sub>
                                  <m:r>
                                    <a:rPr lang="en-US" b="0" i="1" smtClean="0">
                                      <a:solidFill>
                                        <a:schemeClr val="bg1"/>
                                      </a:solidFill>
                                      <a:latin typeface="Cambria Math" panose="02040503050406030204" pitchFamily="18" charset="0"/>
                                    </a:rPr>
                                    <m:t>2</m:t>
                                  </m:r>
                                </m:sub>
                              </m:sSub>
                            </m:e>
                          </m:acc>
                          <m:r>
                            <a:rPr lang="en-US" b="0" i="1" smtClean="0">
                              <a:solidFill>
                                <a:schemeClr val="bg1"/>
                              </a:solidFill>
                              <a:latin typeface="Cambria Math" panose="02040503050406030204" pitchFamily="18" charset="0"/>
                            </a:rPr>
                            <m:t>∨</m:t>
                          </m:r>
                          <m:acc>
                            <m:accPr>
                              <m:chr m:val="̅"/>
                              <m:ctrlPr>
                                <a:rPr lang="en-US" b="0" i="1" smtClean="0">
                                  <a:solidFill>
                                    <a:schemeClr val="bg1"/>
                                  </a:solidFill>
                                  <a:latin typeface="Cambria Math" panose="02040503050406030204" pitchFamily="18" charset="0"/>
                                </a:rPr>
                              </m:ctrlPr>
                            </m:accPr>
                            <m:e>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𝑥</m:t>
                                  </m:r>
                                </m:e>
                                <m:sub>
                                  <m:r>
                                    <a:rPr lang="en-US" b="0" i="1" smtClean="0">
                                      <a:solidFill>
                                        <a:schemeClr val="bg1"/>
                                      </a:solidFill>
                                      <a:latin typeface="Cambria Math" panose="02040503050406030204" pitchFamily="18" charset="0"/>
                                    </a:rPr>
                                    <m:t>3</m:t>
                                  </m:r>
                                </m:sub>
                              </m:sSub>
                            </m:e>
                          </m:acc>
                        </m:e>
                      </m:d>
                      <m:r>
                        <a:rPr lang="en-US" b="0" i="1" smtClean="0">
                          <a:solidFill>
                            <a:schemeClr val="bg1"/>
                          </a:solidFill>
                          <a:latin typeface="Cambria Math" panose="02040503050406030204" pitchFamily="18" charset="0"/>
                        </a:rPr>
                        <m:t>∧</m:t>
                      </m:r>
                      <m:d>
                        <m:dPr>
                          <m:ctrlPr>
                            <a:rPr lang="en-US" b="0" i="1" smtClean="0">
                              <a:solidFill>
                                <a:schemeClr val="bg1"/>
                              </a:solidFill>
                              <a:latin typeface="Cambria Math" panose="02040503050406030204" pitchFamily="18" charset="0"/>
                            </a:rPr>
                          </m:ctrlPr>
                        </m:dPr>
                        <m:e>
                          <m:acc>
                            <m:accPr>
                              <m:chr m:val="̅"/>
                              <m:ctrlPr>
                                <a:rPr lang="en-US" b="0" i="1" smtClean="0">
                                  <a:solidFill>
                                    <a:schemeClr val="bg1"/>
                                  </a:solidFill>
                                  <a:latin typeface="Cambria Math" panose="02040503050406030204" pitchFamily="18" charset="0"/>
                                </a:rPr>
                              </m:ctrlPr>
                            </m:accPr>
                            <m:e>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𝑥</m:t>
                                  </m:r>
                                </m:e>
                                <m:sub>
                                  <m:r>
                                    <a:rPr lang="en-US" b="0" i="1" smtClean="0">
                                      <a:solidFill>
                                        <a:schemeClr val="bg1"/>
                                      </a:solidFill>
                                      <a:latin typeface="Cambria Math" panose="02040503050406030204" pitchFamily="18" charset="0"/>
                                    </a:rPr>
                                    <m:t>1</m:t>
                                  </m:r>
                                </m:sub>
                              </m:sSub>
                            </m:e>
                          </m:acc>
                          <m:r>
                            <a:rPr lang="en-US" b="0" i="1" smtClean="0">
                              <a:solidFill>
                                <a:schemeClr val="bg1"/>
                              </a:solidFill>
                              <a:latin typeface="Cambria Math" panose="02040503050406030204" pitchFamily="18" charset="0"/>
                            </a:rPr>
                            <m:t>∨</m:t>
                          </m:r>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𝑥</m:t>
                              </m:r>
                            </m:e>
                            <m:sub>
                              <m:r>
                                <a:rPr lang="en-US" b="0" i="1" smtClean="0">
                                  <a:solidFill>
                                    <a:schemeClr val="bg1"/>
                                  </a:solidFill>
                                  <a:latin typeface="Cambria Math" panose="02040503050406030204" pitchFamily="18" charset="0"/>
                                </a:rPr>
                                <m:t>2</m:t>
                              </m:r>
                            </m:sub>
                          </m:sSub>
                          <m:r>
                            <a:rPr lang="en-US" b="0" i="1" smtClean="0">
                              <a:solidFill>
                                <a:schemeClr val="bg1"/>
                              </a:solidFill>
                              <a:latin typeface="Cambria Math" panose="02040503050406030204" pitchFamily="18" charset="0"/>
                            </a:rPr>
                            <m:t>∨</m:t>
                          </m:r>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𝑥</m:t>
                              </m:r>
                            </m:e>
                            <m:sub>
                              <m:r>
                                <a:rPr lang="en-US" b="0" i="1" smtClean="0">
                                  <a:solidFill>
                                    <a:schemeClr val="bg1"/>
                                  </a:solidFill>
                                  <a:latin typeface="Cambria Math" panose="02040503050406030204" pitchFamily="18" charset="0"/>
                                </a:rPr>
                                <m:t>3</m:t>
                              </m:r>
                            </m:sub>
                          </m:sSub>
                        </m:e>
                      </m:d>
                      <m:r>
                        <a:rPr lang="en-US" b="0" i="1" smtClean="0">
                          <a:solidFill>
                            <a:schemeClr val="bg1"/>
                          </a:solidFill>
                          <a:latin typeface="Cambria Math" panose="02040503050406030204" pitchFamily="18" charset="0"/>
                        </a:rPr>
                        <m:t>∧(</m:t>
                      </m:r>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𝑥</m:t>
                          </m:r>
                        </m:e>
                        <m:sub>
                          <m:r>
                            <a:rPr lang="en-US" b="0" i="1" smtClean="0">
                              <a:solidFill>
                                <a:schemeClr val="bg1"/>
                              </a:solidFill>
                              <a:latin typeface="Cambria Math" panose="02040503050406030204" pitchFamily="18" charset="0"/>
                            </a:rPr>
                            <m:t>1</m:t>
                          </m:r>
                        </m:sub>
                      </m:sSub>
                      <m:r>
                        <a:rPr lang="en-US" b="0" i="1" smtClean="0">
                          <a:solidFill>
                            <a:schemeClr val="bg1"/>
                          </a:solidFill>
                          <a:latin typeface="Cambria Math" panose="02040503050406030204" pitchFamily="18" charset="0"/>
                        </a:rPr>
                        <m:t>∨</m:t>
                      </m:r>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𝑥</m:t>
                          </m:r>
                        </m:e>
                        <m:sub>
                          <m:r>
                            <a:rPr lang="en-US" b="0" i="1" smtClean="0">
                              <a:solidFill>
                                <a:schemeClr val="bg1"/>
                              </a:solidFill>
                              <a:latin typeface="Cambria Math" panose="02040503050406030204" pitchFamily="18" charset="0"/>
                            </a:rPr>
                            <m:t>2</m:t>
                          </m:r>
                        </m:sub>
                      </m:sSub>
                      <m:r>
                        <a:rPr lang="en-US" b="0" i="1" smtClean="0">
                          <a:solidFill>
                            <a:schemeClr val="bg1"/>
                          </a:solidFill>
                          <a:latin typeface="Cambria Math" panose="02040503050406030204" pitchFamily="18" charset="0"/>
                        </a:rPr>
                        <m:t>∨</m:t>
                      </m:r>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𝑥</m:t>
                          </m:r>
                        </m:e>
                        <m:sub>
                          <m:r>
                            <a:rPr lang="en-US" b="0" i="1" smtClean="0">
                              <a:solidFill>
                                <a:schemeClr val="bg1"/>
                              </a:solidFill>
                              <a:latin typeface="Cambria Math" panose="02040503050406030204" pitchFamily="18" charset="0"/>
                            </a:rPr>
                            <m:t>3</m:t>
                          </m:r>
                        </m:sub>
                      </m:sSub>
                      <m:r>
                        <a:rPr lang="en-US" b="0" i="1" smtClean="0">
                          <a:solidFill>
                            <a:schemeClr val="bg1"/>
                          </a:solidFill>
                          <a:latin typeface="Cambria Math" panose="02040503050406030204" pitchFamily="18" charset="0"/>
                        </a:rPr>
                        <m:t>)</m:t>
                      </m:r>
                    </m:oMath>
                  </m:oMathPara>
                </a14:m>
                <a:endParaRPr lang="en-US" dirty="0">
                  <a:solidFill>
                    <a:schemeClr val="bg1"/>
                  </a:solidFill>
                </a:endParaRPr>
              </a:p>
            </p:txBody>
          </p:sp>
        </mc:Choice>
        <mc:Fallback xmlns="">
          <p:sp>
            <p:nvSpPr>
              <p:cNvPr id="5" name="Content Placeholder 2">
                <a:extLst>
                  <a:ext uri="{FF2B5EF4-FFF2-40B4-BE49-F238E27FC236}">
                    <a16:creationId xmlns:a16="http://schemas.microsoft.com/office/drawing/2014/main" id="{E8FD7EC5-F759-3443-A400-8D08882410D9}"/>
                  </a:ext>
                </a:extLst>
              </p:cNvPr>
              <p:cNvSpPr txBox="1">
                <a:spLocks noRot="1" noChangeAspect="1" noMove="1" noResize="1" noEditPoints="1" noAdjustHandles="1" noChangeArrowheads="1" noChangeShapeType="1" noTextEdit="1"/>
              </p:cNvSpPr>
              <p:nvPr/>
            </p:nvSpPr>
            <p:spPr>
              <a:xfrm>
                <a:off x="2300256" y="1484196"/>
                <a:ext cx="7586129" cy="598099"/>
              </a:xfrm>
              <a:prstGeom prst="rect">
                <a:avLst/>
              </a:prstGeom>
              <a:blipFill>
                <a:blip r:embed="rId3"/>
                <a:stretch>
                  <a:fillRect/>
                </a:stretch>
              </a:blipFill>
              <a:ln>
                <a:solidFill>
                  <a:schemeClr val="bg1"/>
                </a:solidFill>
              </a:ln>
            </p:spPr>
            <p:txBody>
              <a:bodyPr/>
              <a:lstStyle/>
              <a:p>
                <a:r>
                  <a:rPr lang="en-US">
                    <a:noFill/>
                  </a:rPr>
                  <a:t> </a:t>
                </a:r>
              </a:p>
            </p:txBody>
          </p:sp>
        </mc:Fallback>
      </mc:AlternateContent>
      <p:sp>
        <p:nvSpPr>
          <p:cNvPr id="6" name="Content Placeholder 2">
            <a:extLst>
              <a:ext uri="{FF2B5EF4-FFF2-40B4-BE49-F238E27FC236}">
                <a16:creationId xmlns:a16="http://schemas.microsoft.com/office/drawing/2014/main" id="{FF448FEF-4075-E342-87D1-5ACB33834248}"/>
              </a:ext>
            </a:extLst>
          </p:cNvPr>
          <p:cNvSpPr txBox="1">
            <a:spLocks/>
          </p:cNvSpPr>
          <p:nvPr/>
        </p:nvSpPr>
        <p:spPr>
          <a:xfrm>
            <a:off x="2300256" y="1164628"/>
            <a:ext cx="7586129" cy="356343"/>
          </a:xfrm>
          <a:prstGeom prst="rect">
            <a:avLst/>
          </a:prstGeom>
          <a:noFill/>
          <a:ln>
            <a:noFill/>
          </a:ln>
        </p:spPr>
        <p:txBody>
          <a:bodyPr vert="horz" lIns="91440" tIns="45720" rIns="91440" bIns="45720" rtlCol="0">
            <a:normAutofit fontScale="700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None/>
            </a:pPr>
            <a:r>
              <a:rPr lang="en-US" dirty="0">
                <a:solidFill>
                  <a:schemeClr val="tx1">
                    <a:lumMod val="95000"/>
                  </a:schemeClr>
                </a:solidFill>
              </a:rPr>
              <a:t>Consider this 3-SAT formula:</a:t>
            </a:r>
          </a:p>
        </p:txBody>
      </p:sp>
      <mc:AlternateContent xmlns:mc="http://schemas.openxmlformats.org/markup-compatibility/2006" xmlns:a14="http://schemas.microsoft.com/office/drawing/2010/main">
        <mc:Choice Requires="a14">
          <p:sp>
            <p:nvSpPr>
              <p:cNvPr id="4" name="Oval 3">
                <a:extLst>
                  <a:ext uri="{FF2B5EF4-FFF2-40B4-BE49-F238E27FC236}">
                    <a16:creationId xmlns:a16="http://schemas.microsoft.com/office/drawing/2014/main" id="{AA49A5B1-9EEA-504D-8171-2D86014ED3D5}"/>
                  </a:ext>
                </a:extLst>
              </p:cNvPr>
              <p:cNvSpPr/>
              <p:nvPr/>
            </p:nvSpPr>
            <p:spPr>
              <a:xfrm>
                <a:off x="5377755" y="3766236"/>
                <a:ext cx="543208" cy="543208"/>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b="0" i="1" smtClean="0">
                          <a:solidFill>
                            <a:schemeClr val="bg1"/>
                          </a:solidFill>
                          <a:latin typeface="Cambria Math" panose="02040503050406030204" pitchFamily="18" charset="0"/>
                        </a:rPr>
                        <m:t> </m:t>
                      </m:r>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𝑥</m:t>
                          </m:r>
                        </m:e>
                        <m:sub>
                          <m:r>
                            <a:rPr lang="en-US" b="0" i="1" smtClean="0">
                              <a:solidFill>
                                <a:schemeClr val="bg1"/>
                              </a:solidFill>
                              <a:latin typeface="Cambria Math" panose="02040503050406030204" pitchFamily="18" charset="0"/>
                            </a:rPr>
                            <m:t>1</m:t>
                          </m:r>
                        </m:sub>
                      </m:sSub>
                    </m:oMath>
                  </m:oMathPara>
                </a14:m>
                <a:endParaRPr lang="en-US" dirty="0">
                  <a:solidFill>
                    <a:schemeClr val="bg1"/>
                  </a:solidFill>
                </a:endParaRPr>
              </a:p>
            </p:txBody>
          </p:sp>
        </mc:Choice>
        <mc:Fallback xmlns="">
          <p:sp>
            <p:nvSpPr>
              <p:cNvPr id="4" name="Oval 3">
                <a:extLst>
                  <a:ext uri="{FF2B5EF4-FFF2-40B4-BE49-F238E27FC236}">
                    <a16:creationId xmlns:a16="http://schemas.microsoft.com/office/drawing/2014/main" id="{AA49A5B1-9EEA-504D-8171-2D86014ED3D5}"/>
                  </a:ext>
                </a:extLst>
              </p:cNvPr>
              <p:cNvSpPr>
                <a:spLocks noRot="1" noChangeAspect="1" noMove="1" noResize="1" noEditPoints="1" noAdjustHandles="1" noChangeArrowheads="1" noChangeShapeType="1" noTextEdit="1"/>
              </p:cNvSpPr>
              <p:nvPr/>
            </p:nvSpPr>
            <p:spPr>
              <a:xfrm>
                <a:off x="5377755" y="3766236"/>
                <a:ext cx="543208" cy="543208"/>
              </a:xfrm>
              <a:prstGeom prst="ellipse">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Oval 8">
                <a:extLst>
                  <a:ext uri="{FF2B5EF4-FFF2-40B4-BE49-F238E27FC236}">
                    <a16:creationId xmlns:a16="http://schemas.microsoft.com/office/drawing/2014/main" id="{8E69667C-7276-FF41-86D4-6E1485A6ED44}"/>
                  </a:ext>
                </a:extLst>
              </p:cNvPr>
              <p:cNvSpPr/>
              <p:nvPr/>
            </p:nvSpPr>
            <p:spPr>
              <a:xfrm>
                <a:off x="5377755" y="4769662"/>
                <a:ext cx="543208" cy="543208"/>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i="1">
                          <a:solidFill>
                            <a:schemeClr val="bg1"/>
                          </a:solidFill>
                          <a:latin typeface="Cambria Math" panose="02040503050406030204" pitchFamily="18" charset="0"/>
                        </a:rPr>
                        <m:t> </m:t>
                      </m:r>
                      <m:acc>
                        <m:accPr>
                          <m:chr m:val="̅"/>
                          <m:ctrlPr>
                            <a:rPr lang="en-US" b="0" i="1" smtClean="0">
                              <a:solidFill>
                                <a:schemeClr val="bg1"/>
                              </a:solidFill>
                              <a:latin typeface="Cambria Math" panose="02040503050406030204" pitchFamily="18" charset="0"/>
                            </a:rPr>
                          </m:ctrlPr>
                        </m:accPr>
                        <m:e>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𝑥</m:t>
                              </m:r>
                            </m:e>
                            <m:sub>
                              <m:r>
                                <a:rPr lang="en-US" b="0" i="1" smtClean="0">
                                  <a:solidFill>
                                    <a:schemeClr val="bg1"/>
                                  </a:solidFill>
                                  <a:latin typeface="Cambria Math" panose="02040503050406030204" pitchFamily="18" charset="0"/>
                                </a:rPr>
                                <m:t>2</m:t>
                              </m:r>
                            </m:sub>
                          </m:sSub>
                        </m:e>
                      </m:acc>
                    </m:oMath>
                  </m:oMathPara>
                </a14:m>
                <a:endParaRPr lang="en-US" dirty="0">
                  <a:solidFill>
                    <a:schemeClr val="bg1"/>
                  </a:solidFill>
                </a:endParaRPr>
              </a:p>
            </p:txBody>
          </p:sp>
        </mc:Choice>
        <mc:Fallback xmlns="">
          <p:sp>
            <p:nvSpPr>
              <p:cNvPr id="9" name="Oval 8">
                <a:extLst>
                  <a:ext uri="{FF2B5EF4-FFF2-40B4-BE49-F238E27FC236}">
                    <a16:creationId xmlns:a16="http://schemas.microsoft.com/office/drawing/2014/main" id="{8E69667C-7276-FF41-86D4-6E1485A6ED44}"/>
                  </a:ext>
                </a:extLst>
              </p:cNvPr>
              <p:cNvSpPr>
                <a:spLocks noRot="1" noChangeAspect="1" noMove="1" noResize="1" noEditPoints="1" noAdjustHandles="1" noChangeArrowheads="1" noChangeShapeType="1" noTextEdit="1"/>
              </p:cNvSpPr>
              <p:nvPr/>
            </p:nvSpPr>
            <p:spPr>
              <a:xfrm>
                <a:off x="5377755" y="4769662"/>
                <a:ext cx="543208" cy="543208"/>
              </a:xfrm>
              <a:prstGeom prst="ellipse">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Oval 9">
                <a:extLst>
                  <a:ext uri="{FF2B5EF4-FFF2-40B4-BE49-F238E27FC236}">
                    <a16:creationId xmlns:a16="http://schemas.microsoft.com/office/drawing/2014/main" id="{7206D0A1-EC73-4F41-AD32-D60DD2780A2A}"/>
                  </a:ext>
                </a:extLst>
              </p:cNvPr>
              <p:cNvSpPr/>
              <p:nvPr/>
            </p:nvSpPr>
            <p:spPr>
              <a:xfrm>
                <a:off x="5377755" y="5773088"/>
                <a:ext cx="543208" cy="543208"/>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b="0" i="1" smtClean="0">
                          <a:solidFill>
                            <a:schemeClr val="bg1"/>
                          </a:solidFill>
                          <a:latin typeface="Cambria Math" panose="02040503050406030204" pitchFamily="18" charset="0"/>
                        </a:rPr>
                        <m:t> </m:t>
                      </m:r>
                      <m:acc>
                        <m:accPr>
                          <m:chr m:val="̅"/>
                          <m:ctrlPr>
                            <a:rPr lang="en-US" b="0" i="1" smtClean="0">
                              <a:solidFill>
                                <a:schemeClr val="bg1"/>
                              </a:solidFill>
                              <a:latin typeface="Cambria Math" panose="02040503050406030204" pitchFamily="18" charset="0"/>
                            </a:rPr>
                          </m:ctrlPr>
                        </m:accPr>
                        <m:e>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𝑥</m:t>
                              </m:r>
                            </m:e>
                            <m:sub>
                              <m:r>
                                <a:rPr lang="en-US" b="0" i="1" smtClean="0">
                                  <a:solidFill>
                                    <a:schemeClr val="bg1"/>
                                  </a:solidFill>
                                  <a:latin typeface="Cambria Math" panose="02040503050406030204" pitchFamily="18" charset="0"/>
                                </a:rPr>
                                <m:t>3</m:t>
                              </m:r>
                            </m:sub>
                          </m:sSub>
                        </m:e>
                      </m:acc>
                    </m:oMath>
                  </m:oMathPara>
                </a14:m>
                <a:endParaRPr lang="en-US" dirty="0">
                  <a:solidFill>
                    <a:schemeClr val="bg1"/>
                  </a:solidFill>
                </a:endParaRPr>
              </a:p>
            </p:txBody>
          </p:sp>
        </mc:Choice>
        <mc:Fallback xmlns="">
          <p:sp>
            <p:nvSpPr>
              <p:cNvPr id="10" name="Oval 9">
                <a:extLst>
                  <a:ext uri="{FF2B5EF4-FFF2-40B4-BE49-F238E27FC236}">
                    <a16:creationId xmlns:a16="http://schemas.microsoft.com/office/drawing/2014/main" id="{7206D0A1-EC73-4F41-AD32-D60DD2780A2A}"/>
                  </a:ext>
                </a:extLst>
              </p:cNvPr>
              <p:cNvSpPr>
                <a:spLocks noRot="1" noChangeAspect="1" noMove="1" noResize="1" noEditPoints="1" noAdjustHandles="1" noChangeArrowheads="1" noChangeShapeType="1" noTextEdit="1"/>
              </p:cNvSpPr>
              <p:nvPr/>
            </p:nvSpPr>
            <p:spPr>
              <a:xfrm>
                <a:off x="5377755" y="5773088"/>
                <a:ext cx="543208" cy="543208"/>
              </a:xfrm>
              <a:prstGeom prst="ellipse">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Oval 10">
                <a:extLst>
                  <a:ext uri="{FF2B5EF4-FFF2-40B4-BE49-F238E27FC236}">
                    <a16:creationId xmlns:a16="http://schemas.microsoft.com/office/drawing/2014/main" id="{5350F9A5-A6D1-BB4B-B24D-3DFE8D0734D1}"/>
                  </a:ext>
                </a:extLst>
              </p:cNvPr>
              <p:cNvSpPr/>
              <p:nvPr/>
            </p:nvSpPr>
            <p:spPr>
              <a:xfrm>
                <a:off x="9794338" y="3763219"/>
                <a:ext cx="543208" cy="543208"/>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b="0" i="1" smtClean="0">
                          <a:solidFill>
                            <a:schemeClr val="bg1"/>
                          </a:solidFill>
                          <a:latin typeface="Cambria Math" panose="02040503050406030204" pitchFamily="18" charset="0"/>
                        </a:rPr>
                        <m:t> </m:t>
                      </m:r>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𝑥</m:t>
                          </m:r>
                        </m:e>
                        <m:sub>
                          <m:r>
                            <a:rPr lang="en-US" b="0" i="1" smtClean="0">
                              <a:solidFill>
                                <a:schemeClr val="bg1"/>
                              </a:solidFill>
                              <a:latin typeface="Cambria Math" panose="02040503050406030204" pitchFamily="18" charset="0"/>
                            </a:rPr>
                            <m:t>1</m:t>
                          </m:r>
                        </m:sub>
                      </m:sSub>
                    </m:oMath>
                  </m:oMathPara>
                </a14:m>
                <a:endParaRPr lang="en-US" dirty="0">
                  <a:solidFill>
                    <a:schemeClr val="bg1"/>
                  </a:solidFill>
                </a:endParaRPr>
              </a:p>
            </p:txBody>
          </p:sp>
        </mc:Choice>
        <mc:Fallback xmlns="">
          <p:sp>
            <p:nvSpPr>
              <p:cNvPr id="11" name="Oval 10">
                <a:extLst>
                  <a:ext uri="{FF2B5EF4-FFF2-40B4-BE49-F238E27FC236}">
                    <a16:creationId xmlns:a16="http://schemas.microsoft.com/office/drawing/2014/main" id="{5350F9A5-A6D1-BB4B-B24D-3DFE8D0734D1}"/>
                  </a:ext>
                </a:extLst>
              </p:cNvPr>
              <p:cNvSpPr>
                <a:spLocks noRot="1" noChangeAspect="1" noMove="1" noResize="1" noEditPoints="1" noAdjustHandles="1" noChangeArrowheads="1" noChangeShapeType="1" noTextEdit="1"/>
              </p:cNvSpPr>
              <p:nvPr/>
            </p:nvSpPr>
            <p:spPr>
              <a:xfrm>
                <a:off x="9794338" y="3763219"/>
                <a:ext cx="543208" cy="543208"/>
              </a:xfrm>
              <a:prstGeom prst="ellipse">
                <a:avLst/>
              </a:prstGeom>
              <a:blipFill>
                <a:blip r:embed="rId7"/>
                <a:stretch>
                  <a:fillRect l="-222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Oval 11">
                <a:extLst>
                  <a:ext uri="{FF2B5EF4-FFF2-40B4-BE49-F238E27FC236}">
                    <a16:creationId xmlns:a16="http://schemas.microsoft.com/office/drawing/2014/main" id="{77033AA9-BB01-334B-BFAC-F224D9A3E0D8}"/>
                  </a:ext>
                </a:extLst>
              </p:cNvPr>
              <p:cNvSpPr/>
              <p:nvPr/>
            </p:nvSpPr>
            <p:spPr>
              <a:xfrm>
                <a:off x="9794338" y="4766645"/>
                <a:ext cx="543208" cy="543208"/>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b="0" i="1" smtClean="0">
                          <a:solidFill>
                            <a:schemeClr val="bg1"/>
                          </a:solidFill>
                          <a:latin typeface="Cambria Math" panose="02040503050406030204" pitchFamily="18" charset="0"/>
                        </a:rPr>
                        <m:t> </m:t>
                      </m:r>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𝑥</m:t>
                          </m:r>
                        </m:e>
                        <m:sub>
                          <m:r>
                            <a:rPr lang="en-US" b="0" i="1" smtClean="0">
                              <a:solidFill>
                                <a:schemeClr val="bg1"/>
                              </a:solidFill>
                              <a:latin typeface="Cambria Math" panose="02040503050406030204" pitchFamily="18" charset="0"/>
                            </a:rPr>
                            <m:t>2</m:t>
                          </m:r>
                        </m:sub>
                      </m:sSub>
                    </m:oMath>
                  </m:oMathPara>
                </a14:m>
                <a:endParaRPr lang="en-US" dirty="0">
                  <a:solidFill>
                    <a:schemeClr val="bg1"/>
                  </a:solidFill>
                </a:endParaRPr>
              </a:p>
            </p:txBody>
          </p:sp>
        </mc:Choice>
        <mc:Fallback xmlns="">
          <p:sp>
            <p:nvSpPr>
              <p:cNvPr id="12" name="Oval 11">
                <a:extLst>
                  <a:ext uri="{FF2B5EF4-FFF2-40B4-BE49-F238E27FC236}">
                    <a16:creationId xmlns:a16="http://schemas.microsoft.com/office/drawing/2014/main" id="{77033AA9-BB01-334B-BFAC-F224D9A3E0D8}"/>
                  </a:ext>
                </a:extLst>
              </p:cNvPr>
              <p:cNvSpPr>
                <a:spLocks noRot="1" noChangeAspect="1" noMove="1" noResize="1" noEditPoints="1" noAdjustHandles="1" noChangeArrowheads="1" noChangeShapeType="1" noTextEdit="1"/>
              </p:cNvSpPr>
              <p:nvPr/>
            </p:nvSpPr>
            <p:spPr>
              <a:xfrm>
                <a:off x="9794338" y="4766645"/>
                <a:ext cx="543208" cy="543208"/>
              </a:xfrm>
              <a:prstGeom prst="ellipse">
                <a:avLst/>
              </a:prstGeom>
              <a:blipFill>
                <a:blip r:embed="rId8"/>
                <a:stretch>
                  <a:fillRect l="-222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Oval 12">
                <a:extLst>
                  <a:ext uri="{FF2B5EF4-FFF2-40B4-BE49-F238E27FC236}">
                    <a16:creationId xmlns:a16="http://schemas.microsoft.com/office/drawing/2014/main" id="{4490E357-5B28-C24D-9D1A-EF3C2C12DBFB}"/>
                  </a:ext>
                </a:extLst>
              </p:cNvPr>
              <p:cNvSpPr/>
              <p:nvPr/>
            </p:nvSpPr>
            <p:spPr>
              <a:xfrm>
                <a:off x="9794338" y="5770071"/>
                <a:ext cx="543208" cy="543208"/>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b="0" i="1" smtClean="0">
                          <a:solidFill>
                            <a:schemeClr val="bg1"/>
                          </a:solidFill>
                          <a:latin typeface="Cambria Math" panose="02040503050406030204" pitchFamily="18" charset="0"/>
                        </a:rPr>
                        <m:t> </m:t>
                      </m:r>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𝑥</m:t>
                          </m:r>
                        </m:e>
                        <m:sub>
                          <m:r>
                            <a:rPr lang="en-US" b="0" i="1" smtClean="0">
                              <a:solidFill>
                                <a:schemeClr val="bg1"/>
                              </a:solidFill>
                              <a:latin typeface="Cambria Math" panose="02040503050406030204" pitchFamily="18" charset="0"/>
                            </a:rPr>
                            <m:t>3</m:t>
                          </m:r>
                        </m:sub>
                      </m:sSub>
                    </m:oMath>
                  </m:oMathPara>
                </a14:m>
                <a:endParaRPr lang="en-US" dirty="0">
                  <a:solidFill>
                    <a:schemeClr val="bg1"/>
                  </a:solidFill>
                </a:endParaRPr>
              </a:p>
            </p:txBody>
          </p:sp>
        </mc:Choice>
        <mc:Fallback xmlns="">
          <p:sp>
            <p:nvSpPr>
              <p:cNvPr id="13" name="Oval 12">
                <a:extLst>
                  <a:ext uri="{FF2B5EF4-FFF2-40B4-BE49-F238E27FC236}">
                    <a16:creationId xmlns:a16="http://schemas.microsoft.com/office/drawing/2014/main" id="{4490E357-5B28-C24D-9D1A-EF3C2C12DBFB}"/>
                  </a:ext>
                </a:extLst>
              </p:cNvPr>
              <p:cNvSpPr>
                <a:spLocks noRot="1" noChangeAspect="1" noMove="1" noResize="1" noEditPoints="1" noAdjustHandles="1" noChangeArrowheads="1" noChangeShapeType="1" noTextEdit="1"/>
              </p:cNvSpPr>
              <p:nvPr/>
            </p:nvSpPr>
            <p:spPr>
              <a:xfrm>
                <a:off x="9794338" y="5770071"/>
                <a:ext cx="543208" cy="543208"/>
              </a:xfrm>
              <a:prstGeom prst="ellipse">
                <a:avLst/>
              </a:prstGeom>
              <a:blipFill>
                <a:blip r:embed="rId9"/>
                <a:stretch>
                  <a:fillRect l="-222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Oval 13">
                <a:extLst>
                  <a:ext uri="{FF2B5EF4-FFF2-40B4-BE49-F238E27FC236}">
                    <a16:creationId xmlns:a16="http://schemas.microsoft.com/office/drawing/2014/main" id="{72C784C3-B233-0E4B-9B1D-CDBE9E2398EC}"/>
                  </a:ext>
                </a:extLst>
              </p:cNvPr>
              <p:cNvSpPr/>
              <p:nvPr/>
            </p:nvSpPr>
            <p:spPr>
              <a:xfrm>
                <a:off x="6444555" y="2749235"/>
                <a:ext cx="543208" cy="543208"/>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b="0" i="1" smtClean="0">
                          <a:solidFill>
                            <a:schemeClr val="bg1"/>
                          </a:solidFill>
                          <a:latin typeface="Cambria Math" panose="02040503050406030204" pitchFamily="18" charset="0"/>
                        </a:rPr>
                        <m:t> </m:t>
                      </m:r>
                      <m:acc>
                        <m:accPr>
                          <m:chr m:val="̅"/>
                          <m:ctrlPr>
                            <a:rPr lang="en-US" b="0" i="1" smtClean="0">
                              <a:solidFill>
                                <a:schemeClr val="bg1"/>
                              </a:solidFill>
                              <a:latin typeface="Cambria Math" panose="02040503050406030204" pitchFamily="18" charset="0"/>
                            </a:rPr>
                          </m:ctrlPr>
                        </m:accPr>
                        <m:e>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𝑥</m:t>
                              </m:r>
                            </m:e>
                            <m:sub>
                              <m:r>
                                <a:rPr lang="en-US" b="0" i="1" smtClean="0">
                                  <a:solidFill>
                                    <a:schemeClr val="bg1"/>
                                  </a:solidFill>
                                  <a:latin typeface="Cambria Math" panose="02040503050406030204" pitchFamily="18" charset="0"/>
                                </a:rPr>
                                <m:t>1</m:t>
                              </m:r>
                            </m:sub>
                          </m:sSub>
                        </m:e>
                      </m:acc>
                    </m:oMath>
                  </m:oMathPara>
                </a14:m>
                <a:endParaRPr lang="en-US" dirty="0">
                  <a:solidFill>
                    <a:schemeClr val="bg1"/>
                  </a:solidFill>
                </a:endParaRPr>
              </a:p>
            </p:txBody>
          </p:sp>
        </mc:Choice>
        <mc:Fallback xmlns="">
          <p:sp>
            <p:nvSpPr>
              <p:cNvPr id="14" name="Oval 13">
                <a:extLst>
                  <a:ext uri="{FF2B5EF4-FFF2-40B4-BE49-F238E27FC236}">
                    <a16:creationId xmlns:a16="http://schemas.microsoft.com/office/drawing/2014/main" id="{72C784C3-B233-0E4B-9B1D-CDBE9E2398EC}"/>
                  </a:ext>
                </a:extLst>
              </p:cNvPr>
              <p:cNvSpPr>
                <a:spLocks noRot="1" noChangeAspect="1" noMove="1" noResize="1" noEditPoints="1" noAdjustHandles="1" noChangeArrowheads="1" noChangeShapeType="1" noTextEdit="1"/>
              </p:cNvSpPr>
              <p:nvPr/>
            </p:nvSpPr>
            <p:spPr>
              <a:xfrm>
                <a:off x="6444555" y="2749235"/>
                <a:ext cx="543208" cy="543208"/>
              </a:xfrm>
              <a:prstGeom prst="ellipse">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Oval 14">
                <a:extLst>
                  <a:ext uri="{FF2B5EF4-FFF2-40B4-BE49-F238E27FC236}">
                    <a16:creationId xmlns:a16="http://schemas.microsoft.com/office/drawing/2014/main" id="{78A4BC7A-0AD2-B347-9390-C4D998A2025F}"/>
                  </a:ext>
                </a:extLst>
              </p:cNvPr>
              <p:cNvSpPr/>
              <p:nvPr/>
            </p:nvSpPr>
            <p:spPr>
              <a:xfrm>
                <a:off x="7610944" y="2749235"/>
                <a:ext cx="543208" cy="543208"/>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b="0" i="1" smtClean="0">
                          <a:solidFill>
                            <a:schemeClr val="bg1"/>
                          </a:solidFill>
                          <a:latin typeface="Cambria Math" panose="02040503050406030204" pitchFamily="18" charset="0"/>
                        </a:rPr>
                        <m:t> </m:t>
                      </m:r>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𝑥</m:t>
                          </m:r>
                        </m:e>
                        <m:sub>
                          <m:r>
                            <a:rPr lang="en-US" b="0" i="1" smtClean="0">
                              <a:solidFill>
                                <a:schemeClr val="bg1"/>
                              </a:solidFill>
                              <a:latin typeface="Cambria Math" panose="02040503050406030204" pitchFamily="18" charset="0"/>
                            </a:rPr>
                            <m:t>2</m:t>
                          </m:r>
                        </m:sub>
                      </m:sSub>
                    </m:oMath>
                  </m:oMathPara>
                </a14:m>
                <a:endParaRPr lang="en-US" dirty="0">
                  <a:solidFill>
                    <a:schemeClr val="bg1"/>
                  </a:solidFill>
                </a:endParaRPr>
              </a:p>
            </p:txBody>
          </p:sp>
        </mc:Choice>
        <mc:Fallback xmlns="">
          <p:sp>
            <p:nvSpPr>
              <p:cNvPr id="15" name="Oval 14">
                <a:extLst>
                  <a:ext uri="{FF2B5EF4-FFF2-40B4-BE49-F238E27FC236}">
                    <a16:creationId xmlns:a16="http://schemas.microsoft.com/office/drawing/2014/main" id="{78A4BC7A-0AD2-B347-9390-C4D998A2025F}"/>
                  </a:ext>
                </a:extLst>
              </p:cNvPr>
              <p:cNvSpPr>
                <a:spLocks noRot="1" noChangeAspect="1" noMove="1" noResize="1" noEditPoints="1" noAdjustHandles="1" noChangeArrowheads="1" noChangeShapeType="1" noTextEdit="1"/>
              </p:cNvSpPr>
              <p:nvPr/>
            </p:nvSpPr>
            <p:spPr>
              <a:xfrm>
                <a:off x="7610944" y="2749235"/>
                <a:ext cx="543208" cy="543208"/>
              </a:xfrm>
              <a:prstGeom prst="ellipse">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 name="Oval 15">
                <a:extLst>
                  <a:ext uri="{FF2B5EF4-FFF2-40B4-BE49-F238E27FC236}">
                    <a16:creationId xmlns:a16="http://schemas.microsoft.com/office/drawing/2014/main" id="{C7462B37-7CE7-1A49-BCE5-580A9CDD90E8}"/>
                  </a:ext>
                </a:extLst>
              </p:cNvPr>
              <p:cNvSpPr/>
              <p:nvPr/>
            </p:nvSpPr>
            <p:spPr>
              <a:xfrm>
                <a:off x="8777333" y="2749235"/>
                <a:ext cx="543208" cy="543208"/>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b="0" i="1" smtClean="0">
                          <a:solidFill>
                            <a:schemeClr val="bg1"/>
                          </a:solidFill>
                          <a:latin typeface="Cambria Math" panose="02040503050406030204" pitchFamily="18" charset="0"/>
                        </a:rPr>
                        <m:t> </m:t>
                      </m:r>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𝑥</m:t>
                          </m:r>
                        </m:e>
                        <m:sub>
                          <m:r>
                            <a:rPr lang="en-US" b="0" i="1" smtClean="0">
                              <a:solidFill>
                                <a:schemeClr val="bg1"/>
                              </a:solidFill>
                              <a:latin typeface="Cambria Math" panose="02040503050406030204" pitchFamily="18" charset="0"/>
                            </a:rPr>
                            <m:t>3</m:t>
                          </m:r>
                        </m:sub>
                      </m:sSub>
                    </m:oMath>
                  </m:oMathPara>
                </a14:m>
                <a:endParaRPr lang="en-US" dirty="0">
                  <a:solidFill>
                    <a:schemeClr val="bg1"/>
                  </a:solidFill>
                </a:endParaRPr>
              </a:p>
            </p:txBody>
          </p:sp>
        </mc:Choice>
        <mc:Fallback xmlns="">
          <p:sp>
            <p:nvSpPr>
              <p:cNvPr id="16" name="Oval 15">
                <a:extLst>
                  <a:ext uri="{FF2B5EF4-FFF2-40B4-BE49-F238E27FC236}">
                    <a16:creationId xmlns:a16="http://schemas.microsoft.com/office/drawing/2014/main" id="{C7462B37-7CE7-1A49-BCE5-580A9CDD90E8}"/>
                  </a:ext>
                </a:extLst>
              </p:cNvPr>
              <p:cNvSpPr>
                <a:spLocks noRot="1" noChangeAspect="1" noMove="1" noResize="1" noEditPoints="1" noAdjustHandles="1" noChangeArrowheads="1" noChangeShapeType="1" noTextEdit="1"/>
              </p:cNvSpPr>
              <p:nvPr/>
            </p:nvSpPr>
            <p:spPr>
              <a:xfrm>
                <a:off x="8777333" y="2749235"/>
                <a:ext cx="543208" cy="543208"/>
              </a:xfrm>
              <a:prstGeom prst="ellipse">
                <a:avLst/>
              </a:prstGeom>
              <a:blipFill>
                <a:blip r:embed="rId12"/>
                <a:stretch>
                  <a:fillRect l="-2222"/>
                </a:stretch>
              </a:blipFill>
            </p:spPr>
            <p:txBody>
              <a:bodyPr/>
              <a:lstStyle/>
              <a:p>
                <a:r>
                  <a:rPr lang="en-US">
                    <a:noFill/>
                  </a:rPr>
                  <a:t> </a:t>
                </a:r>
              </a:p>
            </p:txBody>
          </p:sp>
        </mc:Fallback>
      </mc:AlternateContent>
      <p:sp>
        <p:nvSpPr>
          <p:cNvPr id="18" name="Rectangle 17">
            <a:extLst>
              <a:ext uri="{FF2B5EF4-FFF2-40B4-BE49-F238E27FC236}">
                <a16:creationId xmlns:a16="http://schemas.microsoft.com/office/drawing/2014/main" id="{6BF33AED-B3BF-D84D-9C46-7A9DE45CD689}"/>
              </a:ext>
            </a:extLst>
          </p:cNvPr>
          <p:cNvSpPr/>
          <p:nvPr/>
        </p:nvSpPr>
        <p:spPr>
          <a:xfrm>
            <a:off x="5169528" y="2580237"/>
            <a:ext cx="5477346" cy="3974471"/>
          </a:xfrm>
          <a:prstGeom prst="rect">
            <a:avLst/>
          </a:pr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Content Placeholder 2">
            <a:extLst>
              <a:ext uri="{FF2B5EF4-FFF2-40B4-BE49-F238E27FC236}">
                <a16:creationId xmlns:a16="http://schemas.microsoft.com/office/drawing/2014/main" id="{41E88A37-34DA-FB4E-A626-20A988C9E9DE}"/>
              </a:ext>
            </a:extLst>
          </p:cNvPr>
          <p:cNvSpPr txBox="1">
            <a:spLocks/>
          </p:cNvSpPr>
          <p:nvPr/>
        </p:nvSpPr>
        <p:spPr>
          <a:xfrm>
            <a:off x="10153454" y="2626712"/>
            <a:ext cx="445962" cy="478637"/>
          </a:xfrm>
          <a:prstGeom prst="rect">
            <a:avLst/>
          </a:prstGeom>
          <a:ln>
            <a:noFill/>
          </a:ln>
        </p:spPr>
        <p:txBody>
          <a:bodyPr vert="horz" lIns="91440" tIns="45720" rIns="91440" bIns="45720" rtlCol="0">
            <a:normAutofit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i="1" dirty="0">
                <a:solidFill>
                  <a:schemeClr val="accent1"/>
                </a:solidFill>
              </a:rPr>
              <a:t>G</a:t>
            </a:r>
          </a:p>
        </p:txBody>
      </p:sp>
      <p:cxnSp>
        <p:nvCxnSpPr>
          <p:cNvPr id="8" name="Straight Connector 7">
            <a:extLst>
              <a:ext uri="{FF2B5EF4-FFF2-40B4-BE49-F238E27FC236}">
                <a16:creationId xmlns:a16="http://schemas.microsoft.com/office/drawing/2014/main" id="{9F5A36DC-033A-1D44-95C7-8C2268628050}"/>
              </a:ext>
            </a:extLst>
          </p:cNvPr>
          <p:cNvCxnSpPr>
            <a:stCxn id="4" idx="6"/>
            <a:endCxn id="15" idx="3"/>
          </p:cNvCxnSpPr>
          <p:nvPr/>
        </p:nvCxnSpPr>
        <p:spPr>
          <a:xfrm flipV="1">
            <a:off x="5920963" y="3212892"/>
            <a:ext cx="1769532" cy="824948"/>
          </a:xfrm>
          <a:prstGeom prst="line">
            <a:avLst/>
          </a:prstGeom>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7234A99F-3160-5448-B196-7686208D44F9}"/>
              </a:ext>
            </a:extLst>
          </p:cNvPr>
          <p:cNvCxnSpPr>
            <a:cxnSpLocks/>
            <a:stCxn id="10" idx="6"/>
            <a:endCxn id="13" idx="2"/>
          </p:cNvCxnSpPr>
          <p:nvPr/>
        </p:nvCxnSpPr>
        <p:spPr>
          <a:xfrm flipV="1">
            <a:off x="5920963" y="6041675"/>
            <a:ext cx="3873375" cy="3017"/>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cxnSp>
      <p:sp>
        <p:nvSpPr>
          <p:cNvPr id="22" name="Content Placeholder 2">
            <a:extLst>
              <a:ext uri="{FF2B5EF4-FFF2-40B4-BE49-F238E27FC236}">
                <a16:creationId xmlns:a16="http://schemas.microsoft.com/office/drawing/2014/main" id="{19C577CF-BB93-1F40-A861-D35A29730481}"/>
              </a:ext>
            </a:extLst>
          </p:cNvPr>
          <p:cNvSpPr txBox="1">
            <a:spLocks/>
          </p:cNvSpPr>
          <p:nvPr/>
        </p:nvSpPr>
        <p:spPr>
          <a:xfrm>
            <a:off x="7463826" y="5724806"/>
            <a:ext cx="801988" cy="641737"/>
          </a:xfrm>
          <a:prstGeom prst="rect">
            <a:avLst/>
          </a:prstGeom>
          <a:ln>
            <a:noFill/>
          </a:ln>
        </p:spPr>
        <p:txBody>
          <a:bodyPr vert="horz" lIns="91440" tIns="45720" rIns="91440" bIns="45720" rtlCol="0">
            <a:normAutofit fontScale="92500"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3600" dirty="0">
                <a:solidFill>
                  <a:schemeClr val="accent3"/>
                </a:solidFill>
              </a:rPr>
              <a:t>X</a:t>
            </a:r>
          </a:p>
        </p:txBody>
      </p:sp>
      <p:sp>
        <p:nvSpPr>
          <p:cNvPr id="23" name="Content Placeholder 2">
            <a:extLst>
              <a:ext uri="{FF2B5EF4-FFF2-40B4-BE49-F238E27FC236}">
                <a16:creationId xmlns:a16="http://schemas.microsoft.com/office/drawing/2014/main" id="{7FCED820-3E2A-3440-B4A5-6BCC90D382D5}"/>
              </a:ext>
            </a:extLst>
          </p:cNvPr>
          <p:cNvSpPr txBox="1">
            <a:spLocks/>
          </p:cNvSpPr>
          <p:nvPr/>
        </p:nvSpPr>
        <p:spPr>
          <a:xfrm>
            <a:off x="6853263" y="3461442"/>
            <a:ext cx="1768864" cy="887240"/>
          </a:xfrm>
          <a:prstGeom prst="rect">
            <a:avLst/>
          </a:prstGeom>
          <a:ln>
            <a:noFill/>
          </a:ln>
        </p:spPr>
        <p:txBody>
          <a:bodyPr vert="horz" lIns="91440" tIns="45720" rIns="91440" bIns="45720" rtlCol="0">
            <a:normAutofit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500" i="1" dirty="0"/>
              <a:t>We connect these two because they do not conflict</a:t>
            </a:r>
          </a:p>
        </p:txBody>
      </p:sp>
      <p:sp>
        <p:nvSpPr>
          <p:cNvPr id="24" name="Content Placeholder 2">
            <a:extLst>
              <a:ext uri="{FF2B5EF4-FFF2-40B4-BE49-F238E27FC236}">
                <a16:creationId xmlns:a16="http://schemas.microsoft.com/office/drawing/2014/main" id="{686DBCC1-3766-BE43-BCD7-2C837ABDDD61}"/>
              </a:ext>
            </a:extLst>
          </p:cNvPr>
          <p:cNvSpPr txBox="1">
            <a:spLocks/>
          </p:cNvSpPr>
          <p:nvPr/>
        </p:nvSpPr>
        <p:spPr>
          <a:xfrm>
            <a:off x="7908201" y="5154435"/>
            <a:ext cx="1768864" cy="887240"/>
          </a:xfrm>
          <a:prstGeom prst="rect">
            <a:avLst/>
          </a:prstGeom>
          <a:ln>
            <a:noFill/>
          </a:ln>
        </p:spPr>
        <p:txBody>
          <a:bodyPr vert="horz" lIns="91440" tIns="45720" rIns="91440" bIns="45720" rtlCol="0">
            <a:normAutofit fontScale="925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500" i="1" dirty="0"/>
              <a:t>We cannot connect these two because they contradict one another</a:t>
            </a:r>
          </a:p>
        </p:txBody>
      </p:sp>
    </p:spTree>
    <p:extLst>
      <p:ext uri="{BB962C8B-B14F-4D97-AF65-F5344CB8AC3E}">
        <p14:creationId xmlns:p14="http://schemas.microsoft.com/office/powerpoint/2010/main" val="1581613626"/>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p:cNvSpPr>
                <a:spLocks noGrp="1"/>
              </p:cNvSpPr>
              <p:nvPr>
                <p:ph type="title"/>
              </p:nvPr>
            </p:nvSpPr>
            <p:spPr>
              <a:xfrm>
                <a:off x="1141413" y="274490"/>
                <a:ext cx="9905998" cy="612753"/>
              </a:xfrm>
            </p:spPr>
            <p:txBody>
              <a:bodyPr>
                <a:normAutofit fontScale="90000"/>
              </a:bodyPr>
              <a:lstStyle/>
              <a:p>
                <a:pPr algn="ctr"/>
                <a14:m>
                  <m:oMath xmlns:m="http://schemas.openxmlformats.org/officeDocument/2006/math">
                    <m:r>
                      <a:rPr lang="en-US" b="0" i="1" smtClean="0">
                        <a:latin typeface="Cambria Math" panose="02040503050406030204" pitchFamily="18" charset="0"/>
                      </a:rPr>
                      <m:t>3</m:t>
                    </m:r>
                    <m:r>
                      <a:rPr lang="en-US" b="0" i="1" smtClean="0">
                        <a:latin typeface="Cambria Math" panose="02040503050406030204" pitchFamily="18" charset="0"/>
                      </a:rPr>
                      <m:t>𝑆𝐴𝑇</m:t>
                    </m:r>
                    <m:sSub>
                      <m:sSubPr>
                        <m:ctrlPr>
                          <a:rPr lang="en-US" b="0" i="1" smtClean="0">
                            <a:latin typeface="Cambria Math" panose="02040503050406030204" pitchFamily="18" charset="0"/>
                          </a:rPr>
                        </m:ctrlPr>
                      </m:sSubPr>
                      <m:e>
                        <m:r>
                          <a:rPr lang="en-US" b="0" i="1" smtClean="0">
                            <a:latin typeface="Cambria Math" panose="02040503050406030204" pitchFamily="18" charset="0"/>
                          </a:rPr>
                          <m:t>≤</m:t>
                        </m:r>
                      </m:e>
                      <m:sub>
                        <m:r>
                          <a:rPr lang="en-US" b="0" i="1" smtClean="0">
                            <a:latin typeface="Cambria Math" panose="02040503050406030204" pitchFamily="18" charset="0"/>
                          </a:rPr>
                          <m:t>𝑝</m:t>
                        </m:r>
                      </m:sub>
                    </m:sSub>
                    <m:r>
                      <a:rPr lang="en-US" b="0" i="1" smtClean="0">
                        <a:latin typeface="Cambria Math" panose="02040503050406030204" pitchFamily="18" charset="0"/>
                      </a:rPr>
                      <m:t>𝐶𝑙𝑖𝑞𝑢𝑒</m:t>
                    </m:r>
                  </m:oMath>
                </a14:m>
                <a:r>
                  <a:rPr lang="en-US" dirty="0"/>
                  <a:t>, Step 2</a:t>
                </a:r>
              </a:p>
            </p:txBody>
          </p:sp>
        </mc:Choice>
        <mc:Fallback xmlns="">
          <p:sp>
            <p:nvSpPr>
              <p:cNvPr id="2" name="Title 1"/>
              <p:cNvSpPr>
                <a:spLocks noGrp="1" noRot="1" noChangeAspect="1" noMove="1" noResize="1" noEditPoints="1" noAdjustHandles="1" noChangeArrowheads="1" noChangeShapeType="1" noTextEdit="1"/>
              </p:cNvSpPr>
              <p:nvPr>
                <p:ph type="title"/>
              </p:nvPr>
            </p:nvSpPr>
            <p:spPr>
              <a:xfrm>
                <a:off x="1141413" y="274490"/>
                <a:ext cx="9905998" cy="612753"/>
              </a:xfrm>
              <a:blipFill>
                <a:blip r:embed="rId2"/>
                <a:stretch>
                  <a:fillRect t="-16327" b="-20408"/>
                </a:stretch>
              </a:blipFill>
            </p:spPr>
            <p:txBody>
              <a:bodyPr/>
              <a:lstStyle/>
              <a:p>
                <a:r>
                  <a:rPr lang="en-US">
                    <a:noFill/>
                  </a:rPr>
                  <a:t> </a:t>
                </a:r>
              </a:p>
            </p:txBody>
          </p:sp>
        </mc:Fallback>
      </mc:AlternateContent>
      <p:sp>
        <p:nvSpPr>
          <p:cNvPr id="3" name="Content Placeholder 2"/>
          <p:cNvSpPr>
            <a:spLocks noGrp="1"/>
          </p:cNvSpPr>
          <p:nvPr>
            <p:ph sz="quarter" idx="1"/>
          </p:nvPr>
        </p:nvSpPr>
        <p:spPr>
          <a:xfrm>
            <a:off x="969397" y="3263475"/>
            <a:ext cx="3475855" cy="1869840"/>
          </a:xfrm>
          <a:ln>
            <a:solidFill>
              <a:schemeClr val="tx1">
                <a:lumMod val="95000"/>
              </a:schemeClr>
            </a:solidFill>
          </a:ln>
        </p:spPr>
        <p:txBody>
          <a:bodyPr>
            <a:normAutofit/>
          </a:bodyPr>
          <a:lstStyle/>
          <a:p>
            <a:pPr marL="0" indent="0" algn="ctr">
              <a:buNone/>
            </a:pPr>
            <a:r>
              <a:rPr lang="en-US" b="1" i="1" u="sng" dirty="0"/>
              <a:t>Step 2</a:t>
            </a:r>
            <a:r>
              <a:rPr lang="en-US" i="1" dirty="0"/>
              <a:t>: Connect any two nodes that are in different clauses AND can be set to true at the same time</a:t>
            </a:r>
          </a:p>
        </p:txBody>
      </p:sp>
      <mc:AlternateContent xmlns:mc="http://schemas.openxmlformats.org/markup-compatibility/2006" xmlns:a14="http://schemas.microsoft.com/office/drawing/2010/main">
        <mc:Choice Requires="a14">
          <p:sp>
            <p:nvSpPr>
              <p:cNvPr id="5" name="Content Placeholder 2">
                <a:extLst>
                  <a:ext uri="{FF2B5EF4-FFF2-40B4-BE49-F238E27FC236}">
                    <a16:creationId xmlns:a16="http://schemas.microsoft.com/office/drawing/2014/main" id="{E8FD7EC5-F759-3443-A400-8D08882410D9}"/>
                  </a:ext>
                </a:extLst>
              </p:cNvPr>
              <p:cNvSpPr txBox="1">
                <a:spLocks/>
              </p:cNvSpPr>
              <p:nvPr/>
            </p:nvSpPr>
            <p:spPr>
              <a:xfrm>
                <a:off x="2300256" y="1484196"/>
                <a:ext cx="7586129" cy="598099"/>
              </a:xfrm>
              <a:prstGeom prst="rect">
                <a:avLst/>
              </a:prstGeom>
              <a:solidFill>
                <a:schemeClr val="tx1">
                  <a:lumMod val="95000"/>
                </a:schemeClr>
              </a:solidFill>
              <a:ln>
                <a:solidFill>
                  <a:schemeClr val="bg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None/>
                </a:pPr>
                <a14:m>
                  <m:oMathPara xmlns:m="http://schemas.openxmlformats.org/officeDocument/2006/math">
                    <m:oMathParaPr>
                      <m:jc m:val="centerGroup"/>
                    </m:oMathParaPr>
                    <m:oMath xmlns:m="http://schemas.openxmlformats.org/officeDocument/2006/math">
                      <m:r>
                        <a:rPr lang="en-US" b="0" i="1" smtClean="0">
                          <a:solidFill>
                            <a:schemeClr val="bg1"/>
                          </a:solidFill>
                          <a:latin typeface="Cambria Math" panose="02040503050406030204" pitchFamily="18" charset="0"/>
                        </a:rPr>
                        <m:t>𝜃</m:t>
                      </m:r>
                      <m:r>
                        <a:rPr lang="en-US" b="0" i="1" smtClean="0">
                          <a:solidFill>
                            <a:schemeClr val="bg1"/>
                          </a:solidFill>
                          <a:latin typeface="Cambria Math" panose="02040503050406030204" pitchFamily="18" charset="0"/>
                        </a:rPr>
                        <m:t>=</m:t>
                      </m:r>
                      <m:d>
                        <m:dPr>
                          <m:ctrlPr>
                            <a:rPr lang="en-US" b="0" i="1" smtClean="0">
                              <a:solidFill>
                                <a:schemeClr val="bg1"/>
                              </a:solidFill>
                              <a:latin typeface="Cambria Math" panose="02040503050406030204" pitchFamily="18" charset="0"/>
                            </a:rPr>
                          </m:ctrlPr>
                        </m:dPr>
                        <m:e>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𝑥</m:t>
                              </m:r>
                            </m:e>
                            <m:sub>
                              <m:r>
                                <a:rPr lang="en-US" b="0" i="1" smtClean="0">
                                  <a:solidFill>
                                    <a:schemeClr val="bg1"/>
                                  </a:solidFill>
                                  <a:latin typeface="Cambria Math" panose="02040503050406030204" pitchFamily="18" charset="0"/>
                                </a:rPr>
                                <m:t>1</m:t>
                              </m:r>
                            </m:sub>
                          </m:sSub>
                          <m:r>
                            <a:rPr lang="en-US" b="0" i="1" smtClean="0">
                              <a:solidFill>
                                <a:schemeClr val="bg1"/>
                              </a:solidFill>
                              <a:latin typeface="Cambria Math" panose="02040503050406030204" pitchFamily="18" charset="0"/>
                            </a:rPr>
                            <m:t>∨</m:t>
                          </m:r>
                          <m:acc>
                            <m:accPr>
                              <m:chr m:val="̅"/>
                              <m:ctrlPr>
                                <a:rPr lang="en-US" b="0" i="1" smtClean="0">
                                  <a:solidFill>
                                    <a:schemeClr val="bg1"/>
                                  </a:solidFill>
                                  <a:latin typeface="Cambria Math" panose="02040503050406030204" pitchFamily="18" charset="0"/>
                                </a:rPr>
                              </m:ctrlPr>
                            </m:accPr>
                            <m:e>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𝑥</m:t>
                                  </m:r>
                                </m:e>
                                <m:sub>
                                  <m:r>
                                    <a:rPr lang="en-US" b="0" i="1" smtClean="0">
                                      <a:solidFill>
                                        <a:schemeClr val="bg1"/>
                                      </a:solidFill>
                                      <a:latin typeface="Cambria Math" panose="02040503050406030204" pitchFamily="18" charset="0"/>
                                    </a:rPr>
                                    <m:t>2</m:t>
                                  </m:r>
                                </m:sub>
                              </m:sSub>
                            </m:e>
                          </m:acc>
                          <m:r>
                            <a:rPr lang="en-US" b="0" i="1" smtClean="0">
                              <a:solidFill>
                                <a:schemeClr val="bg1"/>
                              </a:solidFill>
                              <a:latin typeface="Cambria Math" panose="02040503050406030204" pitchFamily="18" charset="0"/>
                            </a:rPr>
                            <m:t>∨</m:t>
                          </m:r>
                          <m:acc>
                            <m:accPr>
                              <m:chr m:val="̅"/>
                              <m:ctrlPr>
                                <a:rPr lang="en-US" b="0" i="1" smtClean="0">
                                  <a:solidFill>
                                    <a:schemeClr val="bg1"/>
                                  </a:solidFill>
                                  <a:latin typeface="Cambria Math" panose="02040503050406030204" pitchFamily="18" charset="0"/>
                                </a:rPr>
                              </m:ctrlPr>
                            </m:accPr>
                            <m:e>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𝑥</m:t>
                                  </m:r>
                                </m:e>
                                <m:sub>
                                  <m:r>
                                    <a:rPr lang="en-US" b="0" i="1" smtClean="0">
                                      <a:solidFill>
                                        <a:schemeClr val="bg1"/>
                                      </a:solidFill>
                                      <a:latin typeface="Cambria Math" panose="02040503050406030204" pitchFamily="18" charset="0"/>
                                    </a:rPr>
                                    <m:t>3</m:t>
                                  </m:r>
                                </m:sub>
                              </m:sSub>
                            </m:e>
                          </m:acc>
                        </m:e>
                      </m:d>
                      <m:r>
                        <a:rPr lang="en-US" b="0" i="1" smtClean="0">
                          <a:solidFill>
                            <a:schemeClr val="bg1"/>
                          </a:solidFill>
                          <a:latin typeface="Cambria Math" panose="02040503050406030204" pitchFamily="18" charset="0"/>
                        </a:rPr>
                        <m:t>∧</m:t>
                      </m:r>
                      <m:d>
                        <m:dPr>
                          <m:ctrlPr>
                            <a:rPr lang="en-US" b="0" i="1" smtClean="0">
                              <a:solidFill>
                                <a:schemeClr val="bg1"/>
                              </a:solidFill>
                              <a:latin typeface="Cambria Math" panose="02040503050406030204" pitchFamily="18" charset="0"/>
                            </a:rPr>
                          </m:ctrlPr>
                        </m:dPr>
                        <m:e>
                          <m:acc>
                            <m:accPr>
                              <m:chr m:val="̅"/>
                              <m:ctrlPr>
                                <a:rPr lang="en-US" b="0" i="1" smtClean="0">
                                  <a:solidFill>
                                    <a:schemeClr val="bg1"/>
                                  </a:solidFill>
                                  <a:latin typeface="Cambria Math" panose="02040503050406030204" pitchFamily="18" charset="0"/>
                                </a:rPr>
                              </m:ctrlPr>
                            </m:accPr>
                            <m:e>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𝑥</m:t>
                                  </m:r>
                                </m:e>
                                <m:sub>
                                  <m:r>
                                    <a:rPr lang="en-US" b="0" i="1" smtClean="0">
                                      <a:solidFill>
                                        <a:schemeClr val="bg1"/>
                                      </a:solidFill>
                                      <a:latin typeface="Cambria Math" panose="02040503050406030204" pitchFamily="18" charset="0"/>
                                    </a:rPr>
                                    <m:t>1</m:t>
                                  </m:r>
                                </m:sub>
                              </m:sSub>
                            </m:e>
                          </m:acc>
                          <m:r>
                            <a:rPr lang="en-US" b="0" i="1" smtClean="0">
                              <a:solidFill>
                                <a:schemeClr val="bg1"/>
                              </a:solidFill>
                              <a:latin typeface="Cambria Math" panose="02040503050406030204" pitchFamily="18" charset="0"/>
                            </a:rPr>
                            <m:t>∨</m:t>
                          </m:r>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𝑥</m:t>
                              </m:r>
                            </m:e>
                            <m:sub>
                              <m:r>
                                <a:rPr lang="en-US" b="0" i="1" smtClean="0">
                                  <a:solidFill>
                                    <a:schemeClr val="bg1"/>
                                  </a:solidFill>
                                  <a:latin typeface="Cambria Math" panose="02040503050406030204" pitchFamily="18" charset="0"/>
                                </a:rPr>
                                <m:t>2</m:t>
                              </m:r>
                            </m:sub>
                          </m:sSub>
                          <m:r>
                            <a:rPr lang="en-US" b="0" i="1" smtClean="0">
                              <a:solidFill>
                                <a:schemeClr val="bg1"/>
                              </a:solidFill>
                              <a:latin typeface="Cambria Math" panose="02040503050406030204" pitchFamily="18" charset="0"/>
                            </a:rPr>
                            <m:t>∨</m:t>
                          </m:r>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𝑥</m:t>
                              </m:r>
                            </m:e>
                            <m:sub>
                              <m:r>
                                <a:rPr lang="en-US" b="0" i="1" smtClean="0">
                                  <a:solidFill>
                                    <a:schemeClr val="bg1"/>
                                  </a:solidFill>
                                  <a:latin typeface="Cambria Math" panose="02040503050406030204" pitchFamily="18" charset="0"/>
                                </a:rPr>
                                <m:t>3</m:t>
                              </m:r>
                            </m:sub>
                          </m:sSub>
                        </m:e>
                      </m:d>
                      <m:r>
                        <a:rPr lang="en-US" b="0" i="1" smtClean="0">
                          <a:solidFill>
                            <a:schemeClr val="bg1"/>
                          </a:solidFill>
                          <a:latin typeface="Cambria Math" panose="02040503050406030204" pitchFamily="18" charset="0"/>
                        </a:rPr>
                        <m:t>∧(</m:t>
                      </m:r>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𝑥</m:t>
                          </m:r>
                        </m:e>
                        <m:sub>
                          <m:r>
                            <a:rPr lang="en-US" b="0" i="1" smtClean="0">
                              <a:solidFill>
                                <a:schemeClr val="bg1"/>
                              </a:solidFill>
                              <a:latin typeface="Cambria Math" panose="02040503050406030204" pitchFamily="18" charset="0"/>
                            </a:rPr>
                            <m:t>1</m:t>
                          </m:r>
                        </m:sub>
                      </m:sSub>
                      <m:r>
                        <a:rPr lang="en-US" b="0" i="1" smtClean="0">
                          <a:solidFill>
                            <a:schemeClr val="bg1"/>
                          </a:solidFill>
                          <a:latin typeface="Cambria Math" panose="02040503050406030204" pitchFamily="18" charset="0"/>
                        </a:rPr>
                        <m:t>∨</m:t>
                      </m:r>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𝑥</m:t>
                          </m:r>
                        </m:e>
                        <m:sub>
                          <m:r>
                            <a:rPr lang="en-US" b="0" i="1" smtClean="0">
                              <a:solidFill>
                                <a:schemeClr val="bg1"/>
                              </a:solidFill>
                              <a:latin typeface="Cambria Math" panose="02040503050406030204" pitchFamily="18" charset="0"/>
                            </a:rPr>
                            <m:t>2</m:t>
                          </m:r>
                        </m:sub>
                      </m:sSub>
                      <m:r>
                        <a:rPr lang="en-US" b="0" i="1" smtClean="0">
                          <a:solidFill>
                            <a:schemeClr val="bg1"/>
                          </a:solidFill>
                          <a:latin typeface="Cambria Math" panose="02040503050406030204" pitchFamily="18" charset="0"/>
                        </a:rPr>
                        <m:t>∨</m:t>
                      </m:r>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𝑥</m:t>
                          </m:r>
                        </m:e>
                        <m:sub>
                          <m:r>
                            <a:rPr lang="en-US" b="0" i="1" smtClean="0">
                              <a:solidFill>
                                <a:schemeClr val="bg1"/>
                              </a:solidFill>
                              <a:latin typeface="Cambria Math" panose="02040503050406030204" pitchFamily="18" charset="0"/>
                            </a:rPr>
                            <m:t>3</m:t>
                          </m:r>
                        </m:sub>
                      </m:sSub>
                      <m:r>
                        <a:rPr lang="en-US" b="0" i="1" smtClean="0">
                          <a:solidFill>
                            <a:schemeClr val="bg1"/>
                          </a:solidFill>
                          <a:latin typeface="Cambria Math" panose="02040503050406030204" pitchFamily="18" charset="0"/>
                        </a:rPr>
                        <m:t>)</m:t>
                      </m:r>
                    </m:oMath>
                  </m:oMathPara>
                </a14:m>
                <a:endParaRPr lang="en-US" dirty="0">
                  <a:solidFill>
                    <a:schemeClr val="bg1"/>
                  </a:solidFill>
                </a:endParaRPr>
              </a:p>
            </p:txBody>
          </p:sp>
        </mc:Choice>
        <mc:Fallback xmlns="">
          <p:sp>
            <p:nvSpPr>
              <p:cNvPr id="5" name="Content Placeholder 2">
                <a:extLst>
                  <a:ext uri="{FF2B5EF4-FFF2-40B4-BE49-F238E27FC236}">
                    <a16:creationId xmlns:a16="http://schemas.microsoft.com/office/drawing/2014/main" id="{E8FD7EC5-F759-3443-A400-8D08882410D9}"/>
                  </a:ext>
                </a:extLst>
              </p:cNvPr>
              <p:cNvSpPr txBox="1">
                <a:spLocks noRot="1" noChangeAspect="1" noMove="1" noResize="1" noEditPoints="1" noAdjustHandles="1" noChangeArrowheads="1" noChangeShapeType="1" noTextEdit="1"/>
              </p:cNvSpPr>
              <p:nvPr/>
            </p:nvSpPr>
            <p:spPr>
              <a:xfrm>
                <a:off x="2300256" y="1484196"/>
                <a:ext cx="7586129" cy="598099"/>
              </a:xfrm>
              <a:prstGeom prst="rect">
                <a:avLst/>
              </a:prstGeom>
              <a:blipFill>
                <a:blip r:embed="rId3"/>
                <a:stretch>
                  <a:fillRect/>
                </a:stretch>
              </a:blipFill>
              <a:ln>
                <a:solidFill>
                  <a:schemeClr val="bg1"/>
                </a:solidFill>
              </a:ln>
            </p:spPr>
            <p:txBody>
              <a:bodyPr/>
              <a:lstStyle/>
              <a:p>
                <a:r>
                  <a:rPr lang="en-US">
                    <a:noFill/>
                  </a:rPr>
                  <a:t> </a:t>
                </a:r>
              </a:p>
            </p:txBody>
          </p:sp>
        </mc:Fallback>
      </mc:AlternateContent>
      <p:sp>
        <p:nvSpPr>
          <p:cNvPr id="6" name="Content Placeholder 2">
            <a:extLst>
              <a:ext uri="{FF2B5EF4-FFF2-40B4-BE49-F238E27FC236}">
                <a16:creationId xmlns:a16="http://schemas.microsoft.com/office/drawing/2014/main" id="{FF448FEF-4075-E342-87D1-5ACB33834248}"/>
              </a:ext>
            </a:extLst>
          </p:cNvPr>
          <p:cNvSpPr txBox="1">
            <a:spLocks/>
          </p:cNvSpPr>
          <p:nvPr/>
        </p:nvSpPr>
        <p:spPr>
          <a:xfrm>
            <a:off x="2300256" y="1164628"/>
            <a:ext cx="7586129" cy="356343"/>
          </a:xfrm>
          <a:prstGeom prst="rect">
            <a:avLst/>
          </a:prstGeom>
          <a:noFill/>
          <a:ln>
            <a:noFill/>
          </a:ln>
        </p:spPr>
        <p:txBody>
          <a:bodyPr vert="horz" lIns="91440" tIns="45720" rIns="91440" bIns="45720" rtlCol="0">
            <a:normAutofit fontScale="700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None/>
            </a:pPr>
            <a:r>
              <a:rPr lang="en-US" dirty="0">
                <a:solidFill>
                  <a:schemeClr val="tx1">
                    <a:lumMod val="95000"/>
                  </a:schemeClr>
                </a:solidFill>
              </a:rPr>
              <a:t>Consider this 3-SAT formula:</a:t>
            </a:r>
          </a:p>
        </p:txBody>
      </p:sp>
      <mc:AlternateContent xmlns:mc="http://schemas.openxmlformats.org/markup-compatibility/2006" xmlns:a14="http://schemas.microsoft.com/office/drawing/2010/main">
        <mc:Choice Requires="a14">
          <p:sp>
            <p:nvSpPr>
              <p:cNvPr id="4" name="Oval 3">
                <a:extLst>
                  <a:ext uri="{FF2B5EF4-FFF2-40B4-BE49-F238E27FC236}">
                    <a16:creationId xmlns:a16="http://schemas.microsoft.com/office/drawing/2014/main" id="{AA49A5B1-9EEA-504D-8171-2D86014ED3D5}"/>
                  </a:ext>
                </a:extLst>
              </p:cNvPr>
              <p:cNvSpPr/>
              <p:nvPr/>
            </p:nvSpPr>
            <p:spPr>
              <a:xfrm>
                <a:off x="5377755" y="3766236"/>
                <a:ext cx="543208" cy="543208"/>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b="0" i="1" smtClean="0">
                          <a:solidFill>
                            <a:schemeClr val="bg1"/>
                          </a:solidFill>
                          <a:latin typeface="Cambria Math" panose="02040503050406030204" pitchFamily="18" charset="0"/>
                        </a:rPr>
                        <m:t> </m:t>
                      </m:r>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𝑥</m:t>
                          </m:r>
                        </m:e>
                        <m:sub>
                          <m:r>
                            <a:rPr lang="en-US" b="0" i="1" smtClean="0">
                              <a:solidFill>
                                <a:schemeClr val="bg1"/>
                              </a:solidFill>
                              <a:latin typeface="Cambria Math" panose="02040503050406030204" pitchFamily="18" charset="0"/>
                            </a:rPr>
                            <m:t>1</m:t>
                          </m:r>
                        </m:sub>
                      </m:sSub>
                    </m:oMath>
                  </m:oMathPara>
                </a14:m>
                <a:endParaRPr lang="en-US" dirty="0">
                  <a:solidFill>
                    <a:schemeClr val="bg1"/>
                  </a:solidFill>
                </a:endParaRPr>
              </a:p>
            </p:txBody>
          </p:sp>
        </mc:Choice>
        <mc:Fallback xmlns="">
          <p:sp>
            <p:nvSpPr>
              <p:cNvPr id="4" name="Oval 3">
                <a:extLst>
                  <a:ext uri="{FF2B5EF4-FFF2-40B4-BE49-F238E27FC236}">
                    <a16:creationId xmlns:a16="http://schemas.microsoft.com/office/drawing/2014/main" id="{AA49A5B1-9EEA-504D-8171-2D86014ED3D5}"/>
                  </a:ext>
                </a:extLst>
              </p:cNvPr>
              <p:cNvSpPr>
                <a:spLocks noRot="1" noChangeAspect="1" noMove="1" noResize="1" noEditPoints="1" noAdjustHandles="1" noChangeArrowheads="1" noChangeShapeType="1" noTextEdit="1"/>
              </p:cNvSpPr>
              <p:nvPr/>
            </p:nvSpPr>
            <p:spPr>
              <a:xfrm>
                <a:off x="5377755" y="3766236"/>
                <a:ext cx="543208" cy="543208"/>
              </a:xfrm>
              <a:prstGeom prst="ellipse">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Oval 8">
                <a:extLst>
                  <a:ext uri="{FF2B5EF4-FFF2-40B4-BE49-F238E27FC236}">
                    <a16:creationId xmlns:a16="http://schemas.microsoft.com/office/drawing/2014/main" id="{8E69667C-7276-FF41-86D4-6E1485A6ED44}"/>
                  </a:ext>
                </a:extLst>
              </p:cNvPr>
              <p:cNvSpPr/>
              <p:nvPr/>
            </p:nvSpPr>
            <p:spPr>
              <a:xfrm>
                <a:off x="5377755" y="4769662"/>
                <a:ext cx="543208" cy="543208"/>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i="1">
                          <a:solidFill>
                            <a:schemeClr val="bg1"/>
                          </a:solidFill>
                          <a:latin typeface="Cambria Math" panose="02040503050406030204" pitchFamily="18" charset="0"/>
                        </a:rPr>
                        <m:t> </m:t>
                      </m:r>
                      <m:acc>
                        <m:accPr>
                          <m:chr m:val="̅"/>
                          <m:ctrlPr>
                            <a:rPr lang="en-US" b="0" i="1" smtClean="0">
                              <a:solidFill>
                                <a:schemeClr val="bg1"/>
                              </a:solidFill>
                              <a:latin typeface="Cambria Math" panose="02040503050406030204" pitchFamily="18" charset="0"/>
                            </a:rPr>
                          </m:ctrlPr>
                        </m:accPr>
                        <m:e>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𝑥</m:t>
                              </m:r>
                            </m:e>
                            <m:sub>
                              <m:r>
                                <a:rPr lang="en-US" b="0" i="1" smtClean="0">
                                  <a:solidFill>
                                    <a:schemeClr val="bg1"/>
                                  </a:solidFill>
                                  <a:latin typeface="Cambria Math" panose="02040503050406030204" pitchFamily="18" charset="0"/>
                                </a:rPr>
                                <m:t>2</m:t>
                              </m:r>
                            </m:sub>
                          </m:sSub>
                        </m:e>
                      </m:acc>
                    </m:oMath>
                  </m:oMathPara>
                </a14:m>
                <a:endParaRPr lang="en-US" dirty="0">
                  <a:solidFill>
                    <a:schemeClr val="bg1"/>
                  </a:solidFill>
                </a:endParaRPr>
              </a:p>
            </p:txBody>
          </p:sp>
        </mc:Choice>
        <mc:Fallback xmlns="">
          <p:sp>
            <p:nvSpPr>
              <p:cNvPr id="9" name="Oval 8">
                <a:extLst>
                  <a:ext uri="{FF2B5EF4-FFF2-40B4-BE49-F238E27FC236}">
                    <a16:creationId xmlns:a16="http://schemas.microsoft.com/office/drawing/2014/main" id="{8E69667C-7276-FF41-86D4-6E1485A6ED44}"/>
                  </a:ext>
                </a:extLst>
              </p:cNvPr>
              <p:cNvSpPr>
                <a:spLocks noRot="1" noChangeAspect="1" noMove="1" noResize="1" noEditPoints="1" noAdjustHandles="1" noChangeArrowheads="1" noChangeShapeType="1" noTextEdit="1"/>
              </p:cNvSpPr>
              <p:nvPr/>
            </p:nvSpPr>
            <p:spPr>
              <a:xfrm>
                <a:off x="5377755" y="4769662"/>
                <a:ext cx="543208" cy="543208"/>
              </a:xfrm>
              <a:prstGeom prst="ellipse">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Oval 9">
                <a:extLst>
                  <a:ext uri="{FF2B5EF4-FFF2-40B4-BE49-F238E27FC236}">
                    <a16:creationId xmlns:a16="http://schemas.microsoft.com/office/drawing/2014/main" id="{7206D0A1-EC73-4F41-AD32-D60DD2780A2A}"/>
                  </a:ext>
                </a:extLst>
              </p:cNvPr>
              <p:cNvSpPr/>
              <p:nvPr/>
            </p:nvSpPr>
            <p:spPr>
              <a:xfrm>
                <a:off x="5377755" y="5773088"/>
                <a:ext cx="543208" cy="543208"/>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b="0" i="1" smtClean="0">
                          <a:solidFill>
                            <a:schemeClr val="bg1"/>
                          </a:solidFill>
                          <a:latin typeface="Cambria Math" panose="02040503050406030204" pitchFamily="18" charset="0"/>
                        </a:rPr>
                        <m:t> </m:t>
                      </m:r>
                      <m:acc>
                        <m:accPr>
                          <m:chr m:val="̅"/>
                          <m:ctrlPr>
                            <a:rPr lang="en-US" b="0" i="1" smtClean="0">
                              <a:solidFill>
                                <a:schemeClr val="bg1"/>
                              </a:solidFill>
                              <a:latin typeface="Cambria Math" panose="02040503050406030204" pitchFamily="18" charset="0"/>
                            </a:rPr>
                          </m:ctrlPr>
                        </m:accPr>
                        <m:e>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𝑥</m:t>
                              </m:r>
                            </m:e>
                            <m:sub>
                              <m:r>
                                <a:rPr lang="en-US" b="0" i="1" smtClean="0">
                                  <a:solidFill>
                                    <a:schemeClr val="bg1"/>
                                  </a:solidFill>
                                  <a:latin typeface="Cambria Math" panose="02040503050406030204" pitchFamily="18" charset="0"/>
                                </a:rPr>
                                <m:t>3</m:t>
                              </m:r>
                            </m:sub>
                          </m:sSub>
                        </m:e>
                      </m:acc>
                    </m:oMath>
                  </m:oMathPara>
                </a14:m>
                <a:endParaRPr lang="en-US" dirty="0">
                  <a:solidFill>
                    <a:schemeClr val="bg1"/>
                  </a:solidFill>
                </a:endParaRPr>
              </a:p>
            </p:txBody>
          </p:sp>
        </mc:Choice>
        <mc:Fallback xmlns="">
          <p:sp>
            <p:nvSpPr>
              <p:cNvPr id="10" name="Oval 9">
                <a:extLst>
                  <a:ext uri="{FF2B5EF4-FFF2-40B4-BE49-F238E27FC236}">
                    <a16:creationId xmlns:a16="http://schemas.microsoft.com/office/drawing/2014/main" id="{7206D0A1-EC73-4F41-AD32-D60DD2780A2A}"/>
                  </a:ext>
                </a:extLst>
              </p:cNvPr>
              <p:cNvSpPr>
                <a:spLocks noRot="1" noChangeAspect="1" noMove="1" noResize="1" noEditPoints="1" noAdjustHandles="1" noChangeArrowheads="1" noChangeShapeType="1" noTextEdit="1"/>
              </p:cNvSpPr>
              <p:nvPr/>
            </p:nvSpPr>
            <p:spPr>
              <a:xfrm>
                <a:off x="5377755" y="5773088"/>
                <a:ext cx="543208" cy="543208"/>
              </a:xfrm>
              <a:prstGeom prst="ellipse">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Oval 10">
                <a:extLst>
                  <a:ext uri="{FF2B5EF4-FFF2-40B4-BE49-F238E27FC236}">
                    <a16:creationId xmlns:a16="http://schemas.microsoft.com/office/drawing/2014/main" id="{5350F9A5-A6D1-BB4B-B24D-3DFE8D0734D1}"/>
                  </a:ext>
                </a:extLst>
              </p:cNvPr>
              <p:cNvSpPr/>
              <p:nvPr/>
            </p:nvSpPr>
            <p:spPr>
              <a:xfrm>
                <a:off x="9794338" y="3763219"/>
                <a:ext cx="543208" cy="543208"/>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b="0" i="1" smtClean="0">
                          <a:solidFill>
                            <a:schemeClr val="bg1"/>
                          </a:solidFill>
                          <a:latin typeface="Cambria Math" panose="02040503050406030204" pitchFamily="18" charset="0"/>
                        </a:rPr>
                        <m:t> </m:t>
                      </m:r>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𝑥</m:t>
                          </m:r>
                        </m:e>
                        <m:sub>
                          <m:r>
                            <a:rPr lang="en-US" b="0" i="1" smtClean="0">
                              <a:solidFill>
                                <a:schemeClr val="bg1"/>
                              </a:solidFill>
                              <a:latin typeface="Cambria Math" panose="02040503050406030204" pitchFamily="18" charset="0"/>
                            </a:rPr>
                            <m:t>1</m:t>
                          </m:r>
                        </m:sub>
                      </m:sSub>
                    </m:oMath>
                  </m:oMathPara>
                </a14:m>
                <a:endParaRPr lang="en-US" dirty="0">
                  <a:solidFill>
                    <a:schemeClr val="bg1"/>
                  </a:solidFill>
                </a:endParaRPr>
              </a:p>
            </p:txBody>
          </p:sp>
        </mc:Choice>
        <mc:Fallback xmlns="">
          <p:sp>
            <p:nvSpPr>
              <p:cNvPr id="11" name="Oval 10">
                <a:extLst>
                  <a:ext uri="{FF2B5EF4-FFF2-40B4-BE49-F238E27FC236}">
                    <a16:creationId xmlns:a16="http://schemas.microsoft.com/office/drawing/2014/main" id="{5350F9A5-A6D1-BB4B-B24D-3DFE8D0734D1}"/>
                  </a:ext>
                </a:extLst>
              </p:cNvPr>
              <p:cNvSpPr>
                <a:spLocks noRot="1" noChangeAspect="1" noMove="1" noResize="1" noEditPoints="1" noAdjustHandles="1" noChangeArrowheads="1" noChangeShapeType="1" noTextEdit="1"/>
              </p:cNvSpPr>
              <p:nvPr/>
            </p:nvSpPr>
            <p:spPr>
              <a:xfrm>
                <a:off x="9794338" y="3763219"/>
                <a:ext cx="543208" cy="543208"/>
              </a:xfrm>
              <a:prstGeom prst="ellipse">
                <a:avLst/>
              </a:prstGeom>
              <a:blipFill>
                <a:blip r:embed="rId7"/>
                <a:stretch>
                  <a:fillRect l="-222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Oval 11">
                <a:extLst>
                  <a:ext uri="{FF2B5EF4-FFF2-40B4-BE49-F238E27FC236}">
                    <a16:creationId xmlns:a16="http://schemas.microsoft.com/office/drawing/2014/main" id="{77033AA9-BB01-334B-BFAC-F224D9A3E0D8}"/>
                  </a:ext>
                </a:extLst>
              </p:cNvPr>
              <p:cNvSpPr/>
              <p:nvPr/>
            </p:nvSpPr>
            <p:spPr>
              <a:xfrm>
                <a:off x="9794338" y="4766645"/>
                <a:ext cx="543208" cy="543208"/>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b="0" i="1" smtClean="0">
                          <a:solidFill>
                            <a:schemeClr val="bg1"/>
                          </a:solidFill>
                          <a:latin typeface="Cambria Math" panose="02040503050406030204" pitchFamily="18" charset="0"/>
                        </a:rPr>
                        <m:t> </m:t>
                      </m:r>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𝑥</m:t>
                          </m:r>
                        </m:e>
                        <m:sub>
                          <m:r>
                            <a:rPr lang="en-US" b="0" i="1" smtClean="0">
                              <a:solidFill>
                                <a:schemeClr val="bg1"/>
                              </a:solidFill>
                              <a:latin typeface="Cambria Math" panose="02040503050406030204" pitchFamily="18" charset="0"/>
                            </a:rPr>
                            <m:t>2</m:t>
                          </m:r>
                        </m:sub>
                      </m:sSub>
                    </m:oMath>
                  </m:oMathPara>
                </a14:m>
                <a:endParaRPr lang="en-US" dirty="0">
                  <a:solidFill>
                    <a:schemeClr val="bg1"/>
                  </a:solidFill>
                </a:endParaRPr>
              </a:p>
            </p:txBody>
          </p:sp>
        </mc:Choice>
        <mc:Fallback xmlns="">
          <p:sp>
            <p:nvSpPr>
              <p:cNvPr id="12" name="Oval 11">
                <a:extLst>
                  <a:ext uri="{FF2B5EF4-FFF2-40B4-BE49-F238E27FC236}">
                    <a16:creationId xmlns:a16="http://schemas.microsoft.com/office/drawing/2014/main" id="{77033AA9-BB01-334B-BFAC-F224D9A3E0D8}"/>
                  </a:ext>
                </a:extLst>
              </p:cNvPr>
              <p:cNvSpPr>
                <a:spLocks noRot="1" noChangeAspect="1" noMove="1" noResize="1" noEditPoints="1" noAdjustHandles="1" noChangeArrowheads="1" noChangeShapeType="1" noTextEdit="1"/>
              </p:cNvSpPr>
              <p:nvPr/>
            </p:nvSpPr>
            <p:spPr>
              <a:xfrm>
                <a:off x="9794338" y="4766645"/>
                <a:ext cx="543208" cy="543208"/>
              </a:xfrm>
              <a:prstGeom prst="ellipse">
                <a:avLst/>
              </a:prstGeom>
              <a:blipFill>
                <a:blip r:embed="rId8"/>
                <a:stretch>
                  <a:fillRect l="-222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Oval 12">
                <a:extLst>
                  <a:ext uri="{FF2B5EF4-FFF2-40B4-BE49-F238E27FC236}">
                    <a16:creationId xmlns:a16="http://schemas.microsoft.com/office/drawing/2014/main" id="{4490E357-5B28-C24D-9D1A-EF3C2C12DBFB}"/>
                  </a:ext>
                </a:extLst>
              </p:cNvPr>
              <p:cNvSpPr/>
              <p:nvPr/>
            </p:nvSpPr>
            <p:spPr>
              <a:xfrm>
                <a:off x="9794338" y="5770071"/>
                <a:ext cx="543208" cy="543208"/>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b="0" i="1" smtClean="0">
                          <a:solidFill>
                            <a:schemeClr val="bg1"/>
                          </a:solidFill>
                          <a:latin typeface="Cambria Math" panose="02040503050406030204" pitchFamily="18" charset="0"/>
                        </a:rPr>
                        <m:t> </m:t>
                      </m:r>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𝑥</m:t>
                          </m:r>
                        </m:e>
                        <m:sub>
                          <m:r>
                            <a:rPr lang="en-US" b="0" i="1" smtClean="0">
                              <a:solidFill>
                                <a:schemeClr val="bg1"/>
                              </a:solidFill>
                              <a:latin typeface="Cambria Math" panose="02040503050406030204" pitchFamily="18" charset="0"/>
                            </a:rPr>
                            <m:t>3</m:t>
                          </m:r>
                        </m:sub>
                      </m:sSub>
                    </m:oMath>
                  </m:oMathPara>
                </a14:m>
                <a:endParaRPr lang="en-US" dirty="0">
                  <a:solidFill>
                    <a:schemeClr val="bg1"/>
                  </a:solidFill>
                </a:endParaRPr>
              </a:p>
            </p:txBody>
          </p:sp>
        </mc:Choice>
        <mc:Fallback xmlns="">
          <p:sp>
            <p:nvSpPr>
              <p:cNvPr id="13" name="Oval 12">
                <a:extLst>
                  <a:ext uri="{FF2B5EF4-FFF2-40B4-BE49-F238E27FC236}">
                    <a16:creationId xmlns:a16="http://schemas.microsoft.com/office/drawing/2014/main" id="{4490E357-5B28-C24D-9D1A-EF3C2C12DBFB}"/>
                  </a:ext>
                </a:extLst>
              </p:cNvPr>
              <p:cNvSpPr>
                <a:spLocks noRot="1" noChangeAspect="1" noMove="1" noResize="1" noEditPoints="1" noAdjustHandles="1" noChangeArrowheads="1" noChangeShapeType="1" noTextEdit="1"/>
              </p:cNvSpPr>
              <p:nvPr/>
            </p:nvSpPr>
            <p:spPr>
              <a:xfrm>
                <a:off x="9794338" y="5770071"/>
                <a:ext cx="543208" cy="543208"/>
              </a:xfrm>
              <a:prstGeom prst="ellipse">
                <a:avLst/>
              </a:prstGeom>
              <a:blipFill>
                <a:blip r:embed="rId9"/>
                <a:stretch>
                  <a:fillRect l="-222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Oval 13">
                <a:extLst>
                  <a:ext uri="{FF2B5EF4-FFF2-40B4-BE49-F238E27FC236}">
                    <a16:creationId xmlns:a16="http://schemas.microsoft.com/office/drawing/2014/main" id="{72C784C3-B233-0E4B-9B1D-CDBE9E2398EC}"/>
                  </a:ext>
                </a:extLst>
              </p:cNvPr>
              <p:cNvSpPr/>
              <p:nvPr/>
            </p:nvSpPr>
            <p:spPr>
              <a:xfrm>
                <a:off x="6444555" y="2749235"/>
                <a:ext cx="543208" cy="543208"/>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b="0" i="1" smtClean="0">
                          <a:solidFill>
                            <a:schemeClr val="bg1"/>
                          </a:solidFill>
                          <a:latin typeface="Cambria Math" panose="02040503050406030204" pitchFamily="18" charset="0"/>
                        </a:rPr>
                        <m:t> </m:t>
                      </m:r>
                      <m:acc>
                        <m:accPr>
                          <m:chr m:val="̅"/>
                          <m:ctrlPr>
                            <a:rPr lang="en-US" b="0" i="1" smtClean="0">
                              <a:solidFill>
                                <a:schemeClr val="bg1"/>
                              </a:solidFill>
                              <a:latin typeface="Cambria Math" panose="02040503050406030204" pitchFamily="18" charset="0"/>
                            </a:rPr>
                          </m:ctrlPr>
                        </m:accPr>
                        <m:e>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𝑥</m:t>
                              </m:r>
                            </m:e>
                            <m:sub>
                              <m:r>
                                <a:rPr lang="en-US" b="0" i="1" smtClean="0">
                                  <a:solidFill>
                                    <a:schemeClr val="bg1"/>
                                  </a:solidFill>
                                  <a:latin typeface="Cambria Math" panose="02040503050406030204" pitchFamily="18" charset="0"/>
                                </a:rPr>
                                <m:t>1</m:t>
                              </m:r>
                            </m:sub>
                          </m:sSub>
                        </m:e>
                      </m:acc>
                    </m:oMath>
                  </m:oMathPara>
                </a14:m>
                <a:endParaRPr lang="en-US" dirty="0">
                  <a:solidFill>
                    <a:schemeClr val="bg1"/>
                  </a:solidFill>
                </a:endParaRPr>
              </a:p>
            </p:txBody>
          </p:sp>
        </mc:Choice>
        <mc:Fallback xmlns="">
          <p:sp>
            <p:nvSpPr>
              <p:cNvPr id="14" name="Oval 13">
                <a:extLst>
                  <a:ext uri="{FF2B5EF4-FFF2-40B4-BE49-F238E27FC236}">
                    <a16:creationId xmlns:a16="http://schemas.microsoft.com/office/drawing/2014/main" id="{72C784C3-B233-0E4B-9B1D-CDBE9E2398EC}"/>
                  </a:ext>
                </a:extLst>
              </p:cNvPr>
              <p:cNvSpPr>
                <a:spLocks noRot="1" noChangeAspect="1" noMove="1" noResize="1" noEditPoints="1" noAdjustHandles="1" noChangeArrowheads="1" noChangeShapeType="1" noTextEdit="1"/>
              </p:cNvSpPr>
              <p:nvPr/>
            </p:nvSpPr>
            <p:spPr>
              <a:xfrm>
                <a:off x="6444555" y="2749235"/>
                <a:ext cx="543208" cy="543208"/>
              </a:xfrm>
              <a:prstGeom prst="ellipse">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Oval 14">
                <a:extLst>
                  <a:ext uri="{FF2B5EF4-FFF2-40B4-BE49-F238E27FC236}">
                    <a16:creationId xmlns:a16="http://schemas.microsoft.com/office/drawing/2014/main" id="{78A4BC7A-0AD2-B347-9390-C4D998A2025F}"/>
                  </a:ext>
                </a:extLst>
              </p:cNvPr>
              <p:cNvSpPr/>
              <p:nvPr/>
            </p:nvSpPr>
            <p:spPr>
              <a:xfrm>
                <a:off x="7610944" y="2749235"/>
                <a:ext cx="543208" cy="543208"/>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b="0" i="1" smtClean="0">
                          <a:solidFill>
                            <a:schemeClr val="bg1"/>
                          </a:solidFill>
                          <a:latin typeface="Cambria Math" panose="02040503050406030204" pitchFamily="18" charset="0"/>
                        </a:rPr>
                        <m:t> </m:t>
                      </m:r>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𝑥</m:t>
                          </m:r>
                        </m:e>
                        <m:sub>
                          <m:r>
                            <a:rPr lang="en-US" b="0" i="1" smtClean="0">
                              <a:solidFill>
                                <a:schemeClr val="bg1"/>
                              </a:solidFill>
                              <a:latin typeface="Cambria Math" panose="02040503050406030204" pitchFamily="18" charset="0"/>
                            </a:rPr>
                            <m:t>2</m:t>
                          </m:r>
                        </m:sub>
                      </m:sSub>
                    </m:oMath>
                  </m:oMathPara>
                </a14:m>
                <a:endParaRPr lang="en-US" dirty="0">
                  <a:solidFill>
                    <a:schemeClr val="bg1"/>
                  </a:solidFill>
                </a:endParaRPr>
              </a:p>
            </p:txBody>
          </p:sp>
        </mc:Choice>
        <mc:Fallback xmlns="">
          <p:sp>
            <p:nvSpPr>
              <p:cNvPr id="15" name="Oval 14">
                <a:extLst>
                  <a:ext uri="{FF2B5EF4-FFF2-40B4-BE49-F238E27FC236}">
                    <a16:creationId xmlns:a16="http://schemas.microsoft.com/office/drawing/2014/main" id="{78A4BC7A-0AD2-B347-9390-C4D998A2025F}"/>
                  </a:ext>
                </a:extLst>
              </p:cNvPr>
              <p:cNvSpPr>
                <a:spLocks noRot="1" noChangeAspect="1" noMove="1" noResize="1" noEditPoints="1" noAdjustHandles="1" noChangeArrowheads="1" noChangeShapeType="1" noTextEdit="1"/>
              </p:cNvSpPr>
              <p:nvPr/>
            </p:nvSpPr>
            <p:spPr>
              <a:xfrm>
                <a:off x="7610944" y="2749235"/>
                <a:ext cx="543208" cy="543208"/>
              </a:xfrm>
              <a:prstGeom prst="ellipse">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 name="Oval 15">
                <a:extLst>
                  <a:ext uri="{FF2B5EF4-FFF2-40B4-BE49-F238E27FC236}">
                    <a16:creationId xmlns:a16="http://schemas.microsoft.com/office/drawing/2014/main" id="{C7462B37-7CE7-1A49-BCE5-580A9CDD90E8}"/>
                  </a:ext>
                </a:extLst>
              </p:cNvPr>
              <p:cNvSpPr/>
              <p:nvPr/>
            </p:nvSpPr>
            <p:spPr>
              <a:xfrm>
                <a:off x="8777333" y="2749235"/>
                <a:ext cx="543208" cy="543208"/>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b="0" i="1" smtClean="0">
                          <a:solidFill>
                            <a:schemeClr val="bg1"/>
                          </a:solidFill>
                          <a:latin typeface="Cambria Math" panose="02040503050406030204" pitchFamily="18" charset="0"/>
                        </a:rPr>
                        <m:t> </m:t>
                      </m:r>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𝑥</m:t>
                          </m:r>
                        </m:e>
                        <m:sub>
                          <m:r>
                            <a:rPr lang="en-US" b="0" i="1" smtClean="0">
                              <a:solidFill>
                                <a:schemeClr val="bg1"/>
                              </a:solidFill>
                              <a:latin typeface="Cambria Math" panose="02040503050406030204" pitchFamily="18" charset="0"/>
                            </a:rPr>
                            <m:t>3</m:t>
                          </m:r>
                        </m:sub>
                      </m:sSub>
                    </m:oMath>
                  </m:oMathPara>
                </a14:m>
                <a:endParaRPr lang="en-US" dirty="0">
                  <a:solidFill>
                    <a:schemeClr val="bg1"/>
                  </a:solidFill>
                </a:endParaRPr>
              </a:p>
            </p:txBody>
          </p:sp>
        </mc:Choice>
        <mc:Fallback xmlns="">
          <p:sp>
            <p:nvSpPr>
              <p:cNvPr id="16" name="Oval 15">
                <a:extLst>
                  <a:ext uri="{FF2B5EF4-FFF2-40B4-BE49-F238E27FC236}">
                    <a16:creationId xmlns:a16="http://schemas.microsoft.com/office/drawing/2014/main" id="{C7462B37-7CE7-1A49-BCE5-580A9CDD90E8}"/>
                  </a:ext>
                </a:extLst>
              </p:cNvPr>
              <p:cNvSpPr>
                <a:spLocks noRot="1" noChangeAspect="1" noMove="1" noResize="1" noEditPoints="1" noAdjustHandles="1" noChangeArrowheads="1" noChangeShapeType="1" noTextEdit="1"/>
              </p:cNvSpPr>
              <p:nvPr/>
            </p:nvSpPr>
            <p:spPr>
              <a:xfrm>
                <a:off x="8777333" y="2749235"/>
                <a:ext cx="543208" cy="543208"/>
              </a:xfrm>
              <a:prstGeom prst="ellipse">
                <a:avLst/>
              </a:prstGeom>
              <a:blipFill>
                <a:blip r:embed="rId12"/>
                <a:stretch>
                  <a:fillRect l="-2222"/>
                </a:stretch>
              </a:blipFill>
            </p:spPr>
            <p:txBody>
              <a:bodyPr/>
              <a:lstStyle/>
              <a:p>
                <a:r>
                  <a:rPr lang="en-US">
                    <a:noFill/>
                  </a:rPr>
                  <a:t> </a:t>
                </a:r>
              </a:p>
            </p:txBody>
          </p:sp>
        </mc:Fallback>
      </mc:AlternateContent>
      <p:sp>
        <p:nvSpPr>
          <p:cNvPr id="18" name="Rectangle 17">
            <a:extLst>
              <a:ext uri="{FF2B5EF4-FFF2-40B4-BE49-F238E27FC236}">
                <a16:creationId xmlns:a16="http://schemas.microsoft.com/office/drawing/2014/main" id="{6BF33AED-B3BF-D84D-9C46-7A9DE45CD689}"/>
              </a:ext>
            </a:extLst>
          </p:cNvPr>
          <p:cNvSpPr/>
          <p:nvPr/>
        </p:nvSpPr>
        <p:spPr>
          <a:xfrm>
            <a:off x="5169528" y="2580237"/>
            <a:ext cx="5477346" cy="3974471"/>
          </a:xfrm>
          <a:prstGeom prst="rect">
            <a:avLst/>
          </a:pr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Content Placeholder 2">
            <a:extLst>
              <a:ext uri="{FF2B5EF4-FFF2-40B4-BE49-F238E27FC236}">
                <a16:creationId xmlns:a16="http://schemas.microsoft.com/office/drawing/2014/main" id="{41E88A37-34DA-FB4E-A626-20A988C9E9DE}"/>
              </a:ext>
            </a:extLst>
          </p:cNvPr>
          <p:cNvSpPr txBox="1">
            <a:spLocks/>
          </p:cNvSpPr>
          <p:nvPr/>
        </p:nvSpPr>
        <p:spPr>
          <a:xfrm>
            <a:off x="10153454" y="2626712"/>
            <a:ext cx="445962" cy="478637"/>
          </a:xfrm>
          <a:prstGeom prst="rect">
            <a:avLst/>
          </a:prstGeom>
          <a:ln>
            <a:noFill/>
          </a:ln>
        </p:spPr>
        <p:txBody>
          <a:bodyPr vert="horz" lIns="91440" tIns="45720" rIns="91440" bIns="45720" rtlCol="0">
            <a:normAutofit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i="1" dirty="0">
                <a:solidFill>
                  <a:schemeClr val="accent1"/>
                </a:solidFill>
              </a:rPr>
              <a:t>G</a:t>
            </a:r>
          </a:p>
        </p:txBody>
      </p:sp>
      <p:cxnSp>
        <p:nvCxnSpPr>
          <p:cNvPr id="8" name="Straight Connector 7">
            <a:extLst>
              <a:ext uri="{FF2B5EF4-FFF2-40B4-BE49-F238E27FC236}">
                <a16:creationId xmlns:a16="http://schemas.microsoft.com/office/drawing/2014/main" id="{9F5A36DC-033A-1D44-95C7-8C2268628050}"/>
              </a:ext>
            </a:extLst>
          </p:cNvPr>
          <p:cNvCxnSpPr>
            <a:cxnSpLocks/>
            <a:stCxn id="4" idx="6"/>
            <a:endCxn id="15" idx="4"/>
          </p:cNvCxnSpPr>
          <p:nvPr/>
        </p:nvCxnSpPr>
        <p:spPr>
          <a:xfrm flipV="1">
            <a:off x="5920963" y="3292443"/>
            <a:ext cx="1961585" cy="745397"/>
          </a:xfrm>
          <a:prstGeom prst="line">
            <a:avLst/>
          </a:prstGeom>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2A93107A-EDEA-3145-987E-D64D886046AD}"/>
              </a:ext>
            </a:extLst>
          </p:cNvPr>
          <p:cNvCxnSpPr>
            <a:cxnSpLocks/>
            <a:stCxn id="4" idx="6"/>
            <a:endCxn id="16" idx="4"/>
          </p:cNvCxnSpPr>
          <p:nvPr/>
        </p:nvCxnSpPr>
        <p:spPr>
          <a:xfrm flipV="1">
            <a:off x="5920963" y="3292443"/>
            <a:ext cx="3127974" cy="745397"/>
          </a:xfrm>
          <a:prstGeom prst="line">
            <a:avLst/>
          </a:prstGeom>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6C3DC1DA-938A-2D49-A105-6F600A3F1A38}"/>
              </a:ext>
            </a:extLst>
          </p:cNvPr>
          <p:cNvCxnSpPr>
            <a:cxnSpLocks/>
            <a:stCxn id="4" idx="6"/>
            <a:endCxn id="11" idx="2"/>
          </p:cNvCxnSpPr>
          <p:nvPr/>
        </p:nvCxnSpPr>
        <p:spPr>
          <a:xfrm flipV="1">
            <a:off x="5920963" y="4034823"/>
            <a:ext cx="3873375" cy="3017"/>
          </a:xfrm>
          <a:prstGeom prst="line">
            <a:avLst/>
          </a:prstGeom>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FA18388B-A1B9-5C4C-B61B-70895BCF17C4}"/>
              </a:ext>
            </a:extLst>
          </p:cNvPr>
          <p:cNvCxnSpPr>
            <a:cxnSpLocks/>
            <a:stCxn id="4" idx="6"/>
            <a:endCxn id="12" idx="2"/>
          </p:cNvCxnSpPr>
          <p:nvPr/>
        </p:nvCxnSpPr>
        <p:spPr>
          <a:xfrm>
            <a:off x="5920963" y="4037840"/>
            <a:ext cx="3873375" cy="1000409"/>
          </a:xfrm>
          <a:prstGeom prst="line">
            <a:avLst/>
          </a:prstGeom>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96FE2F4D-597D-0A4E-A57B-0020E6F12C06}"/>
              </a:ext>
            </a:extLst>
          </p:cNvPr>
          <p:cNvCxnSpPr>
            <a:cxnSpLocks/>
            <a:stCxn id="4" idx="6"/>
            <a:endCxn id="13" idx="2"/>
          </p:cNvCxnSpPr>
          <p:nvPr/>
        </p:nvCxnSpPr>
        <p:spPr>
          <a:xfrm>
            <a:off x="5920963" y="4037840"/>
            <a:ext cx="3873375" cy="2003835"/>
          </a:xfrm>
          <a:prstGeom prst="line">
            <a:avLst/>
          </a:prstGeom>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DDFF9477-207D-474C-839E-D162BB8F2CC1}"/>
              </a:ext>
            </a:extLst>
          </p:cNvPr>
          <p:cNvCxnSpPr>
            <a:cxnSpLocks/>
            <a:stCxn id="9" idx="6"/>
            <a:endCxn id="14" idx="4"/>
          </p:cNvCxnSpPr>
          <p:nvPr/>
        </p:nvCxnSpPr>
        <p:spPr>
          <a:xfrm flipV="1">
            <a:off x="5920963" y="3292443"/>
            <a:ext cx="795196" cy="1748823"/>
          </a:xfrm>
          <a:prstGeom prst="line">
            <a:avLst/>
          </a:prstGeom>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B4696E13-6B4E-E043-A09F-ECEC80AB4A57}"/>
              </a:ext>
            </a:extLst>
          </p:cNvPr>
          <p:cNvCxnSpPr>
            <a:cxnSpLocks/>
            <a:stCxn id="9" idx="6"/>
            <a:endCxn id="16" idx="4"/>
          </p:cNvCxnSpPr>
          <p:nvPr/>
        </p:nvCxnSpPr>
        <p:spPr>
          <a:xfrm flipV="1">
            <a:off x="5920963" y="3292443"/>
            <a:ext cx="3127974" cy="1748823"/>
          </a:xfrm>
          <a:prstGeom prst="line">
            <a:avLst/>
          </a:prstGeom>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94CA3065-A461-AE40-AD9A-F6A3B415BD58}"/>
              </a:ext>
            </a:extLst>
          </p:cNvPr>
          <p:cNvCxnSpPr>
            <a:cxnSpLocks/>
            <a:stCxn id="9" idx="6"/>
            <a:endCxn id="11" idx="2"/>
          </p:cNvCxnSpPr>
          <p:nvPr/>
        </p:nvCxnSpPr>
        <p:spPr>
          <a:xfrm flipV="1">
            <a:off x="5920963" y="4034823"/>
            <a:ext cx="3873375" cy="1006443"/>
          </a:xfrm>
          <a:prstGeom prst="line">
            <a:avLst/>
          </a:prstGeom>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CB7C8622-1B9B-684C-BD33-D95A5919B895}"/>
              </a:ext>
            </a:extLst>
          </p:cNvPr>
          <p:cNvCxnSpPr>
            <a:cxnSpLocks/>
            <a:stCxn id="9" idx="6"/>
            <a:endCxn id="13" idx="2"/>
          </p:cNvCxnSpPr>
          <p:nvPr/>
        </p:nvCxnSpPr>
        <p:spPr>
          <a:xfrm>
            <a:off x="5920963" y="5041266"/>
            <a:ext cx="3873375" cy="1000409"/>
          </a:xfrm>
          <a:prstGeom prst="line">
            <a:avLst/>
          </a:prstGeom>
        </p:spPr>
        <p:style>
          <a:lnRef idx="1">
            <a:schemeClr val="accent1"/>
          </a:lnRef>
          <a:fillRef idx="0">
            <a:schemeClr val="accent1"/>
          </a:fillRef>
          <a:effectRef idx="0">
            <a:schemeClr val="accent1"/>
          </a:effectRef>
          <a:fontRef idx="minor">
            <a:schemeClr val="tx1"/>
          </a:fontRef>
        </p:style>
      </p:cxnSp>
      <p:cxnSp>
        <p:nvCxnSpPr>
          <p:cNvPr id="46" name="Straight Connector 45">
            <a:extLst>
              <a:ext uri="{FF2B5EF4-FFF2-40B4-BE49-F238E27FC236}">
                <a16:creationId xmlns:a16="http://schemas.microsoft.com/office/drawing/2014/main" id="{5811A371-E5D3-4041-A458-CBF0B644EB5F}"/>
              </a:ext>
            </a:extLst>
          </p:cNvPr>
          <p:cNvCxnSpPr>
            <a:cxnSpLocks/>
            <a:stCxn id="10" idx="6"/>
            <a:endCxn id="14" idx="4"/>
          </p:cNvCxnSpPr>
          <p:nvPr/>
        </p:nvCxnSpPr>
        <p:spPr>
          <a:xfrm flipV="1">
            <a:off x="5920963" y="3292443"/>
            <a:ext cx="795196" cy="2752249"/>
          </a:xfrm>
          <a:prstGeom prst="line">
            <a:avLst/>
          </a:prstGeom>
        </p:spPr>
        <p:style>
          <a:lnRef idx="1">
            <a:schemeClr val="accent1"/>
          </a:lnRef>
          <a:fillRef idx="0">
            <a:schemeClr val="accent1"/>
          </a:fillRef>
          <a:effectRef idx="0">
            <a:schemeClr val="accent1"/>
          </a:effectRef>
          <a:fontRef idx="minor">
            <a:schemeClr val="tx1"/>
          </a:fontRef>
        </p:style>
      </p:cxnSp>
      <p:cxnSp>
        <p:nvCxnSpPr>
          <p:cNvPr id="50" name="Straight Connector 49">
            <a:extLst>
              <a:ext uri="{FF2B5EF4-FFF2-40B4-BE49-F238E27FC236}">
                <a16:creationId xmlns:a16="http://schemas.microsoft.com/office/drawing/2014/main" id="{E4DDC788-314B-BF43-B06E-462111F4967C}"/>
              </a:ext>
            </a:extLst>
          </p:cNvPr>
          <p:cNvCxnSpPr>
            <a:cxnSpLocks/>
            <a:stCxn id="10" idx="6"/>
            <a:endCxn id="15" idx="4"/>
          </p:cNvCxnSpPr>
          <p:nvPr/>
        </p:nvCxnSpPr>
        <p:spPr>
          <a:xfrm flipV="1">
            <a:off x="5920963" y="3292443"/>
            <a:ext cx="1961585" cy="2752249"/>
          </a:xfrm>
          <a:prstGeom prst="line">
            <a:avLst/>
          </a:prstGeom>
        </p:spPr>
        <p:style>
          <a:lnRef idx="1">
            <a:schemeClr val="accent1"/>
          </a:lnRef>
          <a:fillRef idx="0">
            <a:schemeClr val="accent1"/>
          </a:fillRef>
          <a:effectRef idx="0">
            <a:schemeClr val="accent1"/>
          </a:effectRef>
          <a:fontRef idx="minor">
            <a:schemeClr val="tx1"/>
          </a:fontRef>
        </p:style>
      </p:cxnSp>
      <p:cxnSp>
        <p:nvCxnSpPr>
          <p:cNvPr id="53" name="Straight Connector 52">
            <a:extLst>
              <a:ext uri="{FF2B5EF4-FFF2-40B4-BE49-F238E27FC236}">
                <a16:creationId xmlns:a16="http://schemas.microsoft.com/office/drawing/2014/main" id="{A072CF64-D07F-F74D-98C4-9A30A3816184}"/>
              </a:ext>
            </a:extLst>
          </p:cNvPr>
          <p:cNvCxnSpPr>
            <a:cxnSpLocks/>
            <a:stCxn id="10" idx="6"/>
            <a:endCxn id="11" idx="2"/>
          </p:cNvCxnSpPr>
          <p:nvPr/>
        </p:nvCxnSpPr>
        <p:spPr>
          <a:xfrm flipV="1">
            <a:off x="5920963" y="4034823"/>
            <a:ext cx="3873375" cy="2009869"/>
          </a:xfrm>
          <a:prstGeom prst="line">
            <a:avLst/>
          </a:prstGeom>
        </p:spPr>
        <p:style>
          <a:lnRef idx="1">
            <a:schemeClr val="accent1"/>
          </a:lnRef>
          <a:fillRef idx="0">
            <a:schemeClr val="accent1"/>
          </a:fillRef>
          <a:effectRef idx="0">
            <a:schemeClr val="accent1"/>
          </a:effectRef>
          <a:fontRef idx="minor">
            <a:schemeClr val="tx1"/>
          </a:fontRef>
        </p:style>
      </p:cxnSp>
      <p:cxnSp>
        <p:nvCxnSpPr>
          <p:cNvPr id="60" name="Straight Connector 59">
            <a:extLst>
              <a:ext uri="{FF2B5EF4-FFF2-40B4-BE49-F238E27FC236}">
                <a16:creationId xmlns:a16="http://schemas.microsoft.com/office/drawing/2014/main" id="{03107FE9-12F7-8F4D-8FA5-DBA64340968E}"/>
              </a:ext>
            </a:extLst>
          </p:cNvPr>
          <p:cNvCxnSpPr>
            <a:cxnSpLocks/>
            <a:stCxn id="10" idx="6"/>
            <a:endCxn id="12" idx="2"/>
          </p:cNvCxnSpPr>
          <p:nvPr/>
        </p:nvCxnSpPr>
        <p:spPr>
          <a:xfrm flipV="1">
            <a:off x="5920963" y="5038249"/>
            <a:ext cx="3873375" cy="1006443"/>
          </a:xfrm>
          <a:prstGeom prst="line">
            <a:avLst/>
          </a:prstGeom>
        </p:spPr>
        <p:style>
          <a:lnRef idx="1">
            <a:schemeClr val="accent1"/>
          </a:lnRef>
          <a:fillRef idx="0">
            <a:schemeClr val="accent1"/>
          </a:fillRef>
          <a:effectRef idx="0">
            <a:schemeClr val="accent1"/>
          </a:effectRef>
          <a:fontRef idx="minor">
            <a:schemeClr val="tx1"/>
          </a:fontRef>
        </p:style>
      </p:cxnSp>
      <p:cxnSp>
        <p:nvCxnSpPr>
          <p:cNvPr id="63" name="Straight Connector 62">
            <a:extLst>
              <a:ext uri="{FF2B5EF4-FFF2-40B4-BE49-F238E27FC236}">
                <a16:creationId xmlns:a16="http://schemas.microsoft.com/office/drawing/2014/main" id="{EC22D0F5-2941-3D40-84A5-CAE6C30913FF}"/>
              </a:ext>
            </a:extLst>
          </p:cNvPr>
          <p:cNvCxnSpPr>
            <a:cxnSpLocks/>
            <a:stCxn id="12" idx="2"/>
            <a:endCxn id="14" idx="4"/>
          </p:cNvCxnSpPr>
          <p:nvPr/>
        </p:nvCxnSpPr>
        <p:spPr>
          <a:xfrm flipH="1" flipV="1">
            <a:off x="6716159" y="3292443"/>
            <a:ext cx="3078179" cy="1745806"/>
          </a:xfrm>
          <a:prstGeom prst="line">
            <a:avLst/>
          </a:prstGeom>
        </p:spPr>
        <p:style>
          <a:lnRef idx="1">
            <a:schemeClr val="accent1"/>
          </a:lnRef>
          <a:fillRef idx="0">
            <a:schemeClr val="accent1"/>
          </a:fillRef>
          <a:effectRef idx="0">
            <a:schemeClr val="accent1"/>
          </a:effectRef>
          <a:fontRef idx="minor">
            <a:schemeClr val="tx1"/>
          </a:fontRef>
        </p:style>
      </p:cxnSp>
      <p:cxnSp>
        <p:nvCxnSpPr>
          <p:cNvPr id="66" name="Straight Connector 65">
            <a:extLst>
              <a:ext uri="{FF2B5EF4-FFF2-40B4-BE49-F238E27FC236}">
                <a16:creationId xmlns:a16="http://schemas.microsoft.com/office/drawing/2014/main" id="{A41759C9-48CB-0E40-A9DC-A14CE6C703C8}"/>
              </a:ext>
            </a:extLst>
          </p:cNvPr>
          <p:cNvCxnSpPr>
            <a:cxnSpLocks/>
            <a:stCxn id="13" idx="2"/>
            <a:endCxn id="14" idx="4"/>
          </p:cNvCxnSpPr>
          <p:nvPr/>
        </p:nvCxnSpPr>
        <p:spPr>
          <a:xfrm flipH="1" flipV="1">
            <a:off x="6716159" y="3292443"/>
            <a:ext cx="3078179" cy="2749232"/>
          </a:xfrm>
          <a:prstGeom prst="line">
            <a:avLst/>
          </a:prstGeom>
        </p:spPr>
        <p:style>
          <a:lnRef idx="1">
            <a:schemeClr val="accent1"/>
          </a:lnRef>
          <a:fillRef idx="0">
            <a:schemeClr val="accent1"/>
          </a:fillRef>
          <a:effectRef idx="0">
            <a:schemeClr val="accent1"/>
          </a:effectRef>
          <a:fontRef idx="minor">
            <a:schemeClr val="tx1"/>
          </a:fontRef>
        </p:style>
      </p:cxnSp>
      <p:cxnSp>
        <p:nvCxnSpPr>
          <p:cNvPr id="69" name="Straight Connector 68">
            <a:extLst>
              <a:ext uri="{FF2B5EF4-FFF2-40B4-BE49-F238E27FC236}">
                <a16:creationId xmlns:a16="http://schemas.microsoft.com/office/drawing/2014/main" id="{D8A4FA2F-DCA9-7348-8234-379B4A622ACD}"/>
              </a:ext>
            </a:extLst>
          </p:cNvPr>
          <p:cNvCxnSpPr>
            <a:cxnSpLocks/>
            <a:stCxn id="11" idx="2"/>
            <a:endCxn id="15" idx="4"/>
          </p:cNvCxnSpPr>
          <p:nvPr/>
        </p:nvCxnSpPr>
        <p:spPr>
          <a:xfrm flipH="1" flipV="1">
            <a:off x="7882548" y="3292443"/>
            <a:ext cx="1911790" cy="742380"/>
          </a:xfrm>
          <a:prstGeom prst="line">
            <a:avLst/>
          </a:prstGeom>
        </p:spPr>
        <p:style>
          <a:lnRef idx="1">
            <a:schemeClr val="accent1"/>
          </a:lnRef>
          <a:fillRef idx="0">
            <a:schemeClr val="accent1"/>
          </a:fillRef>
          <a:effectRef idx="0">
            <a:schemeClr val="accent1"/>
          </a:effectRef>
          <a:fontRef idx="minor">
            <a:schemeClr val="tx1"/>
          </a:fontRef>
        </p:style>
      </p:cxnSp>
      <p:cxnSp>
        <p:nvCxnSpPr>
          <p:cNvPr id="72" name="Straight Connector 71">
            <a:extLst>
              <a:ext uri="{FF2B5EF4-FFF2-40B4-BE49-F238E27FC236}">
                <a16:creationId xmlns:a16="http://schemas.microsoft.com/office/drawing/2014/main" id="{16A17698-5882-7A42-8FE3-73BA338B3094}"/>
              </a:ext>
            </a:extLst>
          </p:cNvPr>
          <p:cNvCxnSpPr>
            <a:cxnSpLocks/>
            <a:stCxn id="12" idx="2"/>
            <a:endCxn id="15" idx="4"/>
          </p:cNvCxnSpPr>
          <p:nvPr/>
        </p:nvCxnSpPr>
        <p:spPr>
          <a:xfrm flipH="1" flipV="1">
            <a:off x="7882548" y="3292443"/>
            <a:ext cx="1911790" cy="1745806"/>
          </a:xfrm>
          <a:prstGeom prst="line">
            <a:avLst/>
          </a:prstGeom>
        </p:spPr>
        <p:style>
          <a:lnRef idx="1">
            <a:schemeClr val="accent1"/>
          </a:lnRef>
          <a:fillRef idx="0">
            <a:schemeClr val="accent1"/>
          </a:fillRef>
          <a:effectRef idx="0">
            <a:schemeClr val="accent1"/>
          </a:effectRef>
          <a:fontRef idx="minor">
            <a:schemeClr val="tx1"/>
          </a:fontRef>
        </p:style>
      </p:cxnSp>
      <p:cxnSp>
        <p:nvCxnSpPr>
          <p:cNvPr id="75" name="Straight Connector 74">
            <a:extLst>
              <a:ext uri="{FF2B5EF4-FFF2-40B4-BE49-F238E27FC236}">
                <a16:creationId xmlns:a16="http://schemas.microsoft.com/office/drawing/2014/main" id="{D50C2267-5372-264C-A218-ACD0E36C30AE}"/>
              </a:ext>
            </a:extLst>
          </p:cNvPr>
          <p:cNvCxnSpPr>
            <a:cxnSpLocks/>
            <a:stCxn id="13" idx="2"/>
            <a:endCxn id="15" idx="4"/>
          </p:cNvCxnSpPr>
          <p:nvPr/>
        </p:nvCxnSpPr>
        <p:spPr>
          <a:xfrm flipH="1" flipV="1">
            <a:off x="7882548" y="3292443"/>
            <a:ext cx="1911790" cy="2749232"/>
          </a:xfrm>
          <a:prstGeom prst="line">
            <a:avLst/>
          </a:prstGeom>
        </p:spPr>
        <p:style>
          <a:lnRef idx="1">
            <a:schemeClr val="accent1"/>
          </a:lnRef>
          <a:fillRef idx="0">
            <a:schemeClr val="accent1"/>
          </a:fillRef>
          <a:effectRef idx="0">
            <a:schemeClr val="accent1"/>
          </a:effectRef>
          <a:fontRef idx="minor">
            <a:schemeClr val="tx1"/>
          </a:fontRef>
        </p:style>
      </p:cxnSp>
      <p:cxnSp>
        <p:nvCxnSpPr>
          <p:cNvPr id="78" name="Straight Connector 77">
            <a:extLst>
              <a:ext uri="{FF2B5EF4-FFF2-40B4-BE49-F238E27FC236}">
                <a16:creationId xmlns:a16="http://schemas.microsoft.com/office/drawing/2014/main" id="{FDF4BD6C-BE19-7E46-942E-45C874225D6F}"/>
              </a:ext>
            </a:extLst>
          </p:cNvPr>
          <p:cNvCxnSpPr>
            <a:cxnSpLocks/>
            <a:stCxn id="11" idx="2"/>
            <a:endCxn id="16" idx="4"/>
          </p:cNvCxnSpPr>
          <p:nvPr/>
        </p:nvCxnSpPr>
        <p:spPr>
          <a:xfrm flipH="1" flipV="1">
            <a:off x="9048937" y="3292443"/>
            <a:ext cx="745401" cy="742380"/>
          </a:xfrm>
          <a:prstGeom prst="line">
            <a:avLst/>
          </a:prstGeom>
        </p:spPr>
        <p:style>
          <a:lnRef idx="1">
            <a:schemeClr val="accent1"/>
          </a:lnRef>
          <a:fillRef idx="0">
            <a:schemeClr val="accent1"/>
          </a:fillRef>
          <a:effectRef idx="0">
            <a:schemeClr val="accent1"/>
          </a:effectRef>
          <a:fontRef idx="minor">
            <a:schemeClr val="tx1"/>
          </a:fontRef>
        </p:style>
      </p:cxnSp>
      <p:cxnSp>
        <p:nvCxnSpPr>
          <p:cNvPr id="81" name="Straight Connector 80">
            <a:extLst>
              <a:ext uri="{FF2B5EF4-FFF2-40B4-BE49-F238E27FC236}">
                <a16:creationId xmlns:a16="http://schemas.microsoft.com/office/drawing/2014/main" id="{96090CEA-501C-A541-91C0-63A98DB1AFBD}"/>
              </a:ext>
            </a:extLst>
          </p:cNvPr>
          <p:cNvCxnSpPr>
            <a:cxnSpLocks/>
            <a:stCxn id="12" idx="2"/>
            <a:endCxn id="16" idx="4"/>
          </p:cNvCxnSpPr>
          <p:nvPr/>
        </p:nvCxnSpPr>
        <p:spPr>
          <a:xfrm flipH="1" flipV="1">
            <a:off x="9048937" y="3292443"/>
            <a:ext cx="745401" cy="1745806"/>
          </a:xfrm>
          <a:prstGeom prst="line">
            <a:avLst/>
          </a:prstGeom>
        </p:spPr>
        <p:style>
          <a:lnRef idx="1">
            <a:schemeClr val="accent1"/>
          </a:lnRef>
          <a:fillRef idx="0">
            <a:schemeClr val="accent1"/>
          </a:fillRef>
          <a:effectRef idx="0">
            <a:schemeClr val="accent1"/>
          </a:effectRef>
          <a:fontRef idx="minor">
            <a:schemeClr val="tx1"/>
          </a:fontRef>
        </p:style>
      </p:cxnSp>
      <p:cxnSp>
        <p:nvCxnSpPr>
          <p:cNvPr id="84" name="Straight Connector 83">
            <a:extLst>
              <a:ext uri="{FF2B5EF4-FFF2-40B4-BE49-F238E27FC236}">
                <a16:creationId xmlns:a16="http://schemas.microsoft.com/office/drawing/2014/main" id="{9E424F6E-E69E-4E4C-9EAB-A6FCB3393129}"/>
              </a:ext>
            </a:extLst>
          </p:cNvPr>
          <p:cNvCxnSpPr>
            <a:cxnSpLocks/>
            <a:stCxn id="13" idx="2"/>
            <a:endCxn id="16" idx="4"/>
          </p:cNvCxnSpPr>
          <p:nvPr/>
        </p:nvCxnSpPr>
        <p:spPr>
          <a:xfrm flipH="1" flipV="1">
            <a:off x="9048937" y="3292443"/>
            <a:ext cx="745401" cy="2749232"/>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55219684"/>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p:cNvSpPr>
                <a:spLocks noGrp="1"/>
              </p:cNvSpPr>
              <p:nvPr>
                <p:ph type="title"/>
              </p:nvPr>
            </p:nvSpPr>
            <p:spPr>
              <a:xfrm>
                <a:off x="1141413" y="274490"/>
                <a:ext cx="9905998" cy="612753"/>
              </a:xfrm>
            </p:spPr>
            <p:txBody>
              <a:bodyPr>
                <a:normAutofit fontScale="90000"/>
              </a:bodyPr>
              <a:lstStyle/>
              <a:p>
                <a:pPr algn="ctr"/>
                <a14:m>
                  <m:oMath xmlns:m="http://schemas.openxmlformats.org/officeDocument/2006/math">
                    <m:r>
                      <a:rPr lang="en-US" b="0" i="1" smtClean="0">
                        <a:latin typeface="Cambria Math" panose="02040503050406030204" pitchFamily="18" charset="0"/>
                      </a:rPr>
                      <m:t>3</m:t>
                    </m:r>
                    <m:r>
                      <a:rPr lang="en-US" b="0" i="1" smtClean="0">
                        <a:latin typeface="Cambria Math" panose="02040503050406030204" pitchFamily="18" charset="0"/>
                      </a:rPr>
                      <m:t>𝑆𝐴𝑇</m:t>
                    </m:r>
                    <m:sSub>
                      <m:sSubPr>
                        <m:ctrlPr>
                          <a:rPr lang="en-US" b="0" i="1" smtClean="0">
                            <a:latin typeface="Cambria Math" panose="02040503050406030204" pitchFamily="18" charset="0"/>
                          </a:rPr>
                        </m:ctrlPr>
                      </m:sSubPr>
                      <m:e>
                        <m:r>
                          <a:rPr lang="en-US" b="0" i="1" smtClean="0">
                            <a:latin typeface="Cambria Math" panose="02040503050406030204" pitchFamily="18" charset="0"/>
                          </a:rPr>
                          <m:t>≤</m:t>
                        </m:r>
                      </m:e>
                      <m:sub>
                        <m:r>
                          <a:rPr lang="en-US" b="0" i="1" smtClean="0">
                            <a:latin typeface="Cambria Math" panose="02040503050406030204" pitchFamily="18" charset="0"/>
                          </a:rPr>
                          <m:t>𝑝</m:t>
                        </m:r>
                      </m:sub>
                    </m:sSub>
                    <m:r>
                      <a:rPr lang="en-US" b="0" i="1" smtClean="0">
                        <a:latin typeface="Cambria Math" panose="02040503050406030204" pitchFamily="18" charset="0"/>
                      </a:rPr>
                      <m:t>𝐶𝑙𝑖𝑞𝑢𝑒</m:t>
                    </m:r>
                  </m:oMath>
                </a14:m>
                <a:r>
                  <a:rPr lang="en-US" dirty="0"/>
                  <a:t>, Step 3</a:t>
                </a:r>
              </a:p>
            </p:txBody>
          </p:sp>
        </mc:Choice>
        <mc:Fallback xmlns="">
          <p:sp>
            <p:nvSpPr>
              <p:cNvPr id="2" name="Title 1"/>
              <p:cNvSpPr>
                <a:spLocks noGrp="1" noRot="1" noChangeAspect="1" noMove="1" noResize="1" noEditPoints="1" noAdjustHandles="1" noChangeArrowheads="1" noChangeShapeType="1" noTextEdit="1"/>
              </p:cNvSpPr>
              <p:nvPr>
                <p:ph type="title"/>
              </p:nvPr>
            </p:nvSpPr>
            <p:spPr>
              <a:xfrm>
                <a:off x="1141413" y="274490"/>
                <a:ext cx="9905998" cy="612753"/>
              </a:xfrm>
              <a:blipFill>
                <a:blip r:embed="rId2"/>
                <a:stretch>
                  <a:fillRect t="-16327" b="-2040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Content Placeholder 2"/>
              <p:cNvSpPr>
                <a:spLocks noGrp="1"/>
              </p:cNvSpPr>
              <p:nvPr>
                <p:ph sz="quarter" idx="1"/>
              </p:nvPr>
            </p:nvSpPr>
            <p:spPr>
              <a:xfrm>
                <a:off x="919182" y="3495092"/>
                <a:ext cx="3475855" cy="1042952"/>
              </a:xfrm>
              <a:ln>
                <a:solidFill>
                  <a:schemeClr val="tx1">
                    <a:lumMod val="95000"/>
                  </a:schemeClr>
                </a:solidFill>
              </a:ln>
            </p:spPr>
            <p:txBody>
              <a:bodyPr>
                <a:normAutofit/>
              </a:bodyPr>
              <a:lstStyle/>
              <a:p>
                <a:pPr marL="0" indent="0" algn="ctr">
                  <a:buNone/>
                </a:pPr>
                <a:r>
                  <a:rPr lang="en-US" b="1" i="1" u="sng" dirty="0"/>
                  <a:t>Step 3</a:t>
                </a:r>
                <a:r>
                  <a:rPr lang="en-US" i="1" dirty="0"/>
                  <a:t>: Set k equal to the number of clauses in </a:t>
                </a:r>
                <a14:m>
                  <m:oMath xmlns:m="http://schemas.openxmlformats.org/officeDocument/2006/math">
                    <m:r>
                      <a:rPr lang="en-US" b="0" i="1" smtClean="0">
                        <a:latin typeface="Cambria Math" panose="02040503050406030204" pitchFamily="18" charset="0"/>
                      </a:rPr>
                      <m:t>𝜃</m:t>
                    </m:r>
                  </m:oMath>
                </a14:m>
                <a:endParaRPr lang="en-US" i="1" dirty="0"/>
              </a:p>
            </p:txBody>
          </p:sp>
        </mc:Choice>
        <mc:Fallback xmlns="">
          <p:sp>
            <p:nvSpPr>
              <p:cNvPr id="3" name="Content Placeholder 2"/>
              <p:cNvSpPr>
                <a:spLocks noGrp="1" noRot="1" noChangeAspect="1" noMove="1" noResize="1" noEditPoints="1" noAdjustHandles="1" noChangeArrowheads="1" noChangeShapeType="1" noTextEdit="1"/>
              </p:cNvSpPr>
              <p:nvPr>
                <p:ph sz="quarter" idx="1"/>
              </p:nvPr>
            </p:nvSpPr>
            <p:spPr>
              <a:xfrm>
                <a:off x="919182" y="3495092"/>
                <a:ext cx="3475855" cy="1042952"/>
              </a:xfrm>
              <a:blipFill>
                <a:blip r:embed="rId3"/>
                <a:stretch>
                  <a:fillRect r="-364" b="-1190"/>
                </a:stretch>
              </a:blipFill>
              <a:ln>
                <a:solidFill>
                  <a:schemeClr val="tx1">
                    <a:lumMod val="95000"/>
                  </a:schemeClr>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Content Placeholder 2">
                <a:extLst>
                  <a:ext uri="{FF2B5EF4-FFF2-40B4-BE49-F238E27FC236}">
                    <a16:creationId xmlns:a16="http://schemas.microsoft.com/office/drawing/2014/main" id="{E8FD7EC5-F759-3443-A400-8D08882410D9}"/>
                  </a:ext>
                </a:extLst>
              </p:cNvPr>
              <p:cNvSpPr txBox="1">
                <a:spLocks/>
              </p:cNvSpPr>
              <p:nvPr/>
            </p:nvSpPr>
            <p:spPr>
              <a:xfrm>
                <a:off x="2300256" y="1484196"/>
                <a:ext cx="7586129" cy="598099"/>
              </a:xfrm>
              <a:prstGeom prst="rect">
                <a:avLst/>
              </a:prstGeom>
              <a:solidFill>
                <a:schemeClr val="tx1">
                  <a:lumMod val="95000"/>
                </a:schemeClr>
              </a:solidFill>
              <a:ln>
                <a:solidFill>
                  <a:schemeClr val="bg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None/>
                </a:pPr>
                <a14:m>
                  <m:oMathPara xmlns:m="http://schemas.openxmlformats.org/officeDocument/2006/math">
                    <m:oMathParaPr>
                      <m:jc m:val="centerGroup"/>
                    </m:oMathParaPr>
                    <m:oMath xmlns:m="http://schemas.openxmlformats.org/officeDocument/2006/math">
                      <m:r>
                        <a:rPr lang="en-US" b="0" i="1" smtClean="0">
                          <a:solidFill>
                            <a:schemeClr val="bg1"/>
                          </a:solidFill>
                          <a:latin typeface="Cambria Math" panose="02040503050406030204" pitchFamily="18" charset="0"/>
                        </a:rPr>
                        <m:t>𝜃</m:t>
                      </m:r>
                      <m:r>
                        <a:rPr lang="en-US" b="0" i="1" smtClean="0">
                          <a:solidFill>
                            <a:schemeClr val="bg1"/>
                          </a:solidFill>
                          <a:latin typeface="Cambria Math" panose="02040503050406030204" pitchFamily="18" charset="0"/>
                        </a:rPr>
                        <m:t>=</m:t>
                      </m:r>
                      <m:d>
                        <m:dPr>
                          <m:ctrlPr>
                            <a:rPr lang="en-US" b="0" i="1" smtClean="0">
                              <a:solidFill>
                                <a:schemeClr val="bg1"/>
                              </a:solidFill>
                              <a:latin typeface="Cambria Math" panose="02040503050406030204" pitchFamily="18" charset="0"/>
                            </a:rPr>
                          </m:ctrlPr>
                        </m:dPr>
                        <m:e>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𝑥</m:t>
                              </m:r>
                            </m:e>
                            <m:sub>
                              <m:r>
                                <a:rPr lang="en-US" b="0" i="1" smtClean="0">
                                  <a:solidFill>
                                    <a:schemeClr val="bg1"/>
                                  </a:solidFill>
                                  <a:latin typeface="Cambria Math" panose="02040503050406030204" pitchFamily="18" charset="0"/>
                                </a:rPr>
                                <m:t>1</m:t>
                              </m:r>
                            </m:sub>
                          </m:sSub>
                          <m:r>
                            <a:rPr lang="en-US" b="0" i="1" smtClean="0">
                              <a:solidFill>
                                <a:schemeClr val="bg1"/>
                              </a:solidFill>
                              <a:latin typeface="Cambria Math" panose="02040503050406030204" pitchFamily="18" charset="0"/>
                            </a:rPr>
                            <m:t>∨</m:t>
                          </m:r>
                          <m:acc>
                            <m:accPr>
                              <m:chr m:val="̅"/>
                              <m:ctrlPr>
                                <a:rPr lang="en-US" b="0" i="1" smtClean="0">
                                  <a:solidFill>
                                    <a:schemeClr val="bg1"/>
                                  </a:solidFill>
                                  <a:latin typeface="Cambria Math" panose="02040503050406030204" pitchFamily="18" charset="0"/>
                                </a:rPr>
                              </m:ctrlPr>
                            </m:accPr>
                            <m:e>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𝑥</m:t>
                                  </m:r>
                                </m:e>
                                <m:sub>
                                  <m:r>
                                    <a:rPr lang="en-US" b="0" i="1" smtClean="0">
                                      <a:solidFill>
                                        <a:schemeClr val="bg1"/>
                                      </a:solidFill>
                                      <a:latin typeface="Cambria Math" panose="02040503050406030204" pitchFamily="18" charset="0"/>
                                    </a:rPr>
                                    <m:t>2</m:t>
                                  </m:r>
                                </m:sub>
                              </m:sSub>
                            </m:e>
                          </m:acc>
                          <m:r>
                            <a:rPr lang="en-US" b="0" i="1" smtClean="0">
                              <a:solidFill>
                                <a:schemeClr val="bg1"/>
                              </a:solidFill>
                              <a:latin typeface="Cambria Math" panose="02040503050406030204" pitchFamily="18" charset="0"/>
                            </a:rPr>
                            <m:t>∨</m:t>
                          </m:r>
                          <m:acc>
                            <m:accPr>
                              <m:chr m:val="̅"/>
                              <m:ctrlPr>
                                <a:rPr lang="en-US" b="0" i="1" smtClean="0">
                                  <a:solidFill>
                                    <a:schemeClr val="bg1"/>
                                  </a:solidFill>
                                  <a:latin typeface="Cambria Math" panose="02040503050406030204" pitchFamily="18" charset="0"/>
                                </a:rPr>
                              </m:ctrlPr>
                            </m:accPr>
                            <m:e>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𝑥</m:t>
                                  </m:r>
                                </m:e>
                                <m:sub>
                                  <m:r>
                                    <a:rPr lang="en-US" b="0" i="1" smtClean="0">
                                      <a:solidFill>
                                        <a:schemeClr val="bg1"/>
                                      </a:solidFill>
                                      <a:latin typeface="Cambria Math" panose="02040503050406030204" pitchFamily="18" charset="0"/>
                                    </a:rPr>
                                    <m:t>3</m:t>
                                  </m:r>
                                </m:sub>
                              </m:sSub>
                            </m:e>
                          </m:acc>
                        </m:e>
                      </m:d>
                      <m:r>
                        <a:rPr lang="en-US" b="0" i="1" smtClean="0">
                          <a:solidFill>
                            <a:schemeClr val="bg1"/>
                          </a:solidFill>
                          <a:latin typeface="Cambria Math" panose="02040503050406030204" pitchFamily="18" charset="0"/>
                        </a:rPr>
                        <m:t>∧</m:t>
                      </m:r>
                      <m:d>
                        <m:dPr>
                          <m:ctrlPr>
                            <a:rPr lang="en-US" b="0" i="1" smtClean="0">
                              <a:solidFill>
                                <a:schemeClr val="bg1"/>
                              </a:solidFill>
                              <a:latin typeface="Cambria Math" panose="02040503050406030204" pitchFamily="18" charset="0"/>
                            </a:rPr>
                          </m:ctrlPr>
                        </m:dPr>
                        <m:e>
                          <m:acc>
                            <m:accPr>
                              <m:chr m:val="̅"/>
                              <m:ctrlPr>
                                <a:rPr lang="en-US" b="0" i="1" smtClean="0">
                                  <a:solidFill>
                                    <a:schemeClr val="bg1"/>
                                  </a:solidFill>
                                  <a:latin typeface="Cambria Math" panose="02040503050406030204" pitchFamily="18" charset="0"/>
                                </a:rPr>
                              </m:ctrlPr>
                            </m:accPr>
                            <m:e>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𝑥</m:t>
                                  </m:r>
                                </m:e>
                                <m:sub>
                                  <m:r>
                                    <a:rPr lang="en-US" b="0" i="1" smtClean="0">
                                      <a:solidFill>
                                        <a:schemeClr val="bg1"/>
                                      </a:solidFill>
                                      <a:latin typeface="Cambria Math" panose="02040503050406030204" pitchFamily="18" charset="0"/>
                                    </a:rPr>
                                    <m:t>1</m:t>
                                  </m:r>
                                </m:sub>
                              </m:sSub>
                            </m:e>
                          </m:acc>
                          <m:r>
                            <a:rPr lang="en-US" b="0" i="1" smtClean="0">
                              <a:solidFill>
                                <a:schemeClr val="bg1"/>
                              </a:solidFill>
                              <a:latin typeface="Cambria Math" panose="02040503050406030204" pitchFamily="18" charset="0"/>
                            </a:rPr>
                            <m:t>∨</m:t>
                          </m:r>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𝑥</m:t>
                              </m:r>
                            </m:e>
                            <m:sub>
                              <m:r>
                                <a:rPr lang="en-US" b="0" i="1" smtClean="0">
                                  <a:solidFill>
                                    <a:schemeClr val="bg1"/>
                                  </a:solidFill>
                                  <a:latin typeface="Cambria Math" panose="02040503050406030204" pitchFamily="18" charset="0"/>
                                </a:rPr>
                                <m:t>2</m:t>
                              </m:r>
                            </m:sub>
                          </m:sSub>
                          <m:r>
                            <a:rPr lang="en-US" b="0" i="1" smtClean="0">
                              <a:solidFill>
                                <a:schemeClr val="bg1"/>
                              </a:solidFill>
                              <a:latin typeface="Cambria Math" panose="02040503050406030204" pitchFamily="18" charset="0"/>
                            </a:rPr>
                            <m:t>∨</m:t>
                          </m:r>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𝑥</m:t>
                              </m:r>
                            </m:e>
                            <m:sub>
                              <m:r>
                                <a:rPr lang="en-US" b="0" i="1" smtClean="0">
                                  <a:solidFill>
                                    <a:schemeClr val="bg1"/>
                                  </a:solidFill>
                                  <a:latin typeface="Cambria Math" panose="02040503050406030204" pitchFamily="18" charset="0"/>
                                </a:rPr>
                                <m:t>3</m:t>
                              </m:r>
                            </m:sub>
                          </m:sSub>
                        </m:e>
                      </m:d>
                      <m:r>
                        <a:rPr lang="en-US" b="0" i="1" smtClean="0">
                          <a:solidFill>
                            <a:schemeClr val="bg1"/>
                          </a:solidFill>
                          <a:latin typeface="Cambria Math" panose="02040503050406030204" pitchFamily="18" charset="0"/>
                        </a:rPr>
                        <m:t>∧(</m:t>
                      </m:r>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𝑥</m:t>
                          </m:r>
                        </m:e>
                        <m:sub>
                          <m:r>
                            <a:rPr lang="en-US" b="0" i="1" smtClean="0">
                              <a:solidFill>
                                <a:schemeClr val="bg1"/>
                              </a:solidFill>
                              <a:latin typeface="Cambria Math" panose="02040503050406030204" pitchFamily="18" charset="0"/>
                            </a:rPr>
                            <m:t>1</m:t>
                          </m:r>
                        </m:sub>
                      </m:sSub>
                      <m:r>
                        <a:rPr lang="en-US" b="0" i="1" smtClean="0">
                          <a:solidFill>
                            <a:schemeClr val="bg1"/>
                          </a:solidFill>
                          <a:latin typeface="Cambria Math" panose="02040503050406030204" pitchFamily="18" charset="0"/>
                        </a:rPr>
                        <m:t>∨</m:t>
                      </m:r>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𝑥</m:t>
                          </m:r>
                        </m:e>
                        <m:sub>
                          <m:r>
                            <a:rPr lang="en-US" b="0" i="1" smtClean="0">
                              <a:solidFill>
                                <a:schemeClr val="bg1"/>
                              </a:solidFill>
                              <a:latin typeface="Cambria Math" panose="02040503050406030204" pitchFamily="18" charset="0"/>
                            </a:rPr>
                            <m:t>2</m:t>
                          </m:r>
                        </m:sub>
                      </m:sSub>
                      <m:r>
                        <a:rPr lang="en-US" b="0" i="1" smtClean="0">
                          <a:solidFill>
                            <a:schemeClr val="bg1"/>
                          </a:solidFill>
                          <a:latin typeface="Cambria Math" panose="02040503050406030204" pitchFamily="18" charset="0"/>
                        </a:rPr>
                        <m:t>∨</m:t>
                      </m:r>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𝑥</m:t>
                          </m:r>
                        </m:e>
                        <m:sub>
                          <m:r>
                            <a:rPr lang="en-US" b="0" i="1" smtClean="0">
                              <a:solidFill>
                                <a:schemeClr val="bg1"/>
                              </a:solidFill>
                              <a:latin typeface="Cambria Math" panose="02040503050406030204" pitchFamily="18" charset="0"/>
                            </a:rPr>
                            <m:t>3</m:t>
                          </m:r>
                        </m:sub>
                      </m:sSub>
                      <m:r>
                        <a:rPr lang="en-US" b="0" i="1" smtClean="0">
                          <a:solidFill>
                            <a:schemeClr val="bg1"/>
                          </a:solidFill>
                          <a:latin typeface="Cambria Math" panose="02040503050406030204" pitchFamily="18" charset="0"/>
                        </a:rPr>
                        <m:t>)</m:t>
                      </m:r>
                    </m:oMath>
                  </m:oMathPara>
                </a14:m>
                <a:endParaRPr lang="en-US" dirty="0">
                  <a:solidFill>
                    <a:schemeClr val="bg1"/>
                  </a:solidFill>
                </a:endParaRPr>
              </a:p>
            </p:txBody>
          </p:sp>
        </mc:Choice>
        <mc:Fallback xmlns="">
          <p:sp>
            <p:nvSpPr>
              <p:cNvPr id="5" name="Content Placeholder 2">
                <a:extLst>
                  <a:ext uri="{FF2B5EF4-FFF2-40B4-BE49-F238E27FC236}">
                    <a16:creationId xmlns:a16="http://schemas.microsoft.com/office/drawing/2014/main" id="{E8FD7EC5-F759-3443-A400-8D08882410D9}"/>
                  </a:ext>
                </a:extLst>
              </p:cNvPr>
              <p:cNvSpPr txBox="1">
                <a:spLocks noRot="1" noChangeAspect="1" noMove="1" noResize="1" noEditPoints="1" noAdjustHandles="1" noChangeArrowheads="1" noChangeShapeType="1" noTextEdit="1"/>
              </p:cNvSpPr>
              <p:nvPr/>
            </p:nvSpPr>
            <p:spPr>
              <a:xfrm>
                <a:off x="2300256" y="1484196"/>
                <a:ext cx="7586129" cy="598099"/>
              </a:xfrm>
              <a:prstGeom prst="rect">
                <a:avLst/>
              </a:prstGeom>
              <a:blipFill>
                <a:blip r:embed="rId4"/>
                <a:stretch>
                  <a:fillRect/>
                </a:stretch>
              </a:blipFill>
              <a:ln>
                <a:solidFill>
                  <a:schemeClr val="bg1"/>
                </a:solidFill>
              </a:ln>
            </p:spPr>
            <p:txBody>
              <a:bodyPr/>
              <a:lstStyle/>
              <a:p>
                <a:r>
                  <a:rPr lang="en-US">
                    <a:noFill/>
                  </a:rPr>
                  <a:t> </a:t>
                </a:r>
              </a:p>
            </p:txBody>
          </p:sp>
        </mc:Fallback>
      </mc:AlternateContent>
      <p:sp>
        <p:nvSpPr>
          <p:cNvPr id="6" name="Content Placeholder 2">
            <a:extLst>
              <a:ext uri="{FF2B5EF4-FFF2-40B4-BE49-F238E27FC236}">
                <a16:creationId xmlns:a16="http://schemas.microsoft.com/office/drawing/2014/main" id="{FF448FEF-4075-E342-87D1-5ACB33834248}"/>
              </a:ext>
            </a:extLst>
          </p:cNvPr>
          <p:cNvSpPr txBox="1">
            <a:spLocks/>
          </p:cNvSpPr>
          <p:nvPr/>
        </p:nvSpPr>
        <p:spPr>
          <a:xfrm>
            <a:off x="2300256" y="1164628"/>
            <a:ext cx="7586129" cy="356343"/>
          </a:xfrm>
          <a:prstGeom prst="rect">
            <a:avLst/>
          </a:prstGeom>
          <a:noFill/>
          <a:ln>
            <a:noFill/>
          </a:ln>
        </p:spPr>
        <p:txBody>
          <a:bodyPr vert="horz" lIns="91440" tIns="45720" rIns="91440" bIns="45720" rtlCol="0">
            <a:normAutofit fontScale="700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None/>
            </a:pPr>
            <a:r>
              <a:rPr lang="en-US" dirty="0">
                <a:solidFill>
                  <a:schemeClr val="tx1">
                    <a:lumMod val="95000"/>
                  </a:schemeClr>
                </a:solidFill>
              </a:rPr>
              <a:t>Consider this 3-SAT formula:</a:t>
            </a:r>
          </a:p>
        </p:txBody>
      </p:sp>
      <p:grpSp>
        <p:nvGrpSpPr>
          <p:cNvPr id="7" name="Group 6">
            <a:extLst>
              <a:ext uri="{FF2B5EF4-FFF2-40B4-BE49-F238E27FC236}">
                <a16:creationId xmlns:a16="http://schemas.microsoft.com/office/drawing/2014/main" id="{B234495A-30E8-0F4D-808A-EA8E6DC699C8}"/>
              </a:ext>
            </a:extLst>
          </p:cNvPr>
          <p:cNvGrpSpPr/>
          <p:nvPr/>
        </p:nvGrpSpPr>
        <p:grpSpPr>
          <a:xfrm>
            <a:off x="5169528" y="2580237"/>
            <a:ext cx="5477346" cy="3974471"/>
            <a:chOff x="5169528" y="2580237"/>
            <a:chExt cx="5477346" cy="3974471"/>
          </a:xfrm>
        </p:grpSpPr>
        <mc:AlternateContent xmlns:mc="http://schemas.openxmlformats.org/markup-compatibility/2006" xmlns:a14="http://schemas.microsoft.com/office/drawing/2010/main">
          <mc:Choice Requires="a14">
            <p:sp>
              <p:nvSpPr>
                <p:cNvPr id="4" name="Oval 3">
                  <a:extLst>
                    <a:ext uri="{FF2B5EF4-FFF2-40B4-BE49-F238E27FC236}">
                      <a16:creationId xmlns:a16="http://schemas.microsoft.com/office/drawing/2014/main" id="{AA49A5B1-9EEA-504D-8171-2D86014ED3D5}"/>
                    </a:ext>
                  </a:extLst>
                </p:cNvPr>
                <p:cNvSpPr/>
                <p:nvPr/>
              </p:nvSpPr>
              <p:spPr>
                <a:xfrm>
                  <a:off x="5377755" y="3766236"/>
                  <a:ext cx="543208" cy="543208"/>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b="0" i="1" smtClean="0">
                            <a:solidFill>
                              <a:schemeClr val="bg1"/>
                            </a:solidFill>
                            <a:latin typeface="Cambria Math" panose="02040503050406030204" pitchFamily="18" charset="0"/>
                          </a:rPr>
                          <m:t> </m:t>
                        </m:r>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𝑥</m:t>
                            </m:r>
                          </m:e>
                          <m:sub>
                            <m:r>
                              <a:rPr lang="en-US" b="0" i="1" smtClean="0">
                                <a:solidFill>
                                  <a:schemeClr val="bg1"/>
                                </a:solidFill>
                                <a:latin typeface="Cambria Math" panose="02040503050406030204" pitchFamily="18" charset="0"/>
                              </a:rPr>
                              <m:t>1</m:t>
                            </m:r>
                          </m:sub>
                        </m:sSub>
                      </m:oMath>
                    </m:oMathPara>
                  </a14:m>
                  <a:endParaRPr lang="en-US" dirty="0">
                    <a:solidFill>
                      <a:schemeClr val="bg1"/>
                    </a:solidFill>
                  </a:endParaRPr>
                </a:p>
              </p:txBody>
            </p:sp>
          </mc:Choice>
          <mc:Fallback xmlns="">
            <p:sp>
              <p:nvSpPr>
                <p:cNvPr id="4" name="Oval 3">
                  <a:extLst>
                    <a:ext uri="{FF2B5EF4-FFF2-40B4-BE49-F238E27FC236}">
                      <a16:creationId xmlns:a16="http://schemas.microsoft.com/office/drawing/2014/main" id="{AA49A5B1-9EEA-504D-8171-2D86014ED3D5}"/>
                    </a:ext>
                  </a:extLst>
                </p:cNvPr>
                <p:cNvSpPr>
                  <a:spLocks noRot="1" noChangeAspect="1" noMove="1" noResize="1" noEditPoints="1" noAdjustHandles="1" noChangeArrowheads="1" noChangeShapeType="1" noTextEdit="1"/>
                </p:cNvSpPr>
                <p:nvPr/>
              </p:nvSpPr>
              <p:spPr>
                <a:xfrm>
                  <a:off x="5377755" y="3766236"/>
                  <a:ext cx="543208" cy="543208"/>
                </a:xfrm>
                <a:prstGeom prst="ellipse">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Oval 8">
                  <a:extLst>
                    <a:ext uri="{FF2B5EF4-FFF2-40B4-BE49-F238E27FC236}">
                      <a16:creationId xmlns:a16="http://schemas.microsoft.com/office/drawing/2014/main" id="{8E69667C-7276-FF41-86D4-6E1485A6ED44}"/>
                    </a:ext>
                  </a:extLst>
                </p:cNvPr>
                <p:cNvSpPr/>
                <p:nvPr/>
              </p:nvSpPr>
              <p:spPr>
                <a:xfrm>
                  <a:off x="5377755" y="4769662"/>
                  <a:ext cx="543208" cy="543208"/>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i="1">
                            <a:solidFill>
                              <a:schemeClr val="bg1"/>
                            </a:solidFill>
                            <a:latin typeface="Cambria Math" panose="02040503050406030204" pitchFamily="18" charset="0"/>
                          </a:rPr>
                          <m:t> </m:t>
                        </m:r>
                        <m:acc>
                          <m:accPr>
                            <m:chr m:val="̅"/>
                            <m:ctrlPr>
                              <a:rPr lang="en-US" b="0" i="1" smtClean="0">
                                <a:solidFill>
                                  <a:schemeClr val="bg1"/>
                                </a:solidFill>
                                <a:latin typeface="Cambria Math" panose="02040503050406030204" pitchFamily="18" charset="0"/>
                              </a:rPr>
                            </m:ctrlPr>
                          </m:accPr>
                          <m:e>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𝑥</m:t>
                                </m:r>
                              </m:e>
                              <m:sub>
                                <m:r>
                                  <a:rPr lang="en-US" b="0" i="1" smtClean="0">
                                    <a:solidFill>
                                      <a:schemeClr val="bg1"/>
                                    </a:solidFill>
                                    <a:latin typeface="Cambria Math" panose="02040503050406030204" pitchFamily="18" charset="0"/>
                                  </a:rPr>
                                  <m:t>2</m:t>
                                </m:r>
                              </m:sub>
                            </m:sSub>
                          </m:e>
                        </m:acc>
                      </m:oMath>
                    </m:oMathPara>
                  </a14:m>
                  <a:endParaRPr lang="en-US" dirty="0">
                    <a:solidFill>
                      <a:schemeClr val="bg1"/>
                    </a:solidFill>
                  </a:endParaRPr>
                </a:p>
              </p:txBody>
            </p:sp>
          </mc:Choice>
          <mc:Fallback xmlns="">
            <p:sp>
              <p:nvSpPr>
                <p:cNvPr id="9" name="Oval 8">
                  <a:extLst>
                    <a:ext uri="{FF2B5EF4-FFF2-40B4-BE49-F238E27FC236}">
                      <a16:creationId xmlns:a16="http://schemas.microsoft.com/office/drawing/2014/main" id="{8E69667C-7276-FF41-86D4-6E1485A6ED44}"/>
                    </a:ext>
                  </a:extLst>
                </p:cNvPr>
                <p:cNvSpPr>
                  <a:spLocks noRot="1" noChangeAspect="1" noMove="1" noResize="1" noEditPoints="1" noAdjustHandles="1" noChangeArrowheads="1" noChangeShapeType="1" noTextEdit="1"/>
                </p:cNvSpPr>
                <p:nvPr/>
              </p:nvSpPr>
              <p:spPr>
                <a:xfrm>
                  <a:off x="5377755" y="4769662"/>
                  <a:ext cx="543208" cy="543208"/>
                </a:xfrm>
                <a:prstGeom prst="ellipse">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Oval 9">
                  <a:extLst>
                    <a:ext uri="{FF2B5EF4-FFF2-40B4-BE49-F238E27FC236}">
                      <a16:creationId xmlns:a16="http://schemas.microsoft.com/office/drawing/2014/main" id="{7206D0A1-EC73-4F41-AD32-D60DD2780A2A}"/>
                    </a:ext>
                  </a:extLst>
                </p:cNvPr>
                <p:cNvSpPr/>
                <p:nvPr/>
              </p:nvSpPr>
              <p:spPr>
                <a:xfrm>
                  <a:off x="5377755" y="5773088"/>
                  <a:ext cx="543208" cy="543208"/>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b="0" i="1" smtClean="0">
                            <a:solidFill>
                              <a:schemeClr val="bg1"/>
                            </a:solidFill>
                            <a:latin typeface="Cambria Math" panose="02040503050406030204" pitchFamily="18" charset="0"/>
                          </a:rPr>
                          <m:t> </m:t>
                        </m:r>
                        <m:acc>
                          <m:accPr>
                            <m:chr m:val="̅"/>
                            <m:ctrlPr>
                              <a:rPr lang="en-US" b="0" i="1" smtClean="0">
                                <a:solidFill>
                                  <a:schemeClr val="bg1"/>
                                </a:solidFill>
                                <a:latin typeface="Cambria Math" panose="02040503050406030204" pitchFamily="18" charset="0"/>
                              </a:rPr>
                            </m:ctrlPr>
                          </m:accPr>
                          <m:e>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𝑥</m:t>
                                </m:r>
                              </m:e>
                              <m:sub>
                                <m:r>
                                  <a:rPr lang="en-US" b="0" i="1" smtClean="0">
                                    <a:solidFill>
                                      <a:schemeClr val="bg1"/>
                                    </a:solidFill>
                                    <a:latin typeface="Cambria Math" panose="02040503050406030204" pitchFamily="18" charset="0"/>
                                  </a:rPr>
                                  <m:t>3</m:t>
                                </m:r>
                              </m:sub>
                            </m:sSub>
                          </m:e>
                        </m:acc>
                      </m:oMath>
                    </m:oMathPara>
                  </a14:m>
                  <a:endParaRPr lang="en-US" dirty="0">
                    <a:solidFill>
                      <a:schemeClr val="bg1"/>
                    </a:solidFill>
                  </a:endParaRPr>
                </a:p>
              </p:txBody>
            </p:sp>
          </mc:Choice>
          <mc:Fallback xmlns="">
            <p:sp>
              <p:nvSpPr>
                <p:cNvPr id="10" name="Oval 9">
                  <a:extLst>
                    <a:ext uri="{FF2B5EF4-FFF2-40B4-BE49-F238E27FC236}">
                      <a16:creationId xmlns:a16="http://schemas.microsoft.com/office/drawing/2014/main" id="{7206D0A1-EC73-4F41-AD32-D60DD2780A2A}"/>
                    </a:ext>
                  </a:extLst>
                </p:cNvPr>
                <p:cNvSpPr>
                  <a:spLocks noRot="1" noChangeAspect="1" noMove="1" noResize="1" noEditPoints="1" noAdjustHandles="1" noChangeArrowheads="1" noChangeShapeType="1" noTextEdit="1"/>
                </p:cNvSpPr>
                <p:nvPr/>
              </p:nvSpPr>
              <p:spPr>
                <a:xfrm>
                  <a:off x="5377755" y="5773088"/>
                  <a:ext cx="543208" cy="543208"/>
                </a:xfrm>
                <a:prstGeom prst="ellipse">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Oval 10">
                  <a:extLst>
                    <a:ext uri="{FF2B5EF4-FFF2-40B4-BE49-F238E27FC236}">
                      <a16:creationId xmlns:a16="http://schemas.microsoft.com/office/drawing/2014/main" id="{5350F9A5-A6D1-BB4B-B24D-3DFE8D0734D1}"/>
                    </a:ext>
                  </a:extLst>
                </p:cNvPr>
                <p:cNvSpPr/>
                <p:nvPr/>
              </p:nvSpPr>
              <p:spPr>
                <a:xfrm>
                  <a:off x="9794338" y="3763219"/>
                  <a:ext cx="543208" cy="543208"/>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b="0" i="1" smtClean="0">
                            <a:solidFill>
                              <a:schemeClr val="bg1"/>
                            </a:solidFill>
                            <a:latin typeface="Cambria Math" panose="02040503050406030204" pitchFamily="18" charset="0"/>
                          </a:rPr>
                          <m:t> </m:t>
                        </m:r>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𝑥</m:t>
                            </m:r>
                          </m:e>
                          <m:sub>
                            <m:r>
                              <a:rPr lang="en-US" b="0" i="1" smtClean="0">
                                <a:solidFill>
                                  <a:schemeClr val="bg1"/>
                                </a:solidFill>
                                <a:latin typeface="Cambria Math" panose="02040503050406030204" pitchFamily="18" charset="0"/>
                              </a:rPr>
                              <m:t>1</m:t>
                            </m:r>
                          </m:sub>
                        </m:sSub>
                      </m:oMath>
                    </m:oMathPara>
                  </a14:m>
                  <a:endParaRPr lang="en-US" dirty="0">
                    <a:solidFill>
                      <a:schemeClr val="bg1"/>
                    </a:solidFill>
                  </a:endParaRPr>
                </a:p>
              </p:txBody>
            </p:sp>
          </mc:Choice>
          <mc:Fallback xmlns="">
            <p:sp>
              <p:nvSpPr>
                <p:cNvPr id="11" name="Oval 10">
                  <a:extLst>
                    <a:ext uri="{FF2B5EF4-FFF2-40B4-BE49-F238E27FC236}">
                      <a16:creationId xmlns:a16="http://schemas.microsoft.com/office/drawing/2014/main" id="{5350F9A5-A6D1-BB4B-B24D-3DFE8D0734D1}"/>
                    </a:ext>
                  </a:extLst>
                </p:cNvPr>
                <p:cNvSpPr>
                  <a:spLocks noRot="1" noChangeAspect="1" noMove="1" noResize="1" noEditPoints="1" noAdjustHandles="1" noChangeArrowheads="1" noChangeShapeType="1" noTextEdit="1"/>
                </p:cNvSpPr>
                <p:nvPr/>
              </p:nvSpPr>
              <p:spPr>
                <a:xfrm>
                  <a:off x="9794338" y="3763219"/>
                  <a:ext cx="543208" cy="543208"/>
                </a:xfrm>
                <a:prstGeom prst="ellipse">
                  <a:avLst/>
                </a:prstGeom>
                <a:blipFill>
                  <a:blip r:embed="rId8"/>
                  <a:stretch>
                    <a:fillRect l="-222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Oval 11">
                  <a:extLst>
                    <a:ext uri="{FF2B5EF4-FFF2-40B4-BE49-F238E27FC236}">
                      <a16:creationId xmlns:a16="http://schemas.microsoft.com/office/drawing/2014/main" id="{77033AA9-BB01-334B-BFAC-F224D9A3E0D8}"/>
                    </a:ext>
                  </a:extLst>
                </p:cNvPr>
                <p:cNvSpPr/>
                <p:nvPr/>
              </p:nvSpPr>
              <p:spPr>
                <a:xfrm>
                  <a:off x="9794338" y="4766645"/>
                  <a:ext cx="543208" cy="543208"/>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b="0" i="1" smtClean="0">
                            <a:solidFill>
                              <a:schemeClr val="bg1"/>
                            </a:solidFill>
                            <a:latin typeface="Cambria Math" panose="02040503050406030204" pitchFamily="18" charset="0"/>
                          </a:rPr>
                          <m:t> </m:t>
                        </m:r>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𝑥</m:t>
                            </m:r>
                          </m:e>
                          <m:sub>
                            <m:r>
                              <a:rPr lang="en-US" b="0" i="1" smtClean="0">
                                <a:solidFill>
                                  <a:schemeClr val="bg1"/>
                                </a:solidFill>
                                <a:latin typeface="Cambria Math" panose="02040503050406030204" pitchFamily="18" charset="0"/>
                              </a:rPr>
                              <m:t>2</m:t>
                            </m:r>
                          </m:sub>
                        </m:sSub>
                      </m:oMath>
                    </m:oMathPara>
                  </a14:m>
                  <a:endParaRPr lang="en-US" dirty="0">
                    <a:solidFill>
                      <a:schemeClr val="bg1"/>
                    </a:solidFill>
                  </a:endParaRPr>
                </a:p>
              </p:txBody>
            </p:sp>
          </mc:Choice>
          <mc:Fallback xmlns="">
            <p:sp>
              <p:nvSpPr>
                <p:cNvPr id="12" name="Oval 11">
                  <a:extLst>
                    <a:ext uri="{FF2B5EF4-FFF2-40B4-BE49-F238E27FC236}">
                      <a16:creationId xmlns:a16="http://schemas.microsoft.com/office/drawing/2014/main" id="{77033AA9-BB01-334B-BFAC-F224D9A3E0D8}"/>
                    </a:ext>
                  </a:extLst>
                </p:cNvPr>
                <p:cNvSpPr>
                  <a:spLocks noRot="1" noChangeAspect="1" noMove="1" noResize="1" noEditPoints="1" noAdjustHandles="1" noChangeArrowheads="1" noChangeShapeType="1" noTextEdit="1"/>
                </p:cNvSpPr>
                <p:nvPr/>
              </p:nvSpPr>
              <p:spPr>
                <a:xfrm>
                  <a:off x="9794338" y="4766645"/>
                  <a:ext cx="543208" cy="543208"/>
                </a:xfrm>
                <a:prstGeom prst="ellipse">
                  <a:avLst/>
                </a:prstGeom>
                <a:blipFill>
                  <a:blip r:embed="rId9"/>
                  <a:stretch>
                    <a:fillRect l="-222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Oval 12">
                  <a:extLst>
                    <a:ext uri="{FF2B5EF4-FFF2-40B4-BE49-F238E27FC236}">
                      <a16:creationId xmlns:a16="http://schemas.microsoft.com/office/drawing/2014/main" id="{4490E357-5B28-C24D-9D1A-EF3C2C12DBFB}"/>
                    </a:ext>
                  </a:extLst>
                </p:cNvPr>
                <p:cNvSpPr/>
                <p:nvPr/>
              </p:nvSpPr>
              <p:spPr>
                <a:xfrm>
                  <a:off x="9794338" y="5770071"/>
                  <a:ext cx="543208" cy="543208"/>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b="0" i="1" smtClean="0">
                            <a:solidFill>
                              <a:schemeClr val="bg1"/>
                            </a:solidFill>
                            <a:latin typeface="Cambria Math" panose="02040503050406030204" pitchFamily="18" charset="0"/>
                          </a:rPr>
                          <m:t> </m:t>
                        </m:r>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𝑥</m:t>
                            </m:r>
                          </m:e>
                          <m:sub>
                            <m:r>
                              <a:rPr lang="en-US" b="0" i="1" smtClean="0">
                                <a:solidFill>
                                  <a:schemeClr val="bg1"/>
                                </a:solidFill>
                                <a:latin typeface="Cambria Math" panose="02040503050406030204" pitchFamily="18" charset="0"/>
                              </a:rPr>
                              <m:t>3</m:t>
                            </m:r>
                          </m:sub>
                        </m:sSub>
                      </m:oMath>
                    </m:oMathPara>
                  </a14:m>
                  <a:endParaRPr lang="en-US" dirty="0">
                    <a:solidFill>
                      <a:schemeClr val="bg1"/>
                    </a:solidFill>
                  </a:endParaRPr>
                </a:p>
              </p:txBody>
            </p:sp>
          </mc:Choice>
          <mc:Fallback xmlns="">
            <p:sp>
              <p:nvSpPr>
                <p:cNvPr id="13" name="Oval 12">
                  <a:extLst>
                    <a:ext uri="{FF2B5EF4-FFF2-40B4-BE49-F238E27FC236}">
                      <a16:creationId xmlns:a16="http://schemas.microsoft.com/office/drawing/2014/main" id="{4490E357-5B28-C24D-9D1A-EF3C2C12DBFB}"/>
                    </a:ext>
                  </a:extLst>
                </p:cNvPr>
                <p:cNvSpPr>
                  <a:spLocks noRot="1" noChangeAspect="1" noMove="1" noResize="1" noEditPoints="1" noAdjustHandles="1" noChangeArrowheads="1" noChangeShapeType="1" noTextEdit="1"/>
                </p:cNvSpPr>
                <p:nvPr/>
              </p:nvSpPr>
              <p:spPr>
                <a:xfrm>
                  <a:off x="9794338" y="5770071"/>
                  <a:ext cx="543208" cy="543208"/>
                </a:xfrm>
                <a:prstGeom prst="ellipse">
                  <a:avLst/>
                </a:prstGeom>
                <a:blipFill>
                  <a:blip r:embed="rId10"/>
                  <a:stretch>
                    <a:fillRect l="-222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Oval 13">
                  <a:extLst>
                    <a:ext uri="{FF2B5EF4-FFF2-40B4-BE49-F238E27FC236}">
                      <a16:creationId xmlns:a16="http://schemas.microsoft.com/office/drawing/2014/main" id="{72C784C3-B233-0E4B-9B1D-CDBE9E2398EC}"/>
                    </a:ext>
                  </a:extLst>
                </p:cNvPr>
                <p:cNvSpPr/>
                <p:nvPr/>
              </p:nvSpPr>
              <p:spPr>
                <a:xfrm>
                  <a:off x="6444555" y="2749235"/>
                  <a:ext cx="543208" cy="543208"/>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b="0" i="1" smtClean="0">
                            <a:solidFill>
                              <a:schemeClr val="bg1"/>
                            </a:solidFill>
                            <a:latin typeface="Cambria Math" panose="02040503050406030204" pitchFamily="18" charset="0"/>
                          </a:rPr>
                          <m:t> </m:t>
                        </m:r>
                        <m:acc>
                          <m:accPr>
                            <m:chr m:val="̅"/>
                            <m:ctrlPr>
                              <a:rPr lang="en-US" b="0" i="1" smtClean="0">
                                <a:solidFill>
                                  <a:schemeClr val="bg1"/>
                                </a:solidFill>
                                <a:latin typeface="Cambria Math" panose="02040503050406030204" pitchFamily="18" charset="0"/>
                              </a:rPr>
                            </m:ctrlPr>
                          </m:accPr>
                          <m:e>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𝑥</m:t>
                                </m:r>
                              </m:e>
                              <m:sub>
                                <m:r>
                                  <a:rPr lang="en-US" b="0" i="1" smtClean="0">
                                    <a:solidFill>
                                      <a:schemeClr val="bg1"/>
                                    </a:solidFill>
                                    <a:latin typeface="Cambria Math" panose="02040503050406030204" pitchFamily="18" charset="0"/>
                                  </a:rPr>
                                  <m:t>1</m:t>
                                </m:r>
                              </m:sub>
                            </m:sSub>
                          </m:e>
                        </m:acc>
                      </m:oMath>
                    </m:oMathPara>
                  </a14:m>
                  <a:endParaRPr lang="en-US" dirty="0">
                    <a:solidFill>
                      <a:schemeClr val="bg1"/>
                    </a:solidFill>
                  </a:endParaRPr>
                </a:p>
              </p:txBody>
            </p:sp>
          </mc:Choice>
          <mc:Fallback xmlns="">
            <p:sp>
              <p:nvSpPr>
                <p:cNvPr id="14" name="Oval 13">
                  <a:extLst>
                    <a:ext uri="{FF2B5EF4-FFF2-40B4-BE49-F238E27FC236}">
                      <a16:creationId xmlns:a16="http://schemas.microsoft.com/office/drawing/2014/main" id="{72C784C3-B233-0E4B-9B1D-CDBE9E2398EC}"/>
                    </a:ext>
                  </a:extLst>
                </p:cNvPr>
                <p:cNvSpPr>
                  <a:spLocks noRot="1" noChangeAspect="1" noMove="1" noResize="1" noEditPoints="1" noAdjustHandles="1" noChangeArrowheads="1" noChangeShapeType="1" noTextEdit="1"/>
                </p:cNvSpPr>
                <p:nvPr/>
              </p:nvSpPr>
              <p:spPr>
                <a:xfrm>
                  <a:off x="6444555" y="2749235"/>
                  <a:ext cx="543208" cy="543208"/>
                </a:xfrm>
                <a:prstGeom prst="ellipse">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Oval 14">
                  <a:extLst>
                    <a:ext uri="{FF2B5EF4-FFF2-40B4-BE49-F238E27FC236}">
                      <a16:creationId xmlns:a16="http://schemas.microsoft.com/office/drawing/2014/main" id="{78A4BC7A-0AD2-B347-9390-C4D998A2025F}"/>
                    </a:ext>
                  </a:extLst>
                </p:cNvPr>
                <p:cNvSpPr/>
                <p:nvPr/>
              </p:nvSpPr>
              <p:spPr>
                <a:xfrm>
                  <a:off x="7610944" y="2749235"/>
                  <a:ext cx="543208" cy="543208"/>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b="0" i="1" smtClean="0">
                            <a:solidFill>
                              <a:schemeClr val="bg1"/>
                            </a:solidFill>
                            <a:latin typeface="Cambria Math" panose="02040503050406030204" pitchFamily="18" charset="0"/>
                          </a:rPr>
                          <m:t> </m:t>
                        </m:r>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𝑥</m:t>
                            </m:r>
                          </m:e>
                          <m:sub>
                            <m:r>
                              <a:rPr lang="en-US" b="0" i="1" smtClean="0">
                                <a:solidFill>
                                  <a:schemeClr val="bg1"/>
                                </a:solidFill>
                                <a:latin typeface="Cambria Math" panose="02040503050406030204" pitchFamily="18" charset="0"/>
                              </a:rPr>
                              <m:t>2</m:t>
                            </m:r>
                          </m:sub>
                        </m:sSub>
                      </m:oMath>
                    </m:oMathPara>
                  </a14:m>
                  <a:endParaRPr lang="en-US" dirty="0">
                    <a:solidFill>
                      <a:schemeClr val="bg1"/>
                    </a:solidFill>
                  </a:endParaRPr>
                </a:p>
              </p:txBody>
            </p:sp>
          </mc:Choice>
          <mc:Fallback xmlns="">
            <p:sp>
              <p:nvSpPr>
                <p:cNvPr id="15" name="Oval 14">
                  <a:extLst>
                    <a:ext uri="{FF2B5EF4-FFF2-40B4-BE49-F238E27FC236}">
                      <a16:creationId xmlns:a16="http://schemas.microsoft.com/office/drawing/2014/main" id="{78A4BC7A-0AD2-B347-9390-C4D998A2025F}"/>
                    </a:ext>
                  </a:extLst>
                </p:cNvPr>
                <p:cNvSpPr>
                  <a:spLocks noRot="1" noChangeAspect="1" noMove="1" noResize="1" noEditPoints="1" noAdjustHandles="1" noChangeArrowheads="1" noChangeShapeType="1" noTextEdit="1"/>
                </p:cNvSpPr>
                <p:nvPr/>
              </p:nvSpPr>
              <p:spPr>
                <a:xfrm>
                  <a:off x="7610944" y="2749235"/>
                  <a:ext cx="543208" cy="543208"/>
                </a:xfrm>
                <a:prstGeom prst="ellipse">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 name="Oval 15">
                  <a:extLst>
                    <a:ext uri="{FF2B5EF4-FFF2-40B4-BE49-F238E27FC236}">
                      <a16:creationId xmlns:a16="http://schemas.microsoft.com/office/drawing/2014/main" id="{C7462B37-7CE7-1A49-BCE5-580A9CDD90E8}"/>
                    </a:ext>
                  </a:extLst>
                </p:cNvPr>
                <p:cNvSpPr/>
                <p:nvPr/>
              </p:nvSpPr>
              <p:spPr>
                <a:xfrm>
                  <a:off x="8777333" y="2749235"/>
                  <a:ext cx="543208" cy="543208"/>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b="0" i="1" smtClean="0">
                            <a:solidFill>
                              <a:schemeClr val="bg1"/>
                            </a:solidFill>
                            <a:latin typeface="Cambria Math" panose="02040503050406030204" pitchFamily="18" charset="0"/>
                          </a:rPr>
                          <m:t> </m:t>
                        </m:r>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𝑥</m:t>
                            </m:r>
                          </m:e>
                          <m:sub>
                            <m:r>
                              <a:rPr lang="en-US" b="0" i="1" smtClean="0">
                                <a:solidFill>
                                  <a:schemeClr val="bg1"/>
                                </a:solidFill>
                                <a:latin typeface="Cambria Math" panose="02040503050406030204" pitchFamily="18" charset="0"/>
                              </a:rPr>
                              <m:t>3</m:t>
                            </m:r>
                          </m:sub>
                        </m:sSub>
                      </m:oMath>
                    </m:oMathPara>
                  </a14:m>
                  <a:endParaRPr lang="en-US" dirty="0">
                    <a:solidFill>
                      <a:schemeClr val="bg1"/>
                    </a:solidFill>
                  </a:endParaRPr>
                </a:p>
              </p:txBody>
            </p:sp>
          </mc:Choice>
          <mc:Fallback xmlns="">
            <p:sp>
              <p:nvSpPr>
                <p:cNvPr id="16" name="Oval 15">
                  <a:extLst>
                    <a:ext uri="{FF2B5EF4-FFF2-40B4-BE49-F238E27FC236}">
                      <a16:creationId xmlns:a16="http://schemas.microsoft.com/office/drawing/2014/main" id="{C7462B37-7CE7-1A49-BCE5-580A9CDD90E8}"/>
                    </a:ext>
                  </a:extLst>
                </p:cNvPr>
                <p:cNvSpPr>
                  <a:spLocks noRot="1" noChangeAspect="1" noMove="1" noResize="1" noEditPoints="1" noAdjustHandles="1" noChangeArrowheads="1" noChangeShapeType="1" noTextEdit="1"/>
                </p:cNvSpPr>
                <p:nvPr/>
              </p:nvSpPr>
              <p:spPr>
                <a:xfrm>
                  <a:off x="8777333" y="2749235"/>
                  <a:ext cx="543208" cy="543208"/>
                </a:xfrm>
                <a:prstGeom prst="ellipse">
                  <a:avLst/>
                </a:prstGeom>
                <a:blipFill>
                  <a:blip r:embed="rId13"/>
                  <a:stretch>
                    <a:fillRect l="-2222"/>
                  </a:stretch>
                </a:blipFill>
              </p:spPr>
              <p:txBody>
                <a:bodyPr/>
                <a:lstStyle/>
                <a:p>
                  <a:r>
                    <a:rPr lang="en-US">
                      <a:noFill/>
                    </a:rPr>
                    <a:t> </a:t>
                  </a:r>
                </a:p>
              </p:txBody>
            </p:sp>
          </mc:Fallback>
        </mc:AlternateContent>
        <p:sp>
          <p:nvSpPr>
            <p:cNvPr id="18" name="Rectangle 17">
              <a:extLst>
                <a:ext uri="{FF2B5EF4-FFF2-40B4-BE49-F238E27FC236}">
                  <a16:creationId xmlns:a16="http://schemas.microsoft.com/office/drawing/2014/main" id="{6BF33AED-B3BF-D84D-9C46-7A9DE45CD689}"/>
                </a:ext>
              </a:extLst>
            </p:cNvPr>
            <p:cNvSpPr/>
            <p:nvPr/>
          </p:nvSpPr>
          <p:spPr>
            <a:xfrm>
              <a:off x="5169528" y="2580237"/>
              <a:ext cx="5477346" cy="3974471"/>
            </a:xfrm>
            <a:prstGeom prst="rect">
              <a:avLst/>
            </a:pr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Content Placeholder 2">
              <a:extLst>
                <a:ext uri="{FF2B5EF4-FFF2-40B4-BE49-F238E27FC236}">
                  <a16:creationId xmlns:a16="http://schemas.microsoft.com/office/drawing/2014/main" id="{41E88A37-34DA-FB4E-A626-20A988C9E9DE}"/>
                </a:ext>
              </a:extLst>
            </p:cNvPr>
            <p:cNvSpPr txBox="1">
              <a:spLocks/>
            </p:cNvSpPr>
            <p:nvPr/>
          </p:nvSpPr>
          <p:spPr>
            <a:xfrm>
              <a:off x="10153454" y="2626712"/>
              <a:ext cx="445962" cy="478637"/>
            </a:xfrm>
            <a:prstGeom prst="rect">
              <a:avLst/>
            </a:prstGeom>
            <a:ln>
              <a:noFill/>
            </a:ln>
          </p:spPr>
          <p:txBody>
            <a:bodyPr vert="horz" lIns="91440" tIns="45720" rIns="91440" bIns="45720" rtlCol="0">
              <a:normAutofit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i="1" dirty="0">
                  <a:solidFill>
                    <a:schemeClr val="accent1"/>
                  </a:solidFill>
                </a:rPr>
                <a:t>G</a:t>
              </a:r>
            </a:p>
          </p:txBody>
        </p:sp>
        <p:cxnSp>
          <p:nvCxnSpPr>
            <p:cNvPr id="8" name="Straight Connector 7">
              <a:extLst>
                <a:ext uri="{FF2B5EF4-FFF2-40B4-BE49-F238E27FC236}">
                  <a16:creationId xmlns:a16="http://schemas.microsoft.com/office/drawing/2014/main" id="{9F5A36DC-033A-1D44-95C7-8C2268628050}"/>
                </a:ext>
              </a:extLst>
            </p:cNvPr>
            <p:cNvCxnSpPr>
              <a:cxnSpLocks/>
              <a:stCxn id="4" idx="6"/>
              <a:endCxn id="15" idx="4"/>
            </p:cNvCxnSpPr>
            <p:nvPr/>
          </p:nvCxnSpPr>
          <p:spPr>
            <a:xfrm flipV="1">
              <a:off x="5920963" y="3292443"/>
              <a:ext cx="1961585" cy="745397"/>
            </a:xfrm>
            <a:prstGeom prst="line">
              <a:avLst/>
            </a:prstGeom>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2A93107A-EDEA-3145-987E-D64D886046AD}"/>
                </a:ext>
              </a:extLst>
            </p:cNvPr>
            <p:cNvCxnSpPr>
              <a:cxnSpLocks/>
              <a:stCxn id="4" idx="6"/>
              <a:endCxn id="16" idx="4"/>
            </p:cNvCxnSpPr>
            <p:nvPr/>
          </p:nvCxnSpPr>
          <p:spPr>
            <a:xfrm flipV="1">
              <a:off x="5920963" y="3292443"/>
              <a:ext cx="3127974" cy="745397"/>
            </a:xfrm>
            <a:prstGeom prst="line">
              <a:avLst/>
            </a:prstGeom>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6C3DC1DA-938A-2D49-A105-6F600A3F1A38}"/>
                </a:ext>
              </a:extLst>
            </p:cNvPr>
            <p:cNvCxnSpPr>
              <a:cxnSpLocks/>
              <a:stCxn id="4" idx="6"/>
              <a:endCxn id="11" idx="2"/>
            </p:cNvCxnSpPr>
            <p:nvPr/>
          </p:nvCxnSpPr>
          <p:spPr>
            <a:xfrm flipV="1">
              <a:off x="5920963" y="4034823"/>
              <a:ext cx="3873375" cy="3017"/>
            </a:xfrm>
            <a:prstGeom prst="line">
              <a:avLst/>
            </a:prstGeom>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FA18388B-A1B9-5C4C-B61B-70895BCF17C4}"/>
                </a:ext>
              </a:extLst>
            </p:cNvPr>
            <p:cNvCxnSpPr>
              <a:cxnSpLocks/>
              <a:stCxn id="4" idx="6"/>
              <a:endCxn id="12" idx="2"/>
            </p:cNvCxnSpPr>
            <p:nvPr/>
          </p:nvCxnSpPr>
          <p:spPr>
            <a:xfrm>
              <a:off x="5920963" y="4037840"/>
              <a:ext cx="3873375" cy="1000409"/>
            </a:xfrm>
            <a:prstGeom prst="line">
              <a:avLst/>
            </a:prstGeom>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96FE2F4D-597D-0A4E-A57B-0020E6F12C06}"/>
                </a:ext>
              </a:extLst>
            </p:cNvPr>
            <p:cNvCxnSpPr>
              <a:cxnSpLocks/>
              <a:stCxn id="4" idx="6"/>
              <a:endCxn id="13" idx="2"/>
            </p:cNvCxnSpPr>
            <p:nvPr/>
          </p:nvCxnSpPr>
          <p:spPr>
            <a:xfrm>
              <a:off x="5920963" y="4037840"/>
              <a:ext cx="3873375" cy="2003835"/>
            </a:xfrm>
            <a:prstGeom prst="line">
              <a:avLst/>
            </a:prstGeom>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DDFF9477-207D-474C-839E-D162BB8F2CC1}"/>
                </a:ext>
              </a:extLst>
            </p:cNvPr>
            <p:cNvCxnSpPr>
              <a:cxnSpLocks/>
              <a:stCxn id="9" idx="6"/>
              <a:endCxn id="14" idx="4"/>
            </p:cNvCxnSpPr>
            <p:nvPr/>
          </p:nvCxnSpPr>
          <p:spPr>
            <a:xfrm flipV="1">
              <a:off x="5920963" y="3292443"/>
              <a:ext cx="795196" cy="1748823"/>
            </a:xfrm>
            <a:prstGeom prst="line">
              <a:avLst/>
            </a:prstGeom>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B4696E13-6B4E-E043-A09F-ECEC80AB4A57}"/>
                </a:ext>
              </a:extLst>
            </p:cNvPr>
            <p:cNvCxnSpPr>
              <a:cxnSpLocks/>
              <a:stCxn id="9" idx="6"/>
              <a:endCxn id="16" idx="4"/>
            </p:cNvCxnSpPr>
            <p:nvPr/>
          </p:nvCxnSpPr>
          <p:spPr>
            <a:xfrm flipV="1">
              <a:off x="5920963" y="3292443"/>
              <a:ext cx="3127974" cy="1748823"/>
            </a:xfrm>
            <a:prstGeom prst="line">
              <a:avLst/>
            </a:prstGeom>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94CA3065-A461-AE40-AD9A-F6A3B415BD58}"/>
                </a:ext>
              </a:extLst>
            </p:cNvPr>
            <p:cNvCxnSpPr>
              <a:cxnSpLocks/>
              <a:stCxn id="9" idx="6"/>
              <a:endCxn id="11" idx="2"/>
            </p:cNvCxnSpPr>
            <p:nvPr/>
          </p:nvCxnSpPr>
          <p:spPr>
            <a:xfrm flipV="1">
              <a:off x="5920963" y="4034823"/>
              <a:ext cx="3873375" cy="1006443"/>
            </a:xfrm>
            <a:prstGeom prst="line">
              <a:avLst/>
            </a:prstGeom>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CB7C8622-1B9B-684C-BD33-D95A5919B895}"/>
                </a:ext>
              </a:extLst>
            </p:cNvPr>
            <p:cNvCxnSpPr>
              <a:cxnSpLocks/>
              <a:stCxn id="9" idx="6"/>
              <a:endCxn id="13" idx="2"/>
            </p:cNvCxnSpPr>
            <p:nvPr/>
          </p:nvCxnSpPr>
          <p:spPr>
            <a:xfrm>
              <a:off x="5920963" y="5041266"/>
              <a:ext cx="3873375" cy="1000409"/>
            </a:xfrm>
            <a:prstGeom prst="line">
              <a:avLst/>
            </a:prstGeom>
          </p:spPr>
          <p:style>
            <a:lnRef idx="1">
              <a:schemeClr val="accent1"/>
            </a:lnRef>
            <a:fillRef idx="0">
              <a:schemeClr val="accent1"/>
            </a:fillRef>
            <a:effectRef idx="0">
              <a:schemeClr val="accent1"/>
            </a:effectRef>
            <a:fontRef idx="minor">
              <a:schemeClr val="tx1"/>
            </a:fontRef>
          </p:style>
        </p:cxnSp>
        <p:cxnSp>
          <p:nvCxnSpPr>
            <p:cNvPr id="46" name="Straight Connector 45">
              <a:extLst>
                <a:ext uri="{FF2B5EF4-FFF2-40B4-BE49-F238E27FC236}">
                  <a16:creationId xmlns:a16="http://schemas.microsoft.com/office/drawing/2014/main" id="{5811A371-E5D3-4041-A458-CBF0B644EB5F}"/>
                </a:ext>
              </a:extLst>
            </p:cNvPr>
            <p:cNvCxnSpPr>
              <a:cxnSpLocks/>
              <a:stCxn id="10" idx="6"/>
              <a:endCxn id="14" idx="4"/>
            </p:cNvCxnSpPr>
            <p:nvPr/>
          </p:nvCxnSpPr>
          <p:spPr>
            <a:xfrm flipV="1">
              <a:off x="5920963" y="3292443"/>
              <a:ext cx="795196" cy="2752249"/>
            </a:xfrm>
            <a:prstGeom prst="line">
              <a:avLst/>
            </a:prstGeom>
          </p:spPr>
          <p:style>
            <a:lnRef idx="1">
              <a:schemeClr val="accent1"/>
            </a:lnRef>
            <a:fillRef idx="0">
              <a:schemeClr val="accent1"/>
            </a:fillRef>
            <a:effectRef idx="0">
              <a:schemeClr val="accent1"/>
            </a:effectRef>
            <a:fontRef idx="minor">
              <a:schemeClr val="tx1"/>
            </a:fontRef>
          </p:style>
        </p:cxnSp>
        <p:cxnSp>
          <p:nvCxnSpPr>
            <p:cNvPr id="50" name="Straight Connector 49">
              <a:extLst>
                <a:ext uri="{FF2B5EF4-FFF2-40B4-BE49-F238E27FC236}">
                  <a16:creationId xmlns:a16="http://schemas.microsoft.com/office/drawing/2014/main" id="{E4DDC788-314B-BF43-B06E-462111F4967C}"/>
                </a:ext>
              </a:extLst>
            </p:cNvPr>
            <p:cNvCxnSpPr>
              <a:cxnSpLocks/>
              <a:stCxn id="10" idx="6"/>
              <a:endCxn id="15" idx="4"/>
            </p:cNvCxnSpPr>
            <p:nvPr/>
          </p:nvCxnSpPr>
          <p:spPr>
            <a:xfrm flipV="1">
              <a:off x="5920963" y="3292443"/>
              <a:ext cx="1961585" cy="2752249"/>
            </a:xfrm>
            <a:prstGeom prst="line">
              <a:avLst/>
            </a:prstGeom>
          </p:spPr>
          <p:style>
            <a:lnRef idx="1">
              <a:schemeClr val="accent1"/>
            </a:lnRef>
            <a:fillRef idx="0">
              <a:schemeClr val="accent1"/>
            </a:fillRef>
            <a:effectRef idx="0">
              <a:schemeClr val="accent1"/>
            </a:effectRef>
            <a:fontRef idx="minor">
              <a:schemeClr val="tx1"/>
            </a:fontRef>
          </p:style>
        </p:cxnSp>
        <p:cxnSp>
          <p:nvCxnSpPr>
            <p:cNvPr id="53" name="Straight Connector 52">
              <a:extLst>
                <a:ext uri="{FF2B5EF4-FFF2-40B4-BE49-F238E27FC236}">
                  <a16:creationId xmlns:a16="http://schemas.microsoft.com/office/drawing/2014/main" id="{A072CF64-D07F-F74D-98C4-9A30A3816184}"/>
                </a:ext>
              </a:extLst>
            </p:cNvPr>
            <p:cNvCxnSpPr>
              <a:cxnSpLocks/>
              <a:stCxn id="10" idx="6"/>
              <a:endCxn id="11" idx="2"/>
            </p:cNvCxnSpPr>
            <p:nvPr/>
          </p:nvCxnSpPr>
          <p:spPr>
            <a:xfrm flipV="1">
              <a:off x="5920963" y="4034823"/>
              <a:ext cx="3873375" cy="2009869"/>
            </a:xfrm>
            <a:prstGeom prst="line">
              <a:avLst/>
            </a:prstGeom>
          </p:spPr>
          <p:style>
            <a:lnRef idx="1">
              <a:schemeClr val="accent1"/>
            </a:lnRef>
            <a:fillRef idx="0">
              <a:schemeClr val="accent1"/>
            </a:fillRef>
            <a:effectRef idx="0">
              <a:schemeClr val="accent1"/>
            </a:effectRef>
            <a:fontRef idx="minor">
              <a:schemeClr val="tx1"/>
            </a:fontRef>
          </p:style>
        </p:cxnSp>
        <p:cxnSp>
          <p:nvCxnSpPr>
            <p:cNvPr id="60" name="Straight Connector 59">
              <a:extLst>
                <a:ext uri="{FF2B5EF4-FFF2-40B4-BE49-F238E27FC236}">
                  <a16:creationId xmlns:a16="http://schemas.microsoft.com/office/drawing/2014/main" id="{03107FE9-12F7-8F4D-8FA5-DBA64340968E}"/>
                </a:ext>
              </a:extLst>
            </p:cNvPr>
            <p:cNvCxnSpPr>
              <a:cxnSpLocks/>
              <a:stCxn id="10" idx="6"/>
              <a:endCxn id="12" idx="2"/>
            </p:cNvCxnSpPr>
            <p:nvPr/>
          </p:nvCxnSpPr>
          <p:spPr>
            <a:xfrm flipV="1">
              <a:off x="5920963" y="5038249"/>
              <a:ext cx="3873375" cy="1006443"/>
            </a:xfrm>
            <a:prstGeom prst="line">
              <a:avLst/>
            </a:prstGeom>
          </p:spPr>
          <p:style>
            <a:lnRef idx="1">
              <a:schemeClr val="accent1"/>
            </a:lnRef>
            <a:fillRef idx="0">
              <a:schemeClr val="accent1"/>
            </a:fillRef>
            <a:effectRef idx="0">
              <a:schemeClr val="accent1"/>
            </a:effectRef>
            <a:fontRef idx="minor">
              <a:schemeClr val="tx1"/>
            </a:fontRef>
          </p:style>
        </p:cxnSp>
        <p:cxnSp>
          <p:nvCxnSpPr>
            <p:cNvPr id="63" name="Straight Connector 62">
              <a:extLst>
                <a:ext uri="{FF2B5EF4-FFF2-40B4-BE49-F238E27FC236}">
                  <a16:creationId xmlns:a16="http://schemas.microsoft.com/office/drawing/2014/main" id="{EC22D0F5-2941-3D40-84A5-CAE6C30913FF}"/>
                </a:ext>
              </a:extLst>
            </p:cNvPr>
            <p:cNvCxnSpPr>
              <a:cxnSpLocks/>
              <a:stCxn id="12" idx="2"/>
              <a:endCxn id="14" idx="4"/>
            </p:cNvCxnSpPr>
            <p:nvPr/>
          </p:nvCxnSpPr>
          <p:spPr>
            <a:xfrm flipH="1" flipV="1">
              <a:off x="6716159" y="3292443"/>
              <a:ext cx="3078179" cy="1745806"/>
            </a:xfrm>
            <a:prstGeom prst="line">
              <a:avLst/>
            </a:prstGeom>
          </p:spPr>
          <p:style>
            <a:lnRef idx="1">
              <a:schemeClr val="accent1"/>
            </a:lnRef>
            <a:fillRef idx="0">
              <a:schemeClr val="accent1"/>
            </a:fillRef>
            <a:effectRef idx="0">
              <a:schemeClr val="accent1"/>
            </a:effectRef>
            <a:fontRef idx="minor">
              <a:schemeClr val="tx1"/>
            </a:fontRef>
          </p:style>
        </p:cxnSp>
        <p:cxnSp>
          <p:nvCxnSpPr>
            <p:cNvPr id="66" name="Straight Connector 65">
              <a:extLst>
                <a:ext uri="{FF2B5EF4-FFF2-40B4-BE49-F238E27FC236}">
                  <a16:creationId xmlns:a16="http://schemas.microsoft.com/office/drawing/2014/main" id="{A41759C9-48CB-0E40-A9DC-A14CE6C703C8}"/>
                </a:ext>
              </a:extLst>
            </p:cNvPr>
            <p:cNvCxnSpPr>
              <a:cxnSpLocks/>
              <a:stCxn id="13" idx="2"/>
              <a:endCxn id="14" idx="4"/>
            </p:cNvCxnSpPr>
            <p:nvPr/>
          </p:nvCxnSpPr>
          <p:spPr>
            <a:xfrm flipH="1" flipV="1">
              <a:off x="6716159" y="3292443"/>
              <a:ext cx="3078179" cy="2749232"/>
            </a:xfrm>
            <a:prstGeom prst="line">
              <a:avLst/>
            </a:prstGeom>
          </p:spPr>
          <p:style>
            <a:lnRef idx="1">
              <a:schemeClr val="accent1"/>
            </a:lnRef>
            <a:fillRef idx="0">
              <a:schemeClr val="accent1"/>
            </a:fillRef>
            <a:effectRef idx="0">
              <a:schemeClr val="accent1"/>
            </a:effectRef>
            <a:fontRef idx="minor">
              <a:schemeClr val="tx1"/>
            </a:fontRef>
          </p:style>
        </p:cxnSp>
        <p:cxnSp>
          <p:nvCxnSpPr>
            <p:cNvPr id="69" name="Straight Connector 68">
              <a:extLst>
                <a:ext uri="{FF2B5EF4-FFF2-40B4-BE49-F238E27FC236}">
                  <a16:creationId xmlns:a16="http://schemas.microsoft.com/office/drawing/2014/main" id="{D8A4FA2F-DCA9-7348-8234-379B4A622ACD}"/>
                </a:ext>
              </a:extLst>
            </p:cNvPr>
            <p:cNvCxnSpPr>
              <a:cxnSpLocks/>
              <a:stCxn id="11" idx="2"/>
              <a:endCxn id="15" idx="4"/>
            </p:cNvCxnSpPr>
            <p:nvPr/>
          </p:nvCxnSpPr>
          <p:spPr>
            <a:xfrm flipH="1" flipV="1">
              <a:off x="7882548" y="3292443"/>
              <a:ext cx="1911790" cy="742380"/>
            </a:xfrm>
            <a:prstGeom prst="line">
              <a:avLst/>
            </a:prstGeom>
          </p:spPr>
          <p:style>
            <a:lnRef idx="1">
              <a:schemeClr val="accent1"/>
            </a:lnRef>
            <a:fillRef idx="0">
              <a:schemeClr val="accent1"/>
            </a:fillRef>
            <a:effectRef idx="0">
              <a:schemeClr val="accent1"/>
            </a:effectRef>
            <a:fontRef idx="minor">
              <a:schemeClr val="tx1"/>
            </a:fontRef>
          </p:style>
        </p:cxnSp>
        <p:cxnSp>
          <p:nvCxnSpPr>
            <p:cNvPr id="72" name="Straight Connector 71">
              <a:extLst>
                <a:ext uri="{FF2B5EF4-FFF2-40B4-BE49-F238E27FC236}">
                  <a16:creationId xmlns:a16="http://schemas.microsoft.com/office/drawing/2014/main" id="{16A17698-5882-7A42-8FE3-73BA338B3094}"/>
                </a:ext>
              </a:extLst>
            </p:cNvPr>
            <p:cNvCxnSpPr>
              <a:cxnSpLocks/>
              <a:stCxn id="12" idx="2"/>
              <a:endCxn id="15" idx="4"/>
            </p:cNvCxnSpPr>
            <p:nvPr/>
          </p:nvCxnSpPr>
          <p:spPr>
            <a:xfrm flipH="1" flipV="1">
              <a:off x="7882548" y="3292443"/>
              <a:ext cx="1911790" cy="1745806"/>
            </a:xfrm>
            <a:prstGeom prst="line">
              <a:avLst/>
            </a:prstGeom>
          </p:spPr>
          <p:style>
            <a:lnRef idx="1">
              <a:schemeClr val="accent1"/>
            </a:lnRef>
            <a:fillRef idx="0">
              <a:schemeClr val="accent1"/>
            </a:fillRef>
            <a:effectRef idx="0">
              <a:schemeClr val="accent1"/>
            </a:effectRef>
            <a:fontRef idx="minor">
              <a:schemeClr val="tx1"/>
            </a:fontRef>
          </p:style>
        </p:cxnSp>
        <p:cxnSp>
          <p:nvCxnSpPr>
            <p:cNvPr id="75" name="Straight Connector 74">
              <a:extLst>
                <a:ext uri="{FF2B5EF4-FFF2-40B4-BE49-F238E27FC236}">
                  <a16:creationId xmlns:a16="http://schemas.microsoft.com/office/drawing/2014/main" id="{D50C2267-5372-264C-A218-ACD0E36C30AE}"/>
                </a:ext>
              </a:extLst>
            </p:cNvPr>
            <p:cNvCxnSpPr>
              <a:cxnSpLocks/>
              <a:stCxn id="13" idx="2"/>
              <a:endCxn id="15" idx="4"/>
            </p:cNvCxnSpPr>
            <p:nvPr/>
          </p:nvCxnSpPr>
          <p:spPr>
            <a:xfrm flipH="1" flipV="1">
              <a:off x="7882548" y="3292443"/>
              <a:ext cx="1911790" cy="2749232"/>
            </a:xfrm>
            <a:prstGeom prst="line">
              <a:avLst/>
            </a:prstGeom>
          </p:spPr>
          <p:style>
            <a:lnRef idx="1">
              <a:schemeClr val="accent1"/>
            </a:lnRef>
            <a:fillRef idx="0">
              <a:schemeClr val="accent1"/>
            </a:fillRef>
            <a:effectRef idx="0">
              <a:schemeClr val="accent1"/>
            </a:effectRef>
            <a:fontRef idx="minor">
              <a:schemeClr val="tx1"/>
            </a:fontRef>
          </p:style>
        </p:cxnSp>
        <p:cxnSp>
          <p:nvCxnSpPr>
            <p:cNvPr id="78" name="Straight Connector 77">
              <a:extLst>
                <a:ext uri="{FF2B5EF4-FFF2-40B4-BE49-F238E27FC236}">
                  <a16:creationId xmlns:a16="http://schemas.microsoft.com/office/drawing/2014/main" id="{FDF4BD6C-BE19-7E46-942E-45C874225D6F}"/>
                </a:ext>
              </a:extLst>
            </p:cNvPr>
            <p:cNvCxnSpPr>
              <a:cxnSpLocks/>
              <a:stCxn id="11" idx="2"/>
              <a:endCxn id="16" idx="4"/>
            </p:cNvCxnSpPr>
            <p:nvPr/>
          </p:nvCxnSpPr>
          <p:spPr>
            <a:xfrm flipH="1" flipV="1">
              <a:off x="9048937" y="3292443"/>
              <a:ext cx="745401" cy="742380"/>
            </a:xfrm>
            <a:prstGeom prst="line">
              <a:avLst/>
            </a:prstGeom>
          </p:spPr>
          <p:style>
            <a:lnRef idx="1">
              <a:schemeClr val="accent1"/>
            </a:lnRef>
            <a:fillRef idx="0">
              <a:schemeClr val="accent1"/>
            </a:fillRef>
            <a:effectRef idx="0">
              <a:schemeClr val="accent1"/>
            </a:effectRef>
            <a:fontRef idx="minor">
              <a:schemeClr val="tx1"/>
            </a:fontRef>
          </p:style>
        </p:cxnSp>
        <p:cxnSp>
          <p:nvCxnSpPr>
            <p:cNvPr id="81" name="Straight Connector 80">
              <a:extLst>
                <a:ext uri="{FF2B5EF4-FFF2-40B4-BE49-F238E27FC236}">
                  <a16:creationId xmlns:a16="http://schemas.microsoft.com/office/drawing/2014/main" id="{96090CEA-501C-A541-91C0-63A98DB1AFBD}"/>
                </a:ext>
              </a:extLst>
            </p:cNvPr>
            <p:cNvCxnSpPr>
              <a:cxnSpLocks/>
              <a:stCxn id="12" idx="2"/>
              <a:endCxn id="16" idx="4"/>
            </p:cNvCxnSpPr>
            <p:nvPr/>
          </p:nvCxnSpPr>
          <p:spPr>
            <a:xfrm flipH="1" flipV="1">
              <a:off x="9048937" y="3292443"/>
              <a:ext cx="745401" cy="1745806"/>
            </a:xfrm>
            <a:prstGeom prst="line">
              <a:avLst/>
            </a:prstGeom>
          </p:spPr>
          <p:style>
            <a:lnRef idx="1">
              <a:schemeClr val="accent1"/>
            </a:lnRef>
            <a:fillRef idx="0">
              <a:schemeClr val="accent1"/>
            </a:fillRef>
            <a:effectRef idx="0">
              <a:schemeClr val="accent1"/>
            </a:effectRef>
            <a:fontRef idx="minor">
              <a:schemeClr val="tx1"/>
            </a:fontRef>
          </p:style>
        </p:cxnSp>
        <p:cxnSp>
          <p:nvCxnSpPr>
            <p:cNvPr id="84" name="Straight Connector 83">
              <a:extLst>
                <a:ext uri="{FF2B5EF4-FFF2-40B4-BE49-F238E27FC236}">
                  <a16:creationId xmlns:a16="http://schemas.microsoft.com/office/drawing/2014/main" id="{9E424F6E-E69E-4E4C-9EAB-A6FCB3393129}"/>
                </a:ext>
              </a:extLst>
            </p:cNvPr>
            <p:cNvCxnSpPr>
              <a:cxnSpLocks/>
              <a:stCxn id="13" idx="2"/>
              <a:endCxn id="16" idx="4"/>
            </p:cNvCxnSpPr>
            <p:nvPr/>
          </p:nvCxnSpPr>
          <p:spPr>
            <a:xfrm flipH="1" flipV="1">
              <a:off x="9048937" y="3292443"/>
              <a:ext cx="745401" cy="2749232"/>
            </a:xfrm>
            <a:prstGeom prst="line">
              <a:avLst/>
            </a:prstGeom>
          </p:spPr>
          <p:style>
            <a:lnRef idx="1">
              <a:schemeClr val="accent1"/>
            </a:lnRef>
            <a:fillRef idx="0">
              <a:schemeClr val="accent1"/>
            </a:fillRef>
            <a:effectRef idx="0">
              <a:schemeClr val="accent1"/>
            </a:effectRef>
            <a:fontRef idx="minor">
              <a:schemeClr val="tx1"/>
            </a:fontRef>
          </p:style>
        </p:cxnSp>
        <p:sp>
          <p:nvSpPr>
            <p:cNvPr id="38" name="Content Placeholder 2">
              <a:extLst>
                <a:ext uri="{FF2B5EF4-FFF2-40B4-BE49-F238E27FC236}">
                  <a16:creationId xmlns:a16="http://schemas.microsoft.com/office/drawing/2014/main" id="{58FD4DEF-9538-B849-B1E3-32B77B27BEDA}"/>
                </a:ext>
              </a:extLst>
            </p:cNvPr>
            <p:cNvSpPr txBox="1">
              <a:spLocks/>
            </p:cNvSpPr>
            <p:nvPr/>
          </p:nvSpPr>
          <p:spPr>
            <a:xfrm>
              <a:off x="9943722" y="3016455"/>
              <a:ext cx="655694" cy="478637"/>
            </a:xfrm>
            <a:prstGeom prst="rect">
              <a:avLst/>
            </a:prstGeom>
            <a:ln>
              <a:noFill/>
            </a:ln>
          </p:spPr>
          <p:txBody>
            <a:bodyPr vert="horz" lIns="91440" tIns="45720" rIns="91440" bIns="45720" rtlCol="0">
              <a:normAutofit fontScale="925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i="1" dirty="0">
                  <a:solidFill>
                    <a:schemeClr val="accent1"/>
                  </a:solidFill>
                </a:rPr>
                <a:t>k=3</a:t>
              </a:r>
            </a:p>
          </p:txBody>
        </p:sp>
      </p:grpSp>
    </p:spTree>
    <p:extLst>
      <p:ext uri="{BB962C8B-B14F-4D97-AF65-F5344CB8AC3E}">
        <p14:creationId xmlns:p14="http://schemas.microsoft.com/office/powerpoint/2010/main" val="49031820"/>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p:cNvSpPr>
                <a:spLocks noGrp="1"/>
              </p:cNvSpPr>
              <p:nvPr>
                <p:ph type="title"/>
              </p:nvPr>
            </p:nvSpPr>
            <p:spPr>
              <a:xfrm>
                <a:off x="1141413" y="274490"/>
                <a:ext cx="9905998" cy="612753"/>
              </a:xfrm>
            </p:spPr>
            <p:txBody>
              <a:bodyPr>
                <a:normAutofit fontScale="90000"/>
              </a:bodyPr>
              <a:lstStyle/>
              <a:p>
                <a:pPr algn="ctr"/>
                <a14:m>
                  <m:oMath xmlns:m="http://schemas.openxmlformats.org/officeDocument/2006/math">
                    <m:r>
                      <a:rPr lang="en-US" b="0" i="1" smtClean="0">
                        <a:latin typeface="Cambria Math" panose="02040503050406030204" pitchFamily="18" charset="0"/>
                      </a:rPr>
                      <m:t>3</m:t>
                    </m:r>
                    <m:r>
                      <a:rPr lang="en-US" b="0" i="1" smtClean="0">
                        <a:latin typeface="Cambria Math" panose="02040503050406030204" pitchFamily="18" charset="0"/>
                      </a:rPr>
                      <m:t>𝑆𝐴𝑇</m:t>
                    </m:r>
                    <m:sSub>
                      <m:sSubPr>
                        <m:ctrlPr>
                          <a:rPr lang="en-US" b="0" i="1" smtClean="0">
                            <a:latin typeface="Cambria Math" panose="02040503050406030204" pitchFamily="18" charset="0"/>
                          </a:rPr>
                        </m:ctrlPr>
                      </m:sSubPr>
                      <m:e>
                        <m:r>
                          <a:rPr lang="en-US" b="0" i="1" smtClean="0">
                            <a:latin typeface="Cambria Math" panose="02040503050406030204" pitchFamily="18" charset="0"/>
                          </a:rPr>
                          <m:t>≤</m:t>
                        </m:r>
                      </m:e>
                      <m:sub>
                        <m:r>
                          <a:rPr lang="en-US" b="0" i="1" smtClean="0">
                            <a:latin typeface="Cambria Math" panose="02040503050406030204" pitchFamily="18" charset="0"/>
                          </a:rPr>
                          <m:t>𝑝</m:t>
                        </m:r>
                      </m:sub>
                    </m:sSub>
                    <m:r>
                      <a:rPr lang="en-US" b="0" i="1" smtClean="0">
                        <a:latin typeface="Cambria Math" panose="02040503050406030204" pitchFamily="18" charset="0"/>
                      </a:rPr>
                      <m:t>𝐶𝑙𝑖𝑞𝑢𝑒</m:t>
                    </m:r>
                  </m:oMath>
                </a14:m>
                <a:r>
                  <a:rPr lang="en-US" dirty="0"/>
                  <a:t>, Proof</a:t>
                </a:r>
              </a:p>
            </p:txBody>
          </p:sp>
        </mc:Choice>
        <mc:Fallback xmlns="">
          <p:sp>
            <p:nvSpPr>
              <p:cNvPr id="2" name="Title 1"/>
              <p:cNvSpPr>
                <a:spLocks noGrp="1" noRot="1" noChangeAspect="1" noMove="1" noResize="1" noEditPoints="1" noAdjustHandles="1" noChangeArrowheads="1" noChangeShapeType="1" noTextEdit="1"/>
              </p:cNvSpPr>
              <p:nvPr>
                <p:ph type="title"/>
              </p:nvPr>
            </p:nvSpPr>
            <p:spPr>
              <a:xfrm>
                <a:off x="1141413" y="274490"/>
                <a:ext cx="9905998" cy="612753"/>
              </a:xfrm>
              <a:blipFill>
                <a:blip r:embed="rId2"/>
                <a:stretch>
                  <a:fillRect t="-16327" b="-2040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Content Placeholder 2"/>
              <p:cNvSpPr>
                <a:spLocks noGrp="1"/>
              </p:cNvSpPr>
              <p:nvPr>
                <p:ph sz="quarter" idx="1"/>
              </p:nvPr>
            </p:nvSpPr>
            <p:spPr>
              <a:xfrm>
                <a:off x="841967" y="2495741"/>
                <a:ext cx="4544839" cy="1503170"/>
              </a:xfrm>
              <a:ln>
                <a:solidFill>
                  <a:schemeClr val="tx1">
                    <a:lumMod val="95000"/>
                  </a:schemeClr>
                </a:solidFill>
              </a:ln>
            </p:spPr>
            <p:txBody>
              <a:bodyPr>
                <a:normAutofit/>
              </a:bodyPr>
              <a:lstStyle/>
              <a:p>
                <a:pPr marL="0" indent="0" algn="ctr">
                  <a:buNone/>
                </a:pPr>
                <a:r>
                  <a:rPr lang="en-US" b="1" i="1" u="sng" dirty="0"/>
                  <a:t>Claim</a:t>
                </a:r>
                <a:r>
                  <a:rPr lang="en-US" i="1" dirty="0"/>
                  <a:t>:</a:t>
                </a:r>
                <a:br>
                  <a:rPr lang="en-US" i="1" dirty="0"/>
                </a:br>
                <a14:m>
                  <m:oMath xmlns:m="http://schemas.openxmlformats.org/officeDocument/2006/math">
                    <m:r>
                      <a:rPr lang="en-US" b="0" i="1" smtClean="0">
                        <a:latin typeface="Cambria Math" panose="02040503050406030204" pitchFamily="18" charset="0"/>
                      </a:rPr>
                      <m:t>𝜃</m:t>
                    </m:r>
                  </m:oMath>
                </a14:m>
                <a:r>
                  <a:rPr lang="en-US" i="1" dirty="0"/>
                  <a:t> is satisfiable IFF G contains a clique of size 3</a:t>
                </a:r>
              </a:p>
            </p:txBody>
          </p:sp>
        </mc:Choice>
        <mc:Fallback xmlns="">
          <p:sp>
            <p:nvSpPr>
              <p:cNvPr id="3" name="Content Placeholder 2"/>
              <p:cNvSpPr>
                <a:spLocks noGrp="1" noRot="1" noChangeAspect="1" noMove="1" noResize="1" noEditPoints="1" noAdjustHandles="1" noChangeArrowheads="1" noChangeShapeType="1" noTextEdit="1"/>
              </p:cNvSpPr>
              <p:nvPr>
                <p:ph sz="quarter" idx="1"/>
              </p:nvPr>
            </p:nvSpPr>
            <p:spPr>
              <a:xfrm>
                <a:off x="841967" y="2495741"/>
                <a:ext cx="4544839" cy="1503170"/>
              </a:xfrm>
              <a:blipFill>
                <a:blip r:embed="rId3"/>
                <a:stretch>
                  <a:fillRect t="-833"/>
                </a:stretch>
              </a:blipFill>
              <a:ln>
                <a:solidFill>
                  <a:schemeClr val="tx1">
                    <a:lumMod val="95000"/>
                  </a:schemeClr>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Content Placeholder 2">
                <a:extLst>
                  <a:ext uri="{FF2B5EF4-FFF2-40B4-BE49-F238E27FC236}">
                    <a16:creationId xmlns:a16="http://schemas.microsoft.com/office/drawing/2014/main" id="{E8FD7EC5-F759-3443-A400-8D08882410D9}"/>
                  </a:ext>
                </a:extLst>
              </p:cNvPr>
              <p:cNvSpPr txBox="1">
                <a:spLocks/>
              </p:cNvSpPr>
              <p:nvPr/>
            </p:nvSpPr>
            <p:spPr>
              <a:xfrm>
                <a:off x="2300256" y="1484196"/>
                <a:ext cx="7586129" cy="598099"/>
              </a:xfrm>
              <a:prstGeom prst="rect">
                <a:avLst/>
              </a:prstGeom>
              <a:solidFill>
                <a:schemeClr val="tx1">
                  <a:lumMod val="95000"/>
                </a:schemeClr>
              </a:solidFill>
              <a:ln>
                <a:solidFill>
                  <a:schemeClr val="bg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None/>
                </a:pPr>
                <a14:m>
                  <m:oMathPara xmlns:m="http://schemas.openxmlformats.org/officeDocument/2006/math">
                    <m:oMathParaPr>
                      <m:jc m:val="centerGroup"/>
                    </m:oMathParaPr>
                    <m:oMath xmlns:m="http://schemas.openxmlformats.org/officeDocument/2006/math">
                      <m:r>
                        <a:rPr lang="en-US" b="0" i="1" smtClean="0">
                          <a:solidFill>
                            <a:schemeClr val="bg1"/>
                          </a:solidFill>
                          <a:latin typeface="Cambria Math" panose="02040503050406030204" pitchFamily="18" charset="0"/>
                        </a:rPr>
                        <m:t>𝜃</m:t>
                      </m:r>
                      <m:r>
                        <a:rPr lang="en-US" b="0" i="1" smtClean="0">
                          <a:solidFill>
                            <a:schemeClr val="bg1"/>
                          </a:solidFill>
                          <a:latin typeface="Cambria Math" panose="02040503050406030204" pitchFamily="18" charset="0"/>
                        </a:rPr>
                        <m:t>=</m:t>
                      </m:r>
                      <m:d>
                        <m:dPr>
                          <m:ctrlPr>
                            <a:rPr lang="en-US" b="0" i="1" smtClean="0">
                              <a:solidFill>
                                <a:schemeClr val="bg1"/>
                              </a:solidFill>
                              <a:latin typeface="Cambria Math" panose="02040503050406030204" pitchFamily="18" charset="0"/>
                            </a:rPr>
                          </m:ctrlPr>
                        </m:dPr>
                        <m:e>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𝑥</m:t>
                              </m:r>
                            </m:e>
                            <m:sub>
                              <m:r>
                                <a:rPr lang="en-US" b="0" i="1" smtClean="0">
                                  <a:solidFill>
                                    <a:schemeClr val="bg1"/>
                                  </a:solidFill>
                                  <a:latin typeface="Cambria Math" panose="02040503050406030204" pitchFamily="18" charset="0"/>
                                </a:rPr>
                                <m:t>1</m:t>
                              </m:r>
                            </m:sub>
                          </m:sSub>
                          <m:r>
                            <a:rPr lang="en-US" b="0" i="1" smtClean="0">
                              <a:solidFill>
                                <a:schemeClr val="bg1"/>
                              </a:solidFill>
                              <a:latin typeface="Cambria Math" panose="02040503050406030204" pitchFamily="18" charset="0"/>
                            </a:rPr>
                            <m:t>∨</m:t>
                          </m:r>
                          <m:acc>
                            <m:accPr>
                              <m:chr m:val="̅"/>
                              <m:ctrlPr>
                                <a:rPr lang="en-US" b="0" i="1" smtClean="0">
                                  <a:solidFill>
                                    <a:schemeClr val="bg1"/>
                                  </a:solidFill>
                                  <a:latin typeface="Cambria Math" panose="02040503050406030204" pitchFamily="18" charset="0"/>
                                </a:rPr>
                              </m:ctrlPr>
                            </m:accPr>
                            <m:e>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𝑥</m:t>
                                  </m:r>
                                </m:e>
                                <m:sub>
                                  <m:r>
                                    <a:rPr lang="en-US" b="0" i="1" smtClean="0">
                                      <a:solidFill>
                                        <a:schemeClr val="bg1"/>
                                      </a:solidFill>
                                      <a:latin typeface="Cambria Math" panose="02040503050406030204" pitchFamily="18" charset="0"/>
                                    </a:rPr>
                                    <m:t>2</m:t>
                                  </m:r>
                                </m:sub>
                              </m:sSub>
                            </m:e>
                          </m:acc>
                          <m:r>
                            <a:rPr lang="en-US" b="0" i="1" smtClean="0">
                              <a:solidFill>
                                <a:schemeClr val="bg1"/>
                              </a:solidFill>
                              <a:latin typeface="Cambria Math" panose="02040503050406030204" pitchFamily="18" charset="0"/>
                            </a:rPr>
                            <m:t>∨</m:t>
                          </m:r>
                          <m:acc>
                            <m:accPr>
                              <m:chr m:val="̅"/>
                              <m:ctrlPr>
                                <a:rPr lang="en-US" b="0" i="1" smtClean="0">
                                  <a:solidFill>
                                    <a:schemeClr val="bg1"/>
                                  </a:solidFill>
                                  <a:latin typeface="Cambria Math" panose="02040503050406030204" pitchFamily="18" charset="0"/>
                                </a:rPr>
                              </m:ctrlPr>
                            </m:accPr>
                            <m:e>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𝑥</m:t>
                                  </m:r>
                                </m:e>
                                <m:sub>
                                  <m:r>
                                    <a:rPr lang="en-US" b="0" i="1" smtClean="0">
                                      <a:solidFill>
                                        <a:schemeClr val="bg1"/>
                                      </a:solidFill>
                                      <a:latin typeface="Cambria Math" panose="02040503050406030204" pitchFamily="18" charset="0"/>
                                    </a:rPr>
                                    <m:t>3</m:t>
                                  </m:r>
                                </m:sub>
                              </m:sSub>
                            </m:e>
                          </m:acc>
                        </m:e>
                      </m:d>
                      <m:r>
                        <a:rPr lang="en-US" b="0" i="1" smtClean="0">
                          <a:solidFill>
                            <a:schemeClr val="bg1"/>
                          </a:solidFill>
                          <a:latin typeface="Cambria Math" panose="02040503050406030204" pitchFamily="18" charset="0"/>
                        </a:rPr>
                        <m:t>∧</m:t>
                      </m:r>
                      <m:d>
                        <m:dPr>
                          <m:ctrlPr>
                            <a:rPr lang="en-US" b="0" i="1" smtClean="0">
                              <a:solidFill>
                                <a:schemeClr val="bg1"/>
                              </a:solidFill>
                              <a:latin typeface="Cambria Math" panose="02040503050406030204" pitchFamily="18" charset="0"/>
                            </a:rPr>
                          </m:ctrlPr>
                        </m:dPr>
                        <m:e>
                          <m:acc>
                            <m:accPr>
                              <m:chr m:val="̅"/>
                              <m:ctrlPr>
                                <a:rPr lang="en-US" b="0" i="1" smtClean="0">
                                  <a:solidFill>
                                    <a:schemeClr val="bg1"/>
                                  </a:solidFill>
                                  <a:latin typeface="Cambria Math" panose="02040503050406030204" pitchFamily="18" charset="0"/>
                                </a:rPr>
                              </m:ctrlPr>
                            </m:accPr>
                            <m:e>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𝑥</m:t>
                                  </m:r>
                                </m:e>
                                <m:sub>
                                  <m:r>
                                    <a:rPr lang="en-US" b="0" i="1" smtClean="0">
                                      <a:solidFill>
                                        <a:schemeClr val="bg1"/>
                                      </a:solidFill>
                                      <a:latin typeface="Cambria Math" panose="02040503050406030204" pitchFamily="18" charset="0"/>
                                    </a:rPr>
                                    <m:t>1</m:t>
                                  </m:r>
                                </m:sub>
                              </m:sSub>
                            </m:e>
                          </m:acc>
                          <m:r>
                            <a:rPr lang="en-US" b="0" i="1" smtClean="0">
                              <a:solidFill>
                                <a:schemeClr val="bg1"/>
                              </a:solidFill>
                              <a:latin typeface="Cambria Math" panose="02040503050406030204" pitchFamily="18" charset="0"/>
                            </a:rPr>
                            <m:t>∨</m:t>
                          </m:r>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𝑥</m:t>
                              </m:r>
                            </m:e>
                            <m:sub>
                              <m:r>
                                <a:rPr lang="en-US" b="0" i="1" smtClean="0">
                                  <a:solidFill>
                                    <a:schemeClr val="bg1"/>
                                  </a:solidFill>
                                  <a:latin typeface="Cambria Math" panose="02040503050406030204" pitchFamily="18" charset="0"/>
                                </a:rPr>
                                <m:t>2</m:t>
                              </m:r>
                            </m:sub>
                          </m:sSub>
                          <m:r>
                            <a:rPr lang="en-US" b="0" i="1" smtClean="0">
                              <a:solidFill>
                                <a:schemeClr val="bg1"/>
                              </a:solidFill>
                              <a:latin typeface="Cambria Math" panose="02040503050406030204" pitchFamily="18" charset="0"/>
                            </a:rPr>
                            <m:t>∨</m:t>
                          </m:r>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𝑥</m:t>
                              </m:r>
                            </m:e>
                            <m:sub>
                              <m:r>
                                <a:rPr lang="en-US" b="0" i="1" smtClean="0">
                                  <a:solidFill>
                                    <a:schemeClr val="bg1"/>
                                  </a:solidFill>
                                  <a:latin typeface="Cambria Math" panose="02040503050406030204" pitchFamily="18" charset="0"/>
                                </a:rPr>
                                <m:t>3</m:t>
                              </m:r>
                            </m:sub>
                          </m:sSub>
                        </m:e>
                      </m:d>
                      <m:r>
                        <a:rPr lang="en-US" b="0" i="1" smtClean="0">
                          <a:solidFill>
                            <a:schemeClr val="bg1"/>
                          </a:solidFill>
                          <a:latin typeface="Cambria Math" panose="02040503050406030204" pitchFamily="18" charset="0"/>
                        </a:rPr>
                        <m:t>∧(</m:t>
                      </m:r>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𝑥</m:t>
                          </m:r>
                        </m:e>
                        <m:sub>
                          <m:r>
                            <a:rPr lang="en-US" b="0" i="1" smtClean="0">
                              <a:solidFill>
                                <a:schemeClr val="bg1"/>
                              </a:solidFill>
                              <a:latin typeface="Cambria Math" panose="02040503050406030204" pitchFamily="18" charset="0"/>
                            </a:rPr>
                            <m:t>1</m:t>
                          </m:r>
                        </m:sub>
                      </m:sSub>
                      <m:r>
                        <a:rPr lang="en-US" b="0" i="1" smtClean="0">
                          <a:solidFill>
                            <a:schemeClr val="bg1"/>
                          </a:solidFill>
                          <a:latin typeface="Cambria Math" panose="02040503050406030204" pitchFamily="18" charset="0"/>
                        </a:rPr>
                        <m:t>∨</m:t>
                      </m:r>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𝑥</m:t>
                          </m:r>
                        </m:e>
                        <m:sub>
                          <m:r>
                            <a:rPr lang="en-US" b="0" i="1" smtClean="0">
                              <a:solidFill>
                                <a:schemeClr val="bg1"/>
                              </a:solidFill>
                              <a:latin typeface="Cambria Math" panose="02040503050406030204" pitchFamily="18" charset="0"/>
                            </a:rPr>
                            <m:t>2</m:t>
                          </m:r>
                        </m:sub>
                      </m:sSub>
                      <m:r>
                        <a:rPr lang="en-US" b="0" i="1" smtClean="0">
                          <a:solidFill>
                            <a:schemeClr val="bg1"/>
                          </a:solidFill>
                          <a:latin typeface="Cambria Math" panose="02040503050406030204" pitchFamily="18" charset="0"/>
                        </a:rPr>
                        <m:t>∨</m:t>
                      </m:r>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𝑥</m:t>
                          </m:r>
                        </m:e>
                        <m:sub>
                          <m:r>
                            <a:rPr lang="en-US" b="0" i="1" smtClean="0">
                              <a:solidFill>
                                <a:schemeClr val="bg1"/>
                              </a:solidFill>
                              <a:latin typeface="Cambria Math" panose="02040503050406030204" pitchFamily="18" charset="0"/>
                            </a:rPr>
                            <m:t>3</m:t>
                          </m:r>
                        </m:sub>
                      </m:sSub>
                      <m:r>
                        <a:rPr lang="en-US" b="0" i="1" smtClean="0">
                          <a:solidFill>
                            <a:schemeClr val="bg1"/>
                          </a:solidFill>
                          <a:latin typeface="Cambria Math" panose="02040503050406030204" pitchFamily="18" charset="0"/>
                        </a:rPr>
                        <m:t>)</m:t>
                      </m:r>
                    </m:oMath>
                  </m:oMathPara>
                </a14:m>
                <a:endParaRPr lang="en-US" dirty="0">
                  <a:solidFill>
                    <a:schemeClr val="bg1"/>
                  </a:solidFill>
                </a:endParaRPr>
              </a:p>
            </p:txBody>
          </p:sp>
        </mc:Choice>
        <mc:Fallback xmlns="">
          <p:sp>
            <p:nvSpPr>
              <p:cNvPr id="5" name="Content Placeholder 2">
                <a:extLst>
                  <a:ext uri="{FF2B5EF4-FFF2-40B4-BE49-F238E27FC236}">
                    <a16:creationId xmlns:a16="http://schemas.microsoft.com/office/drawing/2014/main" id="{E8FD7EC5-F759-3443-A400-8D08882410D9}"/>
                  </a:ext>
                </a:extLst>
              </p:cNvPr>
              <p:cNvSpPr txBox="1">
                <a:spLocks noRot="1" noChangeAspect="1" noMove="1" noResize="1" noEditPoints="1" noAdjustHandles="1" noChangeArrowheads="1" noChangeShapeType="1" noTextEdit="1"/>
              </p:cNvSpPr>
              <p:nvPr/>
            </p:nvSpPr>
            <p:spPr>
              <a:xfrm>
                <a:off x="2300256" y="1484196"/>
                <a:ext cx="7586129" cy="598099"/>
              </a:xfrm>
              <a:prstGeom prst="rect">
                <a:avLst/>
              </a:prstGeom>
              <a:blipFill>
                <a:blip r:embed="rId4"/>
                <a:stretch>
                  <a:fillRect/>
                </a:stretch>
              </a:blipFill>
              <a:ln>
                <a:solidFill>
                  <a:schemeClr val="bg1"/>
                </a:solidFill>
              </a:ln>
            </p:spPr>
            <p:txBody>
              <a:bodyPr/>
              <a:lstStyle/>
              <a:p>
                <a:r>
                  <a:rPr lang="en-US">
                    <a:noFill/>
                  </a:rPr>
                  <a:t> </a:t>
                </a:r>
              </a:p>
            </p:txBody>
          </p:sp>
        </mc:Fallback>
      </mc:AlternateContent>
      <p:sp>
        <p:nvSpPr>
          <p:cNvPr id="6" name="Content Placeholder 2">
            <a:extLst>
              <a:ext uri="{FF2B5EF4-FFF2-40B4-BE49-F238E27FC236}">
                <a16:creationId xmlns:a16="http://schemas.microsoft.com/office/drawing/2014/main" id="{FF448FEF-4075-E342-87D1-5ACB33834248}"/>
              </a:ext>
            </a:extLst>
          </p:cNvPr>
          <p:cNvSpPr txBox="1">
            <a:spLocks/>
          </p:cNvSpPr>
          <p:nvPr/>
        </p:nvSpPr>
        <p:spPr>
          <a:xfrm>
            <a:off x="2300256" y="1164628"/>
            <a:ext cx="7586129" cy="356343"/>
          </a:xfrm>
          <a:prstGeom prst="rect">
            <a:avLst/>
          </a:prstGeom>
          <a:noFill/>
          <a:ln>
            <a:noFill/>
          </a:ln>
        </p:spPr>
        <p:txBody>
          <a:bodyPr vert="horz" lIns="91440" tIns="45720" rIns="91440" bIns="45720" rtlCol="0">
            <a:normAutofit fontScale="700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None/>
            </a:pPr>
            <a:r>
              <a:rPr lang="en-US" dirty="0">
                <a:solidFill>
                  <a:schemeClr val="tx1">
                    <a:lumMod val="95000"/>
                  </a:schemeClr>
                </a:solidFill>
              </a:rPr>
              <a:t>Consider this 3-SAT formula:</a:t>
            </a:r>
          </a:p>
        </p:txBody>
      </p:sp>
      <p:sp>
        <p:nvSpPr>
          <p:cNvPr id="39" name="Content Placeholder 2">
            <a:extLst>
              <a:ext uri="{FF2B5EF4-FFF2-40B4-BE49-F238E27FC236}">
                <a16:creationId xmlns:a16="http://schemas.microsoft.com/office/drawing/2014/main" id="{019C274A-D365-9D44-B7B2-72494C3194BB}"/>
              </a:ext>
            </a:extLst>
          </p:cNvPr>
          <p:cNvSpPr txBox="1">
            <a:spLocks/>
          </p:cNvSpPr>
          <p:nvPr/>
        </p:nvSpPr>
        <p:spPr>
          <a:xfrm>
            <a:off x="841967" y="4197785"/>
            <a:ext cx="4544839" cy="2248281"/>
          </a:xfrm>
          <a:prstGeom prst="rect">
            <a:avLst/>
          </a:prstGeom>
          <a:ln>
            <a:solidFill>
              <a:schemeClr val="tx1">
                <a:lumMod val="95000"/>
              </a:schemeClr>
            </a:solidFill>
          </a:ln>
        </p:spPr>
        <p:txBody>
          <a:bodyPr vert="horz" lIns="91440" tIns="45720" rIns="91440" bIns="45720" rtlCol="0">
            <a:normAutofit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b="1" i="1" u="sng" dirty="0"/>
              <a:t>Intuition</a:t>
            </a:r>
            <a:r>
              <a:rPr lang="en-US" i="1" dirty="0"/>
              <a:t>:</a:t>
            </a:r>
            <a:br>
              <a:rPr lang="en-US" b="1" i="1" u="sng" dirty="0"/>
            </a:br>
            <a:r>
              <a:rPr lang="en-US" i="1" dirty="0"/>
              <a:t>One clique of size 3 is shown. The nodes in the clique represent three variables, one per clause, that can be set to TRUE without issue. </a:t>
            </a:r>
          </a:p>
        </p:txBody>
      </p:sp>
      <p:grpSp>
        <p:nvGrpSpPr>
          <p:cNvPr id="17" name="Group 16">
            <a:extLst>
              <a:ext uri="{FF2B5EF4-FFF2-40B4-BE49-F238E27FC236}">
                <a16:creationId xmlns:a16="http://schemas.microsoft.com/office/drawing/2014/main" id="{3906D9CC-3F1A-384E-894F-E2F7F41ED5EA}"/>
              </a:ext>
            </a:extLst>
          </p:cNvPr>
          <p:cNvGrpSpPr/>
          <p:nvPr/>
        </p:nvGrpSpPr>
        <p:grpSpPr>
          <a:xfrm>
            <a:off x="5739894" y="2471596"/>
            <a:ext cx="5477346" cy="3974471"/>
            <a:chOff x="5739894" y="2471596"/>
            <a:chExt cx="5477346" cy="3974471"/>
          </a:xfrm>
        </p:grpSpPr>
        <mc:AlternateContent xmlns:mc="http://schemas.openxmlformats.org/markup-compatibility/2006" xmlns:a14="http://schemas.microsoft.com/office/drawing/2010/main">
          <mc:Choice Requires="a14">
            <p:sp>
              <p:nvSpPr>
                <p:cNvPr id="42" name="Oval 41">
                  <a:extLst>
                    <a:ext uri="{FF2B5EF4-FFF2-40B4-BE49-F238E27FC236}">
                      <a16:creationId xmlns:a16="http://schemas.microsoft.com/office/drawing/2014/main" id="{EBC588D3-1610-BB46-90DD-92C05B1E0A97}"/>
                    </a:ext>
                  </a:extLst>
                </p:cNvPr>
                <p:cNvSpPr/>
                <p:nvPr/>
              </p:nvSpPr>
              <p:spPr>
                <a:xfrm>
                  <a:off x="5948121" y="3657595"/>
                  <a:ext cx="543208" cy="543208"/>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b="0" i="1" smtClean="0">
                            <a:solidFill>
                              <a:schemeClr val="bg1"/>
                            </a:solidFill>
                            <a:latin typeface="Cambria Math" panose="02040503050406030204" pitchFamily="18" charset="0"/>
                          </a:rPr>
                          <m:t> </m:t>
                        </m:r>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𝑥</m:t>
                            </m:r>
                          </m:e>
                          <m:sub>
                            <m:r>
                              <a:rPr lang="en-US" b="0" i="1" smtClean="0">
                                <a:solidFill>
                                  <a:schemeClr val="bg1"/>
                                </a:solidFill>
                                <a:latin typeface="Cambria Math" panose="02040503050406030204" pitchFamily="18" charset="0"/>
                              </a:rPr>
                              <m:t>1</m:t>
                            </m:r>
                          </m:sub>
                        </m:sSub>
                      </m:oMath>
                    </m:oMathPara>
                  </a14:m>
                  <a:endParaRPr lang="en-US" dirty="0">
                    <a:solidFill>
                      <a:schemeClr val="bg1"/>
                    </a:solidFill>
                  </a:endParaRPr>
                </a:p>
              </p:txBody>
            </p:sp>
          </mc:Choice>
          <mc:Fallback xmlns="">
            <p:sp>
              <p:nvSpPr>
                <p:cNvPr id="42" name="Oval 41">
                  <a:extLst>
                    <a:ext uri="{FF2B5EF4-FFF2-40B4-BE49-F238E27FC236}">
                      <a16:creationId xmlns:a16="http://schemas.microsoft.com/office/drawing/2014/main" id="{EBC588D3-1610-BB46-90DD-92C05B1E0A97}"/>
                    </a:ext>
                  </a:extLst>
                </p:cNvPr>
                <p:cNvSpPr>
                  <a:spLocks noRot="1" noChangeAspect="1" noMove="1" noResize="1" noEditPoints="1" noAdjustHandles="1" noChangeArrowheads="1" noChangeShapeType="1" noTextEdit="1"/>
                </p:cNvSpPr>
                <p:nvPr/>
              </p:nvSpPr>
              <p:spPr>
                <a:xfrm>
                  <a:off x="5948121" y="3657595"/>
                  <a:ext cx="543208" cy="543208"/>
                </a:xfrm>
                <a:prstGeom prst="ellipse">
                  <a:avLst/>
                </a:prstGeom>
                <a:blipFill>
                  <a:blip r:embed="rId5"/>
                  <a:stretch>
                    <a:fillRect l="-227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4" name="Oval 43">
                  <a:extLst>
                    <a:ext uri="{FF2B5EF4-FFF2-40B4-BE49-F238E27FC236}">
                      <a16:creationId xmlns:a16="http://schemas.microsoft.com/office/drawing/2014/main" id="{99A19EE2-DCED-104D-9001-4AA2EE619886}"/>
                    </a:ext>
                  </a:extLst>
                </p:cNvPr>
                <p:cNvSpPr/>
                <p:nvPr/>
              </p:nvSpPr>
              <p:spPr>
                <a:xfrm>
                  <a:off x="5948121" y="4661021"/>
                  <a:ext cx="543208" cy="543208"/>
                </a:xfrm>
                <a:prstGeom prst="ellipse">
                  <a:avLst/>
                </a:prstGeom>
                <a:solidFill>
                  <a:schemeClr val="accent3"/>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i="1">
                            <a:solidFill>
                              <a:schemeClr val="bg1"/>
                            </a:solidFill>
                            <a:latin typeface="Cambria Math" panose="02040503050406030204" pitchFamily="18" charset="0"/>
                          </a:rPr>
                          <m:t> </m:t>
                        </m:r>
                        <m:acc>
                          <m:accPr>
                            <m:chr m:val="̅"/>
                            <m:ctrlPr>
                              <a:rPr lang="en-US" b="0" i="1" smtClean="0">
                                <a:solidFill>
                                  <a:schemeClr val="bg1"/>
                                </a:solidFill>
                                <a:latin typeface="Cambria Math" panose="02040503050406030204" pitchFamily="18" charset="0"/>
                              </a:rPr>
                            </m:ctrlPr>
                          </m:accPr>
                          <m:e>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𝑥</m:t>
                                </m:r>
                              </m:e>
                              <m:sub>
                                <m:r>
                                  <a:rPr lang="en-US" b="0" i="1" smtClean="0">
                                    <a:solidFill>
                                      <a:schemeClr val="bg1"/>
                                    </a:solidFill>
                                    <a:latin typeface="Cambria Math" panose="02040503050406030204" pitchFamily="18" charset="0"/>
                                  </a:rPr>
                                  <m:t>2</m:t>
                                </m:r>
                              </m:sub>
                            </m:sSub>
                          </m:e>
                        </m:acc>
                      </m:oMath>
                    </m:oMathPara>
                  </a14:m>
                  <a:endParaRPr lang="en-US" dirty="0">
                    <a:solidFill>
                      <a:schemeClr val="bg1"/>
                    </a:solidFill>
                  </a:endParaRPr>
                </a:p>
              </p:txBody>
            </p:sp>
          </mc:Choice>
          <mc:Fallback xmlns="">
            <p:sp>
              <p:nvSpPr>
                <p:cNvPr id="44" name="Oval 43">
                  <a:extLst>
                    <a:ext uri="{FF2B5EF4-FFF2-40B4-BE49-F238E27FC236}">
                      <a16:creationId xmlns:a16="http://schemas.microsoft.com/office/drawing/2014/main" id="{99A19EE2-DCED-104D-9001-4AA2EE619886}"/>
                    </a:ext>
                  </a:extLst>
                </p:cNvPr>
                <p:cNvSpPr>
                  <a:spLocks noRot="1" noChangeAspect="1" noMove="1" noResize="1" noEditPoints="1" noAdjustHandles="1" noChangeArrowheads="1" noChangeShapeType="1" noTextEdit="1"/>
                </p:cNvSpPr>
                <p:nvPr/>
              </p:nvSpPr>
              <p:spPr>
                <a:xfrm>
                  <a:off x="5948121" y="4661021"/>
                  <a:ext cx="543208" cy="543208"/>
                </a:xfrm>
                <a:prstGeom prst="ellipse">
                  <a:avLst/>
                </a:prstGeom>
                <a:blipFill>
                  <a:blip r:embed="rId6"/>
                  <a:stretch>
                    <a:fillRect l="-2273"/>
                  </a:stretch>
                </a:blipFill>
                <a:ln>
                  <a:solidFill>
                    <a:schemeClr val="accent3"/>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5" name="Oval 44">
                  <a:extLst>
                    <a:ext uri="{FF2B5EF4-FFF2-40B4-BE49-F238E27FC236}">
                      <a16:creationId xmlns:a16="http://schemas.microsoft.com/office/drawing/2014/main" id="{C73886F6-0A7E-3D42-8EE7-0E8352077966}"/>
                    </a:ext>
                  </a:extLst>
                </p:cNvPr>
                <p:cNvSpPr/>
                <p:nvPr/>
              </p:nvSpPr>
              <p:spPr>
                <a:xfrm>
                  <a:off x="5948121" y="5664447"/>
                  <a:ext cx="543208" cy="543208"/>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b="0" i="1" smtClean="0">
                            <a:solidFill>
                              <a:schemeClr val="bg1"/>
                            </a:solidFill>
                            <a:latin typeface="Cambria Math" panose="02040503050406030204" pitchFamily="18" charset="0"/>
                          </a:rPr>
                          <m:t> </m:t>
                        </m:r>
                        <m:acc>
                          <m:accPr>
                            <m:chr m:val="̅"/>
                            <m:ctrlPr>
                              <a:rPr lang="en-US" b="0" i="1" smtClean="0">
                                <a:solidFill>
                                  <a:schemeClr val="bg1"/>
                                </a:solidFill>
                                <a:latin typeface="Cambria Math" panose="02040503050406030204" pitchFamily="18" charset="0"/>
                              </a:rPr>
                            </m:ctrlPr>
                          </m:accPr>
                          <m:e>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𝑥</m:t>
                                </m:r>
                              </m:e>
                              <m:sub>
                                <m:r>
                                  <a:rPr lang="en-US" b="0" i="1" smtClean="0">
                                    <a:solidFill>
                                      <a:schemeClr val="bg1"/>
                                    </a:solidFill>
                                    <a:latin typeface="Cambria Math" panose="02040503050406030204" pitchFamily="18" charset="0"/>
                                  </a:rPr>
                                  <m:t>3</m:t>
                                </m:r>
                              </m:sub>
                            </m:sSub>
                          </m:e>
                        </m:acc>
                      </m:oMath>
                    </m:oMathPara>
                  </a14:m>
                  <a:endParaRPr lang="en-US" dirty="0">
                    <a:solidFill>
                      <a:schemeClr val="bg1"/>
                    </a:solidFill>
                  </a:endParaRPr>
                </a:p>
              </p:txBody>
            </p:sp>
          </mc:Choice>
          <mc:Fallback xmlns="">
            <p:sp>
              <p:nvSpPr>
                <p:cNvPr id="45" name="Oval 44">
                  <a:extLst>
                    <a:ext uri="{FF2B5EF4-FFF2-40B4-BE49-F238E27FC236}">
                      <a16:creationId xmlns:a16="http://schemas.microsoft.com/office/drawing/2014/main" id="{C73886F6-0A7E-3D42-8EE7-0E8352077966}"/>
                    </a:ext>
                  </a:extLst>
                </p:cNvPr>
                <p:cNvSpPr>
                  <a:spLocks noRot="1" noChangeAspect="1" noMove="1" noResize="1" noEditPoints="1" noAdjustHandles="1" noChangeArrowheads="1" noChangeShapeType="1" noTextEdit="1"/>
                </p:cNvSpPr>
                <p:nvPr/>
              </p:nvSpPr>
              <p:spPr>
                <a:xfrm>
                  <a:off x="5948121" y="5664447"/>
                  <a:ext cx="543208" cy="543208"/>
                </a:xfrm>
                <a:prstGeom prst="ellipse">
                  <a:avLst/>
                </a:prstGeom>
                <a:blipFill>
                  <a:blip r:embed="rId7"/>
                  <a:stretch>
                    <a:fillRect l="-227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Oval 46">
                  <a:extLst>
                    <a:ext uri="{FF2B5EF4-FFF2-40B4-BE49-F238E27FC236}">
                      <a16:creationId xmlns:a16="http://schemas.microsoft.com/office/drawing/2014/main" id="{CBC0B98F-EADF-C640-B049-550A523A75A7}"/>
                    </a:ext>
                  </a:extLst>
                </p:cNvPr>
                <p:cNvSpPr/>
                <p:nvPr/>
              </p:nvSpPr>
              <p:spPr>
                <a:xfrm>
                  <a:off x="10364704" y="3654578"/>
                  <a:ext cx="543208" cy="543208"/>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b="0" i="1" smtClean="0">
                            <a:solidFill>
                              <a:schemeClr val="bg1"/>
                            </a:solidFill>
                            <a:latin typeface="Cambria Math" panose="02040503050406030204" pitchFamily="18" charset="0"/>
                          </a:rPr>
                          <m:t> </m:t>
                        </m:r>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𝑥</m:t>
                            </m:r>
                          </m:e>
                          <m:sub>
                            <m:r>
                              <a:rPr lang="en-US" b="0" i="1" smtClean="0">
                                <a:solidFill>
                                  <a:schemeClr val="bg1"/>
                                </a:solidFill>
                                <a:latin typeface="Cambria Math" panose="02040503050406030204" pitchFamily="18" charset="0"/>
                              </a:rPr>
                              <m:t>1</m:t>
                            </m:r>
                          </m:sub>
                        </m:sSub>
                      </m:oMath>
                    </m:oMathPara>
                  </a14:m>
                  <a:endParaRPr lang="en-US" dirty="0">
                    <a:solidFill>
                      <a:schemeClr val="bg1"/>
                    </a:solidFill>
                  </a:endParaRPr>
                </a:p>
              </p:txBody>
            </p:sp>
          </mc:Choice>
          <mc:Fallback xmlns="">
            <p:sp>
              <p:nvSpPr>
                <p:cNvPr id="47" name="Oval 46">
                  <a:extLst>
                    <a:ext uri="{FF2B5EF4-FFF2-40B4-BE49-F238E27FC236}">
                      <a16:creationId xmlns:a16="http://schemas.microsoft.com/office/drawing/2014/main" id="{CBC0B98F-EADF-C640-B049-550A523A75A7}"/>
                    </a:ext>
                  </a:extLst>
                </p:cNvPr>
                <p:cNvSpPr>
                  <a:spLocks noRot="1" noChangeAspect="1" noMove="1" noResize="1" noEditPoints="1" noAdjustHandles="1" noChangeArrowheads="1" noChangeShapeType="1" noTextEdit="1"/>
                </p:cNvSpPr>
                <p:nvPr/>
              </p:nvSpPr>
              <p:spPr>
                <a:xfrm>
                  <a:off x="10364704" y="3654578"/>
                  <a:ext cx="543208" cy="543208"/>
                </a:xfrm>
                <a:prstGeom prst="ellipse">
                  <a:avLst/>
                </a:prstGeom>
                <a:blipFill>
                  <a:blip r:embed="rId8"/>
                  <a:stretch>
                    <a:fillRect l="-227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Oval 47">
                  <a:extLst>
                    <a:ext uri="{FF2B5EF4-FFF2-40B4-BE49-F238E27FC236}">
                      <a16:creationId xmlns:a16="http://schemas.microsoft.com/office/drawing/2014/main" id="{45FEABFE-9C8A-A14E-BDA0-1B581644F4A7}"/>
                    </a:ext>
                  </a:extLst>
                </p:cNvPr>
                <p:cNvSpPr/>
                <p:nvPr/>
              </p:nvSpPr>
              <p:spPr>
                <a:xfrm>
                  <a:off x="10364704" y="4658004"/>
                  <a:ext cx="543208" cy="543208"/>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b="0" i="1" smtClean="0">
                            <a:solidFill>
                              <a:schemeClr val="bg1"/>
                            </a:solidFill>
                            <a:latin typeface="Cambria Math" panose="02040503050406030204" pitchFamily="18" charset="0"/>
                          </a:rPr>
                          <m:t> </m:t>
                        </m:r>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𝑥</m:t>
                            </m:r>
                          </m:e>
                          <m:sub>
                            <m:r>
                              <a:rPr lang="en-US" b="0" i="1" smtClean="0">
                                <a:solidFill>
                                  <a:schemeClr val="bg1"/>
                                </a:solidFill>
                                <a:latin typeface="Cambria Math" panose="02040503050406030204" pitchFamily="18" charset="0"/>
                              </a:rPr>
                              <m:t>2</m:t>
                            </m:r>
                          </m:sub>
                        </m:sSub>
                      </m:oMath>
                    </m:oMathPara>
                  </a14:m>
                  <a:endParaRPr lang="en-US" dirty="0">
                    <a:solidFill>
                      <a:schemeClr val="bg1"/>
                    </a:solidFill>
                  </a:endParaRPr>
                </a:p>
              </p:txBody>
            </p:sp>
          </mc:Choice>
          <mc:Fallback xmlns="">
            <p:sp>
              <p:nvSpPr>
                <p:cNvPr id="48" name="Oval 47">
                  <a:extLst>
                    <a:ext uri="{FF2B5EF4-FFF2-40B4-BE49-F238E27FC236}">
                      <a16:creationId xmlns:a16="http://schemas.microsoft.com/office/drawing/2014/main" id="{45FEABFE-9C8A-A14E-BDA0-1B581644F4A7}"/>
                    </a:ext>
                  </a:extLst>
                </p:cNvPr>
                <p:cNvSpPr>
                  <a:spLocks noRot="1" noChangeAspect="1" noMove="1" noResize="1" noEditPoints="1" noAdjustHandles="1" noChangeArrowheads="1" noChangeShapeType="1" noTextEdit="1"/>
                </p:cNvSpPr>
                <p:nvPr/>
              </p:nvSpPr>
              <p:spPr>
                <a:xfrm>
                  <a:off x="10364704" y="4658004"/>
                  <a:ext cx="543208" cy="543208"/>
                </a:xfrm>
                <a:prstGeom prst="ellipse">
                  <a:avLst/>
                </a:prstGeom>
                <a:blipFill>
                  <a:blip r:embed="rId9"/>
                  <a:stretch>
                    <a:fillRect l="-227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Oval 48">
                  <a:extLst>
                    <a:ext uri="{FF2B5EF4-FFF2-40B4-BE49-F238E27FC236}">
                      <a16:creationId xmlns:a16="http://schemas.microsoft.com/office/drawing/2014/main" id="{A66F8109-458A-934E-B901-3C4AD7E54316}"/>
                    </a:ext>
                  </a:extLst>
                </p:cNvPr>
                <p:cNvSpPr/>
                <p:nvPr/>
              </p:nvSpPr>
              <p:spPr>
                <a:xfrm>
                  <a:off x="10364704" y="5661430"/>
                  <a:ext cx="543208" cy="543208"/>
                </a:xfrm>
                <a:prstGeom prst="ellipse">
                  <a:avLst/>
                </a:prstGeom>
                <a:solidFill>
                  <a:schemeClr val="accent3"/>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b="0" i="1" smtClean="0">
                            <a:solidFill>
                              <a:schemeClr val="bg1"/>
                            </a:solidFill>
                            <a:latin typeface="Cambria Math" panose="02040503050406030204" pitchFamily="18" charset="0"/>
                          </a:rPr>
                          <m:t> </m:t>
                        </m:r>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𝑥</m:t>
                            </m:r>
                          </m:e>
                          <m:sub>
                            <m:r>
                              <a:rPr lang="en-US" b="0" i="1" smtClean="0">
                                <a:solidFill>
                                  <a:schemeClr val="bg1"/>
                                </a:solidFill>
                                <a:latin typeface="Cambria Math" panose="02040503050406030204" pitchFamily="18" charset="0"/>
                              </a:rPr>
                              <m:t>3</m:t>
                            </m:r>
                          </m:sub>
                        </m:sSub>
                      </m:oMath>
                    </m:oMathPara>
                  </a14:m>
                  <a:endParaRPr lang="en-US" dirty="0">
                    <a:solidFill>
                      <a:schemeClr val="bg1"/>
                    </a:solidFill>
                  </a:endParaRPr>
                </a:p>
              </p:txBody>
            </p:sp>
          </mc:Choice>
          <mc:Fallback xmlns="">
            <p:sp>
              <p:nvSpPr>
                <p:cNvPr id="49" name="Oval 48">
                  <a:extLst>
                    <a:ext uri="{FF2B5EF4-FFF2-40B4-BE49-F238E27FC236}">
                      <a16:creationId xmlns:a16="http://schemas.microsoft.com/office/drawing/2014/main" id="{A66F8109-458A-934E-B901-3C4AD7E54316}"/>
                    </a:ext>
                  </a:extLst>
                </p:cNvPr>
                <p:cNvSpPr>
                  <a:spLocks noRot="1" noChangeAspect="1" noMove="1" noResize="1" noEditPoints="1" noAdjustHandles="1" noChangeArrowheads="1" noChangeShapeType="1" noTextEdit="1"/>
                </p:cNvSpPr>
                <p:nvPr/>
              </p:nvSpPr>
              <p:spPr>
                <a:xfrm>
                  <a:off x="10364704" y="5661430"/>
                  <a:ext cx="543208" cy="543208"/>
                </a:xfrm>
                <a:prstGeom prst="ellipse">
                  <a:avLst/>
                </a:prstGeom>
                <a:blipFill>
                  <a:blip r:embed="rId10"/>
                  <a:stretch>
                    <a:fillRect l="-2273"/>
                  </a:stretch>
                </a:blipFill>
                <a:ln>
                  <a:solidFill>
                    <a:schemeClr val="accent3"/>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1" name="Oval 50">
                  <a:extLst>
                    <a:ext uri="{FF2B5EF4-FFF2-40B4-BE49-F238E27FC236}">
                      <a16:creationId xmlns:a16="http://schemas.microsoft.com/office/drawing/2014/main" id="{85CB99A0-B12E-3E4B-BEEE-B8DC7EE9CE9C}"/>
                    </a:ext>
                  </a:extLst>
                </p:cNvPr>
                <p:cNvSpPr/>
                <p:nvPr/>
              </p:nvSpPr>
              <p:spPr>
                <a:xfrm>
                  <a:off x="7014921" y="2640594"/>
                  <a:ext cx="543208" cy="543208"/>
                </a:xfrm>
                <a:prstGeom prst="ellipse">
                  <a:avLst/>
                </a:prstGeom>
                <a:solidFill>
                  <a:schemeClr val="accent3"/>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b="0" i="1" smtClean="0">
                            <a:solidFill>
                              <a:schemeClr val="bg1"/>
                            </a:solidFill>
                            <a:latin typeface="Cambria Math" panose="02040503050406030204" pitchFamily="18" charset="0"/>
                          </a:rPr>
                          <m:t> </m:t>
                        </m:r>
                        <m:acc>
                          <m:accPr>
                            <m:chr m:val="̅"/>
                            <m:ctrlPr>
                              <a:rPr lang="en-US" b="0" i="1" smtClean="0">
                                <a:solidFill>
                                  <a:schemeClr val="bg1"/>
                                </a:solidFill>
                                <a:latin typeface="Cambria Math" panose="02040503050406030204" pitchFamily="18" charset="0"/>
                              </a:rPr>
                            </m:ctrlPr>
                          </m:accPr>
                          <m:e>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𝑥</m:t>
                                </m:r>
                              </m:e>
                              <m:sub>
                                <m:r>
                                  <a:rPr lang="en-US" b="0" i="1" smtClean="0">
                                    <a:solidFill>
                                      <a:schemeClr val="bg1"/>
                                    </a:solidFill>
                                    <a:latin typeface="Cambria Math" panose="02040503050406030204" pitchFamily="18" charset="0"/>
                                  </a:rPr>
                                  <m:t>1</m:t>
                                </m:r>
                              </m:sub>
                            </m:sSub>
                          </m:e>
                        </m:acc>
                      </m:oMath>
                    </m:oMathPara>
                  </a14:m>
                  <a:endParaRPr lang="en-US" dirty="0">
                    <a:solidFill>
                      <a:schemeClr val="bg1"/>
                    </a:solidFill>
                  </a:endParaRPr>
                </a:p>
              </p:txBody>
            </p:sp>
          </mc:Choice>
          <mc:Fallback xmlns="">
            <p:sp>
              <p:nvSpPr>
                <p:cNvPr id="51" name="Oval 50">
                  <a:extLst>
                    <a:ext uri="{FF2B5EF4-FFF2-40B4-BE49-F238E27FC236}">
                      <a16:creationId xmlns:a16="http://schemas.microsoft.com/office/drawing/2014/main" id="{85CB99A0-B12E-3E4B-BEEE-B8DC7EE9CE9C}"/>
                    </a:ext>
                  </a:extLst>
                </p:cNvPr>
                <p:cNvSpPr>
                  <a:spLocks noRot="1" noChangeAspect="1" noMove="1" noResize="1" noEditPoints="1" noAdjustHandles="1" noChangeArrowheads="1" noChangeShapeType="1" noTextEdit="1"/>
                </p:cNvSpPr>
                <p:nvPr/>
              </p:nvSpPr>
              <p:spPr>
                <a:xfrm>
                  <a:off x="7014921" y="2640594"/>
                  <a:ext cx="543208" cy="543208"/>
                </a:xfrm>
                <a:prstGeom prst="ellipse">
                  <a:avLst/>
                </a:prstGeom>
                <a:blipFill>
                  <a:blip r:embed="rId11"/>
                  <a:stretch>
                    <a:fillRect l="-2273"/>
                  </a:stretch>
                </a:blipFill>
                <a:ln>
                  <a:solidFill>
                    <a:schemeClr val="accent3"/>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Oval 51">
                  <a:extLst>
                    <a:ext uri="{FF2B5EF4-FFF2-40B4-BE49-F238E27FC236}">
                      <a16:creationId xmlns:a16="http://schemas.microsoft.com/office/drawing/2014/main" id="{BCF629B9-BCCF-D946-ADE2-06B940838694}"/>
                    </a:ext>
                  </a:extLst>
                </p:cNvPr>
                <p:cNvSpPr/>
                <p:nvPr/>
              </p:nvSpPr>
              <p:spPr>
                <a:xfrm>
                  <a:off x="8181310" y="2640594"/>
                  <a:ext cx="543208" cy="543208"/>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b="0" i="1" smtClean="0">
                            <a:solidFill>
                              <a:schemeClr val="bg1"/>
                            </a:solidFill>
                            <a:latin typeface="Cambria Math" panose="02040503050406030204" pitchFamily="18" charset="0"/>
                          </a:rPr>
                          <m:t> </m:t>
                        </m:r>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𝑥</m:t>
                            </m:r>
                          </m:e>
                          <m:sub>
                            <m:r>
                              <a:rPr lang="en-US" b="0" i="1" smtClean="0">
                                <a:solidFill>
                                  <a:schemeClr val="bg1"/>
                                </a:solidFill>
                                <a:latin typeface="Cambria Math" panose="02040503050406030204" pitchFamily="18" charset="0"/>
                              </a:rPr>
                              <m:t>2</m:t>
                            </m:r>
                          </m:sub>
                        </m:sSub>
                      </m:oMath>
                    </m:oMathPara>
                  </a14:m>
                  <a:endParaRPr lang="en-US" dirty="0">
                    <a:solidFill>
                      <a:schemeClr val="bg1"/>
                    </a:solidFill>
                  </a:endParaRPr>
                </a:p>
              </p:txBody>
            </p:sp>
          </mc:Choice>
          <mc:Fallback xmlns="">
            <p:sp>
              <p:nvSpPr>
                <p:cNvPr id="52" name="Oval 51">
                  <a:extLst>
                    <a:ext uri="{FF2B5EF4-FFF2-40B4-BE49-F238E27FC236}">
                      <a16:creationId xmlns:a16="http://schemas.microsoft.com/office/drawing/2014/main" id="{BCF629B9-BCCF-D946-ADE2-06B940838694}"/>
                    </a:ext>
                  </a:extLst>
                </p:cNvPr>
                <p:cNvSpPr>
                  <a:spLocks noRot="1" noChangeAspect="1" noMove="1" noResize="1" noEditPoints="1" noAdjustHandles="1" noChangeArrowheads="1" noChangeShapeType="1" noTextEdit="1"/>
                </p:cNvSpPr>
                <p:nvPr/>
              </p:nvSpPr>
              <p:spPr>
                <a:xfrm>
                  <a:off x="8181310" y="2640594"/>
                  <a:ext cx="543208" cy="543208"/>
                </a:xfrm>
                <a:prstGeom prst="ellipse">
                  <a:avLst/>
                </a:prstGeom>
                <a:blipFill>
                  <a:blip r:embed="rId12"/>
                  <a:stretch>
                    <a:fillRect l="-222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Oval 53">
                  <a:extLst>
                    <a:ext uri="{FF2B5EF4-FFF2-40B4-BE49-F238E27FC236}">
                      <a16:creationId xmlns:a16="http://schemas.microsoft.com/office/drawing/2014/main" id="{F9CD9F65-48C4-D749-8F4D-B267C3D19E31}"/>
                    </a:ext>
                  </a:extLst>
                </p:cNvPr>
                <p:cNvSpPr/>
                <p:nvPr/>
              </p:nvSpPr>
              <p:spPr>
                <a:xfrm>
                  <a:off x="9347699" y="2640594"/>
                  <a:ext cx="543208" cy="543208"/>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b="0" i="1" smtClean="0">
                            <a:solidFill>
                              <a:schemeClr val="bg1"/>
                            </a:solidFill>
                            <a:latin typeface="Cambria Math" panose="02040503050406030204" pitchFamily="18" charset="0"/>
                          </a:rPr>
                          <m:t> </m:t>
                        </m:r>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𝑥</m:t>
                            </m:r>
                          </m:e>
                          <m:sub>
                            <m:r>
                              <a:rPr lang="en-US" b="0" i="1" smtClean="0">
                                <a:solidFill>
                                  <a:schemeClr val="bg1"/>
                                </a:solidFill>
                                <a:latin typeface="Cambria Math" panose="02040503050406030204" pitchFamily="18" charset="0"/>
                              </a:rPr>
                              <m:t>3</m:t>
                            </m:r>
                          </m:sub>
                        </m:sSub>
                      </m:oMath>
                    </m:oMathPara>
                  </a14:m>
                  <a:endParaRPr lang="en-US" dirty="0">
                    <a:solidFill>
                      <a:schemeClr val="bg1"/>
                    </a:solidFill>
                  </a:endParaRPr>
                </a:p>
              </p:txBody>
            </p:sp>
          </mc:Choice>
          <mc:Fallback xmlns="">
            <p:sp>
              <p:nvSpPr>
                <p:cNvPr id="54" name="Oval 53">
                  <a:extLst>
                    <a:ext uri="{FF2B5EF4-FFF2-40B4-BE49-F238E27FC236}">
                      <a16:creationId xmlns:a16="http://schemas.microsoft.com/office/drawing/2014/main" id="{F9CD9F65-48C4-D749-8F4D-B267C3D19E31}"/>
                    </a:ext>
                  </a:extLst>
                </p:cNvPr>
                <p:cNvSpPr>
                  <a:spLocks noRot="1" noChangeAspect="1" noMove="1" noResize="1" noEditPoints="1" noAdjustHandles="1" noChangeArrowheads="1" noChangeShapeType="1" noTextEdit="1"/>
                </p:cNvSpPr>
                <p:nvPr/>
              </p:nvSpPr>
              <p:spPr>
                <a:xfrm>
                  <a:off x="9347699" y="2640594"/>
                  <a:ext cx="543208" cy="543208"/>
                </a:xfrm>
                <a:prstGeom prst="ellipse">
                  <a:avLst/>
                </a:prstGeom>
                <a:blipFill>
                  <a:blip r:embed="rId13"/>
                  <a:stretch>
                    <a:fillRect l="-2222"/>
                  </a:stretch>
                </a:blipFill>
              </p:spPr>
              <p:txBody>
                <a:bodyPr/>
                <a:lstStyle/>
                <a:p>
                  <a:r>
                    <a:rPr lang="en-US">
                      <a:noFill/>
                    </a:rPr>
                    <a:t> </a:t>
                  </a:r>
                </a:p>
              </p:txBody>
            </p:sp>
          </mc:Fallback>
        </mc:AlternateContent>
        <p:sp>
          <p:nvSpPr>
            <p:cNvPr id="55" name="Rectangle 54">
              <a:extLst>
                <a:ext uri="{FF2B5EF4-FFF2-40B4-BE49-F238E27FC236}">
                  <a16:creationId xmlns:a16="http://schemas.microsoft.com/office/drawing/2014/main" id="{8D9AB02D-534C-F34C-989C-DF7A6619BF8A}"/>
                </a:ext>
              </a:extLst>
            </p:cNvPr>
            <p:cNvSpPr/>
            <p:nvPr/>
          </p:nvSpPr>
          <p:spPr>
            <a:xfrm>
              <a:off x="5739894" y="2471596"/>
              <a:ext cx="5477346" cy="3974471"/>
            </a:xfrm>
            <a:prstGeom prst="rect">
              <a:avLst/>
            </a:pr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Content Placeholder 2">
              <a:extLst>
                <a:ext uri="{FF2B5EF4-FFF2-40B4-BE49-F238E27FC236}">
                  <a16:creationId xmlns:a16="http://schemas.microsoft.com/office/drawing/2014/main" id="{60C31D08-A8E0-AF43-A75A-6DAE79DCB83F}"/>
                </a:ext>
              </a:extLst>
            </p:cNvPr>
            <p:cNvSpPr txBox="1">
              <a:spLocks/>
            </p:cNvSpPr>
            <p:nvPr/>
          </p:nvSpPr>
          <p:spPr>
            <a:xfrm>
              <a:off x="10723820" y="2518071"/>
              <a:ext cx="445962" cy="478637"/>
            </a:xfrm>
            <a:prstGeom prst="rect">
              <a:avLst/>
            </a:prstGeom>
            <a:ln>
              <a:noFill/>
            </a:ln>
          </p:spPr>
          <p:txBody>
            <a:bodyPr vert="horz" lIns="91440" tIns="45720" rIns="91440" bIns="45720" rtlCol="0">
              <a:normAutofit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i="1" dirty="0">
                  <a:solidFill>
                    <a:schemeClr val="accent1"/>
                  </a:solidFill>
                </a:rPr>
                <a:t>G</a:t>
              </a:r>
            </a:p>
          </p:txBody>
        </p:sp>
        <p:cxnSp>
          <p:nvCxnSpPr>
            <p:cNvPr id="57" name="Straight Connector 56">
              <a:extLst>
                <a:ext uri="{FF2B5EF4-FFF2-40B4-BE49-F238E27FC236}">
                  <a16:creationId xmlns:a16="http://schemas.microsoft.com/office/drawing/2014/main" id="{7A619927-8679-5B4F-9E57-2AC8896D3341}"/>
                </a:ext>
              </a:extLst>
            </p:cNvPr>
            <p:cNvCxnSpPr>
              <a:cxnSpLocks/>
              <a:stCxn id="42" idx="6"/>
              <a:endCxn id="52" idx="4"/>
            </p:cNvCxnSpPr>
            <p:nvPr/>
          </p:nvCxnSpPr>
          <p:spPr>
            <a:xfrm flipV="1">
              <a:off x="6491329" y="3183802"/>
              <a:ext cx="1961585" cy="745397"/>
            </a:xfrm>
            <a:prstGeom prst="line">
              <a:avLst/>
            </a:prstGeom>
          </p:spPr>
          <p:style>
            <a:lnRef idx="1">
              <a:schemeClr val="accent1"/>
            </a:lnRef>
            <a:fillRef idx="0">
              <a:schemeClr val="accent1"/>
            </a:fillRef>
            <a:effectRef idx="0">
              <a:schemeClr val="accent1"/>
            </a:effectRef>
            <a:fontRef idx="minor">
              <a:schemeClr val="tx1"/>
            </a:fontRef>
          </p:style>
        </p:cxnSp>
        <p:cxnSp>
          <p:nvCxnSpPr>
            <p:cNvPr id="58" name="Straight Connector 57">
              <a:extLst>
                <a:ext uri="{FF2B5EF4-FFF2-40B4-BE49-F238E27FC236}">
                  <a16:creationId xmlns:a16="http://schemas.microsoft.com/office/drawing/2014/main" id="{EA53B9C2-0646-1547-BFA6-A35C784AD3F6}"/>
                </a:ext>
              </a:extLst>
            </p:cNvPr>
            <p:cNvCxnSpPr>
              <a:cxnSpLocks/>
              <a:stCxn id="42" idx="6"/>
              <a:endCxn id="54" idx="4"/>
            </p:cNvCxnSpPr>
            <p:nvPr/>
          </p:nvCxnSpPr>
          <p:spPr>
            <a:xfrm flipV="1">
              <a:off x="6491329" y="3183802"/>
              <a:ext cx="3127974" cy="745397"/>
            </a:xfrm>
            <a:prstGeom prst="line">
              <a:avLst/>
            </a:prstGeom>
          </p:spPr>
          <p:style>
            <a:lnRef idx="1">
              <a:schemeClr val="accent1"/>
            </a:lnRef>
            <a:fillRef idx="0">
              <a:schemeClr val="accent1"/>
            </a:fillRef>
            <a:effectRef idx="0">
              <a:schemeClr val="accent1"/>
            </a:effectRef>
            <a:fontRef idx="minor">
              <a:schemeClr val="tx1"/>
            </a:fontRef>
          </p:style>
        </p:cxnSp>
        <p:cxnSp>
          <p:nvCxnSpPr>
            <p:cNvPr id="59" name="Straight Connector 58">
              <a:extLst>
                <a:ext uri="{FF2B5EF4-FFF2-40B4-BE49-F238E27FC236}">
                  <a16:creationId xmlns:a16="http://schemas.microsoft.com/office/drawing/2014/main" id="{68B098DB-F503-5247-B8BD-E160C437D684}"/>
                </a:ext>
              </a:extLst>
            </p:cNvPr>
            <p:cNvCxnSpPr>
              <a:cxnSpLocks/>
              <a:stCxn id="42" idx="6"/>
              <a:endCxn id="47" idx="2"/>
            </p:cNvCxnSpPr>
            <p:nvPr/>
          </p:nvCxnSpPr>
          <p:spPr>
            <a:xfrm flipV="1">
              <a:off x="6491329" y="3926182"/>
              <a:ext cx="3873375" cy="3017"/>
            </a:xfrm>
            <a:prstGeom prst="line">
              <a:avLst/>
            </a:prstGeom>
          </p:spPr>
          <p:style>
            <a:lnRef idx="1">
              <a:schemeClr val="accent1"/>
            </a:lnRef>
            <a:fillRef idx="0">
              <a:schemeClr val="accent1"/>
            </a:fillRef>
            <a:effectRef idx="0">
              <a:schemeClr val="accent1"/>
            </a:effectRef>
            <a:fontRef idx="minor">
              <a:schemeClr val="tx1"/>
            </a:fontRef>
          </p:style>
        </p:cxnSp>
        <p:cxnSp>
          <p:nvCxnSpPr>
            <p:cNvPr id="61" name="Straight Connector 60">
              <a:extLst>
                <a:ext uri="{FF2B5EF4-FFF2-40B4-BE49-F238E27FC236}">
                  <a16:creationId xmlns:a16="http://schemas.microsoft.com/office/drawing/2014/main" id="{8D7AC460-F132-944A-8C99-5304E15946E2}"/>
                </a:ext>
              </a:extLst>
            </p:cNvPr>
            <p:cNvCxnSpPr>
              <a:cxnSpLocks/>
              <a:stCxn id="42" idx="6"/>
              <a:endCxn id="48" idx="2"/>
            </p:cNvCxnSpPr>
            <p:nvPr/>
          </p:nvCxnSpPr>
          <p:spPr>
            <a:xfrm>
              <a:off x="6491329" y="3929199"/>
              <a:ext cx="3873375" cy="1000409"/>
            </a:xfrm>
            <a:prstGeom prst="line">
              <a:avLst/>
            </a:prstGeom>
          </p:spPr>
          <p:style>
            <a:lnRef idx="1">
              <a:schemeClr val="accent1"/>
            </a:lnRef>
            <a:fillRef idx="0">
              <a:schemeClr val="accent1"/>
            </a:fillRef>
            <a:effectRef idx="0">
              <a:schemeClr val="accent1"/>
            </a:effectRef>
            <a:fontRef idx="minor">
              <a:schemeClr val="tx1"/>
            </a:fontRef>
          </p:style>
        </p:cxnSp>
        <p:cxnSp>
          <p:nvCxnSpPr>
            <p:cNvPr id="62" name="Straight Connector 61">
              <a:extLst>
                <a:ext uri="{FF2B5EF4-FFF2-40B4-BE49-F238E27FC236}">
                  <a16:creationId xmlns:a16="http://schemas.microsoft.com/office/drawing/2014/main" id="{194B50E7-FC90-664B-ACDD-99F628976744}"/>
                </a:ext>
              </a:extLst>
            </p:cNvPr>
            <p:cNvCxnSpPr>
              <a:cxnSpLocks/>
              <a:stCxn id="42" idx="6"/>
              <a:endCxn id="49" idx="2"/>
            </p:cNvCxnSpPr>
            <p:nvPr/>
          </p:nvCxnSpPr>
          <p:spPr>
            <a:xfrm>
              <a:off x="6491329" y="3929199"/>
              <a:ext cx="3873375" cy="2003835"/>
            </a:xfrm>
            <a:prstGeom prst="line">
              <a:avLst/>
            </a:prstGeom>
          </p:spPr>
          <p:style>
            <a:lnRef idx="1">
              <a:schemeClr val="accent1"/>
            </a:lnRef>
            <a:fillRef idx="0">
              <a:schemeClr val="accent1"/>
            </a:fillRef>
            <a:effectRef idx="0">
              <a:schemeClr val="accent1"/>
            </a:effectRef>
            <a:fontRef idx="minor">
              <a:schemeClr val="tx1"/>
            </a:fontRef>
          </p:style>
        </p:cxnSp>
        <p:cxnSp>
          <p:nvCxnSpPr>
            <p:cNvPr id="64" name="Straight Connector 63">
              <a:extLst>
                <a:ext uri="{FF2B5EF4-FFF2-40B4-BE49-F238E27FC236}">
                  <a16:creationId xmlns:a16="http://schemas.microsoft.com/office/drawing/2014/main" id="{E3485D5A-4F86-1745-823D-C1C1B4AE2480}"/>
                </a:ext>
              </a:extLst>
            </p:cNvPr>
            <p:cNvCxnSpPr>
              <a:cxnSpLocks/>
              <a:stCxn id="44" idx="6"/>
              <a:endCxn id="51" idx="4"/>
            </p:cNvCxnSpPr>
            <p:nvPr/>
          </p:nvCxnSpPr>
          <p:spPr>
            <a:xfrm flipV="1">
              <a:off x="6491329" y="3183802"/>
              <a:ext cx="795196" cy="1748823"/>
            </a:xfrm>
            <a:prstGeom prst="line">
              <a:avLst/>
            </a:prstGeom>
            <a:ln w="28575">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65" name="Straight Connector 64">
              <a:extLst>
                <a:ext uri="{FF2B5EF4-FFF2-40B4-BE49-F238E27FC236}">
                  <a16:creationId xmlns:a16="http://schemas.microsoft.com/office/drawing/2014/main" id="{755A2B95-941B-4649-A529-4E6B5912B50B}"/>
                </a:ext>
              </a:extLst>
            </p:cNvPr>
            <p:cNvCxnSpPr>
              <a:cxnSpLocks/>
              <a:stCxn id="44" idx="6"/>
              <a:endCxn id="54" idx="4"/>
            </p:cNvCxnSpPr>
            <p:nvPr/>
          </p:nvCxnSpPr>
          <p:spPr>
            <a:xfrm flipV="1">
              <a:off x="6491329" y="3183802"/>
              <a:ext cx="3127974" cy="1748823"/>
            </a:xfrm>
            <a:prstGeom prst="line">
              <a:avLst/>
            </a:prstGeom>
          </p:spPr>
          <p:style>
            <a:lnRef idx="1">
              <a:schemeClr val="accent1"/>
            </a:lnRef>
            <a:fillRef idx="0">
              <a:schemeClr val="accent1"/>
            </a:fillRef>
            <a:effectRef idx="0">
              <a:schemeClr val="accent1"/>
            </a:effectRef>
            <a:fontRef idx="minor">
              <a:schemeClr val="tx1"/>
            </a:fontRef>
          </p:style>
        </p:cxnSp>
        <p:cxnSp>
          <p:nvCxnSpPr>
            <p:cNvPr id="67" name="Straight Connector 66">
              <a:extLst>
                <a:ext uri="{FF2B5EF4-FFF2-40B4-BE49-F238E27FC236}">
                  <a16:creationId xmlns:a16="http://schemas.microsoft.com/office/drawing/2014/main" id="{300E7117-DFF7-6D46-9CF7-76148A37AF0D}"/>
                </a:ext>
              </a:extLst>
            </p:cNvPr>
            <p:cNvCxnSpPr>
              <a:cxnSpLocks/>
              <a:stCxn id="44" idx="6"/>
              <a:endCxn id="47" idx="2"/>
            </p:cNvCxnSpPr>
            <p:nvPr/>
          </p:nvCxnSpPr>
          <p:spPr>
            <a:xfrm flipV="1">
              <a:off x="6491329" y="3926182"/>
              <a:ext cx="3873375" cy="1006443"/>
            </a:xfrm>
            <a:prstGeom prst="line">
              <a:avLst/>
            </a:prstGeom>
          </p:spPr>
          <p:style>
            <a:lnRef idx="1">
              <a:schemeClr val="accent1"/>
            </a:lnRef>
            <a:fillRef idx="0">
              <a:schemeClr val="accent1"/>
            </a:fillRef>
            <a:effectRef idx="0">
              <a:schemeClr val="accent1"/>
            </a:effectRef>
            <a:fontRef idx="minor">
              <a:schemeClr val="tx1"/>
            </a:fontRef>
          </p:style>
        </p:cxnSp>
        <p:cxnSp>
          <p:nvCxnSpPr>
            <p:cNvPr id="68" name="Straight Connector 67">
              <a:extLst>
                <a:ext uri="{FF2B5EF4-FFF2-40B4-BE49-F238E27FC236}">
                  <a16:creationId xmlns:a16="http://schemas.microsoft.com/office/drawing/2014/main" id="{4FE57D6D-13AF-0342-89C5-5F69D1248FB7}"/>
                </a:ext>
              </a:extLst>
            </p:cNvPr>
            <p:cNvCxnSpPr>
              <a:cxnSpLocks/>
              <a:stCxn id="44" idx="6"/>
              <a:endCxn id="49" idx="2"/>
            </p:cNvCxnSpPr>
            <p:nvPr/>
          </p:nvCxnSpPr>
          <p:spPr>
            <a:xfrm>
              <a:off x="6491329" y="4932625"/>
              <a:ext cx="3873375" cy="1000409"/>
            </a:xfrm>
            <a:prstGeom prst="line">
              <a:avLst/>
            </a:prstGeom>
            <a:ln w="28575">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70" name="Straight Connector 69">
              <a:extLst>
                <a:ext uri="{FF2B5EF4-FFF2-40B4-BE49-F238E27FC236}">
                  <a16:creationId xmlns:a16="http://schemas.microsoft.com/office/drawing/2014/main" id="{E3B437C9-654B-124E-886E-01BDB431CDA5}"/>
                </a:ext>
              </a:extLst>
            </p:cNvPr>
            <p:cNvCxnSpPr>
              <a:cxnSpLocks/>
              <a:stCxn id="45" idx="6"/>
              <a:endCxn id="51" idx="4"/>
            </p:cNvCxnSpPr>
            <p:nvPr/>
          </p:nvCxnSpPr>
          <p:spPr>
            <a:xfrm flipV="1">
              <a:off x="6491329" y="3183802"/>
              <a:ext cx="795196" cy="2752249"/>
            </a:xfrm>
            <a:prstGeom prst="line">
              <a:avLst/>
            </a:prstGeom>
          </p:spPr>
          <p:style>
            <a:lnRef idx="1">
              <a:schemeClr val="accent1"/>
            </a:lnRef>
            <a:fillRef idx="0">
              <a:schemeClr val="accent1"/>
            </a:fillRef>
            <a:effectRef idx="0">
              <a:schemeClr val="accent1"/>
            </a:effectRef>
            <a:fontRef idx="minor">
              <a:schemeClr val="tx1"/>
            </a:fontRef>
          </p:style>
        </p:cxnSp>
        <p:cxnSp>
          <p:nvCxnSpPr>
            <p:cNvPr id="71" name="Straight Connector 70">
              <a:extLst>
                <a:ext uri="{FF2B5EF4-FFF2-40B4-BE49-F238E27FC236}">
                  <a16:creationId xmlns:a16="http://schemas.microsoft.com/office/drawing/2014/main" id="{E2C6CA3B-A420-8549-A435-9D7B23502B8F}"/>
                </a:ext>
              </a:extLst>
            </p:cNvPr>
            <p:cNvCxnSpPr>
              <a:cxnSpLocks/>
              <a:stCxn id="45" idx="6"/>
              <a:endCxn id="52" idx="4"/>
            </p:cNvCxnSpPr>
            <p:nvPr/>
          </p:nvCxnSpPr>
          <p:spPr>
            <a:xfrm flipV="1">
              <a:off x="6491329" y="3183802"/>
              <a:ext cx="1961585" cy="2752249"/>
            </a:xfrm>
            <a:prstGeom prst="line">
              <a:avLst/>
            </a:prstGeom>
          </p:spPr>
          <p:style>
            <a:lnRef idx="1">
              <a:schemeClr val="accent1"/>
            </a:lnRef>
            <a:fillRef idx="0">
              <a:schemeClr val="accent1"/>
            </a:fillRef>
            <a:effectRef idx="0">
              <a:schemeClr val="accent1"/>
            </a:effectRef>
            <a:fontRef idx="minor">
              <a:schemeClr val="tx1"/>
            </a:fontRef>
          </p:style>
        </p:cxnSp>
        <p:cxnSp>
          <p:nvCxnSpPr>
            <p:cNvPr id="73" name="Straight Connector 72">
              <a:extLst>
                <a:ext uri="{FF2B5EF4-FFF2-40B4-BE49-F238E27FC236}">
                  <a16:creationId xmlns:a16="http://schemas.microsoft.com/office/drawing/2014/main" id="{FC853D32-B240-A348-A892-11476C0160F2}"/>
                </a:ext>
              </a:extLst>
            </p:cNvPr>
            <p:cNvCxnSpPr>
              <a:cxnSpLocks/>
              <a:stCxn id="45" idx="6"/>
              <a:endCxn id="47" idx="2"/>
            </p:cNvCxnSpPr>
            <p:nvPr/>
          </p:nvCxnSpPr>
          <p:spPr>
            <a:xfrm flipV="1">
              <a:off x="6491329" y="3926182"/>
              <a:ext cx="3873375" cy="2009869"/>
            </a:xfrm>
            <a:prstGeom prst="line">
              <a:avLst/>
            </a:prstGeom>
          </p:spPr>
          <p:style>
            <a:lnRef idx="1">
              <a:schemeClr val="accent1"/>
            </a:lnRef>
            <a:fillRef idx="0">
              <a:schemeClr val="accent1"/>
            </a:fillRef>
            <a:effectRef idx="0">
              <a:schemeClr val="accent1"/>
            </a:effectRef>
            <a:fontRef idx="minor">
              <a:schemeClr val="tx1"/>
            </a:fontRef>
          </p:style>
        </p:cxnSp>
        <p:cxnSp>
          <p:nvCxnSpPr>
            <p:cNvPr id="74" name="Straight Connector 73">
              <a:extLst>
                <a:ext uri="{FF2B5EF4-FFF2-40B4-BE49-F238E27FC236}">
                  <a16:creationId xmlns:a16="http://schemas.microsoft.com/office/drawing/2014/main" id="{930FF65D-995E-FD43-8B07-C32586C105C6}"/>
                </a:ext>
              </a:extLst>
            </p:cNvPr>
            <p:cNvCxnSpPr>
              <a:cxnSpLocks/>
              <a:stCxn id="45" idx="6"/>
              <a:endCxn id="48" idx="2"/>
            </p:cNvCxnSpPr>
            <p:nvPr/>
          </p:nvCxnSpPr>
          <p:spPr>
            <a:xfrm flipV="1">
              <a:off x="6491329" y="4929608"/>
              <a:ext cx="3873375" cy="1006443"/>
            </a:xfrm>
            <a:prstGeom prst="line">
              <a:avLst/>
            </a:prstGeom>
          </p:spPr>
          <p:style>
            <a:lnRef idx="1">
              <a:schemeClr val="accent1"/>
            </a:lnRef>
            <a:fillRef idx="0">
              <a:schemeClr val="accent1"/>
            </a:fillRef>
            <a:effectRef idx="0">
              <a:schemeClr val="accent1"/>
            </a:effectRef>
            <a:fontRef idx="minor">
              <a:schemeClr val="tx1"/>
            </a:fontRef>
          </p:style>
        </p:cxnSp>
        <p:cxnSp>
          <p:nvCxnSpPr>
            <p:cNvPr id="76" name="Straight Connector 75">
              <a:extLst>
                <a:ext uri="{FF2B5EF4-FFF2-40B4-BE49-F238E27FC236}">
                  <a16:creationId xmlns:a16="http://schemas.microsoft.com/office/drawing/2014/main" id="{695C104D-C8D5-2445-B1BE-1F001C418614}"/>
                </a:ext>
              </a:extLst>
            </p:cNvPr>
            <p:cNvCxnSpPr>
              <a:cxnSpLocks/>
              <a:stCxn id="48" idx="2"/>
              <a:endCxn id="51" idx="4"/>
            </p:cNvCxnSpPr>
            <p:nvPr/>
          </p:nvCxnSpPr>
          <p:spPr>
            <a:xfrm flipH="1" flipV="1">
              <a:off x="7286525" y="3183802"/>
              <a:ext cx="3078179" cy="1745806"/>
            </a:xfrm>
            <a:prstGeom prst="line">
              <a:avLst/>
            </a:prstGeom>
          </p:spPr>
          <p:style>
            <a:lnRef idx="1">
              <a:schemeClr val="accent1"/>
            </a:lnRef>
            <a:fillRef idx="0">
              <a:schemeClr val="accent1"/>
            </a:fillRef>
            <a:effectRef idx="0">
              <a:schemeClr val="accent1"/>
            </a:effectRef>
            <a:fontRef idx="minor">
              <a:schemeClr val="tx1"/>
            </a:fontRef>
          </p:style>
        </p:cxnSp>
        <p:cxnSp>
          <p:nvCxnSpPr>
            <p:cNvPr id="77" name="Straight Connector 76">
              <a:extLst>
                <a:ext uri="{FF2B5EF4-FFF2-40B4-BE49-F238E27FC236}">
                  <a16:creationId xmlns:a16="http://schemas.microsoft.com/office/drawing/2014/main" id="{DD61B95F-3EA8-3340-A6EA-3148ECF23B82}"/>
                </a:ext>
              </a:extLst>
            </p:cNvPr>
            <p:cNvCxnSpPr>
              <a:cxnSpLocks/>
              <a:stCxn id="49" idx="2"/>
              <a:endCxn id="51" idx="4"/>
            </p:cNvCxnSpPr>
            <p:nvPr/>
          </p:nvCxnSpPr>
          <p:spPr>
            <a:xfrm flipH="1" flipV="1">
              <a:off x="7286525" y="3183802"/>
              <a:ext cx="3078179" cy="2749232"/>
            </a:xfrm>
            <a:prstGeom prst="line">
              <a:avLst/>
            </a:prstGeom>
            <a:ln w="28575">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79" name="Straight Connector 78">
              <a:extLst>
                <a:ext uri="{FF2B5EF4-FFF2-40B4-BE49-F238E27FC236}">
                  <a16:creationId xmlns:a16="http://schemas.microsoft.com/office/drawing/2014/main" id="{D992932D-02F0-8643-BD52-D69EEF26986F}"/>
                </a:ext>
              </a:extLst>
            </p:cNvPr>
            <p:cNvCxnSpPr>
              <a:cxnSpLocks/>
              <a:stCxn id="47" idx="2"/>
              <a:endCxn id="52" idx="4"/>
            </p:cNvCxnSpPr>
            <p:nvPr/>
          </p:nvCxnSpPr>
          <p:spPr>
            <a:xfrm flipH="1" flipV="1">
              <a:off x="8452914" y="3183802"/>
              <a:ext cx="1911790" cy="742380"/>
            </a:xfrm>
            <a:prstGeom prst="line">
              <a:avLst/>
            </a:prstGeom>
          </p:spPr>
          <p:style>
            <a:lnRef idx="1">
              <a:schemeClr val="accent1"/>
            </a:lnRef>
            <a:fillRef idx="0">
              <a:schemeClr val="accent1"/>
            </a:fillRef>
            <a:effectRef idx="0">
              <a:schemeClr val="accent1"/>
            </a:effectRef>
            <a:fontRef idx="minor">
              <a:schemeClr val="tx1"/>
            </a:fontRef>
          </p:style>
        </p:cxnSp>
        <p:cxnSp>
          <p:nvCxnSpPr>
            <p:cNvPr id="80" name="Straight Connector 79">
              <a:extLst>
                <a:ext uri="{FF2B5EF4-FFF2-40B4-BE49-F238E27FC236}">
                  <a16:creationId xmlns:a16="http://schemas.microsoft.com/office/drawing/2014/main" id="{FAE71D92-3FA9-5746-A9E2-E9F585FA5071}"/>
                </a:ext>
              </a:extLst>
            </p:cNvPr>
            <p:cNvCxnSpPr>
              <a:cxnSpLocks/>
              <a:stCxn id="48" idx="2"/>
              <a:endCxn id="52" idx="4"/>
            </p:cNvCxnSpPr>
            <p:nvPr/>
          </p:nvCxnSpPr>
          <p:spPr>
            <a:xfrm flipH="1" flipV="1">
              <a:off x="8452914" y="3183802"/>
              <a:ext cx="1911790" cy="1745806"/>
            </a:xfrm>
            <a:prstGeom prst="line">
              <a:avLst/>
            </a:prstGeom>
          </p:spPr>
          <p:style>
            <a:lnRef idx="1">
              <a:schemeClr val="accent1"/>
            </a:lnRef>
            <a:fillRef idx="0">
              <a:schemeClr val="accent1"/>
            </a:fillRef>
            <a:effectRef idx="0">
              <a:schemeClr val="accent1"/>
            </a:effectRef>
            <a:fontRef idx="minor">
              <a:schemeClr val="tx1"/>
            </a:fontRef>
          </p:style>
        </p:cxnSp>
        <p:cxnSp>
          <p:nvCxnSpPr>
            <p:cNvPr id="82" name="Straight Connector 81">
              <a:extLst>
                <a:ext uri="{FF2B5EF4-FFF2-40B4-BE49-F238E27FC236}">
                  <a16:creationId xmlns:a16="http://schemas.microsoft.com/office/drawing/2014/main" id="{B394F35E-5123-334F-926D-5BAF779E18EC}"/>
                </a:ext>
              </a:extLst>
            </p:cNvPr>
            <p:cNvCxnSpPr>
              <a:cxnSpLocks/>
              <a:stCxn id="49" idx="2"/>
              <a:endCxn id="52" idx="4"/>
            </p:cNvCxnSpPr>
            <p:nvPr/>
          </p:nvCxnSpPr>
          <p:spPr>
            <a:xfrm flipH="1" flipV="1">
              <a:off x="8452914" y="3183802"/>
              <a:ext cx="1911790" cy="2749232"/>
            </a:xfrm>
            <a:prstGeom prst="line">
              <a:avLst/>
            </a:prstGeom>
          </p:spPr>
          <p:style>
            <a:lnRef idx="1">
              <a:schemeClr val="accent1"/>
            </a:lnRef>
            <a:fillRef idx="0">
              <a:schemeClr val="accent1"/>
            </a:fillRef>
            <a:effectRef idx="0">
              <a:schemeClr val="accent1"/>
            </a:effectRef>
            <a:fontRef idx="minor">
              <a:schemeClr val="tx1"/>
            </a:fontRef>
          </p:style>
        </p:cxnSp>
        <p:cxnSp>
          <p:nvCxnSpPr>
            <p:cNvPr id="83" name="Straight Connector 82">
              <a:extLst>
                <a:ext uri="{FF2B5EF4-FFF2-40B4-BE49-F238E27FC236}">
                  <a16:creationId xmlns:a16="http://schemas.microsoft.com/office/drawing/2014/main" id="{4A4B6B3D-C261-0C49-86B3-9CC4BA86F15C}"/>
                </a:ext>
              </a:extLst>
            </p:cNvPr>
            <p:cNvCxnSpPr>
              <a:cxnSpLocks/>
              <a:stCxn id="47" idx="2"/>
              <a:endCxn id="54" idx="4"/>
            </p:cNvCxnSpPr>
            <p:nvPr/>
          </p:nvCxnSpPr>
          <p:spPr>
            <a:xfrm flipH="1" flipV="1">
              <a:off x="9619303" y="3183802"/>
              <a:ext cx="745401" cy="742380"/>
            </a:xfrm>
            <a:prstGeom prst="line">
              <a:avLst/>
            </a:prstGeom>
          </p:spPr>
          <p:style>
            <a:lnRef idx="1">
              <a:schemeClr val="accent1"/>
            </a:lnRef>
            <a:fillRef idx="0">
              <a:schemeClr val="accent1"/>
            </a:fillRef>
            <a:effectRef idx="0">
              <a:schemeClr val="accent1"/>
            </a:effectRef>
            <a:fontRef idx="minor">
              <a:schemeClr val="tx1"/>
            </a:fontRef>
          </p:style>
        </p:cxnSp>
        <p:cxnSp>
          <p:nvCxnSpPr>
            <p:cNvPr id="85" name="Straight Connector 84">
              <a:extLst>
                <a:ext uri="{FF2B5EF4-FFF2-40B4-BE49-F238E27FC236}">
                  <a16:creationId xmlns:a16="http://schemas.microsoft.com/office/drawing/2014/main" id="{5F3AC2C9-C8AE-514C-AD21-93A3DA3F0C16}"/>
                </a:ext>
              </a:extLst>
            </p:cNvPr>
            <p:cNvCxnSpPr>
              <a:cxnSpLocks/>
              <a:stCxn id="48" idx="2"/>
              <a:endCxn id="54" idx="4"/>
            </p:cNvCxnSpPr>
            <p:nvPr/>
          </p:nvCxnSpPr>
          <p:spPr>
            <a:xfrm flipH="1" flipV="1">
              <a:off x="9619303" y="3183802"/>
              <a:ext cx="745401" cy="1745806"/>
            </a:xfrm>
            <a:prstGeom prst="line">
              <a:avLst/>
            </a:prstGeom>
          </p:spPr>
          <p:style>
            <a:lnRef idx="1">
              <a:schemeClr val="accent1"/>
            </a:lnRef>
            <a:fillRef idx="0">
              <a:schemeClr val="accent1"/>
            </a:fillRef>
            <a:effectRef idx="0">
              <a:schemeClr val="accent1"/>
            </a:effectRef>
            <a:fontRef idx="minor">
              <a:schemeClr val="tx1"/>
            </a:fontRef>
          </p:style>
        </p:cxnSp>
        <p:cxnSp>
          <p:nvCxnSpPr>
            <p:cNvPr id="86" name="Straight Connector 85">
              <a:extLst>
                <a:ext uri="{FF2B5EF4-FFF2-40B4-BE49-F238E27FC236}">
                  <a16:creationId xmlns:a16="http://schemas.microsoft.com/office/drawing/2014/main" id="{86C0B03D-BB65-524B-8822-D9B1AC15EB10}"/>
                </a:ext>
              </a:extLst>
            </p:cNvPr>
            <p:cNvCxnSpPr>
              <a:cxnSpLocks/>
              <a:stCxn id="49" idx="2"/>
              <a:endCxn id="54" idx="4"/>
            </p:cNvCxnSpPr>
            <p:nvPr/>
          </p:nvCxnSpPr>
          <p:spPr>
            <a:xfrm flipH="1" flipV="1">
              <a:off x="9619303" y="3183802"/>
              <a:ext cx="745401" cy="2749232"/>
            </a:xfrm>
            <a:prstGeom prst="line">
              <a:avLst/>
            </a:prstGeom>
          </p:spPr>
          <p:style>
            <a:lnRef idx="1">
              <a:schemeClr val="accent1"/>
            </a:lnRef>
            <a:fillRef idx="0">
              <a:schemeClr val="accent1"/>
            </a:fillRef>
            <a:effectRef idx="0">
              <a:schemeClr val="accent1"/>
            </a:effectRef>
            <a:fontRef idx="minor">
              <a:schemeClr val="tx1"/>
            </a:fontRef>
          </p:style>
        </p:cxnSp>
        <p:sp>
          <p:nvSpPr>
            <p:cNvPr id="87" name="Content Placeholder 2">
              <a:extLst>
                <a:ext uri="{FF2B5EF4-FFF2-40B4-BE49-F238E27FC236}">
                  <a16:creationId xmlns:a16="http://schemas.microsoft.com/office/drawing/2014/main" id="{8BFB02D9-9E57-C240-8FC2-971E5E22AA16}"/>
                </a:ext>
              </a:extLst>
            </p:cNvPr>
            <p:cNvSpPr txBox="1">
              <a:spLocks/>
            </p:cNvSpPr>
            <p:nvPr/>
          </p:nvSpPr>
          <p:spPr>
            <a:xfrm>
              <a:off x="10514088" y="2907814"/>
              <a:ext cx="655694" cy="478637"/>
            </a:xfrm>
            <a:prstGeom prst="rect">
              <a:avLst/>
            </a:prstGeom>
            <a:ln>
              <a:noFill/>
            </a:ln>
          </p:spPr>
          <p:txBody>
            <a:bodyPr vert="horz" lIns="91440" tIns="45720" rIns="91440" bIns="45720" rtlCol="0">
              <a:normAutofit fontScale="925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i="1" dirty="0">
                  <a:solidFill>
                    <a:schemeClr val="accent1"/>
                  </a:solidFill>
                </a:rPr>
                <a:t>k=3</a:t>
              </a:r>
            </a:p>
          </p:txBody>
        </p:sp>
      </p:grpSp>
    </p:spTree>
    <p:extLst>
      <p:ext uri="{BB962C8B-B14F-4D97-AF65-F5344CB8AC3E}">
        <p14:creationId xmlns:p14="http://schemas.microsoft.com/office/powerpoint/2010/main" val="3958582313"/>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p:cNvSpPr>
                <a:spLocks noGrp="1"/>
              </p:cNvSpPr>
              <p:nvPr>
                <p:ph type="title"/>
              </p:nvPr>
            </p:nvSpPr>
            <p:spPr>
              <a:xfrm>
                <a:off x="1141413" y="274490"/>
                <a:ext cx="9905998" cy="612753"/>
              </a:xfrm>
            </p:spPr>
            <p:txBody>
              <a:bodyPr>
                <a:normAutofit fontScale="90000"/>
              </a:bodyPr>
              <a:lstStyle/>
              <a:p>
                <a:pPr algn="ctr"/>
                <a14:m>
                  <m:oMath xmlns:m="http://schemas.openxmlformats.org/officeDocument/2006/math">
                    <m:r>
                      <a:rPr lang="en-US" b="0" i="1" smtClean="0">
                        <a:latin typeface="Cambria Math" panose="02040503050406030204" pitchFamily="18" charset="0"/>
                      </a:rPr>
                      <m:t>3</m:t>
                    </m:r>
                    <m:r>
                      <a:rPr lang="en-US" b="0" i="1" smtClean="0">
                        <a:latin typeface="Cambria Math" panose="02040503050406030204" pitchFamily="18" charset="0"/>
                      </a:rPr>
                      <m:t>𝑆𝐴𝑇</m:t>
                    </m:r>
                    <m:sSub>
                      <m:sSubPr>
                        <m:ctrlPr>
                          <a:rPr lang="en-US" b="0" i="1" smtClean="0">
                            <a:latin typeface="Cambria Math" panose="02040503050406030204" pitchFamily="18" charset="0"/>
                          </a:rPr>
                        </m:ctrlPr>
                      </m:sSubPr>
                      <m:e>
                        <m:r>
                          <a:rPr lang="en-US" b="0" i="1" smtClean="0">
                            <a:latin typeface="Cambria Math" panose="02040503050406030204" pitchFamily="18" charset="0"/>
                          </a:rPr>
                          <m:t>≤</m:t>
                        </m:r>
                      </m:e>
                      <m:sub>
                        <m:r>
                          <a:rPr lang="en-US" b="0" i="1" smtClean="0">
                            <a:latin typeface="Cambria Math" panose="02040503050406030204" pitchFamily="18" charset="0"/>
                          </a:rPr>
                          <m:t>𝑝</m:t>
                        </m:r>
                      </m:sub>
                    </m:sSub>
                    <m:r>
                      <a:rPr lang="en-US" b="0" i="1" smtClean="0">
                        <a:latin typeface="Cambria Math" panose="02040503050406030204" pitchFamily="18" charset="0"/>
                      </a:rPr>
                      <m:t>𝐶𝑙𝑖𝑞𝑢𝑒</m:t>
                    </m:r>
                  </m:oMath>
                </a14:m>
                <a:r>
                  <a:rPr lang="en-US" dirty="0"/>
                  <a:t>, Proof</a:t>
                </a:r>
              </a:p>
            </p:txBody>
          </p:sp>
        </mc:Choice>
        <mc:Fallback xmlns="">
          <p:sp>
            <p:nvSpPr>
              <p:cNvPr id="2" name="Title 1"/>
              <p:cNvSpPr>
                <a:spLocks noGrp="1" noRot="1" noChangeAspect="1" noMove="1" noResize="1" noEditPoints="1" noAdjustHandles="1" noChangeArrowheads="1" noChangeShapeType="1" noTextEdit="1"/>
              </p:cNvSpPr>
              <p:nvPr>
                <p:ph type="title"/>
              </p:nvPr>
            </p:nvSpPr>
            <p:spPr>
              <a:xfrm>
                <a:off x="1141413" y="274490"/>
                <a:ext cx="9905998" cy="612753"/>
              </a:xfrm>
              <a:blipFill>
                <a:blip r:embed="rId2"/>
                <a:stretch>
                  <a:fillRect t="-16327" b="-2040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Content Placeholder 2"/>
              <p:cNvSpPr>
                <a:spLocks noGrp="1"/>
              </p:cNvSpPr>
              <p:nvPr>
                <p:ph sz="quarter" idx="1"/>
              </p:nvPr>
            </p:nvSpPr>
            <p:spPr>
              <a:xfrm>
                <a:off x="7668898" y="1366507"/>
                <a:ext cx="3653159" cy="1503170"/>
              </a:xfrm>
              <a:ln>
                <a:solidFill>
                  <a:schemeClr val="tx1">
                    <a:lumMod val="95000"/>
                  </a:schemeClr>
                </a:solidFill>
              </a:ln>
            </p:spPr>
            <p:txBody>
              <a:bodyPr>
                <a:normAutofit/>
              </a:bodyPr>
              <a:lstStyle/>
              <a:p>
                <a:pPr marL="0" indent="0" algn="ctr">
                  <a:buNone/>
                </a:pPr>
                <a:r>
                  <a:rPr lang="en-US" b="1" i="1" u="sng" dirty="0"/>
                  <a:t>Direction 1</a:t>
                </a:r>
                <a:r>
                  <a:rPr lang="en-US" i="1" dirty="0"/>
                  <a:t>:</a:t>
                </a:r>
                <a:br>
                  <a:rPr lang="en-US" i="1" dirty="0"/>
                </a:br>
                <a14:m>
                  <m:oMath xmlns:m="http://schemas.openxmlformats.org/officeDocument/2006/math">
                    <m:r>
                      <a:rPr lang="en-US" b="0" i="1" smtClean="0">
                        <a:latin typeface="Cambria Math" panose="02040503050406030204" pitchFamily="18" charset="0"/>
                      </a:rPr>
                      <m:t>𝜃</m:t>
                    </m:r>
                  </m:oMath>
                </a14:m>
                <a:r>
                  <a:rPr lang="en-US" i="1" dirty="0"/>
                  <a:t> is satisfiable </a:t>
                </a:r>
                <a:r>
                  <a:rPr lang="en-US" i="1" dirty="0">
                    <a:sym typeface="Wingdings" pitchFamily="2" charset="2"/>
                  </a:rPr>
                  <a:t></a:t>
                </a:r>
                <a:r>
                  <a:rPr lang="en-US" i="1" dirty="0"/>
                  <a:t> G contains a clique of size k</a:t>
                </a:r>
              </a:p>
            </p:txBody>
          </p:sp>
        </mc:Choice>
        <mc:Fallback xmlns="">
          <p:sp>
            <p:nvSpPr>
              <p:cNvPr id="3" name="Content Placeholder 2"/>
              <p:cNvSpPr>
                <a:spLocks noGrp="1" noRot="1" noChangeAspect="1" noMove="1" noResize="1" noEditPoints="1" noAdjustHandles="1" noChangeArrowheads="1" noChangeShapeType="1" noTextEdit="1"/>
              </p:cNvSpPr>
              <p:nvPr>
                <p:ph sz="quarter" idx="1"/>
              </p:nvPr>
            </p:nvSpPr>
            <p:spPr>
              <a:xfrm>
                <a:off x="7668898" y="1366507"/>
                <a:ext cx="3653159" cy="1503170"/>
              </a:xfrm>
              <a:blipFill>
                <a:blip r:embed="rId3"/>
                <a:stretch>
                  <a:fillRect t="-1681" r="-3103"/>
                </a:stretch>
              </a:blipFill>
              <a:ln>
                <a:solidFill>
                  <a:schemeClr val="tx1">
                    <a:lumMod val="95000"/>
                  </a:schemeClr>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Content Placeholder 2">
                <a:extLst>
                  <a:ext uri="{FF2B5EF4-FFF2-40B4-BE49-F238E27FC236}">
                    <a16:creationId xmlns:a16="http://schemas.microsoft.com/office/drawing/2014/main" id="{E8FD7EC5-F759-3443-A400-8D08882410D9}"/>
                  </a:ext>
                </a:extLst>
              </p:cNvPr>
              <p:cNvSpPr txBox="1">
                <a:spLocks/>
              </p:cNvSpPr>
              <p:nvPr/>
            </p:nvSpPr>
            <p:spPr>
              <a:xfrm>
                <a:off x="516721" y="1366507"/>
                <a:ext cx="6771310" cy="598099"/>
              </a:xfrm>
              <a:prstGeom prst="rect">
                <a:avLst/>
              </a:prstGeom>
              <a:solidFill>
                <a:schemeClr val="tx1">
                  <a:lumMod val="95000"/>
                </a:schemeClr>
              </a:solidFill>
              <a:ln>
                <a:solidFill>
                  <a:schemeClr val="bg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None/>
                </a:pPr>
                <a14:m>
                  <m:oMathPara xmlns:m="http://schemas.openxmlformats.org/officeDocument/2006/math">
                    <m:oMathParaPr>
                      <m:jc m:val="centerGroup"/>
                    </m:oMathParaPr>
                    <m:oMath xmlns:m="http://schemas.openxmlformats.org/officeDocument/2006/math">
                      <m:r>
                        <a:rPr lang="en-US" b="0" i="1" smtClean="0">
                          <a:solidFill>
                            <a:schemeClr val="bg1"/>
                          </a:solidFill>
                          <a:latin typeface="Cambria Math" panose="02040503050406030204" pitchFamily="18" charset="0"/>
                        </a:rPr>
                        <m:t>𝜃</m:t>
                      </m:r>
                      <m:r>
                        <a:rPr lang="en-US" b="0" i="1" smtClean="0">
                          <a:solidFill>
                            <a:schemeClr val="bg1"/>
                          </a:solidFill>
                          <a:latin typeface="Cambria Math" panose="02040503050406030204" pitchFamily="18" charset="0"/>
                        </a:rPr>
                        <m:t>=</m:t>
                      </m:r>
                      <m:d>
                        <m:dPr>
                          <m:ctrlPr>
                            <a:rPr lang="en-US" b="0" i="1" smtClean="0">
                              <a:solidFill>
                                <a:schemeClr val="bg1"/>
                              </a:solidFill>
                              <a:latin typeface="Cambria Math" panose="02040503050406030204" pitchFamily="18" charset="0"/>
                            </a:rPr>
                          </m:ctrlPr>
                        </m:dPr>
                        <m:e>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𝑥</m:t>
                              </m:r>
                            </m:e>
                            <m:sub>
                              <m:r>
                                <a:rPr lang="en-US" b="0" i="1" smtClean="0">
                                  <a:solidFill>
                                    <a:schemeClr val="bg1"/>
                                  </a:solidFill>
                                  <a:latin typeface="Cambria Math" panose="02040503050406030204" pitchFamily="18" charset="0"/>
                                </a:rPr>
                                <m:t>1</m:t>
                              </m:r>
                            </m:sub>
                          </m:sSub>
                          <m:r>
                            <a:rPr lang="en-US" b="0" i="1" smtClean="0">
                              <a:solidFill>
                                <a:schemeClr val="bg1"/>
                              </a:solidFill>
                              <a:latin typeface="Cambria Math" panose="02040503050406030204" pitchFamily="18" charset="0"/>
                            </a:rPr>
                            <m:t>∨</m:t>
                          </m:r>
                          <m:acc>
                            <m:accPr>
                              <m:chr m:val="̅"/>
                              <m:ctrlPr>
                                <a:rPr lang="en-US" b="0" i="1" smtClean="0">
                                  <a:solidFill>
                                    <a:schemeClr val="bg1"/>
                                  </a:solidFill>
                                  <a:latin typeface="Cambria Math" panose="02040503050406030204" pitchFamily="18" charset="0"/>
                                </a:rPr>
                              </m:ctrlPr>
                            </m:accPr>
                            <m:e>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𝑥</m:t>
                                  </m:r>
                                </m:e>
                                <m:sub>
                                  <m:r>
                                    <a:rPr lang="en-US" b="0" i="1" smtClean="0">
                                      <a:solidFill>
                                        <a:schemeClr val="bg1"/>
                                      </a:solidFill>
                                      <a:latin typeface="Cambria Math" panose="02040503050406030204" pitchFamily="18" charset="0"/>
                                    </a:rPr>
                                    <m:t>2</m:t>
                                  </m:r>
                                </m:sub>
                              </m:sSub>
                            </m:e>
                          </m:acc>
                          <m:r>
                            <a:rPr lang="en-US" b="0" i="1" smtClean="0">
                              <a:solidFill>
                                <a:schemeClr val="bg1"/>
                              </a:solidFill>
                              <a:latin typeface="Cambria Math" panose="02040503050406030204" pitchFamily="18" charset="0"/>
                            </a:rPr>
                            <m:t>∨</m:t>
                          </m:r>
                          <m:acc>
                            <m:accPr>
                              <m:chr m:val="̅"/>
                              <m:ctrlPr>
                                <a:rPr lang="en-US" b="0" i="1" smtClean="0">
                                  <a:solidFill>
                                    <a:schemeClr val="bg1"/>
                                  </a:solidFill>
                                  <a:latin typeface="Cambria Math" panose="02040503050406030204" pitchFamily="18" charset="0"/>
                                </a:rPr>
                              </m:ctrlPr>
                            </m:accPr>
                            <m:e>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𝑥</m:t>
                                  </m:r>
                                </m:e>
                                <m:sub>
                                  <m:r>
                                    <a:rPr lang="en-US" b="0" i="1" smtClean="0">
                                      <a:solidFill>
                                        <a:schemeClr val="bg1"/>
                                      </a:solidFill>
                                      <a:latin typeface="Cambria Math" panose="02040503050406030204" pitchFamily="18" charset="0"/>
                                    </a:rPr>
                                    <m:t>3</m:t>
                                  </m:r>
                                </m:sub>
                              </m:sSub>
                            </m:e>
                          </m:acc>
                        </m:e>
                      </m:d>
                      <m:r>
                        <a:rPr lang="en-US" b="0" i="1" smtClean="0">
                          <a:solidFill>
                            <a:schemeClr val="bg1"/>
                          </a:solidFill>
                          <a:latin typeface="Cambria Math" panose="02040503050406030204" pitchFamily="18" charset="0"/>
                        </a:rPr>
                        <m:t>∧</m:t>
                      </m:r>
                      <m:d>
                        <m:dPr>
                          <m:ctrlPr>
                            <a:rPr lang="en-US" b="0" i="1" smtClean="0">
                              <a:solidFill>
                                <a:schemeClr val="bg1"/>
                              </a:solidFill>
                              <a:latin typeface="Cambria Math" panose="02040503050406030204" pitchFamily="18" charset="0"/>
                            </a:rPr>
                          </m:ctrlPr>
                        </m:dPr>
                        <m:e>
                          <m:acc>
                            <m:accPr>
                              <m:chr m:val="̅"/>
                              <m:ctrlPr>
                                <a:rPr lang="en-US" b="0" i="1" smtClean="0">
                                  <a:solidFill>
                                    <a:schemeClr val="bg1"/>
                                  </a:solidFill>
                                  <a:latin typeface="Cambria Math" panose="02040503050406030204" pitchFamily="18" charset="0"/>
                                </a:rPr>
                              </m:ctrlPr>
                            </m:accPr>
                            <m:e>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𝑥</m:t>
                                  </m:r>
                                </m:e>
                                <m:sub>
                                  <m:r>
                                    <a:rPr lang="en-US" b="0" i="1" smtClean="0">
                                      <a:solidFill>
                                        <a:schemeClr val="bg1"/>
                                      </a:solidFill>
                                      <a:latin typeface="Cambria Math" panose="02040503050406030204" pitchFamily="18" charset="0"/>
                                    </a:rPr>
                                    <m:t>1</m:t>
                                  </m:r>
                                </m:sub>
                              </m:sSub>
                            </m:e>
                          </m:acc>
                          <m:r>
                            <a:rPr lang="en-US" b="0" i="1" smtClean="0">
                              <a:solidFill>
                                <a:schemeClr val="bg1"/>
                              </a:solidFill>
                              <a:latin typeface="Cambria Math" panose="02040503050406030204" pitchFamily="18" charset="0"/>
                            </a:rPr>
                            <m:t>∨</m:t>
                          </m:r>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𝑥</m:t>
                              </m:r>
                            </m:e>
                            <m:sub>
                              <m:r>
                                <a:rPr lang="en-US" b="0" i="1" smtClean="0">
                                  <a:solidFill>
                                    <a:schemeClr val="bg1"/>
                                  </a:solidFill>
                                  <a:latin typeface="Cambria Math" panose="02040503050406030204" pitchFamily="18" charset="0"/>
                                </a:rPr>
                                <m:t>2</m:t>
                              </m:r>
                            </m:sub>
                          </m:sSub>
                          <m:r>
                            <a:rPr lang="en-US" b="0" i="1" smtClean="0">
                              <a:solidFill>
                                <a:schemeClr val="bg1"/>
                              </a:solidFill>
                              <a:latin typeface="Cambria Math" panose="02040503050406030204" pitchFamily="18" charset="0"/>
                            </a:rPr>
                            <m:t>∨</m:t>
                          </m:r>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𝑥</m:t>
                              </m:r>
                            </m:e>
                            <m:sub>
                              <m:r>
                                <a:rPr lang="en-US" b="0" i="1" smtClean="0">
                                  <a:solidFill>
                                    <a:schemeClr val="bg1"/>
                                  </a:solidFill>
                                  <a:latin typeface="Cambria Math" panose="02040503050406030204" pitchFamily="18" charset="0"/>
                                </a:rPr>
                                <m:t>3</m:t>
                              </m:r>
                            </m:sub>
                          </m:sSub>
                        </m:e>
                      </m:d>
                      <m:r>
                        <a:rPr lang="en-US" b="0" i="1" smtClean="0">
                          <a:solidFill>
                            <a:schemeClr val="bg1"/>
                          </a:solidFill>
                          <a:latin typeface="Cambria Math" panose="02040503050406030204" pitchFamily="18" charset="0"/>
                        </a:rPr>
                        <m:t>∧(</m:t>
                      </m:r>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𝑥</m:t>
                          </m:r>
                        </m:e>
                        <m:sub>
                          <m:r>
                            <a:rPr lang="en-US" b="0" i="1" smtClean="0">
                              <a:solidFill>
                                <a:schemeClr val="bg1"/>
                              </a:solidFill>
                              <a:latin typeface="Cambria Math" panose="02040503050406030204" pitchFamily="18" charset="0"/>
                            </a:rPr>
                            <m:t>1</m:t>
                          </m:r>
                        </m:sub>
                      </m:sSub>
                      <m:r>
                        <a:rPr lang="en-US" b="0" i="1" smtClean="0">
                          <a:solidFill>
                            <a:schemeClr val="bg1"/>
                          </a:solidFill>
                          <a:latin typeface="Cambria Math" panose="02040503050406030204" pitchFamily="18" charset="0"/>
                        </a:rPr>
                        <m:t>∨</m:t>
                      </m:r>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𝑥</m:t>
                          </m:r>
                        </m:e>
                        <m:sub>
                          <m:r>
                            <a:rPr lang="en-US" b="0" i="1" smtClean="0">
                              <a:solidFill>
                                <a:schemeClr val="bg1"/>
                              </a:solidFill>
                              <a:latin typeface="Cambria Math" panose="02040503050406030204" pitchFamily="18" charset="0"/>
                            </a:rPr>
                            <m:t>2</m:t>
                          </m:r>
                        </m:sub>
                      </m:sSub>
                      <m:r>
                        <a:rPr lang="en-US" b="0" i="1" smtClean="0">
                          <a:solidFill>
                            <a:schemeClr val="bg1"/>
                          </a:solidFill>
                          <a:latin typeface="Cambria Math" panose="02040503050406030204" pitchFamily="18" charset="0"/>
                        </a:rPr>
                        <m:t>∨</m:t>
                      </m:r>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𝑥</m:t>
                          </m:r>
                        </m:e>
                        <m:sub>
                          <m:r>
                            <a:rPr lang="en-US" b="0" i="1" smtClean="0">
                              <a:solidFill>
                                <a:schemeClr val="bg1"/>
                              </a:solidFill>
                              <a:latin typeface="Cambria Math" panose="02040503050406030204" pitchFamily="18" charset="0"/>
                            </a:rPr>
                            <m:t>3</m:t>
                          </m:r>
                        </m:sub>
                      </m:sSub>
                      <m:r>
                        <a:rPr lang="en-US" b="0" i="1" smtClean="0">
                          <a:solidFill>
                            <a:schemeClr val="bg1"/>
                          </a:solidFill>
                          <a:latin typeface="Cambria Math" panose="02040503050406030204" pitchFamily="18" charset="0"/>
                        </a:rPr>
                        <m:t>)</m:t>
                      </m:r>
                    </m:oMath>
                  </m:oMathPara>
                </a14:m>
                <a:endParaRPr lang="en-US" dirty="0">
                  <a:solidFill>
                    <a:schemeClr val="bg1"/>
                  </a:solidFill>
                </a:endParaRPr>
              </a:p>
            </p:txBody>
          </p:sp>
        </mc:Choice>
        <mc:Fallback xmlns="">
          <p:sp>
            <p:nvSpPr>
              <p:cNvPr id="5" name="Content Placeholder 2">
                <a:extLst>
                  <a:ext uri="{FF2B5EF4-FFF2-40B4-BE49-F238E27FC236}">
                    <a16:creationId xmlns:a16="http://schemas.microsoft.com/office/drawing/2014/main" id="{E8FD7EC5-F759-3443-A400-8D08882410D9}"/>
                  </a:ext>
                </a:extLst>
              </p:cNvPr>
              <p:cNvSpPr txBox="1">
                <a:spLocks noRot="1" noChangeAspect="1" noMove="1" noResize="1" noEditPoints="1" noAdjustHandles="1" noChangeArrowheads="1" noChangeShapeType="1" noTextEdit="1"/>
              </p:cNvSpPr>
              <p:nvPr/>
            </p:nvSpPr>
            <p:spPr>
              <a:xfrm>
                <a:off x="516721" y="1366507"/>
                <a:ext cx="6771310" cy="598099"/>
              </a:xfrm>
              <a:prstGeom prst="rect">
                <a:avLst/>
              </a:prstGeom>
              <a:blipFill>
                <a:blip r:embed="rId4"/>
                <a:stretch>
                  <a:fillRect l="-374"/>
                </a:stretch>
              </a:blipFill>
              <a:ln>
                <a:solidFill>
                  <a:schemeClr val="bg1"/>
                </a:solidFill>
              </a:ln>
            </p:spPr>
            <p:txBody>
              <a:bodyPr/>
              <a:lstStyle/>
              <a:p>
                <a:r>
                  <a:rPr lang="en-US">
                    <a:noFill/>
                  </a:rPr>
                  <a:t> </a:t>
                </a:r>
              </a:p>
            </p:txBody>
          </p:sp>
        </mc:Fallback>
      </mc:AlternateContent>
      <p:sp>
        <p:nvSpPr>
          <p:cNvPr id="6" name="Content Placeholder 2">
            <a:extLst>
              <a:ext uri="{FF2B5EF4-FFF2-40B4-BE49-F238E27FC236}">
                <a16:creationId xmlns:a16="http://schemas.microsoft.com/office/drawing/2014/main" id="{FF448FEF-4075-E342-87D1-5ACB33834248}"/>
              </a:ext>
            </a:extLst>
          </p:cNvPr>
          <p:cNvSpPr txBox="1">
            <a:spLocks/>
          </p:cNvSpPr>
          <p:nvPr/>
        </p:nvSpPr>
        <p:spPr>
          <a:xfrm>
            <a:off x="516720" y="1046939"/>
            <a:ext cx="6771311" cy="356343"/>
          </a:xfrm>
          <a:prstGeom prst="rect">
            <a:avLst/>
          </a:prstGeom>
          <a:noFill/>
          <a:ln>
            <a:noFill/>
          </a:ln>
        </p:spPr>
        <p:txBody>
          <a:bodyPr vert="horz" lIns="91440" tIns="45720" rIns="91440" bIns="45720" rtlCol="0">
            <a:normAutofit fontScale="700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None/>
            </a:pPr>
            <a:r>
              <a:rPr lang="en-US" dirty="0">
                <a:solidFill>
                  <a:schemeClr val="tx1">
                    <a:lumMod val="95000"/>
                  </a:schemeClr>
                </a:solidFill>
              </a:rPr>
              <a:t>Consider this 3-SAT formula:</a:t>
            </a:r>
          </a:p>
        </p:txBody>
      </p:sp>
      <p:grpSp>
        <p:nvGrpSpPr>
          <p:cNvPr id="17" name="Group 16">
            <a:extLst>
              <a:ext uri="{FF2B5EF4-FFF2-40B4-BE49-F238E27FC236}">
                <a16:creationId xmlns:a16="http://schemas.microsoft.com/office/drawing/2014/main" id="{3906D9CC-3F1A-384E-894F-E2F7F41ED5EA}"/>
              </a:ext>
            </a:extLst>
          </p:cNvPr>
          <p:cNvGrpSpPr/>
          <p:nvPr/>
        </p:nvGrpSpPr>
        <p:grpSpPr>
          <a:xfrm>
            <a:off x="852441" y="2190944"/>
            <a:ext cx="5477346" cy="3974471"/>
            <a:chOff x="5739894" y="2471596"/>
            <a:chExt cx="5477346" cy="3974471"/>
          </a:xfrm>
        </p:grpSpPr>
        <mc:AlternateContent xmlns:mc="http://schemas.openxmlformats.org/markup-compatibility/2006" xmlns:a14="http://schemas.microsoft.com/office/drawing/2010/main">
          <mc:Choice Requires="a14">
            <p:sp>
              <p:nvSpPr>
                <p:cNvPr id="42" name="Oval 41">
                  <a:extLst>
                    <a:ext uri="{FF2B5EF4-FFF2-40B4-BE49-F238E27FC236}">
                      <a16:creationId xmlns:a16="http://schemas.microsoft.com/office/drawing/2014/main" id="{EBC588D3-1610-BB46-90DD-92C05B1E0A97}"/>
                    </a:ext>
                  </a:extLst>
                </p:cNvPr>
                <p:cNvSpPr/>
                <p:nvPr/>
              </p:nvSpPr>
              <p:spPr>
                <a:xfrm>
                  <a:off x="5948121" y="3657595"/>
                  <a:ext cx="543208" cy="543208"/>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b="0" i="1" smtClean="0">
                            <a:solidFill>
                              <a:schemeClr val="bg1"/>
                            </a:solidFill>
                            <a:latin typeface="Cambria Math" panose="02040503050406030204" pitchFamily="18" charset="0"/>
                          </a:rPr>
                          <m:t> </m:t>
                        </m:r>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𝑥</m:t>
                            </m:r>
                          </m:e>
                          <m:sub>
                            <m:r>
                              <a:rPr lang="en-US" b="0" i="1" smtClean="0">
                                <a:solidFill>
                                  <a:schemeClr val="bg1"/>
                                </a:solidFill>
                                <a:latin typeface="Cambria Math" panose="02040503050406030204" pitchFamily="18" charset="0"/>
                              </a:rPr>
                              <m:t>1</m:t>
                            </m:r>
                          </m:sub>
                        </m:sSub>
                      </m:oMath>
                    </m:oMathPara>
                  </a14:m>
                  <a:endParaRPr lang="en-US" dirty="0">
                    <a:solidFill>
                      <a:schemeClr val="bg1"/>
                    </a:solidFill>
                  </a:endParaRPr>
                </a:p>
              </p:txBody>
            </p:sp>
          </mc:Choice>
          <mc:Fallback xmlns="">
            <p:sp>
              <p:nvSpPr>
                <p:cNvPr id="42" name="Oval 41">
                  <a:extLst>
                    <a:ext uri="{FF2B5EF4-FFF2-40B4-BE49-F238E27FC236}">
                      <a16:creationId xmlns:a16="http://schemas.microsoft.com/office/drawing/2014/main" id="{EBC588D3-1610-BB46-90DD-92C05B1E0A97}"/>
                    </a:ext>
                  </a:extLst>
                </p:cNvPr>
                <p:cNvSpPr>
                  <a:spLocks noRot="1" noChangeAspect="1" noMove="1" noResize="1" noEditPoints="1" noAdjustHandles="1" noChangeArrowheads="1" noChangeShapeType="1" noTextEdit="1"/>
                </p:cNvSpPr>
                <p:nvPr/>
              </p:nvSpPr>
              <p:spPr>
                <a:xfrm>
                  <a:off x="5948121" y="3657595"/>
                  <a:ext cx="543208" cy="543208"/>
                </a:xfrm>
                <a:prstGeom prst="ellipse">
                  <a:avLst/>
                </a:prstGeom>
                <a:blipFill>
                  <a:blip r:embed="rId5"/>
                  <a:stretch>
                    <a:fillRect l="-465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4" name="Oval 43">
                  <a:extLst>
                    <a:ext uri="{FF2B5EF4-FFF2-40B4-BE49-F238E27FC236}">
                      <a16:creationId xmlns:a16="http://schemas.microsoft.com/office/drawing/2014/main" id="{99A19EE2-DCED-104D-9001-4AA2EE619886}"/>
                    </a:ext>
                  </a:extLst>
                </p:cNvPr>
                <p:cNvSpPr/>
                <p:nvPr/>
              </p:nvSpPr>
              <p:spPr>
                <a:xfrm>
                  <a:off x="5948121" y="4661021"/>
                  <a:ext cx="543208" cy="543208"/>
                </a:xfrm>
                <a:prstGeom prst="ellipse">
                  <a:avLst/>
                </a:prstGeom>
                <a:solidFill>
                  <a:schemeClr val="accent3"/>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i="1">
                            <a:solidFill>
                              <a:schemeClr val="bg1"/>
                            </a:solidFill>
                            <a:latin typeface="Cambria Math" panose="02040503050406030204" pitchFamily="18" charset="0"/>
                          </a:rPr>
                          <m:t> </m:t>
                        </m:r>
                        <m:acc>
                          <m:accPr>
                            <m:chr m:val="̅"/>
                            <m:ctrlPr>
                              <a:rPr lang="en-US" b="0" i="1" smtClean="0">
                                <a:solidFill>
                                  <a:schemeClr val="bg1"/>
                                </a:solidFill>
                                <a:latin typeface="Cambria Math" panose="02040503050406030204" pitchFamily="18" charset="0"/>
                              </a:rPr>
                            </m:ctrlPr>
                          </m:accPr>
                          <m:e>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𝑥</m:t>
                                </m:r>
                              </m:e>
                              <m:sub>
                                <m:r>
                                  <a:rPr lang="en-US" b="0" i="1" smtClean="0">
                                    <a:solidFill>
                                      <a:schemeClr val="bg1"/>
                                    </a:solidFill>
                                    <a:latin typeface="Cambria Math" panose="02040503050406030204" pitchFamily="18" charset="0"/>
                                  </a:rPr>
                                  <m:t>2</m:t>
                                </m:r>
                              </m:sub>
                            </m:sSub>
                          </m:e>
                        </m:acc>
                      </m:oMath>
                    </m:oMathPara>
                  </a14:m>
                  <a:endParaRPr lang="en-US" dirty="0">
                    <a:solidFill>
                      <a:schemeClr val="bg1"/>
                    </a:solidFill>
                  </a:endParaRPr>
                </a:p>
              </p:txBody>
            </p:sp>
          </mc:Choice>
          <mc:Fallback xmlns="">
            <p:sp>
              <p:nvSpPr>
                <p:cNvPr id="44" name="Oval 43">
                  <a:extLst>
                    <a:ext uri="{FF2B5EF4-FFF2-40B4-BE49-F238E27FC236}">
                      <a16:creationId xmlns:a16="http://schemas.microsoft.com/office/drawing/2014/main" id="{99A19EE2-DCED-104D-9001-4AA2EE619886}"/>
                    </a:ext>
                  </a:extLst>
                </p:cNvPr>
                <p:cNvSpPr>
                  <a:spLocks noRot="1" noChangeAspect="1" noMove="1" noResize="1" noEditPoints="1" noAdjustHandles="1" noChangeArrowheads="1" noChangeShapeType="1" noTextEdit="1"/>
                </p:cNvSpPr>
                <p:nvPr/>
              </p:nvSpPr>
              <p:spPr>
                <a:xfrm>
                  <a:off x="5948121" y="4661021"/>
                  <a:ext cx="543208" cy="543208"/>
                </a:xfrm>
                <a:prstGeom prst="ellipse">
                  <a:avLst/>
                </a:prstGeom>
                <a:blipFill>
                  <a:blip r:embed="rId6"/>
                  <a:stretch>
                    <a:fillRect l="-4651"/>
                  </a:stretch>
                </a:blipFill>
                <a:ln>
                  <a:solidFill>
                    <a:schemeClr val="accent3"/>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5" name="Oval 44">
                  <a:extLst>
                    <a:ext uri="{FF2B5EF4-FFF2-40B4-BE49-F238E27FC236}">
                      <a16:creationId xmlns:a16="http://schemas.microsoft.com/office/drawing/2014/main" id="{C73886F6-0A7E-3D42-8EE7-0E8352077966}"/>
                    </a:ext>
                  </a:extLst>
                </p:cNvPr>
                <p:cNvSpPr/>
                <p:nvPr/>
              </p:nvSpPr>
              <p:spPr>
                <a:xfrm>
                  <a:off x="5948121" y="5664447"/>
                  <a:ext cx="543208" cy="543208"/>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b="0" i="1" smtClean="0">
                            <a:solidFill>
                              <a:schemeClr val="bg1"/>
                            </a:solidFill>
                            <a:latin typeface="Cambria Math" panose="02040503050406030204" pitchFamily="18" charset="0"/>
                          </a:rPr>
                          <m:t> </m:t>
                        </m:r>
                        <m:acc>
                          <m:accPr>
                            <m:chr m:val="̅"/>
                            <m:ctrlPr>
                              <a:rPr lang="en-US" b="0" i="1" smtClean="0">
                                <a:solidFill>
                                  <a:schemeClr val="bg1"/>
                                </a:solidFill>
                                <a:latin typeface="Cambria Math" panose="02040503050406030204" pitchFamily="18" charset="0"/>
                              </a:rPr>
                            </m:ctrlPr>
                          </m:accPr>
                          <m:e>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𝑥</m:t>
                                </m:r>
                              </m:e>
                              <m:sub>
                                <m:r>
                                  <a:rPr lang="en-US" b="0" i="1" smtClean="0">
                                    <a:solidFill>
                                      <a:schemeClr val="bg1"/>
                                    </a:solidFill>
                                    <a:latin typeface="Cambria Math" panose="02040503050406030204" pitchFamily="18" charset="0"/>
                                  </a:rPr>
                                  <m:t>3</m:t>
                                </m:r>
                              </m:sub>
                            </m:sSub>
                          </m:e>
                        </m:acc>
                      </m:oMath>
                    </m:oMathPara>
                  </a14:m>
                  <a:endParaRPr lang="en-US" dirty="0">
                    <a:solidFill>
                      <a:schemeClr val="bg1"/>
                    </a:solidFill>
                  </a:endParaRPr>
                </a:p>
              </p:txBody>
            </p:sp>
          </mc:Choice>
          <mc:Fallback xmlns="">
            <p:sp>
              <p:nvSpPr>
                <p:cNvPr id="45" name="Oval 44">
                  <a:extLst>
                    <a:ext uri="{FF2B5EF4-FFF2-40B4-BE49-F238E27FC236}">
                      <a16:creationId xmlns:a16="http://schemas.microsoft.com/office/drawing/2014/main" id="{C73886F6-0A7E-3D42-8EE7-0E8352077966}"/>
                    </a:ext>
                  </a:extLst>
                </p:cNvPr>
                <p:cNvSpPr>
                  <a:spLocks noRot="1" noChangeAspect="1" noMove="1" noResize="1" noEditPoints="1" noAdjustHandles="1" noChangeArrowheads="1" noChangeShapeType="1" noTextEdit="1"/>
                </p:cNvSpPr>
                <p:nvPr/>
              </p:nvSpPr>
              <p:spPr>
                <a:xfrm>
                  <a:off x="5948121" y="5664447"/>
                  <a:ext cx="543208" cy="543208"/>
                </a:xfrm>
                <a:prstGeom prst="ellipse">
                  <a:avLst/>
                </a:prstGeom>
                <a:blipFill>
                  <a:blip r:embed="rId7"/>
                  <a:stretch>
                    <a:fillRect l="-465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Oval 46">
                  <a:extLst>
                    <a:ext uri="{FF2B5EF4-FFF2-40B4-BE49-F238E27FC236}">
                      <a16:creationId xmlns:a16="http://schemas.microsoft.com/office/drawing/2014/main" id="{CBC0B98F-EADF-C640-B049-550A523A75A7}"/>
                    </a:ext>
                  </a:extLst>
                </p:cNvPr>
                <p:cNvSpPr/>
                <p:nvPr/>
              </p:nvSpPr>
              <p:spPr>
                <a:xfrm>
                  <a:off x="10364704" y="3654578"/>
                  <a:ext cx="543208" cy="543208"/>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b="0" i="1" smtClean="0">
                            <a:solidFill>
                              <a:schemeClr val="bg1"/>
                            </a:solidFill>
                            <a:latin typeface="Cambria Math" panose="02040503050406030204" pitchFamily="18" charset="0"/>
                          </a:rPr>
                          <m:t> </m:t>
                        </m:r>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𝑥</m:t>
                            </m:r>
                          </m:e>
                          <m:sub>
                            <m:r>
                              <a:rPr lang="en-US" b="0" i="1" smtClean="0">
                                <a:solidFill>
                                  <a:schemeClr val="bg1"/>
                                </a:solidFill>
                                <a:latin typeface="Cambria Math" panose="02040503050406030204" pitchFamily="18" charset="0"/>
                              </a:rPr>
                              <m:t>1</m:t>
                            </m:r>
                          </m:sub>
                        </m:sSub>
                      </m:oMath>
                    </m:oMathPara>
                  </a14:m>
                  <a:endParaRPr lang="en-US" dirty="0">
                    <a:solidFill>
                      <a:schemeClr val="bg1"/>
                    </a:solidFill>
                  </a:endParaRPr>
                </a:p>
              </p:txBody>
            </p:sp>
          </mc:Choice>
          <mc:Fallback xmlns="">
            <p:sp>
              <p:nvSpPr>
                <p:cNvPr id="47" name="Oval 46">
                  <a:extLst>
                    <a:ext uri="{FF2B5EF4-FFF2-40B4-BE49-F238E27FC236}">
                      <a16:creationId xmlns:a16="http://schemas.microsoft.com/office/drawing/2014/main" id="{CBC0B98F-EADF-C640-B049-550A523A75A7}"/>
                    </a:ext>
                  </a:extLst>
                </p:cNvPr>
                <p:cNvSpPr>
                  <a:spLocks noRot="1" noChangeAspect="1" noMove="1" noResize="1" noEditPoints="1" noAdjustHandles="1" noChangeArrowheads="1" noChangeShapeType="1" noTextEdit="1"/>
                </p:cNvSpPr>
                <p:nvPr/>
              </p:nvSpPr>
              <p:spPr>
                <a:xfrm>
                  <a:off x="10364704" y="3654578"/>
                  <a:ext cx="543208" cy="543208"/>
                </a:xfrm>
                <a:prstGeom prst="ellipse">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Oval 47">
                  <a:extLst>
                    <a:ext uri="{FF2B5EF4-FFF2-40B4-BE49-F238E27FC236}">
                      <a16:creationId xmlns:a16="http://schemas.microsoft.com/office/drawing/2014/main" id="{45FEABFE-9C8A-A14E-BDA0-1B581644F4A7}"/>
                    </a:ext>
                  </a:extLst>
                </p:cNvPr>
                <p:cNvSpPr/>
                <p:nvPr/>
              </p:nvSpPr>
              <p:spPr>
                <a:xfrm>
                  <a:off x="10364704" y="4658004"/>
                  <a:ext cx="543208" cy="543208"/>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b="0" i="1" smtClean="0">
                            <a:solidFill>
                              <a:schemeClr val="bg1"/>
                            </a:solidFill>
                            <a:latin typeface="Cambria Math" panose="02040503050406030204" pitchFamily="18" charset="0"/>
                          </a:rPr>
                          <m:t> </m:t>
                        </m:r>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𝑥</m:t>
                            </m:r>
                          </m:e>
                          <m:sub>
                            <m:r>
                              <a:rPr lang="en-US" b="0" i="1" smtClean="0">
                                <a:solidFill>
                                  <a:schemeClr val="bg1"/>
                                </a:solidFill>
                                <a:latin typeface="Cambria Math" panose="02040503050406030204" pitchFamily="18" charset="0"/>
                              </a:rPr>
                              <m:t>2</m:t>
                            </m:r>
                          </m:sub>
                        </m:sSub>
                      </m:oMath>
                    </m:oMathPara>
                  </a14:m>
                  <a:endParaRPr lang="en-US" dirty="0">
                    <a:solidFill>
                      <a:schemeClr val="bg1"/>
                    </a:solidFill>
                  </a:endParaRPr>
                </a:p>
              </p:txBody>
            </p:sp>
          </mc:Choice>
          <mc:Fallback xmlns="">
            <p:sp>
              <p:nvSpPr>
                <p:cNvPr id="48" name="Oval 47">
                  <a:extLst>
                    <a:ext uri="{FF2B5EF4-FFF2-40B4-BE49-F238E27FC236}">
                      <a16:creationId xmlns:a16="http://schemas.microsoft.com/office/drawing/2014/main" id="{45FEABFE-9C8A-A14E-BDA0-1B581644F4A7}"/>
                    </a:ext>
                  </a:extLst>
                </p:cNvPr>
                <p:cNvSpPr>
                  <a:spLocks noRot="1" noChangeAspect="1" noMove="1" noResize="1" noEditPoints="1" noAdjustHandles="1" noChangeArrowheads="1" noChangeShapeType="1" noTextEdit="1"/>
                </p:cNvSpPr>
                <p:nvPr/>
              </p:nvSpPr>
              <p:spPr>
                <a:xfrm>
                  <a:off x="10364704" y="4658004"/>
                  <a:ext cx="543208" cy="543208"/>
                </a:xfrm>
                <a:prstGeom prst="ellipse">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Oval 48">
                  <a:extLst>
                    <a:ext uri="{FF2B5EF4-FFF2-40B4-BE49-F238E27FC236}">
                      <a16:creationId xmlns:a16="http://schemas.microsoft.com/office/drawing/2014/main" id="{A66F8109-458A-934E-B901-3C4AD7E54316}"/>
                    </a:ext>
                  </a:extLst>
                </p:cNvPr>
                <p:cNvSpPr/>
                <p:nvPr/>
              </p:nvSpPr>
              <p:spPr>
                <a:xfrm>
                  <a:off x="10364704" y="5661430"/>
                  <a:ext cx="543208" cy="543208"/>
                </a:xfrm>
                <a:prstGeom prst="ellipse">
                  <a:avLst/>
                </a:prstGeom>
                <a:solidFill>
                  <a:schemeClr val="accent3"/>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b="0" i="1" smtClean="0">
                            <a:solidFill>
                              <a:schemeClr val="bg1"/>
                            </a:solidFill>
                            <a:latin typeface="Cambria Math" panose="02040503050406030204" pitchFamily="18" charset="0"/>
                          </a:rPr>
                          <m:t> </m:t>
                        </m:r>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𝑥</m:t>
                            </m:r>
                          </m:e>
                          <m:sub>
                            <m:r>
                              <a:rPr lang="en-US" b="0" i="1" smtClean="0">
                                <a:solidFill>
                                  <a:schemeClr val="bg1"/>
                                </a:solidFill>
                                <a:latin typeface="Cambria Math" panose="02040503050406030204" pitchFamily="18" charset="0"/>
                              </a:rPr>
                              <m:t>3</m:t>
                            </m:r>
                          </m:sub>
                        </m:sSub>
                      </m:oMath>
                    </m:oMathPara>
                  </a14:m>
                  <a:endParaRPr lang="en-US" dirty="0">
                    <a:solidFill>
                      <a:schemeClr val="bg1"/>
                    </a:solidFill>
                  </a:endParaRPr>
                </a:p>
              </p:txBody>
            </p:sp>
          </mc:Choice>
          <mc:Fallback xmlns="">
            <p:sp>
              <p:nvSpPr>
                <p:cNvPr id="49" name="Oval 48">
                  <a:extLst>
                    <a:ext uri="{FF2B5EF4-FFF2-40B4-BE49-F238E27FC236}">
                      <a16:creationId xmlns:a16="http://schemas.microsoft.com/office/drawing/2014/main" id="{A66F8109-458A-934E-B901-3C4AD7E54316}"/>
                    </a:ext>
                  </a:extLst>
                </p:cNvPr>
                <p:cNvSpPr>
                  <a:spLocks noRot="1" noChangeAspect="1" noMove="1" noResize="1" noEditPoints="1" noAdjustHandles="1" noChangeArrowheads="1" noChangeShapeType="1" noTextEdit="1"/>
                </p:cNvSpPr>
                <p:nvPr/>
              </p:nvSpPr>
              <p:spPr>
                <a:xfrm>
                  <a:off x="10364704" y="5661430"/>
                  <a:ext cx="543208" cy="543208"/>
                </a:xfrm>
                <a:prstGeom prst="ellipse">
                  <a:avLst/>
                </a:prstGeom>
                <a:blipFill>
                  <a:blip r:embed="rId10"/>
                  <a:stretch>
                    <a:fillRect/>
                  </a:stretch>
                </a:blipFill>
                <a:ln>
                  <a:solidFill>
                    <a:schemeClr val="accent3"/>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1" name="Oval 50">
                  <a:extLst>
                    <a:ext uri="{FF2B5EF4-FFF2-40B4-BE49-F238E27FC236}">
                      <a16:creationId xmlns:a16="http://schemas.microsoft.com/office/drawing/2014/main" id="{85CB99A0-B12E-3E4B-BEEE-B8DC7EE9CE9C}"/>
                    </a:ext>
                  </a:extLst>
                </p:cNvPr>
                <p:cNvSpPr/>
                <p:nvPr/>
              </p:nvSpPr>
              <p:spPr>
                <a:xfrm>
                  <a:off x="7014921" y="2640594"/>
                  <a:ext cx="543208" cy="543208"/>
                </a:xfrm>
                <a:prstGeom prst="ellipse">
                  <a:avLst/>
                </a:prstGeom>
                <a:solidFill>
                  <a:schemeClr val="accent3"/>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b="0" i="1" smtClean="0">
                            <a:solidFill>
                              <a:schemeClr val="bg1"/>
                            </a:solidFill>
                            <a:latin typeface="Cambria Math" panose="02040503050406030204" pitchFamily="18" charset="0"/>
                          </a:rPr>
                          <m:t> </m:t>
                        </m:r>
                        <m:acc>
                          <m:accPr>
                            <m:chr m:val="̅"/>
                            <m:ctrlPr>
                              <a:rPr lang="en-US" b="0" i="1" smtClean="0">
                                <a:solidFill>
                                  <a:schemeClr val="bg1"/>
                                </a:solidFill>
                                <a:latin typeface="Cambria Math" panose="02040503050406030204" pitchFamily="18" charset="0"/>
                              </a:rPr>
                            </m:ctrlPr>
                          </m:accPr>
                          <m:e>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𝑥</m:t>
                                </m:r>
                              </m:e>
                              <m:sub>
                                <m:r>
                                  <a:rPr lang="en-US" b="0" i="1" smtClean="0">
                                    <a:solidFill>
                                      <a:schemeClr val="bg1"/>
                                    </a:solidFill>
                                    <a:latin typeface="Cambria Math" panose="02040503050406030204" pitchFamily="18" charset="0"/>
                                  </a:rPr>
                                  <m:t>1</m:t>
                                </m:r>
                              </m:sub>
                            </m:sSub>
                          </m:e>
                        </m:acc>
                      </m:oMath>
                    </m:oMathPara>
                  </a14:m>
                  <a:endParaRPr lang="en-US" dirty="0">
                    <a:solidFill>
                      <a:schemeClr val="bg1"/>
                    </a:solidFill>
                  </a:endParaRPr>
                </a:p>
              </p:txBody>
            </p:sp>
          </mc:Choice>
          <mc:Fallback xmlns="">
            <p:sp>
              <p:nvSpPr>
                <p:cNvPr id="51" name="Oval 50">
                  <a:extLst>
                    <a:ext uri="{FF2B5EF4-FFF2-40B4-BE49-F238E27FC236}">
                      <a16:creationId xmlns:a16="http://schemas.microsoft.com/office/drawing/2014/main" id="{85CB99A0-B12E-3E4B-BEEE-B8DC7EE9CE9C}"/>
                    </a:ext>
                  </a:extLst>
                </p:cNvPr>
                <p:cNvSpPr>
                  <a:spLocks noRot="1" noChangeAspect="1" noMove="1" noResize="1" noEditPoints="1" noAdjustHandles="1" noChangeArrowheads="1" noChangeShapeType="1" noTextEdit="1"/>
                </p:cNvSpPr>
                <p:nvPr/>
              </p:nvSpPr>
              <p:spPr>
                <a:xfrm>
                  <a:off x="7014921" y="2640594"/>
                  <a:ext cx="543208" cy="543208"/>
                </a:xfrm>
                <a:prstGeom prst="ellipse">
                  <a:avLst/>
                </a:prstGeom>
                <a:blipFill>
                  <a:blip r:embed="rId11"/>
                  <a:stretch>
                    <a:fillRect l="-4651"/>
                  </a:stretch>
                </a:blipFill>
                <a:ln>
                  <a:solidFill>
                    <a:schemeClr val="accent3"/>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Oval 51">
                  <a:extLst>
                    <a:ext uri="{FF2B5EF4-FFF2-40B4-BE49-F238E27FC236}">
                      <a16:creationId xmlns:a16="http://schemas.microsoft.com/office/drawing/2014/main" id="{BCF629B9-BCCF-D946-ADE2-06B940838694}"/>
                    </a:ext>
                  </a:extLst>
                </p:cNvPr>
                <p:cNvSpPr/>
                <p:nvPr/>
              </p:nvSpPr>
              <p:spPr>
                <a:xfrm>
                  <a:off x="8181310" y="2640594"/>
                  <a:ext cx="543208" cy="543208"/>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b="0" i="1" smtClean="0">
                            <a:solidFill>
                              <a:schemeClr val="bg1"/>
                            </a:solidFill>
                            <a:latin typeface="Cambria Math" panose="02040503050406030204" pitchFamily="18" charset="0"/>
                          </a:rPr>
                          <m:t> </m:t>
                        </m:r>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𝑥</m:t>
                            </m:r>
                          </m:e>
                          <m:sub>
                            <m:r>
                              <a:rPr lang="en-US" b="0" i="1" smtClean="0">
                                <a:solidFill>
                                  <a:schemeClr val="bg1"/>
                                </a:solidFill>
                                <a:latin typeface="Cambria Math" panose="02040503050406030204" pitchFamily="18" charset="0"/>
                              </a:rPr>
                              <m:t>2</m:t>
                            </m:r>
                          </m:sub>
                        </m:sSub>
                      </m:oMath>
                    </m:oMathPara>
                  </a14:m>
                  <a:endParaRPr lang="en-US" dirty="0">
                    <a:solidFill>
                      <a:schemeClr val="bg1"/>
                    </a:solidFill>
                  </a:endParaRPr>
                </a:p>
              </p:txBody>
            </p:sp>
          </mc:Choice>
          <mc:Fallback xmlns="">
            <p:sp>
              <p:nvSpPr>
                <p:cNvPr id="52" name="Oval 51">
                  <a:extLst>
                    <a:ext uri="{FF2B5EF4-FFF2-40B4-BE49-F238E27FC236}">
                      <a16:creationId xmlns:a16="http://schemas.microsoft.com/office/drawing/2014/main" id="{BCF629B9-BCCF-D946-ADE2-06B940838694}"/>
                    </a:ext>
                  </a:extLst>
                </p:cNvPr>
                <p:cNvSpPr>
                  <a:spLocks noRot="1" noChangeAspect="1" noMove="1" noResize="1" noEditPoints="1" noAdjustHandles="1" noChangeArrowheads="1" noChangeShapeType="1" noTextEdit="1"/>
                </p:cNvSpPr>
                <p:nvPr/>
              </p:nvSpPr>
              <p:spPr>
                <a:xfrm>
                  <a:off x="8181310" y="2640594"/>
                  <a:ext cx="543208" cy="543208"/>
                </a:xfrm>
                <a:prstGeom prst="ellipse">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Oval 53">
                  <a:extLst>
                    <a:ext uri="{FF2B5EF4-FFF2-40B4-BE49-F238E27FC236}">
                      <a16:creationId xmlns:a16="http://schemas.microsoft.com/office/drawing/2014/main" id="{F9CD9F65-48C4-D749-8F4D-B267C3D19E31}"/>
                    </a:ext>
                  </a:extLst>
                </p:cNvPr>
                <p:cNvSpPr/>
                <p:nvPr/>
              </p:nvSpPr>
              <p:spPr>
                <a:xfrm>
                  <a:off x="9347699" y="2640594"/>
                  <a:ext cx="543208" cy="543208"/>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b="0" i="1" smtClean="0">
                            <a:solidFill>
                              <a:schemeClr val="bg1"/>
                            </a:solidFill>
                            <a:latin typeface="Cambria Math" panose="02040503050406030204" pitchFamily="18" charset="0"/>
                          </a:rPr>
                          <m:t> </m:t>
                        </m:r>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𝑥</m:t>
                            </m:r>
                          </m:e>
                          <m:sub>
                            <m:r>
                              <a:rPr lang="en-US" b="0" i="1" smtClean="0">
                                <a:solidFill>
                                  <a:schemeClr val="bg1"/>
                                </a:solidFill>
                                <a:latin typeface="Cambria Math" panose="02040503050406030204" pitchFamily="18" charset="0"/>
                              </a:rPr>
                              <m:t>3</m:t>
                            </m:r>
                          </m:sub>
                        </m:sSub>
                      </m:oMath>
                    </m:oMathPara>
                  </a14:m>
                  <a:endParaRPr lang="en-US" dirty="0">
                    <a:solidFill>
                      <a:schemeClr val="bg1"/>
                    </a:solidFill>
                  </a:endParaRPr>
                </a:p>
              </p:txBody>
            </p:sp>
          </mc:Choice>
          <mc:Fallback xmlns="">
            <p:sp>
              <p:nvSpPr>
                <p:cNvPr id="54" name="Oval 53">
                  <a:extLst>
                    <a:ext uri="{FF2B5EF4-FFF2-40B4-BE49-F238E27FC236}">
                      <a16:creationId xmlns:a16="http://schemas.microsoft.com/office/drawing/2014/main" id="{F9CD9F65-48C4-D749-8F4D-B267C3D19E31}"/>
                    </a:ext>
                  </a:extLst>
                </p:cNvPr>
                <p:cNvSpPr>
                  <a:spLocks noRot="1" noChangeAspect="1" noMove="1" noResize="1" noEditPoints="1" noAdjustHandles="1" noChangeArrowheads="1" noChangeShapeType="1" noTextEdit="1"/>
                </p:cNvSpPr>
                <p:nvPr/>
              </p:nvSpPr>
              <p:spPr>
                <a:xfrm>
                  <a:off x="9347699" y="2640594"/>
                  <a:ext cx="543208" cy="543208"/>
                </a:xfrm>
                <a:prstGeom prst="ellipse">
                  <a:avLst/>
                </a:prstGeom>
                <a:blipFill>
                  <a:blip r:embed="rId13"/>
                  <a:stretch>
                    <a:fillRect l="-2222"/>
                  </a:stretch>
                </a:blipFill>
              </p:spPr>
              <p:txBody>
                <a:bodyPr/>
                <a:lstStyle/>
                <a:p>
                  <a:r>
                    <a:rPr lang="en-US">
                      <a:noFill/>
                    </a:rPr>
                    <a:t> </a:t>
                  </a:r>
                </a:p>
              </p:txBody>
            </p:sp>
          </mc:Fallback>
        </mc:AlternateContent>
        <p:sp>
          <p:nvSpPr>
            <p:cNvPr id="55" name="Rectangle 54">
              <a:extLst>
                <a:ext uri="{FF2B5EF4-FFF2-40B4-BE49-F238E27FC236}">
                  <a16:creationId xmlns:a16="http://schemas.microsoft.com/office/drawing/2014/main" id="{8D9AB02D-534C-F34C-989C-DF7A6619BF8A}"/>
                </a:ext>
              </a:extLst>
            </p:cNvPr>
            <p:cNvSpPr/>
            <p:nvPr/>
          </p:nvSpPr>
          <p:spPr>
            <a:xfrm>
              <a:off x="5739894" y="2471596"/>
              <a:ext cx="5477346" cy="3974471"/>
            </a:xfrm>
            <a:prstGeom prst="rect">
              <a:avLst/>
            </a:pr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Content Placeholder 2">
              <a:extLst>
                <a:ext uri="{FF2B5EF4-FFF2-40B4-BE49-F238E27FC236}">
                  <a16:creationId xmlns:a16="http://schemas.microsoft.com/office/drawing/2014/main" id="{60C31D08-A8E0-AF43-A75A-6DAE79DCB83F}"/>
                </a:ext>
              </a:extLst>
            </p:cNvPr>
            <p:cNvSpPr txBox="1">
              <a:spLocks/>
            </p:cNvSpPr>
            <p:nvPr/>
          </p:nvSpPr>
          <p:spPr>
            <a:xfrm>
              <a:off x="10723820" y="2518071"/>
              <a:ext cx="445962" cy="478637"/>
            </a:xfrm>
            <a:prstGeom prst="rect">
              <a:avLst/>
            </a:prstGeom>
            <a:ln>
              <a:noFill/>
            </a:ln>
          </p:spPr>
          <p:txBody>
            <a:bodyPr vert="horz" lIns="91440" tIns="45720" rIns="91440" bIns="45720" rtlCol="0">
              <a:normAutofit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i="1" dirty="0">
                  <a:solidFill>
                    <a:schemeClr val="accent1"/>
                  </a:solidFill>
                </a:rPr>
                <a:t>G</a:t>
              </a:r>
            </a:p>
          </p:txBody>
        </p:sp>
        <p:cxnSp>
          <p:nvCxnSpPr>
            <p:cNvPr id="57" name="Straight Connector 56">
              <a:extLst>
                <a:ext uri="{FF2B5EF4-FFF2-40B4-BE49-F238E27FC236}">
                  <a16:creationId xmlns:a16="http://schemas.microsoft.com/office/drawing/2014/main" id="{7A619927-8679-5B4F-9E57-2AC8896D3341}"/>
                </a:ext>
              </a:extLst>
            </p:cNvPr>
            <p:cNvCxnSpPr>
              <a:cxnSpLocks/>
              <a:stCxn id="42" idx="6"/>
              <a:endCxn id="52" idx="4"/>
            </p:cNvCxnSpPr>
            <p:nvPr/>
          </p:nvCxnSpPr>
          <p:spPr>
            <a:xfrm flipV="1">
              <a:off x="6491329" y="3183802"/>
              <a:ext cx="1961585" cy="745397"/>
            </a:xfrm>
            <a:prstGeom prst="line">
              <a:avLst/>
            </a:prstGeom>
          </p:spPr>
          <p:style>
            <a:lnRef idx="1">
              <a:schemeClr val="accent1"/>
            </a:lnRef>
            <a:fillRef idx="0">
              <a:schemeClr val="accent1"/>
            </a:fillRef>
            <a:effectRef idx="0">
              <a:schemeClr val="accent1"/>
            </a:effectRef>
            <a:fontRef idx="minor">
              <a:schemeClr val="tx1"/>
            </a:fontRef>
          </p:style>
        </p:cxnSp>
        <p:cxnSp>
          <p:nvCxnSpPr>
            <p:cNvPr id="58" name="Straight Connector 57">
              <a:extLst>
                <a:ext uri="{FF2B5EF4-FFF2-40B4-BE49-F238E27FC236}">
                  <a16:creationId xmlns:a16="http://schemas.microsoft.com/office/drawing/2014/main" id="{EA53B9C2-0646-1547-BFA6-A35C784AD3F6}"/>
                </a:ext>
              </a:extLst>
            </p:cNvPr>
            <p:cNvCxnSpPr>
              <a:cxnSpLocks/>
              <a:stCxn id="42" idx="6"/>
              <a:endCxn id="54" idx="4"/>
            </p:cNvCxnSpPr>
            <p:nvPr/>
          </p:nvCxnSpPr>
          <p:spPr>
            <a:xfrm flipV="1">
              <a:off x="6491329" y="3183802"/>
              <a:ext cx="3127974" cy="745397"/>
            </a:xfrm>
            <a:prstGeom prst="line">
              <a:avLst/>
            </a:prstGeom>
          </p:spPr>
          <p:style>
            <a:lnRef idx="1">
              <a:schemeClr val="accent1"/>
            </a:lnRef>
            <a:fillRef idx="0">
              <a:schemeClr val="accent1"/>
            </a:fillRef>
            <a:effectRef idx="0">
              <a:schemeClr val="accent1"/>
            </a:effectRef>
            <a:fontRef idx="minor">
              <a:schemeClr val="tx1"/>
            </a:fontRef>
          </p:style>
        </p:cxnSp>
        <p:cxnSp>
          <p:nvCxnSpPr>
            <p:cNvPr id="59" name="Straight Connector 58">
              <a:extLst>
                <a:ext uri="{FF2B5EF4-FFF2-40B4-BE49-F238E27FC236}">
                  <a16:creationId xmlns:a16="http://schemas.microsoft.com/office/drawing/2014/main" id="{68B098DB-F503-5247-B8BD-E160C437D684}"/>
                </a:ext>
              </a:extLst>
            </p:cNvPr>
            <p:cNvCxnSpPr>
              <a:cxnSpLocks/>
              <a:stCxn id="42" idx="6"/>
              <a:endCxn id="47" idx="2"/>
            </p:cNvCxnSpPr>
            <p:nvPr/>
          </p:nvCxnSpPr>
          <p:spPr>
            <a:xfrm flipV="1">
              <a:off x="6491329" y="3926182"/>
              <a:ext cx="3873375" cy="3017"/>
            </a:xfrm>
            <a:prstGeom prst="line">
              <a:avLst/>
            </a:prstGeom>
          </p:spPr>
          <p:style>
            <a:lnRef idx="1">
              <a:schemeClr val="accent1"/>
            </a:lnRef>
            <a:fillRef idx="0">
              <a:schemeClr val="accent1"/>
            </a:fillRef>
            <a:effectRef idx="0">
              <a:schemeClr val="accent1"/>
            </a:effectRef>
            <a:fontRef idx="minor">
              <a:schemeClr val="tx1"/>
            </a:fontRef>
          </p:style>
        </p:cxnSp>
        <p:cxnSp>
          <p:nvCxnSpPr>
            <p:cNvPr id="61" name="Straight Connector 60">
              <a:extLst>
                <a:ext uri="{FF2B5EF4-FFF2-40B4-BE49-F238E27FC236}">
                  <a16:creationId xmlns:a16="http://schemas.microsoft.com/office/drawing/2014/main" id="{8D7AC460-F132-944A-8C99-5304E15946E2}"/>
                </a:ext>
              </a:extLst>
            </p:cNvPr>
            <p:cNvCxnSpPr>
              <a:cxnSpLocks/>
              <a:stCxn id="42" idx="6"/>
              <a:endCxn id="48" idx="2"/>
            </p:cNvCxnSpPr>
            <p:nvPr/>
          </p:nvCxnSpPr>
          <p:spPr>
            <a:xfrm>
              <a:off x="6491329" y="3929199"/>
              <a:ext cx="3873375" cy="1000409"/>
            </a:xfrm>
            <a:prstGeom prst="line">
              <a:avLst/>
            </a:prstGeom>
          </p:spPr>
          <p:style>
            <a:lnRef idx="1">
              <a:schemeClr val="accent1"/>
            </a:lnRef>
            <a:fillRef idx="0">
              <a:schemeClr val="accent1"/>
            </a:fillRef>
            <a:effectRef idx="0">
              <a:schemeClr val="accent1"/>
            </a:effectRef>
            <a:fontRef idx="minor">
              <a:schemeClr val="tx1"/>
            </a:fontRef>
          </p:style>
        </p:cxnSp>
        <p:cxnSp>
          <p:nvCxnSpPr>
            <p:cNvPr id="62" name="Straight Connector 61">
              <a:extLst>
                <a:ext uri="{FF2B5EF4-FFF2-40B4-BE49-F238E27FC236}">
                  <a16:creationId xmlns:a16="http://schemas.microsoft.com/office/drawing/2014/main" id="{194B50E7-FC90-664B-ACDD-99F628976744}"/>
                </a:ext>
              </a:extLst>
            </p:cNvPr>
            <p:cNvCxnSpPr>
              <a:cxnSpLocks/>
              <a:stCxn id="42" idx="6"/>
              <a:endCxn id="49" idx="2"/>
            </p:cNvCxnSpPr>
            <p:nvPr/>
          </p:nvCxnSpPr>
          <p:spPr>
            <a:xfrm>
              <a:off x="6491329" y="3929199"/>
              <a:ext cx="3873375" cy="2003835"/>
            </a:xfrm>
            <a:prstGeom prst="line">
              <a:avLst/>
            </a:prstGeom>
          </p:spPr>
          <p:style>
            <a:lnRef idx="1">
              <a:schemeClr val="accent1"/>
            </a:lnRef>
            <a:fillRef idx="0">
              <a:schemeClr val="accent1"/>
            </a:fillRef>
            <a:effectRef idx="0">
              <a:schemeClr val="accent1"/>
            </a:effectRef>
            <a:fontRef idx="minor">
              <a:schemeClr val="tx1"/>
            </a:fontRef>
          </p:style>
        </p:cxnSp>
        <p:cxnSp>
          <p:nvCxnSpPr>
            <p:cNvPr id="64" name="Straight Connector 63">
              <a:extLst>
                <a:ext uri="{FF2B5EF4-FFF2-40B4-BE49-F238E27FC236}">
                  <a16:creationId xmlns:a16="http://schemas.microsoft.com/office/drawing/2014/main" id="{E3485D5A-4F86-1745-823D-C1C1B4AE2480}"/>
                </a:ext>
              </a:extLst>
            </p:cNvPr>
            <p:cNvCxnSpPr>
              <a:cxnSpLocks/>
              <a:stCxn id="44" idx="6"/>
              <a:endCxn id="51" idx="4"/>
            </p:cNvCxnSpPr>
            <p:nvPr/>
          </p:nvCxnSpPr>
          <p:spPr>
            <a:xfrm flipV="1">
              <a:off x="6491329" y="3183802"/>
              <a:ext cx="795196" cy="1748823"/>
            </a:xfrm>
            <a:prstGeom prst="line">
              <a:avLst/>
            </a:prstGeom>
            <a:ln w="28575">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65" name="Straight Connector 64">
              <a:extLst>
                <a:ext uri="{FF2B5EF4-FFF2-40B4-BE49-F238E27FC236}">
                  <a16:creationId xmlns:a16="http://schemas.microsoft.com/office/drawing/2014/main" id="{755A2B95-941B-4649-A529-4E6B5912B50B}"/>
                </a:ext>
              </a:extLst>
            </p:cNvPr>
            <p:cNvCxnSpPr>
              <a:cxnSpLocks/>
              <a:stCxn id="44" idx="6"/>
              <a:endCxn id="54" idx="4"/>
            </p:cNvCxnSpPr>
            <p:nvPr/>
          </p:nvCxnSpPr>
          <p:spPr>
            <a:xfrm flipV="1">
              <a:off x="6491329" y="3183802"/>
              <a:ext cx="3127974" cy="1748823"/>
            </a:xfrm>
            <a:prstGeom prst="line">
              <a:avLst/>
            </a:prstGeom>
          </p:spPr>
          <p:style>
            <a:lnRef idx="1">
              <a:schemeClr val="accent1"/>
            </a:lnRef>
            <a:fillRef idx="0">
              <a:schemeClr val="accent1"/>
            </a:fillRef>
            <a:effectRef idx="0">
              <a:schemeClr val="accent1"/>
            </a:effectRef>
            <a:fontRef idx="minor">
              <a:schemeClr val="tx1"/>
            </a:fontRef>
          </p:style>
        </p:cxnSp>
        <p:cxnSp>
          <p:nvCxnSpPr>
            <p:cNvPr id="67" name="Straight Connector 66">
              <a:extLst>
                <a:ext uri="{FF2B5EF4-FFF2-40B4-BE49-F238E27FC236}">
                  <a16:creationId xmlns:a16="http://schemas.microsoft.com/office/drawing/2014/main" id="{300E7117-DFF7-6D46-9CF7-76148A37AF0D}"/>
                </a:ext>
              </a:extLst>
            </p:cNvPr>
            <p:cNvCxnSpPr>
              <a:cxnSpLocks/>
              <a:stCxn id="44" idx="6"/>
              <a:endCxn id="47" idx="2"/>
            </p:cNvCxnSpPr>
            <p:nvPr/>
          </p:nvCxnSpPr>
          <p:spPr>
            <a:xfrm flipV="1">
              <a:off x="6491329" y="3926182"/>
              <a:ext cx="3873375" cy="1006443"/>
            </a:xfrm>
            <a:prstGeom prst="line">
              <a:avLst/>
            </a:prstGeom>
          </p:spPr>
          <p:style>
            <a:lnRef idx="1">
              <a:schemeClr val="accent1"/>
            </a:lnRef>
            <a:fillRef idx="0">
              <a:schemeClr val="accent1"/>
            </a:fillRef>
            <a:effectRef idx="0">
              <a:schemeClr val="accent1"/>
            </a:effectRef>
            <a:fontRef idx="minor">
              <a:schemeClr val="tx1"/>
            </a:fontRef>
          </p:style>
        </p:cxnSp>
        <p:cxnSp>
          <p:nvCxnSpPr>
            <p:cNvPr id="68" name="Straight Connector 67">
              <a:extLst>
                <a:ext uri="{FF2B5EF4-FFF2-40B4-BE49-F238E27FC236}">
                  <a16:creationId xmlns:a16="http://schemas.microsoft.com/office/drawing/2014/main" id="{4FE57D6D-13AF-0342-89C5-5F69D1248FB7}"/>
                </a:ext>
              </a:extLst>
            </p:cNvPr>
            <p:cNvCxnSpPr>
              <a:cxnSpLocks/>
              <a:stCxn id="44" idx="6"/>
              <a:endCxn id="49" idx="2"/>
            </p:cNvCxnSpPr>
            <p:nvPr/>
          </p:nvCxnSpPr>
          <p:spPr>
            <a:xfrm>
              <a:off x="6491329" y="4932625"/>
              <a:ext cx="3873375" cy="1000409"/>
            </a:xfrm>
            <a:prstGeom prst="line">
              <a:avLst/>
            </a:prstGeom>
            <a:ln w="28575">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70" name="Straight Connector 69">
              <a:extLst>
                <a:ext uri="{FF2B5EF4-FFF2-40B4-BE49-F238E27FC236}">
                  <a16:creationId xmlns:a16="http://schemas.microsoft.com/office/drawing/2014/main" id="{E3B437C9-654B-124E-886E-01BDB431CDA5}"/>
                </a:ext>
              </a:extLst>
            </p:cNvPr>
            <p:cNvCxnSpPr>
              <a:cxnSpLocks/>
              <a:stCxn id="45" idx="6"/>
              <a:endCxn id="51" idx="4"/>
            </p:cNvCxnSpPr>
            <p:nvPr/>
          </p:nvCxnSpPr>
          <p:spPr>
            <a:xfrm flipV="1">
              <a:off x="6491329" y="3183802"/>
              <a:ext cx="795196" cy="2752249"/>
            </a:xfrm>
            <a:prstGeom prst="line">
              <a:avLst/>
            </a:prstGeom>
          </p:spPr>
          <p:style>
            <a:lnRef idx="1">
              <a:schemeClr val="accent1"/>
            </a:lnRef>
            <a:fillRef idx="0">
              <a:schemeClr val="accent1"/>
            </a:fillRef>
            <a:effectRef idx="0">
              <a:schemeClr val="accent1"/>
            </a:effectRef>
            <a:fontRef idx="minor">
              <a:schemeClr val="tx1"/>
            </a:fontRef>
          </p:style>
        </p:cxnSp>
        <p:cxnSp>
          <p:nvCxnSpPr>
            <p:cNvPr id="71" name="Straight Connector 70">
              <a:extLst>
                <a:ext uri="{FF2B5EF4-FFF2-40B4-BE49-F238E27FC236}">
                  <a16:creationId xmlns:a16="http://schemas.microsoft.com/office/drawing/2014/main" id="{E2C6CA3B-A420-8549-A435-9D7B23502B8F}"/>
                </a:ext>
              </a:extLst>
            </p:cNvPr>
            <p:cNvCxnSpPr>
              <a:cxnSpLocks/>
              <a:stCxn id="45" idx="6"/>
              <a:endCxn id="52" idx="4"/>
            </p:cNvCxnSpPr>
            <p:nvPr/>
          </p:nvCxnSpPr>
          <p:spPr>
            <a:xfrm flipV="1">
              <a:off x="6491329" y="3183802"/>
              <a:ext cx="1961585" cy="2752249"/>
            </a:xfrm>
            <a:prstGeom prst="line">
              <a:avLst/>
            </a:prstGeom>
          </p:spPr>
          <p:style>
            <a:lnRef idx="1">
              <a:schemeClr val="accent1"/>
            </a:lnRef>
            <a:fillRef idx="0">
              <a:schemeClr val="accent1"/>
            </a:fillRef>
            <a:effectRef idx="0">
              <a:schemeClr val="accent1"/>
            </a:effectRef>
            <a:fontRef idx="minor">
              <a:schemeClr val="tx1"/>
            </a:fontRef>
          </p:style>
        </p:cxnSp>
        <p:cxnSp>
          <p:nvCxnSpPr>
            <p:cNvPr id="73" name="Straight Connector 72">
              <a:extLst>
                <a:ext uri="{FF2B5EF4-FFF2-40B4-BE49-F238E27FC236}">
                  <a16:creationId xmlns:a16="http://schemas.microsoft.com/office/drawing/2014/main" id="{FC853D32-B240-A348-A892-11476C0160F2}"/>
                </a:ext>
              </a:extLst>
            </p:cNvPr>
            <p:cNvCxnSpPr>
              <a:cxnSpLocks/>
              <a:stCxn id="45" idx="6"/>
              <a:endCxn id="47" idx="2"/>
            </p:cNvCxnSpPr>
            <p:nvPr/>
          </p:nvCxnSpPr>
          <p:spPr>
            <a:xfrm flipV="1">
              <a:off x="6491329" y="3926182"/>
              <a:ext cx="3873375" cy="2009869"/>
            </a:xfrm>
            <a:prstGeom prst="line">
              <a:avLst/>
            </a:prstGeom>
          </p:spPr>
          <p:style>
            <a:lnRef idx="1">
              <a:schemeClr val="accent1"/>
            </a:lnRef>
            <a:fillRef idx="0">
              <a:schemeClr val="accent1"/>
            </a:fillRef>
            <a:effectRef idx="0">
              <a:schemeClr val="accent1"/>
            </a:effectRef>
            <a:fontRef idx="minor">
              <a:schemeClr val="tx1"/>
            </a:fontRef>
          </p:style>
        </p:cxnSp>
        <p:cxnSp>
          <p:nvCxnSpPr>
            <p:cNvPr id="74" name="Straight Connector 73">
              <a:extLst>
                <a:ext uri="{FF2B5EF4-FFF2-40B4-BE49-F238E27FC236}">
                  <a16:creationId xmlns:a16="http://schemas.microsoft.com/office/drawing/2014/main" id="{930FF65D-995E-FD43-8B07-C32586C105C6}"/>
                </a:ext>
              </a:extLst>
            </p:cNvPr>
            <p:cNvCxnSpPr>
              <a:cxnSpLocks/>
              <a:stCxn id="45" idx="6"/>
              <a:endCxn id="48" idx="2"/>
            </p:cNvCxnSpPr>
            <p:nvPr/>
          </p:nvCxnSpPr>
          <p:spPr>
            <a:xfrm flipV="1">
              <a:off x="6491329" y="4929608"/>
              <a:ext cx="3873375" cy="1006443"/>
            </a:xfrm>
            <a:prstGeom prst="line">
              <a:avLst/>
            </a:prstGeom>
          </p:spPr>
          <p:style>
            <a:lnRef idx="1">
              <a:schemeClr val="accent1"/>
            </a:lnRef>
            <a:fillRef idx="0">
              <a:schemeClr val="accent1"/>
            </a:fillRef>
            <a:effectRef idx="0">
              <a:schemeClr val="accent1"/>
            </a:effectRef>
            <a:fontRef idx="minor">
              <a:schemeClr val="tx1"/>
            </a:fontRef>
          </p:style>
        </p:cxnSp>
        <p:cxnSp>
          <p:nvCxnSpPr>
            <p:cNvPr id="76" name="Straight Connector 75">
              <a:extLst>
                <a:ext uri="{FF2B5EF4-FFF2-40B4-BE49-F238E27FC236}">
                  <a16:creationId xmlns:a16="http://schemas.microsoft.com/office/drawing/2014/main" id="{695C104D-C8D5-2445-B1BE-1F001C418614}"/>
                </a:ext>
              </a:extLst>
            </p:cNvPr>
            <p:cNvCxnSpPr>
              <a:cxnSpLocks/>
              <a:stCxn id="48" idx="2"/>
              <a:endCxn id="51" idx="4"/>
            </p:cNvCxnSpPr>
            <p:nvPr/>
          </p:nvCxnSpPr>
          <p:spPr>
            <a:xfrm flipH="1" flipV="1">
              <a:off x="7286525" y="3183802"/>
              <a:ext cx="3078179" cy="1745806"/>
            </a:xfrm>
            <a:prstGeom prst="line">
              <a:avLst/>
            </a:prstGeom>
          </p:spPr>
          <p:style>
            <a:lnRef idx="1">
              <a:schemeClr val="accent1"/>
            </a:lnRef>
            <a:fillRef idx="0">
              <a:schemeClr val="accent1"/>
            </a:fillRef>
            <a:effectRef idx="0">
              <a:schemeClr val="accent1"/>
            </a:effectRef>
            <a:fontRef idx="minor">
              <a:schemeClr val="tx1"/>
            </a:fontRef>
          </p:style>
        </p:cxnSp>
        <p:cxnSp>
          <p:nvCxnSpPr>
            <p:cNvPr id="77" name="Straight Connector 76">
              <a:extLst>
                <a:ext uri="{FF2B5EF4-FFF2-40B4-BE49-F238E27FC236}">
                  <a16:creationId xmlns:a16="http://schemas.microsoft.com/office/drawing/2014/main" id="{DD61B95F-3EA8-3340-A6EA-3148ECF23B82}"/>
                </a:ext>
              </a:extLst>
            </p:cNvPr>
            <p:cNvCxnSpPr>
              <a:cxnSpLocks/>
              <a:stCxn id="49" idx="2"/>
              <a:endCxn id="51" idx="4"/>
            </p:cNvCxnSpPr>
            <p:nvPr/>
          </p:nvCxnSpPr>
          <p:spPr>
            <a:xfrm flipH="1" flipV="1">
              <a:off x="7286525" y="3183802"/>
              <a:ext cx="3078179" cy="2749232"/>
            </a:xfrm>
            <a:prstGeom prst="line">
              <a:avLst/>
            </a:prstGeom>
            <a:ln w="28575">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79" name="Straight Connector 78">
              <a:extLst>
                <a:ext uri="{FF2B5EF4-FFF2-40B4-BE49-F238E27FC236}">
                  <a16:creationId xmlns:a16="http://schemas.microsoft.com/office/drawing/2014/main" id="{D992932D-02F0-8643-BD52-D69EEF26986F}"/>
                </a:ext>
              </a:extLst>
            </p:cNvPr>
            <p:cNvCxnSpPr>
              <a:cxnSpLocks/>
              <a:stCxn id="47" idx="2"/>
              <a:endCxn id="52" idx="4"/>
            </p:cNvCxnSpPr>
            <p:nvPr/>
          </p:nvCxnSpPr>
          <p:spPr>
            <a:xfrm flipH="1" flipV="1">
              <a:off x="8452914" y="3183802"/>
              <a:ext cx="1911790" cy="742380"/>
            </a:xfrm>
            <a:prstGeom prst="line">
              <a:avLst/>
            </a:prstGeom>
          </p:spPr>
          <p:style>
            <a:lnRef idx="1">
              <a:schemeClr val="accent1"/>
            </a:lnRef>
            <a:fillRef idx="0">
              <a:schemeClr val="accent1"/>
            </a:fillRef>
            <a:effectRef idx="0">
              <a:schemeClr val="accent1"/>
            </a:effectRef>
            <a:fontRef idx="minor">
              <a:schemeClr val="tx1"/>
            </a:fontRef>
          </p:style>
        </p:cxnSp>
        <p:cxnSp>
          <p:nvCxnSpPr>
            <p:cNvPr id="80" name="Straight Connector 79">
              <a:extLst>
                <a:ext uri="{FF2B5EF4-FFF2-40B4-BE49-F238E27FC236}">
                  <a16:creationId xmlns:a16="http://schemas.microsoft.com/office/drawing/2014/main" id="{FAE71D92-3FA9-5746-A9E2-E9F585FA5071}"/>
                </a:ext>
              </a:extLst>
            </p:cNvPr>
            <p:cNvCxnSpPr>
              <a:cxnSpLocks/>
              <a:stCxn id="48" idx="2"/>
              <a:endCxn id="52" idx="4"/>
            </p:cNvCxnSpPr>
            <p:nvPr/>
          </p:nvCxnSpPr>
          <p:spPr>
            <a:xfrm flipH="1" flipV="1">
              <a:off x="8452914" y="3183802"/>
              <a:ext cx="1911790" cy="1745806"/>
            </a:xfrm>
            <a:prstGeom prst="line">
              <a:avLst/>
            </a:prstGeom>
          </p:spPr>
          <p:style>
            <a:lnRef idx="1">
              <a:schemeClr val="accent1"/>
            </a:lnRef>
            <a:fillRef idx="0">
              <a:schemeClr val="accent1"/>
            </a:fillRef>
            <a:effectRef idx="0">
              <a:schemeClr val="accent1"/>
            </a:effectRef>
            <a:fontRef idx="minor">
              <a:schemeClr val="tx1"/>
            </a:fontRef>
          </p:style>
        </p:cxnSp>
        <p:cxnSp>
          <p:nvCxnSpPr>
            <p:cNvPr id="82" name="Straight Connector 81">
              <a:extLst>
                <a:ext uri="{FF2B5EF4-FFF2-40B4-BE49-F238E27FC236}">
                  <a16:creationId xmlns:a16="http://schemas.microsoft.com/office/drawing/2014/main" id="{B394F35E-5123-334F-926D-5BAF779E18EC}"/>
                </a:ext>
              </a:extLst>
            </p:cNvPr>
            <p:cNvCxnSpPr>
              <a:cxnSpLocks/>
              <a:stCxn id="49" idx="2"/>
              <a:endCxn id="52" idx="4"/>
            </p:cNvCxnSpPr>
            <p:nvPr/>
          </p:nvCxnSpPr>
          <p:spPr>
            <a:xfrm flipH="1" flipV="1">
              <a:off x="8452914" y="3183802"/>
              <a:ext cx="1911790" cy="2749232"/>
            </a:xfrm>
            <a:prstGeom prst="line">
              <a:avLst/>
            </a:prstGeom>
          </p:spPr>
          <p:style>
            <a:lnRef idx="1">
              <a:schemeClr val="accent1"/>
            </a:lnRef>
            <a:fillRef idx="0">
              <a:schemeClr val="accent1"/>
            </a:fillRef>
            <a:effectRef idx="0">
              <a:schemeClr val="accent1"/>
            </a:effectRef>
            <a:fontRef idx="minor">
              <a:schemeClr val="tx1"/>
            </a:fontRef>
          </p:style>
        </p:cxnSp>
        <p:cxnSp>
          <p:nvCxnSpPr>
            <p:cNvPr id="83" name="Straight Connector 82">
              <a:extLst>
                <a:ext uri="{FF2B5EF4-FFF2-40B4-BE49-F238E27FC236}">
                  <a16:creationId xmlns:a16="http://schemas.microsoft.com/office/drawing/2014/main" id="{4A4B6B3D-C261-0C49-86B3-9CC4BA86F15C}"/>
                </a:ext>
              </a:extLst>
            </p:cNvPr>
            <p:cNvCxnSpPr>
              <a:cxnSpLocks/>
              <a:stCxn id="47" idx="2"/>
              <a:endCxn id="54" idx="4"/>
            </p:cNvCxnSpPr>
            <p:nvPr/>
          </p:nvCxnSpPr>
          <p:spPr>
            <a:xfrm flipH="1" flipV="1">
              <a:off x="9619303" y="3183802"/>
              <a:ext cx="745401" cy="742380"/>
            </a:xfrm>
            <a:prstGeom prst="line">
              <a:avLst/>
            </a:prstGeom>
          </p:spPr>
          <p:style>
            <a:lnRef idx="1">
              <a:schemeClr val="accent1"/>
            </a:lnRef>
            <a:fillRef idx="0">
              <a:schemeClr val="accent1"/>
            </a:fillRef>
            <a:effectRef idx="0">
              <a:schemeClr val="accent1"/>
            </a:effectRef>
            <a:fontRef idx="minor">
              <a:schemeClr val="tx1"/>
            </a:fontRef>
          </p:style>
        </p:cxnSp>
        <p:cxnSp>
          <p:nvCxnSpPr>
            <p:cNvPr id="85" name="Straight Connector 84">
              <a:extLst>
                <a:ext uri="{FF2B5EF4-FFF2-40B4-BE49-F238E27FC236}">
                  <a16:creationId xmlns:a16="http://schemas.microsoft.com/office/drawing/2014/main" id="{5F3AC2C9-C8AE-514C-AD21-93A3DA3F0C16}"/>
                </a:ext>
              </a:extLst>
            </p:cNvPr>
            <p:cNvCxnSpPr>
              <a:cxnSpLocks/>
              <a:stCxn id="48" idx="2"/>
              <a:endCxn id="54" idx="4"/>
            </p:cNvCxnSpPr>
            <p:nvPr/>
          </p:nvCxnSpPr>
          <p:spPr>
            <a:xfrm flipH="1" flipV="1">
              <a:off x="9619303" y="3183802"/>
              <a:ext cx="745401" cy="1745806"/>
            </a:xfrm>
            <a:prstGeom prst="line">
              <a:avLst/>
            </a:prstGeom>
          </p:spPr>
          <p:style>
            <a:lnRef idx="1">
              <a:schemeClr val="accent1"/>
            </a:lnRef>
            <a:fillRef idx="0">
              <a:schemeClr val="accent1"/>
            </a:fillRef>
            <a:effectRef idx="0">
              <a:schemeClr val="accent1"/>
            </a:effectRef>
            <a:fontRef idx="minor">
              <a:schemeClr val="tx1"/>
            </a:fontRef>
          </p:style>
        </p:cxnSp>
        <p:cxnSp>
          <p:nvCxnSpPr>
            <p:cNvPr id="86" name="Straight Connector 85">
              <a:extLst>
                <a:ext uri="{FF2B5EF4-FFF2-40B4-BE49-F238E27FC236}">
                  <a16:creationId xmlns:a16="http://schemas.microsoft.com/office/drawing/2014/main" id="{86C0B03D-BB65-524B-8822-D9B1AC15EB10}"/>
                </a:ext>
              </a:extLst>
            </p:cNvPr>
            <p:cNvCxnSpPr>
              <a:cxnSpLocks/>
              <a:stCxn id="49" idx="2"/>
              <a:endCxn id="54" idx="4"/>
            </p:cNvCxnSpPr>
            <p:nvPr/>
          </p:nvCxnSpPr>
          <p:spPr>
            <a:xfrm flipH="1" flipV="1">
              <a:off x="9619303" y="3183802"/>
              <a:ext cx="745401" cy="2749232"/>
            </a:xfrm>
            <a:prstGeom prst="line">
              <a:avLst/>
            </a:prstGeom>
          </p:spPr>
          <p:style>
            <a:lnRef idx="1">
              <a:schemeClr val="accent1"/>
            </a:lnRef>
            <a:fillRef idx="0">
              <a:schemeClr val="accent1"/>
            </a:fillRef>
            <a:effectRef idx="0">
              <a:schemeClr val="accent1"/>
            </a:effectRef>
            <a:fontRef idx="minor">
              <a:schemeClr val="tx1"/>
            </a:fontRef>
          </p:style>
        </p:cxnSp>
        <p:sp>
          <p:nvSpPr>
            <p:cNvPr id="87" name="Content Placeholder 2">
              <a:extLst>
                <a:ext uri="{FF2B5EF4-FFF2-40B4-BE49-F238E27FC236}">
                  <a16:creationId xmlns:a16="http://schemas.microsoft.com/office/drawing/2014/main" id="{8BFB02D9-9E57-C240-8FC2-971E5E22AA16}"/>
                </a:ext>
              </a:extLst>
            </p:cNvPr>
            <p:cNvSpPr txBox="1">
              <a:spLocks/>
            </p:cNvSpPr>
            <p:nvPr/>
          </p:nvSpPr>
          <p:spPr>
            <a:xfrm>
              <a:off x="10514088" y="2907814"/>
              <a:ext cx="655694" cy="478637"/>
            </a:xfrm>
            <a:prstGeom prst="rect">
              <a:avLst/>
            </a:prstGeom>
            <a:ln>
              <a:noFill/>
            </a:ln>
          </p:spPr>
          <p:txBody>
            <a:bodyPr vert="horz" lIns="91440" tIns="45720" rIns="91440" bIns="45720" rtlCol="0">
              <a:normAutofit fontScale="925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i="1" dirty="0">
                  <a:solidFill>
                    <a:schemeClr val="accent1"/>
                  </a:solidFill>
                </a:rPr>
                <a:t>k=3</a:t>
              </a:r>
            </a:p>
          </p:txBody>
        </p:sp>
      </p:grpSp>
      <mc:AlternateContent xmlns:mc="http://schemas.openxmlformats.org/markup-compatibility/2006" xmlns:a14="http://schemas.microsoft.com/office/drawing/2010/main">
        <mc:Choice Requires="a14">
          <p:sp>
            <p:nvSpPr>
              <p:cNvPr id="41" name="Content Placeholder 2">
                <a:extLst>
                  <a:ext uri="{FF2B5EF4-FFF2-40B4-BE49-F238E27FC236}">
                    <a16:creationId xmlns:a16="http://schemas.microsoft.com/office/drawing/2014/main" id="{54F3A816-4F3A-2547-B9E2-F1D2AFCCC5CF}"/>
                  </a:ext>
                </a:extLst>
              </p:cNvPr>
              <p:cNvSpPr txBox="1">
                <a:spLocks/>
              </p:cNvSpPr>
              <p:nvPr/>
            </p:nvSpPr>
            <p:spPr>
              <a:xfrm>
                <a:off x="6643640" y="3209625"/>
                <a:ext cx="4953840" cy="3254558"/>
              </a:xfrm>
              <a:prstGeom prst="rect">
                <a:avLst/>
              </a:prstGeom>
              <a:ln>
                <a:solidFill>
                  <a:schemeClr val="tx1">
                    <a:lumMod val="95000"/>
                  </a:schemeClr>
                </a:solidFill>
              </a:ln>
            </p:spPr>
            <p:txBody>
              <a:bodyPr vert="horz" lIns="91440" tIns="45720" rIns="91440" bIns="45720" rtlCol="0">
                <a:normAutofit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800" b="1" i="1" u="sng" dirty="0"/>
                  <a:t>Proof</a:t>
                </a:r>
                <a:r>
                  <a:rPr lang="en-US" sz="1800" i="1" dirty="0"/>
                  <a:t>:</a:t>
                </a:r>
                <a:br>
                  <a:rPr lang="en-US" sz="1800" i="1" dirty="0"/>
                </a:br>
                <a14:m>
                  <m:oMath xmlns:m="http://schemas.openxmlformats.org/officeDocument/2006/math">
                    <m:r>
                      <a:rPr lang="en-US" sz="1800" i="1" smtClean="0">
                        <a:latin typeface="Cambria Math" panose="02040503050406030204" pitchFamily="18" charset="0"/>
                      </a:rPr>
                      <m:t>𝜃</m:t>
                    </m:r>
                  </m:oMath>
                </a14:m>
                <a:r>
                  <a:rPr lang="en-US" sz="1800" i="1" dirty="0"/>
                  <a:t> is satisfiable</a:t>
                </a:r>
                <a:br>
                  <a:rPr lang="en-US" sz="1800" i="1" dirty="0"/>
                </a:br>
                <a:r>
                  <a:rPr lang="en-US" sz="1800" i="1" dirty="0"/>
                  <a:t>This means at least one variable is true in each clause</a:t>
                </a:r>
                <a:br>
                  <a:rPr lang="en-US" sz="1800" i="1" dirty="0"/>
                </a:br>
                <a:r>
                  <a:rPr lang="en-US" sz="1800" i="1" dirty="0"/>
                  <a:t>Take one true variable from each clause (k total)</a:t>
                </a:r>
                <a:br>
                  <a:rPr lang="en-US" sz="1800" i="1" dirty="0"/>
                </a:br>
                <a:r>
                  <a:rPr lang="en-US" sz="1800" i="1" dirty="0"/>
                  <a:t>Find their nodes in G</a:t>
                </a:r>
                <a:br>
                  <a:rPr lang="en-US" sz="1800" i="1" dirty="0"/>
                </a:br>
                <a:r>
                  <a:rPr lang="en-US" sz="1800" i="1" dirty="0"/>
                  <a:t>These nodes MUST be a clique of size k</a:t>
                </a:r>
                <a:br>
                  <a:rPr lang="en-US" sz="1800" i="1" dirty="0"/>
                </a:br>
                <a:r>
                  <a:rPr lang="en-US" sz="1800" i="1" dirty="0"/>
                  <a:t>   Each of the k nodes is connected to each other:</a:t>
                </a:r>
                <a:br>
                  <a:rPr lang="en-US" sz="1800" i="1" dirty="0"/>
                </a:br>
                <a:r>
                  <a:rPr lang="en-US" sz="1800" i="1" dirty="0"/>
                  <a:t>      They are in a different clause</a:t>
                </a:r>
                <a:br>
                  <a:rPr lang="en-US" sz="1800" i="1" dirty="0"/>
                </a:br>
                <a:r>
                  <a:rPr lang="en-US" sz="1800" i="1" dirty="0"/>
                  <a:t>      They can both be assigned true</a:t>
                </a:r>
                <a:br>
                  <a:rPr lang="en-US" sz="1800" i="1" dirty="0"/>
                </a:br>
                <a:r>
                  <a:rPr lang="en-US" sz="1800" i="1" dirty="0"/>
                  <a:t>Q.E.D.</a:t>
                </a:r>
              </a:p>
            </p:txBody>
          </p:sp>
        </mc:Choice>
        <mc:Fallback xmlns="">
          <p:sp>
            <p:nvSpPr>
              <p:cNvPr id="41" name="Content Placeholder 2">
                <a:extLst>
                  <a:ext uri="{FF2B5EF4-FFF2-40B4-BE49-F238E27FC236}">
                    <a16:creationId xmlns:a16="http://schemas.microsoft.com/office/drawing/2014/main" id="{54F3A816-4F3A-2547-B9E2-F1D2AFCCC5CF}"/>
                  </a:ext>
                </a:extLst>
              </p:cNvPr>
              <p:cNvSpPr txBox="1">
                <a:spLocks noRot="1" noChangeAspect="1" noMove="1" noResize="1" noEditPoints="1" noAdjustHandles="1" noChangeArrowheads="1" noChangeShapeType="1" noTextEdit="1"/>
              </p:cNvSpPr>
              <p:nvPr/>
            </p:nvSpPr>
            <p:spPr>
              <a:xfrm>
                <a:off x="6643640" y="3209625"/>
                <a:ext cx="4953840" cy="3254558"/>
              </a:xfrm>
              <a:prstGeom prst="rect">
                <a:avLst/>
              </a:prstGeom>
              <a:blipFill>
                <a:blip r:embed="rId14"/>
                <a:stretch>
                  <a:fillRect l="-1020" t="-388"/>
                </a:stretch>
              </a:blipFill>
              <a:ln>
                <a:solidFill>
                  <a:schemeClr val="tx1">
                    <a:lumMod val="95000"/>
                  </a:schemeClr>
                </a:solidFill>
              </a:ln>
            </p:spPr>
            <p:txBody>
              <a:bodyPr/>
              <a:lstStyle/>
              <a:p>
                <a:r>
                  <a:rPr lang="en-US">
                    <a:noFill/>
                  </a:rPr>
                  <a:t> </a:t>
                </a:r>
              </a:p>
            </p:txBody>
          </p:sp>
        </mc:Fallback>
      </mc:AlternateContent>
      <p:sp>
        <p:nvSpPr>
          <p:cNvPr id="4" name="Rectangle 3">
            <a:extLst>
              <a:ext uri="{FF2B5EF4-FFF2-40B4-BE49-F238E27FC236}">
                <a16:creationId xmlns:a16="http://schemas.microsoft.com/office/drawing/2014/main" id="{B2DBFC0D-5A02-D64C-A99C-DD6F7D69B824}"/>
              </a:ext>
            </a:extLst>
          </p:cNvPr>
          <p:cNvSpPr/>
          <p:nvPr/>
        </p:nvSpPr>
        <p:spPr>
          <a:xfrm>
            <a:off x="1837844" y="1421388"/>
            <a:ext cx="416460" cy="488901"/>
          </a:xfrm>
          <a:prstGeom prst="rect">
            <a:avLst/>
          </a:prstGeom>
          <a:noFill/>
          <a:ln w="1905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Rectangle 42">
            <a:extLst>
              <a:ext uri="{FF2B5EF4-FFF2-40B4-BE49-F238E27FC236}">
                <a16:creationId xmlns:a16="http://schemas.microsoft.com/office/drawing/2014/main" id="{A55874E4-997A-6B45-AEEE-BA54C2701FF6}"/>
              </a:ext>
            </a:extLst>
          </p:cNvPr>
          <p:cNvSpPr/>
          <p:nvPr/>
        </p:nvSpPr>
        <p:spPr>
          <a:xfrm>
            <a:off x="3293857" y="1421105"/>
            <a:ext cx="416460" cy="488901"/>
          </a:xfrm>
          <a:prstGeom prst="rect">
            <a:avLst/>
          </a:prstGeom>
          <a:noFill/>
          <a:ln w="1905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Rectangle 45">
            <a:extLst>
              <a:ext uri="{FF2B5EF4-FFF2-40B4-BE49-F238E27FC236}">
                <a16:creationId xmlns:a16="http://schemas.microsoft.com/office/drawing/2014/main" id="{AA86952D-B7B3-2E47-B0EE-532D3E171B3A}"/>
              </a:ext>
            </a:extLst>
          </p:cNvPr>
          <p:cNvSpPr/>
          <p:nvPr/>
        </p:nvSpPr>
        <p:spPr>
          <a:xfrm>
            <a:off x="6643640" y="1421104"/>
            <a:ext cx="416460" cy="488901"/>
          </a:xfrm>
          <a:prstGeom prst="rect">
            <a:avLst/>
          </a:prstGeom>
          <a:noFill/>
          <a:ln w="1905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616675604"/>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p:cNvSpPr>
                <a:spLocks noGrp="1"/>
              </p:cNvSpPr>
              <p:nvPr>
                <p:ph type="title"/>
              </p:nvPr>
            </p:nvSpPr>
            <p:spPr>
              <a:xfrm>
                <a:off x="1141413" y="274490"/>
                <a:ext cx="9905998" cy="612753"/>
              </a:xfrm>
            </p:spPr>
            <p:txBody>
              <a:bodyPr>
                <a:normAutofit fontScale="90000"/>
              </a:bodyPr>
              <a:lstStyle/>
              <a:p>
                <a:pPr algn="ctr"/>
                <a14:m>
                  <m:oMath xmlns:m="http://schemas.openxmlformats.org/officeDocument/2006/math">
                    <m:r>
                      <a:rPr lang="en-US" b="0" i="1" smtClean="0">
                        <a:latin typeface="Cambria Math" panose="02040503050406030204" pitchFamily="18" charset="0"/>
                      </a:rPr>
                      <m:t>3</m:t>
                    </m:r>
                    <m:r>
                      <a:rPr lang="en-US" b="0" i="1" smtClean="0">
                        <a:latin typeface="Cambria Math" panose="02040503050406030204" pitchFamily="18" charset="0"/>
                      </a:rPr>
                      <m:t>𝑆𝐴𝑇</m:t>
                    </m:r>
                    <m:sSub>
                      <m:sSubPr>
                        <m:ctrlPr>
                          <a:rPr lang="en-US" b="0" i="1" smtClean="0">
                            <a:latin typeface="Cambria Math" panose="02040503050406030204" pitchFamily="18" charset="0"/>
                          </a:rPr>
                        </m:ctrlPr>
                      </m:sSubPr>
                      <m:e>
                        <m:r>
                          <a:rPr lang="en-US" b="0" i="1" smtClean="0">
                            <a:latin typeface="Cambria Math" panose="02040503050406030204" pitchFamily="18" charset="0"/>
                          </a:rPr>
                          <m:t>≤</m:t>
                        </m:r>
                      </m:e>
                      <m:sub>
                        <m:r>
                          <a:rPr lang="en-US" b="0" i="1" smtClean="0">
                            <a:latin typeface="Cambria Math" panose="02040503050406030204" pitchFamily="18" charset="0"/>
                          </a:rPr>
                          <m:t>𝑝</m:t>
                        </m:r>
                      </m:sub>
                    </m:sSub>
                    <m:r>
                      <a:rPr lang="en-US" b="0" i="1" smtClean="0">
                        <a:latin typeface="Cambria Math" panose="02040503050406030204" pitchFamily="18" charset="0"/>
                      </a:rPr>
                      <m:t>𝐶𝑙𝑖𝑞𝑢𝑒</m:t>
                    </m:r>
                  </m:oMath>
                </a14:m>
                <a:r>
                  <a:rPr lang="en-US" dirty="0"/>
                  <a:t>, Proof</a:t>
                </a:r>
              </a:p>
            </p:txBody>
          </p:sp>
        </mc:Choice>
        <mc:Fallback xmlns="">
          <p:sp>
            <p:nvSpPr>
              <p:cNvPr id="2" name="Title 1"/>
              <p:cNvSpPr>
                <a:spLocks noGrp="1" noRot="1" noChangeAspect="1" noMove="1" noResize="1" noEditPoints="1" noAdjustHandles="1" noChangeArrowheads="1" noChangeShapeType="1" noTextEdit="1"/>
              </p:cNvSpPr>
              <p:nvPr>
                <p:ph type="title"/>
              </p:nvPr>
            </p:nvSpPr>
            <p:spPr>
              <a:xfrm>
                <a:off x="1141413" y="274490"/>
                <a:ext cx="9905998" cy="612753"/>
              </a:xfrm>
              <a:blipFill>
                <a:blip r:embed="rId2"/>
                <a:stretch>
                  <a:fillRect t="-16327" b="-2040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Content Placeholder 2"/>
              <p:cNvSpPr>
                <a:spLocks noGrp="1"/>
              </p:cNvSpPr>
              <p:nvPr>
                <p:ph sz="quarter" idx="1"/>
              </p:nvPr>
            </p:nvSpPr>
            <p:spPr>
              <a:xfrm>
                <a:off x="7668898" y="1366507"/>
                <a:ext cx="3653159" cy="1503170"/>
              </a:xfrm>
              <a:ln>
                <a:solidFill>
                  <a:schemeClr val="tx1">
                    <a:lumMod val="95000"/>
                  </a:schemeClr>
                </a:solidFill>
              </a:ln>
            </p:spPr>
            <p:txBody>
              <a:bodyPr>
                <a:normAutofit/>
              </a:bodyPr>
              <a:lstStyle/>
              <a:p>
                <a:pPr marL="0" indent="0" algn="ctr">
                  <a:buNone/>
                </a:pPr>
                <a:r>
                  <a:rPr lang="en-US" b="1" i="1" u="sng" dirty="0"/>
                  <a:t>Direction 2</a:t>
                </a:r>
                <a:r>
                  <a:rPr lang="en-US" i="1" dirty="0"/>
                  <a:t>:</a:t>
                </a:r>
                <a:br>
                  <a:rPr lang="en-US" i="1" dirty="0"/>
                </a:br>
                <a:r>
                  <a:rPr lang="en-US" i="1" dirty="0"/>
                  <a:t>G contains a clique of size k </a:t>
                </a:r>
                <a:r>
                  <a:rPr lang="en-US" i="1" dirty="0">
                    <a:sym typeface="Wingdings" pitchFamily="2" charset="2"/>
                  </a:rPr>
                  <a:t></a:t>
                </a:r>
                <a:r>
                  <a:rPr lang="en-US" i="1" dirty="0"/>
                  <a:t> </a:t>
                </a:r>
                <a14:m>
                  <m:oMath xmlns:m="http://schemas.openxmlformats.org/officeDocument/2006/math">
                    <m:r>
                      <a:rPr lang="en-US" i="1">
                        <a:latin typeface="Cambria Math" panose="02040503050406030204" pitchFamily="18" charset="0"/>
                      </a:rPr>
                      <m:t>𝜃</m:t>
                    </m:r>
                  </m:oMath>
                </a14:m>
                <a:r>
                  <a:rPr lang="en-US" i="1" dirty="0"/>
                  <a:t> is satisfiable</a:t>
                </a:r>
              </a:p>
            </p:txBody>
          </p:sp>
        </mc:Choice>
        <mc:Fallback xmlns="">
          <p:sp>
            <p:nvSpPr>
              <p:cNvPr id="3" name="Content Placeholder 2"/>
              <p:cNvSpPr>
                <a:spLocks noGrp="1" noRot="1" noChangeAspect="1" noMove="1" noResize="1" noEditPoints="1" noAdjustHandles="1" noChangeArrowheads="1" noChangeShapeType="1" noTextEdit="1"/>
              </p:cNvSpPr>
              <p:nvPr>
                <p:ph sz="quarter" idx="1"/>
              </p:nvPr>
            </p:nvSpPr>
            <p:spPr>
              <a:xfrm>
                <a:off x="7668898" y="1366507"/>
                <a:ext cx="3653159" cy="1503170"/>
              </a:xfrm>
              <a:blipFill>
                <a:blip r:embed="rId3"/>
                <a:stretch>
                  <a:fillRect l="-690" t="-1681" r="-2414"/>
                </a:stretch>
              </a:blipFill>
              <a:ln>
                <a:solidFill>
                  <a:schemeClr val="tx1">
                    <a:lumMod val="95000"/>
                  </a:schemeClr>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Content Placeholder 2">
                <a:extLst>
                  <a:ext uri="{FF2B5EF4-FFF2-40B4-BE49-F238E27FC236}">
                    <a16:creationId xmlns:a16="http://schemas.microsoft.com/office/drawing/2014/main" id="{E8FD7EC5-F759-3443-A400-8D08882410D9}"/>
                  </a:ext>
                </a:extLst>
              </p:cNvPr>
              <p:cNvSpPr txBox="1">
                <a:spLocks/>
              </p:cNvSpPr>
              <p:nvPr/>
            </p:nvSpPr>
            <p:spPr>
              <a:xfrm>
                <a:off x="516721" y="1366507"/>
                <a:ext cx="6771310" cy="598099"/>
              </a:xfrm>
              <a:prstGeom prst="rect">
                <a:avLst/>
              </a:prstGeom>
              <a:solidFill>
                <a:schemeClr val="tx1">
                  <a:lumMod val="95000"/>
                </a:schemeClr>
              </a:solidFill>
              <a:ln>
                <a:solidFill>
                  <a:schemeClr val="bg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None/>
                </a:pPr>
                <a14:m>
                  <m:oMathPara xmlns:m="http://schemas.openxmlformats.org/officeDocument/2006/math">
                    <m:oMathParaPr>
                      <m:jc m:val="centerGroup"/>
                    </m:oMathParaPr>
                    <m:oMath xmlns:m="http://schemas.openxmlformats.org/officeDocument/2006/math">
                      <m:r>
                        <a:rPr lang="en-US" b="0" i="1" smtClean="0">
                          <a:solidFill>
                            <a:schemeClr val="bg1"/>
                          </a:solidFill>
                          <a:latin typeface="Cambria Math" panose="02040503050406030204" pitchFamily="18" charset="0"/>
                        </a:rPr>
                        <m:t>𝜃</m:t>
                      </m:r>
                      <m:r>
                        <a:rPr lang="en-US" b="0" i="1" smtClean="0">
                          <a:solidFill>
                            <a:schemeClr val="bg1"/>
                          </a:solidFill>
                          <a:latin typeface="Cambria Math" panose="02040503050406030204" pitchFamily="18" charset="0"/>
                        </a:rPr>
                        <m:t>=</m:t>
                      </m:r>
                      <m:d>
                        <m:dPr>
                          <m:ctrlPr>
                            <a:rPr lang="en-US" b="0" i="1" smtClean="0">
                              <a:solidFill>
                                <a:schemeClr val="bg1"/>
                              </a:solidFill>
                              <a:latin typeface="Cambria Math" panose="02040503050406030204" pitchFamily="18" charset="0"/>
                            </a:rPr>
                          </m:ctrlPr>
                        </m:dPr>
                        <m:e>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𝑥</m:t>
                              </m:r>
                            </m:e>
                            <m:sub>
                              <m:r>
                                <a:rPr lang="en-US" b="0" i="1" smtClean="0">
                                  <a:solidFill>
                                    <a:schemeClr val="bg1"/>
                                  </a:solidFill>
                                  <a:latin typeface="Cambria Math" panose="02040503050406030204" pitchFamily="18" charset="0"/>
                                </a:rPr>
                                <m:t>1</m:t>
                              </m:r>
                            </m:sub>
                          </m:sSub>
                          <m:r>
                            <a:rPr lang="en-US" b="0" i="1" smtClean="0">
                              <a:solidFill>
                                <a:schemeClr val="bg1"/>
                              </a:solidFill>
                              <a:latin typeface="Cambria Math" panose="02040503050406030204" pitchFamily="18" charset="0"/>
                            </a:rPr>
                            <m:t>∨</m:t>
                          </m:r>
                          <m:acc>
                            <m:accPr>
                              <m:chr m:val="̅"/>
                              <m:ctrlPr>
                                <a:rPr lang="en-US" b="0" i="1" smtClean="0">
                                  <a:solidFill>
                                    <a:schemeClr val="bg1"/>
                                  </a:solidFill>
                                  <a:latin typeface="Cambria Math" panose="02040503050406030204" pitchFamily="18" charset="0"/>
                                </a:rPr>
                              </m:ctrlPr>
                            </m:accPr>
                            <m:e>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𝑥</m:t>
                                  </m:r>
                                </m:e>
                                <m:sub>
                                  <m:r>
                                    <a:rPr lang="en-US" b="0" i="1" smtClean="0">
                                      <a:solidFill>
                                        <a:schemeClr val="bg1"/>
                                      </a:solidFill>
                                      <a:latin typeface="Cambria Math" panose="02040503050406030204" pitchFamily="18" charset="0"/>
                                    </a:rPr>
                                    <m:t>2</m:t>
                                  </m:r>
                                </m:sub>
                              </m:sSub>
                            </m:e>
                          </m:acc>
                          <m:r>
                            <a:rPr lang="en-US" b="0" i="1" smtClean="0">
                              <a:solidFill>
                                <a:schemeClr val="bg1"/>
                              </a:solidFill>
                              <a:latin typeface="Cambria Math" panose="02040503050406030204" pitchFamily="18" charset="0"/>
                            </a:rPr>
                            <m:t>∨</m:t>
                          </m:r>
                          <m:acc>
                            <m:accPr>
                              <m:chr m:val="̅"/>
                              <m:ctrlPr>
                                <a:rPr lang="en-US" b="0" i="1" smtClean="0">
                                  <a:solidFill>
                                    <a:schemeClr val="bg1"/>
                                  </a:solidFill>
                                  <a:latin typeface="Cambria Math" panose="02040503050406030204" pitchFamily="18" charset="0"/>
                                </a:rPr>
                              </m:ctrlPr>
                            </m:accPr>
                            <m:e>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𝑥</m:t>
                                  </m:r>
                                </m:e>
                                <m:sub>
                                  <m:r>
                                    <a:rPr lang="en-US" b="0" i="1" smtClean="0">
                                      <a:solidFill>
                                        <a:schemeClr val="bg1"/>
                                      </a:solidFill>
                                      <a:latin typeface="Cambria Math" panose="02040503050406030204" pitchFamily="18" charset="0"/>
                                    </a:rPr>
                                    <m:t>3</m:t>
                                  </m:r>
                                </m:sub>
                              </m:sSub>
                            </m:e>
                          </m:acc>
                        </m:e>
                      </m:d>
                      <m:r>
                        <a:rPr lang="en-US" b="0" i="1" smtClean="0">
                          <a:solidFill>
                            <a:schemeClr val="bg1"/>
                          </a:solidFill>
                          <a:latin typeface="Cambria Math" panose="02040503050406030204" pitchFamily="18" charset="0"/>
                        </a:rPr>
                        <m:t>∧</m:t>
                      </m:r>
                      <m:d>
                        <m:dPr>
                          <m:ctrlPr>
                            <a:rPr lang="en-US" b="0" i="1" smtClean="0">
                              <a:solidFill>
                                <a:schemeClr val="bg1"/>
                              </a:solidFill>
                              <a:latin typeface="Cambria Math" panose="02040503050406030204" pitchFamily="18" charset="0"/>
                            </a:rPr>
                          </m:ctrlPr>
                        </m:dPr>
                        <m:e>
                          <m:acc>
                            <m:accPr>
                              <m:chr m:val="̅"/>
                              <m:ctrlPr>
                                <a:rPr lang="en-US" b="0" i="1" smtClean="0">
                                  <a:solidFill>
                                    <a:schemeClr val="bg1"/>
                                  </a:solidFill>
                                  <a:latin typeface="Cambria Math" panose="02040503050406030204" pitchFamily="18" charset="0"/>
                                </a:rPr>
                              </m:ctrlPr>
                            </m:accPr>
                            <m:e>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𝑥</m:t>
                                  </m:r>
                                </m:e>
                                <m:sub>
                                  <m:r>
                                    <a:rPr lang="en-US" b="0" i="1" smtClean="0">
                                      <a:solidFill>
                                        <a:schemeClr val="bg1"/>
                                      </a:solidFill>
                                      <a:latin typeface="Cambria Math" panose="02040503050406030204" pitchFamily="18" charset="0"/>
                                    </a:rPr>
                                    <m:t>1</m:t>
                                  </m:r>
                                </m:sub>
                              </m:sSub>
                            </m:e>
                          </m:acc>
                          <m:r>
                            <a:rPr lang="en-US" b="0" i="1" smtClean="0">
                              <a:solidFill>
                                <a:schemeClr val="bg1"/>
                              </a:solidFill>
                              <a:latin typeface="Cambria Math" panose="02040503050406030204" pitchFamily="18" charset="0"/>
                            </a:rPr>
                            <m:t>∨</m:t>
                          </m:r>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𝑥</m:t>
                              </m:r>
                            </m:e>
                            <m:sub>
                              <m:r>
                                <a:rPr lang="en-US" b="0" i="1" smtClean="0">
                                  <a:solidFill>
                                    <a:schemeClr val="bg1"/>
                                  </a:solidFill>
                                  <a:latin typeface="Cambria Math" panose="02040503050406030204" pitchFamily="18" charset="0"/>
                                </a:rPr>
                                <m:t>2</m:t>
                              </m:r>
                            </m:sub>
                          </m:sSub>
                          <m:r>
                            <a:rPr lang="en-US" b="0" i="1" smtClean="0">
                              <a:solidFill>
                                <a:schemeClr val="bg1"/>
                              </a:solidFill>
                              <a:latin typeface="Cambria Math" panose="02040503050406030204" pitchFamily="18" charset="0"/>
                            </a:rPr>
                            <m:t>∨</m:t>
                          </m:r>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𝑥</m:t>
                              </m:r>
                            </m:e>
                            <m:sub>
                              <m:r>
                                <a:rPr lang="en-US" b="0" i="1" smtClean="0">
                                  <a:solidFill>
                                    <a:schemeClr val="bg1"/>
                                  </a:solidFill>
                                  <a:latin typeface="Cambria Math" panose="02040503050406030204" pitchFamily="18" charset="0"/>
                                </a:rPr>
                                <m:t>3</m:t>
                              </m:r>
                            </m:sub>
                          </m:sSub>
                        </m:e>
                      </m:d>
                      <m:r>
                        <a:rPr lang="en-US" b="0" i="1" smtClean="0">
                          <a:solidFill>
                            <a:schemeClr val="bg1"/>
                          </a:solidFill>
                          <a:latin typeface="Cambria Math" panose="02040503050406030204" pitchFamily="18" charset="0"/>
                        </a:rPr>
                        <m:t>∧(</m:t>
                      </m:r>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𝑥</m:t>
                          </m:r>
                        </m:e>
                        <m:sub>
                          <m:r>
                            <a:rPr lang="en-US" b="0" i="1" smtClean="0">
                              <a:solidFill>
                                <a:schemeClr val="bg1"/>
                              </a:solidFill>
                              <a:latin typeface="Cambria Math" panose="02040503050406030204" pitchFamily="18" charset="0"/>
                            </a:rPr>
                            <m:t>1</m:t>
                          </m:r>
                        </m:sub>
                      </m:sSub>
                      <m:r>
                        <a:rPr lang="en-US" b="0" i="1" smtClean="0">
                          <a:solidFill>
                            <a:schemeClr val="bg1"/>
                          </a:solidFill>
                          <a:latin typeface="Cambria Math" panose="02040503050406030204" pitchFamily="18" charset="0"/>
                        </a:rPr>
                        <m:t>∨</m:t>
                      </m:r>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𝑥</m:t>
                          </m:r>
                        </m:e>
                        <m:sub>
                          <m:r>
                            <a:rPr lang="en-US" b="0" i="1" smtClean="0">
                              <a:solidFill>
                                <a:schemeClr val="bg1"/>
                              </a:solidFill>
                              <a:latin typeface="Cambria Math" panose="02040503050406030204" pitchFamily="18" charset="0"/>
                            </a:rPr>
                            <m:t>2</m:t>
                          </m:r>
                        </m:sub>
                      </m:sSub>
                      <m:r>
                        <a:rPr lang="en-US" b="0" i="1" smtClean="0">
                          <a:solidFill>
                            <a:schemeClr val="bg1"/>
                          </a:solidFill>
                          <a:latin typeface="Cambria Math" panose="02040503050406030204" pitchFamily="18" charset="0"/>
                        </a:rPr>
                        <m:t>∨</m:t>
                      </m:r>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𝑥</m:t>
                          </m:r>
                        </m:e>
                        <m:sub>
                          <m:r>
                            <a:rPr lang="en-US" b="0" i="1" smtClean="0">
                              <a:solidFill>
                                <a:schemeClr val="bg1"/>
                              </a:solidFill>
                              <a:latin typeface="Cambria Math" panose="02040503050406030204" pitchFamily="18" charset="0"/>
                            </a:rPr>
                            <m:t>3</m:t>
                          </m:r>
                        </m:sub>
                      </m:sSub>
                      <m:r>
                        <a:rPr lang="en-US" b="0" i="1" smtClean="0">
                          <a:solidFill>
                            <a:schemeClr val="bg1"/>
                          </a:solidFill>
                          <a:latin typeface="Cambria Math" panose="02040503050406030204" pitchFamily="18" charset="0"/>
                        </a:rPr>
                        <m:t>)</m:t>
                      </m:r>
                    </m:oMath>
                  </m:oMathPara>
                </a14:m>
                <a:endParaRPr lang="en-US" dirty="0">
                  <a:solidFill>
                    <a:schemeClr val="bg1"/>
                  </a:solidFill>
                </a:endParaRPr>
              </a:p>
            </p:txBody>
          </p:sp>
        </mc:Choice>
        <mc:Fallback xmlns="">
          <p:sp>
            <p:nvSpPr>
              <p:cNvPr id="5" name="Content Placeholder 2">
                <a:extLst>
                  <a:ext uri="{FF2B5EF4-FFF2-40B4-BE49-F238E27FC236}">
                    <a16:creationId xmlns:a16="http://schemas.microsoft.com/office/drawing/2014/main" id="{E8FD7EC5-F759-3443-A400-8D08882410D9}"/>
                  </a:ext>
                </a:extLst>
              </p:cNvPr>
              <p:cNvSpPr txBox="1">
                <a:spLocks noRot="1" noChangeAspect="1" noMove="1" noResize="1" noEditPoints="1" noAdjustHandles="1" noChangeArrowheads="1" noChangeShapeType="1" noTextEdit="1"/>
              </p:cNvSpPr>
              <p:nvPr/>
            </p:nvSpPr>
            <p:spPr>
              <a:xfrm>
                <a:off x="516721" y="1366507"/>
                <a:ext cx="6771310" cy="598099"/>
              </a:xfrm>
              <a:prstGeom prst="rect">
                <a:avLst/>
              </a:prstGeom>
              <a:blipFill>
                <a:blip r:embed="rId4"/>
                <a:stretch>
                  <a:fillRect l="-374"/>
                </a:stretch>
              </a:blipFill>
              <a:ln>
                <a:solidFill>
                  <a:schemeClr val="bg1"/>
                </a:solidFill>
              </a:ln>
            </p:spPr>
            <p:txBody>
              <a:bodyPr/>
              <a:lstStyle/>
              <a:p>
                <a:r>
                  <a:rPr lang="en-US">
                    <a:noFill/>
                  </a:rPr>
                  <a:t> </a:t>
                </a:r>
              </a:p>
            </p:txBody>
          </p:sp>
        </mc:Fallback>
      </mc:AlternateContent>
      <p:sp>
        <p:nvSpPr>
          <p:cNvPr id="6" name="Content Placeholder 2">
            <a:extLst>
              <a:ext uri="{FF2B5EF4-FFF2-40B4-BE49-F238E27FC236}">
                <a16:creationId xmlns:a16="http://schemas.microsoft.com/office/drawing/2014/main" id="{FF448FEF-4075-E342-87D1-5ACB33834248}"/>
              </a:ext>
            </a:extLst>
          </p:cNvPr>
          <p:cNvSpPr txBox="1">
            <a:spLocks/>
          </p:cNvSpPr>
          <p:nvPr/>
        </p:nvSpPr>
        <p:spPr>
          <a:xfrm>
            <a:off x="516720" y="1046939"/>
            <a:ext cx="6771311" cy="356343"/>
          </a:xfrm>
          <a:prstGeom prst="rect">
            <a:avLst/>
          </a:prstGeom>
          <a:noFill/>
          <a:ln>
            <a:noFill/>
          </a:ln>
        </p:spPr>
        <p:txBody>
          <a:bodyPr vert="horz" lIns="91440" tIns="45720" rIns="91440" bIns="45720" rtlCol="0">
            <a:normAutofit fontScale="700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None/>
            </a:pPr>
            <a:r>
              <a:rPr lang="en-US" dirty="0">
                <a:solidFill>
                  <a:schemeClr val="tx1">
                    <a:lumMod val="95000"/>
                  </a:schemeClr>
                </a:solidFill>
              </a:rPr>
              <a:t>Consider this 3-SAT formula:</a:t>
            </a:r>
          </a:p>
        </p:txBody>
      </p:sp>
      <p:grpSp>
        <p:nvGrpSpPr>
          <p:cNvPr id="17" name="Group 16">
            <a:extLst>
              <a:ext uri="{FF2B5EF4-FFF2-40B4-BE49-F238E27FC236}">
                <a16:creationId xmlns:a16="http://schemas.microsoft.com/office/drawing/2014/main" id="{3906D9CC-3F1A-384E-894F-E2F7F41ED5EA}"/>
              </a:ext>
            </a:extLst>
          </p:cNvPr>
          <p:cNvGrpSpPr/>
          <p:nvPr/>
        </p:nvGrpSpPr>
        <p:grpSpPr>
          <a:xfrm>
            <a:off x="852441" y="2181891"/>
            <a:ext cx="5477346" cy="3974471"/>
            <a:chOff x="5739894" y="2471596"/>
            <a:chExt cx="5477346" cy="3974471"/>
          </a:xfrm>
        </p:grpSpPr>
        <mc:AlternateContent xmlns:mc="http://schemas.openxmlformats.org/markup-compatibility/2006" xmlns:a14="http://schemas.microsoft.com/office/drawing/2010/main">
          <mc:Choice Requires="a14">
            <p:sp>
              <p:nvSpPr>
                <p:cNvPr id="42" name="Oval 41">
                  <a:extLst>
                    <a:ext uri="{FF2B5EF4-FFF2-40B4-BE49-F238E27FC236}">
                      <a16:creationId xmlns:a16="http://schemas.microsoft.com/office/drawing/2014/main" id="{EBC588D3-1610-BB46-90DD-92C05B1E0A97}"/>
                    </a:ext>
                  </a:extLst>
                </p:cNvPr>
                <p:cNvSpPr/>
                <p:nvPr/>
              </p:nvSpPr>
              <p:spPr>
                <a:xfrm>
                  <a:off x="5948121" y="3657595"/>
                  <a:ext cx="543208" cy="543208"/>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b="0" i="1" smtClean="0">
                            <a:solidFill>
                              <a:schemeClr val="bg1"/>
                            </a:solidFill>
                            <a:latin typeface="Cambria Math" panose="02040503050406030204" pitchFamily="18" charset="0"/>
                          </a:rPr>
                          <m:t> </m:t>
                        </m:r>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𝑥</m:t>
                            </m:r>
                          </m:e>
                          <m:sub>
                            <m:r>
                              <a:rPr lang="en-US" b="0" i="1" smtClean="0">
                                <a:solidFill>
                                  <a:schemeClr val="bg1"/>
                                </a:solidFill>
                                <a:latin typeface="Cambria Math" panose="02040503050406030204" pitchFamily="18" charset="0"/>
                              </a:rPr>
                              <m:t>1</m:t>
                            </m:r>
                          </m:sub>
                        </m:sSub>
                      </m:oMath>
                    </m:oMathPara>
                  </a14:m>
                  <a:endParaRPr lang="en-US" dirty="0">
                    <a:solidFill>
                      <a:schemeClr val="bg1"/>
                    </a:solidFill>
                  </a:endParaRPr>
                </a:p>
              </p:txBody>
            </p:sp>
          </mc:Choice>
          <mc:Fallback xmlns="">
            <p:sp>
              <p:nvSpPr>
                <p:cNvPr id="42" name="Oval 41">
                  <a:extLst>
                    <a:ext uri="{FF2B5EF4-FFF2-40B4-BE49-F238E27FC236}">
                      <a16:creationId xmlns:a16="http://schemas.microsoft.com/office/drawing/2014/main" id="{EBC588D3-1610-BB46-90DD-92C05B1E0A97}"/>
                    </a:ext>
                  </a:extLst>
                </p:cNvPr>
                <p:cNvSpPr>
                  <a:spLocks noRot="1" noChangeAspect="1" noMove="1" noResize="1" noEditPoints="1" noAdjustHandles="1" noChangeArrowheads="1" noChangeShapeType="1" noTextEdit="1"/>
                </p:cNvSpPr>
                <p:nvPr/>
              </p:nvSpPr>
              <p:spPr>
                <a:xfrm>
                  <a:off x="5948121" y="3657595"/>
                  <a:ext cx="543208" cy="543208"/>
                </a:xfrm>
                <a:prstGeom prst="ellipse">
                  <a:avLst/>
                </a:prstGeom>
                <a:blipFill>
                  <a:blip r:embed="rId5"/>
                  <a:stretch>
                    <a:fillRect l="-465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4" name="Oval 43">
                  <a:extLst>
                    <a:ext uri="{FF2B5EF4-FFF2-40B4-BE49-F238E27FC236}">
                      <a16:creationId xmlns:a16="http://schemas.microsoft.com/office/drawing/2014/main" id="{99A19EE2-DCED-104D-9001-4AA2EE619886}"/>
                    </a:ext>
                  </a:extLst>
                </p:cNvPr>
                <p:cNvSpPr/>
                <p:nvPr/>
              </p:nvSpPr>
              <p:spPr>
                <a:xfrm>
                  <a:off x="5948121" y="4661021"/>
                  <a:ext cx="543208" cy="543208"/>
                </a:xfrm>
                <a:prstGeom prst="ellipse">
                  <a:avLst/>
                </a:prstGeom>
                <a:solidFill>
                  <a:schemeClr val="accent3"/>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i="1">
                            <a:solidFill>
                              <a:schemeClr val="bg1"/>
                            </a:solidFill>
                            <a:latin typeface="Cambria Math" panose="02040503050406030204" pitchFamily="18" charset="0"/>
                          </a:rPr>
                          <m:t> </m:t>
                        </m:r>
                        <m:acc>
                          <m:accPr>
                            <m:chr m:val="̅"/>
                            <m:ctrlPr>
                              <a:rPr lang="en-US" b="0" i="1" smtClean="0">
                                <a:solidFill>
                                  <a:schemeClr val="bg1"/>
                                </a:solidFill>
                                <a:latin typeface="Cambria Math" panose="02040503050406030204" pitchFamily="18" charset="0"/>
                              </a:rPr>
                            </m:ctrlPr>
                          </m:accPr>
                          <m:e>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𝑥</m:t>
                                </m:r>
                              </m:e>
                              <m:sub>
                                <m:r>
                                  <a:rPr lang="en-US" b="0" i="1" smtClean="0">
                                    <a:solidFill>
                                      <a:schemeClr val="bg1"/>
                                    </a:solidFill>
                                    <a:latin typeface="Cambria Math" panose="02040503050406030204" pitchFamily="18" charset="0"/>
                                  </a:rPr>
                                  <m:t>2</m:t>
                                </m:r>
                              </m:sub>
                            </m:sSub>
                          </m:e>
                        </m:acc>
                      </m:oMath>
                    </m:oMathPara>
                  </a14:m>
                  <a:endParaRPr lang="en-US" dirty="0">
                    <a:solidFill>
                      <a:schemeClr val="bg1"/>
                    </a:solidFill>
                  </a:endParaRPr>
                </a:p>
              </p:txBody>
            </p:sp>
          </mc:Choice>
          <mc:Fallback xmlns="">
            <p:sp>
              <p:nvSpPr>
                <p:cNvPr id="44" name="Oval 43">
                  <a:extLst>
                    <a:ext uri="{FF2B5EF4-FFF2-40B4-BE49-F238E27FC236}">
                      <a16:creationId xmlns:a16="http://schemas.microsoft.com/office/drawing/2014/main" id="{99A19EE2-DCED-104D-9001-4AA2EE619886}"/>
                    </a:ext>
                  </a:extLst>
                </p:cNvPr>
                <p:cNvSpPr>
                  <a:spLocks noRot="1" noChangeAspect="1" noMove="1" noResize="1" noEditPoints="1" noAdjustHandles="1" noChangeArrowheads="1" noChangeShapeType="1" noTextEdit="1"/>
                </p:cNvSpPr>
                <p:nvPr/>
              </p:nvSpPr>
              <p:spPr>
                <a:xfrm>
                  <a:off x="5948121" y="4661021"/>
                  <a:ext cx="543208" cy="543208"/>
                </a:xfrm>
                <a:prstGeom prst="ellipse">
                  <a:avLst/>
                </a:prstGeom>
                <a:blipFill>
                  <a:blip r:embed="rId6"/>
                  <a:stretch>
                    <a:fillRect l="-4651"/>
                  </a:stretch>
                </a:blipFill>
                <a:ln>
                  <a:solidFill>
                    <a:schemeClr val="accent3"/>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5" name="Oval 44">
                  <a:extLst>
                    <a:ext uri="{FF2B5EF4-FFF2-40B4-BE49-F238E27FC236}">
                      <a16:creationId xmlns:a16="http://schemas.microsoft.com/office/drawing/2014/main" id="{C73886F6-0A7E-3D42-8EE7-0E8352077966}"/>
                    </a:ext>
                  </a:extLst>
                </p:cNvPr>
                <p:cNvSpPr/>
                <p:nvPr/>
              </p:nvSpPr>
              <p:spPr>
                <a:xfrm>
                  <a:off x="5948121" y="5664447"/>
                  <a:ext cx="543208" cy="543208"/>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b="0" i="1" smtClean="0">
                            <a:solidFill>
                              <a:schemeClr val="bg1"/>
                            </a:solidFill>
                            <a:latin typeface="Cambria Math" panose="02040503050406030204" pitchFamily="18" charset="0"/>
                          </a:rPr>
                          <m:t> </m:t>
                        </m:r>
                        <m:acc>
                          <m:accPr>
                            <m:chr m:val="̅"/>
                            <m:ctrlPr>
                              <a:rPr lang="en-US" b="0" i="1" smtClean="0">
                                <a:solidFill>
                                  <a:schemeClr val="bg1"/>
                                </a:solidFill>
                                <a:latin typeface="Cambria Math" panose="02040503050406030204" pitchFamily="18" charset="0"/>
                              </a:rPr>
                            </m:ctrlPr>
                          </m:accPr>
                          <m:e>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𝑥</m:t>
                                </m:r>
                              </m:e>
                              <m:sub>
                                <m:r>
                                  <a:rPr lang="en-US" b="0" i="1" smtClean="0">
                                    <a:solidFill>
                                      <a:schemeClr val="bg1"/>
                                    </a:solidFill>
                                    <a:latin typeface="Cambria Math" panose="02040503050406030204" pitchFamily="18" charset="0"/>
                                  </a:rPr>
                                  <m:t>3</m:t>
                                </m:r>
                              </m:sub>
                            </m:sSub>
                          </m:e>
                        </m:acc>
                      </m:oMath>
                    </m:oMathPara>
                  </a14:m>
                  <a:endParaRPr lang="en-US" dirty="0">
                    <a:solidFill>
                      <a:schemeClr val="bg1"/>
                    </a:solidFill>
                  </a:endParaRPr>
                </a:p>
              </p:txBody>
            </p:sp>
          </mc:Choice>
          <mc:Fallback xmlns="">
            <p:sp>
              <p:nvSpPr>
                <p:cNvPr id="45" name="Oval 44">
                  <a:extLst>
                    <a:ext uri="{FF2B5EF4-FFF2-40B4-BE49-F238E27FC236}">
                      <a16:creationId xmlns:a16="http://schemas.microsoft.com/office/drawing/2014/main" id="{C73886F6-0A7E-3D42-8EE7-0E8352077966}"/>
                    </a:ext>
                  </a:extLst>
                </p:cNvPr>
                <p:cNvSpPr>
                  <a:spLocks noRot="1" noChangeAspect="1" noMove="1" noResize="1" noEditPoints="1" noAdjustHandles="1" noChangeArrowheads="1" noChangeShapeType="1" noTextEdit="1"/>
                </p:cNvSpPr>
                <p:nvPr/>
              </p:nvSpPr>
              <p:spPr>
                <a:xfrm>
                  <a:off x="5948121" y="5664447"/>
                  <a:ext cx="543208" cy="543208"/>
                </a:xfrm>
                <a:prstGeom prst="ellipse">
                  <a:avLst/>
                </a:prstGeom>
                <a:blipFill>
                  <a:blip r:embed="rId7"/>
                  <a:stretch>
                    <a:fillRect l="-465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Oval 46">
                  <a:extLst>
                    <a:ext uri="{FF2B5EF4-FFF2-40B4-BE49-F238E27FC236}">
                      <a16:creationId xmlns:a16="http://schemas.microsoft.com/office/drawing/2014/main" id="{CBC0B98F-EADF-C640-B049-550A523A75A7}"/>
                    </a:ext>
                  </a:extLst>
                </p:cNvPr>
                <p:cNvSpPr/>
                <p:nvPr/>
              </p:nvSpPr>
              <p:spPr>
                <a:xfrm>
                  <a:off x="10364704" y="3654578"/>
                  <a:ext cx="543208" cy="543208"/>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b="0" i="1" smtClean="0">
                            <a:solidFill>
                              <a:schemeClr val="bg1"/>
                            </a:solidFill>
                            <a:latin typeface="Cambria Math" panose="02040503050406030204" pitchFamily="18" charset="0"/>
                          </a:rPr>
                          <m:t> </m:t>
                        </m:r>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𝑥</m:t>
                            </m:r>
                          </m:e>
                          <m:sub>
                            <m:r>
                              <a:rPr lang="en-US" b="0" i="1" smtClean="0">
                                <a:solidFill>
                                  <a:schemeClr val="bg1"/>
                                </a:solidFill>
                                <a:latin typeface="Cambria Math" panose="02040503050406030204" pitchFamily="18" charset="0"/>
                              </a:rPr>
                              <m:t>1</m:t>
                            </m:r>
                          </m:sub>
                        </m:sSub>
                      </m:oMath>
                    </m:oMathPara>
                  </a14:m>
                  <a:endParaRPr lang="en-US" dirty="0">
                    <a:solidFill>
                      <a:schemeClr val="bg1"/>
                    </a:solidFill>
                  </a:endParaRPr>
                </a:p>
              </p:txBody>
            </p:sp>
          </mc:Choice>
          <mc:Fallback xmlns="">
            <p:sp>
              <p:nvSpPr>
                <p:cNvPr id="47" name="Oval 46">
                  <a:extLst>
                    <a:ext uri="{FF2B5EF4-FFF2-40B4-BE49-F238E27FC236}">
                      <a16:creationId xmlns:a16="http://schemas.microsoft.com/office/drawing/2014/main" id="{CBC0B98F-EADF-C640-B049-550A523A75A7}"/>
                    </a:ext>
                  </a:extLst>
                </p:cNvPr>
                <p:cNvSpPr>
                  <a:spLocks noRot="1" noChangeAspect="1" noMove="1" noResize="1" noEditPoints="1" noAdjustHandles="1" noChangeArrowheads="1" noChangeShapeType="1" noTextEdit="1"/>
                </p:cNvSpPr>
                <p:nvPr/>
              </p:nvSpPr>
              <p:spPr>
                <a:xfrm>
                  <a:off x="10364704" y="3654578"/>
                  <a:ext cx="543208" cy="543208"/>
                </a:xfrm>
                <a:prstGeom prst="ellipse">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Oval 47">
                  <a:extLst>
                    <a:ext uri="{FF2B5EF4-FFF2-40B4-BE49-F238E27FC236}">
                      <a16:creationId xmlns:a16="http://schemas.microsoft.com/office/drawing/2014/main" id="{45FEABFE-9C8A-A14E-BDA0-1B581644F4A7}"/>
                    </a:ext>
                  </a:extLst>
                </p:cNvPr>
                <p:cNvSpPr/>
                <p:nvPr/>
              </p:nvSpPr>
              <p:spPr>
                <a:xfrm>
                  <a:off x="10364704" y="4658004"/>
                  <a:ext cx="543208" cy="543208"/>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b="0" i="1" smtClean="0">
                            <a:solidFill>
                              <a:schemeClr val="bg1"/>
                            </a:solidFill>
                            <a:latin typeface="Cambria Math" panose="02040503050406030204" pitchFamily="18" charset="0"/>
                          </a:rPr>
                          <m:t> </m:t>
                        </m:r>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𝑥</m:t>
                            </m:r>
                          </m:e>
                          <m:sub>
                            <m:r>
                              <a:rPr lang="en-US" b="0" i="1" smtClean="0">
                                <a:solidFill>
                                  <a:schemeClr val="bg1"/>
                                </a:solidFill>
                                <a:latin typeface="Cambria Math" panose="02040503050406030204" pitchFamily="18" charset="0"/>
                              </a:rPr>
                              <m:t>2</m:t>
                            </m:r>
                          </m:sub>
                        </m:sSub>
                      </m:oMath>
                    </m:oMathPara>
                  </a14:m>
                  <a:endParaRPr lang="en-US" dirty="0">
                    <a:solidFill>
                      <a:schemeClr val="bg1"/>
                    </a:solidFill>
                  </a:endParaRPr>
                </a:p>
              </p:txBody>
            </p:sp>
          </mc:Choice>
          <mc:Fallback xmlns="">
            <p:sp>
              <p:nvSpPr>
                <p:cNvPr id="48" name="Oval 47">
                  <a:extLst>
                    <a:ext uri="{FF2B5EF4-FFF2-40B4-BE49-F238E27FC236}">
                      <a16:creationId xmlns:a16="http://schemas.microsoft.com/office/drawing/2014/main" id="{45FEABFE-9C8A-A14E-BDA0-1B581644F4A7}"/>
                    </a:ext>
                  </a:extLst>
                </p:cNvPr>
                <p:cNvSpPr>
                  <a:spLocks noRot="1" noChangeAspect="1" noMove="1" noResize="1" noEditPoints="1" noAdjustHandles="1" noChangeArrowheads="1" noChangeShapeType="1" noTextEdit="1"/>
                </p:cNvSpPr>
                <p:nvPr/>
              </p:nvSpPr>
              <p:spPr>
                <a:xfrm>
                  <a:off x="10364704" y="4658004"/>
                  <a:ext cx="543208" cy="543208"/>
                </a:xfrm>
                <a:prstGeom prst="ellipse">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Oval 48">
                  <a:extLst>
                    <a:ext uri="{FF2B5EF4-FFF2-40B4-BE49-F238E27FC236}">
                      <a16:creationId xmlns:a16="http://schemas.microsoft.com/office/drawing/2014/main" id="{A66F8109-458A-934E-B901-3C4AD7E54316}"/>
                    </a:ext>
                  </a:extLst>
                </p:cNvPr>
                <p:cNvSpPr/>
                <p:nvPr/>
              </p:nvSpPr>
              <p:spPr>
                <a:xfrm>
                  <a:off x="10364704" y="5661430"/>
                  <a:ext cx="543208" cy="543208"/>
                </a:xfrm>
                <a:prstGeom prst="ellipse">
                  <a:avLst/>
                </a:prstGeom>
                <a:solidFill>
                  <a:schemeClr val="accent3"/>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b="0" i="1" smtClean="0">
                            <a:solidFill>
                              <a:schemeClr val="bg1"/>
                            </a:solidFill>
                            <a:latin typeface="Cambria Math" panose="02040503050406030204" pitchFamily="18" charset="0"/>
                          </a:rPr>
                          <m:t> </m:t>
                        </m:r>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𝑥</m:t>
                            </m:r>
                          </m:e>
                          <m:sub>
                            <m:r>
                              <a:rPr lang="en-US" b="0" i="1" smtClean="0">
                                <a:solidFill>
                                  <a:schemeClr val="bg1"/>
                                </a:solidFill>
                                <a:latin typeface="Cambria Math" panose="02040503050406030204" pitchFamily="18" charset="0"/>
                              </a:rPr>
                              <m:t>3</m:t>
                            </m:r>
                          </m:sub>
                        </m:sSub>
                      </m:oMath>
                    </m:oMathPara>
                  </a14:m>
                  <a:endParaRPr lang="en-US" dirty="0">
                    <a:solidFill>
                      <a:schemeClr val="bg1"/>
                    </a:solidFill>
                  </a:endParaRPr>
                </a:p>
              </p:txBody>
            </p:sp>
          </mc:Choice>
          <mc:Fallback xmlns="">
            <p:sp>
              <p:nvSpPr>
                <p:cNvPr id="49" name="Oval 48">
                  <a:extLst>
                    <a:ext uri="{FF2B5EF4-FFF2-40B4-BE49-F238E27FC236}">
                      <a16:creationId xmlns:a16="http://schemas.microsoft.com/office/drawing/2014/main" id="{A66F8109-458A-934E-B901-3C4AD7E54316}"/>
                    </a:ext>
                  </a:extLst>
                </p:cNvPr>
                <p:cNvSpPr>
                  <a:spLocks noRot="1" noChangeAspect="1" noMove="1" noResize="1" noEditPoints="1" noAdjustHandles="1" noChangeArrowheads="1" noChangeShapeType="1" noTextEdit="1"/>
                </p:cNvSpPr>
                <p:nvPr/>
              </p:nvSpPr>
              <p:spPr>
                <a:xfrm>
                  <a:off x="10364704" y="5661430"/>
                  <a:ext cx="543208" cy="543208"/>
                </a:xfrm>
                <a:prstGeom prst="ellipse">
                  <a:avLst/>
                </a:prstGeom>
                <a:blipFill>
                  <a:blip r:embed="rId10"/>
                  <a:stretch>
                    <a:fillRect/>
                  </a:stretch>
                </a:blipFill>
                <a:ln>
                  <a:solidFill>
                    <a:schemeClr val="accent3"/>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1" name="Oval 50">
                  <a:extLst>
                    <a:ext uri="{FF2B5EF4-FFF2-40B4-BE49-F238E27FC236}">
                      <a16:creationId xmlns:a16="http://schemas.microsoft.com/office/drawing/2014/main" id="{85CB99A0-B12E-3E4B-BEEE-B8DC7EE9CE9C}"/>
                    </a:ext>
                  </a:extLst>
                </p:cNvPr>
                <p:cNvSpPr/>
                <p:nvPr/>
              </p:nvSpPr>
              <p:spPr>
                <a:xfrm>
                  <a:off x="7014921" y="2640594"/>
                  <a:ext cx="543208" cy="543208"/>
                </a:xfrm>
                <a:prstGeom prst="ellipse">
                  <a:avLst/>
                </a:prstGeom>
                <a:solidFill>
                  <a:schemeClr val="accent3"/>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b="0" i="1" smtClean="0">
                            <a:solidFill>
                              <a:schemeClr val="bg1"/>
                            </a:solidFill>
                            <a:latin typeface="Cambria Math" panose="02040503050406030204" pitchFamily="18" charset="0"/>
                          </a:rPr>
                          <m:t> </m:t>
                        </m:r>
                        <m:acc>
                          <m:accPr>
                            <m:chr m:val="̅"/>
                            <m:ctrlPr>
                              <a:rPr lang="en-US" b="0" i="1" smtClean="0">
                                <a:solidFill>
                                  <a:schemeClr val="bg1"/>
                                </a:solidFill>
                                <a:latin typeface="Cambria Math" panose="02040503050406030204" pitchFamily="18" charset="0"/>
                              </a:rPr>
                            </m:ctrlPr>
                          </m:accPr>
                          <m:e>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𝑥</m:t>
                                </m:r>
                              </m:e>
                              <m:sub>
                                <m:r>
                                  <a:rPr lang="en-US" b="0" i="1" smtClean="0">
                                    <a:solidFill>
                                      <a:schemeClr val="bg1"/>
                                    </a:solidFill>
                                    <a:latin typeface="Cambria Math" panose="02040503050406030204" pitchFamily="18" charset="0"/>
                                  </a:rPr>
                                  <m:t>1</m:t>
                                </m:r>
                              </m:sub>
                            </m:sSub>
                          </m:e>
                        </m:acc>
                      </m:oMath>
                    </m:oMathPara>
                  </a14:m>
                  <a:endParaRPr lang="en-US" dirty="0">
                    <a:solidFill>
                      <a:schemeClr val="bg1"/>
                    </a:solidFill>
                  </a:endParaRPr>
                </a:p>
              </p:txBody>
            </p:sp>
          </mc:Choice>
          <mc:Fallback xmlns="">
            <p:sp>
              <p:nvSpPr>
                <p:cNvPr id="51" name="Oval 50">
                  <a:extLst>
                    <a:ext uri="{FF2B5EF4-FFF2-40B4-BE49-F238E27FC236}">
                      <a16:creationId xmlns:a16="http://schemas.microsoft.com/office/drawing/2014/main" id="{85CB99A0-B12E-3E4B-BEEE-B8DC7EE9CE9C}"/>
                    </a:ext>
                  </a:extLst>
                </p:cNvPr>
                <p:cNvSpPr>
                  <a:spLocks noRot="1" noChangeAspect="1" noMove="1" noResize="1" noEditPoints="1" noAdjustHandles="1" noChangeArrowheads="1" noChangeShapeType="1" noTextEdit="1"/>
                </p:cNvSpPr>
                <p:nvPr/>
              </p:nvSpPr>
              <p:spPr>
                <a:xfrm>
                  <a:off x="7014921" y="2640594"/>
                  <a:ext cx="543208" cy="543208"/>
                </a:xfrm>
                <a:prstGeom prst="ellipse">
                  <a:avLst/>
                </a:prstGeom>
                <a:blipFill>
                  <a:blip r:embed="rId11"/>
                  <a:stretch>
                    <a:fillRect l="-4651"/>
                  </a:stretch>
                </a:blipFill>
                <a:ln>
                  <a:solidFill>
                    <a:schemeClr val="accent3"/>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Oval 51">
                  <a:extLst>
                    <a:ext uri="{FF2B5EF4-FFF2-40B4-BE49-F238E27FC236}">
                      <a16:creationId xmlns:a16="http://schemas.microsoft.com/office/drawing/2014/main" id="{BCF629B9-BCCF-D946-ADE2-06B940838694}"/>
                    </a:ext>
                  </a:extLst>
                </p:cNvPr>
                <p:cNvSpPr/>
                <p:nvPr/>
              </p:nvSpPr>
              <p:spPr>
                <a:xfrm>
                  <a:off x="8181310" y="2640594"/>
                  <a:ext cx="543208" cy="543208"/>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b="0" i="1" smtClean="0">
                            <a:solidFill>
                              <a:schemeClr val="bg1"/>
                            </a:solidFill>
                            <a:latin typeface="Cambria Math" panose="02040503050406030204" pitchFamily="18" charset="0"/>
                          </a:rPr>
                          <m:t> </m:t>
                        </m:r>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𝑥</m:t>
                            </m:r>
                          </m:e>
                          <m:sub>
                            <m:r>
                              <a:rPr lang="en-US" b="0" i="1" smtClean="0">
                                <a:solidFill>
                                  <a:schemeClr val="bg1"/>
                                </a:solidFill>
                                <a:latin typeface="Cambria Math" panose="02040503050406030204" pitchFamily="18" charset="0"/>
                              </a:rPr>
                              <m:t>2</m:t>
                            </m:r>
                          </m:sub>
                        </m:sSub>
                      </m:oMath>
                    </m:oMathPara>
                  </a14:m>
                  <a:endParaRPr lang="en-US" dirty="0">
                    <a:solidFill>
                      <a:schemeClr val="bg1"/>
                    </a:solidFill>
                  </a:endParaRPr>
                </a:p>
              </p:txBody>
            </p:sp>
          </mc:Choice>
          <mc:Fallback xmlns="">
            <p:sp>
              <p:nvSpPr>
                <p:cNvPr id="52" name="Oval 51">
                  <a:extLst>
                    <a:ext uri="{FF2B5EF4-FFF2-40B4-BE49-F238E27FC236}">
                      <a16:creationId xmlns:a16="http://schemas.microsoft.com/office/drawing/2014/main" id="{BCF629B9-BCCF-D946-ADE2-06B940838694}"/>
                    </a:ext>
                  </a:extLst>
                </p:cNvPr>
                <p:cNvSpPr>
                  <a:spLocks noRot="1" noChangeAspect="1" noMove="1" noResize="1" noEditPoints="1" noAdjustHandles="1" noChangeArrowheads="1" noChangeShapeType="1" noTextEdit="1"/>
                </p:cNvSpPr>
                <p:nvPr/>
              </p:nvSpPr>
              <p:spPr>
                <a:xfrm>
                  <a:off x="8181310" y="2640594"/>
                  <a:ext cx="543208" cy="543208"/>
                </a:xfrm>
                <a:prstGeom prst="ellipse">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Oval 53">
                  <a:extLst>
                    <a:ext uri="{FF2B5EF4-FFF2-40B4-BE49-F238E27FC236}">
                      <a16:creationId xmlns:a16="http://schemas.microsoft.com/office/drawing/2014/main" id="{F9CD9F65-48C4-D749-8F4D-B267C3D19E31}"/>
                    </a:ext>
                  </a:extLst>
                </p:cNvPr>
                <p:cNvSpPr/>
                <p:nvPr/>
              </p:nvSpPr>
              <p:spPr>
                <a:xfrm>
                  <a:off x="9347699" y="2640594"/>
                  <a:ext cx="543208" cy="543208"/>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b="0" i="1" smtClean="0">
                            <a:solidFill>
                              <a:schemeClr val="bg1"/>
                            </a:solidFill>
                            <a:latin typeface="Cambria Math" panose="02040503050406030204" pitchFamily="18" charset="0"/>
                          </a:rPr>
                          <m:t> </m:t>
                        </m:r>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𝑥</m:t>
                            </m:r>
                          </m:e>
                          <m:sub>
                            <m:r>
                              <a:rPr lang="en-US" b="0" i="1" smtClean="0">
                                <a:solidFill>
                                  <a:schemeClr val="bg1"/>
                                </a:solidFill>
                                <a:latin typeface="Cambria Math" panose="02040503050406030204" pitchFamily="18" charset="0"/>
                              </a:rPr>
                              <m:t>3</m:t>
                            </m:r>
                          </m:sub>
                        </m:sSub>
                      </m:oMath>
                    </m:oMathPara>
                  </a14:m>
                  <a:endParaRPr lang="en-US" dirty="0">
                    <a:solidFill>
                      <a:schemeClr val="bg1"/>
                    </a:solidFill>
                  </a:endParaRPr>
                </a:p>
              </p:txBody>
            </p:sp>
          </mc:Choice>
          <mc:Fallback xmlns="">
            <p:sp>
              <p:nvSpPr>
                <p:cNvPr id="54" name="Oval 53">
                  <a:extLst>
                    <a:ext uri="{FF2B5EF4-FFF2-40B4-BE49-F238E27FC236}">
                      <a16:creationId xmlns:a16="http://schemas.microsoft.com/office/drawing/2014/main" id="{F9CD9F65-48C4-D749-8F4D-B267C3D19E31}"/>
                    </a:ext>
                  </a:extLst>
                </p:cNvPr>
                <p:cNvSpPr>
                  <a:spLocks noRot="1" noChangeAspect="1" noMove="1" noResize="1" noEditPoints="1" noAdjustHandles="1" noChangeArrowheads="1" noChangeShapeType="1" noTextEdit="1"/>
                </p:cNvSpPr>
                <p:nvPr/>
              </p:nvSpPr>
              <p:spPr>
                <a:xfrm>
                  <a:off x="9347699" y="2640594"/>
                  <a:ext cx="543208" cy="543208"/>
                </a:xfrm>
                <a:prstGeom prst="ellipse">
                  <a:avLst/>
                </a:prstGeom>
                <a:blipFill>
                  <a:blip r:embed="rId13"/>
                  <a:stretch>
                    <a:fillRect l="-2222"/>
                  </a:stretch>
                </a:blipFill>
              </p:spPr>
              <p:txBody>
                <a:bodyPr/>
                <a:lstStyle/>
                <a:p>
                  <a:r>
                    <a:rPr lang="en-US">
                      <a:noFill/>
                    </a:rPr>
                    <a:t> </a:t>
                  </a:r>
                </a:p>
              </p:txBody>
            </p:sp>
          </mc:Fallback>
        </mc:AlternateContent>
        <p:sp>
          <p:nvSpPr>
            <p:cNvPr id="55" name="Rectangle 54">
              <a:extLst>
                <a:ext uri="{FF2B5EF4-FFF2-40B4-BE49-F238E27FC236}">
                  <a16:creationId xmlns:a16="http://schemas.microsoft.com/office/drawing/2014/main" id="{8D9AB02D-534C-F34C-989C-DF7A6619BF8A}"/>
                </a:ext>
              </a:extLst>
            </p:cNvPr>
            <p:cNvSpPr/>
            <p:nvPr/>
          </p:nvSpPr>
          <p:spPr>
            <a:xfrm>
              <a:off x="5739894" y="2471596"/>
              <a:ext cx="5477346" cy="3974471"/>
            </a:xfrm>
            <a:prstGeom prst="rect">
              <a:avLst/>
            </a:pr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Content Placeholder 2">
              <a:extLst>
                <a:ext uri="{FF2B5EF4-FFF2-40B4-BE49-F238E27FC236}">
                  <a16:creationId xmlns:a16="http://schemas.microsoft.com/office/drawing/2014/main" id="{60C31D08-A8E0-AF43-A75A-6DAE79DCB83F}"/>
                </a:ext>
              </a:extLst>
            </p:cNvPr>
            <p:cNvSpPr txBox="1">
              <a:spLocks/>
            </p:cNvSpPr>
            <p:nvPr/>
          </p:nvSpPr>
          <p:spPr>
            <a:xfrm>
              <a:off x="10723820" y="2518071"/>
              <a:ext cx="445962" cy="478637"/>
            </a:xfrm>
            <a:prstGeom prst="rect">
              <a:avLst/>
            </a:prstGeom>
            <a:ln>
              <a:noFill/>
            </a:ln>
          </p:spPr>
          <p:txBody>
            <a:bodyPr vert="horz" lIns="91440" tIns="45720" rIns="91440" bIns="45720" rtlCol="0">
              <a:normAutofit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i="1" dirty="0">
                  <a:solidFill>
                    <a:schemeClr val="accent1"/>
                  </a:solidFill>
                </a:rPr>
                <a:t>G</a:t>
              </a:r>
            </a:p>
          </p:txBody>
        </p:sp>
        <p:cxnSp>
          <p:nvCxnSpPr>
            <p:cNvPr id="57" name="Straight Connector 56">
              <a:extLst>
                <a:ext uri="{FF2B5EF4-FFF2-40B4-BE49-F238E27FC236}">
                  <a16:creationId xmlns:a16="http://schemas.microsoft.com/office/drawing/2014/main" id="{7A619927-8679-5B4F-9E57-2AC8896D3341}"/>
                </a:ext>
              </a:extLst>
            </p:cNvPr>
            <p:cNvCxnSpPr>
              <a:cxnSpLocks/>
              <a:stCxn id="42" idx="6"/>
              <a:endCxn id="52" idx="4"/>
            </p:cNvCxnSpPr>
            <p:nvPr/>
          </p:nvCxnSpPr>
          <p:spPr>
            <a:xfrm flipV="1">
              <a:off x="6491329" y="3183802"/>
              <a:ext cx="1961585" cy="745397"/>
            </a:xfrm>
            <a:prstGeom prst="line">
              <a:avLst/>
            </a:prstGeom>
          </p:spPr>
          <p:style>
            <a:lnRef idx="1">
              <a:schemeClr val="accent1"/>
            </a:lnRef>
            <a:fillRef idx="0">
              <a:schemeClr val="accent1"/>
            </a:fillRef>
            <a:effectRef idx="0">
              <a:schemeClr val="accent1"/>
            </a:effectRef>
            <a:fontRef idx="minor">
              <a:schemeClr val="tx1"/>
            </a:fontRef>
          </p:style>
        </p:cxnSp>
        <p:cxnSp>
          <p:nvCxnSpPr>
            <p:cNvPr id="58" name="Straight Connector 57">
              <a:extLst>
                <a:ext uri="{FF2B5EF4-FFF2-40B4-BE49-F238E27FC236}">
                  <a16:creationId xmlns:a16="http://schemas.microsoft.com/office/drawing/2014/main" id="{EA53B9C2-0646-1547-BFA6-A35C784AD3F6}"/>
                </a:ext>
              </a:extLst>
            </p:cNvPr>
            <p:cNvCxnSpPr>
              <a:cxnSpLocks/>
              <a:stCxn id="42" idx="6"/>
              <a:endCxn id="54" idx="4"/>
            </p:cNvCxnSpPr>
            <p:nvPr/>
          </p:nvCxnSpPr>
          <p:spPr>
            <a:xfrm flipV="1">
              <a:off x="6491329" y="3183802"/>
              <a:ext cx="3127974" cy="745397"/>
            </a:xfrm>
            <a:prstGeom prst="line">
              <a:avLst/>
            </a:prstGeom>
          </p:spPr>
          <p:style>
            <a:lnRef idx="1">
              <a:schemeClr val="accent1"/>
            </a:lnRef>
            <a:fillRef idx="0">
              <a:schemeClr val="accent1"/>
            </a:fillRef>
            <a:effectRef idx="0">
              <a:schemeClr val="accent1"/>
            </a:effectRef>
            <a:fontRef idx="minor">
              <a:schemeClr val="tx1"/>
            </a:fontRef>
          </p:style>
        </p:cxnSp>
        <p:cxnSp>
          <p:nvCxnSpPr>
            <p:cNvPr id="59" name="Straight Connector 58">
              <a:extLst>
                <a:ext uri="{FF2B5EF4-FFF2-40B4-BE49-F238E27FC236}">
                  <a16:creationId xmlns:a16="http://schemas.microsoft.com/office/drawing/2014/main" id="{68B098DB-F503-5247-B8BD-E160C437D684}"/>
                </a:ext>
              </a:extLst>
            </p:cNvPr>
            <p:cNvCxnSpPr>
              <a:cxnSpLocks/>
              <a:stCxn id="42" idx="6"/>
              <a:endCxn id="47" idx="2"/>
            </p:cNvCxnSpPr>
            <p:nvPr/>
          </p:nvCxnSpPr>
          <p:spPr>
            <a:xfrm flipV="1">
              <a:off x="6491329" y="3926182"/>
              <a:ext cx="3873375" cy="3017"/>
            </a:xfrm>
            <a:prstGeom prst="line">
              <a:avLst/>
            </a:prstGeom>
          </p:spPr>
          <p:style>
            <a:lnRef idx="1">
              <a:schemeClr val="accent1"/>
            </a:lnRef>
            <a:fillRef idx="0">
              <a:schemeClr val="accent1"/>
            </a:fillRef>
            <a:effectRef idx="0">
              <a:schemeClr val="accent1"/>
            </a:effectRef>
            <a:fontRef idx="minor">
              <a:schemeClr val="tx1"/>
            </a:fontRef>
          </p:style>
        </p:cxnSp>
        <p:cxnSp>
          <p:nvCxnSpPr>
            <p:cNvPr id="61" name="Straight Connector 60">
              <a:extLst>
                <a:ext uri="{FF2B5EF4-FFF2-40B4-BE49-F238E27FC236}">
                  <a16:creationId xmlns:a16="http://schemas.microsoft.com/office/drawing/2014/main" id="{8D7AC460-F132-944A-8C99-5304E15946E2}"/>
                </a:ext>
              </a:extLst>
            </p:cNvPr>
            <p:cNvCxnSpPr>
              <a:cxnSpLocks/>
              <a:stCxn id="42" idx="6"/>
              <a:endCxn id="48" idx="2"/>
            </p:cNvCxnSpPr>
            <p:nvPr/>
          </p:nvCxnSpPr>
          <p:spPr>
            <a:xfrm>
              <a:off x="6491329" y="3929199"/>
              <a:ext cx="3873375" cy="1000409"/>
            </a:xfrm>
            <a:prstGeom prst="line">
              <a:avLst/>
            </a:prstGeom>
          </p:spPr>
          <p:style>
            <a:lnRef idx="1">
              <a:schemeClr val="accent1"/>
            </a:lnRef>
            <a:fillRef idx="0">
              <a:schemeClr val="accent1"/>
            </a:fillRef>
            <a:effectRef idx="0">
              <a:schemeClr val="accent1"/>
            </a:effectRef>
            <a:fontRef idx="minor">
              <a:schemeClr val="tx1"/>
            </a:fontRef>
          </p:style>
        </p:cxnSp>
        <p:cxnSp>
          <p:nvCxnSpPr>
            <p:cNvPr id="62" name="Straight Connector 61">
              <a:extLst>
                <a:ext uri="{FF2B5EF4-FFF2-40B4-BE49-F238E27FC236}">
                  <a16:creationId xmlns:a16="http://schemas.microsoft.com/office/drawing/2014/main" id="{194B50E7-FC90-664B-ACDD-99F628976744}"/>
                </a:ext>
              </a:extLst>
            </p:cNvPr>
            <p:cNvCxnSpPr>
              <a:cxnSpLocks/>
              <a:stCxn id="42" idx="6"/>
              <a:endCxn id="49" idx="2"/>
            </p:cNvCxnSpPr>
            <p:nvPr/>
          </p:nvCxnSpPr>
          <p:spPr>
            <a:xfrm>
              <a:off x="6491329" y="3929199"/>
              <a:ext cx="3873375" cy="2003835"/>
            </a:xfrm>
            <a:prstGeom prst="line">
              <a:avLst/>
            </a:prstGeom>
          </p:spPr>
          <p:style>
            <a:lnRef idx="1">
              <a:schemeClr val="accent1"/>
            </a:lnRef>
            <a:fillRef idx="0">
              <a:schemeClr val="accent1"/>
            </a:fillRef>
            <a:effectRef idx="0">
              <a:schemeClr val="accent1"/>
            </a:effectRef>
            <a:fontRef idx="minor">
              <a:schemeClr val="tx1"/>
            </a:fontRef>
          </p:style>
        </p:cxnSp>
        <p:cxnSp>
          <p:nvCxnSpPr>
            <p:cNvPr id="64" name="Straight Connector 63">
              <a:extLst>
                <a:ext uri="{FF2B5EF4-FFF2-40B4-BE49-F238E27FC236}">
                  <a16:creationId xmlns:a16="http://schemas.microsoft.com/office/drawing/2014/main" id="{E3485D5A-4F86-1745-823D-C1C1B4AE2480}"/>
                </a:ext>
              </a:extLst>
            </p:cNvPr>
            <p:cNvCxnSpPr>
              <a:cxnSpLocks/>
              <a:stCxn id="44" idx="6"/>
              <a:endCxn id="51" idx="4"/>
            </p:cNvCxnSpPr>
            <p:nvPr/>
          </p:nvCxnSpPr>
          <p:spPr>
            <a:xfrm flipV="1">
              <a:off x="6491329" y="3183802"/>
              <a:ext cx="795196" cy="1748823"/>
            </a:xfrm>
            <a:prstGeom prst="line">
              <a:avLst/>
            </a:prstGeom>
            <a:ln w="28575">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65" name="Straight Connector 64">
              <a:extLst>
                <a:ext uri="{FF2B5EF4-FFF2-40B4-BE49-F238E27FC236}">
                  <a16:creationId xmlns:a16="http://schemas.microsoft.com/office/drawing/2014/main" id="{755A2B95-941B-4649-A529-4E6B5912B50B}"/>
                </a:ext>
              </a:extLst>
            </p:cNvPr>
            <p:cNvCxnSpPr>
              <a:cxnSpLocks/>
              <a:stCxn id="44" idx="6"/>
              <a:endCxn id="54" idx="4"/>
            </p:cNvCxnSpPr>
            <p:nvPr/>
          </p:nvCxnSpPr>
          <p:spPr>
            <a:xfrm flipV="1">
              <a:off x="6491329" y="3183802"/>
              <a:ext cx="3127974" cy="1748823"/>
            </a:xfrm>
            <a:prstGeom prst="line">
              <a:avLst/>
            </a:prstGeom>
          </p:spPr>
          <p:style>
            <a:lnRef idx="1">
              <a:schemeClr val="accent1"/>
            </a:lnRef>
            <a:fillRef idx="0">
              <a:schemeClr val="accent1"/>
            </a:fillRef>
            <a:effectRef idx="0">
              <a:schemeClr val="accent1"/>
            </a:effectRef>
            <a:fontRef idx="minor">
              <a:schemeClr val="tx1"/>
            </a:fontRef>
          </p:style>
        </p:cxnSp>
        <p:cxnSp>
          <p:nvCxnSpPr>
            <p:cNvPr id="67" name="Straight Connector 66">
              <a:extLst>
                <a:ext uri="{FF2B5EF4-FFF2-40B4-BE49-F238E27FC236}">
                  <a16:creationId xmlns:a16="http://schemas.microsoft.com/office/drawing/2014/main" id="{300E7117-DFF7-6D46-9CF7-76148A37AF0D}"/>
                </a:ext>
              </a:extLst>
            </p:cNvPr>
            <p:cNvCxnSpPr>
              <a:cxnSpLocks/>
              <a:stCxn id="44" idx="6"/>
              <a:endCxn id="47" idx="2"/>
            </p:cNvCxnSpPr>
            <p:nvPr/>
          </p:nvCxnSpPr>
          <p:spPr>
            <a:xfrm flipV="1">
              <a:off x="6491329" y="3926182"/>
              <a:ext cx="3873375" cy="1006443"/>
            </a:xfrm>
            <a:prstGeom prst="line">
              <a:avLst/>
            </a:prstGeom>
          </p:spPr>
          <p:style>
            <a:lnRef idx="1">
              <a:schemeClr val="accent1"/>
            </a:lnRef>
            <a:fillRef idx="0">
              <a:schemeClr val="accent1"/>
            </a:fillRef>
            <a:effectRef idx="0">
              <a:schemeClr val="accent1"/>
            </a:effectRef>
            <a:fontRef idx="minor">
              <a:schemeClr val="tx1"/>
            </a:fontRef>
          </p:style>
        </p:cxnSp>
        <p:cxnSp>
          <p:nvCxnSpPr>
            <p:cNvPr id="68" name="Straight Connector 67">
              <a:extLst>
                <a:ext uri="{FF2B5EF4-FFF2-40B4-BE49-F238E27FC236}">
                  <a16:creationId xmlns:a16="http://schemas.microsoft.com/office/drawing/2014/main" id="{4FE57D6D-13AF-0342-89C5-5F69D1248FB7}"/>
                </a:ext>
              </a:extLst>
            </p:cNvPr>
            <p:cNvCxnSpPr>
              <a:cxnSpLocks/>
              <a:stCxn id="44" idx="6"/>
              <a:endCxn id="49" idx="2"/>
            </p:cNvCxnSpPr>
            <p:nvPr/>
          </p:nvCxnSpPr>
          <p:spPr>
            <a:xfrm>
              <a:off x="6491329" y="4932625"/>
              <a:ext cx="3873375" cy="1000409"/>
            </a:xfrm>
            <a:prstGeom prst="line">
              <a:avLst/>
            </a:prstGeom>
            <a:ln w="28575">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70" name="Straight Connector 69">
              <a:extLst>
                <a:ext uri="{FF2B5EF4-FFF2-40B4-BE49-F238E27FC236}">
                  <a16:creationId xmlns:a16="http://schemas.microsoft.com/office/drawing/2014/main" id="{E3B437C9-654B-124E-886E-01BDB431CDA5}"/>
                </a:ext>
              </a:extLst>
            </p:cNvPr>
            <p:cNvCxnSpPr>
              <a:cxnSpLocks/>
              <a:stCxn id="45" idx="6"/>
              <a:endCxn id="51" idx="4"/>
            </p:cNvCxnSpPr>
            <p:nvPr/>
          </p:nvCxnSpPr>
          <p:spPr>
            <a:xfrm flipV="1">
              <a:off x="6491329" y="3183802"/>
              <a:ext cx="795196" cy="2752249"/>
            </a:xfrm>
            <a:prstGeom prst="line">
              <a:avLst/>
            </a:prstGeom>
          </p:spPr>
          <p:style>
            <a:lnRef idx="1">
              <a:schemeClr val="accent1"/>
            </a:lnRef>
            <a:fillRef idx="0">
              <a:schemeClr val="accent1"/>
            </a:fillRef>
            <a:effectRef idx="0">
              <a:schemeClr val="accent1"/>
            </a:effectRef>
            <a:fontRef idx="minor">
              <a:schemeClr val="tx1"/>
            </a:fontRef>
          </p:style>
        </p:cxnSp>
        <p:cxnSp>
          <p:nvCxnSpPr>
            <p:cNvPr id="71" name="Straight Connector 70">
              <a:extLst>
                <a:ext uri="{FF2B5EF4-FFF2-40B4-BE49-F238E27FC236}">
                  <a16:creationId xmlns:a16="http://schemas.microsoft.com/office/drawing/2014/main" id="{E2C6CA3B-A420-8549-A435-9D7B23502B8F}"/>
                </a:ext>
              </a:extLst>
            </p:cNvPr>
            <p:cNvCxnSpPr>
              <a:cxnSpLocks/>
              <a:stCxn id="45" idx="6"/>
              <a:endCxn id="52" idx="4"/>
            </p:cNvCxnSpPr>
            <p:nvPr/>
          </p:nvCxnSpPr>
          <p:spPr>
            <a:xfrm flipV="1">
              <a:off x="6491329" y="3183802"/>
              <a:ext cx="1961585" cy="2752249"/>
            </a:xfrm>
            <a:prstGeom prst="line">
              <a:avLst/>
            </a:prstGeom>
          </p:spPr>
          <p:style>
            <a:lnRef idx="1">
              <a:schemeClr val="accent1"/>
            </a:lnRef>
            <a:fillRef idx="0">
              <a:schemeClr val="accent1"/>
            </a:fillRef>
            <a:effectRef idx="0">
              <a:schemeClr val="accent1"/>
            </a:effectRef>
            <a:fontRef idx="minor">
              <a:schemeClr val="tx1"/>
            </a:fontRef>
          </p:style>
        </p:cxnSp>
        <p:cxnSp>
          <p:nvCxnSpPr>
            <p:cNvPr id="73" name="Straight Connector 72">
              <a:extLst>
                <a:ext uri="{FF2B5EF4-FFF2-40B4-BE49-F238E27FC236}">
                  <a16:creationId xmlns:a16="http://schemas.microsoft.com/office/drawing/2014/main" id="{FC853D32-B240-A348-A892-11476C0160F2}"/>
                </a:ext>
              </a:extLst>
            </p:cNvPr>
            <p:cNvCxnSpPr>
              <a:cxnSpLocks/>
              <a:stCxn id="45" idx="6"/>
              <a:endCxn id="47" idx="2"/>
            </p:cNvCxnSpPr>
            <p:nvPr/>
          </p:nvCxnSpPr>
          <p:spPr>
            <a:xfrm flipV="1">
              <a:off x="6491329" y="3926182"/>
              <a:ext cx="3873375" cy="2009869"/>
            </a:xfrm>
            <a:prstGeom prst="line">
              <a:avLst/>
            </a:prstGeom>
          </p:spPr>
          <p:style>
            <a:lnRef idx="1">
              <a:schemeClr val="accent1"/>
            </a:lnRef>
            <a:fillRef idx="0">
              <a:schemeClr val="accent1"/>
            </a:fillRef>
            <a:effectRef idx="0">
              <a:schemeClr val="accent1"/>
            </a:effectRef>
            <a:fontRef idx="minor">
              <a:schemeClr val="tx1"/>
            </a:fontRef>
          </p:style>
        </p:cxnSp>
        <p:cxnSp>
          <p:nvCxnSpPr>
            <p:cNvPr id="74" name="Straight Connector 73">
              <a:extLst>
                <a:ext uri="{FF2B5EF4-FFF2-40B4-BE49-F238E27FC236}">
                  <a16:creationId xmlns:a16="http://schemas.microsoft.com/office/drawing/2014/main" id="{930FF65D-995E-FD43-8B07-C32586C105C6}"/>
                </a:ext>
              </a:extLst>
            </p:cNvPr>
            <p:cNvCxnSpPr>
              <a:cxnSpLocks/>
              <a:stCxn id="45" idx="6"/>
              <a:endCxn id="48" idx="2"/>
            </p:cNvCxnSpPr>
            <p:nvPr/>
          </p:nvCxnSpPr>
          <p:spPr>
            <a:xfrm flipV="1">
              <a:off x="6491329" y="4929608"/>
              <a:ext cx="3873375" cy="1006443"/>
            </a:xfrm>
            <a:prstGeom prst="line">
              <a:avLst/>
            </a:prstGeom>
          </p:spPr>
          <p:style>
            <a:lnRef idx="1">
              <a:schemeClr val="accent1"/>
            </a:lnRef>
            <a:fillRef idx="0">
              <a:schemeClr val="accent1"/>
            </a:fillRef>
            <a:effectRef idx="0">
              <a:schemeClr val="accent1"/>
            </a:effectRef>
            <a:fontRef idx="minor">
              <a:schemeClr val="tx1"/>
            </a:fontRef>
          </p:style>
        </p:cxnSp>
        <p:cxnSp>
          <p:nvCxnSpPr>
            <p:cNvPr id="76" name="Straight Connector 75">
              <a:extLst>
                <a:ext uri="{FF2B5EF4-FFF2-40B4-BE49-F238E27FC236}">
                  <a16:creationId xmlns:a16="http://schemas.microsoft.com/office/drawing/2014/main" id="{695C104D-C8D5-2445-B1BE-1F001C418614}"/>
                </a:ext>
              </a:extLst>
            </p:cNvPr>
            <p:cNvCxnSpPr>
              <a:cxnSpLocks/>
              <a:stCxn id="48" idx="2"/>
              <a:endCxn id="51" idx="4"/>
            </p:cNvCxnSpPr>
            <p:nvPr/>
          </p:nvCxnSpPr>
          <p:spPr>
            <a:xfrm flipH="1" flipV="1">
              <a:off x="7286525" y="3183802"/>
              <a:ext cx="3078179" cy="1745806"/>
            </a:xfrm>
            <a:prstGeom prst="line">
              <a:avLst/>
            </a:prstGeom>
          </p:spPr>
          <p:style>
            <a:lnRef idx="1">
              <a:schemeClr val="accent1"/>
            </a:lnRef>
            <a:fillRef idx="0">
              <a:schemeClr val="accent1"/>
            </a:fillRef>
            <a:effectRef idx="0">
              <a:schemeClr val="accent1"/>
            </a:effectRef>
            <a:fontRef idx="minor">
              <a:schemeClr val="tx1"/>
            </a:fontRef>
          </p:style>
        </p:cxnSp>
        <p:cxnSp>
          <p:nvCxnSpPr>
            <p:cNvPr id="77" name="Straight Connector 76">
              <a:extLst>
                <a:ext uri="{FF2B5EF4-FFF2-40B4-BE49-F238E27FC236}">
                  <a16:creationId xmlns:a16="http://schemas.microsoft.com/office/drawing/2014/main" id="{DD61B95F-3EA8-3340-A6EA-3148ECF23B82}"/>
                </a:ext>
              </a:extLst>
            </p:cNvPr>
            <p:cNvCxnSpPr>
              <a:cxnSpLocks/>
              <a:stCxn id="49" idx="2"/>
              <a:endCxn id="51" idx="4"/>
            </p:cNvCxnSpPr>
            <p:nvPr/>
          </p:nvCxnSpPr>
          <p:spPr>
            <a:xfrm flipH="1" flipV="1">
              <a:off x="7286525" y="3183802"/>
              <a:ext cx="3078179" cy="2749232"/>
            </a:xfrm>
            <a:prstGeom prst="line">
              <a:avLst/>
            </a:prstGeom>
            <a:ln w="28575">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79" name="Straight Connector 78">
              <a:extLst>
                <a:ext uri="{FF2B5EF4-FFF2-40B4-BE49-F238E27FC236}">
                  <a16:creationId xmlns:a16="http://schemas.microsoft.com/office/drawing/2014/main" id="{D992932D-02F0-8643-BD52-D69EEF26986F}"/>
                </a:ext>
              </a:extLst>
            </p:cNvPr>
            <p:cNvCxnSpPr>
              <a:cxnSpLocks/>
              <a:stCxn id="47" idx="2"/>
              <a:endCxn id="52" idx="4"/>
            </p:cNvCxnSpPr>
            <p:nvPr/>
          </p:nvCxnSpPr>
          <p:spPr>
            <a:xfrm flipH="1" flipV="1">
              <a:off x="8452914" y="3183802"/>
              <a:ext cx="1911790" cy="742380"/>
            </a:xfrm>
            <a:prstGeom prst="line">
              <a:avLst/>
            </a:prstGeom>
          </p:spPr>
          <p:style>
            <a:lnRef idx="1">
              <a:schemeClr val="accent1"/>
            </a:lnRef>
            <a:fillRef idx="0">
              <a:schemeClr val="accent1"/>
            </a:fillRef>
            <a:effectRef idx="0">
              <a:schemeClr val="accent1"/>
            </a:effectRef>
            <a:fontRef idx="minor">
              <a:schemeClr val="tx1"/>
            </a:fontRef>
          </p:style>
        </p:cxnSp>
        <p:cxnSp>
          <p:nvCxnSpPr>
            <p:cNvPr id="80" name="Straight Connector 79">
              <a:extLst>
                <a:ext uri="{FF2B5EF4-FFF2-40B4-BE49-F238E27FC236}">
                  <a16:creationId xmlns:a16="http://schemas.microsoft.com/office/drawing/2014/main" id="{FAE71D92-3FA9-5746-A9E2-E9F585FA5071}"/>
                </a:ext>
              </a:extLst>
            </p:cNvPr>
            <p:cNvCxnSpPr>
              <a:cxnSpLocks/>
              <a:stCxn id="48" idx="2"/>
              <a:endCxn id="52" idx="4"/>
            </p:cNvCxnSpPr>
            <p:nvPr/>
          </p:nvCxnSpPr>
          <p:spPr>
            <a:xfrm flipH="1" flipV="1">
              <a:off x="8452914" y="3183802"/>
              <a:ext cx="1911790" cy="1745806"/>
            </a:xfrm>
            <a:prstGeom prst="line">
              <a:avLst/>
            </a:prstGeom>
          </p:spPr>
          <p:style>
            <a:lnRef idx="1">
              <a:schemeClr val="accent1"/>
            </a:lnRef>
            <a:fillRef idx="0">
              <a:schemeClr val="accent1"/>
            </a:fillRef>
            <a:effectRef idx="0">
              <a:schemeClr val="accent1"/>
            </a:effectRef>
            <a:fontRef idx="minor">
              <a:schemeClr val="tx1"/>
            </a:fontRef>
          </p:style>
        </p:cxnSp>
        <p:cxnSp>
          <p:nvCxnSpPr>
            <p:cNvPr id="82" name="Straight Connector 81">
              <a:extLst>
                <a:ext uri="{FF2B5EF4-FFF2-40B4-BE49-F238E27FC236}">
                  <a16:creationId xmlns:a16="http://schemas.microsoft.com/office/drawing/2014/main" id="{B394F35E-5123-334F-926D-5BAF779E18EC}"/>
                </a:ext>
              </a:extLst>
            </p:cNvPr>
            <p:cNvCxnSpPr>
              <a:cxnSpLocks/>
              <a:stCxn id="49" idx="2"/>
              <a:endCxn id="52" idx="4"/>
            </p:cNvCxnSpPr>
            <p:nvPr/>
          </p:nvCxnSpPr>
          <p:spPr>
            <a:xfrm flipH="1" flipV="1">
              <a:off x="8452914" y="3183802"/>
              <a:ext cx="1911790" cy="2749232"/>
            </a:xfrm>
            <a:prstGeom prst="line">
              <a:avLst/>
            </a:prstGeom>
          </p:spPr>
          <p:style>
            <a:lnRef idx="1">
              <a:schemeClr val="accent1"/>
            </a:lnRef>
            <a:fillRef idx="0">
              <a:schemeClr val="accent1"/>
            </a:fillRef>
            <a:effectRef idx="0">
              <a:schemeClr val="accent1"/>
            </a:effectRef>
            <a:fontRef idx="minor">
              <a:schemeClr val="tx1"/>
            </a:fontRef>
          </p:style>
        </p:cxnSp>
        <p:cxnSp>
          <p:nvCxnSpPr>
            <p:cNvPr id="83" name="Straight Connector 82">
              <a:extLst>
                <a:ext uri="{FF2B5EF4-FFF2-40B4-BE49-F238E27FC236}">
                  <a16:creationId xmlns:a16="http://schemas.microsoft.com/office/drawing/2014/main" id="{4A4B6B3D-C261-0C49-86B3-9CC4BA86F15C}"/>
                </a:ext>
              </a:extLst>
            </p:cNvPr>
            <p:cNvCxnSpPr>
              <a:cxnSpLocks/>
              <a:stCxn id="47" idx="2"/>
              <a:endCxn id="54" idx="4"/>
            </p:cNvCxnSpPr>
            <p:nvPr/>
          </p:nvCxnSpPr>
          <p:spPr>
            <a:xfrm flipH="1" flipV="1">
              <a:off x="9619303" y="3183802"/>
              <a:ext cx="745401" cy="742380"/>
            </a:xfrm>
            <a:prstGeom prst="line">
              <a:avLst/>
            </a:prstGeom>
          </p:spPr>
          <p:style>
            <a:lnRef idx="1">
              <a:schemeClr val="accent1"/>
            </a:lnRef>
            <a:fillRef idx="0">
              <a:schemeClr val="accent1"/>
            </a:fillRef>
            <a:effectRef idx="0">
              <a:schemeClr val="accent1"/>
            </a:effectRef>
            <a:fontRef idx="minor">
              <a:schemeClr val="tx1"/>
            </a:fontRef>
          </p:style>
        </p:cxnSp>
        <p:cxnSp>
          <p:nvCxnSpPr>
            <p:cNvPr id="85" name="Straight Connector 84">
              <a:extLst>
                <a:ext uri="{FF2B5EF4-FFF2-40B4-BE49-F238E27FC236}">
                  <a16:creationId xmlns:a16="http://schemas.microsoft.com/office/drawing/2014/main" id="{5F3AC2C9-C8AE-514C-AD21-93A3DA3F0C16}"/>
                </a:ext>
              </a:extLst>
            </p:cNvPr>
            <p:cNvCxnSpPr>
              <a:cxnSpLocks/>
              <a:stCxn id="48" idx="2"/>
              <a:endCxn id="54" idx="4"/>
            </p:cNvCxnSpPr>
            <p:nvPr/>
          </p:nvCxnSpPr>
          <p:spPr>
            <a:xfrm flipH="1" flipV="1">
              <a:off x="9619303" y="3183802"/>
              <a:ext cx="745401" cy="1745806"/>
            </a:xfrm>
            <a:prstGeom prst="line">
              <a:avLst/>
            </a:prstGeom>
          </p:spPr>
          <p:style>
            <a:lnRef idx="1">
              <a:schemeClr val="accent1"/>
            </a:lnRef>
            <a:fillRef idx="0">
              <a:schemeClr val="accent1"/>
            </a:fillRef>
            <a:effectRef idx="0">
              <a:schemeClr val="accent1"/>
            </a:effectRef>
            <a:fontRef idx="minor">
              <a:schemeClr val="tx1"/>
            </a:fontRef>
          </p:style>
        </p:cxnSp>
        <p:cxnSp>
          <p:nvCxnSpPr>
            <p:cNvPr id="86" name="Straight Connector 85">
              <a:extLst>
                <a:ext uri="{FF2B5EF4-FFF2-40B4-BE49-F238E27FC236}">
                  <a16:creationId xmlns:a16="http://schemas.microsoft.com/office/drawing/2014/main" id="{86C0B03D-BB65-524B-8822-D9B1AC15EB10}"/>
                </a:ext>
              </a:extLst>
            </p:cNvPr>
            <p:cNvCxnSpPr>
              <a:cxnSpLocks/>
              <a:stCxn id="49" idx="2"/>
              <a:endCxn id="54" idx="4"/>
            </p:cNvCxnSpPr>
            <p:nvPr/>
          </p:nvCxnSpPr>
          <p:spPr>
            <a:xfrm flipH="1" flipV="1">
              <a:off x="9619303" y="3183802"/>
              <a:ext cx="745401" cy="2749232"/>
            </a:xfrm>
            <a:prstGeom prst="line">
              <a:avLst/>
            </a:prstGeom>
          </p:spPr>
          <p:style>
            <a:lnRef idx="1">
              <a:schemeClr val="accent1"/>
            </a:lnRef>
            <a:fillRef idx="0">
              <a:schemeClr val="accent1"/>
            </a:fillRef>
            <a:effectRef idx="0">
              <a:schemeClr val="accent1"/>
            </a:effectRef>
            <a:fontRef idx="minor">
              <a:schemeClr val="tx1"/>
            </a:fontRef>
          </p:style>
        </p:cxnSp>
        <p:sp>
          <p:nvSpPr>
            <p:cNvPr id="87" name="Content Placeholder 2">
              <a:extLst>
                <a:ext uri="{FF2B5EF4-FFF2-40B4-BE49-F238E27FC236}">
                  <a16:creationId xmlns:a16="http://schemas.microsoft.com/office/drawing/2014/main" id="{8BFB02D9-9E57-C240-8FC2-971E5E22AA16}"/>
                </a:ext>
              </a:extLst>
            </p:cNvPr>
            <p:cNvSpPr txBox="1">
              <a:spLocks/>
            </p:cNvSpPr>
            <p:nvPr/>
          </p:nvSpPr>
          <p:spPr>
            <a:xfrm>
              <a:off x="10514088" y="2907814"/>
              <a:ext cx="655694" cy="478637"/>
            </a:xfrm>
            <a:prstGeom prst="rect">
              <a:avLst/>
            </a:prstGeom>
            <a:ln>
              <a:noFill/>
            </a:ln>
          </p:spPr>
          <p:txBody>
            <a:bodyPr vert="horz" lIns="91440" tIns="45720" rIns="91440" bIns="45720" rtlCol="0">
              <a:normAutofit fontScale="925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i="1" dirty="0">
                  <a:solidFill>
                    <a:schemeClr val="accent1"/>
                  </a:solidFill>
                </a:rPr>
                <a:t>k=3</a:t>
              </a:r>
            </a:p>
          </p:txBody>
        </p:sp>
      </p:grpSp>
      <mc:AlternateContent xmlns:mc="http://schemas.openxmlformats.org/markup-compatibility/2006" xmlns:a14="http://schemas.microsoft.com/office/drawing/2010/main">
        <mc:Choice Requires="a14">
          <p:sp>
            <p:nvSpPr>
              <p:cNvPr id="41" name="Content Placeholder 2">
                <a:extLst>
                  <a:ext uri="{FF2B5EF4-FFF2-40B4-BE49-F238E27FC236}">
                    <a16:creationId xmlns:a16="http://schemas.microsoft.com/office/drawing/2014/main" id="{54F3A816-4F3A-2547-B9E2-F1D2AFCCC5CF}"/>
                  </a:ext>
                </a:extLst>
              </p:cNvPr>
              <p:cNvSpPr txBox="1">
                <a:spLocks/>
              </p:cNvSpPr>
              <p:nvPr/>
            </p:nvSpPr>
            <p:spPr>
              <a:xfrm>
                <a:off x="6643640" y="3209625"/>
                <a:ext cx="4953840" cy="3254558"/>
              </a:xfrm>
              <a:prstGeom prst="rect">
                <a:avLst/>
              </a:prstGeom>
              <a:ln>
                <a:solidFill>
                  <a:schemeClr val="tx1">
                    <a:lumMod val="95000"/>
                  </a:schemeClr>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800" b="1" i="1" u="sng" dirty="0"/>
                  <a:t>Proof</a:t>
                </a:r>
                <a:r>
                  <a:rPr lang="en-US" sz="1800" i="1" dirty="0"/>
                  <a:t>:</a:t>
                </a:r>
                <a:br>
                  <a:rPr lang="en-US" sz="1800" i="1" dirty="0"/>
                </a:br>
                <a:r>
                  <a:rPr lang="en-US" sz="1800" i="1" dirty="0"/>
                  <a:t>G contains a clique of size k</a:t>
                </a:r>
                <a:br>
                  <a:rPr lang="en-US" sz="1800" i="1" dirty="0"/>
                </a:br>
                <a:r>
                  <a:rPr lang="en-US" sz="1800" i="1" dirty="0"/>
                  <a:t>Select the k nodes</a:t>
                </a:r>
                <a:br>
                  <a:rPr lang="en-US" sz="1800" i="1" dirty="0"/>
                </a:br>
                <a:r>
                  <a:rPr lang="en-US" sz="1800" i="1" dirty="0"/>
                  <a:t>Find their respective variables in </a:t>
                </a:r>
                <a14:m>
                  <m:oMath xmlns:m="http://schemas.openxmlformats.org/officeDocument/2006/math">
                    <m:r>
                      <a:rPr lang="en-US" sz="1800" b="0" i="1" smtClean="0">
                        <a:latin typeface="Cambria Math" panose="02040503050406030204" pitchFamily="18" charset="0"/>
                      </a:rPr>
                      <m:t>𝜃</m:t>
                    </m:r>
                  </m:oMath>
                </a14:m>
                <a:br>
                  <a:rPr lang="en-US" sz="1800" i="1" dirty="0"/>
                </a:br>
                <a:r>
                  <a:rPr lang="en-US" sz="1800" i="1" dirty="0"/>
                  <a:t>Each of these variables must be in a different clause</a:t>
                </a:r>
                <a:br>
                  <a:rPr lang="en-US" sz="1800" i="1" dirty="0"/>
                </a:br>
                <a:r>
                  <a:rPr lang="en-US" sz="1800" i="1" dirty="0"/>
                  <a:t>   By how G was constructed</a:t>
                </a:r>
                <a:br>
                  <a:rPr lang="en-US" sz="1800" i="1" dirty="0"/>
                </a:br>
                <a:r>
                  <a:rPr lang="en-US" sz="1800" i="1" dirty="0"/>
                  <a:t>Each variable can be set to TRUE without issue</a:t>
                </a:r>
                <a:br>
                  <a:rPr lang="en-US" sz="1800" i="1" dirty="0"/>
                </a:br>
                <a:r>
                  <a:rPr lang="en-US" sz="1800" i="1" dirty="0"/>
                  <a:t>   By definition of how edges were added to G</a:t>
                </a:r>
                <a:br>
                  <a:rPr lang="en-US" sz="1800" i="1" dirty="0"/>
                </a:br>
                <a:r>
                  <a:rPr lang="en-US" sz="1800" i="1" dirty="0"/>
                  <a:t>Thus, these variables must satisfy </a:t>
                </a:r>
                <a14:m>
                  <m:oMath xmlns:m="http://schemas.openxmlformats.org/officeDocument/2006/math">
                    <m:r>
                      <a:rPr lang="en-US" sz="1800" b="0" i="1" smtClean="0">
                        <a:latin typeface="Cambria Math" panose="02040503050406030204" pitchFamily="18" charset="0"/>
                      </a:rPr>
                      <m:t>𝜃</m:t>
                    </m:r>
                  </m:oMath>
                </a14:m>
                <a:endParaRPr lang="en-US" sz="1800" i="1" dirty="0"/>
              </a:p>
            </p:txBody>
          </p:sp>
        </mc:Choice>
        <mc:Fallback xmlns="">
          <p:sp>
            <p:nvSpPr>
              <p:cNvPr id="41" name="Content Placeholder 2">
                <a:extLst>
                  <a:ext uri="{FF2B5EF4-FFF2-40B4-BE49-F238E27FC236}">
                    <a16:creationId xmlns:a16="http://schemas.microsoft.com/office/drawing/2014/main" id="{54F3A816-4F3A-2547-B9E2-F1D2AFCCC5CF}"/>
                  </a:ext>
                </a:extLst>
              </p:cNvPr>
              <p:cNvSpPr txBox="1">
                <a:spLocks noRot="1" noChangeAspect="1" noMove="1" noResize="1" noEditPoints="1" noAdjustHandles="1" noChangeArrowheads="1" noChangeShapeType="1" noTextEdit="1"/>
              </p:cNvSpPr>
              <p:nvPr/>
            </p:nvSpPr>
            <p:spPr>
              <a:xfrm>
                <a:off x="6643640" y="3209625"/>
                <a:ext cx="4953840" cy="3254558"/>
              </a:xfrm>
              <a:prstGeom prst="rect">
                <a:avLst/>
              </a:prstGeom>
              <a:blipFill>
                <a:blip r:embed="rId14"/>
                <a:stretch>
                  <a:fillRect l="-1020"/>
                </a:stretch>
              </a:blipFill>
              <a:ln>
                <a:solidFill>
                  <a:schemeClr val="tx1">
                    <a:lumMod val="95000"/>
                  </a:schemeClr>
                </a:solidFill>
              </a:ln>
            </p:spPr>
            <p:txBody>
              <a:bodyPr/>
              <a:lstStyle/>
              <a:p>
                <a:r>
                  <a:rPr lang="en-US">
                    <a:noFill/>
                  </a:rPr>
                  <a:t> </a:t>
                </a:r>
              </a:p>
            </p:txBody>
          </p:sp>
        </mc:Fallback>
      </mc:AlternateContent>
      <p:sp>
        <p:nvSpPr>
          <p:cNvPr id="4" name="Rectangle 3">
            <a:extLst>
              <a:ext uri="{FF2B5EF4-FFF2-40B4-BE49-F238E27FC236}">
                <a16:creationId xmlns:a16="http://schemas.microsoft.com/office/drawing/2014/main" id="{B2DBFC0D-5A02-D64C-A99C-DD6F7D69B824}"/>
              </a:ext>
            </a:extLst>
          </p:cNvPr>
          <p:cNvSpPr/>
          <p:nvPr/>
        </p:nvSpPr>
        <p:spPr>
          <a:xfrm>
            <a:off x="1837844" y="1421388"/>
            <a:ext cx="416460" cy="488901"/>
          </a:xfrm>
          <a:prstGeom prst="rect">
            <a:avLst/>
          </a:prstGeom>
          <a:noFill/>
          <a:ln w="1905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Rectangle 42">
            <a:extLst>
              <a:ext uri="{FF2B5EF4-FFF2-40B4-BE49-F238E27FC236}">
                <a16:creationId xmlns:a16="http://schemas.microsoft.com/office/drawing/2014/main" id="{A55874E4-997A-6B45-AEEE-BA54C2701FF6}"/>
              </a:ext>
            </a:extLst>
          </p:cNvPr>
          <p:cNvSpPr/>
          <p:nvPr/>
        </p:nvSpPr>
        <p:spPr>
          <a:xfrm>
            <a:off x="3293857" y="1421105"/>
            <a:ext cx="416460" cy="488901"/>
          </a:xfrm>
          <a:prstGeom prst="rect">
            <a:avLst/>
          </a:prstGeom>
          <a:noFill/>
          <a:ln w="1905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Rectangle 45">
            <a:extLst>
              <a:ext uri="{FF2B5EF4-FFF2-40B4-BE49-F238E27FC236}">
                <a16:creationId xmlns:a16="http://schemas.microsoft.com/office/drawing/2014/main" id="{AA86952D-B7B3-2E47-B0EE-532D3E171B3A}"/>
              </a:ext>
            </a:extLst>
          </p:cNvPr>
          <p:cNvSpPr/>
          <p:nvPr/>
        </p:nvSpPr>
        <p:spPr>
          <a:xfrm>
            <a:off x="6643640" y="1421104"/>
            <a:ext cx="416460" cy="488901"/>
          </a:xfrm>
          <a:prstGeom prst="rect">
            <a:avLst/>
          </a:prstGeom>
          <a:noFill/>
          <a:ln w="1905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957744538"/>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lstStyle/>
          <a:p>
            <a:pPr algn="ctr"/>
            <a:r>
              <a:rPr lang="en-US" dirty="0"/>
              <a:t>Vertex Cover</a:t>
            </a:r>
          </a:p>
        </p:txBody>
      </p:sp>
    </p:spTree>
    <p:extLst>
      <p:ext uri="{BB962C8B-B14F-4D97-AF65-F5344CB8AC3E}">
        <p14:creationId xmlns:p14="http://schemas.microsoft.com/office/powerpoint/2010/main" val="3103023102"/>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a:xfrm>
            <a:off x="1141413" y="193009"/>
            <a:ext cx="9905998" cy="630860"/>
          </a:xfrm>
        </p:spPr>
        <p:txBody>
          <a:bodyPr/>
          <a:lstStyle/>
          <a:p>
            <a:pPr algn="ctr"/>
            <a:r>
              <a:rPr lang="en-US" dirty="0"/>
              <a:t>Vertex Cover</a:t>
            </a:r>
          </a:p>
        </p:txBody>
      </p:sp>
      <p:sp>
        <p:nvSpPr>
          <p:cNvPr id="6" name="Content Placeholder 5"/>
          <p:cNvSpPr>
            <a:spLocks noGrp="1"/>
          </p:cNvSpPr>
          <p:nvPr>
            <p:ph sz="quarter" idx="1"/>
          </p:nvPr>
        </p:nvSpPr>
        <p:spPr>
          <a:xfrm>
            <a:off x="1004935" y="1117800"/>
            <a:ext cx="10330003" cy="1064083"/>
          </a:xfrm>
          <a:solidFill>
            <a:schemeClr val="tx1">
              <a:lumMod val="95000"/>
            </a:schemeClr>
          </a:solidFill>
        </p:spPr>
        <p:txBody>
          <a:bodyPr>
            <a:normAutofit/>
          </a:bodyPr>
          <a:lstStyle/>
          <a:p>
            <a:pPr marL="0" indent="0">
              <a:buNone/>
            </a:pPr>
            <a:r>
              <a:rPr lang="en-US" dirty="0">
                <a:solidFill>
                  <a:schemeClr val="bg1"/>
                </a:solidFill>
              </a:rPr>
              <a:t>A </a:t>
            </a:r>
            <a:r>
              <a:rPr lang="en-US" b="1" i="1" u="sng" dirty="0">
                <a:solidFill>
                  <a:schemeClr val="bg1"/>
                </a:solidFill>
              </a:rPr>
              <a:t>Vertex Cover (VC)</a:t>
            </a:r>
            <a:r>
              <a:rPr lang="en-US" dirty="0">
                <a:solidFill>
                  <a:schemeClr val="bg1"/>
                </a:solidFill>
              </a:rPr>
              <a:t> on a graph G = (V,E) is a subset of vertices S </a:t>
            </a:r>
            <a:r>
              <a:rPr lang="en-US" dirty="0">
                <a:solidFill>
                  <a:schemeClr val="bg1"/>
                </a:solidFill>
                <a:sym typeface="Symbol"/>
              </a:rPr>
              <a:t> V such that every edge in the graph is connected to at least one vertex in S</a:t>
            </a:r>
          </a:p>
        </p:txBody>
      </p:sp>
      <p:sp>
        <p:nvSpPr>
          <p:cNvPr id="7" name="Content Placeholder 5">
            <a:extLst>
              <a:ext uri="{FF2B5EF4-FFF2-40B4-BE49-F238E27FC236}">
                <a16:creationId xmlns:a16="http://schemas.microsoft.com/office/drawing/2014/main" id="{F017D3EB-8A13-6C44-A0D0-22E4290F36A9}"/>
              </a:ext>
            </a:extLst>
          </p:cNvPr>
          <p:cNvSpPr txBox="1">
            <a:spLocks/>
          </p:cNvSpPr>
          <p:nvPr/>
        </p:nvSpPr>
        <p:spPr>
          <a:xfrm>
            <a:off x="9234534" y="4648813"/>
            <a:ext cx="1901228" cy="1949039"/>
          </a:xfrm>
          <a:prstGeom prst="rect">
            <a:avLst/>
          </a:prstGeom>
        </p:spPr>
        <p:txBody>
          <a:bodyPr vert="horz" lIns="91440" tIns="45720" rIns="91440" bIns="45720" rtlCol="0">
            <a:normAutofit fontScale="700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None/>
            </a:pPr>
            <a:r>
              <a:rPr lang="en-US" i="1" dirty="0">
                <a:sym typeface="Symbol"/>
              </a:rPr>
              <a:t>The purple nodes represent a vertex cover of size 3 on this graph. Notice that every edge touches one of these nodes</a:t>
            </a:r>
          </a:p>
        </p:txBody>
      </p:sp>
      <p:sp>
        <p:nvSpPr>
          <p:cNvPr id="9" name="Content Placeholder 5">
            <a:extLst>
              <a:ext uri="{FF2B5EF4-FFF2-40B4-BE49-F238E27FC236}">
                <a16:creationId xmlns:a16="http://schemas.microsoft.com/office/drawing/2014/main" id="{44355DE1-8F88-7B49-B0F8-6EBFE5804231}"/>
              </a:ext>
            </a:extLst>
          </p:cNvPr>
          <p:cNvSpPr txBox="1">
            <a:spLocks/>
          </p:cNvSpPr>
          <p:nvPr/>
        </p:nvSpPr>
        <p:spPr>
          <a:xfrm>
            <a:off x="1004935" y="2290534"/>
            <a:ext cx="10330003" cy="651844"/>
          </a:xfrm>
          <a:prstGeom prst="rect">
            <a:avLst/>
          </a:prstGeom>
          <a:ln>
            <a:solidFill>
              <a:schemeClr val="tx1">
                <a:lumMod val="95000"/>
              </a:schemeClr>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None/>
            </a:pPr>
            <a:r>
              <a:rPr lang="en-US" b="1" i="1" u="sng" dirty="0">
                <a:sym typeface="Symbol"/>
              </a:rPr>
              <a:t>Decision Problem</a:t>
            </a:r>
            <a:r>
              <a:rPr lang="en-US" dirty="0">
                <a:sym typeface="Symbol"/>
              </a:rPr>
              <a:t>: Does a given graph G have a vertex cover of size k or smaller?</a:t>
            </a:r>
          </a:p>
        </p:txBody>
      </p:sp>
      <p:grpSp>
        <p:nvGrpSpPr>
          <p:cNvPr id="55" name="Group 54">
            <a:extLst>
              <a:ext uri="{FF2B5EF4-FFF2-40B4-BE49-F238E27FC236}">
                <a16:creationId xmlns:a16="http://schemas.microsoft.com/office/drawing/2014/main" id="{FC881A52-814E-AD43-90B5-C8EB82DC1A2A}"/>
              </a:ext>
            </a:extLst>
          </p:cNvPr>
          <p:cNvGrpSpPr/>
          <p:nvPr/>
        </p:nvGrpSpPr>
        <p:grpSpPr>
          <a:xfrm>
            <a:off x="3433654" y="3413157"/>
            <a:ext cx="3975729" cy="2853867"/>
            <a:chOff x="3198266" y="3413157"/>
            <a:chExt cx="3975729" cy="2853867"/>
          </a:xfrm>
        </p:grpSpPr>
        <p:sp>
          <p:nvSpPr>
            <p:cNvPr id="2" name="Oval 1">
              <a:extLst>
                <a:ext uri="{FF2B5EF4-FFF2-40B4-BE49-F238E27FC236}">
                  <a16:creationId xmlns:a16="http://schemas.microsoft.com/office/drawing/2014/main" id="{4BED76C8-656C-7343-9E94-CCBDAB39DE21}"/>
                </a:ext>
              </a:extLst>
            </p:cNvPr>
            <p:cNvSpPr/>
            <p:nvPr/>
          </p:nvSpPr>
          <p:spPr>
            <a:xfrm>
              <a:off x="3974475" y="3413157"/>
              <a:ext cx="579422" cy="57942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1</a:t>
              </a:r>
            </a:p>
          </p:txBody>
        </p:sp>
        <p:sp>
          <p:nvSpPr>
            <p:cNvPr id="10" name="Oval 9">
              <a:extLst>
                <a:ext uri="{FF2B5EF4-FFF2-40B4-BE49-F238E27FC236}">
                  <a16:creationId xmlns:a16="http://schemas.microsoft.com/office/drawing/2014/main" id="{B7D36592-3413-4A44-A26C-BF943CD1246E}"/>
                </a:ext>
              </a:extLst>
            </p:cNvPr>
            <p:cNvSpPr/>
            <p:nvPr/>
          </p:nvSpPr>
          <p:spPr>
            <a:xfrm>
              <a:off x="5817484" y="3413157"/>
              <a:ext cx="579422" cy="579422"/>
            </a:xfrm>
            <a:prstGeom prst="ellipse">
              <a:avLst/>
            </a:prstGeom>
            <a:solidFill>
              <a:schemeClr val="accent3"/>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2</a:t>
              </a:r>
            </a:p>
          </p:txBody>
        </p:sp>
        <p:sp>
          <p:nvSpPr>
            <p:cNvPr id="11" name="Oval 10">
              <a:extLst>
                <a:ext uri="{FF2B5EF4-FFF2-40B4-BE49-F238E27FC236}">
                  <a16:creationId xmlns:a16="http://schemas.microsoft.com/office/drawing/2014/main" id="{48604104-46F3-6148-8ABD-557FBAF0B278}"/>
                </a:ext>
              </a:extLst>
            </p:cNvPr>
            <p:cNvSpPr/>
            <p:nvPr/>
          </p:nvSpPr>
          <p:spPr>
            <a:xfrm>
              <a:off x="5238062" y="4563959"/>
              <a:ext cx="579422" cy="57942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4</a:t>
              </a:r>
            </a:p>
          </p:txBody>
        </p:sp>
        <p:sp>
          <p:nvSpPr>
            <p:cNvPr id="12" name="Oval 11">
              <a:extLst>
                <a:ext uri="{FF2B5EF4-FFF2-40B4-BE49-F238E27FC236}">
                  <a16:creationId xmlns:a16="http://schemas.microsoft.com/office/drawing/2014/main" id="{1F03549D-B16B-8746-9D66-7EF5D639FE04}"/>
                </a:ext>
              </a:extLst>
            </p:cNvPr>
            <p:cNvSpPr/>
            <p:nvPr/>
          </p:nvSpPr>
          <p:spPr>
            <a:xfrm>
              <a:off x="6594573" y="4563959"/>
              <a:ext cx="579422" cy="57942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5</a:t>
              </a:r>
            </a:p>
          </p:txBody>
        </p:sp>
        <p:sp>
          <p:nvSpPr>
            <p:cNvPr id="13" name="Oval 12">
              <a:extLst>
                <a:ext uri="{FF2B5EF4-FFF2-40B4-BE49-F238E27FC236}">
                  <a16:creationId xmlns:a16="http://schemas.microsoft.com/office/drawing/2014/main" id="{2F2531F4-A7EC-8C43-97F2-0602D51F66D2}"/>
                </a:ext>
              </a:extLst>
            </p:cNvPr>
            <p:cNvSpPr/>
            <p:nvPr/>
          </p:nvSpPr>
          <p:spPr>
            <a:xfrm>
              <a:off x="5908015" y="5687602"/>
              <a:ext cx="579422" cy="579422"/>
            </a:xfrm>
            <a:prstGeom prst="ellipse">
              <a:avLst/>
            </a:prstGeom>
            <a:solidFill>
              <a:schemeClr val="accent3"/>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7</a:t>
              </a:r>
            </a:p>
          </p:txBody>
        </p:sp>
        <p:sp>
          <p:nvSpPr>
            <p:cNvPr id="14" name="Oval 13">
              <a:extLst>
                <a:ext uri="{FF2B5EF4-FFF2-40B4-BE49-F238E27FC236}">
                  <a16:creationId xmlns:a16="http://schemas.microsoft.com/office/drawing/2014/main" id="{58DEE891-7963-174A-8BCB-20388FD42E80}"/>
                </a:ext>
              </a:extLst>
            </p:cNvPr>
            <p:cNvSpPr/>
            <p:nvPr/>
          </p:nvSpPr>
          <p:spPr>
            <a:xfrm>
              <a:off x="4073308" y="5687602"/>
              <a:ext cx="579422" cy="57942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6</a:t>
              </a:r>
            </a:p>
          </p:txBody>
        </p:sp>
        <p:sp>
          <p:nvSpPr>
            <p:cNvPr id="15" name="Oval 14">
              <a:extLst>
                <a:ext uri="{FF2B5EF4-FFF2-40B4-BE49-F238E27FC236}">
                  <a16:creationId xmlns:a16="http://schemas.microsoft.com/office/drawing/2014/main" id="{2724377C-330C-604B-BA90-8D74BC6A53F1}"/>
                </a:ext>
              </a:extLst>
            </p:cNvPr>
            <p:cNvSpPr/>
            <p:nvPr/>
          </p:nvSpPr>
          <p:spPr>
            <a:xfrm>
              <a:off x="3198266" y="4563959"/>
              <a:ext cx="579422" cy="579422"/>
            </a:xfrm>
            <a:prstGeom prst="ellipse">
              <a:avLst/>
            </a:prstGeom>
            <a:solidFill>
              <a:schemeClr val="accent3"/>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3</a:t>
              </a:r>
            </a:p>
          </p:txBody>
        </p:sp>
        <p:cxnSp>
          <p:nvCxnSpPr>
            <p:cNvPr id="16" name="Straight Connector 15">
              <a:extLst>
                <a:ext uri="{FF2B5EF4-FFF2-40B4-BE49-F238E27FC236}">
                  <a16:creationId xmlns:a16="http://schemas.microsoft.com/office/drawing/2014/main" id="{2EE468A7-D4E3-E64D-9BCD-06C73073D4E4}"/>
                </a:ext>
              </a:extLst>
            </p:cNvPr>
            <p:cNvCxnSpPr>
              <a:stCxn id="2" idx="6"/>
              <a:endCxn id="10" idx="2"/>
            </p:cNvCxnSpPr>
            <p:nvPr/>
          </p:nvCxnSpPr>
          <p:spPr>
            <a:xfrm>
              <a:off x="4553897" y="3702868"/>
              <a:ext cx="1263587"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08FF63DB-4507-8843-87C6-DB49743DB316}"/>
                </a:ext>
              </a:extLst>
            </p:cNvPr>
            <p:cNvCxnSpPr>
              <a:cxnSpLocks/>
              <a:stCxn id="2" idx="3"/>
              <a:endCxn id="15" idx="7"/>
            </p:cNvCxnSpPr>
            <p:nvPr/>
          </p:nvCxnSpPr>
          <p:spPr>
            <a:xfrm flipH="1">
              <a:off x="3692834" y="3907725"/>
              <a:ext cx="366495" cy="741088"/>
            </a:xfrm>
            <a:prstGeom prst="line">
              <a:avLst/>
            </a:prstGeom>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84EE7843-D074-1147-AAA2-2835D73BC6D8}"/>
                </a:ext>
              </a:extLst>
            </p:cNvPr>
            <p:cNvCxnSpPr>
              <a:cxnSpLocks/>
              <a:stCxn id="10" idx="3"/>
              <a:endCxn id="15" idx="6"/>
            </p:cNvCxnSpPr>
            <p:nvPr/>
          </p:nvCxnSpPr>
          <p:spPr>
            <a:xfrm flipH="1">
              <a:off x="3777688" y="3907725"/>
              <a:ext cx="2124650" cy="945945"/>
            </a:xfrm>
            <a:prstGeom prst="line">
              <a:avLst/>
            </a:prstGeom>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4AF45808-7189-BE42-B5CD-1D77F4F052BC}"/>
                </a:ext>
              </a:extLst>
            </p:cNvPr>
            <p:cNvCxnSpPr>
              <a:cxnSpLocks/>
              <a:stCxn id="10" idx="4"/>
              <a:endCxn id="11" idx="7"/>
            </p:cNvCxnSpPr>
            <p:nvPr/>
          </p:nvCxnSpPr>
          <p:spPr>
            <a:xfrm flipH="1">
              <a:off x="5732630" y="3992579"/>
              <a:ext cx="374565" cy="656234"/>
            </a:xfrm>
            <a:prstGeom prst="line">
              <a:avLst/>
            </a:prstGeom>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5C12AFF5-2357-8D46-A78F-2632014A8F48}"/>
                </a:ext>
              </a:extLst>
            </p:cNvPr>
            <p:cNvCxnSpPr>
              <a:cxnSpLocks/>
              <a:stCxn id="10" idx="4"/>
              <a:endCxn id="12" idx="1"/>
            </p:cNvCxnSpPr>
            <p:nvPr/>
          </p:nvCxnSpPr>
          <p:spPr>
            <a:xfrm>
              <a:off x="6107195" y="3992579"/>
              <a:ext cx="572232" cy="656234"/>
            </a:xfrm>
            <a:prstGeom prst="line">
              <a:avLst/>
            </a:prstGeom>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424E7756-5FAD-F845-81E0-7FF16BCCFE5E}"/>
                </a:ext>
              </a:extLst>
            </p:cNvPr>
            <p:cNvCxnSpPr>
              <a:cxnSpLocks/>
              <a:stCxn id="12" idx="3"/>
              <a:endCxn id="13" idx="0"/>
            </p:cNvCxnSpPr>
            <p:nvPr/>
          </p:nvCxnSpPr>
          <p:spPr>
            <a:xfrm flipH="1">
              <a:off x="6197726" y="5058527"/>
              <a:ext cx="481701" cy="629075"/>
            </a:xfrm>
            <a:prstGeom prst="line">
              <a:avLst/>
            </a:prstGeom>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E1950962-9CF1-7D46-AF5F-4D0F57B7BA6C}"/>
                </a:ext>
              </a:extLst>
            </p:cNvPr>
            <p:cNvCxnSpPr>
              <a:cxnSpLocks/>
              <a:stCxn id="11" idx="5"/>
              <a:endCxn id="13" idx="0"/>
            </p:cNvCxnSpPr>
            <p:nvPr/>
          </p:nvCxnSpPr>
          <p:spPr>
            <a:xfrm>
              <a:off x="5732630" y="5058527"/>
              <a:ext cx="465096" cy="629075"/>
            </a:xfrm>
            <a:prstGeom prst="line">
              <a:avLst/>
            </a:prstGeom>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51D4ECEB-158D-4B44-A32F-003842C8EE09}"/>
                </a:ext>
              </a:extLst>
            </p:cNvPr>
            <p:cNvCxnSpPr>
              <a:cxnSpLocks/>
              <a:stCxn id="14" idx="6"/>
              <a:endCxn id="13" idx="2"/>
            </p:cNvCxnSpPr>
            <p:nvPr/>
          </p:nvCxnSpPr>
          <p:spPr>
            <a:xfrm>
              <a:off x="4652730" y="5977313"/>
              <a:ext cx="1255285"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DBF97C2E-26E8-044F-86ED-DB6CC5B74E6F}"/>
                </a:ext>
              </a:extLst>
            </p:cNvPr>
            <p:cNvCxnSpPr>
              <a:cxnSpLocks/>
              <a:stCxn id="15" idx="5"/>
              <a:endCxn id="13" idx="2"/>
            </p:cNvCxnSpPr>
            <p:nvPr/>
          </p:nvCxnSpPr>
          <p:spPr>
            <a:xfrm>
              <a:off x="3692834" y="5058527"/>
              <a:ext cx="2215181" cy="918786"/>
            </a:xfrm>
            <a:prstGeom prst="line">
              <a:avLst/>
            </a:prstGeom>
          </p:spPr>
          <p:style>
            <a:lnRef idx="1">
              <a:schemeClr val="accent1"/>
            </a:lnRef>
            <a:fillRef idx="0">
              <a:schemeClr val="accent1"/>
            </a:fillRef>
            <a:effectRef idx="0">
              <a:schemeClr val="accent1"/>
            </a:effectRef>
            <a:fontRef idx="minor">
              <a:schemeClr val="tx1"/>
            </a:fontRef>
          </p:style>
        </p:cxnSp>
        <p:cxnSp>
          <p:nvCxnSpPr>
            <p:cNvPr id="47" name="Straight Connector 46">
              <a:extLst>
                <a:ext uri="{FF2B5EF4-FFF2-40B4-BE49-F238E27FC236}">
                  <a16:creationId xmlns:a16="http://schemas.microsoft.com/office/drawing/2014/main" id="{A05DA1C0-6E30-8948-A31A-20C6D34006A4}"/>
                </a:ext>
              </a:extLst>
            </p:cNvPr>
            <p:cNvCxnSpPr>
              <a:cxnSpLocks/>
              <a:stCxn id="15" idx="5"/>
              <a:endCxn id="14" idx="1"/>
            </p:cNvCxnSpPr>
            <p:nvPr/>
          </p:nvCxnSpPr>
          <p:spPr>
            <a:xfrm>
              <a:off x="3692834" y="5058527"/>
              <a:ext cx="465328" cy="713929"/>
            </a:xfrm>
            <a:prstGeom prst="line">
              <a:avLst/>
            </a:prstGeom>
          </p:spPr>
          <p:style>
            <a:lnRef idx="1">
              <a:schemeClr val="accent1"/>
            </a:lnRef>
            <a:fillRef idx="0">
              <a:schemeClr val="accent1"/>
            </a:fillRef>
            <a:effectRef idx="0">
              <a:schemeClr val="accent1"/>
            </a:effectRef>
            <a:fontRef idx="minor">
              <a:schemeClr val="tx1"/>
            </a:fontRef>
          </p:style>
        </p:cxnSp>
      </p:grpSp>
      <p:cxnSp>
        <p:nvCxnSpPr>
          <p:cNvPr id="54" name="Straight Connector 53">
            <a:extLst>
              <a:ext uri="{FF2B5EF4-FFF2-40B4-BE49-F238E27FC236}">
                <a16:creationId xmlns:a16="http://schemas.microsoft.com/office/drawing/2014/main" id="{9A2B8E8E-E747-4F4C-AB0D-07B6C70614B0}"/>
              </a:ext>
            </a:extLst>
          </p:cNvPr>
          <p:cNvCxnSpPr/>
          <p:nvPr/>
        </p:nvCxnSpPr>
        <p:spPr>
          <a:xfrm>
            <a:off x="8020010" y="5016099"/>
            <a:ext cx="1214524" cy="399392"/>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18093285"/>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p:cNvSpPr>
                <a:spLocks noGrp="1"/>
              </p:cNvSpPr>
              <p:nvPr>
                <p:ph type="title"/>
              </p:nvPr>
            </p:nvSpPr>
            <p:spPr>
              <a:xfrm>
                <a:off x="1141413" y="326848"/>
                <a:ext cx="9905998" cy="603310"/>
              </a:xfrm>
            </p:spPr>
            <p:txBody>
              <a:bodyPr/>
              <a:lstStyle/>
              <a:p>
                <a:pPr algn="ctr"/>
                <a:r>
                  <a:rPr lang="en-US" b="0" dirty="0"/>
                  <a:t>Showing that </a:t>
                </a:r>
                <a14:m>
                  <m:oMath xmlns:m="http://schemas.openxmlformats.org/officeDocument/2006/math">
                    <m:r>
                      <a:rPr lang="en-US" i="1" dirty="0" smtClean="0">
                        <a:latin typeface="Cambria Math" panose="02040503050406030204" pitchFamily="18" charset="0"/>
                      </a:rPr>
                      <m:t>𝑉</m:t>
                    </m:r>
                    <m:r>
                      <a:rPr lang="en-US" b="0" i="1" dirty="0" smtClean="0">
                        <a:latin typeface="Cambria Math" panose="02040503050406030204" pitchFamily="18" charset="0"/>
                      </a:rPr>
                      <m:t>𝐶</m:t>
                    </m:r>
                    <m:r>
                      <a:rPr lang="en-US" b="0" i="1" dirty="0" smtClean="0">
                        <a:latin typeface="Cambria Math" panose="02040503050406030204" pitchFamily="18" charset="0"/>
                      </a:rPr>
                      <m:t>∈</m:t>
                    </m:r>
                    <m:r>
                      <a:rPr lang="en-US" b="0" i="1" dirty="0" smtClean="0">
                        <a:latin typeface="Cambria Math" panose="02040503050406030204" pitchFamily="18" charset="0"/>
                      </a:rPr>
                      <m:t>𝑁𝑃𝐶</m:t>
                    </m:r>
                  </m:oMath>
                </a14:m>
                <a:endParaRPr lang="en-US" dirty="0"/>
              </a:p>
            </p:txBody>
          </p:sp>
        </mc:Choice>
        <mc:Fallback xmlns="">
          <p:sp>
            <p:nvSpPr>
              <p:cNvPr id="2" name="Title 1"/>
              <p:cNvSpPr>
                <a:spLocks noGrp="1" noRot="1" noChangeAspect="1" noMove="1" noResize="1" noEditPoints="1" noAdjustHandles="1" noChangeArrowheads="1" noChangeShapeType="1" noTextEdit="1"/>
              </p:cNvSpPr>
              <p:nvPr>
                <p:ph type="title"/>
              </p:nvPr>
            </p:nvSpPr>
            <p:spPr>
              <a:xfrm>
                <a:off x="1141413" y="326848"/>
                <a:ext cx="9905998" cy="603310"/>
              </a:xfrm>
              <a:blipFill>
                <a:blip r:embed="rId2"/>
                <a:stretch>
                  <a:fillRect t="-22917" b="-3541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Content Placeholder 2"/>
              <p:cNvSpPr>
                <a:spLocks noGrp="1"/>
              </p:cNvSpPr>
              <p:nvPr>
                <p:ph sz="quarter" idx="1"/>
              </p:nvPr>
            </p:nvSpPr>
            <p:spPr>
              <a:xfrm>
                <a:off x="1070468" y="1744991"/>
                <a:ext cx="9905999" cy="477948"/>
              </a:xfrm>
            </p:spPr>
            <p:txBody>
              <a:bodyPr>
                <a:normAutofit/>
              </a:bodyPr>
              <a:lstStyle/>
              <a:p>
                <a:pPr marL="0" indent="0">
                  <a:buNone/>
                </a:pPr>
                <a:r>
                  <a:rPr lang="en-US" sz="1800" dirty="0"/>
                  <a:t>To show that </a:t>
                </a:r>
                <a14:m>
                  <m:oMath xmlns:m="http://schemas.openxmlformats.org/officeDocument/2006/math">
                    <m:r>
                      <a:rPr lang="en-US" sz="1800" b="0" i="1" smtClean="0">
                        <a:latin typeface="Cambria Math" panose="02040503050406030204" pitchFamily="18" charset="0"/>
                      </a:rPr>
                      <m:t>𝑉𝐶</m:t>
                    </m:r>
                    <m:r>
                      <a:rPr lang="en-US" sz="1800" b="0" i="1" smtClean="0">
                        <a:latin typeface="Cambria Math" panose="02040503050406030204" pitchFamily="18" charset="0"/>
                      </a:rPr>
                      <m:t>∈</m:t>
                    </m:r>
                    <m:r>
                      <a:rPr lang="en-US" sz="1800" b="0" i="1" smtClean="0">
                        <a:latin typeface="Cambria Math" panose="02040503050406030204" pitchFamily="18" charset="0"/>
                      </a:rPr>
                      <m:t>𝑁𝑃𝐶</m:t>
                    </m:r>
                  </m:oMath>
                </a14:m>
                <a:r>
                  <a:rPr lang="en-US" sz="1800" dirty="0"/>
                  <a:t>, we must show both that:</a:t>
                </a:r>
              </a:p>
            </p:txBody>
          </p:sp>
        </mc:Choice>
        <mc:Fallback xmlns="">
          <p:sp>
            <p:nvSpPr>
              <p:cNvPr id="3" name="Content Placeholder 2"/>
              <p:cNvSpPr>
                <a:spLocks noGrp="1" noRot="1" noChangeAspect="1" noMove="1" noResize="1" noEditPoints="1" noAdjustHandles="1" noChangeArrowheads="1" noChangeShapeType="1" noTextEdit="1"/>
              </p:cNvSpPr>
              <p:nvPr>
                <p:ph sz="quarter" idx="1"/>
              </p:nvPr>
            </p:nvSpPr>
            <p:spPr>
              <a:xfrm>
                <a:off x="1070468" y="1744991"/>
                <a:ext cx="9905999" cy="477948"/>
              </a:xfrm>
              <a:blipFill>
                <a:blip r:embed="rId3"/>
                <a:stretch>
                  <a:fillRect l="-513" b="-256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Content Placeholder 2">
                <a:extLst>
                  <a:ext uri="{FF2B5EF4-FFF2-40B4-BE49-F238E27FC236}">
                    <a16:creationId xmlns:a16="http://schemas.microsoft.com/office/drawing/2014/main" id="{12063473-8A28-4A47-9CBA-0765249DEEC2}"/>
                  </a:ext>
                </a:extLst>
              </p:cNvPr>
              <p:cNvSpPr txBox="1">
                <a:spLocks/>
              </p:cNvSpPr>
              <p:nvPr/>
            </p:nvSpPr>
            <p:spPr>
              <a:xfrm>
                <a:off x="1141413" y="2177887"/>
                <a:ext cx="4423817" cy="1779735"/>
              </a:xfrm>
              <a:prstGeom prst="rect">
                <a:avLst/>
              </a:prstGeom>
              <a:solidFill>
                <a:schemeClr val="tx1">
                  <a:lumMod val="95000"/>
                </a:schemeClr>
              </a:solidFill>
              <a:ln>
                <a:solidFill>
                  <a:schemeClr val="bg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14:m>
                  <m:oMathPara xmlns:m="http://schemas.openxmlformats.org/officeDocument/2006/math">
                    <m:oMathParaPr>
                      <m:jc m:val="center"/>
                    </m:oMathParaPr>
                    <m:oMath xmlns:m="http://schemas.openxmlformats.org/officeDocument/2006/math">
                      <m:r>
                        <m:rPr>
                          <m:sty m:val="p"/>
                        </m:rPr>
                        <a:rPr lang="en-US" sz="1800" i="1" smtClean="0">
                          <a:solidFill>
                            <a:schemeClr val="bg1"/>
                          </a:solidFill>
                          <a:latin typeface="Cambria Math" panose="02040503050406030204" pitchFamily="18" charset="0"/>
                        </a:rPr>
                        <m:t>V</m:t>
                      </m:r>
                      <m:r>
                        <a:rPr lang="en-US" sz="1800" b="0" i="1" smtClean="0">
                          <a:solidFill>
                            <a:schemeClr val="bg1"/>
                          </a:solidFill>
                          <a:latin typeface="Cambria Math" panose="02040503050406030204" pitchFamily="18" charset="0"/>
                        </a:rPr>
                        <m:t>𝐶</m:t>
                      </m:r>
                      <m:r>
                        <a:rPr lang="en-US" sz="1800" b="0" i="1" smtClean="0">
                          <a:solidFill>
                            <a:schemeClr val="bg1"/>
                          </a:solidFill>
                          <a:latin typeface="Cambria Math" panose="02040503050406030204" pitchFamily="18" charset="0"/>
                        </a:rPr>
                        <m:t>∈</m:t>
                      </m:r>
                      <m:r>
                        <a:rPr lang="en-US" sz="1800" b="0" i="1" smtClean="0">
                          <a:solidFill>
                            <a:schemeClr val="bg1"/>
                          </a:solidFill>
                          <a:latin typeface="Cambria Math" panose="02040503050406030204" pitchFamily="18" charset="0"/>
                        </a:rPr>
                        <m:t>𝑁𝑃</m:t>
                      </m:r>
                    </m:oMath>
                  </m:oMathPara>
                </a14:m>
                <a:endParaRPr lang="en-US" sz="1800" dirty="0">
                  <a:solidFill>
                    <a:schemeClr val="bg1"/>
                  </a:solidFill>
                </a:endParaRPr>
              </a:p>
              <a:p>
                <a:pPr marL="0" indent="0" algn="ctr">
                  <a:buFont typeface="Arial" panose="020B0604020202020204" pitchFamily="34" charset="0"/>
                  <a:buNone/>
                </a:pPr>
                <a:endParaRPr lang="en-US" sz="1800" dirty="0">
                  <a:solidFill>
                    <a:schemeClr val="bg1"/>
                  </a:solidFill>
                </a:endParaRPr>
              </a:p>
              <a:p>
                <a:pPr marL="0" indent="0" algn="ctr">
                  <a:buFont typeface="Arial" panose="020B0604020202020204" pitchFamily="34" charset="0"/>
                  <a:buNone/>
                </a:pPr>
                <a:r>
                  <a:rPr lang="en-US" sz="1800" dirty="0">
                    <a:solidFill>
                      <a:schemeClr val="bg1"/>
                    </a:solidFill>
                  </a:rPr>
                  <a:t>Provide a verifier TM that runs in Polynomial Time</a:t>
                </a:r>
              </a:p>
            </p:txBody>
          </p:sp>
        </mc:Choice>
        <mc:Fallback xmlns="">
          <p:sp>
            <p:nvSpPr>
              <p:cNvPr id="5" name="Content Placeholder 2">
                <a:extLst>
                  <a:ext uri="{FF2B5EF4-FFF2-40B4-BE49-F238E27FC236}">
                    <a16:creationId xmlns:a16="http://schemas.microsoft.com/office/drawing/2014/main" id="{12063473-8A28-4A47-9CBA-0765249DEEC2}"/>
                  </a:ext>
                </a:extLst>
              </p:cNvPr>
              <p:cNvSpPr txBox="1">
                <a:spLocks noRot="1" noChangeAspect="1" noMove="1" noResize="1" noEditPoints="1" noAdjustHandles="1" noChangeArrowheads="1" noChangeShapeType="1" noTextEdit="1"/>
              </p:cNvSpPr>
              <p:nvPr/>
            </p:nvSpPr>
            <p:spPr>
              <a:xfrm>
                <a:off x="1141413" y="2177887"/>
                <a:ext cx="4423817" cy="1779735"/>
              </a:xfrm>
              <a:prstGeom prst="rect">
                <a:avLst/>
              </a:prstGeom>
              <a:blipFill>
                <a:blip r:embed="rId4"/>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Content Placeholder 2">
                <a:extLst>
                  <a:ext uri="{FF2B5EF4-FFF2-40B4-BE49-F238E27FC236}">
                    <a16:creationId xmlns:a16="http://schemas.microsoft.com/office/drawing/2014/main" id="{347E063C-4014-2747-B5DF-2F3FAAFF4FDD}"/>
                  </a:ext>
                </a:extLst>
              </p:cNvPr>
              <p:cNvSpPr txBox="1">
                <a:spLocks/>
              </p:cNvSpPr>
              <p:nvPr/>
            </p:nvSpPr>
            <p:spPr>
              <a:xfrm>
                <a:off x="6238048" y="2177886"/>
                <a:ext cx="4423817" cy="1779735"/>
              </a:xfrm>
              <a:prstGeom prst="rect">
                <a:avLst/>
              </a:prstGeom>
              <a:solidFill>
                <a:schemeClr val="tx1">
                  <a:lumMod val="95000"/>
                </a:schemeClr>
              </a:solidFill>
              <a:ln>
                <a:solidFill>
                  <a:schemeClr val="bg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14:m>
                  <m:oMathPara xmlns:m="http://schemas.openxmlformats.org/officeDocument/2006/math">
                    <m:oMathParaPr>
                      <m:jc m:val="center"/>
                    </m:oMathParaPr>
                    <m:oMath xmlns:m="http://schemas.openxmlformats.org/officeDocument/2006/math">
                      <m:r>
                        <a:rPr lang="en-US" sz="1800" b="0" i="1" smtClean="0">
                          <a:solidFill>
                            <a:schemeClr val="bg1"/>
                          </a:solidFill>
                          <a:latin typeface="Cambria Math" panose="02040503050406030204" pitchFamily="18" charset="0"/>
                        </a:rPr>
                        <m:t>𝑉𝐶</m:t>
                      </m:r>
                      <m:r>
                        <a:rPr lang="en-US" sz="1800" b="0" i="1" smtClean="0">
                          <a:solidFill>
                            <a:schemeClr val="bg1"/>
                          </a:solidFill>
                          <a:latin typeface="Cambria Math" panose="02040503050406030204" pitchFamily="18" charset="0"/>
                        </a:rPr>
                        <m:t>∈</m:t>
                      </m:r>
                      <m:r>
                        <a:rPr lang="en-US" sz="1800" b="0" i="1" smtClean="0">
                          <a:solidFill>
                            <a:schemeClr val="bg1"/>
                          </a:solidFill>
                          <a:latin typeface="Cambria Math" panose="02040503050406030204" pitchFamily="18" charset="0"/>
                        </a:rPr>
                        <m:t>𝑁𝑃</m:t>
                      </m:r>
                      <m:r>
                        <a:rPr lang="en-US" sz="1800" b="0" i="1" smtClean="0">
                          <a:solidFill>
                            <a:schemeClr val="bg1"/>
                          </a:solidFill>
                          <a:latin typeface="Cambria Math" panose="02040503050406030204" pitchFamily="18" charset="0"/>
                        </a:rPr>
                        <m:t>−</m:t>
                      </m:r>
                      <m:r>
                        <a:rPr lang="en-US" sz="1800" b="0" i="1" smtClean="0">
                          <a:solidFill>
                            <a:schemeClr val="bg1"/>
                          </a:solidFill>
                          <a:latin typeface="Cambria Math" panose="02040503050406030204" pitchFamily="18" charset="0"/>
                        </a:rPr>
                        <m:t>𝐻𝐴𝑅𝐷</m:t>
                      </m:r>
                    </m:oMath>
                  </m:oMathPara>
                </a14:m>
                <a:endParaRPr lang="en-US" sz="1800" dirty="0">
                  <a:solidFill>
                    <a:schemeClr val="bg1"/>
                  </a:solidFill>
                </a:endParaRPr>
              </a:p>
              <a:p>
                <a:pPr marL="0" indent="0" algn="ctr">
                  <a:buFont typeface="Arial" panose="020B0604020202020204" pitchFamily="34" charset="0"/>
                  <a:buNone/>
                </a:pPr>
                <a:br>
                  <a:rPr lang="en-US" sz="1800" dirty="0">
                    <a:solidFill>
                      <a:schemeClr val="bg1"/>
                    </a:solidFill>
                  </a:rPr>
                </a:br>
                <a14:m>
                  <m:oMathPara xmlns:m="http://schemas.openxmlformats.org/officeDocument/2006/math">
                    <m:oMathParaPr>
                      <m:jc m:val="centerGroup"/>
                    </m:oMathParaPr>
                    <m:oMath xmlns:m="http://schemas.openxmlformats.org/officeDocument/2006/math">
                      <m:r>
                        <a:rPr lang="en-US" sz="1800" b="1" i="1" smtClean="0">
                          <a:solidFill>
                            <a:schemeClr val="bg1"/>
                          </a:solidFill>
                          <a:latin typeface="Cambria Math" panose="02040503050406030204" pitchFamily="18" charset="0"/>
                        </a:rPr>
                        <m:t>𝑪𝒍𝒊𝒒𝒖𝒆</m:t>
                      </m:r>
                      <m:sSub>
                        <m:sSubPr>
                          <m:ctrlPr>
                            <a:rPr lang="en-US" sz="1800" b="1" i="1" smtClean="0">
                              <a:solidFill>
                                <a:schemeClr val="bg1"/>
                              </a:solidFill>
                              <a:latin typeface="Cambria Math" panose="02040503050406030204" pitchFamily="18" charset="0"/>
                            </a:rPr>
                          </m:ctrlPr>
                        </m:sSubPr>
                        <m:e>
                          <m:r>
                            <a:rPr lang="en-US" sz="1800" b="1" i="1" smtClean="0">
                              <a:solidFill>
                                <a:schemeClr val="bg1"/>
                              </a:solidFill>
                              <a:latin typeface="Cambria Math" panose="02040503050406030204" pitchFamily="18" charset="0"/>
                            </a:rPr>
                            <m:t>≤</m:t>
                          </m:r>
                        </m:e>
                        <m:sub>
                          <m:r>
                            <a:rPr lang="en-US" sz="1800" b="1" i="1" smtClean="0">
                              <a:solidFill>
                                <a:schemeClr val="bg1"/>
                              </a:solidFill>
                              <a:latin typeface="Cambria Math" panose="02040503050406030204" pitchFamily="18" charset="0"/>
                            </a:rPr>
                            <m:t>𝒑</m:t>
                          </m:r>
                        </m:sub>
                      </m:sSub>
                      <m:r>
                        <a:rPr lang="en-US" sz="1800" b="1" i="1" smtClean="0">
                          <a:solidFill>
                            <a:schemeClr val="bg1"/>
                          </a:solidFill>
                          <a:latin typeface="Cambria Math" panose="02040503050406030204" pitchFamily="18" charset="0"/>
                        </a:rPr>
                        <m:t>𝑽𝑪</m:t>
                      </m:r>
                    </m:oMath>
                  </m:oMathPara>
                </a14:m>
                <a:endParaRPr lang="en-US" sz="1800" b="1" dirty="0">
                  <a:solidFill>
                    <a:schemeClr val="bg1"/>
                  </a:solidFill>
                </a:endParaRPr>
              </a:p>
            </p:txBody>
          </p:sp>
        </mc:Choice>
        <mc:Fallback xmlns="">
          <p:sp>
            <p:nvSpPr>
              <p:cNvPr id="6" name="Content Placeholder 2">
                <a:extLst>
                  <a:ext uri="{FF2B5EF4-FFF2-40B4-BE49-F238E27FC236}">
                    <a16:creationId xmlns:a16="http://schemas.microsoft.com/office/drawing/2014/main" id="{347E063C-4014-2747-B5DF-2F3FAAFF4FDD}"/>
                  </a:ext>
                </a:extLst>
              </p:cNvPr>
              <p:cNvSpPr txBox="1">
                <a:spLocks noRot="1" noChangeAspect="1" noMove="1" noResize="1" noEditPoints="1" noAdjustHandles="1" noChangeArrowheads="1" noChangeShapeType="1" noTextEdit="1"/>
              </p:cNvSpPr>
              <p:nvPr/>
            </p:nvSpPr>
            <p:spPr>
              <a:xfrm>
                <a:off x="6238048" y="2177886"/>
                <a:ext cx="4423817" cy="1779735"/>
              </a:xfrm>
              <a:prstGeom prst="rect">
                <a:avLst/>
              </a:prstGeom>
              <a:blipFill>
                <a:blip r:embed="rId5"/>
                <a:stretch>
                  <a:fillRect/>
                </a:stretch>
              </a:blipFill>
              <a:ln>
                <a:solidFill>
                  <a:schemeClr val="bg1"/>
                </a:solidFill>
              </a:ln>
            </p:spPr>
            <p:txBody>
              <a:bodyPr/>
              <a:lstStyle/>
              <a:p>
                <a:r>
                  <a:rPr lang="en-US">
                    <a:noFill/>
                  </a:rPr>
                  <a:t> </a:t>
                </a:r>
              </a:p>
            </p:txBody>
          </p:sp>
        </mc:Fallback>
      </mc:AlternateContent>
      <p:sp>
        <p:nvSpPr>
          <p:cNvPr id="11" name="Content Placeholder 2">
            <a:extLst>
              <a:ext uri="{FF2B5EF4-FFF2-40B4-BE49-F238E27FC236}">
                <a16:creationId xmlns:a16="http://schemas.microsoft.com/office/drawing/2014/main" id="{4A28EFFD-022F-1E4E-9149-D8B803B3D932}"/>
              </a:ext>
            </a:extLst>
          </p:cNvPr>
          <p:cNvSpPr txBox="1">
            <a:spLocks/>
          </p:cNvSpPr>
          <p:nvPr/>
        </p:nvSpPr>
        <p:spPr>
          <a:xfrm>
            <a:off x="2030075" y="4883440"/>
            <a:ext cx="1835755" cy="983206"/>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800" dirty="0"/>
              <a:t>As usual, this one is pretty simple</a:t>
            </a:r>
          </a:p>
        </p:txBody>
      </p:sp>
      <p:cxnSp>
        <p:nvCxnSpPr>
          <p:cNvPr id="8" name="Straight Connector 7">
            <a:extLst>
              <a:ext uri="{FF2B5EF4-FFF2-40B4-BE49-F238E27FC236}">
                <a16:creationId xmlns:a16="http://schemas.microsoft.com/office/drawing/2014/main" id="{30E16DAD-3F7A-1949-893B-94CA289CB518}"/>
              </a:ext>
            </a:extLst>
          </p:cNvPr>
          <p:cNvCxnSpPr>
            <a:cxnSpLocks/>
          </p:cNvCxnSpPr>
          <p:nvPr/>
        </p:nvCxnSpPr>
        <p:spPr>
          <a:xfrm flipV="1">
            <a:off x="2946664" y="4074059"/>
            <a:ext cx="330690" cy="734547"/>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
        <p:nvSpPr>
          <p:cNvPr id="12" name="Content Placeholder 2">
            <a:extLst>
              <a:ext uri="{FF2B5EF4-FFF2-40B4-BE49-F238E27FC236}">
                <a16:creationId xmlns:a16="http://schemas.microsoft.com/office/drawing/2014/main" id="{EF859B45-EF18-B345-AECB-BD00FC6A9752}"/>
              </a:ext>
            </a:extLst>
          </p:cNvPr>
          <p:cNvSpPr txBox="1">
            <a:spLocks/>
          </p:cNvSpPr>
          <p:nvPr/>
        </p:nvSpPr>
        <p:spPr>
          <a:xfrm>
            <a:off x="8411259" y="5375043"/>
            <a:ext cx="1835755" cy="983206"/>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800" dirty="0"/>
              <a:t>Let’s use Clique this time</a:t>
            </a:r>
          </a:p>
        </p:txBody>
      </p:sp>
      <p:cxnSp>
        <p:nvCxnSpPr>
          <p:cNvPr id="13" name="Straight Connector 12">
            <a:extLst>
              <a:ext uri="{FF2B5EF4-FFF2-40B4-BE49-F238E27FC236}">
                <a16:creationId xmlns:a16="http://schemas.microsoft.com/office/drawing/2014/main" id="{C412F500-D627-DD46-A859-2E5854E7A90D}"/>
              </a:ext>
            </a:extLst>
          </p:cNvPr>
          <p:cNvCxnSpPr>
            <a:cxnSpLocks/>
          </p:cNvCxnSpPr>
          <p:nvPr/>
        </p:nvCxnSpPr>
        <p:spPr>
          <a:xfrm flipH="1" flipV="1">
            <a:off x="8682273" y="4146487"/>
            <a:ext cx="645575" cy="1153723"/>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18234145"/>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p:cNvSpPr>
                <a:spLocks noGrp="1"/>
              </p:cNvSpPr>
              <p:nvPr>
                <p:ph type="title"/>
              </p:nvPr>
            </p:nvSpPr>
            <p:spPr>
              <a:xfrm>
                <a:off x="1141413" y="326848"/>
                <a:ext cx="9905998" cy="603310"/>
              </a:xfrm>
            </p:spPr>
            <p:txBody>
              <a:bodyPr/>
              <a:lstStyle/>
              <a:p>
                <a:pPr algn="ctr"/>
                <a:r>
                  <a:rPr lang="en-US" b="0" dirty="0"/>
                  <a:t>Showing that </a:t>
                </a:r>
                <a14:m>
                  <m:oMath xmlns:m="http://schemas.openxmlformats.org/officeDocument/2006/math">
                    <m:r>
                      <a:rPr lang="en-US" i="1" dirty="0" smtClean="0">
                        <a:latin typeface="Cambria Math" panose="02040503050406030204" pitchFamily="18" charset="0"/>
                      </a:rPr>
                      <m:t>𝑉</m:t>
                    </m:r>
                    <m:r>
                      <a:rPr lang="en-US" b="0" i="1" dirty="0" smtClean="0">
                        <a:latin typeface="Cambria Math" panose="02040503050406030204" pitchFamily="18" charset="0"/>
                      </a:rPr>
                      <m:t>𝐶</m:t>
                    </m:r>
                    <m:r>
                      <a:rPr lang="en-US" b="0" i="1" dirty="0" smtClean="0">
                        <a:latin typeface="Cambria Math" panose="02040503050406030204" pitchFamily="18" charset="0"/>
                      </a:rPr>
                      <m:t>∈</m:t>
                    </m:r>
                    <m:r>
                      <a:rPr lang="en-US" b="0" i="1" dirty="0" smtClean="0">
                        <a:latin typeface="Cambria Math" panose="02040503050406030204" pitchFamily="18" charset="0"/>
                      </a:rPr>
                      <m:t>𝑁𝑃𝐶</m:t>
                    </m:r>
                  </m:oMath>
                </a14:m>
                <a:endParaRPr lang="en-US" dirty="0"/>
              </a:p>
            </p:txBody>
          </p:sp>
        </mc:Choice>
        <mc:Fallback xmlns="">
          <p:sp>
            <p:nvSpPr>
              <p:cNvPr id="2" name="Title 1"/>
              <p:cNvSpPr>
                <a:spLocks noGrp="1" noRot="1" noChangeAspect="1" noMove="1" noResize="1" noEditPoints="1" noAdjustHandles="1" noChangeArrowheads="1" noChangeShapeType="1" noTextEdit="1"/>
              </p:cNvSpPr>
              <p:nvPr>
                <p:ph type="title"/>
              </p:nvPr>
            </p:nvSpPr>
            <p:spPr>
              <a:xfrm>
                <a:off x="1141413" y="326848"/>
                <a:ext cx="9905998" cy="603310"/>
              </a:xfrm>
              <a:blipFill>
                <a:blip r:embed="rId2"/>
                <a:stretch>
                  <a:fillRect t="-22917" b="-3541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Content Placeholder 2">
                <a:extLst>
                  <a:ext uri="{FF2B5EF4-FFF2-40B4-BE49-F238E27FC236}">
                    <a16:creationId xmlns:a16="http://schemas.microsoft.com/office/drawing/2014/main" id="{12063473-8A28-4A47-9CBA-0765249DEEC2}"/>
                  </a:ext>
                </a:extLst>
              </p:cNvPr>
              <p:cNvSpPr txBox="1">
                <a:spLocks/>
              </p:cNvSpPr>
              <p:nvPr/>
            </p:nvSpPr>
            <p:spPr>
              <a:xfrm>
                <a:off x="3882503" y="1317808"/>
                <a:ext cx="4423817" cy="1779735"/>
              </a:xfrm>
              <a:prstGeom prst="rect">
                <a:avLst/>
              </a:prstGeom>
              <a:solidFill>
                <a:schemeClr val="accent1"/>
              </a:solidFill>
              <a:ln>
                <a:solidFill>
                  <a:schemeClr val="bg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14:m>
                  <m:oMathPara xmlns:m="http://schemas.openxmlformats.org/officeDocument/2006/math">
                    <m:oMathParaPr>
                      <m:jc m:val="center"/>
                    </m:oMathParaPr>
                    <m:oMath xmlns:m="http://schemas.openxmlformats.org/officeDocument/2006/math">
                      <m:r>
                        <m:rPr>
                          <m:sty m:val="p"/>
                        </m:rPr>
                        <a:rPr lang="en-US" sz="1800" i="1" smtClean="0">
                          <a:solidFill>
                            <a:schemeClr val="bg1"/>
                          </a:solidFill>
                          <a:latin typeface="Cambria Math" panose="02040503050406030204" pitchFamily="18" charset="0"/>
                        </a:rPr>
                        <m:t>V</m:t>
                      </m:r>
                      <m:r>
                        <a:rPr lang="en-US" sz="1800" b="0" i="1" smtClean="0">
                          <a:solidFill>
                            <a:schemeClr val="bg1"/>
                          </a:solidFill>
                          <a:latin typeface="Cambria Math" panose="02040503050406030204" pitchFamily="18" charset="0"/>
                        </a:rPr>
                        <m:t>𝐶</m:t>
                      </m:r>
                      <m:r>
                        <a:rPr lang="en-US" sz="1800" b="0" i="1" smtClean="0">
                          <a:solidFill>
                            <a:schemeClr val="bg1"/>
                          </a:solidFill>
                          <a:latin typeface="Cambria Math" panose="02040503050406030204" pitchFamily="18" charset="0"/>
                        </a:rPr>
                        <m:t>∈</m:t>
                      </m:r>
                      <m:r>
                        <a:rPr lang="en-US" sz="1800" b="0" i="1" smtClean="0">
                          <a:solidFill>
                            <a:schemeClr val="bg1"/>
                          </a:solidFill>
                          <a:latin typeface="Cambria Math" panose="02040503050406030204" pitchFamily="18" charset="0"/>
                        </a:rPr>
                        <m:t>𝑁𝑃</m:t>
                      </m:r>
                    </m:oMath>
                  </m:oMathPara>
                </a14:m>
                <a:endParaRPr lang="en-US" sz="1800" dirty="0">
                  <a:solidFill>
                    <a:schemeClr val="bg1"/>
                  </a:solidFill>
                </a:endParaRPr>
              </a:p>
              <a:p>
                <a:pPr marL="0" indent="0" algn="ctr">
                  <a:buFont typeface="Arial" panose="020B0604020202020204" pitchFamily="34" charset="0"/>
                  <a:buNone/>
                </a:pPr>
                <a:endParaRPr lang="en-US" sz="1800" dirty="0">
                  <a:solidFill>
                    <a:schemeClr val="bg1"/>
                  </a:solidFill>
                </a:endParaRPr>
              </a:p>
              <a:p>
                <a:pPr marL="0" indent="0" algn="ctr">
                  <a:buFont typeface="Arial" panose="020B0604020202020204" pitchFamily="34" charset="0"/>
                  <a:buNone/>
                </a:pPr>
                <a:r>
                  <a:rPr lang="en-US" sz="1800" dirty="0">
                    <a:solidFill>
                      <a:schemeClr val="bg1"/>
                    </a:solidFill>
                  </a:rPr>
                  <a:t>Provide a verifier TM that runs in Polynomial Time</a:t>
                </a:r>
              </a:p>
            </p:txBody>
          </p:sp>
        </mc:Choice>
        <mc:Fallback xmlns="">
          <p:sp>
            <p:nvSpPr>
              <p:cNvPr id="5" name="Content Placeholder 2">
                <a:extLst>
                  <a:ext uri="{FF2B5EF4-FFF2-40B4-BE49-F238E27FC236}">
                    <a16:creationId xmlns:a16="http://schemas.microsoft.com/office/drawing/2014/main" id="{12063473-8A28-4A47-9CBA-0765249DEEC2}"/>
                  </a:ext>
                </a:extLst>
              </p:cNvPr>
              <p:cNvSpPr txBox="1">
                <a:spLocks noRot="1" noChangeAspect="1" noMove="1" noResize="1" noEditPoints="1" noAdjustHandles="1" noChangeArrowheads="1" noChangeShapeType="1" noTextEdit="1"/>
              </p:cNvSpPr>
              <p:nvPr/>
            </p:nvSpPr>
            <p:spPr>
              <a:xfrm>
                <a:off x="3882503" y="1317808"/>
                <a:ext cx="4423817" cy="1779735"/>
              </a:xfrm>
              <a:prstGeom prst="rect">
                <a:avLst/>
              </a:prstGeom>
              <a:blipFill>
                <a:blip r:embed="rId3"/>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Content Placeholder 2">
                <a:extLst>
                  <a:ext uri="{FF2B5EF4-FFF2-40B4-BE49-F238E27FC236}">
                    <a16:creationId xmlns:a16="http://schemas.microsoft.com/office/drawing/2014/main" id="{347E063C-4014-2747-B5DF-2F3FAAFF4FDD}"/>
                  </a:ext>
                </a:extLst>
              </p:cNvPr>
              <p:cNvSpPr txBox="1">
                <a:spLocks/>
              </p:cNvSpPr>
              <p:nvPr/>
            </p:nvSpPr>
            <p:spPr>
              <a:xfrm>
                <a:off x="3604813" y="3663913"/>
                <a:ext cx="4979196" cy="2203991"/>
              </a:xfrm>
              <a:prstGeom prst="rect">
                <a:avLst/>
              </a:prstGeom>
              <a:solidFill>
                <a:schemeClr val="tx1">
                  <a:lumMod val="95000"/>
                </a:schemeClr>
              </a:solidFill>
              <a:ln>
                <a:solidFill>
                  <a:schemeClr val="bg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800" b="1" i="1" dirty="0">
                    <a:solidFill>
                      <a:schemeClr val="bg1"/>
                    </a:solidFill>
                  </a:rPr>
                  <a:t>Given graph </a:t>
                </a:r>
                <a14:m>
                  <m:oMath xmlns:m="http://schemas.openxmlformats.org/officeDocument/2006/math">
                    <m:r>
                      <a:rPr lang="en-US" sz="1800" b="1" i="1" smtClean="0">
                        <a:solidFill>
                          <a:schemeClr val="bg1"/>
                        </a:solidFill>
                        <a:latin typeface="Cambria Math" panose="02040503050406030204" pitchFamily="18" charset="0"/>
                      </a:rPr>
                      <m:t>𝑮</m:t>
                    </m:r>
                    <m:r>
                      <a:rPr lang="en-US" sz="1800" b="1" i="1" smtClean="0">
                        <a:solidFill>
                          <a:schemeClr val="bg1"/>
                        </a:solidFill>
                        <a:latin typeface="Cambria Math" panose="02040503050406030204" pitchFamily="18" charset="0"/>
                      </a:rPr>
                      <m:t>=(</m:t>
                    </m:r>
                    <m:r>
                      <a:rPr lang="en-US" sz="1800" b="1" i="1" smtClean="0">
                        <a:solidFill>
                          <a:schemeClr val="bg1"/>
                        </a:solidFill>
                        <a:latin typeface="Cambria Math" panose="02040503050406030204" pitchFamily="18" charset="0"/>
                      </a:rPr>
                      <m:t>𝑽</m:t>
                    </m:r>
                    <m:r>
                      <a:rPr lang="en-US" sz="1800" b="1" i="1" smtClean="0">
                        <a:solidFill>
                          <a:schemeClr val="bg1"/>
                        </a:solidFill>
                        <a:latin typeface="Cambria Math" panose="02040503050406030204" pitchFamily="18" charset="0"/>
                      </a:rPr>
                      <m:t>,</m:t>
                    </m:r>
                    <m:r>
                      <a:rPr lang="en-US" sz="1800" b="1" i="1" smtClean="0">
                        <a:solidFill>
                          <a:schemeClr val="bg1"/>
                        </a:solidFill>
                        <a:latin typeface="Cambria Math" panose="02040503050406030204" pitchFamily="18" charset="0"/>
                      </a:rPr>
                      <m:t>𝑬</m:t>
                    </m:r>
                    <m:r>
                      <a:rPr lang="en-US" sz="1800" b="1" i="1" smtClean="0">
                        <a:solidFill>
                          <a:schemeClr val="bg1"/>
                        </a:solidFill>
                        <a:latin typeface="Cambria Math" panose="02040503050406030204" pitchFamily="18" charset="0"/>
                      </a:rPr>
                      <m:t>)</m:t>
                    </m:r>
                  </m:oMath>
                </a14:m>
                <a:r>
                  <a:rPr lang="en-US" sz="1800" b="1" i="1" dirty="0">
                    <a:solidFill>
                      <a:schemeClr val="bg1"/>
                    </a:solidFill>
                  </a:rPr>
                  <a:t>, integer k and subset </a:t>
                </a:r>
                <a14:m>
                  <m:oMath xmlns:m="http://schemas.openxmlformats.org/officeDocument/2006/math">
                    <m:sSup>
                      <m:sSupPr>
                        <m:ctrlPr>
                          <a:rPr lang="en-US" sz="1800" b="1" i="1" smtClean="0">
                            <a:solidFill>
                              <a:schemeClr val="bg1"/>
                            </a:solidFill>
                            <a:latin typeface="Cambria Math" panose="02040503050406030204" pitchFamily="18" charset="0"/>
                          </a:rPr>
                        </m:ctrlPr>
                      </m:sSupPr>
                      <m:e>
                        <m:r>
                          <a:rPr lang="en-US" sz="1800" b="1" i="1" smtClean="0">
                            <a:solidFill>
                              <a:schemeClr val="bg1"/>
                            </a:solidFill>
                            <a:latin typeface="Cambria Math" panose="02040503050406030204" pitchFamily="18" charset="0"/>
                          </a:rPr>
                          <m:t>𝑽</m:t>
                        </m:r>
                      </m:e>
                      <m:sup>
                        <m:r>
                          <a:rPr lang="en-US" sz="1800" b="1" i="1" smtClean="0">
                            <a:solidFill>
                              <a:schemeClr val="bg1"/>
                            </a:solidFill>
                            <a:latin typeface="Cambria Math" panose="02040503050406030204" pitchFamily="18" charset="0"/>
                          </a:rPr>
                          <m:t>′</m:t>
                        </m:r>
                      </m:sup>
                    </m:sSup>
                    <m:r>
                      <a:rPr lang="en-US" sz="1800" b="1" i="1" smtClean="0">
                        <a:solidFill>
                          <a:schemeClr val="bg1"/>
                        </a:solidFill>
                        <a:latin typeface="Cambria Math" panose="02040503050406030204" pitchFamily="18" charset="0"/>
                      </a:rPr>
                      <m:t>⊆</m:t>
                    </m:r>
                    <m:r>
                      <a:rPr lang="en-US" sz="1800" b="1" i="1" smtClean="0">
                        <a:solidFill>
                          <a:schemeClr val="bg1"/>
                        </a:solidFill>
                        <a:latin typeface="Cambria Math" panose="02040503050406030204" pitchFamily="18" charset="0"/>
                      </a:rPr>
                      <m:t>𝑽</m:t>
                    </m:r>
                  </m:oMath>
                </a14:m>
                <a:r>
                  <a:rPr lang="en-US" sz="1800" b="1" i="1" dirty="0">
                    <a:solidFill>
                      <a:schemeClr val="bg1"/>
                    </a:solidFill>
                  </a:rPr>
                  <a:t>:</a:t>
                </a:r>
              </a:p>
              <a:p>
                <a:pPr marL="0" indent="0">
                  <a:buFont typeface="Arial" panose="020B0604020202020204" pitchFamily="34" charset="0"/>
                  <a:buNone/>
                </a:pPr>
                <a:r>
                  <a:rPr lang="en-US" sz="1800" i="1" dirty="0">
                    <a:solidFill>
                      <a:schemeClr val="bg1"/>
                    </a:solidFill>
                  </a:rPr>
                  <a:t>Verify that </a:t>
                </a:r>
                <a14:m>
                  <m:oMath xmlns:m="http://schemas.openxmlformats.org/officeDocument/2006/math">
                    <m:d>
                      <m:dPr>
                        <m:begChr m:val="|"/>
                        <m:endChr m:val="|"/>
                        <m:ctrlPr>
                          <a:rPr lang="en-US" sz="1800" b="0" i="1" smtClean="0">
                            <a:solidFill>
                              <a:schemeClr val="bg1"/>
                            </a:solidFill>
                            <a:latin typeface="Cambria Math" panose="02040503050406030204" pitchFamily="18" charset="0"/>
                          </a:rPr>
                        </m:ctrlPr>
                      </m:dPr>
                      <m:e>
                        <m:sSup>
                          <m:sSupPr>
                            <m:ctrlPr>
                              <a:rPr lang="en-US" sz="1800" b="0" i="1" smtClean="0">
                                <a:solidFill>
                                  <a:schemeClr val="bg1"/>
                                </a:solidFill>
                                <a:latin typeface="Cambria Math" panose="02040503050406030204" pitchFamily="18" charset="0"/>
                              </a:rPr>
                            </m:ctrlPr>
                          </m:sSupPr>
                          <m:e>
                            <m:r>
                              <a:rPr lang="en-US" sz="1800" b="0" i="1" smtClean="0">
                                <a:solidFill>
                                  <a:schemeClr val="bg1"/>
                                </a:solidFill>
                                <a:latin typeface="Cambria Math" panose="02040503050406030204" pitchFamily="18" charset="0"/>
                              </a:rPr>
                              <m:t>𝑉</m:t>
                            </m:r>
                          </m:e>
                          <m:sup>
                            <m:r>
                              <a:rPr lang="en-US" sz="1800" b="0" i="1" smtClean="0">
                                <a:solidFill>
                                  <a:schemeClr val="bg1"/>
                                </a:solidFill>
                                <a:latin typeface="Cambria Math" panose="02040503050406030204" pitchFamily="18" charset="0"/>
                              </a:rPr>
                              <m:t>′</m:t>
                            </m:r>
                          </m:sup>
                        </m:sSup>
                      </m:e>
                    </m:d>
                    <m:r>
                      <a:rPr lang="en-US" sz="1800" b="0" i="1" smtClean="0">
                        <a:solidFill>
                          <a:schemeClr val="bg1"/>
                        </a:solidFill>
                        <a:latin typeface="Cambria Math" panose="02040503050406030204" pitchFamily="18" charset="0"/>
                      </a:rPr>
                      <m:t>≤</m:t>
                    </m:r>
                    <m:r>
                      <a:rPr lang="en-US" sz="1800" b="0" i="1" smtClean="0">
                        <a:solidFill>
                          <a:schemeClr val="bg1"/>
                        </a:solidFill>
                        <a:latin typeface="Cambria Math" panose="02040503050406030204" pitchFamily="18" charset="0"/>
                      </a:rPr>
                      <m:t>𝑘</m:t>
                    </m:r>
                  </m:oMath>
                </a14:m>
                <a:r>
                  <a:rPr lang="en-US" sz="1800" i="1" dirty="0">
                    <a:solidFill>
                      <a:schemeClr val="bg1"/>
                    </a:solidFill>
                  </a:rPr>
                  <a:t>, if not </a:t>
                </a:r>
                <a:r>
                  <a:rPr lang="en-US" sz="1800" i="1" u="sng" dirty="0">
                    <a:solidFill>
                      <a:schemeClr val="bg1"/>
                    </a:solidFill>
                  </a:rPr>
                  <a:t>reject</a:t>
                </a:r>
                <a:br>
                  <a:rPr lang="en-US" sz="1800" i="1" dirty="0">
                    <a:solidFill>
                      <a:schemeClr val="bg1"/>
                    </a:solidFill>
                  </a:rPr>
                </a:br>
                <a:r>
                  <a:rPr lang="en-US" sz="1800" i="1" dirty="0">
                    <a:solidFill>
                      <a:schemeClr val="bg1"/>
                    </a:solidFill>
                  </a:rPr>
                  <a:t>For each edge </a:t>
                </a:r>
                <a14:m>
                  <m:oMath xmlns:m="http://schemas.openxmlformats.org/officeDocument/2006/math">
                    <m:r>
                      <a:rPr lang="en-US" sz="1800" b="0" i="1" smtClean="0">
                        <a:solidFill>
                          <a:schemeClr val="bg1"/>
                        </a:solidFill>
                        <a:latin typeface="Cambria Math" panose="02040503050406030204" pitchFamily="18" charset="0"/>
                      </a:rPr>
                      <m:t>𝑒</m:t>
                    </m:r>
                    <m:r>
                      <a:rPr lang="en-US" sz="1800" b="0" i="1" smtClean="0">
                        <a:solidFill>
                          <a:schemeClr val="bg1"/>
                        </a:solidFill>
                        <a:latin typeface="Cambria Math" panose="02040503050406030204" pitchFamily="18" charset="0"/>
                      </a:rPr>
                      <m:t>=(</m:t>
                    </m:r>
                    <m:r>
                      <a:rPr lang="en-US" sz="1800" b="0" i="1" smtClean="0">
                        <a:solidFill>
                          <a:schemeClr val="bg1"/>
                        </a:solidFill>
                        <a:latin typeface="Cambria Math" panose="02040503050406030204" pitchFamily="18" charset="0"/>
                      </a:rPr>
                      <m:t>𝑢</m:t>
                    </m:r>
                    <m:r>
                      <a:rPr lang="en-US" sz="1800" b="0" i="1" smtClean="0">
                        <a:solidFill>
                          <a:schemeClr val="bg1"/>
                        </a:solidFill>
                        <a:latin typeface="Cambria Math" panose="02040503050406030204" pitchFamily="18" charset="0"/>
                      </a:rPr>
                      <m:t>,</m:t>
                    </m:r>
                    <m:r>
                      <a:rPr lang="en-US" sz="1800" b="0" i="1" smtClean="0">
                        <a:solidFill>
                          <a:schemeClr val="bg1"/>
                        </a:solidFill>
                        <a:latin typeface="Cambria Math" panose="02040503050406030204" pitchFamily="18" charset="0"/>
                      </a:rPr>
                      <m:t>𝑣</m:t>
                    </m:r>
                    <m:r>
                      <a:rPr lang="en-US" sz="1800" b="0" i="1" smtClean="0">
                        <a:solidFill>
                          <a:schemeClr val="bg1"/>
                        </a:solidFill>
                        <a:latin typeface="Cambria Math" panose="02040503050406030204" pitchFamily="18" charset="0"/>
                      </a:rPr>
                      <m:t>)∈</m:t>
                    </m:r>
                    <m:r>
                      <a:rPr lang="en-US" sz="1800" b="0" i="1" smtClean="0">
                        <a:solidFill>
                          <a:schemeClr val="bg1"/>
                        </a:solidFill>
                        <a:latin typeface="Cambria Math" panose="02040503050406030204" pitchFamily="18" charset="0"/>
                      </a:rPr>
                      <m:t>𝐸</m:t>
                    </m:r>
                  </m:oMath>
                </a14:m>
                <a:br>
                  <a:rPr lang="en-US" sz="1800" b="0" i="1" dirty="0">
                    <a:solidFill>
                      <a:schemeClr val="bg1"/>
                    </a:solidFill>
                  </a:rPr>
                </a:br>
                <a:r>
                  <a:rPr lang="en-US" sz="1800" b="0" i="1" dirty="0">
                    <a:solidFill>
                      <a:schemeClr val="bg1"/>
                    </a:solidFill>
                  </a:rPr>
                  <a:t>    Check that </a:t>
                </a:r>
                <a14:m>
                  <m:oMath xmlns:m="http://schemas.openxmlformats.org/officeDocument/2006/math">
                    <m:r>
                      <a:rPr lang="en-US" sz="1800" b="0" i="1" smtClean="0">
                        <a:solidFill>
                          <a:schemeClr val="bg1"/>
                        </a:solidFill>
                        <a:latin typeface="Cambria Math" panose="02040503050406030204" pitchFamily="18" charset="0"/>
                      </a:rPr>
                      <m:t>𝑢</m:t>
                    </m:r>
                    <m:r>
                      <a:rPr lang="en-US" sz="1800" b="0" i="1" smtClean="0">
                        <a:solidFill>
                          <a:schemeClr val="bg1"/>
                        </a:solidFill>
                        <a:latin typeface="Cambria Math" panose="02040503050406030204" pitchFamily="18" charset="0"/>
                      </a:rPr>
                      <m:t>∈</m:t>
                    </m:r>
                    <m:sSup>
                      <m:sSupPr>
                        <m:ctrlPr>
                          <a:rPr lang="en-US" sz="1800" b="0" i="1" smtClean="0">
                            <a:solidFill>
                              <a:schemeClr val="bg1"/>
                            </a:solidFill>
                            <a:latin typeface="Cambria Math" panose="02040503050406030204" pitchFamily="18" charset="0"/>
                          </a:rPr>
                        </m:ctrlPr>
                      </m:sSupPr>
                      <m:e>
                        <m:r>
                          <a:rPr lang="en-US" sz="1800" b="0" i="1" smtClean="0">
                            <a:solidFill>
                              <a:schemeClr val="bg1"/>
                            </a:solidFill>
                            <a:latin typeface="Cambria Math" panose="02040503050406030204" pitchFamily="18" charset="0"/>
                          </a:rPr>
                          <m:t>𝑉</m:t>
                        </m:r>
                      </m:e>
                      <m:sup>
                        <m:r>
                          <a:rPr lang="en-US" sz="1800" b="0" i="1" smtClean="0">
                            <a:solidFill>
                              <a:schemeClr val="bg1"/>
                            </a:solidFill>
                            <a:latin typeface="Cambria Math" panose="02040503050406030204" pitchFamily="18" charset="0"/>
                          </a:rPr>
                          <m:t>′</m:t>
                        </m:r>
                      </m:sup>
                    </m:sSup>
                    <m:r>
                      <a:rPr lang="en-US" sz="1800" b="0" i="1" smtClean="0">
                        <a:solidFill>
                          <a:schemeClr val="bg1"/>
                        </a:solidFill>
                        <a:latin typeface="Cambria Math" panose="02040503050406030204" pitchFamily="18" charset="0"/>
                      </a:rPr>
                      <m:t>∨</m:t>
                    </m:r>
                    <m:r>
                      <a:rPr lang="en-US" sz="1800" b="0" i="1" smtClean="0">
                        <a:solidFill>
                          <a:schemeClr val="bg1"/>
                        </a:solidFill>
                        <a:latin typeface="Cambria Math" panose="02040503050406030204" pitchFamily="18" charset="0"/>
                      </a:rPr>
                      <m:t>𝑣</m:t>
                    </m:r>
                    <m:r>
                      <a:rPr lang="en-US" sz="1800" b="0" i="1" smtClean="0">
                        <a:solidFill>
                          <a:schemeClr val="bg1"/>
                        </a:solidFill>
                        <a:latin typeface="Cambria Math" panose="02040503050406030204" pitchFamily="18" charset="0"/>
                      </a:rPr>
                      <m:t>∈</m:t>
                    </m:r>
                    <m:r>
                      <a:rPr lang="en-US" sz="1800" b="0" i="1" smtClean="0">
                        <a:solidFill>
                          <a:schemeClr val="bg1"/>
                        </a:solidFill>
                        <a:latin typeface="Cambria Math" panose="02040503050406030204" pitchFamily="18" charset="0"/>
                      </a:rPr>
                      <m:t>𝑉</m:t>
                    </m:r>
                    <m:r>
                      <a:rPr lang="en-US" sz="1800" b="0" i="1" smtClean="0">
                        <a:solidFill>
                          <a:schemeClr val="bg1"/>
                        </a:solidFill>
                        <a:latin typeface="Cambria Math" panose="02040503050406030204" pitchFamily="18" charset="0"/>
                      </a:rPr>
                      <m:t>′</m:t>
                    </m:r>
                  </m:oMath>
                </a14:m>
                <a:r>
                  <a:rPr lang="en-US" sz="1800" i="1" dirty="0">
                    <a:solidFill>
                      <a:schemeClr val="bg1"/>
                    </a:solidFill>
                  </a:rPr>
                  <a:t>, if not </a:t>
                </a:r>
                <a:r>
                  <a:rPr lang="en-US" sz="1800" i="1" u="sng" dirty="0">
                    <a:solidFill>
                      <a:schemeClr val="bg1"/>
                    </a:solidFill>
                  </a:rPr>
                  <a:t>reject</a:t>
                </a:r>
              </a:p>
              <a:p>
                <a:pPr marL="0" indent="0">
                  <a:buFont typeface="Arial" panose="020B0604020202020204" pitchFamily="34" charset="0"/>
                  <a:buNone/>
                </a:pPr>
                <a:r>
                  <a:rPr lang="en-US" sz="1800" i="1" dirty="0">
                    <a:solidFill>
                      <a:schemeClr val="bg1"/>
                    </a:solidFill>
                  </a:rPr>
                  <a:t>else </a:t>
                </a:r>
                <a:r>
                  <a:rPr lang="en-US" sz="1800" i="1" u="sng" dirty="0">
                    <a:solidFill>
                      <a:schemeClr val="bg1"/>
                    </a:solidFill>
                  </a:rPr>
                  <a:t>accept</a:t>
                </a:r>
              </a:p>
            </p:txBody>
          </p:sp>
        </mc:Choice>
        <mc:Fallback xmlns="">
          <p:sp>
            <p:nvSpPr>
              <p:cNvPr id="6" name="Content Placeholder 2">
                <a:extLst>
                  <a:ext uri="{FF2B5EF4-FFF2-40B4-BE49-F238E27FC236}">
                    <a16:creationId xmlns:a16="http://schemas.microsoft.com/office/drawing/2014/main" id="{347E063C-4014-2747-B5DF-2F3FAAFF4FDD}"/>
                  </a:ext>
                </a:extLst>
              </p:cNvPr>
              <p:cNvSpPr txBox="1">
                <a:spLocks noRot="1" noChangeAspect="1" noMove="1" noResize="1" noEditPoints="1" noAdjustHandles="1" noChangeArrowheads="1" noChangeShapeType="1" noTextEdit="1"/>
              </p:cNvSpPr>
              <p:nvPr/>
            </p:nvSpPr>
            <p:spPr>
              <a:xfrm>
                <a:off x="3604813" y="3663913"/>
                <a:ext cx="4979196" cy="2203991"/>
              </a:xfrm>
              <a:prstGeom prst="rect">
                <a:avLst/>
              </a:prstGeom>
              <a:blipFill>
                <a:blip r:embed="rId4"/>
                <a:stretch>
                  <a:fillRect l="-1015"/>
                </a:stretch>
              </a:blipFill>
              <a:ln>
                <a:solidFill>
                  <a:schemeClr val="bg1"/>
                </a:solidFill>
              </a:ln>
            </p:spPr>
            <p:txBody>
              <a:bodyPr/>
              <a:lstStyle/>
              <a:p>
                <a:r>
                  <a:rPr lang="en-US">
                    <a:noFill/>
                  </a:rPr>
                  <a:t> </a:t>
                </a:r>
              </a:p>
            </p:txBody>
          </p:sp>
        </mc:Fallback>
      </mc:AlternateContent>
    </p:spTree>
    <p:extLst>
      <p:ext uri="{BB962C8B-B14F-4D97-AF65-F5344CB8AC3E}">
        <p14:creationId xmlns:p14="http://schemas.microsoft.com/office/powerpoint/2010/main" val="446724996"/>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p:cNvSpPr>
                <a:spLocks noGrp="1"/>
              </p:cNvSpPr>
              <p:nvPr>
                <p:ph type="title"/>
              </p:nvPr>
            </p:nvSpPr>
            <p:spPr>
              <a:xfrm>
                <a:off x="1141413" y="326848"/>
                <a:ext cx="9905998" cy="603310"/>
              </a:xfrm>
            </p:spPr>
            <p:txBody>
              <a:bodyPr/>
              <a:lstStyle/>
              <a:p>
                <a:pPr algn="ctr"/>
                <a:r>
                  <a:rPr lang="en-US" b="0" dirty="0"/>
                  <a:t>Showing that </a:t>
                </a:r>
                <a14:m>
                  <m:oMath xmlns:m="http://schemas.openxmlformats.org/officeDocument/2006/math">
                    <m:r>
                      <a:rPr lang="en-US" i="1" dirty="0" smtClean="0">
                        <a:latin typeface="Cambria Math" panose="02040503050406030204" pitchFamily="18" charset="0"/>
                      </a:rPr>
                      <m:t>𝑉</m:t>
                    </m:r>
                    <m:r>
                      <a:rPr lang="en-US" b="0" i="1" dirty="0" smtClean="0">
                        <a:latin typeface="Cambria Math" panose="02040503050406030204" pitchFamily="18" charset="0"/>
                      </a:rPr>
                      <m:t>𝐶</m:t>
                    </m:r>
                    <m:r>
                      <a:rPr lang="en-US" b="0" i="1" dirty="0" smtClean="0">
                        <a:latin typeface="Cambria Math" panose="02040503050406030204" pitchFamily="18" charset="0"/>
                      </a:rPr>
                      <m:t>∈</m:t>
                    </m:r>
                    <m:r>
                      <a:rPr lang="en-US" b="0" i="1" dirty="0" smtClean="0">
                        <a:latin typeface="Cambria Math" panose="02040503050406030204" pitchFamily="18" charset="0"/>
                      </a:rPr>
                      <m:t>𝑁𝑃𝐶</m:t>
                    </m:r>
                  </m:oMath>
                </a14:m>
                <a:endParaRPr lang="en-US" dirty="0"/>
              </a:p>
            </p:txBody>
          </p:sp>
        </mc:Choice>
        <mc:Fallback xmlns="">
          <p:sp>
            <p:nvSpPr>
              <p:cNvPr id="2" name="Title 1"/>
              <p:cNvSpPr>
                <a:spLocks noGrp="1" noRot="1" noChangeAspect="1" noMove="1" noResize="1" noEditPoints="1" noAdjustHandles="1" noChangeArrowheads="1" noChangeShapeType="1" noTextEdit="1"/>
              </p:cNvSpPr>
              <p:nvPr>
                <p:ph type="title"/>
              </p:nvPr>
            </p:nvSpPr>
            <p:spPr>
              <a:xfrm>
                <a:off x="1141413" y="326848"/>
                <a:ext cx="9905998" cy="603310"/>
              </a:xfrm>
              <a:blipFill>
                <a:blip r:embed="rId2"/>
                <a:stretch>
                  <a:fillRect t="-22917" b="-3541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Content Placeholder 2">
                <a:extLst>
                  <a:ext uri="{FF2B5EF4-FFF2-40B4-BE49-F238E27FC236}">
                    <a16:creationId xmlns:a16="http://schemas.microsoft.com/office/drawing/2014/main" id="{347E063C-4014-2747-B5DF-2F3FAAFF4FDD}"/>
                  </a:ext>
                </a:extLst>
              </p:cNvPr>
              <p:cNvSpPr txBox="1">
                <a:spLocks/>
              </p:cNvSpPr>
              <p:nvPr/>
            </p:nvSpPr>
            <p:spPr>
              <a:xfrm>
                <a:off x="4695757" y="1109580"/>
                <a:ext cx="2797310" cy="1343912"/>
              </a:xfrm>
              <a:prstGeom prst="rect">
                <a:avLst/>
              </a:prstGeom>
              <a:solidFill>
                <a:schemeClr val="tx1">
                  <a:lumMod val="95000"/>
                </a:schemeClr>
              </a:solidFill>
              <a:ln>
                <a:solidFill>
                  <a:schemeClr val="bg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14:m>
                  <m:oMathPara xmlns:m="http://schemas.openxmlformats.org/officeDocument/2006/math">
                    <m:oMathParaPr>
                      <m:jc m:val="center"/>
                    </m:oMathParaPr>
                    <m:oMath xmlns:m="http://schemas.openxmlformats.org/officeDocument/2006/math">
                      <m:r>
                        <a:rPr lang="en-US" sz="1800" b="0" i="1" smtClean="0">
                          <a:solidFill>
                            <a:schemeClr val="bg1"/>
                          </a:solidFill>
                          <a:latin typeface="Cambria Math" panose="02040503050406030204" pitchFamily="18" charset="0"/>
                        </a:rPr>
                        <m:t>𝑉𝐶</m:t>
                      </m:r>
                      <m:r>
                        <a:rPr lang="en-US" sz="1800" b="0" i="1" smtClean="0">
                          <a:solidFill>
                            <a:schemeClr val="bg1"/>
                          </a:solidFill>
                          <a:latin typeface="Cambria Math" panose="02040503050406030204" pitchFamily="18" charset="0"/>
                        </a:rPr>
                        <m:t>∈</m:t>
                      </m:r>
                      <m:r>
                        <a:rPr lang="en-US" sz="1800" b="0" i="1" smtClean="0">
                          <a:solidFill>
                            <a:schemeClr val="bg1"/>
                          </a:solidFill>
                          <a:latin typeface="Cambria Math" panose="02040503050406030204" pitchFamily="18" charset="0"/>
                        </a:rPr>
                        <m:t>𝑁𝑃</m:t>
                      </m:r>
                      <m:r>
                        <a:rPr lang="en-US" sz="1800" b="0" i="1" smtClean="0">
                          <a:solidFill>
                            <a:schemeClr val="bg1"/>
                          </a:solidFill>
                          <a:latin typeface="Cambria Math" panose="02040503050406030204" pitchFamily="18" charset="0"/>
                        </a:rPr>
                        <m:t>−</m:t>
                      </m:r>
                      <m:r>
                        <a:rPr lang="en-US" sz="1800" b="0" i="1" smtClean="0">
                          <a:solidFill>
                            <a:schemeClr val="bg1"/>
                          </a:solidFill>
                          <a:latin typeface="Cambria Math" panose="02040503050406030204" pitchFamily="18" charset="0"/>
                        </a:rPr>
                        <m:t>𝐻𝐴𝑅𝐷</m:t>
                      </m:r>
                    </m:oMath>
                  </m:oMathPara>
                </a14:m>
                <a:endParaRPr lang="en-US" sz="1800" dirty="0">
                  <a:solidFill>
                    <a:schemeClr val="bg1"/>
                  </a:solidFill>
                </a:endParaRPr>
              </a:p>
              <a:p>
                <a:pPr marL="0" indent="0" algn="ctr">
                  <a:buFont typeface="Arial" panose="020B0604020202020204" pitchFamily="34" charset="0"/>
                  <a:buNone/>
                </a:pPr>
                <a:br>
                  <a:rPr lang="en-US" sz="1800" dirty="0">
                    <a:solidFill>
                      <a:schemeClr val="bg1"/>
                    </a:solidFill>
                  </a:rPr>
                </a:br>
                <a14:m>
                  <m:oMathPara xmlns:m="http://schemas.openxmlformats.org/officeDocument/2006/math">
                    <m:oMathParaPr>
                      <m:jc m:val="centerGroup"/>
                    </m:oMathParaPr>
                    <m:oMath xmlns:m="http://schemas.openxmlformats.org/officeDocument/2006/math">
                      <m:r>
                        <a:rPr lang="en-US" sz="1800" b="1" i="1" smtClean="0">
                          <a:solidFill>
                            <a:schemeClr val="bg1"/>
                          </a:solidFill>
                          <a:latin typeface="Cambria Math" panose="02040503050406030204" pitchFamily="18" charset="0"/>
                        </a:rPr>
                        <m:t>𝑪𝒍𝒊𝒒𝒖𝒆</m:t>
                      </m:r>
                      <m:sSub>
                        <m:sSubPr>
                          <m:ctrlPr>
                            <a:rPr lang="en-US" sz="1800" b="1" i="1" smtClean="0">
                              <a:solidFill>
                                <a:schemeClr val="bg1"/>
                              </a:solidFill>
                              <a:latin typeface="Cambria Math" panose="02040503050406030204" pitchFamily="18" charset="0"/>
                            </a:rPr>
                          </m:ctrlPr>
                        </m:sSubPr>
                        <m:e>
                          <m:r>
                            <a:rPr lang="en-US" sz="1800" b="1" i="1" smtClean="0">
                              <a:solidFill>
                                <a:schemeClr val="bg1"/>
                              </a:solidFill>
                              <a:latin typeface="Cambria Math" panose="02040503050406030204" pitchFamily="18" charset="0"/>
                            </a:rPr>
                            <m:t>≤</m:t>
                          </m:r>
                        </m:e>
                        <m:sub>
                          <m:r>
                            <a:rPr lang="en-US" sz="1800" b="1" i="1" smtClean="0">
                              <a:solidFill>
                                <a:schemeClr val="bg1"/>
                              </a:solidFill>
                              <a:latin typeface="Cambria Math" panose="02040503050406030204" pitchFamily="18" charset="0"/>
                            </a:rPr>
                            <m:t>𝒑</m:t>
                          </m:r>
                        </m:sub>
                      </m:sSub>
                      <m:r>
                        <a:rPr lang="en-US" sz="1800" b="1" i="1" smtClean="0">
                          <a:solidFill>
                            <a:schemeClr val="bg1"/>
                          </a:solidFill>
                          <a:latin typeface="Cambria Math" panose="02040503050406030204" pitchFamily="18" charset="0"/>
                        </a:rPr>
                        <m:t>𝑽𝑪</m:t>
                      </m:r>
                    </m:oMath>
                  </m:oMathPara>
                </a14:m>
                <a:endParaRPr lang="en-US" sz="1800" b="1" dirty="0">
                  <a:solidFill>
                    <a:schemeClr val="bg1"/>
                  </a:solidFill>
                </a:endParaRPr>
              </a:p>
            </p:txBody>
          </p:sp>
        </mc:Choice>
        <mc:Fallback xmlns="">
          <p:sp>
            <p:nvSpPr>
              <p:cNvPr id="6" name="Content Placeholder 2">
                <a:extLst>
                  <a:ext uri="{FF2B5EF4-FFF2-40B4-BE49-F238E27FC236}">
                    <a16:creationId xmlns:a16="http://schemas.microsoft.com/office/drawing/2014/main" id="{347E063C-4014-2747-B5DF-2F3FAAFF4FDD}"/>
                  </a:ext>
                </a:extLst>
              </p:cNvPr>
              <p:cNvSpPr txBox="1">
                <a:spLocks noRot="1" noChangeAspect="1" noMove="1" noResize="1" noEditPoints="1" noAdjustHandles="1" noChangeArrowheads="1" noChangeShapeType="1" noTextEdit="1"/>
              </p:cNvSpPr>
              <p:nvPr/>
            </p:nvSpPr>
            <p:spPr>
              <a:xfrm>
                <a:off x="4695757" y="1109580"/>
                <a:ext cx="2797310" cy="1343912"/>
              </a:xfrm>
              <a:prstGeom prst="rect">
                <a:avLst/>
              </a:prstGeom>
              <a:blipFill>
                <a:blip r:embed="rId3"/>
                <a:stretch>
                  <a:fillRect/>
                </a:stretch>
              </a:blipFill>
              <a:ln>
                <a:solidFill>
                  <a:schemeClr val="bg1"/>
                </a:solidFill>
              </a:ln>
            </p:spPr>
            <p:txBody>
              <a:bodyPr/>
              <a:lstStyle/>
              <a:p>
                <a:r>
                  <a:rPr lang="en-US">
                    <a:noFill/>
                  </a:rPr>
                  <a:t> </a:t>
                </a:r>
              </a:p>
            </p:txBody>
          </p:sp>
        </mc:Fallback>
      </mc:AlternateContent>
      <p:sp>
        <p:nvSpPr>
          <p:cNvPr id="12" name="Content Placeholder 2">
            <a:extLst>
              <a:ext uri="{FF2B5EF4-FFF2-40B4-BE49-F238E27FC236}">
                <a16:creationId xmlns:a16="http://schemas.microsoft.com/office/drawing/2014/main" id="{EF859B45-EF18-B345-AECB-BD00FC6A9752}"/>
              </a:ext>
            </a:extLst>
          </p:cNvPr>
          <p:cNvSpPr txBox="1">
            <a:spLocks/>
          </p:cNvSpPr>
          <p:nvPr/>
        </p:nvSpPr>
        <p:spPr>
          <a:xfrm>
            <a:off x="2297178" y="2832088"/>
            <a:ext cx="2824091" cy="983206"/>
          </a:xfrm>
          <a:prstGeom prst="rect">
            <a:avLst/>
          </a:prstGeom>
          <a:solidFill>
            <a:schemeClr val="accent1"/>
          </a:solidFill>
          <a:ln>
            <a:solidFill>
              <a:schemeClr val="bg1"/>
            </a:solidFill>
          </a:ln>
        </p:spPr>
        <p:txBody>
          <a:bodyPr vert="horz" lIns="91440" tIns="45720" rIns="91440" bIns="45720" rtlCol="0">
            <a:normAutofit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800" dirty="0">
                <a:solidFill>
                  <a:schemeClr val="bg1"/>
                </a:solidFill>
              </a:rPr>
              <a:t>Given a graph G, integer k, and looking for a clique of size k </a:t>
            </a:r>
          </a:p>
        </p:txBody>
      </p:sp>
      <p:sp>
        <p:nvSpPr>
          <p:cNvPr id="14" name="Content Placeholder 2">
            <a:extLst>
              <a:ext uri="{FF2B5EF4-FFF2-40B4-BE49-F238E27FC236}">
                <a16:creationId xmlns:a16="http://schemas.microsoft.com/office/drawing/2014/main" id="{8F469F0E-B5F5-904E-A3B9-3394A402CDB3}"/>
              </a:ext>
            </a:extLst>
          </p:cNvPr>
          <p:cNvSpPr txBox="1">
            <a:spLocks/>
          </p:cNvSpPr>
          <p:nvPr/>
        </p:nvSpPr>
        <p:spPr>
          <a:xfrm>
            <a:off x="7157380" y="2832088"/>
            <a:ext cx="2824091" cy="983206"/>
          </a:xfrm>
          <a:prstGeom prst="rect">
            <a:avLst/>
          </a:prstGeom>
          <a:solidFill>
            <a:schemeClr val="accent1"/>
          </a:solidFill>
          <a:ln>
            <a:solidFill>
              <a:schemeClr val="bg1"/>
            </a:solidFill>
          </a:ln>
        </p:spPr>
        <p:txBody>
          <a:bodyPr vert="horz" lIns="91440" tIns="45720" rIns="91440" bIns="45720" rtlCol="0">
            <a:normAutofit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800" dirty="0">
                <a:solidFill>
                  <a:schemeClr val="bg1"/>
                </a:solidFill>
              </a:rPr>
              <a:t>graph G’, integer k’, and looking for a vertex cover of size k’</a:t>
            </a:r>
          </a:p>
        </p:txBody>
      </p:sp>
      <p:sp>
        <p:nvSpPr>
          <p:cNvPr id="9" name="Right Arrow 8">
            <a:extLst>
              <a:ext uri="{FF2B5EF4-FFF2-40B4-BE49-F238E27FC236}">
                <a16:creationId xmlns:a16="http://schemas.microsoft.com/office/drawing/2014/main" id="{9BD62CDE-1F15-4042-9EA6-2FFCE5E6D04D}"/>
              </a:ext>
            </a:extLst>
          </p:cNvPr>
          <p:cNvSpPr/>
          <p:nvPr/>
        </p:nvSpPr>
        <p:spPr>
          <a:xfrm>
            <a:off x="5378833" y="3160728"/>
            <a:ext cx="1520982" cy="32592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61" name="Group 60">
            <a:extLst>
              <a:ext uri="{FF2B5EF4-FFF2-40B4-BE49-F238E27FC236}">
                <a16:creationId xmlns:a16="http://schemas.microsoft.com/office/drawing/2014/main" id="{FC5802DC-BC04-DE41-887A-6C09CC32C387}"/>
              </a:ext>
            </a:extLst>
          </p:cNvPr>
          <p:cNvGrpSpPr/>
          <p:nvPr/>
        </p:nvGrpSpPr>
        <p:grpSpPr>
          <a:xfrm>
            <a:off x="1557203" y="4028792"/>
            <a:ext cx="4200807" cy="2679826"/>
            <a:chOff x="2154728" y="4028792"/>
            <a:chExt cx="4200807" cy="2679826"/>
          </a:xfrm>
        </p:grpSpPr>
        <p:sp>
          <p:nvSpPr>
            <p:cNvPr id="58" name="Rectangle 57">
              <a:extLst>
                <a:ext uri="{FF2B5EF4-FFF2-40B4-BE49-F238E27FC236}">
                  <a16:creationId xmlns:a16="http://schemas.microsoft.com/office/drawing/2014/main" id="{52B1A68B-677E-4C4F-A58B-285960ED2E3E}"/>
                </a:ext>
              </a:extLst>
            </p:cNvPr>
            <p:cNvSpPr/>
            <p:nvPr/>
          </p:nvSpPr>
          <p:spPr>
            <a:xfrm>
              <a:off x="2154728" y="4028792"/>
              <a:ext cx="4200807" cy="2679826"/>
            </a:xfrm>
            <a:prstGeom prst="rect">
              <a:avLst/>
            </a:pr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310A4B83-4CB6-3E46-9F8A-0306DBC686D3}"/>
                </a:ext>
              </a:extLst>
            </p:cNvPr>
            <p:cNvSpPr/>
            <p:nvPr/>
          </p:nvSpPr>
          <p:spPr>
            <a:xfrm>
              <a:off x="3296243" y="4193890"/>
              <a:ext cx="488887" cy="488887"/>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1</a:t>
              </a:r>
            </a:p>
          </p:txBody>
        </p:sp>
        <p:sp>
          <p:nvSpPr>
            <p:cNvPr id="23" name="Oval 22">
              <a:extLst>
                <a:ext uri="{FF2B5EF4-FFF2-40B4-BE49-F238E27FC236}">
                  <a16:creationId xmlns:a16="http://schemas.microsoft.com/office/drawing/2014/main" id="{3FBBD169-F2CB-9C4B-8FF6-A770D421CE08}"/>
                </a:ext>
              </a:extLst>
            </p:cNvPr>
            <p:cNvSpPr/>
            <p:nvPr/>
          </p:nvSpPr>
          <p:spPr>
            <a:xfrm>
              <a:off x="4778301" y="4193890"/>
              <a:ext cx="488887" cy="488887"/>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2</a:t>
              </a:r>
            </a:p>
          </p:txBody>
        </p:sp>
        <p:sp>
          <p:nvSpPr>
            <p:cNvPr id="24" name="Oval 23">
              <a:extLst>
                <a:ext uri="{FF2B5EF4-FFF2-40B4-BE49-F238E27FC236}">
                  <a16:creationId xmlns:a16="http://schemas.microsoft.com/office/drawing/2014/main" id="{C995F22B-2B74-7E4F-8635-20BEDD5E1BF6}"/>
                </a:ext>
              </a:extLst>
            </p:cNvPr>
            <p:cNvSpPr/>
            <p:nvPr/>
          </p:nvSpPr>
          <p:spPr>
            <a:xfrm>
              <a:off x="2419487" y="5185205"/>
              <a:ext cx="488887" cy="488887"/>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3</a:t>
              </a:r>
            </a:p>
          </p:txBody>
        </p:sp>
        <p:sp>
          <p:nvSpPr>
            <p:cNvPr id="25" name="Oval 24">
              <a:extLst>
                <a:ext uri="{FF2B5EF4-FFF2-40B4-BE49-F238E27FC236}">
                  <a16:creationId xmlns:a16="http://schemas.microsoft.com/office/drawing/2014/main" id="{B76A0903-9EB0-D44D-B6A0-08D651F65DC4}"/>
                </a:ext>
              </a:extLst>
            </p:cNvPr>
            <p:cNvSpPr/>
            <p:nvPr/>
          </p:nvSpPr>
          <p:spPr>
            <a:xfrm>
              <a:off x="5671214" y="5185205"/>
              <a:ext cx="488887" cy="488887"/>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4</a:t>
              </a:r>
            </a:p>
          </p:txBody>
        </p:sp>
        <p:sp>
          <p:nvSpPr>
            <p:cNvPr id="26" name="Oval 25">
              <a:extLst>
                <a:ext uri="{FF2B5EF4-FFF2-40B4-BE49-F238E27FC236}">
                  <a16:creationId xmlns:a16="http://schemas.microsoft.com/office/drawing/2014/main" id="{553DFFE1-926C-3A46-A69E-28F422017FD5}"/>
                </a:ext>
              </a:extLst>
            </p:cNvPr>
            <p:cNvSpPr/>
            <p:nvPr/>
          </p:nvSpPr>
          <p:spPr>
            <a:xfrm>
              <a:off x="3296242" y="6007561"/>
              <a:ext cx="488887" cy="488887"/>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5</a:t>
              </a:r>
            </a:p>
          </p:txBody>
        </p:sp>
        <p:sp>
          <p:nvSpPr>
            <p:cNvPr id="27" name="Oval 26">
              <a:extLst>
                <a:ext uri="{FF2B5EF4-FFF2-40B4-BE49-F238E27FC236}">
                  <a16:creationId xmlns:a16="http://schemas.microsoft.com/office/drawing/2014/main" id="{7C39BCCB-A6F2-7348-855E-003491E529E9}"/>
                </a:ext>
              </a:extLst>
            </p:cNvPr>
            <p:cNvSpPr/>
            <p:nvPr/>
          </p:nvSpPr>
          <p:spPr>
            <a:xfrm>
              <a:off x="4778300" y="6007561"/>
              <a:ext cx="488887" cy="488887"/>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6</a:t>
              </a:r>
            </a:p>
          </p:txBody>
        </p:sp>
        <p:cxnSp>
          <p:nvCxnSpPr>
            <p:cNvPr id="29" name="Straight Connector 28">
              <a:extLst>
                <a:ext uri="{FF2B5EF4-FFF2-40B4-BE49-F238E27FC236}">
                  <a16:creationId xmlns:a16="http://schemas.microsoft.com/office/drawing/2014/main" id="{688F8695-7A8B-A647-B4FE-24A5538AE867}"/>
                </a:ext>
              </a:extLst>
            </p:cNvPr>
            <p:cNvCxnSpPr>
              <a:stCxn id="24" idx="7"/>
              <a:endCxn id="10" idx="3"/>
            </p:cNvCxnSpPr>
            <p:nvPr/>
          </p:nvCxnSpPr>
          <p:spPr>
            <a:xfrm flipV="1">
              <a:off x="2836778" y="4611181"/>
              <a:ext cx="531061" cy="645620"/>
            </a:xfrm>
            <a:prstGeom prst="line">
              <a:avLst/>
            </a:prstGeom>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DE170FF9-E530-9542-AD9B-0322EE0CDBEB}"/>
                </a:ext>
              </a:extLst>
            </p:cNvPr>
            <p:cNvCxnSpPr>
              <a:cxnSpLocks/>
              <a:stCxn id="26" idx="0"/>
              <a:endCxn id="10" idx="4"/>
            </p:cNvCxnSpPr>
            <p:nvPr/>
          </p:nvCxnSpPr>
          <p:spPr>
            <a:xfrm flipV="1">
              <a:off x="3540686" y="4682777"/>
              <a:ext cx="1" cy="1324784"/>
            </a:xfrm>
            <a:prstGeom prst="line">
              <a:avLst/>
            </a:prstGeom>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68824425-3D77-B944-8DA2-ED6F7F73CBC7}"/>
                </a:ext>
              </a:extLst>
            </p:cNvPr>
            <p:cNvCxnSpPr>
              <a:cxnSpLocks/>
              <a:stCxn id="23" idx="2"/>
              <a:endCxn id="10" idx="6"/>
            </p:cNvCxnSpPr>
            <p:nvPr/>
          </p:nvCxnSpPr>
          <p:spPr>
            <a:xfrm flipH="1">
              <a:off x="3785130" y="4438334"/>
              <a:ext cx="993171"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36" name="Straight Connector 35">
              <a:extLst>
                <a:ext uri="{FF2B5EF4-FFF2-40B4-BE49-F238E27FC236}">
                  <a16:creationId xmlns:a16="http://schemas.microsoft.com/office/drawing/2014/main" id="{1DA21A7A-2AFA-F04C-BCAC-0E33835F7DF9}"/>
                </a:ext>
              </a:extLst>
            </p:cNvPr>
            <p:cNvCxnSpPr>
              <a:cxnSpLocks/>
              <a:stCxn id="23" idx="4"/>
              <a:endCxn id="27" idx="0"/>
            </p:cNvCxnSpPr>
            <p:nvPr/>
          </p:nvCxnSpPr>
          <p:spPr>
            <a:xfrm flipH="1">
              <a:off x="5022744" y="4682777"/>
              <a:ext cx="1" cy="1324784"/>
            </a:xfrm>
            <a:prstGeom prst="line">
              <a:avLst/>
            </a:prstGeom>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1726C680-39E1-FB47-98D0-68B899E306BC}"/>
                </a:ext>
              </a:extLst>
            </p:cNvPr>
            <p:cNvCxnSpPr>
              <a:cxnSpLocks/>
              <a:stCxn id="26" idx="6"/>
              <a:endCxn id="27" idx="2"/>
            </p:cNvCxnSpPr>
            <p:nvPr/>
          </p:nvCxnSpPr>
          <p:spPr>
            <a:xfrm>
              <a:off x="3785129" y="6252005"/>
              <a:ext cx="993171"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9FD5946C-B6E7-EC4F-AD2D-43EF979840DA}"/>
                </a:ext>
              </a:extLst>
            </p:cNvPr>
            <p:cNvCxnSpPr>
              <a:cxnSpLocks/>
              <a:stCxn id="10" idx="5"/>
              <a:endCxn id="27" idx="1"/>
            </p:cNvCxnSpPr>
            <p:nvPr/>
          </p:nvCxnSpPr>
          <p:spPr>
            <a:xfrm>
              <a:off x="3713534" y="4611181"/>
              <a:ext cx="1136362" cy="1467976"/>
            </a:xfrm>
            <a:prstGeom prst="line">
              <a:avLst/>
            </a:prstGeom>
          </p:spPr>
          <p:style>
            <a:lnRef idx="1">
              <a:schemeClr val="accent1"/>
            </a:lnRef>
            <a:fillRef idx="0">
              <a:schemeClr val="accent1"/>
            </a:fillRef>
            <a:effectRef idx="0">
              <a:schemeClr val="accent1"/>
            </a:effectRef>
            <a:fontRef idx="minor">
              <a:schemeClr val="tx1"/>
            </a:fontRef>
          </p:style>
        </p:cxnSp>
        <p:cxnSp>
          <p:nvCxnSpPr>
            <p:cNvPr id="46" name="Straight Connector 45">
              <a:extLst>
                <a:ext uri="{FF2B5EF4-FFF2-40B4-BE49-F238E27FC236}">
                  <a16:creationId xmlns:a16="http://schemas.microsoft.com/office/drawing/2014/main" id="{AD49B488-5E58-0D4B-95D5-2D524D20FFCC}"/>
                </a:ext>
              </a:extLst>
            </p:cNvPr>
            <p:cNvCxnSpPr>
              <a:cxnSpLocks/>
              <a:stCxn id="26" idx="7"/>
              <a:endCxn id="23" idx="3"/>
            </p:cNvCxnSpPr>
            <p:nvPr/>
          </p:nvCxnSpPr>
          <p:spPr>
            <a:xfrm flipV="1">
              <a:off x="3713533" y="4611181"/>
              <a:ext cx="1136364" cy="1467976"/>
            </a:xfrm>
            <a:prstGeom prst="line">
              <a:avLst/>
            </a:prstGeom>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5B4AAF52-EA29-5F43-858C-A25934203265}"/>
                </a:ext>
              </a:extLst>
            </p:cNvPr>
            <p:cNvCxnSpPr>
              <a:cxnSpLocks/>
              <a:stCxn id="24" idx="6"/>
              <a:endCxn id="25" idx="2"/>
            </p:cNvCxnSpPr>
            <p:nvPr/>
          </p:nvCxnSpPr>
          <p:spPr>
            <a:xfrm>
              <a:off x="2908374" y="5429649"/>
              <a:ext cx="276284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A917B8CF-522E-A049-9736-50A681E83269}"/>
                </a:ext>
              </a:extLst>
            </p:cNvPr>
            <p:cNvCxnSpPr>
              <a:cxnSpLocks/>
              <a:stCxn id="24" idx="6"/>
              <a:endCxn id="27" idx="1"/>
            </p:cNvCxnSpPr>
            <p:nvPr/>
          </p:nvCxnSpPr>
          <p:spPr>
            <a:xfrm>
              <a:off x="2908374" y="5429649"/>
              <a:ext cx="1941522" cy="649508"/>
            </a:xfrm>
            <a:prstGeom prst="line">
              <a:avLst/>
            </a:prstGeom>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EC4107DE-6A10-CC45-9C46-3A54FEA1BD43}"/>
                </a:ext>
              </a:extLst>
            </p:cNvPr>
            <p:cNvCxnSpPr>
              <a:cxnSpLocks/>
              <a:stCxn id="26" idx="7"/>
              <a:endCxn id="25" idx="2"/>
            </p:cNvCxnSpPr>
            <p:nvPr/>
          </p:nvCxnSpPr>
          <p:spPr>
            <a:xfrm flipV="1">
              <a:off x="3713533" y="5429649"/>
              <a:ext cx="1957681" cy="649508"/>
            </a:xfrm>
            <a:prstGeom prst="line">
              <a:avLst/>
            </a:prstGeom>
          </p:spPr>
          <p:style>
            <a:lnRef idx="1">
              <a:schemeClr val="accent1"/>
            </a:lnRef>
            <a:fillRef idx="0">
              <a:schemeClr val="accent1"/>
            </a:fillRef>
            <a:effectRef idx="0">
              <a:schemeClr val="accent1"/>
            </a:effectRef>
            <a:fontRef idx="minor">
              <a:schemeClr val="tx1"/>
            </a:fontRef>
          </p:style>
        </p:cxnSp>
        <p:sp>
          <p:nvSpPr>
            <p:cNvPr id="59" name="TextBox 58">
              <a:extLst>
                <a:ext uri="{FF2B5EF4-FFF2-40B4-BE49-F238E27FC236}">
                  <a16:creationId xmlns:a16="http://schemas.microsoft.com/office/drawing/2014/main" id="{5FFC3504-160F-8840-989E-203207C3813A}"/>
                </a:ext>
              </a:extLst>
            </p:cNvPr>
            <p:cNvSpPr txBox="1"/>
            <p:nvPr/>
          </p:nvSpPr>
          <p:spPr>
            <a:xfrm>
              <a:off x="5933175" y="4070564"/>
              <a:ext cx="362600" cy="369332"/>
            </a:xfrm>
            <a:prstGeom prst="rect">
              <a:avLst/>
            </a:prstGeom>
            <a:noFill/>
          </p:spPr>
          <p:txBody>
            <a:bodyPr wrap="none" rtlCol="0">
              <a:spAutoFit/>
            </a:bodyPr>
            <a:lstStyle/>
            <a:p>
              <a:r>
                <a:rPr lang="en-US" dirty="0">
                  <a:solidFill>
                    <a:schemeClr val="accent1"/>
                  </a:solidFill>
                </a:rPr>
                <a:t>G</a:t>
              </a:r>
            </a:p>
          </p:txBody>
        </p:sp>
        <p:sp>
          <p:nvSpPr>
            <p:cNvPr id="60" name="TextBox 59">
              <a:extLst>
                <a:ext uri="{FF2B5EF4-FFF2-40B4-BE49-F238E27FC236}">
                  <a16:creationId xmlns:a16="http://schemas.microsoft.com/office/drawing/2014/main" id="{2AD8A967-5C47-8541-BBA2-170D99393732}"/>
                </a:ext>
              </a:extLst>
            </p:cNvPr>
            <p:cNvSpPr txBox="1"/>
            <p:nvPr/>
          </p:nvSpPr>
          <p:spPr>
            <a:xfrm>
              <a:off x="5784490" y="4350007"/>
              <a:ext cx="566181" cy="369332"/>
            </a:xfrm>
            <a:prstGeom prst="rect">
              <a:avLst/>
            </a:prstGeom>
            <a:noFill/>
          </p:spPr>
          <p:txBody>
            <a:bodyPr wrap="none" rtlCol="0">
              <a:spAutoFit/>
            </a:bodyPr>
            <a:lstStyle/>
            <a:p>
              <a:r>
                <a:rPr lang="en-US" dirty="0">
                  <a:solidFill>
                    <a:schemeClr val="accent1"/>
                  </a:solidFill>
                </a:rPr>
                <a:t>k=4</a:t>
              </a:r>
            </a:p>
          </p:txBody>
        </p:sp>
      </p:grpSp>
      <p:sp>
        <p:nvSpPr>
          <p:cNvPr id="62" name="Right Arrow 61">
            <a:extLst>
              <a:ext uri="{FF2B5EF4-FFF2-40B4-BE49-F238E27FC236}">
                <a16:creationId xmlns:a16="http://schemas.microsoft.com/office/drawing/2014/main" id="{6A534F3C-6991-8845-83AA-9C5FC061C0D5}"/>
              </a:ext>
            </a:extLst>
          </p:cNvPr>
          <p:cNvSpPr/>
          <p:nvPr/>
        </p:nvSpPr>
        <p:spPr>
          <a:xfrm>
            <a:off x="5930857" y="5256801"/>
            <a:ext cx="886402" cy="32592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4" name="Rectangle 63">
            <a:extLst>
              <a:ext uri="{FF2B5EF4-FFF2-40B4-BE49-F238E27FC236}">
                <a16:creationId xmlns:a16="http://schemas.microsoft.com/office/drawing/2014/main" id="{E61B8BD7-61BA-5F44-ADB9-1381B28EE2CA}"/>
              </a:ext>
            </a:extLst>
          </p:cNvPr>
          <p:cNvSpPr/>
          <p:nvPr/>
        </p:nvSpPr>
        <p:spPr>
          <a:xfrm>
            <a:off x="6990106" y="4005256"/>
            <a:ext cx="4200807" cy="2679826"/>
          </a:xfrm>
          <a:prstGeom prst="rect">
            <a:avLst/>
          </a:pr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 name="TextBox 80">
            <a:extLst>
              <a:ext uri="{FF2B5EF4-FFF2-40B4-BE49-F238E27FC236}">
                <a16:creationId xmlns:a16="http://schemas.microsoft.com/office/drawing/2014/main" id="{32DCF173-D7FB-3349-A2E5-B16B1C68689F}"/>
              </a:ext>
            </a:extLst>
          </p:cNvPr>
          <p:cNvSpPr txBox="1"/>
          <p:nvPr/>
        </p:nvSpPr>
        <p:spPr>
          <a:xfrm>
            <a:off x="10768553" y="4047028"/>
            <a:ext cx="413896" cy="369332"/>
          </a:xfrm>
          <a:prstGeom prst="rect">
            <a:avLst/>
          </a:prstGeom>
          <a:noFill/>
        </p:spPr>
        <p:txBody>
          <a:bodyPr wrap="none" rtlCol="0">
            <a:spAutoFit/>
          </a:bodyPr>
          <a:lstStyle/>
          <a:p>
            <a:r>
              <a:rPr lang="en-US" dirty="0">
                <a:solidFill>
                  <a:schemeClr val="accent1"/>
                </a:solidFill>
              </a:rPr>
              <a:t>G’</a:t>
            </a:r>
          </a:p>
        </p:txBody>
      </p:sp>
      <p:sp>
        <p:nvSpPr>
          <p:cNvPr id="82" name="TextBox 81">
            <a:extLst>
              <a:ext uri="{FF2B5EF4-FFF2-40B4-BE49-F238E27FC236}">
                <a16:creationId xmlns:a16="http://schemas.microsoft.com/office/drawing/2014/main" id="{20E0DE65-7BE3-0440-82BB-8B8BE8A8352F}"/>
              </a:ext>
            </a:extLst>
          </p:cNvPr>
          <p:cNvSpPr txBox="1"/>
          <p:nvPr/>
        </p:nvSpPr>
        <p:spPr>
          <a:xfrm>
            <a:off x="10619868" y="4326471"/>
            <a:ext cx="527709" cy="369332"/>
          </a:xfrm>
          <a:prstGeom prst="rect">
            <a:avLst/>
          </a:prstGeom>
          <a:noFill/>
        </p:spPr>
        <p:txBody>
          <a:bodyPr wrap="none" rtlCol="0">
            <a:spAutoFit/>
          </a:bodyPr>
          <a:lstStyle/>
          <a:p>
            <a:r>
              <a:rPr lang="en-US" dirty="0">
                <a:solidFill>
                  <a:schemeClr val="accent1"/>
                </a:solidFill>
              </a:rPr>
              <a:t>k=?</a:t>
            </a:r>
          </a:p>
        </p:txBody>
      </p:sp>
      <p:sp>
        <p:nvSpPr>
          <p:cNvPr id="83" name="TextBox 82">
            <a:extLst>
              <a:ext uri="{FF2B5EF4-FFF2-40B4-BE49-F238E27FC236}">
                <a16:creationId xmlns:a16="http://schemas.microsoft.com/office/drawing/2014/main" id="{88934593-1608-AE4A-905A-4E195A51F7F5}"/>
              </a:ext>
            </a:extLst>
          </p:cNvPr>
          <p:cNvSpPr txBox="1"/>
          <p:nvPr/>
        </p:nvSpPr>
        <p:spPr>
          <a:xfrm>
            <a:off x="8970628" y="5055504"/>
            <a:ext cx="381601" cy="661720"/>
          </a:xfrm>
          <a:prstGeom prst="rect">
            <a:avLst/>
          </a:prstGeom>
          <a:noFill/>
        </p:spPr>
        <p:txBody>
          <a:bodyPr wrap="square" rtlCol="0">
            <a:spAutoFit/>
          </a:bodyPr>
          <a:lstStyle/>
          <a:p>
            <a:r>
              <a:rPr lang="en-US" sz="3700" dirty="0">
                <a:solidFill>
                  <a:schemeClr val="accent1"/>
                </a:solidFill>
              </a:rPr>
              <a:t>?</a:t>
            </a:r>
          </a:p>
        </p:txBody>
      </p:sp>
    </p:spTree>
    <p:extLst>
      <p:ext uri="{BB962C8B-B14F-4D97-AF65-F5344CB8AC3E}">
        <p14:creationId xmlns:p14="http://schemas.microsoft.com/office/powerpoint/2010/main" val="3163842408"/>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p:cNvSpPr>
                <a:spLocks noGrp="1"/>
              </p:cNvSpPr>
              <p:nvPr>
                <p:ph type="title"/>
              </p:nvPr>
            </p:nvSpPr>
            <p:spPr>
              <a:xfrm>
                <a:off x="1141413" y="326848"/>
                <a:ext cx="9905998" cy="603310"/>
              </a:xfrm>
            </p:spPr>
            <p:txBody>
              <a:bodyPr/>
              <a:lstStyle/>
              <a:p>
                <a:pPr algn="ctr"/>
                <a:r>
                  <a:rPr lang="en-US" b="0" dirty="0"/>
                  <a:t>Showing that </a:t>
                </a:r>
                <a14:m>
                  <m:oMath xmlns:m="http://schemas.openxmlformats.org/officeDocument/2006/math">
                    <m:r>
                      <a:rPr lang="en-US" i="1" dirty="0" smtClean="0">
                        <a:latin typeface="Cambria Math" panose="02040503050406030204" pitchFamily="18" charset="0"/>
                      </a:rPr>
                      <m:t>𝑉</m:t>
                    </m:r>
                    <m:r>
                      <a:rPr lang="en-US" b="0" i="1" dirty="0" smtClean="0">
                        <a:latin typeface="Cambria Math" panose="02040503050406030204" pitchFamily="18" charset="0"/>
                      </a:rPr>
                      <m:t>𝐶</m:t>
                    </m:r>
                    <m:r>
                      <a:rPr lang="en-US" b="0" i="1" dirty="0" smtClean="0">
                        <a:latin typeface="Cambria Math" panose="02040503050406030204" pitchFamily="18" charset="0"/>
                      </a:rPr>
                      <m:t>∈</m:t>
                    </m:r>
                    <m:r>
                      <a:rPr lang="en-US" b="0" i="1" dirty="0" smtClean="0">
                        <a:latin typeface="Cambria Math" panose="02040503050406030204" pitchFamily="18" charset="0"/>
                      </a:rPr>
                      <m:t>𝑁𝑃𝐶</m:t>
                    </m:r>
                  </m:oMath>
                </a14:m>
                <a:endParaRPr lang="en-US" dirty="0"/>
              </a:p>
            </p:txBody>
          </p:sp>
        </mc:Choice>
        <mc:Fallback xmlns="">
          <p:sp>
            <p:nvSpPr>
              <p:cNvPr id="2" name="Title 1"/>
              <p:cNvSpPr>
                <a:spLocks noGrp="1" noRot="1" noChangeAspect="1" noMove="1" noResize="1" noEditPoints="1" noAdjustHandles="1" noChangeArrowheads="1" noChangeShapeType="1" noTextEdit="1"/>
              </p:cNvSpPr>
              <p:nvPr>
                <p:ph type="title"/>
              </p:nvPr>
            </p:nvSpPr>
            <p:spPr>
              <a:xfrm>
                <a:off x="1141413" y="326848"/>
                <a:ext cx="9905998" cy="603310"/>
              </a:xfrm>
              <a:blipFill>
                <a:blip r:embed="rId2"/>
                <a:stretch>
                  <a:fillRect t="-22917" b="-35417"/>
                </a:stretch>
              </a:blipFill>
            </p:spPr>
            <p:txBody>
              <a:bodyPr/>
              <a:lstStyle/>
              <a:p>
                <a:r>
                  <a:rPr lang="en-US">
                    <a:noFill/>
                  </a:rPr>
                  <a:t> </a:t>
                </a:r>
              </a:p>
            </p:txBody>
          </p:sp>
        </mc:Fallback>
      </mc:AlternateContent>
      <p:sp>
        <p:nvSpPr>
          <p:cNvPr id="12" name="Content Placeholder 2">
            <a:extLst>
              <a:ext uri="{FF2B5EF4-FFF2-40B4-BE49-F238E27FC236}">
                <a16:creationId xmlns:a16="http://schemas.microsoft.com/office/drawing/2014/main" id="{EF859B45-EF18-B345-AECB-BD00FC6A9752}"/>
              </a:ext>
            </a:extLst>
          </p:cNvPr>
          <p:cNvSpPr txBox="1">
            <a:spLocks/>
          </p:cNvSpPr>
          <p:nvPr/>
        </p:nvSpPr>
        <p:spPr>
          <a:xfrm>
            <a:off x="2297178" y="1111938"/>
            <a:ext cx="2824091" cy="983206"/>
          </a:xfrm>
          <a:prstGeom prst="rect">
            <a:avLst/>
          </a:prstGeom>
          <a:solidFill>
            <a:schemeClr val="tx1">
              <a:lumMod val="95000"/>
            </a:schemeClr>
          </a:solidFill>
          <a:ln>
            <a:solidFill>
              <a:schemeClr val="bg1"/>
            </a:solidFill>
          </a:ln>
        </p:spPr>
        <p:txBody>
          <a:bodyPr vert="horz" lIns="91440" tIns="45720" rIns="91440" bIns="45720" rtlCol="0">
            <a:normAutofit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800" dirty="0">
                <a:solidFill>
                  <a:schemeClr val="bg1"/>
                </a:solidFill>
              </a:rPr>
              <a:t>Given a graph G, integer k, and looking for a clique of size k </a:t>
            </a:r>
          </a:p>
        </p:txBody>
      </p:sp>
      <p:sp>
        <p:nvSpPr>
          <p:cNvPr id="14" name="Content Placeholder 2">
            <a:extLst>
              <a:ext uri="{FF2B5EF4-FFF2-40B4-BE49-F238E27FC236}">
                <a16:creationId xmlns:a16="http://schemas.microsoft.com/office/drawing/2014/main" id="{8F469F0E-B5F5-904E-A3B9-3394A402CDB3}"/>
              </a:ext>
            </a:extLst>
          </p:cNvPr>
          <p:cNvSpPr txBox="1">
            <a:spLocks/>
          </p:cNvSpPr>
          <p:nvPr/>
        </p:nvSpPr>
        <p:spPr>
          <a:xfrm>
            <a:off x="7157380" y="1111938"/>
            <a:ext cx="2824091" cy="983206"/>
          </a:xfrm>
          <a:prstGeom prst="rect">
            <a:avLst/>
          </a:prstGeom>
          <a:solidFill>
            <a:schemeClr val="tx1">
              <a:lumMod val="95000"/>
            </a:schemeClr>
          </a:solidFill>
          <a:ln>
            <a:solidFill>
              <a:schemeClr val="bg1"/>
            </a:solidFill>
          </a:ln>
        </p:spPr>
        <p:txBody>
          <a:bodyPr vert="horz" lIns="91440" tIns="45720" rIns="91440" bIns="45720" rtlCol="0">
            <a:normAutofit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800" dirty="0">
                <a:solidFill>
                  <a:schemeClr val="bg1"/>
                </a:solidFill>
              </a:rPr>
              <a:t>graph G’, integer k’, and looking for a vertex cover of size k’</a:t>
            </a:r>
          </a:p>
        </p:txBody>
      </p:sp>
      <p:sp>
        <p:nvSpPr>
          <p:cNvPr id="9" name="Right Arrow 8">
            <a:extLst>
              <a:ext uri="{FF2B5EF4-FFF2-40B4-BE49-F238E27FC236}">
                <a16:creationId xmlns:a16="http://schemas.microsoft.com/office/drawing/2014/main" id="{9BD62CDE-1F15-4042-9EA6-2FFCE5E6D04D}"/>
              </a:ext>
            </a:extLst>
          </p:cNvPr>
          <p:cNvSpPr/>
          <p:nvPr/>
        </p:nvSpPr>
        <p:spPr>
          <a:xfrm>
            <a:off x="5378833" y="1440578"/>
            <a:ext cx="1520982" cy="325925"/>
          </a:xfrm>
          <a:prstGeom prst="rightArrow">
            <a:avLst/>
          </a:prstGeom>
          <a:solidFill>
            <a:schemeClr val="tx1">
              <a:lumMod val="9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61" name="Group 60">
            <a:extLst>
              <a:ext uri="{FF2B5EF4-FFF2-40B4-BE49-F238E27FC236}">
                <a16:creationId xmlns:a16="http://schemas.microsoft.com/office/drawing/2014/main" id="{FC5802DC-BC04-DE41-887A-6C09CC32C387}"/>
              </a:ext>
            </a:extLst>
          </p:cNvPr>
          <p:cNvGrpSpPr/>
          <p:nvPr/>
        </p:nvGrpSpPr>
        <p:grpSpPr>
          <a:xfrm>
            <a:off x="1321813" y="3449376"/>
            <a:ext cx="4200807" cy="2679826"/>
            <a:chOff x="2154728" y="4028792"/>
            <a:chExt cx="4200807" cy="2679826"/>
          </a:xfrm>
        </p:grpSpPr>
        <p:sp>
          <p:nvSpPr>
            <p:cNvPr id="58" name="Rectangle 57">
              <a:extLst>
                <a:ext uri="{FF2B5EF4-FFF2-40B4-BE49-F238E27FC236}">
                  <a16:creationId xmlns:a16="http://schemas.microsoft.com/office/drawing/2014/main" id="{52B1A68B-677E-4C4F-A58B-285960ED2E3E}"/>
                </a:ext>
              </a:extLst>
            </p:cNvPr>
            <p:cNvSpPr/>
            <p:nvPr/>
          </p:nvSpPr>
          <p:spPr>
            <a:xfrm>
              <a:off x="2154728" y="4028792"/>
              <a:ext cx="4200807" cy="2679826"/>
            </a:xfrm>
            <a:prstGeom prst="rect">
              <a:avLst/>
            </a:pr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310A4B83-4CB6-3E46-9F8A-0306DBC686D3}"/>
                </a:ext>
              </a:extLst>
            </p:cNvPr>
            <p:cNvSpPr/>
            <p:nvPr/>
          </p:nvSpPr>
          <p:spPr>
            <a:xfrm>
              <a:off x="3296243" y="4193890"/>
              <a:ext cx="488887" cy="488887"/>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1</a:t>
              </a:r>
            </a:p>
          </p:txBody>
        </p:sp>
        <p:sp>
          <p:nvSpPr>
            <p:cNvPr id="23" name="Oval 22">
              <a:extLst>
                <a:ext uri="{FF2B5EF4-FFF2-40B4-BE49-F238E27FC236}">
                  <a16:creationId xmlns:a16="http://schemas.microsoft.com/office/drawing/2014/main" id="{3FBBD169-F2CB-9C4B-8FF6-A770D421CE08}"/>
                </a:ext>
              </a:extLst>
            </p:cNvPr>
            <p:cNvSpPr/>
            <p:nvPr/>
          </p:nvSpPr>
          <p:spPr>
            <a:xfrm>
              <a:off x="4778301" y="4193890"/>
              <a:ext cx="488887" cy="488887"/>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2</a:t>
              </a:r>
            </a:p>
          </p:txBody>
        </p:sp>
        <p:sp>
          <p:nvSpPr>
            <p:cNvPr id="24" name="Oval 23">
              <a:extLst>
                <a:ext uri="{FF2B5EF4-FFF2-40B4-BE49-F238E27FC236}">
                  <a16:creationId xmlns:a16="http://schemas.microsoft.com/office/drawing/2014/main" id="{C995F22B-2B74-7E4F-8635-20BEDD5E1BF6}"/>
                </a:ext>
              </a:extLst>
            </p:cNvPr>
            <p:cNvSpPr/>
            <p:nvPr/>
          </p:nvSpPr>
          <p:spPr>
            <a:xfrm>
              <a:off x="2419487" y="5185205"/>
              <a:ext cx="488887" cy="488887"/>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3</a:t>
              </a:r>
            </a:p>
          </p:txBody>
        </p:sp>
        <p:sp>
          <p:nvSpPr>
            <p:cNvPr id="25" name="Oval 24">
              <a:extLst>
                <a:ext uri="{FF2B5EF4-FFF2-40B4-BE49-F238E27FC236}">
                  <a16:creationId xmlns:a16="http://schemas.microsoft.com/office/drawing/2014/main" id="{B76A0903-9EB0-D44D-B6A0-08D651F65DC4}"/>
                </a:ext>
              </a:extLst>
            </p:cNvPr>
            <p:cNvSpPr/>
            <p:nvPr/>
          </p:nvSpPr>
          <p:spPr>
            <a:xfrm>
              <a:off x="5671214" y="5185205"/>
              <a:ext cx="488887" cy="488887"/>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4</a:t>
              </a:r>
            </a:p>
          </p:txBody>
        </p:sp>
        <p:sp>
          <p:nvSpPr>
            <p:cNvPr id="26" name="Oval 25">
              <a:extLst>
                <a:ext uri="{FF2B5EF4-FFF2-40B4-BE49-F238E27FC236}">
                  <a16:creationId xmlns:a16="http://schemas.microsoft.com/office/drawing/2014/main" id="{553DFFE1-926C-3A46-A69E-28F422017FD5}"/>
                </a:ext>
              </a:extLst>
            </p:cNvPr>
            <p:cNvSpPr/>
            <p:nvPr/>
          </p:nvSpPr>
          <p:spPr>
            <a:xfrm>
              <a:off x="3296242" y="6007561"/>
              <a:ext cx="488887" cy="488887"/>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5</a:t>
              </a:r>
            </a:p>
          </p:txBody>
        </p:sp>
        <p:sp>
          <p:nvSpPr>
            <p:cNvPr id="27" name="Oval 26">
              <a:extLst>
                <a:ext uri="{FF2B5EF4-FFF2-40B4-BE49-F238E27FC236}">
                  <a16:creationId xmlns:a16="http://schemas.microsoft.com/office/drawing/2014/main" id="{7C39BCCB-A6F2-7348-855E-003491E529E9}"/>
                </a:ext>
              </a:extLst>
            </p:cNvPr>
            <p:cNvSpPr/>
            <p:nvPr/>
          </p:nvSpPr>
          <p:spPr>
            <a:xfrm>
              <a:off x="4778300" y="6007561"/>
              <a:ext cx="488887" cy="488887"/>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6</a:t>
              </a:r>
            </a:p>
          </p:txBody>
        </p:sp>
        <p:cxnSp>
          <p:nvCxnSpPr>
            <p:cNvPr id="29" name="Straight Connector 28">
              <a:extLst>
                <a:ext uri="{FF2B5EF4-FFF2-40B4-BE49-F238E27FC236}">
                  <a16:creationId xmlns:a16="http://schemas.microsoft.com/office/drawing/2014/main" id="{688F8695-7A8B-A647-B4FE-24A5538AE867}"/>
                </a:ext>
              </a:extLst>
            </p:cNvPr>
            <p:cNvCxnSpPr>
              <a:stCxn id="24" idx="7"/>
              <a:endCxn id="10" idx="3"/>
            </p:cNvCxnSpPr>
            <p:nvPr/>
          </p:nvCxnSpPr>
          <p:spPr>
            <a:xfrm flipV="1">
              <a:off x="2836778" y="4611181"/>
              <a:ext cx="531061" cy="645620"/>
            </a:xfrm>
            <a:prstGeom prst="line">
              <a:avLst/>
            </a:prstGeom>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DE170FF9-E530-9542-AD9B-0322EE0CDBEB}"/>
                </a:ext>
              </a:extLst>
            </p:cNvPr>
            <p:cNvCxnSpPr>
              <a:cxnSpLocks/>
              <a:stCxn id="26" idx="0"/>
              <a:endCxn id="10" idx="4"/>
            </p:cNvCxnSpPr>
            <p:nvPr/>
          </p:nvCxnSpPr>
          <p:spPr>
            <a:xfrm flipV="1">
              <a:off x="3540686" y="4682777"/>
              <a:ext cx="1" cy="1324784"/>
            </a:xfrm>
            <a:prstGeom prst="line">
              <a:avLst/>
            </a:prstGeom>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68824425-3D77-B944-8DA2-ED6F7F73CBC7}"/>
                </a:ext>
              </a:extLst>
            </p:cNvPr>
            <p:cNvCxnSpPr>
              <a:cxnSpLocks/>
              <a:stCxn id="23" idx="2"/>
              <a:endCxn id="10" idx="6"/>
            </p:cNvCxnSpPr>
            <p:nvPr/>
          </p:nvCxnSpPr>
          <p:spPr>
            <a:xfrm flipH="1">
              <a:off x="3785130" y="4438334"/>
              <a:ext cx="993171"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36" name="Straight Connector 35">
              <a:extLst>
                <a:ext uri="{FF2B5EF4-FFF2-40B4-BE49-F238E27FC236}">
                  <a16:creationId xmlns:a16="http://schemas.microsoft.com/office/drawing/2014/main" id="{1DA21A7A-2AFA-F04C-BCAC-0E33835F7DF9}"/>
                </a:ext>
              </a:extLst>
            </p:cNvPr>
            <p:cNvCxnSpPr>
              <a:cxnSpLocks/>
              <a:stCxn id="23" idx="4"/>
              <a:endCxn id="27" idx="0"/>
            </p:cNvCxnSpPr>
            <p:nvPr/>
          </p:nvCxnSpPr>
          <p:spPr>
            <a:xfrm flipH="1">
              <a:off x="5022744" y="4682777"/>
              <a:ext cx="1" cy="1324784"/>
            </a:xfrm>
            <a:prstGeom prst="line">
              <a:avLst/>
            </a:prstGeom>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1726C680-39E1-FB47-98D0-68B899E306BC}"/>
                </a:ext>
              </a:extLst>
            </p:cNvPr>
            <p:cNvCxnSpPr>
              <a:cxnSpLocks/>
              <a:stCxn id="26" idx="6"/>
              <a:endCxn id="27" idx="2"/>
            </p:cNvCxnSpPr>
            <p:nvPr/>
          </p:nvCxnSpPr>
          <p:spPr>
            <a:xfrm>
              <a:off x="3785129" y="6252005"/>
              <a:ext cx="993171"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9FD5946C-B6E7-EC4F-AD2D-43EF979840DA}"/>
                </a:ext>
              </a:extLst>
            </p:cNvPr>
            <p:cNvCxnSpPr>
              <a:cxnSpLocks/>
              <a:stCxn id="10" idx="5"/>
              <a:endCxn id="27" idx="1"/>
            </p:cNvCxnSpPr>
            <p:nvPr/>
          </p:nvCxnSpPr>
          <p:spPr>
            <a:xfrm>
              <a:off x="3713534" y="4611181"/>
              <a:ext cx="1136362" cy="1467976"/>
            </a:xfrm>
            <a:prstGeom prst="line">
              <a:avLst/>
            </a:prstGeom>
          </p:spPr>
          <p:style>
            <a:lnRef idx="1">
              <a:schemeClr val="accent1"/>
            </a:lnRef>
            <a:fillRef idx="0">
              <a:schemeClr val="accent1"/>
            </a:fillRef>
            <a:effectRef idx="0">
              <a:schemeClr val="accent1"/>
            </a:effectRef>
            <a:fontRef idx="minor">
              <a:schemeClr val="tx1"/>
            </a:fontRef>
          </p:style>
        </p:cxnSp>
        <p:cxnSp>
          <p:nvCxnSpPr>
            <p:cNvPr id="46" name="Straight Connector 45">
              <a:extLst>
                <a:ext uri="{FF2B5EF4-FFF2-40B4-BE49-F238E27FC236}">
                  <a16:creationId xmlns:a16="http://schemas.microsoft.com/office/drawing/2014/main" id="{AD49B488-5E58-0D4B-95D5-2D524D20FFCC}"/>
                </a:ext>
              </a:extLst>
            </p:cNvPr>
            <p:cNvCxnSpPr>
              <a:cxnSpLocks/>
              <a:stCxn id="26" idx="7"/>
              <a:endCxn id="23" idx="3"/>
            </p:cNvCxnSpPr>
            <p:nvPr/>
          </p:nvCxnSpPr>
          <p:spPr>
            <a:xfrm flipV="1">
              <a:off x="3713533" y="4611181"/>
              <a:ext cx="1136364" cy="1467976"/>
            </a:xfrm>
            <a:prstGeom prst="line">
              <a:avLst/>
            </a:prstGeom>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5B4AAF52-EA29-5F43-858C-A25934203265}"/>
                </a:ext>
              </a:extLst>
            </p:cNvPr>
            <p:cNvCxnSpPr>
              <a:cxnSpLocks/>
              <a:stCxn id="24" idx="6"/>
              <a:endCxn id="25" idx="2"/>
            </p:cNvCxnSpPr>
            <p:nvPr/>
          </p:nvCxnSpPr>
          <p:spPr>
            <a:xfrm>
              <a:off x="2908374" y="5429649"/>
              <a:ext cx="276284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A917B8CF-522E-A049-9736-50A681E83269}"/>
                </a:ext>
              </a:extLst>
            </p:cNvPr>
            <p:cNvCxnSpPr>
              <a:cxnSpLocks/>
              <a:stCxn id="24" idx="6"/>
              <a:endCxn id="27" idx="1"/>
            </p:cNvCxnSpPr>
            <p:nvPr/>
          </p:nvCxnSpPr>
          <p:spPr>
            <a:xfrm>
              <a:off x="2908374" y="5429649"/>
              <a:ext cx="1941522" cy="649508"/>
            </a:xfrm>
            <a:prstGeom prst="line">
              <a:avLst/>
            </a:prstGeom>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EC4107DE-6A10-CC45-9C46-3A54FEA1BD43}"/>
                </a:ext>
              </a:extLst>
            </p:cNvPr>
            <p:cNvCxnSpPr>
              <a:cxnSpLocks/>
              <a:stCxn id="26" idx="7"/>
              <a:endCxn id="25" idx="2"/>
            </p:cNvCxnSpPr>
            <p:nvPr/>
          </p:nvCxnSpPr>
          <p:spPr>
            <a:xfrm flipV="1">
              <a:off x="3713533" y="5429649"/>
              <a:ext cx="1957681" cy="649508"/>
            </a:xfrm>
            <a:prstGeom prst="line">
              <a:avLst/>
            </a:prstGeom>
          </p:spPr>
          <p:style>
            <a:lnRef idx="1">
              <a:schemeClr val="accent1"/>
            </a:lnRef>
            <a:fillRef idx="0">
              <a:schemeClr val="accent1"/>
            </a:fillRef>
            <a:effectRef idx="0">
              <a:schemeClr val="accent1"/>
            </a:effectRef>
            <a:fontRef idx="minor">
              <a:schemeClr val="tx1"/>
            </a:fontRef>
          </p:style>
        </p:cxnSp>
        <p:sp>
          <p:nvSpPr>
            <p:cNvPr id="59" name="TextBox 58">
              <a:extLst>
                <a:ext uri="{FF2B5EF4-FFF2-40B4-BE49-F238E27FC236}">
                  <a16:creationId xmlns:a16="http://schemas.microsoft.com/office/drawing/2014/main" id="{5FFC3504-160F-8840-989E-203207C3813A}"/>
                </a:ext>
              </a:extLst>
            </p:cNvPr>
            <p:cNvSpPr txBox="1"/>
            <p:nvPr/>
          </p:nvSpPr>
          <p:spPr>
            <a:xfrm>
              <a:off x="5933175" y="4070564"/>
              <a:ext cx="362600" cy="369332"/>
            </a:xfrm>
            <a:prstGeom prst="rect">
              <a:avLst/>
            </a:prstGeom>
            <a:noFill/>
          </p:spPr>
          <p:txBody>
            <a:bodyPr wrap="none" rtlCol="0">
              <a:spAutoFit/>
            </a:bodyPr>
            <a:lstStyle/>
            <a:p>
              <a:r>
                <a:rPr lang="en-US" dirty="0">
                  <a:solidFill>
                    <a:schemeClr val="accent1"/>
                  </a:solidFill>
                </a:rPr>
                <a:t>G</a:t>
              </a:r>
            </a:p>
          </p:txBody>
        </p:sp>
        <p:sp>
          <p:nvSpPr>
            <p:cNvPr id="60" name="TextBox 59">
              <a:extLst>
                <a:ext uri="{FF2B5EF4-FFF2-40B4-BE49-F238E27FC236}">
                  <a16:creationId xmlns:a16="http://schemas.microsoft.com/office/drawing/2014/main" id="{2AD8A967-5C47-8541-BBA2-170D99393732}"/>
                </a:ext>
              </a:extLst>
            </p:cNvPr>
            <p:cNvSpPr txBox="1"/>
            <p:nvPr/>
          </p:nvSpPr>
          <p:spPr>
            <a:xfrm>
              <a:off x="5784490" y="4350007"/>
              <a:ext cx="566181" cy="369332"/>
            </a:xfrm>
            <a:prstGeom prst="rect">
              <a:avLst/>
            </a:prstGeom>
            <a:noFill/>
          </p:spPr>
          <p:txBody>
            <a:bodyPr wrap="none" rtlCol="0">
              <a:spAutoFit/>
            </a:bodyPr>
            <a:lstStyle/>
            <a:p>
              <a:r>
                <a:rPr lang="en-US" dirty="0">
                  <a:solidFill>
                    <a:schemeClr val="accent1"/>
                  </a:solidFill>
                </a:rPr>
                <a:t>k=4</a:t>
              </a:r>
            </a:p>
          </p:txBody>
        </p:sp>
      </p:grpSp>
      <p:sp>
        <p:nvSpPr>
          <p:cNvPr id="62" name="Right Arrow 61">
            <a:extLst>
              <a:ext uri="{FF2B5EF4-FFF2-40B4-BE49-F238E27FC236}">
                <a16:creationId xmlns:a16="http://schemas.microsoft.com/office/drawing/2014/main" id="{6A534F3C-6991-8845-83AA-9C5FC061C0D5}"/>
              </a:ext>
            </a:extLst>
          </p:cNvPr>
          <p:cNvSpPr/>
          <p:nvPr/>
        </p:nvSpPr>
        <p:spPr>
          <a:xfrm>
            <a:off x="5695467" y="4677385"/>
            <a:ext cx="886402" cy="32592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32" name="Content Placeholder 2">
                <a:extLst>
                  <a:ext uri="{FF2B5EF4-FFF2-40B4-BE49-F238E27FC236}">
                    <a16:creationId xmlns:a16="http://schemas.microsoft.com/office/drawing/2014/main" id="{034F391B-9FFD-1F4B-96ED-B56807869288}"/>
                  </a:ext>
                </a:extLst>
              </p:cNvPr>
              <p:cNvSpPr txBox="1">
                <a:spLocks/>
              </p:cNvSpPr>
              <p:nvPr/>
            </p:nvSpPr>
            <p:spPr>
              <a:xfrm>
                <a:off x="1321814" y="2712962"/>
                <a:ext cx="9625246" cy="453124"/>
              </a:xfrm>
              <a:prstGeom prst="rect">
                <a:avLst/>
              </a:prstGeom>
              <a:noFill/>
              <a:ln>
                <a:solidFill>
                  <a:schemeClr val="tx1">
                    <a:lumMod val="95000"/>
                  </a:schemeClr>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800" dirty="0">
                    <a:solidFill>
                      <a:schemeClr val="tx1">
                        <a:lumMod val="95000"/>
                      </a:schemeClr>
                    </a:solidFill>
                  </a:rPr>
                  <a:t>Simply flip the edges that exist in G and set k to </a:t>
                </a:r>
                <a14:m>
                  <m:oMath xmlns:m="http://schemas.openxmlformats.org/officeDocument/2006/math">
                    <m:d>
                      <m:dPr>
                        <m:begChr m:val="|"/>
                        <m:endChr m:val="|"/>
                        <m:ctrlPr>
                          <a:rPr lang="en-US" sz="1800" b="0" i="1" smtClean="0">
                            <a:solidFill>
                              <a:schemeClr val="tx1">
                                <a:lumMod val="95000"/>
                              </a:schemeClr>
                            </a:solidFill>
                            <a:latin typeface="Cambria Math" panose="02040503050406030204" pitchFamily="18" charset="0"/>
                          </a:rPr>
                        </m:ctrlPr>
                      </m:dPr>
                      <m:e>
                        <m:r>
                          <a:rPr lang="en-US" sz="1800" b="0" i="1" smtClean="0">
                            <a:solidFill>
                              <a:schemeClr val="tx1">
                                <a:lumMod val="95000"/>
                              </a:schemeClr>
                            </a:solidFill>
                            <a:latin typeface="Cambria Math" panose="02040503050406030204" pitchFamily="18" charset="0"/>
                          </a:rPr>
                          <m:t>𝑉</m:t>
                        </m:r>
                      </m:e>
                    </m:d>
                    <m:r>
                      <a:rPr lang="en-US" sz="1800" b="0" i="1" smtClean="0">
                        <a:solidFill>
                          <a:schemeClr val="tx1">
                            <a:lumMod val="95000"/>
                          </a:schemeClr>
                        </a:solidFill>
                        <a:latin typeface="Cambria Math" panose="02040503050406030204" pitchFamily="18" charset="0"/>
                      </a:rPr>
                      <m:t>−</m:t>
                    </m:r>
                    <m:r>
                      <a:rPr lang="en-US" sz="1800" b="0" i="1" smtClean="0">
                        <a:solidFill>
                          <a:schemeClr val="tx1">
                            <a:lumMod val="95000"/>
                          </a:schemeClr>
                        </a:solidFill>
                        <a:latin typeface="Cambria Math" panose="02040503050406030204" pitchFamily="18" charset="0"/>
                      </a:rPr>
                      <m:t>𝑘</m:t>
                    </m:r>
                  </m:oMath>
                </a14:m>
                <a:endParaRPr lang="en-US" sz="1800" dirty="0">
                  <a:solidFill>
                    <a:schemeClr val="tx1">
                      <a:lumMod val="95000"/>
                    </a:schemeClr>
                  </a:solidFill>
                </a:endParaRPr>
              </a:p>
            </p:txBody>
          </p:sp>
        </mc:Choice>
        <mc:Fallback xmlns="">
          <p:sp>
            <p:nvSpPr>
              <p:cNvPr id="32" name="Content Placeholder 2">
                <a:extLst>
                  <a:ext uri="{FF2B5EF4-FFF2-40B4-BE49-F238E27FC236}">
                    <a16:creationId xmlns:a16="http://schemas.microsoft.com/office/drawing/2014/main" id="{034F391B-9FFD-1F4B-96ED-B56807869288}"/>
                  </a:ext>
                </a:extLst>
              </p:cNvPr>
              <p:cNvSpPr txBox="1">
                <a:spLocks noRot="1" noChangeAspect="1" noMove="1" noResize="1" noEditPoints="1" noAdjustHandles="1" noChangeArrowheads="1" noChangeShapeType="1" noTextEdit="1"/>
              </p:cNvSpPr>
              <p:nvPr/>
            </p:nvSpPr>
            <p:spPr>
              <a:xfrm>
                <a:off x="1321814" y="2712962"/>
                <a:ext cx="9625246" cy="453124"/>
              </a:xfrm>
              <a:prstGeom prst="rect">
                <a:avLst/>
              </a:prstGeom>
              <a:blipFill>
                <a:blip r:embed="rId3"/>
                <a:stretch>
                  <a:fillRect b="-5405"/>
                </a:stretch>
              </a:blipFill>
              <a:ln>
                <a:solidFill>
                  <a:schemeClr val="tx1">
                    <a:lumMod val="95000"/>
                  </a:schemeClr>
                </a:solidFill>
              </a:ln>
            </p:spPr>
            <p:txBody>
              <a:bodyPr/>
              <a:lstStyle/>
              <a:p>
                <a:r>
                  <a:rPr lang="en-US">
                    <a:noFill/>
                  </a:rPr>
                  <a:t> </a:t>
                </a:r>
              </a:p>
            </p:txBody>
          </p:sp>
        </mc:Fallback>
      </mc:AlternateContent>
      <p:grpSp>
        <p:nvGrpSpPr>
          <p:cNvPr id="20" name="Group 19">
            <a:extLst>
              <a:ext uri="{FF2B5EF4-FFF2-40B4-BE49-F238E27FC236}">
                <a16:creationId xmlns:a16="http://schemas.microsoft.com/office/drawing/2014/main" id="{B0040974-91DE-3049-B0FC-010E101387A1}"/>
              </a:ext>
            </a:extLst>
          </p:cNvPr>
          <p:cNvGrpSpPr/>
          <p:nvPr/>
        </p:nvGrpSpPr>
        <p:grpSpPr>
          <a:xfrm>
            <a:off x="6730661" y="3449376"/>
            <a:ext cx="4200807" cy="2679826"/>
            <a:chOff x="6730661" y="3449376"/>
            <a:chExt cx="4200807" cy="2679826"/>
          </a:xfrm>
        </p:grpSpPr>
        <p:sp>
          <p:nvSpPr>
            <p:cNvPr id="35" name="Rectangle 34">
              <a:extLst>
                <a:ext uri="{FF2B5EF4-FFF2-40B4-BE49-F238E27FC236}">
                  <a16:creationId xmlns:a16="http://schemas.microsoft.com/office/drawing/2014/main" id="{53E42735-58C1-9544-B146-9E2893975413}"/>
                </a:ext>
              </a:extLst>
            </p:cNvPr>
            <p:cNvSpPr/>
            <p:nvPr/>
          </p:nvSpPr>
          <p:spPr>
            <a:xfrm>
              <a:off x="6730661" y="3449376"/>
              <a:ext cx="4200807" cy="2679826"/>
            </a:xfrm>
            <a:prstGeom prst="rect">
              <a:avLst/>
            </a:pr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Oval 36">
              <a:extLst>
                <a:ext uri="{FF2B5EF4-FFF2-40B4-BE49-F238E27FC236}">
                  <a16:creationId xmlns:a16="http://schemas.microsoft.com/office/drawing/2014/main" id="{B6342735-5573-0F45-B281-C6809641AF5E}"/>
                </a:ext>
              </a:extLst>
            </p:cNvPr>
            <p:cNvSpPr/>
            <p:nvPr/>
          </p:nvSpPr>
          <p:spPr>
            <a:xfrm>
              <a:off x="7872176" y="3614474"/>
              <a:ext cx="488887" cy="488887"/>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1</a:t>
              </a:r>
            </a:p>
          </p:txBody>
        </p:sp>
        <p:sp>
          <p:nvSpPr>
            <p:cNvPr id="38" name="Oval 37">
              <a:extLst>
                <a:ext uri="{FF2B5EF4-FFF2-40B4-BE49-F238E27FC236}">
                  <a16:creationId xmlns:a16="http://schemas.microsoft.com/office/drawing/2014/main" id="{A11E7672-2211-214F-A0D0-62289A6EBD9B}"/>
                </a:ext>
              </a:extLst>
            </p:cNvPr>
            <p:cNvSpPr/>
            <p:nvPr/>
          </p:nvSpPr>
          <p:spPr>
            <a:xfrm>
              <a:off x="9354234" y="3614474"/>
              <a:ext cx="488887" cy="488887"/>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2</a:t>
              </a:r>
            </a:p>
          </p:txBody>
        </p:sp>
        <p:sp>
          <p:nvSpPr>
            <p:cNvPr id="39" name="Oval 38">
              <a:extLst>
                <a:ext uri="{FF2B5EF4-FFF2-40B4-BE49-F238E27FC236}">
                  <a16:creationId xmlns:a16="http://schemas.microsoft.com/office/drawing/2014/main" id="{E2E21B37-C9C2-7640-B0FB-709FF81E35E1}"/>
                </a:ext>
              </a:extLst>
            </p:cNvPr>
            <p:cNvSpPr/>
            <p:nvPr/>
          </p:nvSpPr>
          <p:spPr>
            <a:xfrm>
              <a:off x="6995420" y="4605789"/>
              <a:ext cx="488887" cy="488887"/>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3</a:t>
              </a:r>
            </a:p>
          </p:txBody>
        </p:sp>
        <p:sp>
          <p:nvSpPr>
            <p:cNvPr id="41" name="Oval 40">
              <a:extLst>
                <a:ext uri="{FF2B5EF4-FFF2-40B4-BE49-F238E27FC236}">
                  <a16:creationId xmlns:a16="http://schemas.microsoft.com/office/drawing/2014/main" id="{814010A0-F18B-6A4C-B0AD-6AE90988D79A}"/>
                </a:ext>
              </a:extLst>
            </p:cNvPr>
            <p:cNvSpPr/>
            <p:nvPr/>
          </p:nvSpPr>
          <p:spPr>
            <a:xfrm>
              <a:off x="10247147" y="4605789"/>
              <a:ext cx="488887" cy="488887"/>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4</a:t>
              </a:r>
            </a:p>
          </p:txBody>
        </p:sp>
        <p:sp>
          <p:nvSpPr>
            <p:cNvPr id="42" name="Oval 41">
              <a:extLst>
                <a:ext uri="{FF2B5EF4-FFF2-40B4-BE49-F238E27FC236}">
                  <a16:creationId xmlns:a16="http://schemas.microsoft.com/office/drawing/2014/main" id="{6DD9791A-8B0F-7E4C-94D5-E62BB9A01002}"/>
                </a:ext>
              </a:extLst>
            </p:cNvPr>
            <p:cNvSpPr/>
            <p:nvPr/>
          </p:nvSpPr>
          <p:spPr>
            <a:xfrm>
              <a:off x="7872175" y="5428145"/>
              <a:ext cx="488887" cy="488887"/>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5</a:t>
              </a:r>
            </a:p>
          </p:txBody>
        </p:sp>
        <p:sp>
          <p:nvSpPr>
            <p:cNvPr id="44" name="Oval 43">
              <a:extLst>
                <a:ext uri="{FF2B5EF4-FFF2-40B4-BE49-F238E27FC236}">
                  <a16:creationId xmlns:a16="http://schemas.microsoft.com/office/drawing/2014/main" id="{10D40AB0-3169-D94D-B24B-E68826BF2001}"/>
                </a:ext>
              </a:extLst>
            </p:cNvPr>
            <p:cNvSpPr/>
            <p:nvPr/>
          </p:nvSpPr>
          <p:spPr>
            <a:xfrm>
              <a:off x="9354233" y="5428145"/>
              <a:ext cx="488887" cy="488887"/>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6</a:t>
              </a:r>
            </a:p>
          </p:txBody>
        </p:sp>
        <p:cxnSp>
          <p:nvCxnSpPr>
            <p:cNvPr id="51" name="Straight Connector 50">
              <a:extLst>
                <a:ext uri="{FF2B5EF4-FFF2-40B4-BE49-F238E27FC236}">
                  <a16:creationId xmlns:a16="http://schemas.microsoft.com/office/drawing/2014/main" id="{9C626810-6ECD-7540-B233-F540D16CDEAC}"/>
                </a:ext>
              </a:extLst>
            </p:cNvPr>
            <p:cNvCxnSpPr>
              <a:cxnSpLocks/>
              <a:stCxn id="39" idx="7"/>
              <a:endCxn id="38" idx="3"/>
            </p:cNvCxnSpPr>
            <p:nvPr/>
          </p:nvCxnSpPr>
          <p:spPr>
            <a:xfrm flipV="1">
              <a:off x="7412711" y="4031765"/>
              <a:ext cx="2013119" cy="645620"/>
            </a:xfrm>
            <a:prstGeom prst="line">
              <a:avLst/>
            </a:prstGeom>
          </p:spPr>
          <p:style>
            <a:lnRef idx="1">
              <a:schemeClr val="accent1"/>
            </a:lnRef>
            <a:fillRef idx="0">
              <a:schemeClr val="accent1"/>
            </a:fillRef>
            <a:effectRef idx="0">
              <a:schemeClr val="accent1"/>
            </a:effectRef>
            <a:fontRef idx="minor">
              <a:schemeClr val="tx1"/>
            </a:fontRef>
          </p:style>
        </p:cxnSp>
        <p:cxnSp>
          <p:nvCxnSpPr>
            <p:cNvPr id="63" name="Straight Connector 62">
              <a:extLst>
                <a:ext uri="{FF2B5EF4-FFF2-40B4-BE49-F238E27FC236}">
                  <a16:creationId xmlns:a16="http://schemas.microsoft.com/office/drawing/2014/main" id="{114647CC-9975-054F-9B94-7FFF2611EABB}"/>
                </a:ext>
              </a:extLst>
            </p:cNvPr>
            <p:cNvCxnSpPr>
              <a:cxnSpLocks/>
              <a:stCxn id="42" idx="1"/>
              <a:endCxn id="39" idx="5"/>
            </p:cNvCxnSpPr>
            <p:nvPr/>
          </p:nvCxnSpPr>
          <p:spPr>
            <a:xfrm flipH="1" flipV="1">
              <a:off x="7412711" y="5023080"/>
              <a:ext cx="531060" cy="476661"/>
            </a:xfrm>
            <a:prstGeom prst="line">
              <a:avLst/>
            </a:prstGeom>
          </p:spPr>
          <p:style>
            <a:lnRef idx="1">
              <a:schemeClr val="accent1"/>
            </a:lnRef>
            <a:fillRef idx="0">
              <a:schemeClr val="accent1"/>
            </a:fillRef>
            <a:effectRef idx="0">
              <a:schemeClr val="accent1"/>
            </a:effectRef>
            <a:fontRef idx="minor">
              <a:schemeClr val="tx1"/>
            </a:fontRef>
          </p:style>
        </p:cxnSp>
        <p:sp>
          <p:nvSpPr>
            <p:cNvPr id="65" name="TextBox 64">
              <a:extLst>
                <a:ext uri="{FF2B5EF4-FFF2-40B4-BE49-F238E27FC236}">
                  <a16:creationId xmlns:a16="http://schemas.microsoft.com/office/drawing/2014/main" id="{C0F2170B-3E18-1346-B1A8-A33BF2F4D5D2}"/>
                </a:ext>
              </a:extLst>
            </p:cNvPr>
            <p:cNvSpPr txBox="1"/>
            <p:nvPr/>
          </p:nvSpPr>
          <p:spPr>
            <a:xfrm>
              <a:off x="10509108" y="3491148"/>
              <a:ext cx="362600" cy="369332"/>
            </a:xfrm>
            <a:prstGeom prst="rect">
              <a:avLst/>
            </a:prstGeom>
            <a:noFill/>
          </p:spPr>
          <p:txBody>
            <a:bodyPr wrap="none" rtlCol="0">
              <a:spAutoFit/>
            </a:bodyPr>
            <a:lstStyle/>
            <a:p>
              <a:r>
                <a:rPr lang="en-US" dirty="0">
                  <a:solidFill>
                    <a:schemeClr val="accent1"/>
                  </a:solidFill>
                </a:rPr>
                <a:t>G</a:t>
              </a:r>
            </a:p>
          </p:txBody>
        </p:sp>
        <p:sp>
          <p:nvSpPr>
            <p:cNvPr id="66" name="TextBox 65">
              <a:extLst>
                <a:ext uri="{FF2B5EF4-FFF2-40B4-BE49-F238E27FC236}">
                  <a16:creationId xmlns:a16="http://schemas.microsoft.com/office/drawing/2014/main" id="{5047B17C-7945-694B-9D61-811066590EE5}"/>
                </a:ext>
              </a:extLst>
            </p:cNvPr>
            <p:cNvSpPr txBox="1"/>
            <p:nvPr/>
          </p:nvSpPr>
          <p:spPr>
            <a:xfrm>
              <a:off x="10360423" y="3770591"/>
              <a:ext cx="566181" cy="369332"/>
            </a:xfrm>
            <a:prstGeom prst="rect">
              <a:avLst/>
            </a:prstGeom>
            <a:noFill/>
          </p:spPr>
          <p:txBody>
            <a:bodyPr wrap="none" rtlCol="0">
              <a:spAutoFit/>
            </a:bodyPr>
            <a:lstStyle/>
            <a:p>
              <a:r>
                <a:rPr lang="en-US" dirty="0">
                  <a:solidFill>
                    <a:schemeClr val="accent1"/>
                  </a:solidFill>
                </a:rPr>
                <a:t>k=2</a:t>
              </a:r>
            </a:p>
          </p:txBody>
        </p:sp>
        <p:cxnSp>
          <p:nvCxnSpPr>
            <p:cNvPr id="67" name="Straight Connector 66">
              <a:extLst>
                <a:ext uri="{FF2B5EF4-FFF2-40B4-BE49-F238E27FC236}">
                  <a16:creationId xmlns:a16="http://schemas.microsoft.com/office/drawing/2014/main" id="{8417E185-503F-9848-A8A3-CA5EBC68F787}"/>
                </a:ext>
              </a:extLst>
            </p:cNvPr>
            <p:cNvCxnSpPr>
              <a:cxnSpLocks/>
              <a:stCxn id="37" idx="5"/>
              <a:endCxn id="41" idx="2"/>
            </p:cNvCxnSpPr>
            <p:nvPr/>
          </p:nvCxnSpPr>
          <p:spPr>
            <a:xfrm>
              <a:off x="8289467" y="4031765"/>
              <a:ext cx="1957680" cy="818468"/>
            </a:xfrm>
            <a:prstGeom prst="line">
              <a:avLst/>
            </a:prstGeom>
          </p:spPr>
          <p:style>
            <a:lnRef idx="1">
              <a:schemeClr val="accent1"/>
            </a:lnRef>
            <a:fillRef idx="0">
              <a:schemeClr val="accent1"/>
            </a:fillRef>
            <a:effectRef idx="0">
              <a:schemeClr val="accent1"/>
            </a:effectRef>
            <a:fontRef idx="minor">
              <a:schemeClr val="tx1"/>
            </a:fontRef>
          </p:style>
        </p:cxnSp>
        <p:cxnSp>
          <p:nvCxnSpPr>
            <p:cNvPr id="68" name="Straight Connector 67">
              <a:extLst>
                <a:ext uri="{FF2B5EF4-FFF2-40B4-BE49-F238E27FC236}">
                  <a16:creationId xmlns:a16="http://schemas.microsoft.com/office/drawing/2014/main" id="{501AC7DA-7191-B74F-AE06-2DA26738DF56}"/>
                </a:ext>
              </a:extLst>
            </p:cNvPr>
            <p:cNvCxnSpPr>
              <a:cxnSpLocks/>
              <a:stCxn id="41" idx="1"/>
              <a:endCxn id="38" idx="5"/>
            </p:cNvCxnSpPr>
            <p:nvPr/>
          </p:nvCxnSpPr>
          <p:spPr>
            <a:xfrm flipH="1" flipV="1">
              <a:off x="9771525" y="4031765"/>
              <a:ext cx="547218" cy="645620"/>
            </a:xfrm>
            <a:prstGeom prst="line">
              <a:avLst/>
            </a:prstGeom>
          </p:spPr>
          <p:style>
            <a:lnRef idx="1">
              <a:schemeClr val="accent1"/>
            </a:lnRef>
            <a:fillRef idx="0">
              <a:schemeClr val="accent1"/>
            </a:fillRef>
            <a:effectRef idx="0">
              <a:schemeClr val="accent1"/>
            </a:effectRef>
            <a:fontRef idx="minor">
              <a:schemeClr val="tx1"/>
            </a:fontRef>
          </p:style>
        </p:cxnSp>
        <p:cxnSp>
          <p:nvCxnSpPr>
            <p:cNvPr id="69" name="Straight Connector 68">
              <a:extLst>
                <a:ext uri="{FF2B5EF4-FFF2-40B4-BE49-F238E27FC236}">
                  <a16:creationId xmlns:a16="http://schemas.microsoft.com/office/drawing/2014/main" id="{04711E76-7D6F-D643-B25D-53CBEE936FD4}"/>
                </a:ext>
              </a:extLst>
            </p:cNvPr>
            <p:cNvCxnSpPr>
              <a:cxnSpLocks/>
              <a:stCxn id="44" idx="7"/>
              <a:endCxn id="41" idx="3"/>
            </p:cNvCxnSpPr>
            <p:nvPr/>
          </p:nvCxnSpPr>
          <p:spPr>
            <a:xfrm flipV="1">
              <a:off x="9771524" y="5023080"/>
              <a:ext cx="547219" cy="476661"/>
            </a:xfrm>
            <a:prstGeom prst="line">
              <a:avLst/>
            </a:prstGeom>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05756868"/>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p:cNvSpPr>
                <a:spLocks noGrp="1"/>
              </p:cNvSpPr>
              <p:nvPr>
                <p:ph type="title"/>
              </p:nvPr>
            </p:nvSpPr>
            <p:spPr>
              <a:xfrm>
                <a:off x="1141413" y="326848"/>
                <a:ext cx="9905998" cy="603310"/>
              </a:xfrm>
            </p:spPr>
            <p:txBody>
              <a:bodyPr/>
              <a:lstStyle/>
              <a:p>
                <a:pPr algn="ctr"/>
                <a:r>
                  <a:rPr lang="en-US" b="0" dirty="0"/>
                  <a:t>Showing that </a:t>
                </a:r>
                <a14:m>
                  <m:oMath xmlns:m="http://schemas.openxmlformats.org/officeDocument/2006/math">
                    <m:r>
                      <a:rPr lang="en-US" i="1" dirty="0" smtClean="0">
                        <a:latin typeface="Cambria Math" panose="02040503050406030204" pitchFamily="18" charset="0"/>
                      </a:rPr>
                      <m:t>𝑉</m:t>
                    </m:r>
                    <m:r>
                      <a:rPr lang="en-US" b="0" i="1" dirty="0" smtClean="0">
                        <a:latin typeface="Cambria Math" panose="02040503050406030204" pitchFamily="18" charset="0"/>
                      </a:rPr>
                      <m:t>𝐶</m:t>
                    </m:r>
                    <m:r>
                      <a:rPr lang="en-US" b="0" i="1" dirty="0" smtClean="0">
                        <a:latin typeface="Cambria Math" panose="02040503050406030204" pitchFamily="18" charset="0"/>
                      </a:rPr>
                      <m:t>∈</m:t>
                    </m:r>
                    <m:r>
                      <a:rPr lang="en-US" b="0" i="1" dirty="0" smtClean="0">
                        <a:latin typeface="Cambria Math" panose="02040503050406030204" pitchFamily="18" charset="0"/>
                      </a:rPr>
                      <m:t>𝑁𝑃𝐶</m:t>
                    </m:r>
                  </m:oMath>
                </a14:m>
                <a:endParaRPr lang="en-US" dirty="0"/>
              </a:p>
            </p:txBody>
          </p:sp>
        </mc:Choice>
        <mc:Fallback xmlns="">
          <p:sp>
            <p:nvSpPr>
              <p:cNvPr id="2" name="Title 1"/>
              <p:cNvSpPr>
                <a:spLocks noGrp="1" noRot="1" noChangeAspect="1" noMove="1" noResize="1" noEditPoints="1" noAdjustHandles="1" noChangeArrowheads="1" noChangeShapeType="1" noTextEdit="1"/>
              </p:cNvSpPr>
              <p:nvPr>
                <p:ph type="title"/>
              </p:nvPr>
            </p:nvSpPr>
            <p:spPr>
              <a:xfrm>
                <a:off x="1141413" y="326848"/>
                <a:ext cx="9905998" cy="603310"/>
              </a:xfrm>
              <a:blipFill>
                <a:blip r:embed="rId2"/>
                <a:stretch>
                  <a:fillRect t="-22917" b="-35417"/>
                </a:stretch>
              </a:blipFill>
            </p:spPr>
            <p:txBody>
              <a:bodyPr/>
              <a:lstStyle/>
              <a:p>
                <a:r>
                  <a:rPr lang="en-US">
                    <a:noFill/>
                  </a:rPr>
                  <a:t> </a:t>
                </a:r>
              </a:p>
            </p:txBody>
          </p:sp>
        </mc:Fallback>
      </mc:AlternateContent>
      <p:grpSp>
        <p:nvGrpSpPr>
          <p:cNvPr id="3" name="Group 2">
            <a:extLst>
              <a:ext uri="{FF2B5EF4-FFF2-40B4-BE49-F238E27FC236}">
                <a16:creationId xmlns:a16="http://schemas.microsoft.com/office/drawing/2014/main" id="{BBA7C1DC-1C1F-C04D-B2D7-995BEB6406CF}"/>
              </a:ext>
            </a:extLst>
          </p:cNvPr>
          <p:cNvGrpSpPr/>
          <p:nvPr/>
        </p:nvGrpSpPr>
        <p:grpSpPr>
          <a:xfrm>
            <a:off x="1321813" y="1928402"/>
            <a:ext cx="4200807" cy="2679826"/>
            <a:chOff x="1321813" y="1928402"/>
            <a:chExt cx="4200807" cy="2679826"/>
          </a:xfrm>
        </p:grpSpPr>
        <p:sp>
          <p:nvSpPr>
            <p:cNvPr id="58" name="Rectangle 57">
              <a:extLst>
                <a:ext uri="{FF2B5EF4-FFF2-40B4-BE49-F238E27FC236}">
                  <a16:creationId xmlns:a16="http://schemas.microsoft.com/office/drawing/2014/main" id="{52B1A68B-677E-4C4F-A58B-285960ED2E3E}"/>
                </a:ext>
              </a:extLst>
            </p:cNvPr>
            <p:cNvSpPr/>
            <p:nvPr/>
          </p:nvSpPr>
          <p:spPr>
            <a:xfrm>
              <a:off x="1321813" y="1928402"/>
              <a:ext cx="4200807" cy="2679826"/>
            </a:xfrm>
            <a:prstGeom prst="rect">
              <a:avLst/>
            </a:pr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310A4B83-4CB6-3E46-9F8A-0306DBC686D3}"/>
                </a:ext>
              </a:extLst>
            </p:cNvPr>
            <p:cNvSpPr/>
            <p:nvPr/>
          </p:nvSpPr>
          <p:spPr>
            <a:xfrm>
              <a:off x="2463328" y="2093500"/>
              <a:ext cx="488887" cy="488887"/>
            </a:xfrm>
            <a:prstGeom prst="ellipse">
              <a:avLst/>
            </a:prstGeom>
            <a:solidFill>
              <a:schemeClr val="accent3"/>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1</a:t>
              </a:r>
            </a:p>
          </p:txBody>
        </p:sp>
        <p:sp>
          <p:nvSpPr>
            <p:cNvPr id="23" name="Oval 22">
              <a:extLst>
                <a:ext uri="{FF2B5EF4-FFF2-40B4-BE49-F238E27FC236}">
                  <a16:creationId xmlns:a16="http://schemas.microsoft.com/office/drawing/2014/main" id="{3FBBD169-F2CB-9C4B-8FF6-A770D421CE08}"/>
                </a:ext>
              </a:extLst>
            </p:cNvPr>
            <p:cNvSpPr/>
            <p:nvPr/>
          </p:nvSpPr>
          <p:spPr>
            <a:xfrm>
              <a:off x="3945386" y="2093500"/>
              <a:ext cx="488887" cy="488887"/>
            </a:xfrm>
            <a:prstGeom prst="ellipse">
              <a:avLst/>
            </a:prstGeom>
            <a:solidFill>
              <a:schemeClr val="accent3"/>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2</a:t>
              </a:r>
            </a:p>
          </p:txBody>
        </p:sp>
        <p:sp>
          <p:nvSpPr>
            <p:cNvPr id="24" name="Oval 23">
              <a:extLst>
                <a:ext uri="{FF2B5EF4-FFF2-40B4-BE49-F238E27FC236}">
                  <a16:creationId xmlns:a16="http://schemas.microsoft.com/office/drawing/2014/main" id="{C995F22B-2B74-7E4F-8635-20BEDD5E1BF6}"/>
                </a:ext>
              </a:extLst>
            </p:cNvPr>
            <p:cNvSpPr/>
            <p:nvPr/>
          </p:nvSpPr>
          <p:spPr>
            <a:xfrm>
              <a:off x="1586572" y="3084815"/>
              <a:ext cx="488887" cy="488887"/>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3</a:t>
              </a:r>
            </a:p>
          </p:txBody>
        </p:sp>
        <p:sp>
          <p:nvSpPr>
            <p:cNvPr id="25" name="Oval 24">
              <a:extLst>
                <a:ext uri="{FF2B5EF4-FFF2-40B4-BE49-F238E27FC236}">
                  <a16:creationId xmlns:a16="http://schemas.microsoft.com/office/drawing/2014/main" id="{B76A0903-9EB0-D44D-B6A0-08D651F65DC4}"/>
                </a:ext>
              </a:extLst>
            </p:cNvPr>
            <p:cNvSpPr/>
            <p:nvPr/>
          </p:nvSpPr>
          <p:spPr>
            <a:xfrm>
              <a:off x="4838299" y="3084815"/>
              <a:ext cx="488887" cy="488887"/>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4</a:t>
              </a:r>
            </a:p>
          </p:txBody>
        </p:sp>
        <p:sp>
          <p:nvSpPr>
            <p:cNvPr id="26" name="Oval 25">
              <a:extLst>
                <a:ext uri="{FF2B5EF4-FFF2-40B4-BE49-F238E27FC236}">
                  <a16:creationId xmlns:a16="http://schemas.microsoft.com/office/drawing/2014/main" id="{553DFFE1-926C-3A46-A69E-28F422017FD5}"/>
                </a:ext>
              </a:extLst>
            </p:cNvPr>
            <p:cNvSpPr/>
            <p:nvPr/>
          </p:nvSpPr>
          <p:spPr>
            <a:xfrm>
              <a:off x="2463327" y="3907171"/>
              <a:ext cx="488887" cy="488887"/>
            </a:xfrm>
            <a:prstGeom prst="ellipse">
              <a:avLst/>
            </a:prstGeom>
            <a:solidFill>
              <a:schemeClr val="accent3"/>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5</a:t>
              </a:r>
            </a:p>
          </p:txBody>
        </p:sp>
        <p:sp>
          <p:nvSpPr>
            <p:cNvPr id="27" name="Oval 26">
              <a:extLst>
                <a:ext uri="{FF2B5EF4-FFF2-40B4-BE49-F238E27FC236}">
                  <a16:creationId xmlns:a16="http://schemas.microsoft.com/office/drawing/2014/main" id="{7C39BCCB-A6F2-7348-855E-003491E529E9}"/>
                </a:ext>
              </a:extLst>
            </p:cNvPr>
            <p:cNvSpPr/>
            <p:nvPr/>
          </p:nvSpPr>
          <p:spPr>
            <a:xfrm>
              <a:off x="3945385" y="3907171"/>
              <a:ext cx="488887" cy="488887"/>
            </a:xfrm>
            <a:prstGeom prst="ellipse">
              <a:avLst/>
            </a:prstGeom>
            <a:solidFill>
              <a:schemeClr val="accent3"/>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6</a:t>
              </a:r>
            </a:p>
          </p:txBody>
        </p:sp>
        <p:cxnSp>
          <p:nvCxnSpPr>
            <p:cNvPr id="29" name="Straight Connector 28">
              <a:extLst>
                <a:ext uri="{FF2B5EF4-FFF2-40B4-BE49-F238E27FC236}">
                  <a16:creationId xmlns:a16="http://schemas.microsoft.com/office/drawing/2014/main" id="{688F8695-7A8B-A647-B4FE-24A5538AE867}"/>
                </a:ext>
              </a:extLst>
            </p:cNvPr>
            <p:cNvCxnSpPr>
              <a:stCxn id="24" idx="7"/>
              <a:endCxn id="10" idx="3"/>
            </p:cNvCxnSpPr>
            <p:nvPr/>
          </p:nvCxnSpPr>
          <p:spPr>
            <a:xfrm flipV="1">
              <a:off x="2003863" y="2510791"/>
              <a:ext cx="531061" cy="645620"/>
            </a:xfrm>
            <a:prstGeom prst="line">
              <a:avLst/>
            </a:prstGeom>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DE170FF9-E530-9542-AD9B-0322EE0CDBEB}"/>
                </a:ext>
              </a:extLst>
            </p:cNvPr>
            <p:cNvCxnSpPr>
              <a:cxnSpLocks/>
              <a:stCxn id="26" idx="0"/>
              <a:endCxn id="10" idx="4"/>
            </p:cNvCxnSpPr>
            <p:nvPr/>
          </p:nvCxnSpPr>
          <p:spPr>
            <a:xfrm flipV="1">
              <a:off x="2707771" y="2582387"/>
              <a:ext cx="1" cy="1324784"/>
            </a:xfrm>
            <a:prstGeom prst="line">
              <a:avLst/>
            </a:prstGeom>
            <a:ln w="28575">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68824425-3D77-B944-8DA2-ED6F7F73CBC7}"/>
                </a:ext>
              </a:extLst>
            </p:cNvPr>
            <p:cNvCxnSpPr>
              <a:cxnSpLocks/>
              <a:stCxn id="23" idx="2"/>
              <a:endCxn id="10" idx="6"/>
            </p:cNvCxnSpPr>
            <p:nvPr/>
          </p:nvCxnSpPr>
          <p:spPr>
            <a:xfrm flipH="1">
              <a:off x="2952215" y="2337944"/>
              <a:ext cx="993171" cy="0"/>
            </a:xfrm>
            <a:prstGeom prst="line">
              <a:avLst/>
            </a:prstGeom>
            <a:ln w="28575">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36" name="Straight Connector 35">
              <a:extLst>
                <a:ext uri="{FF2B5EF4-FFF2-40B4-BE49-F238E27FC236}">
                  <a16:creationId xmlns:a16="http://schemas.microsoft.com/office/drawing/2014/main" id="{1DA21A7A-2AFA-F04C-BCAC-0E33835F7DF9}"/>
                </a:ext>
              </a:extLst>
            </p:cNvPr>
            <p:cNvCxnSpPr>
              <a:cxnSpLocks/>
              <a:stCxn id="23" idx="4"/>
              <a:endCxn id="27" idx="0"/>
            </p:cNvCxnSpPr>
            <p:nvPr/>
          </p:nvCxnSpPr>
          <p:spPr>
            <a:xfrm flipH="1">
              <a:off x="4189829" y="2582387"/>
              <a:ext cx="1" cy="1324784"/>
            </a:xfrm>
            <a:prstGeom prst="line">
              <a:avLst/>
            </a:prstGeom>
            <a:ln w="28575">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1726C680-39E1-FB47-98D0-68B899E306BC}"/>
                </a:ext>
              </a:extLst>
            </p:cNvPr>
            <p:cNvCxnSpPr>
              <a:cxnSpLocks/>
              <a:stCxn id="26" idx="6"/>
              <a:endCxn id="27" idx="2"/>
            </p:cNvCxnSpPr>
            <p:nvPr/>
          </p:nvCxnSpPr>
          <p:spPr>
            <a:xfrm>
              <a:off x="2952214" y="4151615"/>
              <a:ext cx="993171" cy="0"/>
            </a:xfrm>
            <a:prstGeom prst="line">
              <a:avLst/>
            </a:prstGeom>
            <a:ln w="28575">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9FD5946C-B6E7-EC4F-AD2D-43EF979840DA}"/>
                </a:ext>
              </a:extLst>
            </p:cNvPr>
            <p:cNvCxnSpPr>
              <a:cxnSpLocks/>
              <a:stCxn id="10" idx="5"/>
              <a:endCxn id="27" idx="1"/>
            </p:cNvCxnSpPr>
            <p:nvPr/>
          </p:nvCxnSpPr>
          <p:spPr>
            <a:xfrm>
              <a:off x="2880619" y="2510791"/>
              <a:ext cx="1136362" cy="1467976"/>
            </a:xfrm>
            <a:prstGeom prst="line">
              <a:avLst/>
            </a:prstGeom>
            <a:ln w="28575">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46" name="Straight Connector 45">
              <a:extLst>
                <a:ext uri="{FF2B5EF4-FFF2-40B4-BE49-F238E27FC236}">
                  <a16:creationId xmlns:a16="http://schemas.microsoft.com/office/drawing/2014/main" id="{AD49B488-5E58-0D4B-95D5-2D524D20FFCC}"/>
                </a:ext>
              </a:extLst>
            </p:cNvPr>
            <p:cNvCxnSpPr>
              <a:cxnSpLocks/>
              <a:stCxn id="26" idx="7"/>
              <a:endCxn id="23" idx="3"/>
            </p:cNvCxnSpPr>
            <p:nvPr/>
          </p:nvCxnSpPr>
          <p:spPr>
            <a:xfrm flipV="1">
              <a:off x="2880618" y="2510791"/>
              <a:ext cx="1136364" cy="1467976"/>
            </a:xfrm>
            <a:prstGeom prst="line">
              <a:avLst/>
            </a:prstGeom>
            <a:ln w="28575">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5B4AAF52-EA29-5F43-858C-A25934203265}"/>
                </a:ext>
              </a:extLst>
            </p:cNvPr>
            <p:cNvCxnSpPr>
              <a:cxnSpLocks/>
              <a:stCxn id="24" idx="6"/>
              <a:endCxn id="25" idx="2"/>
            </p:cNvCxnSpPr>
            <p:nvPr/>
          </p:nvCxnSpPr>
          <p:spPr>
            <a:xfrm>
              <a:off x="2075459" y="3329259"/>
              <a:ext cx="276284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A917B8CF-522E-A049-9736-50A681E83269}"/>
                </a:ext>
              </a:extLst>
            </p:cNvPr>
            <p:cNvCxnSpPr>
              <a:cxnSpLocks/>
              <a:stCxn id="24" idx="6"/>
              <a:endCxn id="27" idx="1"/>
            </p:cNvCxnSpPr>
            <p:nvPr/>
          </p:nvCxnSpPr>
          <p:spPr>
            <a:xfrm>
              <a:off x="2075459" y="3329259"/>
              <a:ext cx="1941522" cy="649508"/>
            </a:xfrm>
            <a:prstGeom prst="line">
              <a:avLst/>
            </a:prstGeom>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EC4107DE-6A10-CC45-9C46-3A54FEA1BD43}"/>
                </a:ext>
              </a:extLst>
            </p:cNvPr>
            <p:cNvCxnSpPr>
              <a:cxnSpLocks/>
              <a:stCxn id="26" idx="7"/>
              <a:endCxn id="25" idx="2"/>
            </p:cNvCxnSpPr>
            <p:nvPr/>
          </p:nvCxnSpPr>
          <p:spPr>
            <a:xfrm flipV="1">
              <a:off x="2880618" y="3329259"/>
              <a:ext cx="1957681" cy="649508"/>
            </a:xfrm>
            <a:prstGeom prst="line">
              <a:avLst/>
            </a:prstGeom>
          </p:spPr>
          <p:style>
            <a:lnRef idx="1">
              <a:schemeClr val="accent1"/>
            </a:lnRef>
            <a:fillRef idx="0">
              <a:schemeClr val="accent1"/>
            </a:fillRef>
            <a:effectRef idx="0">
              <a:schemeClr val="accent1"/>
            </a:effectRef>
            <a:fontRef idx="minor">
              <a:schemeClr val="tx1"/>
            </a:fontRef>
          </p:style>
        </p:cxnSp>
        <p:sp>
          <p:nvSpPr>
            <p:cNvPr id="59" name="TextBox 58">
              <a:extLst>
                <a:ext uri="{FF2B5EF4-FFF2-40B4-BE49-F238E27FC236}">
                  <a16:creationId xmlns:a16="http://schemas.microsoft.com/office/drawing/2014/main" id="{5FFC3504-160F-8840-989E-203207C3813A}"/>
                </a:ext>
              </a:extLst>
            </p:cNvPr>
            <p:cNvSpPr txBox="1"/>
            <p:nvPr/>
          </p:nvSpPr>
          <p:spPr>
            <a:xfrm>
              <a:off x="5100260" y="1970174"/>
              <a:ext cx="362600" cy="369332"/>
            </a:xfrm>
            <a:prstGeom prst="rect">
              <a:avLst/>
            </a:prstGeom>
            <a:noFill/>
          </p:spPr>
          <p:txBody>
            <a:bodyPr wrap="none" rtlCol="0">
              <a:spAutoFit/>
            </a:bodyPr>
            <a:lstStyle/>
            <a:p>
              <a:r>
                <a:rPr lang="en-US" dirty="0">
                  <a:solidFill>
                    <a:schemeClr val="accent1"/>
                  </a:solidFill>
                </a:rPr>
                <a:t>G</a:t>
              </a:r>
            </a:p>
          </p:txBody>
        </p:sp>
        <p:sp>
          <p:nvSpPr>
            <p:cNvPr id="60" name="TextBox 59">
              <a:extLst>
                <a:ext uri="{FF2B5EF4-FFF2-40B4-BE49-F238E27FC236}">
                  <a16:creationId xmlns:a16="http://schemas.microsoft.com/office/drawing/2014/main" id="{2AD8A967-5C47-8541-BBA2-170D99393732}"/>
                </a:ext>
              </a:extLst>
            </p:cNvPr>
            <p:cNvSpPr txBox="1"/>
            <p:nvPr/>
          </p:nvSpPr>
          <p:spPr>
            <a:xfrm>
              <a:off x="4951575" y="2249617"/>
              <a:ext cx="566181" cy="369332"/>
            </a:xfrm>
            <a:prstGeom prst="rect">
              <a:avLst/>
            </a:prstGeom>
            <a:noFill/>
          </p:spPr>
          <p:txBody>
            <a:bodyPr wrap="none" rtlCol="0">
              <a:spAutoFit/>
            </a:bodyPr>
            <a:lstStyle/>
            <a:p>
              <a:r>
                <a:rPr lang="en-US" dirty="0">
                  <a:solidFill>
                    <a:schemeClr val="accent1"/>
                  </a:solidFill>
                </a:rPr>
                <a:t>k=4</a:t>
              </a:r>
            </a:p>
          </p:txBody>
        </p:sp>
      </p:grpSp>
      <p:sp>
        <p:nvSpPr>
          <p:cNvPr id="62" name="Right Arrow 61">
            <a:extLst>
              <a:ext uri="{FF2B5EF4-FFF2-40B4-BE49-F238E27FC236}">
                <a16:creationId xmlns:a16="http://schemas.microsoft.com/office/drawing/2014/main" id="{6A534F3C-6991-8845-83AA-9C5FC061C0D5}"/>
              </a:ext>
            </a:extLst>
          </p:cNvPr>
          <p:cNvSpPr/>
          <p:nvPr/>
        </p:nvSpPr>
        <p:spPr>
          <a:xfrm>
            <a:off x="5695467" y="3156411"/>
            <a:ext cx="886402" cy="32592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32" name="Content Placeholder 2">
                <a:extLst>
                  <a:ext uri="{FF2B5EF4-FFF2-40B4-BE49-F238E27FC236}">
                    <a16:creationId xmlns:a16="http://schemas.microsoft.com/office/drawing/2014/main" id="{034F391B-9FFD-1F4B-96ED-B56807869288}"/>
                  </a:ext>
                </a:extLst>
              </p:cNvPr>
              <p:cNvSpPr txBox="1">
                <a:spLocks/>
              </p:cNvSpPr>
              <p:nvPr/>
            </p:nvSpPr>
            <p:spPr>
              <a:xfrm>
                <a:off x="1321814" y="1191988"/>
                <a:ext cx="9625246" cy="453124"/>
              </a:xfrm>
              <a:prstGeom prst="rect">
                <a:avLst/>
              </a:prstGeom>
              <a:noFill/>
              <a:ln>
                <a:solidFill>
                  <a:schemeClr val="tx1">
                    <a:lumMod val="95000"/>
                  </a:schemeClr>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800" b="1" i="1" u="sng" dirty="0">
                    <a:solidFill>
                      <a:schemeClr val="tx1">
                        <a:lumMod val="95000"/>
                      </a:schemeClr>
                    </a:solidFill>
                  </a:rPr>
                  <a:t>Claim</a:t>
                </a:r>
                <a:r>
                  <a:rPr lang="en-US" sz="1800" dirty="0">
                    <a:solidFill>
                      <a:schemeClr val="tx1">
                        <a:lumMod val="95000"/>
                      </a:schemeClr>
                    </a:solidFill>
                  </a:rPr>
                  <a:t>: G has a clique of size k IFF G’ has a VC of size </a:t>
                </a:r>
                <a14:m>
                  <m:oMath xmlns:m="http://schemas.openxmlformats.org/officeDocument/2006/math">
                    <m:d>
                      <m:dPr>
                        <m:begChr m:val="|"/>
                        <m:endChr m:val="|"/>
                        <m:ctrlPr>
                          <a:rPr lang="en-US" sz="1800" b="0" i="1" smtClean="0">
                            <a:solidFill>
                              <a:schemeClr val="tx1">
                                <a:lumMod val="95000"/>
                              </a:schemeClr>
                            </a:solidFill>
                            <a:latin typeface="Cambria Math" panose="02040503050406030204" pitchFamily="18" charset="0"/>
                          </a:rPr>
                        </m:ctrlPr>
                      </m:dPr>
                      <m:e>
                        <m:r>
                          <a:rPr lang="en-US" sz="1800" b="0" i="1" smtClean="0">
                            <a:solidFill>
                              <a:schemeClr val="tx1">
                                <a:lumMod val="95000"/>
                              </a:schemeClr>
                            </a:solidFill>
                            <a:latin typeface="Cambria Math" panose="02040503050406030204" pitchFamily="18" charset="0"/>
                          </a:rPr>
                          <m:t>𝑉</m:t>
                        </m:r>
                      </m:e>
                    </m:d>
                    <m:r>
                      <a:rPr lang="en-US" sz="1800" b="0" i="1" smtClean="0">
                        <a:solidFill>
                          <a:schemeClr val="tx1">
                            <a:lumMod val="95000"/>
                          </a:schemeClr>
                        </a:solidFill>
                        <a:latin typeface="Cambria Math" panose="02040503050406030204" pitchFamily="18" charset="0"/>
                      </a:rPr>
                      <m:t>−</m:t>
                    </m:r>
                    <m:r>
                      <a:rPr lang="en-US" sz="1800" b="0" i="1" smtClean="0">
                        <a:solidFill>
                          <a:schemeClr val="tx1">
                            <a:lumMod val="95000"/>
                          </a:schemeClr>
                        </a:solidFill>
                        <a:latin typeface="Cambria Math" panose="02040503050406030204" pitchFamily="18" charset="0"/>
                      </a:rPr>
                      <m:t>𝑘</m:t>
                    </m:r>
                  </m:oMath>
                </a14:m>
                <a:endParaRPr lang="en-US" sz="1800" dirty="0">
                  <a:solidFill>
                    <a:schemeClr val="tx1">
                      <a:lumMod val="95000"/>
                    </a:schemeClr>
                  </a:solidFill>
                </a:endParaRPr>
              </a:p>
            </p:txBody>
          </p:sp>
        </mc:Choice>
        <mc:Fallback xmlns="">
          <p:sp>
            <p:nvSpPr>
              <p:cNvPr id="32" name="Content Placeholder 2">
                <a:extLst>
                  <a:ext uri="{FF2B5EF4-FFF2-40B4-BE49-F238E27FC236}">
                    <a16:creationId xmlns:a16="http://schemas.microsoft.com/office/drawing/2014/main" id="{034F391B-9FFD-1F4B-96ED-B56807869288}"/>
                  </a:ext>
                </a:extLst>
              </p:cNvPr>
              <p:cNvSpPr txBox="1">
                <a:spLocks noRot="1" noChangeAspect="1" noMove="1" noResize="1" noEditPoints="1" noAdjustHandles="1" noChangeArrowheads="1" noChangeShapeType="1" noTextEdit="1"/>
              </p:cNvSpPr>
              <p:nvPr/>
            </p:nvSpPr>
            <p:spPr>
              <a:xfrm>
                <a:off x="1321814" y="1191988"/>
                <a:ext cx="9625246" cy="453124"/>
              </a:xfrm>
              <a:prstGeom prst="rect">
                <a:avLst/>
              </a:prstGeom>
              <a:blipFill>
                <a:blip r:embed="rId3"/>
                <a:stretch>
                  <a:fillRect b="-2632"/>
                </a:stretch>
              </a:blipFill>
              <a:ln>
                <a:solidFill>
                  <a:schemeClr val="tx1">
                    <a:lumMod val="95000"/>
                  </a:schemeClr>
                </a:solidFill>
              </a:ln>
            </p:spPr>
            <p:txBody>
              <a:bodyPr/>
              <a:lstStyle/>
              <a:p>
                <a:r>
                  <a:rPr lang="en-US">
                    <a:noFill/>
                  </a:rPr>
                  <a:t> </a:t>
                </a:r>
              </a:p>
            </p:txBody>
          </p:sp>
        </mc:Fallback>
      </mc:AlternateContent>
      <p:grpSp>
        <p:nvGrpSpPr>
          <p:cNvPr id="4" name="Group 3">
            <a:extLst>
              <a:ext uri="{FF2B5EF4-FFF2-40B4-BE49-F238E27FC236}">
                <a16:creationId xmlns:a16="http://schemas.microsoft.com/office/drawing/2014/main" id="{17326999-BFD5-334B-BAEA-C1E4E421A05D}"/>
              </a:ext>
            </a:extLst>
          </p:cNvPr>
          <p:cNvGrpSpPr/>
          <p:nvPr/>
        </p:nvGrpSpPr>
        <p:grpSpPr>
          <a:xfrm>
            <a:off x="6730661" y="1928402"/>
            <a:ext cx="4200807" cy="2679826"/>
            <a:chOff x="6730661" y="1928402"/>
            <a:chExt cx="4200807" cy="2679826"/>
          </a:xfrm>
        </p:grpSpPr>
        <p:sp>
          <p:nvSpPr>
            <p:cNvPr id="35" name="Rectangle 34">
              <a:extLst>
                <a:ext uri="{FF2B5EF4-FFF2-40B4-BE49-F238E27FC236}">
                  <a16:creationId xmlns:a16="http://schemas.microsoft.com/office/drawing/2014/main" id="{53E42735-58C1-9544-B146-9E2893975413}"/>
                </a:ext>
              </a:extLst>
            </p:cNvPr>
            <p:cNvSpPr/>
            <p:nvPr/>
          </p:nvSpPr>
          <p:spPr>
            <a:xfrm>
              <a:off x="6730661" y="1928402"/>
              <a:ext cx="4200807" cy="2679826"/>
            </a:xfrm>
            <a:prstGeom prst="rect">
              <a:avLst/>
            </a:pr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Oval 36">
              <a:extLst>
                <a:ext uri="{FF2B5EF4-FFF2-40B4-BE49-F238E27FC236}">
                  <a16:creationId xmlns:a16="http://schemas.microsoft.com/office/drawing/2014/main" id="{B6342735-5573-0F45-B281-C6809641AF5E}"/>
                </a:ext>
              </a:extLst>
            </p:cNvPr>
            <p:cNvSpPr/>
            <p:nvPr/>
          </p:nvSpPr>
          <p:spPr>
            <a:xfrm>
              <a:off x="7872176" y="2093500"/>
              <a:ext cx="488887" cy="488887"/>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1</a:t>
              </a:r>
            </a:p>
          </p:txBody>
        </p:sp>
        <p:sp>
          <p:nvSpPr>
            <p:cNvPr id="38" name="Oval 37">
              <a:extLst>
                <a:ext uri="{FF2B5EF4-FFF2-40B4-BE49-F238E27FC236}">
                  <a16:creationId xmlns:a16="http://schemas.microsoft.com/office/drawing/2014/main" id="{A11E7672-2211-214F-A0D0-62289A6EBD9B}"/>
                </a:ext>
              </a:extLst>
            </p:cNvPr>
            <p:cNvSpPr/>
            <p:nvPr/>
          </p:nvSpPr>
          <p:spPr>
            <a:xfrm>
              <a:off x="9354234" y="2093500"/>
              <a:ext cx="488887" cy="488887"/>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2</a:t>
              </a:r>
            </a:p>
          </p:txBody>
        </p:sp>
        <p:sp>
          <p:nvSpPr>
            <p:cNvPr id="39" name="Oval 38">
              <a:extLst>
                <a:ext uri="{FF2B5EF4-FFF2-40B4-BE49-F238E27FC236}">
                  <a16:creationId xmlns:a16="http://schemas.microsoft.com/office/drawing/2014/main" id="{E2E21B37-C9C2-7640-B0FB-709FF81E35E1}"/>
                </a:ext>
              </a:extLst>
            </p:cNvPr>
            <p:cNvSpPr/>
            <p:nvPr/>
          </p:nvSpPr>
          <p:spPr>
            <a:xfrm>
              <a:off x="6995420" y="3084815"/>
              <a:ext cx="488887" cy="488887"/>
            </a:xfrm>
            <a:prstGeom prst="ellipse">
              <a:avLst/>
            </a:prstGeom>
            <a:solidFill>
              <a:schemeClr val="accent3"/>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3</a:t>
              </a:r>
            </a:p>
          </p:txBody>
        </p:sp>
        <p:sp>
          <p:nvSpPr>
            <p:cNvPr id="41" name="Oval 40">
              <a:extLst>
                <a:ext uri="{FF2B5EF4-FFF2-40B4-BE49-F238E27FC236}">
                  <a16:creationId xmlns:a16="http://schemas.microsoft.com/office/drawing/2014/main" id="{814010A0-F18B-6A4C-B0AD-6AE90988D79A}"/>
                </a:ext>
              </a:extLst>
            </p:cNvPr>
            <p:cNvSpPr/>
            <p:nvPr/>
          </p:nvSpPr>
          <p:spPr>
            <a:xfrm>
              <a:off x="10247147" y="3084815"/>
              <a:ext cx="488887" cy="488887"/>
            </a:xfrm>
            <a:prstGeom prst="ellipse">
              <a:avLst/>
            </a:prstGeom>
            <a:solidFill>
              <a:schemeClr val="accent3"/>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4</a:t>
              </a:r>
            </a:p>
          </p:txBody>
        </p:sp>
        <p:sp>
          <p:nvSpPr>
            <p:cNvPr id="42" name="Oval 41">
              <a:extLst>
                <a:ext uri="{FF2B5EF4-FFF2-40B4-BE49-F238E27FC236}">
                  <a16:creationId xmlns:a16="http://schemas.microsoft.com/office/drawing/2014/main" id="{6DD9791A-8B0F-7E4C-94D5-E62BB9A01002}"/>
                </a:ext>
              </a:extLst>
            </p:cNvPr>
            <p:cNvSpPr/>
            <p:nvPr/>
          </p:nvSpPr>
          <p:spPr>
            <a:xfrm>
              <a:off x="7872175" y="3907171"/>
              <a:ext cx="488887" cy="488887"/>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5</a:t>
              </a:r>
            </a:p>
          </p:txBody>
        </p:sp>
        <p:sp>
          <p:nvSpPr>
            <p:cNvPr id="44" name="Oval 43">
              <a:extLst>
                <a:ext uri="{FF2B5EF4-FFF2-40B4-BE49-F238E27FC236}">
                  <a16:creationId xmlns:a16="http://schemas.microsoft.com/office/drawing/2014/main" id="{10D40AB0-3169-D94D-B24B-E68826BF2001}"/>
                </a:ext>
              </a:extLst>
            </p:cNvPr>
            <p:cNvSpPr/>
            <p:nvPr/>
          </p:nvSpPr>
          <p:spPr>
            <a:xfrm>
              <a:off x="9354233" y="3907171"/>
              <a:ext cx="488887" cy="488887"/>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6</a:t>
              </a:r>
            </a:p>
          </p:txBody>
        </p:sp>
        <p:cxnSp>
          <p:nvCxnSpPr>
            <p:cNvPr id="51" name="Straight Connector 50">
              <a:extLst>
                <a:ext uri="{FF2B5EF4-FFF2-40B4-BE49-F238E27FC236}">
                  <a16:creationId xmlns:a16="http://schemas.microsoft.com/office/drawing/2014/main" id="{9C626810-6ECD-7540-B233-F540D16CDEAC}"/>
                </a:ext>
              </a:extLst>
            </p:cNvPr>
            <p:cNvCxnSpPr>
              <a:cxnSpLocks/>
              <a:stCxn id="39" idx="7"/>
              <a:endCxn id="38" idx="3"/>
            </p:cNvCxnSpPr>
            <p:nvPr/>
          </p:nvCxnSpPr>
          <p:spPr>
            <a:xfrm flipV="1">
              <a:off x="7412711" y="2510791"/>
              <a:ext cx="2013119" cy="645620"/>
            </a:xfrm>
            <a:prstGeom prst="line">
              <a:avLst/>
            </a:prstGeom>
          </p:spPr>
          <p:style>
            <a:lnRef idx="1">
              <a:schemeClr val="accent1"/>
            </a:lnRef>
            <a:fillRef idx="0">
              <a:schemeClr val="accent1"/>
            </a:fillRef>
            <a:effectRef idx="0">
              <a:schemeClr val="accent1"/>
            </a:effectRef>
            <a:fontRef idx="minor">
              <a:schemeClr val="tx1"/>
            </a:fontRef>
          </p:style>
        </p:cxnSp>
        <p:cxnSp>
          <p:nvCxnSpPr>
            <p:cNvPr id="63" name="Straight Connector 62">
              <a:extLst>
                <a:ext uri="{FF2B5EF4-FFF2-40B4-BE49-F238E27FC236}">
                  <a16:creationId xmlns:a16="http://schemas.microsoft.com/office/drawing/2014/main" id="{114647CC-9975-054F-9B94-7FFF2611EABB}"/>
                </a:ext>
              </a:extLst>
            </p:cNvPr>
            <p:cNvCxnSpPr>
              <a:cxnSpLocks/>
              <a:stCxn id="42" idx="1"/>
              <a:endCxn id="39" idx="5"/>
            </p:cNvCxnSpPr>
            <p:nvPr/>
          </p:nvCxnSpPr>
          <p:spPr>
            <a:xfrm flipH="1" flipV="1">
              <a:off x="7412711" y="3502106"/>
              <a:ext cx="531060" cy="476661"/>
            </a:xfrm>
            <a:prstGeom prst="line">
              <a:avLst/>
            </a:prstGeom>
          </p:spPr>
          <p:style>
            <a:lnRef idx="1">
              <a:schemeClr val="accent1"/>
            </a:lnRef>
            <a:fillRef idx="0">
              <a:schemeClr val="accent1"/>
            </a:fillRef>
            <a:effectRef idx="0">
              <a:schemeClr val="accent1"/>
            </a:effectRef>
            <a:fontRef idx="minor">
              <a:schemeClr val="tx1"/>
            </a:fontRef>
          </p:style>
        </p:cxnSp>
        <p:sp>
          <p:nvSpPr>
            <p:cNvPr id="65" name="TextBox 64">
              <a:extLst>
                <a:ext uri="{FF2B5EF4-FFF2-40B4-BE49-F238E27FC236}">
                  <a16:creationId xmlns:a16="http://schemas.microsoft.com/office/drawing/2014/main" id="{C0F2170B-3E18-1346-B1A8-A33BF2F4D5D2}"/>
                </a:ext>
              </a:extLst>
            </p:cNvPr>
            <p:cNvSpPr txBox="1"/>
            <p:nvPr/>
          </p:nvSpPr>
          <p:spPr>
            <a:xfrm>
              <a:off x="10509108" y="1970174"/>
              <a:ext cx="362600" cy="369332"/>
            </a:xfrm>
            <a:prstGeom prst="rect">
              <a:avLst/>
            </a:prstGeom>
            <a:noFill/>
          </p:spPr>
          <p:txBody>
            <a:bodyPr wrap="none" rtlCol="0">
              <a:spAutoFit/>
            </a:bodyPr>
            <a:lstStyle/>
            <a:p>
              <a:r>
                <a:rPr lang="en-US" dirty="0">
                  <a:solidFill>
                    <a:schemeClr val="accent1"/>
                  </a:solidFill>
                </a:rPr>
                <a:t>G</a:t>
              </a:r>
            </a:p>
          </p:txBody>
        </p:sp>
        <p:sp>
          <p:nvSpPr>
            <p:cNvPr id="66" name="TextBox 65">
              <a:extLst>
                <a:ext uri="{FF2B5EF4-FFF2-40B4-BE49-F238E27FC236}">
                  <a16:creationId xmlns:a16="http://schemas.microsoft.com/office/drawing/2014/main" id="{5047B17C-7945-694B-9D61-811066590EE5}"/>
                </a:ext>
              </a:extLst>
            </p:cNvPr>
            <p:cNvSpPr txBox="1"/>
            <p:nvPr/>
          </p:nvSpPr>
          <p:spPr>
            <a:xfrm>
              <a:off x="10360423" y="2249617"/>
              <a:ext cx="566181" cy="369332"/>
            </a:xfrm>
            <a:prstGeom prst="rect">
              <a:avLst/>
            </a:prstGeom>
            <a:noFill/>
          </p:spPr>
          <p:txBody>
            <a:bodyPr wrap="none" rtlCol="0">
              <a:spAutoFit/>
            </a:bodyPr>
            <a:lstStyle/>
            <a:p>
              <a:r>
                <a:rPr lang="en-US" dirty="0">
                  <a:solidFill>
                    <a:schemeClr val="accent1"/>
                  </a:solidFill>
                </a:rPr>
                <a:t>k=2</a:t>
              </a:r>
            </a:p>
          </p:txBody>
        </p:sp>
        <p:cxnSp>
          <p:nvCxnSpPr>
            <p:cNvPr id="67" name="Straight Connector 66">
              <a:extLst>
                <a:ext uri="{FF2B5EF4-FFF2-40B4-BE49-F238E27FC236}">
                  <a16:creationId xmlns:a16="http://schemas.microsoft.com/office/drawing/2014/main" id="{8417E185-503F-9848-A8A3-CA5EBC68F787}"/>
                </a:ext>
              </a:extLst>
            </p:cNvPr>
            <p:cNvCxnSpPr>
              <a:cxnSpLocks/>
              <a:stCxn id="37" idx="5"/>
              <a:endCxn id="41" idx="2"/>
            </p:cNvCxnSpPr>
            <p:nvPr/>
          </p:nvCxnSpPr>
          <p:spPr>
            <a:xfrm>
              <a:off x="8289467" y="2510791"/>
              <a:ext cx="1957680" cy="818468"/>
            </a:xfrm>
            <a:prstGeom prst="line">
              <a:avLst/>
            </a:prstGeom>
          </p:spPr>
          <p:style>
            <a:lnRef idx="1">
              <a:schemeClr val="accent1"/>
            </a:lnRef>
            <a:fillRef idx="0">
              <a:schemeClr val="accent1"/>
            </a:fillRef>
            <a:effectRef idx="0">
              <a:schemeClr val="accent1"/>
            </a:effectRef>
            <a:fontRef idx="minor">
              <a:schemeClr val="tx1"/>
            </a:fontRef>
          </p:style>
        </p:cxnSp>
        <p:cxnSp>
          <p:nvCxnSpPr>
            <p:cNvPr id="68" name="Straight Connector 67">
              <a:extLst>
                <a:ext uri="{FF2B5EF4-FFF2-40B4-BE49-F238E27FC236}">
                  <a16:creationId xmlns:a16="http://schemas.microsoft.com/office/drawing/2014/main" id="{501AC7DA-7191-B74F-AE06-2DA26738DF56}"/>
                </a:ext>
              </a:extLst>
            </p:cNvPr>
            <p:cNvCxnSpPr>
              <a:cxnSpLocks/>
              <a:stCxn id="41" idx="1"/>
              <a:endCxn id="38" idx="5"/>
            </p:cNvCxnSpPr>
            <p:nvPr/>
          </p:nvCxnSpPr>
          <p:spPr>
            <a:xfrm flipH="1" flipV="1">
              <a:off x="9771525" y="2510791"/>
              <a:ext cx="547218" cy="645620"/>
            </a:xfrm>
            <a:prstGeom prst="line">
              <a:avLst/>
            </a:prstGeom>
          </p:spPr>
          <p:style>
            <a:lnRef idx="1">
              <a:schemeClr val="accent1"/>
            </a:lnRef>
            <a:fillRef idx="0">
              <a:schemeClr val="accent1"/>
            </a:fillRef>
            <a:effectRef idx="0">
              <a:schemeClr val="accent1"/>
            </a:effectRef>
            <a:fontRef idx="minor">
              <a:schemeClr val="tx1"/>
            </a:fontRef>
          </p:style>
        </p:cxnSp>
        <p:cxnSp>
          <p:nvCxnSpPr>
            <p:cNvPr id="69" name="Straight Connector 68">
              <a:extLst>
                <a:ext uri="{FF2B5EF4-FFF2-40B4-BE49-F238E27FC236}">
                  <a16:creationId xmlns:a16="http://schemas.microsoft.com/office/drawing/2014/main" id="{04711E76-7D6F-D643-B25D-53CBEE936FD4}"/>
                </a:ext>
              </a:extLst>
            </p:cNvPr>
            <p:cNvCxnSpPr>
              <a:cxnSpLocks/>
              <a:stCxn id="44" idx="7"/>
              <a:endCxn id="41" idx="3"/>
            </p:cNvCxnSpPr>
            <p:nvPr/>
          </p:nvCxnSpPr>
          <p:spPr>
            <a:xfrm flipV="1">
              <a:off x="9771524" y="3502106"/>
              <a:ext cx="547219" cy="476661"/>
            </a:xfrm>
            <a:prstGeom prst="line">
              <a:avLst/>
            </a:prstGeom>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sp>
            <p:nvSpPr>
              <p:cNvPr id="45" name="Content Placeholder 2">
                <a:extLst>
                  <a:ext uri="{FF2B5EF4-FFF2-40B4-BE49-F238E27FC236}">
                    <a16:creationId xmlns:a16="http://schemas.microsoft.com/office/drawing/2014/main" id="{86E5743B-AB82-E14C-9110-9C8DA9F29266}"/>
                  </a:ext>
                </a:extLst>
              </p:cNvPr>
              <p:cNvSpPr txBox="1">
                <a:spLocks/>
              </p:cNvSpPr>
              <p:nvPr/>
            </p:nvSpPr>
            <p:spPr>
              <a:xfrm>
                <a:off x="7832257" y="5546906"/>
                <a:ext cx="3532837" cy="1161711"/>
              </a:xfrm>
              <a:prstGeom prst="rect">
                <a:avLst/>
              </a:prstGeom>
              <a:noFill/>
              <a:ln>
                <a:no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800" i="1" dirty="0">
                    <a:solidFill>
                      <a:schemeClr val="tx1">
                        <a:lumMod val="95000"/>
                      </a:schemeClr>
                    </a:solidFill>
                  </a:rPr>
                  <a:t>…and if the clique in G is nodes </a:t>
                </a:r>
                <a14:m>
                  <m:oMath xmlns:m="http://schemas.openxmlformats.org/officeDocument/2006/math">
                    <m:sSup>
                      <m:sSupPr>
                        <m:ctrlPr>
                          <a:rPr lang="en-US" sz="1800" b="0" i="1" smtClean="0">
                            <a:solidFill>
                              <a:schemeClr val="tx1">
                                <a:lumMod val="95000"/>
                              </a:schemeClr>
                            </a:solidFill>
                            <a:latin typeface="Cambria Math" panose="02040503050406030204" pitchFamily="18" charset="0"/>
                          </a:rPr>
                        </m:ctrlPr>
                      </m:sSupPr>
                      <m:e>
                        <m:r>
                          <a:rPr lang="en-US" sz="1800" b="0" i="1" smtClean="0">
                            <a:solidFill>
                              <a:schemeClr val="tx1">
                                <a:lumMod val="95000"/>
                              </a:schemeClr>
                            </a:solidFill>
                            <a:latin typeface="Cambria Math" panose="02040503050406030204" pitchFamily="18" charset="0"/>
                          </a:rPr>
                          <m:t>𝑉</m:t>
                        </m:r>
                      </m:e>
                      <m:sup>
                        <m:r>
                          <a:rPr lang="en-US" sz="1800" b="0" i="1" smtClean="0">
                            <a:solidFill>
                              <a:schemeClr val="tx1">
                                <a:lumMod val="95000"/>
                              </a:schemeClr>
                            </a:solidFill>
                            <a:latin typeface="Cambria Math" panose="02040503050406030204" pitchFamily="18" charset="0"/>
                          </a:rPr>
                          <m:t>′</m:t>
                        </m:r>
                      </m:sup>
                    </m:sSup>
                    <m:r>
                      <a:rPr lang="en-US" sz="1800" b="0" i="1" smtClean="0">
                        <a:solidFill>
                          <a:schemeClr val="tx1">
                            <a:lumMod val="95000"/>
                          </a:schemeClr>
                        </a:solidFill>
                        <a:latin typeface="Cambria Math" panose="02040503050406030204" pitchFamily="18" charset="0"/>
                      </a:rPr>
                      <m:t>⊆</m:t>
                    </m:r>
                    <m:r>
                      <a:rPr lang="en-US" sz="1800" b="0" i="1" smtClean="0">
                        <a:solidFill>
                          <a:schemeClr val="tx1">
                            <a:lumMod val="95000"/>
                          </a:schemeClr>
                        </a:solidFill>
                        <a:latin typeface="Cambria Math" panose="02040503050406030204" pitchFamily="18" charset="0"/>
                      </a:rPr>
                      <m:t>𝑉</m:t>
                    </m:r>
                  </m:oMath>
                </a14:m>
                <a:r>
                  <a:rPr lang="en-US" sz="1800" i="1" dirty="0">
                    <a:solidFill>
                      <a:schemeClr val="tx1">
                        <a:lumMod val="95000"/>
                      </a:schemeClr>
                    </a:solidFill>
                  </a:rPr>
                  <a:t>, then the cover in G’ is exactly the nodes </a:t>
                </a:r>
                <a14:m>
                  <m:oMath xmlns:m="http://schemas.openxmlformats.org/officeDocument/2006/math">
                    <m:r>
                      <a:rPr lang="en-US" sz="1800" b="0" i="1" smtClean="0">
                        <a:solidFill>
                          <a:schemeClr val="tx1">
                            <a:lumMod val="95000"/>
                          </a:schemeClr>
                        </a:solidFill>
                        <a:latin typeface="Cambria Math" panose="02040503050406030204" pitchFamily="18" charset="0"/>
                      </a:rPr>
                      <m:t>𝑉</m:t>
                    </m:r>
                    <m:r>
                      <a:rPr lang="en-US" sz="1800" b="0" i="1" smtClean="0">
                        <a:solidFill>
                          <a:schemeClr val="tx1">
                            <a:lumMod val="95000"/>
                          </a:schemeClr>
                        </a:solidFill>
                        <a:latin typeface="Cambria Math" panose="02040503050406030204" pitchFamily="18" charset="0"/>
                      </a:rPr>
                      <m:t>−</m:t>
                    </m:r>
                    <m:r>
                      <a:rPr lang="en-US" sz="1800" b="0" i="1" smtClean="0">
                        <a:solidFill>
                          <a:schemeClr val="tx1">
                            <a:lumMod val="95000"/>
                          </a:schemeClr>
                        </a:solidFill>
                        <a:latin typeface="Cambria Math" panose="02040503050406030204" pitchFamily="18" charset="0"/>
                      </a:rPr>
                      <m:t>𝑉</m:t>
                    </m:r>
                    <m:r>
                      <a:rPr lang="en-US" sz="1800" b="0" i="1" smtClean="0">
                        <a:solidFill>
                          <a:schemeClr val="tx1">
                            <a:lumMod val="95000"/>
                          </a:schemeClr>
                        </a:solidFill>
                        <a:latin typeface="Cambria Math" panose="02040503050406030204" pitchFamily="18" charset="0"/>
                      </a:rPr>
                      <m:t>′</m:t>
                    </m:r>
                  </m:oMath>
                </a14:m>
                <a:endParaRPr lang="en-US" sz="1800" i="1" dirty="0">
                  <a:solidFill>
                    <a:schemeClr val="tx1">
                      <a:lumMod val="95000"/>
                    </a:schemeClr>
                  </a:solidFill>
                </a:endParaRPr>
              </a:p>
            </p:txBody>
          </p:sp>
        </mc:Choice>
        <mc:Fallback xmlns="">
          <p:sp>
            <p:nvSpPr>
              <p:cNvPr id="45" name="Content Placeholder 2">
                <a:extLst>
                  <a:ext uri="{FF2B5EF4-FFF2-40B4-BE49-F238E27FC236}">
                    <a16:creationId xmlns:a16="http://schemas.microsoft.com/office/drawing/2014/main" id="{86E5743B-AB82-E14C-9110-9C8DA9F29266}"/>
                  </a:ext>
                </a:extLst>
              </p:cNvPr>
              <p:cNvSpPr txBox="1">
                <a:spLocks noRot="1" noChangeAspect="1" noMove="1" noResize="1" noEditPoints="1" noAdjustHandles="1" noChangeArrowheads="1" noChangeShapeType="1" noTextEdit="1"/>
              </p:cNvSpPr>
              <p:nvPr/>
            </p:nvSpPr>
            <p:spPr>
              <a:xfrm>
                <a:off x="7832257" y="5546906"/>
                <a:ext cx="3532837" cy="1161711"/>
              </a:xfrm>
              <a:prstGeom prst="rect">
                <a:avLst/>
              </a:prstGeom>
              <a:blipFill>
                <a:blip r:embed="rId4"/>
                <a:stretch>
                  <a:fillRect/>
                </a:stretch>
              </a:blipFill>
              <a:ln>
                <a:noFill/>
              </a:ln>
            </p:spPr>
            <p:txBody>
              <a:bodyPr/>
              <a:lstStyle/>
              <a:p>
                <a:r>
                  <a:rPr lang="en-US">
                    <a:noFill/>
                  </a:rPr>
                  <a:t> </a:t>
                </a:r>
              </a:p>
            </p:txBody>
          </p:sp>
        </mc:Fallback>
      </mc:AlternateContent>
      <p:cxnSp>
        <p:nvCxnSpPr>
          <p:cNvPr id="6" name="Straight Connector 5">
            <a:extLst>
              <a:ext uri="{FF2B5EF4-FFF2-40B4-BE49-F238E27FC236}">
                <a16:creationId xmlns:a16="http://schemas.microsoft.com/office/drawing/2014/main" id="{0C070154-CE15-8B45-B262-A8A0A396DE7A}"/>
              </a:ext>
            </a:extLst>
          </p:cNvPr>
          <p:cNvCxnSpPr/>
          <p:nvPr/>
        </p:nvCxnSpPr>
        <p:spPr>
          <a:xfrm>
            <a:off x="4771176" y="4816444"/>
            <a:ext cx="3172595" cy="905346"/>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cxnSp>
        <p:nvCxnSpPr>
          <p:cNvPr id="47" name="Straight Connector 46">
            <a:extLst>
              <a:ext uri="{FF2B5EF4-FFF2-40B4-BE49-F238E27FC236}">
                <a16:creationId xmlns:a16="http://schemas.microsoft.com/office/drawing/2014/main" id="{AB90BFC0-BE26-304D-A9CA-EA83B898D3E8}"/>
              </a:ext>
            </a:extLst>
          </p:cNvPr>
          <p:cNvCxnSpPr>
            <a:cxnSpLocks/>
          </p:cNvCxnSpPr>
          <p:nvPr/>
        </p:nvCxnSpPr>
        <p:spPr>
          <a:xfrm flipH="1">
            <a:off x="8682273" y="4816444"/>
            <a:ext cx="148792" cy="730462"/>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4486528"/>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p:cNvSpPr>
                <a:spLocks noGrp="1"/>
              </p:cNvSpPr>
              <p:nvPr>
                <p:ph type="title"/>
              </p:nvPr>
            </p:nvSpPr>
            <p:spPr>
              <a:xfrm>
                <a:off x="1141413" y="326848"/>
                <a:ext cx="9905998" cy="603310"/>
              </a:xfrm>
            </p:spPr>
            <p:txBody>
              <a:bodyPr/>
              <a:lstStyle/>
              <a:p>
                <a:pPr algn="ctr"/>
                <a:r>
                  <a:rPr lang="en-US" b="0" dirty="0"/>
                  <a:t>Showing that </a:t>
                </a:r>
                <a14:m>
                  <m:oMath xmlns:m="http://schemas.openxmlformats.org/officeDocument/2006/math">
                    <m:r>
                      <a:rPr lang="en-US" i="1" dirty="0" smtClean="0">
                        <a:latin typeface="Cambria Math" panose="02040503050406030204" pitchFamily="18" charset="0"/>
                      </a:rPr>
                      <m:t>𝑉</m:t>
                    </m:r>
                    <m:r>
                      <a:rPr lang="en-US" b="0" i="1" dirty="0" smtClean="0">
                        <a:latin typeface="Cambria Math" panose="02040503050406030204" pitchFamily="18" charset="0"/>
                      </a:rPr>
                      <m:t>𝐶</m:t>
                    </m:r>
                    <m:r>
                      <a:rPr lang="en-US" b="0" i="1" dirty="0" smtClean="0">
                        <a:latin typeface="Cambria Math" panose="02040503050406030204" pitchFamily="18" charset="0"/>
                      </a:rPr>
                      <m:t>∈</m:t>
                    </m:r>
                    <m:r>
                      <a:rPr lang="en-US" b="0" i="1" dirty="0" smtClean="0">
                        <a:latin typeface="Cambria Math" panose="02040503050406030204" pitchFamily="18" charset="0"/>
                      </a:rPr>
                      <m:t>𝑁𝑃𝐶</m:t>
                    </m:r>
                  </m:oMath>
                </a14:m>
                <a:endParaRPr lang="en-US" dirty="0"/>
              </a:p>
            </p:txBody>
          </p:sp>
        </mc:Choice>
        <mc:Fallback xmlns="">
          <p:sp>
            <p:nvSpPr>
              <p:cNvPr id="2" name="Title 1"/>
              <p:cNvSpPr>
                <a:spLocks noGrp="1" noRot="1" noChangeAspect="1" noMove="1" noResize="1" noEditPoints="1" noAdjustHandles="1" noChangeArrowheads="1" noChangeShapeType="1" noTextEdit="1"/>
              </p:cNvSpPr>
              <p:nvPr>
                <p:ph type="title"/>
              </p:nvPr>
            </p:nvSpPr>
            <p:spPr>
              <a:xfrm>
                <a:off x="1141413" y="326848"/>
                <a:ext cx="9905998" cy="603310"/>
              </a:xfrm>
              <a:blipFill>
                <a:blip r:embed="rId2"/>
                <a:stretch>
                  <a:fillRect t="-22917" b="-35417"/>
                </a:stretch>
              </a:blipFill>
            </p:spPr>
            <p:txBody>
              <a:bodyPr/>
              <a:lstStyle/>
              <a:p>
                <a:r>
                  <a:rPr lang="en-US">
                    <a:noFill/>
                  </a:rPr>
                  <a:t> </a:t>
                </a:r>
              </a:p>
            </p:txBody>
          </p:sp>
        </mc:Fallback>
      </mc:AlternateContent>
      <p:grpSp>
        <p:nvGrpSpPr>
          <p:cNvPr id="3" name="Group 2">
            <a:extLst>
              <a:ext uri="{FF2B5EF4-FFF2-40B4-BE49-F238E27FC236}">
                <a16:creationId xmlns:a16="http://schemas.microsoft.com/office/drawing/2014/main" id="{BBA7C1DC-1C1F-C04D-B2D7-995BEB6406CF}"/>
              </a:ext>
            </a:extLst>
          </p:cNvPr>
          <p:cNvGrpSpPr/>
          <p:nvPr/>
        </p:nvGrpSpPr>
        <p:grpSpPr>
          <a:xfrm>
            <a:off x="1321813" y="1611533"/>
            <a:ext cx="4200807" cy="2679826"/>
            <a:chOff x="1321813" y="1928402"/>
            <a:chExt cx="4200807" cy="2679826"/>
          </a:xfrm>
        </p:grpSpPr>
        <p:sp>
          <p:nvSpPr>
            <p:cNvPr id="58" name="Rectangle 57">
              <a:extLst>
                <a:ext uri="{FF2B5EF4-FFF2-40B4-BE49-F238E27FC236}">
                  <a16:creationId xmlns:a16="http://schemas.microsoft.com/office/drawing/2014/main" id="{52B1A68B-677E-4C4F-A58B-285960ED2E3E}"/>
                </a:ext>
              </a:extLst>
            </p:cNvPr>
            <p:cNvSpPr/>
            <p:nvPr/>
          </p:nvSpPr>
          <p:spPr>
            <a:xfrm>
              <a:off x="1321813" y="1928402"/>
              <a:ext cx="4200807" cy="2679826"/>
            </a:xfrm>
            <a:prstGeom prst="rect">
              <a:avLst/>
            </a:pr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310A4B83-4CB6-3E46-9F8A-0306DBC686D3}"/>
                </a:ext>
              </a:extLst>
            </p:cNvPr>
            <p:cNvSpPr/>
            <p:nvPr/>
          </p:nvSpPr>
          <p:spPr>
            <a:xfrm>
              <a:off x="2463328" y="2093500"/>
              <a:ext cx="488887" cy="488887"/>
            </a:xfrm>
            <a:prstGeom prst="ellipse">
              <a:avLst/>
            </a:prstGeom>
            <a:solidFill>
              <a:schemeClr val="accent3"/>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1</a:t>
              </a:r>
            </a:p>
          </p:txBody>
        </p:sp>
        <p:sp>
          <p:nvSpPr>
            <p:cNvPr id="23" name="Oval 22">
              <a:extLst>
                <a:ext uri="{FF2B5EF4-FFF2-40B4-BE49-F238E27FC236}">
                  <a16:creationId xmlns:a16="http://schemas.microsoft.com/office/drawing/2014/main" id="{3FBBD169-F2CB-9C4B-8FF6-A770D421CE08}"/>
                </a:ext>
              </a:extLst>
            </p:cNvPr>
            <p:cNvSpPr/>
            <p:nvPr/>
          </p:nvSpPr>
          <p:spPr>
            <a:xfrm>
              <a:off x="3945386" y="2093500"/>
              <a:ext cx="488887" cy="488887"/>
            </a:xfrm>
            <a:prstGeom prst="ellipse">
              <a:avLst/>
            </a:prstGeom>
            <a:solidFill>
              <a:schemeClr val="accent3"/>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2</a:t>
              </a:r>
            </a:p>
          </p:txBody>
        </p:sp>
        <p:sp>
          <p:nvSpPr>
            <p:cNvPr id="24" name="Oval 23">
              <a:extLst>
                <a:ext uri="{FF2B5EF4-FFF2-40B4-BE49-F238E27FC236}">
                  <a16:creationId xmlns:a16="http://schemas.microsoft.com/office/drawing/2014/main" id="{C995F22B-2B74-7E4F-8635-20BEDD5E1BF6}"/>
                </a:ext>
              </a:extLst>
            </p:cNvPr>
            <p:cNvSpPr/>
            <p:nvPr/>
          </p:nvSpPr>
          <p:spPr>
            <a:xfrm>
              <a:off x="1586572" y="3084815"/>
              <a:ext cx="488887" cy="488887"/>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3</a:t>
              </a:r>
            </a:p>
          </p:txBody>
        </p:sp>
        <p:sp>
          <p:nvSpPr>
            <p:cNvPr id="25" name="Oval 24">
              <a:extLst>
                <a:ext uri="{FF2B5EF4-FFF2-40B4-BE49-F238E27FC236}">
                  <a16:creationId xmlns:a16="http://schemas.microsoft.com/office/drawing/2014/main" id="{B76A0903-9EB0-D44D-B6A0-08D651F65DC4}"/>
                </a:ext>
              </a:extLst>
            </p:cNvPr>
            <p:cNvSpPr/>
            <p:nvPr/>
          </p:nvSpPr>
          <p:spPr>
            <a:xfrm>
              <a:off x="4838299" y="3084815"/>
              <a:ext cx="488887" cy="488887"/>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4</a:t>
              </a:r>
            </a:p>
          </p:txBody>
        </p:sp>
        <p:sp>
          <p:nvSpPr>
            <p:cNvPr id="26" name="Oval 25">
              <a:extLst>
                <a:ext uri="{FF2B5EF4-FFF2-40B4-BE49-F238E27FC236}">
                  <a16:creationId xmlns:a16="http://schemas.microsoft.com/office/drawing/2014/main" id="{553DFFE1-926C-3A46-A69E-28F422017FD5}"/>
                </a:ext>
              </a:extLst>
            </p:cNvPr>
            <p:cNvSpPr/>
            <p:nvPr/>
          </p:nvSpPr>
          <p:spPr>
            <a:xfrm>
              <a:off x="2463327" y="3907171"/>
              <a:ext cx="488887" cy="488887"/>
            </a:xfrm>
            <a:prstGeom prst="ellipse">
              <a:avLst/>
            </a:prstGeom>
            <a:solidFill>
              <a:schemeClr val="accent3"/>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5</a:t>
              </a:r>
            </a:p>
          </p:txBody>
        </p:sp>
        <p:sp>
          <p:nvSpPr>
            <p:cNvPr id="27" name="Oval 26">
              <a:extLst>
                <a:ext uri="{FF2B5EF4-FFF2-40B4-BE49-F238E27FC236}">
                  <a16:creationId xmlns:a16="http://schemas.microsoft.com/office/drawing/2014/main" id="{7C39BCCB-A6F2-7348-855E-003491E529E9}"/>
                </a:ext>
              </a:extLst>
            </p:cNvPr>
            <p:cNvSpPr/>
            <p:nvPr/>
          </p:nvSpPr>
          <p:spPr>
            <a:xfrm>
              <a:off x="3945385" y="3907171"/>
              <a:ext cx="488887" cy="488887"/>
            </a:xfrm>
            <a:prstGeom prst="ellipse">
              <a:avLst/>
            </a:prstGeom>
            <a:solidFill>
              <a:schemeClr val="accent3"/>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6</a:t>
              </a:r>
            </a:p>
          </p:txBody>
        </p:sp>
        <p:cxnSp>
          <p:nvCxnSpPr>
            <p:cNvPr id="29" name="Straight Connector 28">
              <a:extLst>
                <a:ext uri="{FF2B5EF4-FFF2-40B4-BE49-F238E27FC236}">
                  <a16:creationId xmlns:a16="http://schemas.microsoft.com/office/drawing/2014/main" id="{688F8695-7A8B-A647-B4FE-24A5538AE867}"/>
                </a:ext>
              </a:extLst>
            </p:cNvPr>
            <p:cNvCxnSpPr>
              <a:stCxn id="24" idx="7"/>
              <a:endCxn id="10" idx="3"/>
            </p:cNvCxnSpPr>
            <p:nvPr/>
          </p:nvCxnSpPr>
          <p:spPr>
            <a:xfrm flipV="1">
              <a:off x="2003863" y="2510791"/>
              <a:ext cx="531061" cy="645620"/>
            </a:xfrm>
            <a:prstGeom prst="line">
              <a:avLst/>
            </a:prstGeom>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DE170FF9-E530-9542-AD9B-0322EE0CDBEB}"/>
                </a:ext>
              </a:extLst>
            </p:cNvPr>
            <p:cNvCxnSpPr>
              <a:cxnSpLocks/>
              <a:stCxn id="26" idx="0"/>
              <a:endCxn id="10" idx="4"/>
            </p:cNvCxnSpPr>
            <p:nvPr/>
          </p:nvCxnSpPr>
          <p:spPr>
            <a:xfrm flipV="1">
              <a:off x="2707771" y="2582387"/>
              <a:ext cx="1" cy="1324784"/>
            </a:xfrm>
            <a:prstGeom prst="line">
              <a:avLst/>
            </a:prstGeom>
            <a:ln w="28575">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68824425-3D77-B944-8DA2-ED6F7F73CBC7}"/>
                </a:ext>
              </a:extLst>
            </p:cNvPr>
            <p:cNvCxnSpPr>
              <a:cxnSpLocks/>
              <a:stCxn id="23" idx="2"/>
              <a:endCxn id="10" idx="6"/>
            </p:cNvCxnSpPr>
            <p:nvPr/>
          </p:nvCxnSpPr>
          <p:spPr>
            <a:xfrm flipH="1">
              <a:off x="2952215" y="2337944"/>
              <a:ext cx="993171" cy="0"/>
            </a:xfrm>
            <a:prstGeom prst="line">
              <a:avLst/>
            </a:prstGeom>
            <a:ln w="28575">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36" name="Straight Connector 35">
              <a:extLst>
                <a:ext uri="{FF2B5EF4-FFF2-40B4-BE49-F238E27FC236}">
                  <a16:creationId xmlns:a16="http://schemas.microsoft.com/office/drawing/2014/main" id="{1DA21A7A-2AFA-F04C-BCAC-0E33835F7DF9}"/>
                </a:ext>
              </a:extLst>
            </p:cNvPr>
            <p:cNvCxnSpPr>
              <a:cxnSpLocks/>
              <a:stCxn id="23" idx="4"/>
              <a:endCxn id="27" idx="0"/>
            </p:cNvCxnSpPr>
            <p:nvPr/>
          </p:nvCxnSpPr>
          <p:spPr>
            <a:xfrm flipH="1">
              <a:off x="4189829" y="2582387"/>
              <a:ext cx="1" cy="1324784"/>
            </a:xfrm>
            <a:prstGeom prst="line">
              <a:avLst/>
            </a:prstGeom>
            <a:ln w="28575">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1726C680-39E1-FB47-98D0-68B899E306BC}"/>
                </a:ext>
              </a:extLst>
            </p:cNvPr>
            <p:cNvCxnSpPr>
              <a:cxnSpLocks/>
              <a:stCxn id="26" idx="6"/>
              <a:endCxn id="27" idx="2"/>
            </p:cNvCxnSpPr>
            <p:nvPr/>
          </p:nvCxnSpPr>
          <p:spPr>
            <a:xfrm>
              <a:off x="2952214" y="4151615"/>
              <a:ext cx="993171" cy="0"/>
            </a:xfrm>
            <a:prstGeom prst="line">
              <a:avLst/>
            </a:prstGeom>
            <a:ln w="28575">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9FD5946C-B6E7-EC4F-AD2D-43EF979840DA}"/>
                </a:ext>
              </a:extLst>
            </p:cNvPr>
            <p:cNvCxnSpPr>
              <a:cxnSpLocks/>
              <a:stCxn id="10" idx="5"/>
              <a:endCxn id="27" idx="1"/>
            </p:cNvCxnSpPr>
            <p:nvPr/>
          </p:nvCxnSpPr>
          <p:spPr>
            <a:xfrm>
              <a:off x="2880619" y="2510791"/>
              <a:ext cx="1136362" cy="1467976"/>
            </a:xfrm>
            <a:prstGeom prst="line">
              <a:avLst/>
            </a:prstGeom>
            <a:ln w="28575">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46" name="Straight Connector 45">
              <a:extLst>
                <a:ext uri="{FF2B5EF4-FFF2-40B4-BE49-F238E27FC236}">
                  <a16:creationId xmlns:a16="http://schemas.microsoft.com/office/drawing/2014/main" id="{AD49B488-5E58-0D4B-95D5-2D524D20FFCC}"/>
                </a:ext>
              </a:extLst>
            </p:cNvPr>
            <p:cNvCxnSpPr>
              <a:cxnSpLocks/>
              <a:stCxn id="26" idx="7"/>
              <a:endCxn id="23" idx="3"/>
            </p:cNvCxnSpPr>
            <p:nvPr/>
          </p:nvCxnSpPr>
          <p:spPr>
            <a:xfrm flipV="1">
              <a:off x="2880618" y="2510791"/>
              <a:ext cx="1136364" cy="1467976"/>
            </a:xfrm>
            <a:prstGeom prst="line">
              <a:avLst/>
            </a:prstGeom>
            <a:ln w="28575">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5B4AAF52-EA29-5F43-858C-A25934203265}"/>
                </a:ext>
              </a:extLst>
            </p:cNvPr>
            <p:cNvCxnSpPr>
              <a:cxnSpLocks/>
              <a:stCxn id="24" idx="6"/>
              <a:endCxn id="25" idx="2"/>
            </p:cNvCxnSpPr>
            <p:nvPr/>
          </p:nvCxnSpPr>
          <p:spPr>
            <a:xfrm>
              <a:off x="2075459" y="3329259"/>
              <a:ext cx="276284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A917B8CF-522E-A049-9736-50A681E83269}"/>
                </a:ext>
              </a:extLst>
            </p:cNvPr>
            <p:cNvCxnSpPr>
              <a:cxnSpLocks/>
              <a:stCxn id="24" idx="6"/>
              <a:endCxn id="27" idx="1"/>
            </p:cNvCxnSpPr>
            <p:nvPr/>
          </p:nvCxnSpPr>
          <p:spPr>
            <a:xfrm>
              <a:off x="2075459" y="3329259"/>
              <a:ext cx="1941522" cy="649508"/>
            </a:xfrm>
            <a:prstGeom prst="line">
              <a:avLst/>
            </a:prstGeom>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EC4107DE-6A10-CC45-9C46-3A54FEA1BD43}"/>
                </a:ext>
              </a:extLst>
            </p:cNvPr>
            <p:cNvCxnSpPr>
              <a:cxnSpLocks/>
              <a:stCxn id="26" idx="7"/>
              <a:endCxn id="25" idx="2"/>
            </p:cNvCxnSpPr>
            <p:nvPr/>
          </p:nvCxnSpPr>
          <p:spPr>
            <a:xfrm flipV="1">
              <a:off x="2880618" y="3329259"/>
              <a:ext cx="1957681" cy="649508"/>
            </a:xfrm>
            <a:prstGeom prst="line">
              <a:avLst/>
            </a:prstGeom>
          </p:spPr>
          <p:style>
            <a:lnRef idx="1">
              <a:schemeClr val="accent1"/>
            </a:lnRef>
            <a:fillRef idx="0">
              <a:schemeClr val="accent1"/>
            </a:fillRef>
            <a:effectRef idx="0">
              <a:schemeClr val="accent1"/>
            </a:effectRef>
            <a:fontRef idx="minor">
              <a:schemeClr val="tx1"/>
            </a:fontRef>
          </p:style>
        </p:cxnSp>
        <p:sp>
          <p:nvSpPr>
            <p:cNvPr id="59" name="TextBox 58">
              <a:extLst>
                <a:ext uri="{FF2B5EF4-FFF2-40B4-BE49-F238E27FC236}">
                  <a16:creationId xmlns:a16="http://schemas.microsoft.com/office/drawing/2014/main" id="{5FFC3504-160F-8840-989E-203207C3813A}"/>
                </a:ext>
              </a:extLst>
            </p:cNvPr>
            <p:cNvSpPr txBox="1"/>
            <p:nvPr/>
          </p:nvSpPr>
          <p:spPr>
            <a:xfrm>
              <a:off x="5100260" y="1970174"/>
              <a:ext cx="362600" cy="369332"/>
            </a:xfrm>
            <a:prstGeom prst="rect">
              <a:avLst/>
            </a:prstGeom>
            <a:noFill/>
          </p:spPr>
          <p:txBody>
            <a:bodyPr wrap="none" rtlCol="0">
              <a:spAutoFit/>
            </a:bodyPr>
            <a:lstStyle/>
            <a:p>
              <a:r>
                <a:rPr lang="en-US" dirty="0">
                  <a:solidFill>
                    <a:schemeClr val="accent1"/>
                  </a:solidFill>
                </a:rPr>
                <a:t>G</a:t>
              </a:r>
            </a:p>
          </p:txBody>
        </p:sp>
        <p:sp>
          <p:nvSpPr>
            <p:cNvPr id="60" name="TextBox 59">
              <a:extLst>
                <a:ext uri="{FF2B5EF4-FFF2-40B4-BE49-F238E27FC236}">
                  <a16:creationId xmlns:a16="http://schemas.microsoft.com/office/drawing/2014/main" id="{2AD8A967-5C47-8541-BBA2-170D99393732}"/>
                </a:ext>
              </a:extLst>
            </p:cNvPr>
            <p:cNvSpPr txBox="1"/>
            <p:nvPr/>
          </p:nvSpPr>
          <p:spPr>
            <a:xfrm>
              <a:off x="4951575" y="2249617"/>
              <a:ext cx="566181" cy="369332"/>
            </a:xfrm>
            <a:prstGeom prst="rect">
              <a:avLst/>
            </a:prstGeom>
            <a:noFill/>
          </p:spPr>
          <p:txBody>
            <a:bodyPr wrap="none" rtlCol="0">
              <a:spAutoFit/>
            </a:bodyPr>
            <a:lstStyle/>
            <a:p>
              <a:r>
                <a:rPr lang="en-US" dirty="0">
                  <a:solidFill>
                    <a:schemeClr val="accent1"/>
                  </a:solidFill>
                </a:rPr>
                <a:t>k=4</a:t>
              </a:r>
            </a:p>
          </p:txBody>
        </p:sp>
      </p:grpSp>
      <p:sp>
        <p:nvSpPr>
          <p:cNvPr id="62" name="Right Arrow 61">
            <a:extLst>
              <a:ext uri="{FF2B5EF4-FFF2-40B4-BE49-F238E27FC236}">
                <a16:creationId xmlns:a16="http://schemas.microsoft.com/office/drawing/2014/main" id="{6A534F3C-6991-8845-83AA-9C5FC061C0D5}"/>
              </a:ext>
            </a:extLst>
          </p:cNvPr>
          <p:cNvSpPr/>
          <p:nvPr/>
        </p:nvSpPr>
        <p:spPr>
          <a:xfrm>
            <a:off x="5695467" y="2839542"/>
            <a:ext cx="886402" cy="32592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32" name="Content Placeholder 2">
                <a:extLst>
                  <a:ext uri="{FF2B5EF4-FFF2-40B4-BE49-F238E27FC236}">
                    <a16:creationId xmlns:a16="http://schemas.microsoft.com/office/drawing/2014/main" id="{034F391B-9FFD-1F4B-96ED-B56807869288}"/>
                  </a:ext>
                </a:extLst>
              </p:cNvPr>
              <p:cNvSpPr txBox="1">
                <a:spLocks/>
              </p:cNvSpPr>
              <p:nvPr/>
            </p:nvSpPr>
            <p:spPr>
              <a:xfrm>
                <a:off x="1321814" y="875119"/>
                <a:ext cx="9625246" cy="453124"/>
              </a:xfrm>
              <a:prstGeom prst="rect">
                <a:avLst/>
              </a:prstGeom>
              <a:noFill/>
              <a:ln>
                <a:solidFill>
                  <a:schemeClr val="tx1">
                    <a:lumMod val="95000"/>
                  </a:schemeClr>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800" b="1" i="1" u="sng" dirty="0">
                    <a:solidFill>
                      <a:schemeClr val="tx1">
                        <a:lumMod val="95000"/>
                      </a:schemeClr>
                    </a:solidFill>
                  </a:rPr>
                  <a:t>Claim</a:t>
                </a:r>
                <a:r>
                  <a:rPr lang="en-US" sz="1800" dirty="0">
                    <a:solidFill>
                      <a:schemeClr val="tx1">
                        <a:lumMod val="95000"/>
                      </a:schemeClr>
                    </a:solidFill>
                  </a:rPr>
                  <a:t>: G has a clique of size k IFF G’ has a VC of size </a:t>
                </a:r>
                <a14:m>
                  <m:oMath xmlns:m="http://schemas.openxmlformats.org/officeDocument/2006/math">
                    <m:d>
                      <m:dPr>
                        <m:begChr m:val="|"/>
                        <m:endChr m:val="|"/>
                        <m:ctrlPr>
                          <a:rPr lang="en-US" sz="1800" b="0" i="1" smtClean="0">
                            <a:solidFill>
                              <a:schemeClr val="tx1">
                                <a:lumMod val="95000"/>
                              </a:schemeClr>
                            </a:solidFill>
                            <a:latin typeface="Cambria Math" panose="02040503050406030204" pitchFamily="18" charset="0"/>
                          </a:rPr>
                        </m:ctrlPr>
                      </m:dPr>
                      <m:e>
                        <m:r>
                          <a:rPr lang="en-US" sz="1800" b="0" i="1" smtClean="0">
                            <a:solidFill>
                              <a:schemeClr val="tx1">
                                <a:lumMod val="95000"/>
                              </a:schemeClr>
                            </a:solidFill>
                            <a:latin typeface="Cambria Math" panose="02040503050406030204" pitchFamily="18" charset="0"/>
                          </a:rPr>
                          <m:t>𝑉</m:t>
                        </m:r>
                      </m:e>
                    </m:d>
                    <m:r>
                      <a:rPr lang="en-US" sz="1800" b="0" i="1" smtClean="0">
                        <a:solidFill>
                          <a:schemeClr val="tx1">
                            <a:lumMod val="95000"/>
                          </a:schemeClr>
                        </a:solidFill>
                        <a:latin typeface="Cambria Math" panose="02040503050406030204" pitchFamily="18" charset="0"/>
                      </a:rPr>
                      <m:t>−</m:t>
                    </m:r>
                    <m:r>
                      <a:rPr lang="en-US" sz="1800" b="0" i="1" smtClean="0">
                        <a:solidFill>
                          <a:schemeClr val="tx1">
                            <a:lumMod val="95000"/>
                          </a:schemeClr>
                        </a:solidFill>
                        <a:latin typeface="Cambria Math" panose="02040503050406030204" pitchFamily="18" charset="0"/>
                      </a:rPr>
                      <m:t>𝑘</m:t>
                    </m:r>
                  </m:oMath>
                </a14:m>
                <a:endParaRPr lang="en-US" sz="1800" dirty="0">
                  <a:solidFill>
                    <a:schemeClr val="tx1">
                      <a:lumMod val="95000"/>
                    </a:schemeClr>
                  </a:solidFill>
                </a:endParaRPr>
              </a:p>
            </p:txBody>
          </p:sp>
        </mc:Choice>
        <mc:Fallback xmlns="">
          <p:sp>
            <p:nvSpPr>
              <p:cNvPr id="32" name="Content Placeholder 2">
                <a:extLst>
                  <a:ext uri="{FF2B5EF4-FFF2-40B4-BE49-F238E27FC236}">
                    <a16:creationId xmlns:a16="http://schemas.microsoft.com/office/drawing/2014/main" id="{034F391B-9FFD-1F4B-96ED-B56807869288}"/>
                  </a:ext>
                </a:extLst>
              </p:cNvPr>
              <p:cNvSpPr txBox="1">
                <a:spLocks noRot="1" noChangeAspect="1" noMove="1" noResize="1" noEditPoints="1" noAdjustHandles="1" noChangeArrowheads="1" noChangeShapeType="1" noTextEdit="1"/>
              </p:cNvSpPr>
              <p:nvPr/>
            </p:nvSpPr>
            <p:spPr>
              <a:xfrm>
                <a:off x="1321814" y="875119"/>
                <a:ext cx="9625246" cy="453124"/>
              </a:xfrm>
              <a:prstGeom prst="rect">
                <a:avLst/>
              </a:prstGeom>
              <a:blipFill>
                <a:blip r:embed="rId3"/>
                <a:stretch>
                  <a:fillRect b="-2632"/>
                </a:stretch>
              </a:blipFill>
              <a:ln>
                <a:solidFill>
                  <a:schemeClr val="tx1">
                    <a:lumMod val="95000"/>
                  </a:schemeClr>
                </a:solidFill>
              </a:ln>
            </p:spPr>
            <p:txBody>
              <a:bodyPr/>
              <a:lstStyle/>
              <a:p>
                <a:r>
                  <a:rPr lang="en-US">
                    <a:noFill/>
                  </a:rPr>
                  <a:t> </a:t>
                </a:r>
              </a:p>
            </p:txBody>
          </p:sp>
        </mc:Fallback>
      </mc:AlternateContent>
      <p:grpSp>
        <p:nvGrpSpPr>
          <p:cNvPr id="4" name="Group 3">
            <a:extLst>
              <a:ext uri="{FF2B5EF4-FFF2-40B4-BE49-F238E27FC236}">
                <a16:creationId xmlns:a16="http://schemas.microsoft.com/office/drawing/2014/main" id="{17326999-BFD5-334B-BAEA-C1E4E421A05D}"/>
              </a:ext>
            </a:extLst>
          </p:cNvPr>
          <p:cNvGrpSpPr/>
          <p:nvPr/>
        </p:nvGrpSpPr>
        <p:grpSpPr>
          <a:xfrm>
            <a:off x="6730661" y="1611533"/>
            <a:ext cx="4200807" cy="2679826"/>
            <a:chOff x="6730661" y="1928402"/>
            <a:chExt cx="4200807" cy="2679826"/>
          </a:xfrm>
        </p:grpSpPr>
        <p:sp>
          <p:nvSpPr>
            <p:cNvPr id="35" name="Rectangle 34">
              <a:extLst>
                <a:ext uri="{FF2B5EF4-FFF2-40B4-BE49-F238E27FC236}">
                  <a16:creationId xmlns:a16="http://schemas.microsoft.com/office/drawing/2014/main" id="{53E42735-58C1-9544-B146-9E2893975413}"/>
                </a:ext>
              </a:extLst>
            </p:cNvPr>
            <p:cNvSpPr/>
            <p:nvPr/>
          </p:nvSpPr>
          <p:spPr>
            <a:xfrm>
              <a:off x="6730661" y="1928402"/>
              <a:ext cx="4200807" cy="2679826"/>
            </a:xfrm>
            <a:prstGeom prst="rect">
              <a:avLst/>
            </a:pr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Oval 36">
              <a:extLst>
                <a:ext uri="{FF2B5EF4-FFF2-40B4-BE49-F238E27FC236}">
                  <a16:creationId xmlns:a16="http://schemas.microsoft.com/office/drawing/2014/main" id="{B6342735-5573-0F45-B281-C6809641AF5E}"/>
                </a:ext>
              </a:extLst>
            </p:cNvPr>
            <p:cNvSpPr/>
            <p:nvPr/>
          </p:nvSpPr>
          <p:spPr>
            <a:xfrm>
              <a:off x="7872176" y="2093500"/>
              <a:ext cx="488887" cy="488887"/>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1</a:t>
              </a:r>
            </a:p>
          </p:txBody>
        </p:sp>
        <p:sp>
          <p:nvSpPr>
            <p:cNvPr id="38" name="Oval 37">
              <a:extLst>
                <a:ext uri="{FF2B5EF4-FFF2-40B4-BE49-F238E27FC236}">
                  <a16:creationId xmlns:a16="http://schemas.microsoft.com/office/drawing/2014/main" id="{A11E7672-2211-214F-A0D0-62289A6EBD9B}"/>
                </a:ext>
              </a:extLst>
            </p:cNvPr>
            <p:cNvSpPr/>
            <p:nvPr/>
          </p:nvSpPr>
          <p:spPr>
            <a:xfrm>
              <a:off x="9354234" y="2093500"/>
              <a:ext cx="488887" cy="488887"/>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2</a:t>
              </a:r>
            </a:p>
          </p:txBody>
        </p:sp>
        <p:sp>
          <p:nvSpPr>
            <p:cNvPr id="39" name="Oval 38">
              <a:extLst>
                <a:ext uri="{FF2B5EF4-FFF2-40B4-BE49-F238E27FC236}">
                  <a16:creationId xmlns:a16="http://schemas.microsoft.com/office/drawing/2014/main" id="{E2E21B37-C9C2-7640-B0FB-709FF81E35E1}"/>
                </a:ext>
              </a:extLst>
            </p:cNvPr>
            <p:cNvSpPr/>
            <p:nvPr/>
          </p:nvSpPr>
          <p:spPr>
            <a:xfrm>
              <a:off x="6995420" y="3084815"/>
              <a:ext cx="488887" cy="488887"/>
            </a:xfrm>
            <a:prstGeom prst="ellipse">
              <a:avLst/>
            </a:prstGeom>
            <a:solidFill>
              <a:schemeClr val="accent3"/>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3</a:t>
              </a:r>
            </a:p>
          </p:txBody>
        </p:sp>
        <p:sp>
          <p:nvSpPr>
            <p:cNvPr id="41" name="Oval 40">
              <a:extLst>
                <a:ext uri="{FF2B5EF4-FFF2-40B4-BE49-F238E27FC236}">
                  <a16:creationId xmlns:a16="http://schemas.microsoft.com/office/drawing/2014/main" id="{814010A0-F18B-6A4C-B0AD-6AE90988D79A}"/>
                </a:ext>
              </a:extLst>
            </p:cNvPr>
            <p:cNvSpPr/>
            <p:nvPr/>
          </p:nvSpPr>
          <p:spPr>
            <a:xfrm>
              <a:off x="10247147" y="3084815"/>
              <a:ext cx="488887" cy="488887"/>
            </a:xfrm>
            <a:prstGeom prst="ellipse">
              <a:avLst/>
            </a:prstGeom>
            <a:solidFill>
              <a:schemeClr val="accent3"/>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4</a:t>
              </a:r>
            </a:p>
          </p:txBody>
        </p:sp>
        <p:sp>
          <p:nvSpPr>
            <p:cNvPr id="42" name="Oval 41">
              <a:extLst>
                <a:ext uri="{FF2B5EF4-FFF2-40B4-BE49-F238E27FC236}">
                  <a16:creationId xmlns:a16="http://schemas.microsoft.com/office/drawing/2014/main" id="{6DD9791A-8B0F-7E4C-94D5-E62BB9A01002}"/>
                </a:ext>
              </a:extLst>
            </p:cNvPr>
            <p:cNvSpPr/>
            <p:nvPr/>
          </p:nvSpPr>
          <p:spPr>
            <a:xfrm>
              <a:off x="7872175" y="3907171"/>
              <a:ext cx="488887" cy="488887"/>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5</a:t>
              </a:r>
            </a:p>
          </p:txBody>
        </p:sp>
        <p:sp>
          <p:nvSpPr>
            <p:cNvPr id="44" name="Oval 43">
              <a:extLst>
                <a:ext uri="{FF2B5EF4-FFF2-40B4-BE49-F238E27FC236}">
                  <a16:creationId xmlns:a16="http://schemas.microsoft.com/office/drawing/2014/main" id="{10D40AB0-3169-D94D-B24B-E68826BF2001}"/>
                </a:ext>
              </a:extLst>
            </p:cNvPr>
            <p:cNvSpPr/>
            <p:nvPr/>
          </p:nvSpPr>
          <p:spPr>
            <a:xfrm>
              <a:off x="9354233" y="3907171"/>
              <a:ext cx="488887" cy="488887"/>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6</a:t>
              </a:r>
            </a:p>
          </p:txBody>
        </p:sp>
        <p:cxnSp>
          <p:nvCxnSpPr>
            <p:cNvPr id="51" name="Straight Connector 50">
              <a:extLst>
                <a:ext uri="{FF2B5EF4-FFF2-40B4-BE49-F238E27FC236}">
                  <a16:creationId xmlns:a16="http://schemas.microsoft.com/office/drawing/2014/main" id="{9C626810-6ECD-7540-B233-F540D16CDEAC}"/>
                </a:ext>
              </a:extLst>
            </p:cNvPr>
            <p:cNvCxnSpPr>
              <a:cxnSpLocks/>
              <a:stCxn id="39" idx="7"/>
              <a:endCxn id="38" idx="3"/>
            </p:cNvCxnSpPr>
            <p:nvPr/>
          </p:nvCxnSpPr>
          <p:spPr>
            <a:xfrm flipV="1">
              <a:off x="7412711" y="2510791"/>
              <a:ext cx="2013119" cy="645620"/>
            </a:xfrm>
            <a:prstGeom prst="line">
              <a:avLst/>
            </a:prstGeom>
          </p:spPr>
          <p:style>
            <a:lnRef idx="1">
              <a:schemeClr val="accent1"/>
            </a:lnRef>
            <a:fillRef idx="0">
              <a:schemeClr val="accent1"/>
            </a:fillRef>
            <a:effectRef idx="0">
              <a:schemeClr val="accent1"/>
            </a:effectRef>
            <a:fontRef idx="minor">
              <a:schemeClr val="tx1"/>
            </a:fontRef>
          </p:style>
        </p:cxnSp>
        <p:cxnSp>
          <p:nvCxnSpPr>
            <p:cNvPr id="63" name="Straight Connector 62">
              <a:extLst>
                <a:ext uri="{FF2B5EF4-FFF2-40B4-BE49-F238E27FC236}">
                  <a16:creationId xmlns:a16="http://schemas.microsoft.com/office/drawing/2014/main" id="{114647CC-9975-054F-9B94-7FFF2611EABB}"/>
                </a:ext>
              </a:extLst>
            </p:cNvPr>
            <p:cNvCxnSpPr>
              <a:cxnSpLocks/>
              <a:stCxn id="42" idx="1"/>
              <a:endCxn id="39" idx="5"/>
            </p:cNvCxnSpPr>
            <p:nvPr/>
          </p:nvCxnSpPr>
          <p:spPr>
            <a:xfrm flipH="1" flipV="1">
              <a:off x="7412711" y="3502106"/>
              <a:ext cx="531060" cy="476661"/>
            </a:xfrm>
            <a:prstGeom prst="line">
              <a:avLst/>
            </a:prstGeom>
          </p:spPr>
          <p:style>
            <a:lnRef idx="1">
              <a:schemeClr val="accent1"/>
            </a:lnRef>
            <a:fillRef idx="0">
              <a:schemeClr val="accent1"/>
            </a:fillRef>
            <a:effectRef idx="0">
              <a:schemeClr val="accent1"/>
            </a:effectRef>
            <a:fontRef idx="minor">
              <a:schemeClr val="tx1"/>
            </a:fontRef>
          </p:style>
        </p:cxnSp>
        <p:sp>
          <p:nvSpPr>
            <p:cNvPr id="65" name="TextBox 64">
              <a:extLst>
                <a:ext uri="{FF2B5EF4-FFF2-40B4-BE49-F238E27FC236}">
                  <a16:creationId xmlns:a16="http://schemas.microsoft.com/office/drawing/2014/main" id="{C0F2170B-3E18-1346-B1A8-A33BF2F4D5D2}"/>
                </a:ext>
              </a:extLst>
            </p:cNvPr>
            <p:cNvSpPr txBox="1"/>
            <p:nvPr/>
          </p:nvSpPr>
          <p:spPr>
            <a:xfrm>
              <a:off x="10509108" y="1970174"/>
              <a:ext cx="362600" cy="369332"/>
            </a:xfrm>
            <a:prstGeom prst="rect">
              <a:avLst/>
            </a:prstGeom>
            <a:noFill/>
          </p:spPr>
          <p:txBody>
            <a:bodyPr wrap="none" rtlCol="0">
              <a:spAutoFit/>
            </a:bodyPr>
            <a:lstStyle/>
            <a:p>
              <a:r>
                <a:rPr lang="en-US" dirty="0">
                  <a:solidFill>
                    <a:schemeClr val="accent1"/>
                  </a:solidFill>
                </a:rPr>
                <a:t>G</a:t>
              </a:r>
            </a:p>
          </p:txBody>
        </p:sp>
        <p:sp>
          <p:nvSpPr>
            <p:cNvPr id="66" name="TextBox 65">
              <a:extLst>
                <a:ext uri="{FF2B5EF4-FFF2-40B4-BE49-F238E27FC236}">
                  <a16:creationId xmlns:a16="http://schemas.microsoft.com/office/drawing/2014/main" id="{5047B17C-7945-694B-9D61-811066590EE5}"/>
                </a:ext>
              </a:extLst>
            </p:cNvPr>
            <p:cNvSpPr txBox="1"/>
            <p:nvPr/>
          </p:nvSpPr>
          <p:spPr>
            <a:xfrm>
              <a:off x="10360423" y="2249617"/>
              <a:ext cx="566181" cy="369332"/>
            </a:xfrm>
            <a:prstGeom prst="rect">
              <a:avLst/>
            </a:prstGeom>
            <a:noFill/>
          </p:spPr>
          <p:txBody>
            <a:bodyPr wrap="none" rtlCol="0">
              <a:spAutoFit/>
            </a:bodyPr>
            <a:lstStyle/>
            <a:p>
              <a:r>
                <a:rPr lang="en-US" dirty="0">
                  <a:solidFill>
                    <a:schemeClr val="accent1"/>
                  </a:solidFill>
                </a:rPr>
                <a:t>k=2</a:t>
              </a:r>
            </a:p>
          </p:txBody>
        </p:sp>
        <p:cxnSp>
          <p:nvCxnSpPr>
            <p:cNvPr id="67" name="Straight Connector 66">
              <a:extLst>
                <a:ext uri="{FF2B5EF4-FFF2-40B4-BE49-F238E27FC236}">
                  <a16:creationId xmlns:a16="http://schemas.microsoft.com/office/drawing/2014/main" id="{8417E185-503F-9848-A8A3-CA5EBC68F787}"/>
                </a:ext>
              </a:extLst>
            </p:cNvPr>
            <p:cNvCxnSpPr>
              <a:cxnSpLocks/>
              <a:stCxn id="37" idx="5"/>
              <a:endCxn id="41" idx="2"/>
            </p:cNvCxnSpPr>
            <p:nvPr/>
          </p:nvCxnSpPr>
          <p:spPr>
            <a:xfrm>
              <a:off x="8289467" y="2510791"/>
              <a:ext cx="1957680" cy="818468"/>
            </a:xfrm>
            <a:prstGeom prst="line">
              <a:avLst/>
            </a:prstGeom>
          </p:spPr>
          <p:style>
            <a:lnRef idx="1">
              <a:schemeClr val="accent1"/>
            </a:lnRef>
            <a:fillRef idx="0">
              <a:schemeClr val="accent1"/>
            </a:fillRef>
            <a:effectRef idx="0">
              <a:schemeClr val="accent1"/>
            </a:effectRef>
            <a:fontRef idx="minor">
              <a:schemeClr val="tx1"/>
            </a:fontRef>
          </p:style>
        </p:cxnSp>
        <p:cxnSp>
          <p:nvCxnSpPr>
            <p:cNvPr id="68" name="Straight Connector 67">
              <a:extLst>
                <a:ext uri="{FF2B5EF4-FFF2-40B4-BE49-F238E27FC236}">
                  <a16:creationId xmlns:a16="http://schemas.microsoft.com/office/drawing/2014/main" id="{501AC7DA-7191-B74F-AE06-2DA26738DF56}"/>
                </a:ext>
              </a:extLst>
            </p:cNvPr>
            <p:cNvCxnSpPr>
              <a:cxnSpLocks/>
              <a:stCxn id="41" idx="1"/>
              <a:endCxn id="38" idx="5"/>
            </p:cNvCxnSpPr>
            <p:nvPr/>
          </p:nvCxnSpPr>
          <p:spPr>
            <a:xfrm flipH="1" flipV="1">
              <a:off x="9771525" y="2510791"/>
              <a:ext cx="547218" cy="645620"/>
            </a:xfrm>
            <a:prstGeom prst="line">
              <a:avLst/>
            </a:prstGeom>
          </p:spPr>
          <p:style>
            <a:lnRef idx="1">
              <a:schemeClr val="accent1"/>
            </a:lnRef>
            <a:fillRef idx="0">
              <a:schemeClr val="accent1"/>
            </a:fillRef>
            <a:effectRef idx="0">
              <a:schemeClr val="accent1"/>
            </a:effectRef>
            <a:fontRef idx="minor">
              <a:schemeClr val="tx1"/>
            </a:fontRef>
          </p:style>
        </p:cxnSp>
        <p:cxnSp>
          <p:nvCxnSpPr>
            <p:cNvPr id="69" name="Straight Connector 68">
              <a:extLst>
                <a:ext uri="{FF2B5EF4-FFF2-40B4-BE49-F238E27FC236}">
                  <a16:creationId xmlns:a16="http://schemas.microsoft.com/office/drawing/2014/main" id="{04711E76-7D6F-D643-B25D-53CBEE936FD4}"/>
                </a:ext>
              </a:extLst>
            </p:cNvPr>
            <p:cNvCxnSpPr>
              <a:cxnSpLocks/>
              <a:stCxn id="44" idx="7"/>
              <a:endCxn id="41" idx="3"/>
            </p:cNvCxnSpPr>
            <p:nvPr/>
          </p:nvCxnSpPr>
          <p:spPr>
            <a:xfrm flipV="1">
              <a:off x="9771524" y="3502106"/>
              <a:ext cx="547219" cy="476661"/>
            </a:xfrm>
            <a:prstGeom prst="line">
              <a:avLst/>
            </a:prstGeom>
          </p:spPr>
          <p:style>
            <a:lnRef idx="1">
              <a:schemeClr val="accent1"/>
            </a:lnRef>
            <a:fillRef idx="0">
              <a:schemeClr val="accent1"/>
            </a:fillRef>
            <a:effectRef idx="0">
              <a:schemeClr val="accent1"/>
            </a:effectRef>
            <a:fontRef idx="minor">
              <a:schemeClr val="tx1"/>
            </a:fontRef>
          </p:style>
        </p:cxnSp>
      </p:grpSp>
      <p:sp>
        <p:nvSpPr>
          <p:cNvPr id="45" name="Content Placeholder 2">
            <a:extLst>
              <a:ext uri="{FF2B5EF4-FFF2-40B4-BE49-F238E27FC236}">
                <a16:creationId xmlns:a16="http://schemas.microsoft.com/office/drawing/2014/main" id="{86E5743B-AB82-E14C-9110-9C8DA9F29266}"/>
              </a:ext>
            </a:extLst>
          </p:cNvPr>
          <p:cNvSpPr txBox="1">
            <a:spLocks/>
          </p:cNvSpPr>
          <p:nvPr/>
        </p:nvSpPr>
        <p:spPr>
          <a:xfrm>
            <a:off x="1321813" y="4593728"/>
            <a:ext cx="3532837" cy="405655"/>
          </a:xfrm>
          <a:prstGeom prst="rect">
            <a:avLst/>
          </a:prstGeom>
          <a:noFill/>
          <a:ln>
            <a:no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800" i="1" dirty="0">
                <a:solidFill>
                  <a:schemeClr val="tx1">
                    <a:lumMod val="95000"/>
                  </a:schemeClr>
                </a:solidFill>
              </a:rPr>
              <a:t>Proof Direction 1:</a:t>
            </a:r>
          </a:p>
        </p:txBody>
      </p:sp>
      <mc:AlternateContent xmlns:mc="http://schemas.openxmlformats.org/markup-compatibility/2006" xmlns:a14="http://schemas.microsoft.com/office/drawing/2010/main">
        <mc:Choice Requires="a14">
          <p:sp>
            <p:nvSpPr>
              <p:cNvPr id="48" name="Content Placeholder 2">
                <a:extLst>
                  <a:ext uri="{FF2B5EF4-FFF2-40B4-BE49-F238E27FC236}">
                    <a16:creationId xmlns:a16="http://schemas.microsoft.com/office/drawing/2014/main" id="{EDA2725D-7FD8-454D-8540-83432F0BBE50}"/>
                  </a:ext>
                </a:extLst>
              </p:cNvPr>
              <p:cNvSpPr txBox="1">
                <a:spLocks/>
              </p:cNvSpPr>
              <p:nvPr/>
            </p:nvSpPr>
            <p:spPr>
              <a:xfrm>
                <a:off x="3150606" y="4613394"/>
                <a:ext cx="7796454" cy="2049959"/>
              </a:xfrm>
              <a:prstGeom prst="rect">
                <a:avLst/>
              </a:prstGeom>
              <a:solidFill>
                <a:schemeClr val="tx1">
                  <a:lumMod val="95000"/>
                </a:schemeClr>
              </a:solidFill>
              <a:ln>
                <a:solidFill>
                  <a:schemeClr val="bg1"/>
                </a:solidFill>
              </a:ln>
            </p:spPr>
            <p:txBody>
              <a:bodyPr vert="horz" lIns="91440" tIns="45720" rIns="91440" bIns="45720" rtlCol="0">
                <a:normAutofit fontScale="925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800" i="1" dirty="0">
                    <a:solidFill>
                      <a:schemeClr val="bg1"/>
                    </a:solidFill>
                  </a:rPr>
                  <a:t>Suppose G has a clique </a:t>
                </a:r>
                <a14:m>
                  <m:oMath xmlns:m="http://schemas.openxmlformats.org/officeDocument/2006/math">
                    <m:sSup>
                      <m:sSupPr>
                        <m:ctrlPr>
                          <a:rPr lang="en-US" sz="1800" b="0" i="1" smtClean="0">
                            <a:solidFill>
                              <a:schemeClr val="bg1"/>
                            </a:solidFill>
                            <a:latin typeface="Cambria Math" panose="02040503050406030204" pitchFamily="18" charset="0"/>
                          </a:rPr>
                        </m:ctrlPr>
                      </m:sSupPr>
                      <m:e>
                        <m:r>
                          <a:rPr lang="en-US" sz="1800" b="0" i="1" smtClean="0">
                            <a:solidFill>
                              <a:schemeClr val="bg1"/>
                            </a:solidFill>
                            <a:latin typeface="Cambria Math" panose="02040503050406030204" pitchFamily="18" charset="0"/>
                          </a:rPr>
                          <m:t>𝑉</m:t>
                        </m:r>
                      </m:e>
                      <m:sup>
                        <m:r>
                          <a:rPr lang="en-US" sz="1800" b="0" i="1" smtClean="0">
                            <a:solidFill>
                              <a:schemeClr val="bg1"/>
                            </a:solidFill>
                            <a:latin typeface="Cambria Math" panose="02040503050406030204" pitchFamily="18" charset="0"/>
                          </a:rPr>
                          <m:t>′</m:t>
                        </m:r>
                      </m:sup>
                    </m:sSup>
                    <m:r>
                      <a:rPr lang="en-US" sz="1800" b="0" i="1" smtClean="0">
                        <a:solidFill>
                          <a:schemeClr val="bg1"/>
                        </a:solidFill>
                        <a:latin typeface="Cambria Math" panose="02040503050406030204" pitchFamily="18" charset="0"/>
                      </a:rPr>
                      <m:t>⊆</m:t>
                    </m:r>
                    <m:r>
                      <a:rPr lang="en-US" sz="1800" b="0" i="1" smtClean="0">
                        <a:solidFill>
                          <a:schemeClr val="bg1"/>
                        </a:solidFill>
                        <a:latin typeface="Cambria Math" panose="02040503050406030204" pitchFamily="18" charset="0"/>
                      </a:rPr>
                      <m:t>𝑉</m:t>
                    </m:r>
                  </m:oMath>
                </a14:m>
                <a:r>
                  <a:rPr lang="en-US" sz="1800" i="1" dirty="0">
                    <a:solidFill>
                      <a:schemeClr val="bg1"/>
                    </a:solidFill>
                  </a:rPr>
                  <a:t> of size k</a:t>
                </a:r>
                <a:br>
                  <a:rPr lang="en-US" sz="1800" i="1" dirty="0">
                    <a:solidFill>
                      <a:schemeClr val="bg1"/>
                    </a:solidFill>
                  </a:rPr>
                </a:br>
                <a:r>
                  <a:rPr lang="en-US" sz="1800" i="1" dirty="0">
                    <a:solidFill>
                      <a:schemeClr val="bg1"/>
                    </a:solidFill>
                  </a:rPr>
                  <a:t>Consider nodes </a:t>
                </a:r>
                <a14:m>
                  <m:oMath xmlns:m="http://schemas.openxmlformats.org/officeDocument/2006/math">
                    <m:r>
                      <a:rPr lang="en-US" sz="1800" b="0" i="1" smtClean="0">
                        <a:solidFill>
                          <a:schemeClr val="bg1"/>
                        </a:solidFill>
                        <a:latin typeface="Cambria Math" panose="02040503050406030204" pitchFamily="18" charset="0"/>
                      </a:rPr>
                      <m:t>𝑉</m:t>
                    </m:r>
                    <m:r>
                      <a:rPr lang="en-US" sz="1800" b="0" i="1" smtClean="0">
                        <a:solidFill>
                          <a:schemeClr val="bg1"/>
                        </a:solidFill>
                        <a:latin typeface="Cambria Math" panose="02040503050406030204" pitchFamily="18" charset="0"/>
                      </a:rPr>
                      <m:t>−</m:t>
                    </m:r>
                    <m:r>
                      <a:rPr lang="en-US" sz="1800" b="0" i="1" smtClean="0">
                        <a:solidFill>
                          <a:schemeClr val="bg1"/>
                        </a:solidFill>
                        <a:latin typeface="Cambria Math" panose="02040503050406030204" pitchFamily="18" charset="0"/>
                      </a:rPr>
                      <m:t>𝑉</m:t>
                    </m:r>
                    <m:r>
                      <a:rPr lang="en-US" sz="1800" b="0" i="1" smtClean="0">
                        <a:solidFill>
                          <a:schemeClr val="bg1"/>
                        </a:solidFill>
                        <a:latin typeface="Cambria Math" panose="02040503050406030204" pitchFamily="18" charset="0"/>
                      </a:rPr>
                      <m:t>′</m:t>
                    </m:r>
                  </m:oMath>
                </a14:m>
                <a:r>
                  <a:rPr lang="en-US" sz="1800" i="1" dirty="0">
                    <a:solidFill>
                      <a:schemeClr val="bg1"/>
                    </a:solidFill>
                  </a:rPr>
                  <a:t> in G’</a:t>
                </a:r>
                <a:br>
                  <a:rPr lang="en-US" sz="1800" i="1" dirty="0">
                    <a:solidFill>
                      <a:schemeClr val="bg1"/>
                    </a:solidFill>
                  </a:rPr>
                </a:br>
                <a:r>
                  <a:rPr lang="en-US" sz="1800" i="1" dirty="0">
                    <a:solidFill>
                      <a:schemeClr val="bg1"/>
                    </a:solidFill>
                  </a:rPr>
                  <a:t>In G, every edge between nodes in V’ existed (clique), so none of these edges appear in G’</a:t>
                </a:r>
                <a:br>
                  <a:rPr lang="en-US" sz="1800" i="1" dirty="0">
                    <a:solidFill>
                      <a:schemeClr val="bg1"/>
                    </a:solidFill>
                  </a:rPr>
                </a:br>
                <a:r>
                  <a:rPr lang="en-US" sz="1800" i="1" dirty="0">
                    <a:solidFill>
                      <a:schemeClr val="bg1"/>
                    </a:solidFill>
                  </a:rPr>
                  <a:t>Thus every edge in G’ touches a node that was not in the clique, which is the exact set </a:t>
                </a:r>
                <a14:m>
                  <m:oMath xmlns:m="http://schemas.openxmlformats.org/officeDocument/2006/math">
                    <m:r>
                      <a:rPr lang="en-US" sz="1800" b="0" i="1" smtClean="0">
                        <a:solidFill>
                          <a:schemeClr val="bg1"/>
                        </a:solidFill>
                        <a:latin typeface="Cambria Math" panose="02040503050406030204" pitchFamily="18" charset="0"/>
                      </a:rPr>
                      <m:t>𝑉</m:t>
                    </m:r>
                    <m:r>
                      <a:rPr lang="en-US" sz="1800" b="0" i="1" smtClean="0">
                        <a:solidFill>
                          <a:schemeClr val="bg1"/>
                        </a:solidFill>
                        <a:latin typeface="Cambria Math" panose="02040503050406030204" pitchFamily="18" charset="0"/>
                      </a:rPr>
                      <m:t>−</m:t>
                    </m:r>
                    <m:sSup>
                      <m:sSupPr>
                        <m:ctrlPr>
                          <a:rPr lang="en-US" sz="1800" b="0" i="1" smtClean="0">
                            <a:solidFill>
                              <a:schemeClr val="bg1"/>
                            </a:solidFill>
                            <a:latin typeface="Cambria Math" panose="02040503050406030204" pitchFamily="18" charset="0"/>
                          </a:rPr>
                        </m:ctrlPr>
                      </m:sSupPr>
                      <m:e>
                        <m:r>
                          <a:rPr lang="en-US" sz="1800" b="0" i="1" smtClean="0">
                            <a:solidFill>
                              <a:schemeClr val="bg1"/>
                            </a:solidFill>
                            <a:latin typeface="Cambria Math" panose="02040503050406030204" pitchFamily="18" charset="0"/>
                          </a:rPr>
                          <m:t>𝑉</m:t>
                        </m:r>
                      </m:e>
                      <m:sup>
                        <m:r>
                          <a:rPr lang="en-US" sz="1800" b="0" i="1" smtClean="0">
                            <a:solidFill>
                              <a:schemeClr val="bg1"/>
                            </a:solidFill>
                            <a:latin typeface="Cambria Math" panose="02040503050406030204" pitchFamily="18" charset="0"/>
                          </a:rPr>
                          <m:t>′</m:t>
                        </m:r>
                      </m:sup>
                    </m:sSup>
                  </m:oMath>
                </a14:m>
                <a:br>
                  <a:rPr lang="en-US" sz="1800" i="1" dirty="0">
                    <a:solidFill>
                      <a:schemeClr val="bg1"/>
                    </a:solidFill>
                  </a:rPr>
                </a:br>
                <a:r>
                  <a:rPr lang="en-US" sz="1800" i="1" dirty="0">
                    <a:solidFill>
                      <a:schemeClr val="bg1"/>
                    </a:solidFill>
                  </a:rPr>
                  <a:t>Q.E.D.</a:t>
                </a:r>
              </a:p>
            </p:txBody>
          </p:sp>
        </mc:Choice>
        <mc:Fallback xmlns="">
          <p:sp>
            <p:nvSpPr>
              <p:cNvPr id="48" name="Content Placeholder 2">
                <a:extLst>
                  <a:ext uri="{FF2B5EF4-FFF2-40B4-BE49-F238E27FC236}">
                    <a16:creationId xmlns:a16="http://schemas.microsoft.com/office/drawing/2014/main" id="{EDA2725D-7FD8-454D-8540-83432F0BBE50}"/>
                  </a:ext>
                </a:extLst>
              </p:cNvPr>
              <p:cNvSpPr txBox="1">
                <a:spLocks noRot="1" noChangeAspect="1" noMove="1" noResize="1" noEditPoints="1" noAdjustHandles="1" noChangeArrowheads="1" noChangeShapeType="1" noTextEdit="1"/>
              </p:cNvSpPr>
              <p:nvPr/>
            </p:nvSpPr>
            <p:spPr>
              <a:xfrm>
                <a:off x="3150606" y="4613394"/>
                <a:ext cx="7796454" cy="2049959"/>
              </a:xfrm>
              <a:prstGeom prst="rect">
                <a:avLst/>
              </a:prstGeom>
              <a:blipFill>
                <a:blip r:embed="rId4"/>
                <a:stretch>
                  <a:fillRect l="-487" r="-162"/>
                </a:stretch>
              </a:blipFill>
              <a:ln>
                <a:solidFill>
                  <a:schemeClr val="bg1"/>
                </a:solidFill>
              </a:ln>
            </p:spPr>
            <p:txBody>
              <a:bodyPr/>
              <a:lstStyle/>
              <a:p>
                <a:r>
                  <a:rPr lang="en-US">
                    <a:noFill/>
                  </a:rPr>
                  <a:t> </a:t>
                </a:r>
              </a:p>
            </p:txBody>
          </p:sp>
        </mc:Fallback>
      </mc:AlternateContent>
    </p:spTree>
    <p:extLst>
      <p:ext uri="{BB962C8B-B14F-4D97-AF65-F5344CB8AC3E}">
        <p14:creationId xmlns:p14="http://schemas.microsoft.com/office/powerpoint/2010/main" val="660552286"/>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p:cNvSpPr>
                <a:spLocks noGrp="1"/>
              </p:cNvSpPr>
              <p:nvPr>
                <p:ph type="title"/>
              </p:nvPr>
            </p:nvSpPr>
            <p:spPr>
              <a:xfrm>
                <a:off x="1141413" y="326848"/>
                <a:ext cx="9905998" cy="603310"/>
              </a:xfrm>
            </p:spPr>
            <p:txBody>
              <a:bodyPr/>
              <a:lstStyle/>
              <a:p>
                <a:pPr algn="ctr"/>
                <a:r>
                  <a:rPr lang="en-US" b="0" dirty="0"/>
                  <a:t>Showing that </a:t>
                </a:r>
                <a14:m>
                  <m:oMath xmlns:m="http://schemas.openxmlformats.org/officeDocument/2006/math">
                    <m:r>
                      <a:rPr lang="en-US" i="1" dirty="0" smtClean="0">
                        <a:latin typeface="Cambria Math" panose="02040503050406030204" pitchFamily="18" charset="0"/>
                      </a:rPr>
                      <m:t>𝑉</m:t>
                    </m:r>
                    <m:r>
                      <a:rPr lang="en-US" b="0" i="1" dirty="0" smtClean="0">
                        <a:latin typeface="Cambria Math" panose="02040503050406030204" pitchFamily="18" charset="0"/>
                      </a:rPr>
                      <m:t>𝐶</m:t>
                    </m:r>
                    <m:r>
                      <a:rPr lang="en-US" b="0" i="1" dirty="0" smtClean="0">
                        <a:latin typeface="Cambria Math" panose="02040503050406030204" pitchFamily="18" charset="0"/>
                      </a:rPr>
                      <m:t>∈</m:t>
                    </m:r>
                    <m:r>
                      <a:rPr lang="en-US" b="0" i="1" dirty="0" smtClean="0">
                        <a:latin typeface="Cambria Math" panose="02040503050406030204" pitchFamily="18" charset="0"/>
                      </a:rPr>
                      <m:t>𝑁𝑃𝐶</m:t>
                    </m:r>
                  </m:oMath>
                </a14:m>
                <a:endParaRPr lang="en-US" dirty="0"/>
              </a:p>
            </p:txBody>
          </p:sp>
        </mc:Choice>
        <mc:Fallback xmlns="">
          <p:sp>
            <p:nvSpPr>
              <p:cNvPr id="2" name="Title 1"/>
              <p:cNvSpPr>
                <a:spLocks noGrp="1" noRot="1" noChangeAspect="1" noMove="1" noResize="1" noEditPoints="1" noAdjustHandles="1" noChangeArrowheads="1" noChangeShapeType="1" noTextEdit="1"/>
              </p:cNvSpPr>
              <p:nvPr>
                <p:ph type="title"/>
              </p:nvPr>
            </p:nvSpPr>
            <p:spPr>
              <a:xfrm>
                <a:off x="1141413" y="326848"/>
                <a:ext cx="9905998" cy="603310"/>
              </a:xfrm>
              <a:blipFill>
                <a:blip r:embed="rId2"/>
                <a:stretch>
                  <a:fillRect t="-22917" b="-35417"/>
                </a:stretch>
              </a:blipFill>
            </p:spPr>
            <p:txBody>
              <a:bodyPr/>
              <a:lstStyle/>
              <a:p>
                <a:r>
                  <a:rPr lang="en-US">
                    <a:noFill/>
                  </a:rPr>
                  <a:t> </a:t>
                </a:r>
              </a:p>
            </p:txBody>
          </p:sp>
        </mc:Fallback>
      </mc:AlternateContent>
      <p:grpSp>
        <p:nvGrpSpPr>
          <p:cNvPr id="3" name="Group 2">
            <a:extLst>
              <a:ext uri="{FF2B5EF4-FFF2-40B4-BE49-F238E27FC236}">
                <a16:creationId xmlns:a16="http://schemas.microsoft.com/office/drawing/2014/main" id="{BBA7C1DC-1C1F-C04D-B2D7-995BEB6406CF}"/>
              </a:ext>
            </a:extLst>
          </p:cNvPr>
          <p:cNvGrpSpPr/>
          <p:nvPr/>
        </p:nvGrpSpPr>
        <p:grpSpPr>
          <a:xfrm>
            <a:off x="1321813" y="1611533"/>
            <a:ext cx="4200807" cy="2679826"/>
            <a:chOff x="1321813" y="1928402"/>
            <a:chExt cx="4200807" cy="2679826"/>
          </a:xfrm>
        </p:grpSpPr>
        <p:sp>
          <p:nvSpPr>
            <p:cNvPr id="58" name="Rectangle 57">
              <a:extLst>
                <a:ext uri="{FF2B5EF4-FFF2-40B4-BE49-F238E27FC236}">
                  <a16:creationId xmlns:a16="http://schemas.microsoft.com/office/drawing/2014/main" id="{52B1A68B-677E-4C4F-A58B-285960ED2E3E}"/>
                </a:ext>
              </a:extLst>
            </p:cNvPr>
            <p:cNvSpPr/>
            <p:nvPr/>
          </p:nvSpPr>
          <p:spPr>
            <a:xfrm>
              <a:off x="1321813" y="1928402"/>
              <a:ext cx="4200807" cy="2679826"/>
            </a:xfrm>
            <a:prstGeom prst="rect">
              <a:avLst/>
            </a:pr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310A4B83-4CB6-3E46-9F8A-0306DBC686D3}"/>
                </a:ext>
              </a:extLst>
            </p:cNvPr>
            <p:cNvSpPr/>
            <p:nvPr/>
          </p:nvSpPr>
          <p:spPr>
            <a:xfrm>
              <a:off x="2463328" y="2093500"/>
              <a:ext cx="488887" cy="488887"/>
            </a:xfrm>
            <a:prstGeom prst="ellipse">
              <a:avLst/>
            </a:prstGeom>
            <a:solidFill>
              <a:schemeClr val="accent3"/>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1</a:t>
              </a:r>
            </a:p>
          </p:txBody>
        </p:sp>
        <p:sp>
          <p:nvSpPr>
            <p:cNvPr id="23" name="Oval 22">
              <a:extLst>
                <a:ext uri="{FF2B5EF4-FFF2-40B4-BE49-F238E27FC236}">
                  <a16:creationId xmlns:a16="http://schemas.microsoft.com/office/drawing/2014/main" id="{3FBBD169-F2CB-9C4B-8FF6-A770D421CE08}"/>
                </a:ext>
              </a:extLst>
            </p:cNvPr>
            <p:cNvSpPr/>
            <p:nvPr/>
          </p:nvSpPr>
          <p:spPr>
            <a:xfrm>
              <a:off x="3945386" y="2093500"/>
              <a:ext cx="488887" cy="488887"/>
            </a:xfrm>
            <a:prstGeom prst="ellipse">
              <a:avLst/>
            </a:prstGeom>
            <a:solidFill>
              <a:schemeClr val="accent3"/>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2</a:t>
              </a:r>
            </a:p>
          </p:txBody>
        </p:sp>
        <p:sp>
          <p:nvSpPr>
            <p:cNvPr id="24" name="Oval 23">
              <a:extLst>
                <a:ext uri="{FF2B5EF4-FFF2-40B4-BE49-F238E27FC236}">
                  <a16:creationId xmlns:a16="http://schemas.microsoft.com/office/drawing/2014/main" id="{C995F22B-2B74-7E4F-8635-20BEDD5E1BF6}"/>
                </a:ext>
              </a:extLst>
            </p:cNvPr>
            <p:cNvSpPr/>
            <p:nvPr/>
          </p:nvSpPr>
          <p:spPr>
            <a:xfrm>
              <a:off x="1586572" y="3084815"/>
              <a:ext cx="488887" cy="488887"/>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3</a:t>
              </a:r>
            </a:p>
          </p:txBody>
        </p:sp>
        <p:sp>
          <p:nvSpPr>
            <p:cNvPr id="25" name="Oval 24">
              <a:extLst>
                <a:ext uri="{FF2B5EF4-FFF2-40B4-BE49-F238E27FC236}">
                  <a16:creationId xmlns:a16="http://schemas.microsoft.com/office/drawing/2014/main" id="{B76A0903-9EB0-D44D-B6A0-08D651F65DC4}"/>
                </a:ext>
              </a:extLst>
            </p:cNvPr>
            <p:cNvSpPr/>
            <p:nvPr/>
          </p:nvSpPr>
          <p:spPr>
            <a:xfrm>
              <a:off x="4838299" y="3084815"/>
              <a:ext cx="488887" cy="488887"/>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4</a:t>
              </a:r>
            </a:p>
          </p:txBody>
        </p:sp>
        <p:sp>
          <p:nvSpPr>
            <p:cNvPr id="26" name="Oval 25">
              <a:extLst>
                <a:ext uri="{FF2B5EF4-FFF2-40B4-BE49-F238E27FC236}">
                  <a16:creationId xmlns:a16="http://schemas.microsoft.com/office/drawing/2014/main" id="{553DFFE1-926C-3A46-A69E-28F422017FD5}"/>
                </a:ext>
              </a:extLst>
            </p:cNvPr>
            <p:cNvSpPr/>
            <p:nvPr/>
          </p:nvSpPr>
          <p:spPr>
            <a:xfrm>
              <a:off x="2463327" y="3907171"/>
              <a:ext cx="488887" cy="488887"/>
            </a:xfrm>
            <a:prstGeom prst="ellipse">
              <a:avLst/>
            </a:prstGeom>
            <a:solidFill>
              <a:schemeClr val="accent3"/>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5</a:t>
              </a:r>
            </a:p>
          </p:txBody>
        </p:sp>
        <p:sp>
          <p:nvSpPr>
            <p:cNvPr id="27" name="Oval 26">
              <a:extLst>
                <a:ext uri="{FF2B5EF4-FFF2-40B4-BE49-F238E27FC236}">
                  <a16:creationId xmlns:a16="http://schemas.microsoft.com/office/drawing/2014/main" id="{7C39BCCB-A6F2-7348-855E-003491E529E9}"/>
                </a:ext>
              </a:extLst>
            </p:cNvPr>
            <p:cNvSpPr/>
            <p:nvPr/>
          </p:nvSpPr>
          <p:spPr>
            <a:xfrm>
              <a:off x="3945385" y="3907171"/>
              <a:ext cx="488887" cy="488887"/>
            </a:xfrm>
            <a:prstGeom prst="ellipse">
              <a:avLst/>
            </a:prstGeom>
            <a:solidFill>
              <a:schemeClr val="accent3"/>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6</a:t>
              </a:r>
            </a:p>
          </p:txBody>
        </p:sp>
        <p:cxnSp>
          <p:nvCxnSpPr>
            <p:cNvPr id="29" name="Straight Connector 28">
              <a:extLst>
                <a:ext uri="{FF2B5EF4-FFF2-40B4-BE49-F238E27FC236}">
                  <a16:creationId xmlns:a16="http://schemas.microsoft.com/office/drawing/2014/main" id="{688F8695-7A8B-A647-B4FE-24A5538AE867}"/>
                </a:ext>
              </a:extLst>
            </p:cNvPr>
            <p:cNvCxnSpPr>
              <a:stCxn id="24" idx="7"/>
              <a:endCxn id="10" idx="3"/>
            </p:cNvCxnSpPr>
            <p:nvPr/>
          </p:nvCxnSpPr>
          <p:spPr>
            <a:xfrm flipV="1">
              <a:off x="2003863" y="2510791"/>
              <a:ext cx="531061" cy="645620"/>
            </a:xfrm>
            <a:prstGeom prst="line">
              <a:avLst/>
            </a:prstGeom>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DE170FF9-E530-9542-AD9B-0322EE0CDBEB}"/>
                </a:ext>
              </a:extLst>
            </p:cNvPr>
            <p:cNvCxnSpPr>
              <a:cxnSpLocks/>
              <a:stCxn id="26" idx="0"/>
              <a:endCxn id="10" idx="4"/>
            </p:cNvCxnSpPr>
            <p:nvPr/>
          </p:nvCxnSpPr>
          <p:spPr>
            <a:xfrm flipV="1">
              <a:off x="2707771" y="2582387"/>
              <a:ext cx="1" cy="1324784"/>
            </a:xfrm>
            <a:prstGeom prst="line">
              <a:avLst/>
            </a:prstGeom>
            <a:ln w="28575">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68824425-3D77-B944-8DA2-ED6F7F73CBC7}"/>
                </a:ext>
              </a:extLst>
            </p:cNvPr>
            <p:cNvCxnSpPr>
              <a:cxnSpLocks/>
              <a:stCxn id="23" idx="2"/>
              <a:endCxn id="10" idx="6"/>
            </p:cNvCxnSpPr>
            <p:nvPr/>
          </p:nvCxnSpPr>
          <p:spPr>
            <a:xfrm flipH="1">
              <a:off x="2952215" y="2337944"/>
              <a:ext cx="993171" cy="0"/>
            </a:xfrm>
            <a:prstGeom prst="line">
              <a:avLst/>
            </a:prstGeom>
            <a:ln w="28575">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36" name="Straight Connector 35">
              <a:extLst>
                <a:ext uri="{FF2B5EF4-FFF2-40B4-BE49-F238E27FC236}">
                  <a16:creationId xmlns:a16="http://schemas.microsoft.com/office/drawing/2014/main" id="{1DA21A7A-2AFA-F04C-BCAC-0E33835F7DF9}"/>
                </a:ext>
              </a:extLst>
            </p:cNvPr>
            <p:cNvCxnSpPr>
              <a:cxnSpLocks/>
              <a:stCxn id="23" idx="4"/>
              <a:endCxn id="27" idx="0"/>
            </p:cNvCxnSpPr>
            <p:nvPr/>
          </p:nvCxnSpPr>
          <p:spPr>
            <a:xfrm flipH="1">
              <a:off x="4189829" y="2582387"/>
              <a:ext cx="1" cy="1324784"/>
            </a:xfrm>
            <a:prstGeom prst="line">
              <a:avLst/>
            </a:prstGeom>
            <a:ln w="28575">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1726C680-39E1-FB47-98D0-68B899E306BC}"/>
                </a:ext>
              </a:extLst>
            </p:cNvPr>
            <p:cNvCxnSpPr>
              <a:cxnSpLocks/>
              <a:stCxn id="26" idx="6"/>
              <a:endCxn id="27" idx="2"/>
            </p:cNvCxnSpPr>
            <p:nvPr/>
          </p:nvCxnSpPr>
          <p:spPr>
            <a:xfrm>
              <a:off x="2952214" y="4151615"/>
              <a:ext cx="993171" cy="0"/>
            </a:xfrm>
            <a:prstGeom prst="line">
              <a:avLst/>
            </a:prstGeom>
            <a:ln w="28575">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9FD5946C-B6E7-EC4F-AD2D-43EF979840DA}"/>
                </a:ext>
              </a:extLst>
            </p:cNvPr>
            <p:cNvCxnSpPr>
              <a:cxnSpLocks/>
              <a:stCxn id="10" idx="5"/>
              <a:endCxn id="27" idx="1"/>
            </p:cNvCxnSpPr>
            <p:nvPr/>
          </p:nvCxnSpPr>
          <p:spPr>
            <a:xfrm>
              <a:off x="2880619" y="2510791"/>
              <a:ext cx="1136362" cy="1467976"/>
            </a:xfrm>
            <a:prstGeom prst="line">
              <a:avLst/>
            </a:prstGeom>
            <a:ln w="28575">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46" name="Straight Connector 45">
              <a:extLst>
                <a:ext uri="{FF2B5EF4-FFF2-40B4-BE49-F238E27FC236}">
                  <a16:creationId xmlns:a16="http://schemas.microsoft.com/office/drawing/2014/main" id="{AD49B488-5E58-0D4B-95D5-2D524D20FFCC}"/>
                </a:ext>
              </a:extLst>
            </p:cNvPr>
            <p:cNvCxnSpPr>
              <a:cxnSpLocks/>
              <a:stCxn id="26" idx="7"/>
              <a:endCxn id="23" idx="3"/>
            </p:cNvCxnSpPr>
            <p:nvPr/>
          </p:nvCxnSpPr>
          <p:spPr>
            <a:xfrm flipV="1">
              <a:off x="2880618" y="2510791"/>
              <a:ext cx="1136364" cy="1467976"/>
            </a:xfrm>
            <a:prstGeom prst="line">
              <a:avLst/>
            </a:prstGeom>
            <a:ln w="28575">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5B4AAF52-EA29-5F43-858C-A25934203265}"/>
                </a:ext>
              </a:extLst>
            </p:cNvPr>
            <p:cNvCxnSpPr>
              <a:cxnSpLocks/>
              <a:stCxn id="24" idx="6"/>
              <a:endCxn id="25" idx="2"/>
            </p:cNvCxnSpPr>
            <p:nvPr/>
          </p:nvCxnSpPr>
          <p:spPr>
            <a:xfrm>
              <a:off x="2075459" y="3329259"/>
              <a:ext cx="276284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A917B8CF-522E-A049-9736-50A681E83269}"/>
                </a:ext>
              </a:extLst>
            </p:cNvPr>
            <p:cNvCxnSpPr>
              <a:cxnSpLocks/>
              <a:stCxn id="24" idx="6"/>
              <a:endCxn id="27" idx="1"/>
            </p:cNvCxnSpPr>
            <p:nvPr/>
          </p:nvCxnSpPr>
          <p:spPr>
            <a:xfrm>
              <a:off x="2075459" y="3329259"/>
              <a:ext cx="1941522" cy="649508"/>
            </a:xfrm>
            <a:prstGeom prst="line">
              <a:avLst/>
            </a:prstGeom>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EC4107DE-6A10-CC45-9C46-3A54FEA1BD43}"/>
                </a:ext>
              </a:extLst>
            </p:cNvPr>
            <p:cNvCxnSpPr>
              <a:cxnSpLocks/>
              <a:stCxn id="26" idx="7"/>
              <a:endCxn id="25" idx="2"/>
            </p:cNvCxnSpPr>
            <p:nvPr/>
          </p:nvCxnSpPr>
          <p:spPr>
            <a:xfrm flipV="1">
              <a:off x="2880618" y="3329259"/>
              <a:ext cx="1957681" cy="649508"/>
            </a:xfrm>
            <a:prstGeom prst="line">
              <a:avLst/>
            </a:prstGeom>
          </p:spPr>
          <p:style>
            <a:lnRef idx="1">
              <a:schemeClr val="accent1"/>
            </a:lnRef>
            <a:fillRef idx="0">
              <a:schemeClr val="accent1"/>
            </a:fillRef>
            <a:effectRef idx="0">
              <a:schemeClr val="accent1"/>
            </a:effectRef>
            <a:fontRef idx="minor">
              <a:schemeClr val="tx1"/>
            </a:fontRef>
          </p:style>
        </p:cxnSp>
        <p:sp>
          <p:nvSpPr>
            <p:cNvPr id="59" name="TextBox 58">
              <a:extLst>
                <a:ext uri="{FF2B5EF4-FFF2-40B4-BE49-F238E27FC236}">
                  <a16:creationId xmlns:a16="http://schemas.microsoft.com/office/drawing/2014/main" id="{5FFC3504-160F-8840-989E-203207C3813A}"/>
                </a:ext>
              </a:extLst>
            </p:cNvPr>
            <p:cNvSpPr txBox="1"/>
            <p:nvPr/>
          </p:nvSpPr>
          <p:spPr>
            <a:xfrm>
              <a:off x="5100260" y="1970174"/>
              <a:ext cx="362600" cy="369332"/>
            </a:xfrm>
            <a:prstGeom prst="rect">
              <a:avLst/>
            </a:prstGeom>
            <a:noFill/>
          </p:spPr>
          <p:txBody>
            <a:bodyPr wrap="none" rtlCol="0">
              <a:spAutoFit/>
            </a:bodyPr>
            <a:lstStyle/>
            <a:p>
              <a:r>
                <a:rPr lang="en-US" dirty="0">
                  <a:solidFill>
                    <a:schemeClr val="accent1"/>
                  </a:solidFill>
                </a:rPr>
                <a:t>G</a:t>
              </a:r>
            </a:p>
          </p:txBody>
        </p:sp>
        <p:sp>
          <p:nvSpPr>
            <p:cNvPr id="60" name="TextBox 59">
              <a:extLst>
                <a:ext uri="{FF2B5EF4-FFF2-40B4-BE49-F238E27FC236}">
                  <a16:creationId xmlns:a16="http://schemas.microsoft.com/office/drawing/2014/main" id="{2AD8A967-5C47-8541-BBA2-170D99393732}"/>
                </a:ext>
              </a:extLst>
            </p:cNvPr>
            <p:cNvSpPr txBox="1"/>
            <p:nvPr/>
          </p:nvSpPr>
          <p:spPr>
            <a:xfrm>
              <a:off x="4951575" y="2249617"/>
              <a:ext cx="566181" cy="369332"/>
            </a:xfrm>
            <a:prstGeom prst="rect">
              <a:avLst/>
            </a:prstGeom>
            <a:noFill/>
          </p:spPr>
          <p:txBody>
            <a:bodyPr wrap="none" rtlCol="0">
              <a:spAutoFit/>
            </a:bodyPr>
            <a:lstStyle/>
            <a:p>
              <a:r>
                <a:rPr lang="en-US" dirty="0">
                  <a:solidFill>
                    <a:schemeClr val="accent1"/>
                  </a:solidFill>
                </a:rPr>
                <a:t>k=4</a:t>
              </a:r>
            </a:p>
          </p:txBody>
        </p:sp>
      </p:grpSp>
      <p:sp>
        <p:nvSpPr>
          <p:cNvPr id="62" name="Right Arrow 61">
            <a:extLst>
              <a:ext uri="{FF2B5EF4-FFF2-40B4-BE49-F238E27FC236}">
                <a16:creationId xmlns:a16="http://schemas.microsoft.com/office/drawing/2014/main" id="{6A534F3C-6991-8845-83AA-9C5FC061C0D5}"/>
              </a:ext>
            </a:extLst>
          </p:cNvPr>
          <p:cNvSpPr/>
          <p:nvPr/>
        </p:nvSpPr>
        <p:spPr>
          <a:xfrm>
            <a:off x="5695467" y="2839542"/>
            <a:ext cx="886402" cy="32592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32" name="Content Placeholder 2">
                <a:extLst>
                  <a:ext uri="{FF2B5EF4-FFF2-40B4-BE49-F238E27FC236}">
                    <a16:creationId xmlns:a16="http://schemas.microsoft.com/office/drawing/2014/main" id="{034F391B-9FFD-1F4B-96ED-B56807869288}"/>
                  </a:ext>
                </a:extLst>
              </p:cNvPr>
              <p:cNvSpPr txBox="1">
                <a:spLocks/>
              </p:cNvSpPr>
              <p:nvPr/>
            </p:nvSpPr>
            <p:spPr>
              <a:xfrm>
                <a:off x="1321814" y="875119"/>
                <a:ext cx="9625246" cy="453124"/>
              </a:xfrm>
              <a:prstGeom prst="rect">
                <a:avLst/>
              </a:prstGeom>
              <a:noFill/>
              <a:ln>
                <a:solidFill>
                  <a:schemeClr val="tx1">
                    <a:lumMod val="95000"/>
                  </a:schemeClr>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800" b="1" i="1" u="sng" dirty="0">
                    <a:solidFill>
                      <a:schemeClr val="tx1">
                        <a:lumMod val="95000"/>
                      </a:schemeClr>
                    </a:solidFill>
                  </a:rPr>
                  <a:t>Claim</a:t>
                </a:r>
                <a:r>
                  <a:rPr lang="en-US" sz="1800" dirty="0">
                    <a:solidFill>
                      <a:schemeClr val="tx1">
                        <a:lumMod val="95000"/>
                      </a:schemeClr>
                    </a:solidFill>
                  </a:rPr>
                  <a:t>: G has a clique of size k IFF G’ has a VC of size </a:t>
                </a:r>
                <a14:m>
                  <m:oMath xmlns:m="http://schemas.openxmlformats.org/officeDocument/2006/math">
                    <m:d>
                      <m:dPr>
                        <m:begChr m:val="|"/>
                        <m:endChr m:val="|"/>
                        <m:ctrlPr>
                          <a:rPr lang="en-US" sz="1800" b="0" i="1" smtClean="0">
                            <a:solidFill>
                              <a:schemeClr val="tx1">
                                <a:lumMod val="95000"/>
                              </a:schemeClr>
                            </a:solidFill>
                            <a:latin typeface="Cambria Math" panose="02040503050406030204" pitchFamily="18" charset="0"/>
                          </a:rPr>
                        </m:ctrlPr>
                      </m:dPr>
                      <m:e>
                        <m:r>
                          <a:rPr lang="en-US" sz="1800" b="0" i="1" smtClean="0">
                            <a:solidFill>
                              <a:schemeClr val="tx1">
                                <a:lumMod val="95000"/>
                              </a:schemeClr>
                            </a:solidFill>
                            <a:latin typeface="Cambria Math" panose="02040503050406030204" pitchFamily="18" charset="0"/>
                          </a:rPr>
                          <m:t>𝑉</m:t>
                        </m:r>
                      </m:e>
                    </m:d>
                    <m:r>
                      <a:rPr lang="en-US" sz="1800" b="0" i="1" smtClean="0">
                        <a:solidFill>
                          <a:schemeClr val="tx1">
                            <a:lumMod val="95000"/>
                          </a:schemeClr>
                        </a:solidFill>
                        <a:latin typeface="Cambria Math" panose="02040503050406030204" pitchFamily="18" charset="0"/>
                      </a:rPr>
                      <m:t>−</m:t>
                    </m:r>
                    <m:r>
                      <a:rPr lang="en-US" sz="1800" b="0" i="1" smtClean="0">
                        <a:solidFill>
                          <a:schemeClr val="tx1">
                            <a:lumMod val="95000"/>
                          </a:schemeClr>
                        </a:solidFill>
                        <a:latin typeface="Cambria Math" panose="02040503050406030204" pitchFamily="18" charset="0"/>
                      </a:rPr>
                      <m:t>𝑘</m:t>
                    </m:r>
                  </m:oMath>
                </a14:m>
                <a:endParaRPr lang="en-US" sz="1800" dirty="0">
                  <a:solidFill>
                    <a:schemeClr val="tx1">
                      <a:lumMod val="95000"/>
                    </a:schemeClr>
                  </a:solidFill>
                </a:endParaRPr>
              </a:p>
            </p:txBody>
          </p:sp>
        </mc:Choice>
        <mc:Fallback xmlns="">
          <p:sp>
            <p:nvSpPr>
              <p:cNvPr id="32" name="Content Placeholder 2">
                <a:extLst>
                  <a:ext uri="{FF2B5EF4-FFF2-40B4-BE49-F238E27FC236}">
                    <a16:creationId xmlns:a16="http://schemas.microsoft.com/office/drawing/2014/main" id="{034F391B-9FFD-1F4B-96ED-B56807869288}"/>
                  </a:ext>
                </a:extLst>
              </p:cNvPr>
              <p:cNvSpPr txBox="1">
                <a:spLocks noRot="1" noChangeAspect="1" noMove="1" noResize="1" noEditPoints="1" noAdjustHandles="1" noChangeArrowheads="1" noChangeShapeType="1" noTextEdit="1"/>
              </p:cNvSpPr>
              <p:nvPr/>
            </p:nvSpPr>
            <p:spPr>
              <a:xfrm>
                <a:off x="1321814" y="875119"/>
                <a:ext cx="9625246" cy="453124"/>
              </a:xfrm>
              <a:prstGeom prst="rect">
                <a:avLst/>
              </a:prstGeom>
              <a:blipFill>
                <a:blip r:embed="rId3"/>
                <a:stretch>
                  <a:fillRect b="-2632"/>
                </a:stretch>
              </a:blipFill>
              <a:ln>
                <a:solidFill>
                  <a:schemeClr val="tx1">
                    <a:lumMod val="95000"/>
                  </a:schemeClr>
                </a:solidFill>
              </a:ln>
            </p:spPr>
            <p:txBody>
              <a:bodyPr/>
              <a:lstStyle/>
              <a:p>
                <a:r>
                  <a:rPr lang="en-US">
                    <a:noFill/>
                  </a:rPr>
                  <a:t> </a:t>
                </a:r>
              </a:p>
            </p:txBody>
          </p:sp>
        </mc:Fallback>
      </mc:AlternateContent>
      <p:grpSp>
        <p:nvGrpSpPr>
          <p:cNvPr id="4" name="Group 3">
            <a:extLst>
              <a:ext uri="{FF2B5EF4-FFF2-40B4-BE49-F238E27FC236}">
                <a16:creationId xmlns:a16="http://schemas.microsoft.com/office/drawing/2014/main" id="{17326999-BFD5-334B-BAEA-C1E4E421A05D}"/>
              </a:ext>
            </a:extLst>
          </p:cNvPr>
          <p:cNvGrpSpPr/>
          <p:nvPr/>
        </p:nvGrpSpPr>
        <p:grpSpPr>
          <a:xfrm>
            <a:off x="6730661" y="1611533"/>
            <a:ext cx="4200807" cy="2679826"/>
            <a:chOff x="6730661" y="1928402"/>
            <a:chExt cx="4200807" cy="2679826"/>
          </a:xfrm>
        </p:grpSpPr>
        <p:sp>
          <p:nvSpPr>
            <p:cNvPr id="35" name="Rectangle 34">
              <a:extLst>
                <a:ext uri="{FF2B5EF4-FFF2-40B4-BE49-F238E27FC236}">
                  <a16:creationId xmlns:a16="http://schemas.microsoft.com/office/drawing/2014/main" id="{53E42735-58C1-9544-B146-9E2893975413}"/>
                </a:ext>
              </a:extLst>
            </p:cNvPr>
            <p:cNvSpPr/>
            <p:nvPr/>
          </p:nvSpPr>
          <p:spPr>
            <a:xfrm>
              <a:off x="6730661" y="1928402"/>
              <a:ext cx="4200807" cy="2679826"/>
            </a:xfrm>
            <a:prstGeom prst="rect">
              <a:avLst/>
            </a:pr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Oval 36">
              <a:extLst>
                <a:ext uri="{FF2B5EF4-FFF2-40B4-BE49-F238E27FC236}">
                  <a16:creationId xmlns:a16="http://schemas.microsoft.com/office/drawing/2014/main" id="{B6342735-5573-0F45-B281-C6809641AF5E}"/>
                </a:ext>
              </a:extLst>
            </p:cNvPr>
            <p:cNvSpPr/>
            <p:nvPr/>
          </p:nvSpPr>
          <p:spPr>
            <a:xfrm>
              <a:off x="7872176" y="2093500"/>
              <a:ext cx="488887" cy="488887"/>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1</a:t>
              </a:r>
            </a:p>
          </p:txBody>
        </p:sp>
        <p:sp>
          <p:nvSpPr>
            <p:cNvPr id="38" name="Oval 37">
              <a:extLst>
                <a:ext uri="{FF2B5EF4-FFF2-40B4-BE49-F238E27FC236}">
                  <a16:creationId xmlns:a16="http://schemas.microsoft.com/office/drawing/2014/main" id="{A11E7672-2211-214F-A0D0-62289A6EBD9B}"/>
                </a:ext>
              </a:extLst>
            </p:cNvPr>
            <p:cNvSpPr/>
            <p:nvPr/>
          </p:nvSpPr>
          <p:spPr>
            <a:xfrm>
              <a:off x="9354234" y="2093500"/>
              <a:ext cx="488887" cy="488887"/>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2</a:t>
              </a:r>
            </a:p>
          </p:txBody>
        </p:sp>
        <p:sp>
          <p:nvSpPr>
            <p:cNvPr id="39" name="Oval 38">
              <a:extLst>
                <a:ext uri="{FF2B5EF4-FFF2-40B4-BE49-F238E27FC236}">
                  <a16:creationId xmlns:a16="http://schemas.microsoft.com/office/drawing/2014/main" id="{E2E21B37-C9C2-7640-B0FB-709FF81E35E1}"/>
                </a:ext>
              </a:extLst>
            </p:cNvPr>
            <p:cNvSpPr/>
            <p:nvPr/>
          </p:nvSpPr>
          <p:spPr>
            <a:xfrm>
              <a:off x="6995420" y="3084815"/>
              <a:ext cx="488887" cy="488887"/>
            </a:xfrm>
            <a:prstGeom prst="ellipse">
              <a:avLst/>
            </a:prstGeom>
            <a:solidFill>
              <a:schemeClr val="accent3"/>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3</a:t>
              </a:r>
            </a:p>
          </p:txBody>
        </p:sp>
        <p:sp>
          <p:nvSpPr>
            <p:cNvPr id="41" name="Oval 40">
              <a:extLst>
                <a:ext uri="{FF2B5EF4-FFF2-40B4-BE49-F238E27FC236}">
                  <a16:creationId xmlns:a16="http://schemas.microsoft.com/office/drawing/2014/main" id="{814010A0-F18B-6A4C-B0AD-6AE90988D79A}"/>
                </a:ext>
              </a:extLst>
            </p:cNvPr>
            <p:cNvSpPr/>
            <p:nvPr/>
          </p:nvSpPr>
          <p:spPr>
            <a:xfrm>
              <a:off x="10247147" y="3084815"/>
              <a:ext cx="488887" cy="488887"/>
            </a:xfrm>
            <a:prstGeom prst="ellipse">
              <a:avLst/>
            </a:prstGeom>
            <a:solidFill>
              <a:schemeClr val="accent3"/>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4</a:t>
              </a:r>
            </a:p>
          </p:txBody>
        </p:sp>
        <p:sp>
          <p:nvSpPr>
            <p:cNvPr id="42" name="Oval 41">
              <a:extLst>
                <a:ext uri="{FF2B5EF4-FFF2-40B4-BE49-F238E27FC236}">
                  <a16:creationId xmlns:a16="http://schemas.microsoft.com/office/drawing/2014/main" id="{6DD9791A-8B0F-7E4C-94D5-E62BB9A01002}"/>
                </a:ext>
              </a:extLst>
            </p:cNvPr>
            <p:cNvSpPr/>
            <p:nvPr/>
          </p:nvSpPr>
          <p:spPr>
            <a:xfrm>
              <a:off x="7872175" y="3907171"/>
              <a:ext cx="488887" cy="488887"/>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5</a:t>
              </a:r>
            </a:p>
          </p:txBody>
        </p:sp>
        <p:sp>
          <p:nvSpPr>
            <p:cNvPr id="44" name="Oval 43">
              <a:extLst>
                <a:ext uri="{FF2B5EF4-FFF2-40B4-BE49-F238E27FC236}">
                  <a16:creationId xmlns:a16="http://schemas.microsoft.com/office/drawing/2014/main" id="{10D40AB0-3169-D94D-B24B-E68826BF2001}"/>
                </a:ext>
              </a:extLst>
            </p:cNvPr>
            <p:cNvSpPr/>
            <p:nvPr/>
          </p:nvSpPr>
          <p:spPr>
            <a:xfrm>
              <a:off x="9354233" y="3907171"/>
              <a:ext cx="488887" cy="488887"/>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6</a:t>
              </a:r>
            </a:p>
          </p:txBody>
        </p:sp>
        <p:cxnSp>
          <p:nvCxnSpPr>
            <p:cNvPr id="51" name="Straight Connector 50">
              <a:extLst>
                <a:ext uri="{FF2B5EF4-FFF2-40B4-BE49-F238E27FC236}">
                  <a16:creationId xmlns:a16="http://schemas.microsoft.com/office/drawing/2014/main" id="{9C626810-6ECD-7540-B233-F540D16CDEAC}"/>
                </a:ext>
              </a:extLst>
            </p:cNvPr>
            <p:cNvCxnSpPr>
              <a:cxnSpLocks/>
              <a:stCxn id="39" idx="7"/>
              <a:endCxn id="38" idx="3"/>
            </p:cNvCxnSpPr>
            <p:nvPr/>
          </p:nvCxnSpPr>
          <p:spPr>
            <a:xfrm flipV="1">
              <a:off x="7412711" y="2510791"/>
              <a:ext cx="2013119" cy="645620"/>
            </a:xfrm>
            <a:prstGeom prst="line">
              <a:avLst/>
            </a:prstGeom>
          </p:spPr>
          <p:style>
            <a:lnRef idx="1">
              <a:schemeClr val="accent1"/>
            </a:lnRef>
            <a:fillRef idx="0">
              <a:schemeClr val="accent1"/>
            </a:fillRef>
            <a:effectRef idx="0">
              <a:schemeClr val="accent1"/>
            </a:effectRef>
            <a:fontRef idx="minor">
              <a:schemeClr val="tx1"/>
            </a:fontRef>
          </p:style>
        </p:cxnSp>
        <p:cxnSp>
          <p:nvCxnSpPr>
            <p:cNvPr id="63" name="Straight Connector 62">
              <a:extLst>
                <a:ext uri="{FF2B5EF4-FFF2-40B4-BE49-F238E27FC236}">
                  <a16:creationId xmlns:a16="http://schemas.microsoft.com/office/drawing/2014/main" id="{114647CC-9975-054F-9B94-7FFF2611EABB}"/>
                </a:ext>
              </a:extLst>
            </p:cNvPr>
            <p:cNvCxnSpPr>
              <a:cxnSpLocks/>
              <a:stCxn id="42" idx="1"/>
              <a:endCxn id="39" idx="5"/>
            </p:cNvCxnSpPr>
            <p:nvPr/>
          </p:nvCxnSpPr>
          <p:spPr>
            <a:xfrm flipH="1" flipV="1">
              <a:off x="7412711" y="3502106"/>
              <a:ext cx="531060" cy="476661"/>
            </a:xfrm>
            <a:prstGeom prst="line">
              <a:avLst/>
            </a:prstGeom>
          </p:spPr>
          <p:style>
            <a:lnRef idx="1">
              <a:schemeClr val="accent1"/>
            </a:lnRef>
            <a:fillRef idx="0">
              <a:schemeClr val="accent1"/>
            </a:fillRef>
            <a:effectRef idx="0">
              <a:schemeClr val="accent1"/>
            </a:effectRef>
            <a:fontRef idx="minor">
              <a:schemeClr val="tx1"/>
            </a:fontRef>
          </p:style>
        </p:cxnSp>
        <p:sp>
          <p:nvSpPr>
            <p:cNvPr id="65" name="TextBox 64">
              <a:extLst>
                <a:ext uri="{FF2B5EF4-FFF2-40B4-BE49-F238E27FC236}">
                  <a16:creationId xmlns:a16="http://schemas.microsoft.com/office/drawing/2014/main" id="{C0F2170B-3E18-1346-B1A8-A33BF2F4D5D2}"/>
                </a:ext>
              </a:extLst>
            </p:cNvPr>
            <p:cNvSpPr txBox="1"/>
            <p:nvPr/>
          </p:nvSpPr>
          <p:spPr>
            <a:xfrm>
              <a:off x="10509108" y="1970174"/>
              <a:ext cx="362600" cy="369332"/>
            </a:xfrm>
            <a:prstGeom prst="rect">
              <a:avLst/>
            </a:prstGeom>
            <a:noFill/>
          </p:spPr>
          <p:txBody>
            <a:bodyPr wrap="none" rtlCol="0">
              <a:spAutoFit/>
            </a:bodyPr>
            <a:lstStyle/>
            <a:p>
              <a:r>
                <a:rPr lang="en-US" dirty="0">
                  <a:solidFill>
                    <a:schemeClr val="accent1"/>
                  </a:solidFill>
                </a:rPr>
                <a:t>G</a:t>
              </a:r>
            </a:p>
          </p:txBody>
        </p:sp>
        <p:sp>
          <p:nvSpPr>
            <p:cNvPr id="66" name="TextBox 65">
              <a:extLst>
                <a:ext uri="{FF2B5EF4-FFF2-40B4-BE49-F238E27FC236}">
                  <a16:creationId xmlns:a16="http://schemas.microsoft.com/office/drawing/2014/main" id="{5047B17C-7945-694B-9D61-811066590EE5}"/>
                </a:ext>
              </a:extLst>
            </p:cNvPr>
            <p:cNvSpPr txBox="1"/>
            <p:nvPr/>
          </p:nvSpPr>
          <p:spPr>
            <a:xfrm>
              <a:off x="10360423" y="2249617"/>
              <a:ext cx="566181" cy="369332"/>
            </a:xfrm>
            <a:prstGeom prst="rect">
              <a:avLst/>
            </a:prstGeom>
            <a:noFill/>
          </p:spPr>
          <p:txBody>
            <a:bodyPr wrap="none" rtlCol="0">
              <a:spAutoFit/>
            </a:bodyPr>
            <a:lstStyle/>
            <a:p>
              <a:r>
                <a:rPr lang="en-US" dirty="0">
                  <a:solidFill>
                    <a:schemeClr val="accent1"/>
                  </a:solidFill>
                </a:rPr>
                <a:t>k=2</a:t>
              </a:r>
            </a:p>
          </p:txBody>
        </p:sp>
        <p:cxnSp>
          <p:nvCxnSpPr>
            <p:cNvPr id="67" name="Straight Connector 66">
              <a:extLst>
                <a:ext uri="{FF2B5EF4-FFF2-40B4-BE49-F238E27FC236}">
                  <a16:creationId xmlns:a16="http://schemas.microsoft.com/office/drawing/2014/main" id="{8417E185-503F-9848-A8A3-CA5EBC68F787}"/>
                </a:ext>
              </a:extLst>
            </p:cNvPr>
            <p:cNvCxnSpPr>
              <a:cxnSpLocks/>
              <a:stCxn id="37" idx="5"/>
              <a:endCxn id="41" idx="2"/>
            </p:cNvCxnSpPr>
            <p:nvPr/>
          </p:nvCxnSpPr>
          <p:spPr>
            <a:xfrm>
              <a:off x="8289467" y="2510791"/>
              <a:ext cx="1957680" cy="818468"/>
            </a:xfrm>
            <a:prstGeom prst="line">
              <a:avLst/>
            </a:prstGeom>
          </p:spPr>
          <p:style>
            <a:lnRef idx="1">
              <a:schemeClr val="accent1"/>
            </a:lnRef>
            <a:fillRef idx="0">
              <a:schemeClr val="accent1"/>
            </a:fillRef>
            <a:effectRef idx="0">
              <a:schemeClr val="accent1"/>
            </a:effectRef>
            <a:fontRef idx="minor">
              <a:schemeClr val="tx1"/>
            </a:fontRef>
          </p:style>
        </p:cxnSp>
        <p:cxnSp>
          <p:nvCxnSpPr>
            <p:cNvPr id="68" name="Straight Connector 67">
              <a:extLst>
                <a:ext uri="{FF2B5EF4-FFF2-40B4-BE49-F238E27FC236}">
                  <a16:creationId xmlns:a16="http://schemas.microsoft.com/office/drawing/2014/main" id="{501AC7DA-7191-B74F-AE06-2DA26738DF56}"/>
                </a:ext>
              </a:extLst>
            </p:cNvPr>
            <p:cNvCxnSpPr>
              <a:cxnSpLocks/>
              <a:stCxn id="41" idx="1"/>
              <a:endCxn id="38" idx="5"/>
            </p:cNvCxnSpPr>
            <p:nvPr/>
          </p:nvCxnSpPr>
          <p:spPr>
            <a:xfrm flipH="1" flipV="1">
              <a:off x="9771525" y="2510791"/>
              <a:ext cx="547218" cy="645620"/>
            </a:xfrm>
            <a:prstGeom prst="line">
              <a:avLst/>
            </a:prstGeom>
          </p:spPr>
          <p:style>
            <a:lnRef idx="1">
              <a:schemeClr val="accent1"/>
            </a:lnRef>
            <a:fillRef idx="0">
              <a:schemeClr val="accent1"/>
            </a:fillRef>
            <a:effectRef idx="0">
              <a:schemeClr val="accent1"/>
            </a:effectRef>
            <a:fontRef idx="minor">
              <a:schemeClr val="tx1"/>
            </a:fontRef>
          </p:style>
        </p:cxnSp>
        <p:cxnSp>
          <p:nvCxnSpPr>
            <p:cNvPr id="69" name="Straight Connector 68">
              <a:extLst>
                <a:ext uri="{FF2B5EF4-FFF2-40B4-BE49-F238E27FC236}">
                  <a16:creationId xmlns:a16="http://schemas.microsoft.com/office/drawing/2014/main" id="{04711E76-7D6F-D643-B25D-53CBEE936FD4}"/>
                </a:ext>
              </a:extLst>
            </p:cNvPr>
            <p:cNvCxnSpPr>
              <a:cxnSpLocks/>
              <a:stCxn id="44" idx="7"/>
              <a:endCxn id="41" idx="3"/>
            </p:cNvCxnSpPr>
            <p:nvPr/>
          </p:nvCxnSpPr>
          <p:spPr>
            <a:xfrm flipV="1">
              <a:off x="9771524" y="3502106"/>
              <a:ext cx="547219" cy="476661"/>
            </a:xfrm>
            <a:prstGeom prst="line">
              <a:avLst/>
            </a:prstGeom>
          </p:spPr>
          <p:style>
            <a:lnRef idx="1">
              <a:schemeClr val="accent1"/>
            </a:lnRef>
            <a:fillRef idx="0">
              <a:schemeClr val="accent1"/>
            </a:fillRef>
            <a:effectRef idx="0">
              <a:schemeClr val="accent1"/>
            </a:effectRef>
            <a:fontRef idx="minor">
              <a:schemeClr val="tx1"/>
            </a:fontRef>
          </p:style>
        </p:cxnSp>
      </p:grpSp>
      <p:sp>
        <p:nvSpPr>
          <p:cNvPr id="45" name="Content Placeholder 2">
            <a:extLst>
              <a:ext uri="{FF2B5EF4-FFF2-40B4-BE49-F238E27FC236}">
                <a16:creationId xmlns:a16="http://schemas.microsoft.com/office/drawing/2014/main" id="{86E5743B-AB82-E14C-9110-9C8DA9F29266}"/>
              </a:ext>
            </a:extLst>
          </p:cNvPr>
          <p:cNvSpPr txBox="1">
            <a:spLocks/>
          </p:cNvSpPr>
          <p:nvPr/>
        </p:nvSpPr>
        <p:spPr>
          <a:xfrm>
            <a:off x="1321813" y="4593728"/>
            <a:ext cx="3532837" cy="405655"/>
          </a:xfrm>
          <a:prstGeom prst="rect">
            <a:avLst/>
          </a:prstGeom>
          <a:noFill/>
          <a:ln>
            <a:no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800" i="1" dirty="0">
                <a:solidFill>
                  <a:schemeClr val="tx1">
                    <a:lumMod val="95000"/>
                  </a:schemeClr>
                </a:solidFill>
              </a:rPr>
              <a:t>Proof Direction 2:</a:t>
            </a:r>
          </a:p>
        </p:txBody>
      </p:sp>
      <mc:AlternateContent xmlns:mc="http://schemas.openxmlformats.org/markup-compatibility/2006" xmlns:a14="http://schemas.microsoft.com/office/drawing/2010/main">
        <mc:Choice Requires="a14">
          <p:sp>
            <p:nvSpPr>
              <p:cNvPr id="48" name="Content Placeholder 2">
                <a:extLst>
                  <a:ext uri="{FF2B5EF4-FFF2-40B4-BE49-F238E27FC236}">
                    <a16:creationId xmlns:a16="http://schemas.microsoft.com/office/drawing/2014/main" id="{EDA2725D-7FD8-454D-8540-83432F0BBE50}"/>
                  </a:ext>
                </a:extLst>
              </p:cNvPr>
              <p:cNvSpPr txBox="1">
                <a:spLocks/>
              </p:cNvSpPr>
              <p:nvPr/>
            </p:nvSpPr>
            <p:spPr>
              <a:xfrm>
                <a:off x="3150606" y="4613394"/>
                <a:ext cx="7796454" cy="1769299"/>
              </a:xfrm>
              <a:prstGeom prst="rect">
                <a:avLst/>
              </a:prstGeom>
              <a:solidFill>
                <a:schemeClr val="tx1">
                  <a:lumMod val="95000"/>
                </a:schemeClr>
              </a:solidFill>
              <a:ln>
                <a:solidFill>
                  <a:schemeClr val="bg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800" i="1" dirty="0">
                    <a:solidFill>
                      <a:schemeClr val="bg1"/>
                    </a:solidFill>
                  </a:rPr>
                  <a:t>Suppose G’ has a cover </a:t>
                </a:r>
                <a14:m>
                  <m:oMath xmlns:m="http://schemas.openxmlformats.org/officeDocument/2006/math">
                    <m:sSup>
                      <m:sSupPr>
                        <m:ctrlPr>
                          <a:rPr lang="en-US" sz="1800" b="0" i="1" smtClean="0">
                            <a:solidFill>
                              <a:schemeClr val="bg1"/>
                            </a:solidFill>
                            <a:latin typeface="Cambria Math" panose="02040503050406030204" pitchFamily="18" charset="0"/>
                          </a:rPr>
                        </m:ctrlPr>
                      </m:sSupPr>
                      <m:e>
                        <m:r>
                          <a:rPr lang="en-US" sz="1800" b="0" i="1" smtClean="0">
                            <a:solidFill>
                              <a:schemeClr val="bg1"/>
                            </a:solidFill>
                            <a:latin typeface="Cambria Math" panose="02040503050406030204" pitchFamily="18" charset="0"/>
                          </a:rPr>
                          <m:t>𝑉</m:t>
                        </m:r>
                      </m:e>
                      <m:sup>
                        <m:r>
                          <a:rPr lang="en-US" sz="1800" b="0" i="1" smtClean="0">
                            <a:solidFill>
                              <a:schemeClr val="bg1"/>
                            </a:solidFill>
                            <a:latin typeface="Cambria Math" panose="02040503050406030204" pitchFamily="18" charset="0"/>
                          </a:rPr>
                          <m:t>′</m:t>
                        </m:r>
                      </m:sup>
                    </m:sSup>
                    <m:r>
                      <a:rPr lang="en-US" sz="1800" b="0" i="1" smtClean="0">
                        <a:solidFill>
                          <a:schemeClr val="bg1"/>
                        </a:solidFill>
                        <a:latin typeface="Cambria Math" panose="02040503050406030204" pitchFamily="18" charset="0"/>
                      </a:rPr>
                      <m:t>⊆</m:t>
                    </m:r>
                    <m:r>
                      <a:rPr lang="en-US" sz="1800" b="0" i="1" smtClean="0">
                        <a:solidFill>
                          <a:schemeClr val="bg1"/>
                        </a:solidFill>
                        <a:latin typeface="Cambria Math" panose="02040503050406030204" pitchFamily="18" charset="0"/>
                      </a:rPr>
                      <m:t>𝑉</m:t>
                    </m:r>
                  </m:oMath>
                </a14:m>
                <a:r>
                  <a:rPr lang="en-US" sz="1800" i="1" dirty="0">
                    <a:solidFill>
                      <a:schemeClr val="bg1"/>
                    </a:solidFill>
                  </a:rPr>
                  <a:t> of size </a:t>
                </a:r>
                <a14:m>
                  <m:oMath xmlns:m="http://schemas.openxmlformats.org/officeDocument/2006/math">
                    <m:d>
                      <m:dPr>
                        <m:begChr m:val="|"/>
                        <m:endChr m:val="|"/>
                        <m:ctrlPr>
                          <a:rPr lang="en-US" sz="1800" b="0" i="1" smtClean="0">
                            <a:solidFill>
                              <a:schemeClr val="bg1"/>
                            </a:solidFill>
                            <a:latin typeface="Cambria Math" panose="02040503050406030204" pitchFamily="18" charset="0"/>
                          </a:rPr>
                        </m:ctrlPr>
                      </m:dPr>
                      <m:e>
                        <m:r>
                          <a:rPr lang="en-US" sz="1800" b="0" i="1" smtClean="0">
                            <a:solidFill>
                              <a:schemeClr val="bg1"/>
                            </a:solidFill>
                            <a:latin typeface="Cambria Math" panose="02040503050406030204" pitchFamily="18" charset="0"/>
                          </a:rPr>
                          <m:t>𝑉</m:t>
                        </m:r>
                      </m:e>
                    </m:d>
                    <m:r>
                      <a:rPr lang="en-US" sz="1800" b="0" i="1" smtClean="0">
                        <a:solidFill>
                          <a:schemeClr val="bg1"/>
                        </a:solidFill>
                        <a:latin typeface="Cambria Math" panose="02040503050406030204" pitchFamily="18" charset="0"/>
                      </a:rPr>
                      <m:t>−</m:t>
                    </m:r>
                    <m:r>
                      <a:rPr lang="en-US" sz="1800" b="0" i="1" smtClean="0">
                        <a:solidFill>
                          <a:schemeClr val="bg1"/>
                        </a:solidFill>
                        <a:latin typeface="Cambria Math" panose="02040503050406030204" pitchFamily="18" charset="0"/>
                      </a:rPr>
                      <m:t>𝑘</m:t>
                    </m:r>
                  </m:oMath>
                </a14:m>
                <a:br>
                  <a:rPr lang="en-US" sz="1800" i="1" dirty="0">
                    <a:solidFill>
                      <a:schemeClr val="bg1"/>
                    </a:solidFill>
                  </a:rPr>
                </a:br>
                <a:r>
                  <a:rPr lang="en-US" sz="1800" i="1" dirty="0">
                    <a:solidFill>
                      <a:schemeClr val="bg1"/>
                    </a:solidFill>
                  </a:rPr>
                  <a:t>Consider the k nodes </a:t>
                </a:r>
                <a14:m>
                  <m:oMath xmlns:m="http://schemas.openxmlformats.org/officeDocument/2006/math">
                    <m:sSup>
                      <m:sSupPr>
                        <m:ctrlPr>
                          <a:rPr lang="en-US" sz="1800" b="0" i="1" smtClean="0">
                            <a:solidFill>
                              <a:schemeClr val="bg1"/>
                            </a:solidFill>
                            <a:latin typeface="Cambria Math" panose="02040503050406030204" pitchFamily="18" charset="0"/>
                          </a:rPr>
                        </m:ctrlPr>
                      </m:sSupPr>
                      <m:e>
                        <m:r>
                          <a:rPr lang="en-US" sz="1800" b="0" i="1" smtClean="0">
                            <a:solidFill>
                              <a:schemeClr val="bg1"/>
                            </a:solidFill>
                            <a:latin typeface="Cambria Math" panose="02040503050406030204" pitchFamily="18" charset="0"/>
                          </a:rPr>
                          <m:t>𝑉</m:t>
                        </m:r>
                      </m:e>
                      <m:sup>
                        <m:r>
                          <a:rPr lang="en-US" sz="1800" b="0" i="1" smtClean="0">
                            <a:solidFill>
                              <a:schemeClr val="bg1"/>
                            </a:solidFill>
                            <a:latin typeface="Cambria Math" panose="02040503050406030204" pitchFamily="18" charset="0"/>
                          </a:rPr>
                          <m:t>′′</m:t>
                        </m:r>
                      </m:sup>
                    </m:sSup>
                    <m:r>
                      <a:rPr lang="en-US" sz="1800" b="0" i="1" smtClean="0">
                        <a:solidFill>
                          <a:schemeClr val="bg1"/>
                        </a:solidFill>
                        <a:latin typeface="Cambria Math" panose="02040503050406030204" pitchFamily="18" charset="0"/>
                      </a:rPr>
                      <m:t>=</m:t>
                    </m:r>
                    <m:r>
                      <a:rPr lang="en-US" sz="1800" b="0" i="1" smtClean="0">
                        <a:solidFill>
                          <a:schemeClr val="bg1"/>
                        </a:solidFill>
                        <a:latin typeface="Cambria Math" panose="02040503050406030204" pitchFamily="18" charset="0"/>
                      </a:rPr>
                      <m:t>𝑉</m:t>
                    </m:r>
                    <m:r>
                      <a:rPr lang="en-US" sz="1800" b="0" i="1" smtClean="0">
                        <a:solidFill>
                          <a:schemeClr val="bg1"/>
                        </a:solidFill>
                        <a:latin typeface="Cambria Math" panose="02040503050406030204" pitchFamily="18" charset="0"/>
                      </a:rPr>
                      <m:t>−</m:t>
                    </m:r>
                    <m:r>
                      <a:rPr lang="en-US" sz="1800" b="0" i="1" smtClean="0">
                        <a:solidFill>
                          <a:schemeClr val="bg1"/>
                        </a:solidFill>
                        <a:latin typeface="Cambria Math" panose="02040503050406030204" pitchFamily="18" charset="0"/>
                      </a:rPr>
                      <m:t>𝑉</m:t>
                    </m:r>
                    <m:r>
                      <a:rPr lang="en-US" sz="1800" b="0" i="1" smtClean="0">
                        <a:solidFill>
                          <a:schemeClr val="bg1"/>
                        </a:solidFill>
                        <a:latin typeface="Cambria Math" panose="02040503050406030204" pitchFamily="18" charset="0"/>
                      </a:rPr>
                      <m:t>′</m:t>
                    </m:r>
                  </m:oMath>
                </a14:m>
                <a:r>
                  <a:rPr lang="en-US" sz="1800" i="1" dirty="0">
                    <a:solidFill>
                      <a:schemeClr val="bg1"/>
                    </a:solidFill>
                  </a:rPr>
                  <a:t> in G</a:t>
                </a:r>
                <a:br>
                  <a:rPr lang="en-US" sz="1800" i="1" dirty="0">
                    <a:solidFill>
                      <a:schemeClr val="bg1"/>
                    </a:solidFill>
                  </a:rPr>
                </a:br>
                <a:r>
                  <a:rPr lang="en-US" sz="1800" i="1" dirty="0">
                    <a:solidFill>
                      <a:schemeClr val="bg1"/>
                    </a:solidFill>
                  </a:rPr>
                  <a:t>In G’, no edge between nodes in V’’ exists, otherwise V’ would not be a vertex cover</a:t>
                </a:r>
                <a:br>
                  <a:rPr lang="en-US" sz="1800" i="1" dirty="0">
                    <a:solidFill>
                      <a:schemeClr val="bg1"/>
                    </a:solidFill>
                  </a:rPr>
                </a:br>
                <a:r>
                  <a:rPr lang="en-US" sz="1800" i="1" dirty="0">
                    <a:solidFill>
                      <a:schemeClr val="bg1"/>
                    </a:solidFill>
                  </a:rPr>
                  <a:t>Thus, in G every edge between nodes in V’’ exists. This is definition of a clique</a:t>
                </a:r>
                <a:br>
                  <a:rPr lang="en-US" sz="1800" i="1" dirty="0">
                    <a:solidFill>
                      <a:schemeClr val="bg1"/>
                    </a:solidFill>
                  </a:rPr>
                </a:br>
                <a:r>
                  <a:rPr lang="en-US" sz="1800" i="1" dirty="0">
                    <a:solidFill>
                      <a:schemeClr val="bg1"/>
                    </a:solidFill>
                  </a:rPr>
                  <a:t>Q.E.D.</a:t>
                </a:r>
              </a:p>
            </p:txBody>
          </p:sp>
        </mc:Choice>
        <mc:Fallback xmlns="">
          <p:sp>
            <p:nvSpPr>
              <p:cNvPr id="48" name="Content Placeholder 2">
                <a:extLst>
                  <a:ext uri="{FF2B5EF4-FFF2-40B4-BE49-F238E27FC236}">
                    <a16:creationId xmlns:a16="http://schemas.microsoft.com/office/drawing/2014/main" id="{EDA2725D-7FD8-454D-8540-83432F0BBE50}"/>
                  </a:ext>
                </a:extLst>
              </p:cNvPr>
              <p:cNvSpPr txBox="1">
                <a:spLocks noRot="1" noChangeAspect="1" noMove="1" noResize="1" noEditPoints="1" noAdjustHandles="1" noChangeArrowheads="1" noChangeShapeType="1" noTextEdit="1"/>
              </p:cNvSpPr>
              <p:nvPr/>
            </p:nvSpPr>
            <p:spPr>
              <a:xfrm>
                <a:off x="3150606" y="4613394"/>
                <a:ext cx="7796454" cy="1769299"/>
              </a:xfrm>
              <a:prstGeom prst="rect">
                <a:avLst/>
              </a:prstGeom>
              <a:blipFill>
                <a:blip r:embed="rId4"/>
                <a:stretch>
                  <a:fillRect l="-649" b="-704"/>
                </a:stretch>
              </a:blipFill>
              <a:ln>
                <a:solidFill>
                  <a:schemeClr val="bg1"/>
                </a:solidFill>
              </a:ln>
            </p:spPr>
            <p:txBody>
              <a:bodyPr/>
              <a:lstStyle/>
              <a:p>
                <a:r>
                  <a:rPr lang="en-US">
                    <a:noFill/>
                  </a:rPr>
                  <a:t> </a:t>
                </a:r>
              </a:p>
            </p:txBody>
          </p:sp>
        </mc:Fallback>
      </mc:AlternateContent>
    </p:spTree>
    <p:extLst>
      <p:ext uri="{BB962C8B-B14F-4D97-AF65-F5344CB8AC3E}">
        <p14:creationId xmlns:p14="http://schemas.microsoft.com/office/powerpoint/2010/main" val="2467988332"/>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lstStyle/>
          <a:p>
            <a:pPr algn="ctr"/>
            <a:r>
              <a:rPr lang="en-US" dirty="0"/>
              <a:t>More On Reductions</a:t>
            </a:r>
          </a:p>
        </p:txBody>
      </p:sp>
    </p:spTree>
    <p:extLst>
      <p:ext uri="{BB962C8B-B14F-4D97-AF65-F5344CB8AC3E}">
        <p14:creationId xmlns:p14="http://schemas.microsoft.com/office/powerpoint/2010/main" val="2856729091"/>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41413" y="319759"/>
            <a:ext cx="9905998" cy="621807"/>
          </a:xfrm>
        </p:spPr>
        <p:txBody>
          <a:bodyPr/>
          <a:lstStyle/>
          <a:p>
            <a:pPr algn="ctr"/>
            <a:r>
              <a:rPr lang="en-US" dirty="0"/>
              <a:t>More reductions!</a:t>
            </a:r>
          </a:p>
        </p:txBody>
      </p:sp>
      <p:sp>
        <p:nvSpPr>
          <p:cNvPr id="6" name="Content Placeholder 5"/>
          <p:cNvSpPr>
            <a:spLocks noGrp="1"/>
          </p:cNvSpPr>
          <p:nvPr>
            <p:ph sz="quarter" idx="2"/>
          </p:nvPr>
        </p:nvSpPr>
        <p:spPr>
          <a:xfrm>
            <a:off x="1984820" y="5459239"/>
            <a:ext cx="6681457" cy="887240"/>
          </a:xfrm>
        </p:spPr>
        <p:txBody>
          <a:bodyPr>
            <a:normAutofit lnSpcReduction="10000"/>
          </a:bodyPr>
          <a:lstStyle/>
          <a:p>
            <a:pPr marL="0" indent="0" algn="ctr">
              <a:buNone/>
            </a:pPr>
            <a:r>
              <a:rPr lang="en-US" dirty="0"/>
              <a:t>The problems were known to be “hard”, but how “hard” was not really quantified until then</a:t>
            </a:r>
          </a:p>
        </p:txBody>
      </p:sp>
      <p:pic>
        <p:nvPicPr>
          <p:cNvPr id="3" name="Picture 2">
            <a:extLst>
              <a:ext uri="{FF2B5EF4-FFF2-40B4-BE49-F238E27FC236}">
                <a16:creationId xmlns:a16="http://schemas.microsoft.com/office/drawing/2014/main" id="{053A41CE-6AC7-6D4C-9923-71EBF1147623}"/>
              </a:ext>
            </a:extLst>
          </p:cNvPr>
          <p:cNvPicPr>
            <a:picLocks noChangeAspect="1"/>
          </p:cNvPicPr>
          <p:nvPr/>
        </p:nvPicPr>
        <p:blipFill>
          <a:blip r:embed="rId2"/>
          <a:stretch>
            <a:fillRect/>
          </a:stretch>
        </p:blipFill>
        <p:spPr>
          <a:xfrm>
            <a:off x="1876183" y="1394246"/>
            <a:ext cx="6915464" cy="3612313"/>
          </a:xfrm>
          <a:prstGeom prst="rect">
            <a:avLst/>
          </a:prstGeom>
        </p:spPr>
      </p:pic>
      <p:sp>
        <p:nvSpPr>
          <p:cNvPr id="9" name="Content Placeholder 5">
            <a:extLst>
              <a:ext uri="{FF2B5EF4-FFF2-40B4-BE49-F238E27FC236}">
                <a16:creationId xmlns:a16="http://schemas.microsoft.com/office/drawing/2014/main" id="{3C73B376-A656-A34B-8BE0-0CA99F755530}"/>
              </a:ext>
            </a:extLst>
          </p:cNvPr>
          <p:cNvSpPr txBox="1">
            <a:spLocks/>
          </p:cNvSpPr>
          <p:nvPr/>
        </p:nvSpPr>
        <p:spPr>
          <a:xfrm>
            <a:off x="9001323" y="2396687"/>
            <a:ext cx="2471595" cy="1607429"/>
          </a:xfrm>
          <a:prstGeom prst="rect">
            <a:avLst/>
          </a:prstGeom>
        </p:spPr>
        <p:txBody>
          <a:bodyPr vert="horz" lIns="91440" tIns="45720" rIns="91440" bIns="45720" rtlCol="0">
            <a:normAutofit fontScale="92500"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None/>
            </a:pPr>
            <a:r>
              <a:rPr lang="en-US" i="1" dirty="0"/>
              <a:t>In 1972, Richard Karp showed a number of problems were NP-complete</a:t>
            </a:r>
          </a:p>
        </p:txBody>
      </p:sp>
    </p:spTree>
    <p:extLst>
      <p:ext uri="{BB962C8B-B14F-4D97-AF65-F5344CB8AC3E}">
        <p14:creationId xmlns:p14="http://schemas.microsoft.com/office/powerpoint/2010/main" val="2942195383"/>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666514" y="392189"/>
            <a:ext cx="4568763" cy="621807"/>
          </a:xfrm>
        </p:spPr>
        <p:txBody>
          <a:bodyPr/>
          <a:lstStyle/>
          <a:p>
            <a:pPr algn="ctr"/>
            <a:r>
              <a:rPr lang="en-US" dirty="0"/>
              <a:t>Does P=NP</a:t>
            </a:r>
          </a:p>
        </p:txBody>
      </p:sp>
      <p:sp>
        <p:nvSpPr>
          <p:cNvPr id="6" name="Content Placeholder 5"/>
          <p:cNvSpPr>
            <a:spLocks noGrp="1"/>
          </p:cNvSpPr>
          <p:nvPr>
            <p:ph sz="quarter" idx="2"/>
          </p:nvPr>
        </p:nvSpPr>
        <p:spPr>
          <a:xfrm>
            <a:off x="1666514" y="1162460"/>
            <a:ext cx="4568763" cy="1261210"/>
          </a:xfrm>
        </p:spPr>
        <p:txBody>
          <a:bodyPr>
            <a:normAutofit fontScale="85000" lnSpcReduction="10000"/>
          </a:bodyPr>
          <a:lstStyle/>
          <a:p>
            <a:pPr marL="0" indent="0" algn="ctr">
              <a:buNone/>
            </a:pPr>
            <a:r>
              <a:rPr lang="en-US" dirty="0"/>
              <a:t>To this day, we still do not know if P and NP are distinctly separate. But, we have a lot of known NP-Complete problems</a:t>
            </a:r>
          </a:p>
        </p:txBody>
      </p:sp>
      <p:grpSp>
        <p:nvGrpSpPr>
          <p:cNvPr id="7" name="Group 6">
            <a:extLst>
              <a:ext uri="{FF2B5EF4-FFF2-40B4-BE49-F238E27FC236}">
                <a16:creationId xmlns:a16="http://schemas.microsoft.com/office/drawing/2014/main" id="{16AEF3A6-D049-9C41-9390-0205B76DB803}"/>
              </a:ext>
            </a:extLst>
          </p:cNvPr>
          <p:cNvGrpSpPr/>
          <p:nvPr/>
        </p:nvGrpSpPr>
        <p:grpSpPr>
          <a:xfrm>
            <a:off x="6696546" y="-4544848"/>
            <a:ext cx="4831624" cy="11113993"/>
            <a:chOff x="5791207" y="-4553901"/>
            <a:chExt cx="4831624" cy="11113993"/>
          </a:xfrm>
        </p:grpSpPr>
        <p:grpSp>
          <p:nvGrpSpPr>
            <p:cNvPr id="8" name="Group 7">
              <a:extLst>
                <a:ext uri="{FF2B5EF4-FFF2-40B4-BE49-F238E27FC236}">
                  <a16:creationId xmlns:a16="http://schemas.microsoft.com/office/drawing/2014/main" id="{2B757B7D-71C3-D546-93F0-F9AC1D34DEDD}"/>
                </a:ext>
              </a:extLst>
            </p:cNvPr>
            <p:cNvGrpSpPr/>
            <p:nvPr/>
          </p:nvGrpSpPr>
          <p:grpSpPr>
            <a:xfrm>
              <a:off x="5791207" y="-4553901"/>
              <a:ext cx="4831624" cy="11113993"/>
              <a:chOff x="5791207" y="-4553901"/>
              <a:chExt cx="4831624" cy="11113993"/>
            </a:xfrm>
          </p:grpSpPr>
          <p:grpSp>
            <p:nvGrpSpPr>
              <p:cNvPr id="11" name="Group 10">
                <a:extLst>
                  <a:ext uri="{FF2B5EF4-FFF2-40B4-BE49-F238E27FC236}">
                    <a16:creationId xmlns:a16="http://schemas.microsoft.com/office/drawing/2014/main" id="{4C8E8402-2B0C-4546-A447-50BB860C580C}"/>
                  </a:ext>
                </a:extLst>
              </p:cNvPr>
              <p:cNvGrpSpPr/>
              <p:nvPr/>
            </p:nvGrpSpPr>
            <p:grpSpPr>
              <a:xfrm>
                <a:off x="5908350" y="2496096"/>
                <a:ext cx="4714481" cy="4063996"/>
                <a:chOff x="4523051" y="1761068"/>
                <a:chExt cx="4714481" cy="4063996"/>
              </a:xfrm>
            </p:grpSpPr>
            <p:grpSp>
              <p:nvGrpSpPr>
                <p:cNvPr id="13" name="Group 12">
                  <a:extLst>
                    <a:ext uri="{FF2B5EF4-FFF2-40B4-BE49-F238E27FC236}">
                      <a16:creationId xmlns:a16="http://schemas.microsoft.com/office/drawing/2014/main" id="{7B71880C-F0A7-1340-9B09-FFA205782A20}"/>
                    </a:ext>
                  </a:extLst>
                </p:cNvPr>
                <p:cNvGrpSpPr/>
                <p:nvPr/>
              </p:nvGrpSpPr>
              <p:grpSpPr>
                <a:xfrm>
                  <a:off x="4523051" y="1854199"/>
                  <a:ext cx="3142722" cy="3970865"/>
                  <a:chOff x="4519612" y="1845732"/>
                  <a:chExt cx="3142722" cy="3970865"/>
                </a:xfrm>
              </p:grpSpPr>
              <p:sp>
                <p:nvSpPr>
                  <p:cNvPr id="17" name="Oval 16">
                    <a:extLst>
                      <a:ext uri="{FF2B5EF4-FFF2-40B4-BE49-F238E27FC236}">
                        <a16:creationId xmlns:a16="http://schemas.microsoft.com/office/drawing/2014/main" id="{ED50801A-C407-114C-81AD-5CD0CD81FDE0}"/>
                      </a:ext>
                    </a:extLst>
                  </p:cNvPr>
                  <p:cNvSpPr/>
                  <p:nvPr/>
                </p:nvSpPr>
                <p:spPr>
                  <a:xfrm>
                    <a:off x="4519612" y="1845732"/>
                    <a:ext cx="3142722" cy="3970865"/>
                  </a:xfrm>
                  <a:prstGeom prst="ellipse">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sz="3000" dirty="0">
                        <a:solidFill>
                          <a:schemeClr val="bg1"/>
                        </a:solidFill>
                      </a:rPr>
                      <a:t>NP</a:t>
                    </a:r>
                  </a:p>
                </p:txBody>
              </p:sp>
              <p:sp>
                <p:nvSpPr>
                  <p:cNvPr id="18" name="Oval 17">
                    <a:extLst>
                      <a:ext uri="{FF2B5EF4-FFF2-40B4-BE49-F238E27FC236}">
                        <a16:creationId xmlns:a16="http://schemas.microsoft.com/office/drawing/2014/main" id="{575E3227-AB57-2745-ACED-233C6840150D}"/>
                      </a:ext>
                    </a:extLst>
                  </p:cNvPr>
                  <p:cNvSpPr/>
                  <p:nvPr/>
                </p:nvSpPr>
                <p:spPr>
                  <a:xfrm>
                    <a:off x="4936067" y="3649131"/>
                    <a:ext cx="2269066" cy="2159000"/>
                  </a:xfrm>
                  <a:prstGeom prst="ellipse">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3000" dirty="0">
                        <a:solidFill>
                          <a:schemeClr val="bg1"/>
                        </a:solidFill>
                      </a:rPr>
                      <a:t>P</a:t>
                    </a:r>
                  </a:p>
                </p:txBody>
              </p:sp>
            </p:grpSp>
            <p:cxnSp>
              <p:nvCxnSpPr>
                <p:cNvPr id="14" name="Straight Arrow Connector 13">
                  <a:extLst>
                    <a:ext uri="{FF2B5EF4-FFF2-40B4-BE49-F238E27FC236}">
                      <a16:creationId xmlns:a16="http://schemas.microsoft.com/office/drawing/2014/main" id="{B58A1A83-16DE-D548-AB57-C73704DD3DF1}"/>
                    </a:ext>
                  </a:extLst>
                </p:cNvPr>
                <p:cNvCxnSpPr>
                  <a:cxnSpLocks/>
                </p:cNvCxnSpPr>
                <p:nvPr/>
              </p:nvCxnSpPr>
              <p:spPr>
                <a:xfrm flipV="1">
                  <a:off x="7823200" y="1854199"/>
                  <a:ext cx="0" cy="387773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5" name="Content Placeholder 4">
                  <a:extLst>
                    <a:ext uri="{FF2B5EF4-FFF2-40B4-BE49-F238E27FC236}">
                      <a16:creationId xmlns:a16="http://schemas.microsoft.com/office/drawing/2014/main" id="{1399D544-852D-DD44-AC4F-159CB45F2EC7}"/>
                    </a:ext>
                  </a:extLst>
                </p:cNvPr>
                <p:cNvSpPr txBox="1">
                  <a:spLocks/>
                </p:cNvSpPr>
                <p:nvPr/>
              </p:nvSpPr>
              <p:spPr>
                <a:xfrm>
                  <a:off x="7757715" y="5469457"/>
                  <a:ext cx="1414332" cy="355607"/>
                </a:xfrm>
                <a:prstGeom prst="rect">
                  <a:avLst/>
                </a:prstGeom>
                <a:ln>
                  <a:noFill/>
                </a:ln>
              </p:spPr>
              <p:txBody>
                <a:bodyPr vert="horz" lIns="91440" tIns="45720" rIns="91440" bIns="45720" rtlCol="0">
                  <a:normAutofit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600" b="1" i="1" dirty="0"/>
                    <a:t>Easy Problems</a:t>
                  </a:r>
                  <a:endParaRPr lang="en-US" sz="1600" i="1" dirty="0"/>
                </a:p>
              </p:txBody>
            </p:sp>
            <p:sp>
              <p:nvSpPr>
                <p:cNvPr id="16" name="Content Placeholder 4">
                  <a:extLst>
                    <a:ext uri="{FF2B5EF4-FFF2-40B4-BE49-F238E27FC236}">
                      <a16:creationId xmlns:a16="http://schemas.microsoft.com/office/drawing/2014/main" id="{23898858-D5F0-4B48-9B3B-82C8118788CB}"/>
                    </a:ext>
                  </a:extLst>
                </p:cNvPr>
                <p:cNvSpPr txBox="1">
                  <a:spLocks/>
                </p:cNvSpPr>
                <p:nvPr/>
              </p:nvSpPr>
              <p:spPr>
                <a:xfrm>
                  <a:off x="7823200" y="1761068"/>
                  <a:ext cx="1414332" cy="355607"/>
                </a:xfrm>
                <a:prstGeom prst="rect">
                  <a:avLst/>
                </a:prstGeom>
                <a:ln>
                  <a:noFill/>
                </a:ln>
              </p:spPr>
              <p:txBody>
                <a:bodyPr vert="horz" lIns="91440" tIns="45720" rIns="91440" bIns="45720" rtlCol="0">
                  <a:normAutofit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600" b="1" i="1" dirty="0"/>
                    <a:t>Hard Problems</a:t>
                  </a:r>
                  <a:endParaRPr lang="en-US" sz="1600" i="1" dirty="0"/>
                </a:p>
              </p:txBody>
            </p:sp>
          </p:grpSp>
          <p:sp>
            <p:nvSpPr>
              <p:cNvPr id="12" name="Arc 11">
                <a:extLst>
                  <a:ext uri="{FF2B5EF4-FFF2-40B4-BE49-F238E27FC236}">
                    <a16:creationId xmlns:a16="http://schemas.microsoft.com/office/drawing/2014/main" id="{F1869D0D-47F1-5346-B412-FD44F951097C}"/>
                  </a:ext>
                </a:extLst>
              </p:cNvPr>
              <p:cNvSpPr/>
              <p:nvPr/>
            </p:nvSpPr>
            <p:spPr>
              <a:xfrm>
                <a:off x="5791207" y="-4553901"/>
                <a:ext cx="3336261" cy="7263666"/>
              </a:xfrm>
              <a:prstGeom prst="arc">
                <a:avLst>
                  <a:gd name="adj1" fmla="val 334075"/>
                  <a:gd name="adj2" fmla="val 10164359"/>
                </a:avLst>
              </a:prstGeom>
              <a:solidFill>
                <a:schemeClr val="accent1"/>
              </a:solidFill>
              <a:ln>
                <a:solidFill>
                  <a:schemeClr val="bg1"/>
                </a:solidFill>
              </a:ln>
            </p:spPr>
            <p:style>
              <a:lnRef idx="1">
                <a:schemeClr val="accent1"/>
              </a:lnRef>
              <a:fillRef idx="0">
                <a:schemeClr val="accent1"/>
              </a:fillRef>
              <a:effectRef idx="0">
                <a:schemeClr val="accent1"/>
              </a:effectRef>
              <a:fontRef idx="minor">
                <a:schemeClr val="tx1"/>
              </a:fontRef>
            </p:style>
            <p:txBody>
              <a:bodyPr rtlCol="0" anchor="ctr"/>
              <a:lstStyle/>
              <a:p>
                <a:pPr algn="ctr"/>
                <a:r>
                  <a:rPr lang="en-US" sz="2400" dirty="0">
                    <a:solidFill>
                      <a:schemeClr val="bg1"/>
                    </a:solidFill>
                  </a:rPr>
                  <a:t>NP-Hard</a:t>
                </a:r>
              </a:p>
            </p:txBody>
          </p:sp>
        </p:grpSp>
        <p:sp>
          <p:nvSpPr>
            <p:cNvPr id="10" name="Oval 9">
              <a:extLst>
                <a:ext uri="{FF2B5EF4-FFF2-40B4-BE49-F238E27FC236}">
                  <a16:creationId xmlns:a16="http://schemas.microsoft.com/office/drawing/2014/main" id="{AA24C424-FD57-6D4C-90A9-355C050D3832}"/>
                </a:ext>
              </a:extLst>
            </p:cNvPr>
            <p:cNvSpPr/>
            <p:nvPr/>
          </p:nvSpPr>
          <p:spPr>
            <a:xfrm>
              <a:off x="7152238" y="2589227"/>
              <a:ext cx="624689" cy="120538"/>
            </a:xfrm>
            <a:prstGeom prst="ellipse">
              <a:avLst/>
            </a:prstGeom>
            <a:solidFill>
              <a:schemeClr val="accent3"/>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9" name="Content Placeholder 5">
            <a:extLst>
              <a:ext uri="{FF2B5EF4-FFF2-40B4-BE49-F238E27FC236}">
                <a16:creationId xmlns:a16="http://schemas.microsoft.com/office/drawing/2014/main" id="{CD110645-B39A-8149-8B8C-318C377AE0A8}"/>
              </a:ext>
            </a:extLst>
          </p:cNvPr>
          <p:cNvSpPr txBox="1">
            <a:spLocks/>
          </p:cNvSpPr>
          <p:nvPr/>
        </p:nvSpPr>
        <p:spPr>
          <a:xfrm>
            <a:off x="1312535" y="4219969"/>
            <a:ext cx="4568763" cy="1261210"/>
          </a:xfrm>
          <a:prstGeom prst="rect">
            <a:avLst/>
          </a:prstGeom>
          <a:ln>
            <a:solidFill>
              <a:schemeClr val="tx1">
                <a:lumMod val="95000"/>
              </a:schemeClr>
            </a:solidFill>
          </a:ln>
        </p:spPr>
        <p:txBody>
          <a:bodyPr vert="horz" lIns="91440" tIns="45720" rIns="91440" bIns="45720" rtlCol="0">
            <a:normAutofit fontScale="775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dirty="0"/>
              <a:t>What would happen if someone found an algorithm to solve one of these famous NP-Complete problems that ran in polynomial time? </a:t>
            </a:r>
          </a:p>
        </p:txBody>
      </p:sp>
      <p:cxnSp>
        <p:nvCxnSpPr>
          <p:cNvPr id="5" name="Straight Connector 4">
            <a:extLst>
              <a:ext uri="{FF2B5EF4-FFF2-40B4-BE49-F238E27FC236}">
                <a16:creationId xmlns:a16="http://schemas.microsoft.com/office/drawing/2014/main" id="{CB687B8C-3ACE-2046-BCE5-A0085BD769B4}"/>
              </a:ext>
            </a:extLst>
          </p:cNvPr>
          <p:cNvCxnSpPr/>
          <p:nvPr/>
        </p:nvCxnSpPr>
        <p:spPr>
          <a:xfrm flipV="1">
            <a:off x="5060887" y="2718818"/>
            <a:ext cx="2996690" cy="1346188"/>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89789974"/>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7" name="Group 6">
            <a:extLst>
              <a:ext uri="{FF2B5EF4-FFF2-40B4-BE49-F238E27FC236}">
                <a16:creationId xmlns:a16="http://schemas.microsoft.com/office/drawing/2014/main" id="{16AEF3A6-D049-9C41-9390-0205B76DB803}"/>
              </a:ext>
            </a:extLst>
          </p:cNvPr>
          <p:cNvGrpSpPr/>
          <p:nvPr/>
        </p:nvGrpSpPr>
        <p:grpSpPr>
          <a:xfrm>
            <a:off x="587089" y="-4381886"/>
            <a:ext cx="3336261" cy="11113993"/>
            <a:chOff x="5791207" y="-4553901"/>
            <a:chExt cx="3336261" cy="11113993"/>
          </a:xfrm>
        </p:grpSpPr>
        <p:grpSp>
          <p:nvGrpSpPr>
            <p:cNvPr id="8" name="Group 7">
              <a:extLst>
                <a:ext uri="{FF2B5EF4-FFF2-40B4-BE49-F238E27FC236}">
                  <a16:creationId xmlns:a16="http://schemas.microsoft.com/office/drawing/2014/main" id="{2B757B7D-71C3-D546-93F0-F9AC1D34DEDD}"/>
                </a:ext>
              </a:extLst>
            </p:cNvPr>
            <p:cNvGrpSpPr/>
            <p:nvPr/>
          </p:nvGrpSpPr>
          <p:grpSpPr>
            <a:xfrm>
              <a:off x="5791207" y="-4553901"/>
              <a:ext cx="3336261" cy="11113993"/>
              <a:chOff x="5791207" y="-4553901"/>
              <a:chExt cx="3336261" cy="11113993"/>
            </a:xfrm>
          </p:grpSpPr>
          <p:grpSp>
            <p:nvGrpSpPr>
              <p:cNvPr id="13" name="Group 12">
                <a:extLst>
                  <a:ext uri="{FF2B5EF4-FFF2-40B4-BE49-F238E27FC236}">
                    <a16:creationId xmlns:a16="http://schemas.microsoft.com/office/drawing/2014/main" id="{7B71880C-F0A7-1340-9B09-FFA205782A20}"/>
                  </a:ext>
                </a:extLst>
              </p:cNvPr>
              <p:cNvGrpSpPr/>
              <p:nvPr/>
            </p:nvGrpSpPr>
            <p:grpSpPr>
              <a:xfrm>
                <a:off x="5908350" y="2589227"/>
                <a:ext cx="3142722" cy="3970865"/>
                <a:chOff x="4519612" y="1845732"/>
                <a:chExt cx="3142722" cy="3970865"/>
              </a:xfrm>
            </p:grpSpPr>
            <p:sp>
              <p:nvSpPr>
                <p:cNvPr id="17" name="Oval 16">
                  <a:extLst>
                    <a:ext uri="{FF2B5EF4-FFF2-40B4-BE49-F238E27FC236}">
                      <a16:creationId xmlns:a16="http://schemas.microsoft.com/office/drawing/2014/main" id="{ED50801A-C407-114C-81AD-5CD0CD81FDE0}"/>
                    </a:ext>
                  </a:extLst>
                </p:cNvPr>
                <p:cNvSpPr/>
                <p:nvPr/>
              </p:nvSpPr>
              <p:spPr>
                <a:xfrm>
                  <a:off x="4519612" y="1845732"/>
                  <a:ext cx="3142722" cy="3970865"/>
                </a:xfrm>
                <a:prstGeom prst="ellipse">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sz="3000" dirty="0">
                      <a:solidFill>
                        <a:schemeClr val="bg1"/>
                      </a:solidFill>
                    </a:rPr>
                    <a:t>NP</a:t>
                  </a:r>
                </a:p>
              </p:txBody>
            </p:sp>
            <p:sp>
              <p:nvSpPr>
                <p:cNvPr id="18" name="Oval 17">
                  <a:extLst>
                    <a:ext uri="{FF2B5EF4-FFF2-40B4-BE49-F238E27FC236}">
                      <a16:creationId xmlns:a16="http://schemas.microsoft.com/office/drawing/2014/main" id="{575E3227-AB57-2745-ACED-233C6840150D}"/>
                    </a:ext>
                  </a:extLst>
                </p:cNvPr>
                <p:cNvSpPr/>
                <p:nvPr/>
              </p:nvSpPr>
              <p:spPr>
                <a:xfrm>
                  <a:off x="4936067" y="3649131"/>
                  <a:ext cx="2269066" cy="2159000"/>
                </a:xfrm>
                <a:prstGeom prst="ellipse">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3000" dirty="0">
                      <a:solidFill>
                        <a:schemeClr val="bg1"/>
                      </a:solidFill>
                    </a:rPr>
                    <a:t>P</a:t>
                  </a:r>
                </a:p>
              </p:txBody>
            </p:sp>
          </p:grpSp>
          <p:sp>
            <p:nvSpPr>
              <p:cNvPr id="12" name="Arc 11">
                <a:extLst>
                  <a:ext uri="{FF2B5EF4-FFF2-40B4-BE49-F238E27FC236}">
                    <a16:creationId xmlns:a16="http://schemas.microsoft.com/office/drawing/2014/main" id="{F1869D0D-47F1-5346-B412-FD44F951097C}"/>
                  </a:ext>
                </a:extLst>
              </p:cNvPr>
              <p:cNvSpPr/>
              <p:nvPr/>
            </p:nvSpPr>
            <p:spPr>
              <a:xfrm>
                <a:off x="5791207" y="-4553901"/>
                <a:ext cx="3336261" cy="7263666"/>
              </a:xfrm>
              <a:prstGeom prst="arc">
                <a:avLst>
                  <a:gd name="adj1" fmla="val 334075"/>
                  <a:gd name="adj2" fmla="val 10164359"/>
                </a:avLst>
              </a:prstGeom>
              <a:solidFill>
                <a:schemeClr val="accent1"/>
              </a:solidFill>
              <a:ln>
                <a:solidFill>
                  <a:schemeClr val="bg1"/>
                </a:solidFill>
              </a:ln>
            </p:spPr>
            <p:style>
              <a:lnRef idx="1">
                <a:schemeClr val="accent1"/>
              </a:lnRef>
              <a:fillRef idx="0">
                <a:schemeClr val="accent1"/>
              </a:fillRef>
              <a:effectRef idx="0">
                <a:schemeClr val="accent1"/>
              </a:effectRef>
              <a:fontRef idx="minor">
                <a:schemeClr val="tx1"/>
              </a:fontRef>
            </p:style>
            <p:txBody>
              <a:bodyPr rtlCol="0" anchor="ctr"/>
              <a:lstStyle/>
              <a:p>
                <a:pPr algn="ctr"/>
                <a:r>
                  <a:rPr lang="en-US" sz="2400" dirty="0">
                    <a:solidFill>
                      <a:schemeClr val="bg1"/>
                    </a:solidFill>
                  </a:rPr>
                  <a:t>NP-Hard</a:t>
                </a:r>
              </a:p>
            </p:txBody>
          </p:sp>
        </p:grpSp>
        <p:sp>
          <p:nvSpPr>
            <p:cNvPr id="10" name="Oval 9">
              <a:extLst>
                <a:ext uri="{FF2B5EF4-FFF2-40B4-BE49-F238E27FC236}">
                  <a16:creationId xmlns:a16="http://schemas.microsoft.com/office/drawing/2014/main" id="{AA24C424-FD57-6D4C-90A9-355C050D3832}"/>
                </a:ext>
              </a:extLst>
            </p:cNvPr>
            <p:cNvSpPr/>
            <p:nvPr/>
          </p:nvSpPr>
          <p:spPr>
            <a:xfrm>
              <a:off x="7152238" y="2589227"/>
              <a:ext cx="624689" cy="120538"/>
            </a:xfrm>
            <a:prstGeom prst="ellipse">
              <a:avLst/>
            </a:prstGeom>
            <a:solidFill>
              <a:schemeClr val="accent3"/>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9" name="Content Placeholder 5">
            <a:extLst>
              <a:ext uri="{FF2B5EF4-FFF2-40B4-BE49-F238E27FC236}">
                <a16:creationId xmlns:a16="http://schemas.microsoft.com/office/drawing/2014/main" id="{CD110645-B39A-8149-8B8C-318C377AE0A8}"/>
              </a:ext>
            </a:extLst>
          </p:cNvPr>
          <p:cNvSpPr txBox="1">
            <a:spLocks/>
          </p:cNvSpPr>
          <p:nvPr/>
        </p:nvSpPr>
        <p:spPr>
          <a:xfrm>
            <a:off x="4397129" y="1852280"/>
            <a:ext cx="2302436" cy="1370753"/>
          </a:xfrm>
          <a:prstGeom prst="rect">
            <a:avLst/>
          </a:prstGeom>
          <a:ln>
            <a:solidFill>
              <a:schemeClr val="tx1">
                <a:lumMod val="95000"/>
              </a:schemeClr>
            </a:solidFill>
          </a:ln>
        </p:spPr>
        <p:txBody>
          <a:bodyPr vert="horz" lIns="91440" tIns="45720" rIns="91440" bIns="45720" rtlCol="0">
            <a:normAutofit fontScale="700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dirty="0"/>
              <a:t>If someone finds a polynomial time algorithm to ANY np-complete problem, then</a:t>
            </a:r>
          </a:p>
        </p:txBody>
      </p:sp>
      <p:sp>
        <p:nvSpPr>
          <p:cNvPr id="21" name="Right Arrow 20">
            <a:extLst>
              <a:ext uri="{FF2B5EF4-FFF2-40B4-BE49-F238E27FC236}">
                <a16:creationId xmlns:a16="http://schemas.microsoft.com/office/drawing/2014/main" id="{45A1661E-DAC3-494C-8A9F-7B424DB2884C}"/>
              </a:ext>
            </a:extLst>
          </p:cNvPr>
          <p:cNvSpPr/>
          <p:nvPr/>
        </p:nvSpPr>
        <p:spPr>
          <a:xfrm>
            <a:off x="4397129" y="3385996"/>
            <a:ext cx="2230008" cy="380246"/>
          </a:xfrm>
          <a:prstGeom prst="rightArrow">
            <a:avLst/>
          </a:prstGeom>
          <a:solidFill>
            <a:schemeClr val="tx1">
              <a:lumMod val="9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0" name="Group 29">
            <a:extLst>
              <a:ext uri="{FF2B5EF4-FFF2-40B4-BE49-F238E27FC236}">
                <a16:creationId xmlns:a16="http://schemas.microsoft.com/office/drawing/2014/main" id="{0BB691EA-1C81-D045-9EFE-1374EE49E69B}"/>
              </a:ext>
            </a:extLst>
          </p:cNvPr>
          <p:cNvGrpSpPr/>
          <p:nvPr/>
        </p:nvGrpSpPr>
        <p:grpSpPr>
          <a:xfrm>
            <a:off x="7498616" y="-4137442"/>
            <a:ext cx="3336261" cy="9547746"/>
            <a:chOff x="5877930" y="-4309457"/>
            <a:chExt cx="3336261" cy="9547746"/>
          </a:xfrm>
        </p:grpSpPr>
        <p:sp>
          <p:nvSpPr>
            <p:cNvPr id="34" name="Oval 33">
              <a:extLst>
                <a:ext uri="{FF2B5EF4-FFF2-40B4-BE49-F238E27FC236}">
                  <a16:creationId xmlns:a16="http://schemas.microsoft.com/office/drawing/2014/main" id="{A402ED03-849A-4F47-9F70-05AAFECF8EC2}"/>
                </a:ext>
              </a:extLst>
            </p:cNvPr>
            <p:cNvSpPr/>
            <p:nvPr/>
          </p:nvSpPr>
          <p:spPr>
            <a:xfrm>
              <a:off x="6255830" y="2889572"/>
              <a:ext cx="2577960" cy="2348717"/>
            </a:xfrm>
            <a:prstGeom prst="ellipse">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sz="3000" dirty="0">
                  <a:solidFill>
                    <a:schemeClr val="bg1"/>
                  </a:solidFill>
                </a:rPr>
                <a:t>P=NP</a:t>
              </a:r>
            </a:p>
          </p:txBody>
        </p:sp>
        <p:sp>
          <p:nvSpPr>
            <p:cNvPr id="33" name="Arc 32">
              <a:extLst>
                <a:ext uri="{FF2B5EF4-FFF2-40B4-BE49-F238E27FC236}">
                  <a16:creationId xmlns:a16="http://schemas.microsoft.com/office/drawing/2014/main" id="{B155F0A4-2632-E142-B636-00E543BD17EC}"/>
                </a:ext>
              </a:extLst>
            </p:cNvPr>
            <p:cNvSpPr/>
            <p:nvPr/>
          </p:nvSpPr>
          <p:spPr>
            <a:xfrm>
              <a:off x="5877930" y="-4309457"/>
              <a:ext cx="3336261" cy="7263666"/>
            </a:xfrm>
            <a:prstGeom prst="arc">
              <a:avLst>
                <a:gd name="adj1" fmla="val 334075"/>
                <a:gd name="adj2" fmla="val 10164359"/>
              </a:avLst>
            </a:prstGeom>
            <a:solidFill>
              <a:schemeClr val="accent1"/>
            </a:solidFill>
            <a:ln>
              <a:solidFill>
                <a:schemeClr val="bg1"/>
              </a:solidFill>
            </a:ln>
          </p:spPr>
          <p:style>
            <a:lnRef idx="1">
              <a:schemeClr val="accent1"/>
            </a:lnRef>
            <a:fillRef idx="0">
              <a:schemeClr val="accent1"/>
            </a:fillRef>
            <a:effectRef idx="0">
              <a:schemeClr val="accent1"/>
            </a:effectRef>
            <a:fontRef idx="minor">
              <a:schemeClr val="tx1"/>
            </a:fontRef>
          </p:style>
          <p:txBody>
            <a:bodyPr rtlCol="0" anchor="ctr"/>
            <a:lstStyle/>
            <a:p>
              <a:pPr algn="ctr"/>
              <a:r>
                <a:rPr lang="en-US" sz="2400" dirty="0">
                  <a:solidFill>
                    <a:schemeClr val="bg1"/>
                  </a:solidFill>
                </a:rPr>
                <a:t>P-Hard</a:t>
              </a:r>
              <a:br>
                <a:rPr lang="en-US" sz="2400" dirty="0">
                  <a:solidFill>
                    <a:schemeClr val="bg1"/>
                  </a:solidFill>
                </a:rPr>
              </a:br>
              <a:r>
                <a:rPr lang="en-US" sz="2400" dirty="0">
                  <a:solidFill>
                    <a:schemeClr val="bg1"/>
                  </a:solidFill>
                </a:rPr>
                <a:t>NP-Hard</a:t>
              </a:r>
            </a:p>
          </p:txBody>
        </p:sp>
      </p:grpSp>
      <p:sp>
        <p:nvSpPr>
          <p:cNvPr id="36" name="Content Placeholder 5">
            <a:extLst>
              <a:ext uri="{FF2B5EF4-FFF2-40B4-BE49-F238E27FC236}">
                <a16:creationId xmlns:a16="http://schemas.microsoft.com/office/drawing/2014/main" id="{D3D1747B-E57D-6F4C-B227-C98B9B25445B}"/>
              </a:ext>
            </a:extLst>
          </p:cNvPr>
          <p:cNvSpPr txBox="1">
            <a:spLocks/>
          </p:cNvSpPr>
          <p:nvPr/>
        </p:nvSpPr>
        <p:spPr>
          <a:xfrm>
            <a:off x="7013115" y="5644141"/>
            <a:ext cx="4304761" cy="932507"/>
          </a:xfrm>
          <a:prstGeom prst="rect">
            <a:avLst/>
          </a:prstGeom>
          <a:ln>
            <a:solidFill>
              <a:schemeClr val="tx1">
                <a:lumMod val="95000"/>
              </a:schemeClr>
            </a:solidFill>
          </a:ln>
        </p:spPr>
        <p:txBody>
          <a:bodyPr vert="horz" lIns="91440" tIns="45720" rIns="91440" bIns="45720" rtlCol="0">
            <a:normAutofit fontScale="700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dirty="0"/>
              <a:t>Suddenly, through various reductions there is a fast (polynomial) algorithm for every NP problem!</a:t>
            </a:r>
          </a:p>
        </p:txBody>
      </p:sp>
    </p:spTree>
    <p:extLst>
      <p:ext uri="{BB962C8B-B14F-4D97-AF65-F5344CB8AC3E}">
        <p14:creationId xmlns:p14="http://schemas.microsoft.com/office/powerpoint/2010/main" val="2744331530"/>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lstStyle/>
          <a:p>
            <a:pPr algn="ctr"/>
            <a:r>
              <a:rPr lang="en-US" dirty="0"/>
              <a:t>Another reduction:</a:t>
            </a:r>
            <a:br>
              <a:rPr lang="en-US" dirty="0"/>
            </a:br>
            <a:r>
              <a:rPr lang="en-US" dirty="0"/>
              <a:t>3-Coloring</a:t>
            </a:r>
          </a:p>
        </p:txBody>
      </p:sp>
    </p:spTree>
    <p:extLst>
      <p:ext uri="{BB962C8B-B14F-4D97-AF65-F5344CB8AC3E}">
        <p14:creationId xmlns:p14="http://schemas.microsoft.com/office/powerpoint/2010/main" val="1878760689"/>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41413" y="148001"/>
            <a:ext cx="9905998" cy="797387"/>
          </a:xfrm>
        </p:spPr>
        <p:txBody>
          <a:bodyPr/>
          <a:lstStyle/>
          <a:p>
            <a:pPr algn="ctr"/>
            <a:r>
              <a:rPr lang="en-US" dirty="0"/>
              <a:t>3-Coloring</a:t>
            </a:r>
          </a:p>
        </p:txBody>
      </p:sp>
      <p:sp>
        <p:nvSpPr>
          <p:cNvPr id="4" name="Content Placeholder 3"/>
          <p:cNvSpPr>
            <a:spLocks noGrp="1"/>
          </p:cNvSpPr>
          <p:nvPr>
            <p:ph sz="quarter" idx="1"/>
          </p:nvPr>
        </p:nvSpPr>
        <p:spPr>
          <a:xfrm>
            <a:off x="1407741" y="1574977"/>
            <a:ext cx="4878389" cy="1523329"/>
          </a:xfrm>
          <a:ln>
            <a:solidFill>
              <a:schemeClr val="tx1">
                <a:lumMod val="95000"/>
              </a:schemeClr>
            </a:solidFill>
          </a:ln>
        </p:spPr>
        <p:txBody>
          <a:bodyPr>
            <a:normAutofit fontScale="70000" lnSpcReduction="20000"/>
          </a:bodyPr>
          <a:lstStyle/>
          <a:p>
            <a:pPr marL="0" indent="0" algn="ctr">
              <a:buNone/>
            </a:pPr>
            <a:r>
              <a:rPr lang="en-US" b="1" i="1" u="sng" dirty="0"/>
              <a:t>Problem Statement</a:t>
            </a:r>
            <a:r>
              <a:rPr lang="en-US" i="1" dirty="0"/>
              <a:t>:</a:t>
            </a:r>
            <a:br>
              <a:rPr lang="en-US" i="1" dirty="0"/>
            </a:br>
            <a:r>
              <a:rPr lang="en-US" i="1" dirty="0"/>
              <a:t>Given graph G, and three colors c1, c2, c3 (not really given as input), c</a:t>
            </a:r>
            <a:r>
              <a:rPr lang="en-US" dirty="0"/>
              <a:t>an we color the graph with these colors such that no adjacent nodes have the same color.</a:t>
            </a:r>
          </a:p>
          <a:p>
            <a:pPr marL="0" indent="0" algn="ctr">
              <a:buNone/>
            </a:pPr>
            <a:endParaRPr lang="en-US" i="1" dirty="0"/>
          </a:p>
        </p:txBody>
      </p:sp>
      <p:pic>
        <p:nvPicPr>
          <p:cNvPr id="1030" name="Picture 6" descr="File:Triangulation 3-coloring.sv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690803" y="1262903"/>
            <a:ext cx="4476750" cy="4712370"/>
          </a:xfrm>
          <a:prstGeom prst="rect">
            <a:avLst/>
          </a:prstGeom>
          <a:noFill/>
          <a:extLst>
            <a:ext uri="{909E8E84-426E-40dd-AFC4-6F175D3DCCD1}">
              <a14:hiddenFill xmlns:a14="http://schemas.microsoft.com/office/drawing/2010/main" xmlns="">
                <a:solidFill>
                  <a:srgbClr val="FFFFFF"/>
                </a:solidFill>
              </a14:hiddenFill>
            </a:ext>
          </a:extLst>
        </p:spPr>
      </p:pic>
      <p:sp>
        <p:nvSpPr>
          <p:cNvPr id="6" name="Content Placeholder 3">
            <a:extLst>
              <a:ext uri="{FF2B5EF4-FFF2-40B4-BE49-F238E27FC236}">
                <a16:creationId xmlns:a16="http://schemas.microsoft.com/office/drawing/2014/main" id="{B47BCBD2-E8B4-664C-8B6C-6165F5148D17}"/>
              </a:ext>
            </a:extLst>
          </p:cNvPr>
          <p:cNvSpPr txBox="1">
            <a:spLocks/>
          </p:cNvSpPr>
          <p:nvPr/>
        </p:nvSpPr>
        <p:spPr>
          <a:xfrm>
            <a:off x="1962795" y="4886754"/>
            <a:ext cx="5583224" cy="1088519"/>
          </a:xfrm>
          <a:prstGeom prst="rect">
            <a:avLst/>
          </a:prstGeom>
        </p:spPr>
        <p:txBody>
          <a:bodyPr vert="horz" lIns="91440" tIns="45720" rIns="91440" bIns="45720" rtlCol="0">
            <a:normAutofit fontScale="85000"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None/>
            </a:pPr>
            <a:r>
              <a:rPr lang="en-US" dirty="0"/>
              <a:t>Turns out that 3-Coloring is NP-Complete, and problems like this should start “feeling” NP-Complete to you.</a:t>
            </a:r>
          </a:p>
        </p:txBody>
      </p:sp>
    </p:spTree>
    <p:extLst>
      <p:ext uri="{BB962C8B-B14F-4D97-AF65-F5344CB8AC3E}">
        <p14:creationId xmlns:p14="http://schemas.microsoft.com/office/powerpoint/2010/main" val="2245955274"/>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p:cNvSpPr>
                <a:spLocks noGrp="1"/>
              </p:cNvSpPr>
              <p:nvPr>
                <p:ph type="title"/>
              </p:nvPr>
            </p:nvSpPr>
            <p:spPr>
              <a:xfrm>
                <a:off x="1141413" y="326848"/>
                <a:ext cx="9905998" cy="603310"/>
              </a:xfrm>
            </p:spPr>
            <p:txBody>
              <a:bodyPr/>
              <a:lstStyle/>
              <a:p>
                <a:pPr algn="ctr"/>
                <a:r>
                  <a:rPr lang="en-US" b="0" dirty="0"/>
                  <a:t>Showing that </a:t>
                </a:r>
                <a14:m>
                  <m:oMath xmlns:m="http://schemas.openxmlformats.org/officeDocument/2006/math">
                    <m:r>
                      <a:rPr lang="en-US" i="1" dirty="0" smtClean="0">
                        <a:latin typeface="Cambria Math" panose="02040503050406030204" pitchFamily="18" charset="0"/>
                      </a:rPr>
                      <m:t>3</m:t>
                    </m:r>
                    <m:r>
                      <a:rPr lang="en-US" b="0" i="1" dirty="0" smtClean="0">
                        <a:latin typeface="Cambria Math" panose="02040503050406030204" pitchFamily="18" charset="0"/>
                      </a:rPr>
                      <m:t>𝐶</m:t>
                    </m:r>
                    <m:r>
                      <a:rPr lang="en-US" b="0" i="1" dirty="0" smtClean="0">
                        <a:latin typeface="Cambria Math" panose="02040503050406030204" pitchFamily="18" charset="0"/>
                      </a:rPr>
                      <m:t>∈</m:t>
                    </m:r>
                    <m:r>
                      <a:rPr lang="en-US" b="0" i="1" dirty="0" smtClean="0">
                        <a:latin typeface="Cambria Math" panose="02040503050406030204" pitchFamily="18" charset="0"/>
                      </a:rPr>
                      <m:t>𝑁𝑃𝐶</m:t>
                    </m:r>
                  </m:oMath>
                </a14:m>
                <a:endParaRPr lang="en-US" dirty="0"/>
              </a:p>
            </p:txBody>
          </p:sp>
        </mc:Choice>
        <mc:Fallback xmlns="">
          <p:sp>
            <p:nvSpPr>
              <p:cNvPr id="2" name="Title 1"/>
              <p:cNvSpPr>
                <a:spLocks noGrp="1" noRot="1" noChangeAspect="1" noMove="1" noResize="1" noEditPoints="1" noAdjustHandles="1" noChangeArrowheads="1" noChangeShapeType="1" noTextEdit="1"/>
              </p:cNvSpPr>
              <p:nvPr>
                <p:ph type="title"/>
              </p:nvPr>
            </p:nvSpPr>
            <p:spPr>
              <a:xfrm>
                <a:off x="1141413" y="326848"/>
                <a:ext cx="9905998" cy="603310"/>
              </a:xfrm>
              <a:blipFill>
                <a:blip r:embed="rId2"/>
                <a:stretch>
                  <a:fillRect t="-22917" b="-3541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Content Placeholder 2"/>
              <p:cNvSpPr>
                <a:spLocks noGrp="1"/>
              </p:cNvSpPr>
              <p:nvPr>
                <p:ph sz="quarter" idx="1"/>
              </p:nvPr>
            </p:nvSpPr>
            <p:spPr>
              <a:xfrm>
                <a:off x="1070468" y="1744991"/>
                <a:ext cx="9905999" cy="477948"/>
              </a:xfrm>
            </p:spPr>
            <p:txBody>
              <a:bodyPr>
                <a:normAutofit/>
              </a:bodyPr>
              <a:lstStyle/>
              <a:p>
                <a:pPr marL="0" indent="0">
                  <a:buNone/>
                </a:pPr>
                <a:r>
                  <a:rPr lang="en-US" sz="1800" dirty="0"/>
                  <a:t>To show that </a:t>
                </a:r>
                <a14:m>
                  <m:oMath xmlns:m="http://schemas.openxmlformats.org/officeDocument/2006/math">
                    <m:r>
                      <a:rPr lang="en-US" sz="1800" b="0" i="0" smtClean="0">
                        <a:latin typeface="Cambria Math" panose="02040503050406030204" pitchFamily="18" charset="0"/>
                      </a:rPr>
                      <m:t>3</m:t>
                    </m:r>
                    <m:r>
                      <m:rPr>
                        <m:sty m:val="p"/>
                      </m:rPr>
                      <a:rPr lang="en-US" sz="1800" b="0" i="0" smtClean="0">
                        <a:latin typeface="Cambria Math" panose="02040503050406030204" pitchFamily="18" charset="0"/>
                      </a:rPr>
                      <m:t>C</m:t>
                    </m:r>
                    <m:r>
                      <a:rPr lang="en-US" sz="1800" b="0" i="1" smtClean="0">
                        <a:latin typeface="Cambria Math" panose="02040503050406030204" pitchFamily="18" charset="0"/>
                      </a:rPr>
                      <m:t>∈</m:t>
                    </m:r>
                    <m:r>
                      <a:rPr lang="en-US" sz="1800" b="0" i="1" smtClean="0">
                        <a:latin typeface="Cambria Math" panose="02040503050406030204" pitchFamily="18" charset="0"/>
                      </a:rPr>
                      <m:t>𝑁𝑃𝐶</m:t>
                    </m:r>
                  </m:oMath>
                </a14:m>
                <a:r>
                  <a:rPr lang="en-US" sz="1800" dirty="0"/>
                  <a:t>, we must show both that:</a:t>
                </a:r>
              </a:p>
            </p:txBody>
          </p:sp>
        </mc:Choice>
        <mc:Fallback xmlns="">
          <p:sp>
            <p:nvSpPr>
              <p:cNvPr id="3" name="Content Placeholder 2"/>
              <p:cNvSpPr>
                <a:spLocks noGrp="1" noRot="1" noChangeAspect="1" noMove="1" noResize="1" noEditPoints="1" noAdjustHandles="1" noChangeArrowheads="1" noChangeShapeType="1" noTextEdit="1"/>
              </p:cNvSpPr>
              <p:nvPr>
                <p:ph sz="quarter" idx="1"/>
              </p:nvPr>
            </p:nvSpPr>
            <p:spPr>
              <a:xfrm>
                <a:off x="1070468" y="1744991"/>
                <a:ext cx="9905999" cy="477948"/>
              </a:xfrm>
              <a:blipFill>
                <a:blip r:embed="rId3"/>
                <a:stretch>
                  <a:fillRect l="-513" b="-256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Content Placeholder 2">
                <a:extLst>
                  <a:ext uri="{FF2B5EF4-FFF2-40B4-BE49-F238E27FC236}">
                    <a16:creationId xmlns:a16="http://schemas.microsoft.com/office/drawing/2014/main" id="{12063473-8A28-4A47-9CBA-0765249DEEC2}"/>
                  </a:ext>
                </a:extLst>
              </p:cNvPr>
              <p:cNvSpPr txBox="1">
                <a:spLocks/>
              </p:cNvSpPr>
              <p:nvPr/>
            </p:nvSpPr>
            <p:spPr>
              <a:xfrm>
                <a:off x="1141413" y="2177887"/>
                <a:ext cx="4423817" cy="1779735"/>
              </a:xfrm>
              <a:prstGeom prst="rect">
                <a:avLst/>
              </a:prstGeom>
              <a:solidFill>
                <a:schemeClr val="tx1">
                  <a:lumMod val="95000"/>
                </a:schemeClr>
              </a:solidFill>
              <a:ln>
                <a:solidFill>
                  <a:schemeClr val="bg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14:m>
                  <m:oMathPara xmlns:m="http://schemas.openxmlformats.org/officeDocument/2006/math">
                    <m:oMathParaPr>
                      <m:jc m:val="center"/>
                    </m:oMathParaPr>
                    <m:oMath xmlns:m="http://schemas.openxmlformats.org/officeDocument/2006/math">
                      <m:r>
                        <a:rPr lang="en-US" sz="1800" b="0" i="1" smtClean="0">
                          <a:solidFill>
                            <a:schemeClr val="bg1"/>
                          </a:solidFill>
                          <a:latin typeface="Cambria Math" panose="02040503050406030204" pitchFamily="18" charset="0"/>
                        </a:rPr>
                        <m:t>3</m:t>
                      </m:r>
                      <m:r>
                        <a:rPr lang="en-US" sz="1800" b="0" i="1" smtClean="0">
                          <a:solidFill>
                            <a:schemeClr val="bg1"/>
                          </a:solidFill>
                          <a:latin typeface="Cambria Math" panose="02040503050406030204" pitchFamily="18" charset="0"/>
                        </a:rPr>
                        <m:t>𝐶</m:t>
                      </m:r>
                      <m:r>
                        <a:rPr lang="en-US" sz="1800" b="0" i="1" smtClean="0">
                          <a:solidFill>
                            <a:schemeClr val="bg1"/>
                          </a:solidFill>
                          <a:latin typeface="Cambria Math" panose="02040503050406030204" pitchFamily="18" charset="0"/>
                        </a:rPr>
                        <m:t>∈</m:t>
                      </m:r>
                      <m:r>
                        <a:rPr lang="en-US" sz="1800" b="0" i="1" smtClean="0">
                          <a:solidFill>
                            <a:schemeClr val="bg1"/>
                          </a:solidFill>
                          <a:latin typeface="Cambria Math" panose="02040503050406030204" pitchFamily="18" charset="0"/>
                        </a:rPr>
                        <m:t>𝑁𝑃</m:t>
                      </m:r>
                    </m:oMath>
                  </m:oMathPara>
                </a14:m>
                <a:endParaRPr lang="en-US" sz="1800" dirty="0">
                  <a:solidFill>
                    <a:schemeClr val="bg1"/>
                  </a:solidFill>
                </a:endParaRPr>
              </a:p>
              <a:p>
                <a:pPr marL="0" indent="0" algn="ctr">
                  <a:buFont typeface="Arial" panose="020B0604020202020204" pitchFamily="34" charset="0"/>
                  <a:buNone/>
                </a:pPr>
                <a:endParaRPr lang="en-US" sz="1800" dirty="0">
                  <a:solidFill>
                    <a:schemeClr val="bg1"/>
                  </a:solidFill>
                </a:endParaRPr>
              </a:p>
              <a:p>
                <a:pPr marL="0" indent="0" algn="ctr">
                  <a:buFont typeface="Arial" panose="020B0604020202020204" pitchFamily="34" charset="0"/>
                  <a:buNone/>
                </a:pPr>
                <a:r>
                  <a:rPr lang="en-US" sz="1800" dirty="0">
                    <a:solidFill>
                      <a:schemeClr val="bg1"/>
                    </a:solidFill>
                  </a:rPr>
                  <a:t>Provide a verifier TM that runs in Polynomial Time</a:t>
                </a:r>
              </a:p>
            </p:txBody>
          </p:sp>
        </mc:Choice>
        <mc:Fallback xmlns="">
          <p:sp>
            <p:nvSpPr>
              <p:cNvPr id="5" name="Content Placeholder 2">
                <a:extLst>
                  <a:ext uri="{FF2B5EF4-FFF2-40B4-BE49-F238E27FC236}">
                    <a16:creationId xmlns:a16="http://schemas.microsoft.com/office/drawing/2014/main" id="{12063473-8A28-4A47-9CBA-0765249DEEC2}"/>
                  </a:ext>
                </a:extLst>
              </p:cNvPr>
              <p:cNvSpPr txBox="1">
                <a:spLocks noRot="1" noChangeAspect="1" noMove="1" noResize="1" noEditPoints="1" noAdjustHandles="1" noChangeArrowheads="1" noChangeShapeType="1" noTextEdit="1"/>
              </p:cNvSpPr>
              <p:nvPr/>
            </p:nvSpPr>
            <p:spPr>
              <a:xfrm>
                <a:off x="1141413" y="2177887"/>
                <a:ext cx="4423817" cy="1779735"/>
              </a:xfrm>
              <a:prstGeom prst="rect">
                <a:avLst/>
              </a:prstGeom>
              <a:blipFill>
                <a:blip r:embed="rId4"/>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Content Placeholder 2">
                <a:extLst>
                  <a:ext uri="{FF2B5EF4-FFF2-40B4-BE49-F238E27FC236}">
                    <a16:creationId xmlns:a16="http://schemas.microsoft.com/office/drawing/2014/main" id="{347E063C-4014-2747-B5DF-2F3FAAFF4FDD}"/>
                  </a:ext>
                </a:extLst>
              </p:cNvPr>
              <p:cNvSpPr txBox="1">
                <a:spLocks/>
              </p:cNvSpPr>
              <p:nvPr/>
            </p:nvSpPr>
            <p:spPr>
              <a:xfrm>
                <a:off x="6238048" y="2177886"/>
                <a:ext cx="4423817" cy="1779735"/>
              </a:xfrm>
              <a:prstGeom prst="rect">
                <a:avLst/>
              </a:prstGeom>
              <a:solidFill>
                <a:schemeClr val="tx1">
                  <a:lumMod val="95000"/>
                </a:schemeClr>
              </a:solidFill>
              <a:ln>
                <a:solidFill>
                  <a:schemeClr val="bg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800" b="0" dirty="0">
                    <a:solidFill>
                      <a:schemeClr val="bg1"/>
                    </a:solidFill>
                  </a:rPr>
                  <a:t>3</a:t>
                </a:r>
                <a14:m>
                  <m:oMath xmlns:m="http://schemas.openxmlformats.org/officeDocument/2006/math">
                    <m:r>
                      <a:rPr lang="en-US" sz="1800" b="0" i="1" smtClean="0">
                        <a:solidFill>
                          <a:schemeClr val="bg1"/>
                        </a:solidFill>
                        <a:latin typeface="Cambria Math" panose="02040503050406030204" pitchFamily="18" charset="0"/>
                      </a:rPr>
                      <m:t>𝐶</m:t>
                    </m:r>
                    <m:r>
                      <a:rPr lang="en-US" sz="1800" b="0" i="1" smtClean="0">
                        <a:solidFill>
                          <a:schemeClr val="bg1"/>
                        </a:solidFill>
                        <a:latin typeface="Cambria Math" panose="02040503050406030204" pitchFamily="18" charset="0"/>
                      </a:rPr>
                      <m:t>∈</m:t>
                    </m:r>
                    <m:r>
                      <a:rPr lang="en-US" sz="1800" b="0" i="1" smtClean="0">
                        <a:solidFill>
                          <a:schemeClr val="bg1"/>
                        </a:solidFill>
                        <a:latin typeface="Cambria Math" panose="02040503050406030204" pitchFamily="18" charset="0"/>
                      </a:rPr>
                      <m:t>𝑁𝑃</m:t>
                    </m:r>
                    <m:r>
                      <a:rPr lang="en-US" sz="1800" b="0" i="1" smtClean="0">
                        <a:solidFill>
                          <a:schemeClr val="bg1"/>
                        </a:solidFill>
                        <a:latin typeface="Cambria Math" panose="02040503050406030204" pitchFamily="18" charset="0"/>
                      </a:rPr>
                      <m:t>−</m:t>
                    </m:r>
                    <m:r>
                      <a:rPr lang="en-US" sz="1800" b="0" i="1" smtClean="0">
                        <a:solidFill>
                          <a:schemeClr val="bg1"/>
                        </a:solidFill>
                        <a:latin typeface="Cambria Math" panose="02040503050406030204" pitchFamily="18" charset="0"/>
                      </a:rPr>
                      <m:t>𝐻𝐴𝑅𝐷</m:t>
                    </m:r>
                  </m:oMath>
                </a14:m>
                <a:endParaRPr lang="en-US" sz="1800" dirty="0">
                  <a:solidFill>
                    <a:schemeClr val="bg1"/>
                  </a:solidFill>
                </a:endParaRPr>
              </a:p>
              <a:p>
                <a:pPr marL="0" indent="0" algn="ctr">
                  <a:buFont typeface="Arial" panose="020B0604020202020204" pitchFamily="34" charset="0"/>
                  <a:buNone/>
                </a:pPr>
                <a:br>
                  <a:rPr lang="en-US" sz="1800" dirty="0">
                    <a:solidFill>
                      <a:schemeClr val="bg1"/>
                    </a:solidFill>
                  </a:rPr>
                </a:br>
                <a14:m>
                  <m:oMathPara xmlns:m="http://schemas.openxmlformats.org/officeDocument/2006/math">
                    <m:oMathParaPr>
                      <m:jc m:val="centerGroup"/>
                    </m:oMathParaPr>
                    <m:oMath xmlns:m="http://schemas.openxmlformats.org/officeDocument/2006/math">
                      <m:r>
                        <a:rPr lang="en-US" sz="1800" b="1" i="1" smtClean="0">
                          <a:solidFill>
                            <a:schemeClr val="bg1"/>
                          </a:solidFill>
                          <a:latin typeface="Cambria Math" panose="02040503050406030204" pitchFamily="18" charset="0"/>
                        </a:rPr>
                        <m:t>𝟑</m:t>
                      </m:r>
                      <m:r>
                        <a:rPr lang="en-US" sz="1800" b="1" i="1" smtClean="0">
                          <a:solidFill>
                            <a:schemeClr val="bg1"/>
                          </a:solidFill>
                          <a:latin typeface="Cambria Math" panose="02040503050406030204" pitchFamily="18" charset="0"/>
                        </a:rPr>
                        <m:t>𝑺𝑨𝑻</m:t>
                      </m:r>
                      <m:sSub>
                        <m:sSubPr>
                          <m:ctrlPr>
                            <a:rPr lang="en-US" sz="1800" b="1" i="1" smtClean="0">
                              <a:solidFill>
                                <a:schemeClr val="bg1"/>
                              </a:solidFill>
                              <a:latin typeface="Cambria Math" panose="02040503050406030204" pitchFamily="18" charset="0"/>
                            </a:rPr>
                          </m:ctrlPr>
                        </m:sSubPr>
                        <m:e>
                          <m:r>
                            <a:rPr lang="en-US" sz="1800" b="1" i="1" smtClean="0">
                              <a:solidFill>
                                <a:schemeClr val="bg1"/>
                              </a:solidFill>
                              <a:latin typeface="Cambria Math" panose="02040503050406030204" pitchFamily="18" charset="0"/>
                            </a:rPr>
                            <m:t>≤</m:t>
                          </m:r>
                        </m:e>
                        <m:sub>
                          <m:r>
                            <a:rPr lang="en-US" sz="1800" b="1" i="1" smtClean="0">
                              <a:solidFill>
                                <a:schemeClr val="bg1"/>
                              </a:solidFill>
                              <a:latin typeface="Cambria Math" panose="02040503050406030204" pitchFamily="18" charset="0"/>
                            </a:rPr>
                            <m:t>𝒑</m:t>
                          </m:r>
                        </m:sub>
                      </m:sSub>
                      <m:r>
                        <a:rPr lang="en-US" sz="1800" b="1" i="1" smtClean="0">
                          <a:solidFill>
                            <a:schemeClr val="bg1"/>
                          </a:solidFill>
                          <a:latin typeface="Cambria Math" panose="02040503050406030204" pitchFamily="18" charset="0"/>
                        </a:rPr>
                        <m:t>𝑽𝑪</m:t>
                      </m:r>
                    </m:oMath>
                  </m:oMathPara>
                </a14:m>
                <a:endParaRPr lang="en-US" sz="1800" b="1" dirty="0">
                  <a:solidFill>
                    <a:schemeClr val="bg1"/>
                  </a:solidFill>
                </a:endParaRPr>
              </a:p>
            </p:txBody>
          </p:sp>
        </mc:Choice>
        <mc:Fallback xmlns="">
          <p:sp>
            <p:nvSpPr>
              <p:cNvPr id="6" name="Content Placeholder 2">
                <a:extLst>
                  <a:ext uri="{FF2B5EF4-FFF2-40B4-BE49-F238E27FC236}">
                    <a16:creationId xmlns:a16="http://schemas.microsoft.com/office/drawing/2014/main" id="{347E063C-4014-2747-B5DF-2F3FAAFF4FDD}"/>
                  </a:ext>
                </a:extLst>
              </p:cNvPr>
              <p:cNvSpPr txBox="1">
                <a:spLocks noRot="1" noChangeAspect="1" noMove="1" noResize="1" noEditPoints="1" noAdjustHandles="1" noChangeArrowheads="1" noChangeShapeType="1" noTextEdit="1"/>
              </p:cNvSpPr>
              <p:nvPr/>
            </p:nvSpPr>
            <p:spPr>
              <a:xfrm>
                <a:off x="6238048" y="2177886"/>
                <a:ext cx="4423817" cy="1779735"/>
              </a:xfrm>
              <a:prstGeom prst="rect">
                <a:avLst/>
              </a:prstGeom>
              <a:blipFill>
                <a:blip r:embed="rId5"/>
                <a:stretch>
                  <a:fillRect/>
                </a:stretch>
              </a:blipFill>
              <a:ln>
                <a:solidFill>
                  <a:schemeClr val="bg1"/>
                </a:solidFill>
              </a:ln>
            </p:spPr>
            <p:txBody>
              <a:bodyPr/>
              <a:lstStyle/>
              <a:p>
                <a:r>
                  <a:rPr lang="en-US">
                    <a:noFill/>
                  </a:rPr>
                  <a:t> </a:t>
                </a:r>
              </a:p>
            </p:txBody>
          </p:sp>
        </mc:Fallback>
      </mc:AlternateContent>
      <p:sp>
        <p:nvSpPr>
          <p:cNvPr id="11" name="Content Placeholder 2">
            <a:extLst>
              <a:ext uri="{FF2B5EF4-FFF2-40B4-BE49-F238E27FC236}">
                <a16:creationId xmlns:a16="http://schemas.microsoft.com/office/drawing/2014/main" id="{4A28EFFD-022F-1E4E-9149-D8B803B3D932}"/>
              </a:ext>
            </a:extLst>
          </p:cNvPr>
          <p:cNvSpPr txBox="1">
            <a:spLocks/>
          </p:cNvSpPr>
          <p:nvPr/>
        </p:nvSpPr>
        <p:spPr>
          <a:xfrm>
            <a:off x="2030075" y="4883440"/>
            <a:ext cx="1835755" cy="983206"/>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800" dirty="0"/>
              <a:t>As usual, this one is pretty simple</a:t>
            </a:r>
          </a:p>
        </p:txBody>
      </p:sp>
      <p:cxnSp>
        <p:nvCxnSpPr>
          <p:cNvPr id="8" name="Straight Connector 7">
            <a:extLst>
              <a:ext uri="{FF2B5EF4-FFF2-40B4-BE49-F238E27FC236}">
                <a16:creationId xmlns:a16="http://schemas.microsoft.com/office/drawing/2014/main" id="{30E16DAD-3F7A-1949-893B-94CA289CB518}"/>
              </a:ext>
            </a:extLst>
          </p:cNvPr>
          <p:cNvCxnSpPr>
            <a:cxnSpLocks/>
          </p:cNvCxnSpPr>
          <p:nvPr/>
        </p:nvCxnSpPr>
        <p:spPr>
          <a:xfrm flipV="1">
            <a:off x="2946664" y="4074059"/>
            <a:ext cx="330690" cy="734547"/>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
        <p:nvSpPr>
          <p:cNvPr id="12" name="Content Placeholder 2">
            <a:extLst>
              <a:ext uri="{FF2B5EF4-FFF2-40B4-BE49-F238E27FC236}">
                <a16:creationId xmlns:a16="http://schemas.microsoft.com/office/drawing/2014/main" id="{EF859B45-EF18-B345-AECB-BD00FC6A9752}"/>
              </a:ext>
            </a:extLst>
          </p:cNvPr>
          <p:cNvSpPr txBox="1">
            <a:spLocks/>
          </p:cNvSpPr>
          <p:nvPr/>
        </p:nvSpPr>
        <p:spPr>
          <a:xfrm>
            <a:off x="8411259" y="5375043"/>
            <a:ext cx="1835755" cy="983206"/>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800" dirty="0"/>
              <a:t>Let’s use 3-SAT this time</a:t>
            </a:r>
          </a:p>
        </p:txBody>
      </p:sp>
      <p:cxnSp>
        <p:nvCxnSpPr>
          <p:cNvPr id="13" name="Straight Connector 12">
            <a:extLst>
              <a:ext uri="{FF2B5EF4-FFF2-40B4-BE49-F238E27FC236}">
                <a16:creationId xmlns:a16="http://schemas.microsoft.com/office/drawing/2014/main" id="{C412F500-D627-DD46-A859-2E5854E7A90D}"/>
              </a:ext>
            </a:extLst>
          </p:cNvPr>
          <p:cNvCxnSpPr>
            <a:cxnSpLocks/>
          </p:cNvCxnSpPr>
          <p:nvPr/>
        </p:nvCxnSpPr>
        <p:spPr>
          <a:xfrm flipH="1" flipV="1">
            <a:off x="8682273" y="4146487"/>
            <a:ext cx="645575" cy="1153723"/>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57433124"/>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p:cNvSpPr>
                <a:spLocks noGrp="1"/>
              </p:cNvSpPr>
              <p:nvPr>
                <p:ph type="title"/>
              </p:nvPr>
            </p:nvSpPr>
            <p:spPr>
              <a:xfrm>
                <a:off x="1141413" y="326848"/>
                <a:ext cx="9905998" cy="603310"/>
              </a:xfrm>
            </p:spPr>
            <p:txBody>
              <a:bodyPr/>
              <a:lstStyle/>
              <a:p>
                <a:pPr algn="ctr"/>
                <a:r>
                  <a:rPr lang="en-US" b="0" dirty="0"/>
                  <a:t>Showing that </a:t>
                </a:r>
                <a14:m>
                  <m:oMath xmlns:m="http://schemas.openxmlformats.org/officeDocument/2006/math">
                    <m:r>
                      <a:rPr lang="en-US" i="1" dirty="0" smtClean="0">
                        <a:latin typeface="Cambria Math" panose="02040503050406030204" pitchFamily="18" charset="0"/>
                      </a:rPr>
                      <m:t>𝑉</m:t>
                    </m:r>
                    <m:r>
                      <a:rPr lang="en-US" b="0" i="1" dirty="0" smtClean="0">
                        <a:latin typeface="Cambria Math" panose="02040503050406030204" pitchFamily="18" charset="0"/>
                      </a:rPr>
                      <m:t>𝐶</m:t>
                    </m:r>
                    <m:r>
                      <a:rPr lang="en-US" b="0" i="1" dirty="0" smtClean="0">
                        <a:latin typeface="Cambria Math" panose="02040503050406030204" pitchFamily="18" charset="0"/>
                      </a:rPr>
                      <m:t>∈</m:t>
                    </m:r>
                    <m:r>
                      <a:rPr lang="en-US" b="0" i="1" dirty="0" smtClean="0">
                        <a:latin typeface="Cambria Math" panose="02040503050406030204" pitchFamily="18" charset="0"/>
                      </a:rPr>
                      <m:t>𝑁𝑃𝐶</m:t>
                    </m:r>
                  </m:oMath>
                </a14:m>
                <a:endParaRPr lang="en-US" dirty="0"/>
              </a:p>
            </p:txBody>
          </p:sp>
        </mc:Choice>
        <mc:Fallback xmlns="">
          <p:sp>
            <p:nvSpPr>
              <p:cNvPr id="2" name="Title 1"/>
              <p:cNvSpPr>
                <a:spLocks noGrp="1" noRot="1" noChangeAspect="1" noMove="1" noResize="1" noEditPoints="1" noAdjustHandles="1" noChangeArrowheads="1" noChangeShapeType="1" noTextEdit="1"/>
              </p:cNvSpPr>
              <p:nvPr>
                <p:ph type="title"/>
              </p:nvPr>
            </p:nvSpPr>
            <p:spPr>
              <a:xfrm>
                <a:off x="1141413" y="326848"/>
                <a:ext cx="9905998" cy="603310"/>
              </a:xfrm>
              <a:blipFill>
                <a:blip r:embed="rId2"/>
                <a:stretch>
                  <a:fillRect t="-22917" b="-3541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Content Placeholder 2">
                <a:extLst>
                  <a:ext uri="{FF2B5EF4-FFF2-40B4-BE49-F238E27FC236}">
                    <a16:creationId xmlns:a16="http://schemas.microsoft.com/office/drawing/2014/main" id="{12063473-8A28-4A47-9CBA-0765249DEEC2}"/>
                  </a:ext>
                </a:extLst>
              </p:cNvPr>
              <p:cNvSpPr txBox="1">
                <a:spLocks/>
              </p:cNvSpPr>
              <p:nvPr/>
            </p:nvSpPr>
            <p:spPr>
              <a:xfrm>
                <a:off x="3882503" y="1317808"/>
                <a:ext cx="4423817" cy="1779735"/>
              </a:xfrm>
              <a:prstGeom prst="rect">
                <a:avLst/>
              </a:prstGeom>
              <a:solidFill>
                <a:schemeClr val="accent1"/>
              </a:solidFill>
              <a:ln>
                <a:solidFill>
                  <a:schemeClr val="bg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14:m>
                  <m:oMathPara xmlns:m="http://schemas.openxmlformats.org/officeDocument/2006/math">
                    <m:oMathParaPr>
                      <m:jc m:val="center"/>
                    </m:oMathParaPr>
                    <m:oMath xmlns:m="http://schemas.openxmlformats.org/officeDocument/2006/math">
                      <m:r>
                        <a:rPr lang="en-US" sz="1800" b="0" i="1" smtClean="0">
                          <a:solidFill>
                            <a:schemeClr val="bg1"/>
                          </a:solidFill>
                          <a:latin typeface="Cambria Math" panose="02040503050406030204" pitchFamily="18" charset="0"/>
                        </a:rPr>
                        <m:t>3</m:t>
                      </m:r>
                      <m:r>
                        <a:rPr lang="en-US" sz="1800" b="0" i="1" smtClean="0">
                          <a:solidFill>
                            <a:schemeClr val="bg1"/>
                          </a:solidFill>
                          <a:latin typeface="Cambria Math" panose="02040503050406030204" pitchFamily="18" charset="0"/>
                        </a:rPr>
                        <m:t>𝐶</m:t>
                      </m:r>
                      <m:r>
                        <a:rPr lang="en-US" sz="1800" b="0" i="1" smtClean="0">
                          <a:solidFill>
                            <a:schemeClr val="bg1"/>
                          </a:solidFill>
                          <a:latin typeface="Cambria Math" panose="02040503050406030204" pitchFamily="18" charset="0"/>
                        </a:rPr>
                        <m:t>∈</m:t>
                      </m:r>
                      <m:r>
                        <a:rPr lang="en-US" sz="1800" b="0" i="1" smtClean="0">
                          <a:solidFill>
                            <a:schemeClr val="bg1"/>
                          </a:solidFill>
                          <a:latin typeface="Cambria Math" panose="02040503050406030204" pitchFamily="18" charset="0"/>
                        </a:rPr>
                        <m:t>𝑁𝑃</m:t>
                      </m:r>
                    </m:oMath>
                  </m:oMathPara>
                </a14:m>
                <a:endParaRPr lang="en-US" sz="1800" dirty="0">
                  <a:solidFill>
                    <a:schemeClr val="bg1"/>
                  </a:solidFill>
                </a:endParaRPr>
              </a:p>
              <a:p>
                <a:pPr marL="0" indent="0" algn="ctr">
                  <a:buFont typeface="Arial" panose="020B0604020202020204" pitchFamily="34" charset="0"/>
                  <a:buNone/>
                </a:pPr>
                <a:endParaRPr lang="en-US" sz="1800" dirty="0">
                  <a:solidFill>
                    <a:schemeClr val="bg1"/>
                  </a:solidFill>
                </a:endParaRPr>
              </a:p>
              <a:p>
                <a:pPr marL="0" indent="0" algn="ctr">
                  <a:buFont typeface="Arial" panose="020B0604020202020204" pitchFamily="34" charset="0"/>
                  <a:buNone/>
                </a:pPr>
                <a:r>
                  <a:rPr lang="en-US" sz="1800" dirty="0">
                    <a:solidFill>
                      <a:schemeClr val="bg1"/>
                    </a:solidFill>
                  </a:rPr>
                  <a:t>Provide a verifier TM that runs in Polynomial Time</a:t>
                </a:r>
              </a:p>
            </p:txBody>
          </p:sp>
        </mc:Choice>
        <mc:Fallback xmlns="">
          <p:sp>
            <p:nvSpPr>
              <p:cNvPr id="5" name="Content Placeholder 2">
                <a:extLst>
                  <a:ext uri="{FF2B5EF4-FFF2-40B4-BE49-F238E27FC236}">
                    <a16:creationId xmlns:a16="http://schemas.microsoft.com/office/drawing/2014/main" id="{12063473-8A28-4A47-9CBA-0765249DEEC2}"/>
                  </a:ext>
                </a:extLst>
              </p:cNvPr>
              <p:cNvSpPr txBox="1">
                <a:spLocks noRot="1" noChangeAspect="1" noMove="1" noResize="1" noEditPoints="1" noAdjustHandles="1" noChangeArrowheads="1" noChangeShapeType="1" noTextEdit="1"/>
              </p:cNvSpPr>
              <p:nvPr/>
            </p:nvSpPr>
            <p:spPr>
              <a:xfrm>
                <a:off x="3882503" y="1317808"/>
                <a:ext cx="4423817" cy="1779735"/>
              </a:xfrm>
              <a:prstGeom prst="rect">
                <a:avLst/>
              </a:prstGeom>
              <a:blipFill>
                <a:blip r:embed="rId3"/>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Content Placeholder 2">
                <a:extLst>
                  <a:ext uri="{FF2B5EF4-FFF2-40B4-BE49-F238E27FC236}">
                    <a16:creationId xmlns:a16="http://schemas.microsoft.com/office/drawing/2014/main" id="{347E063C-4014-2747-B5DF-2F3FAAFF4FDD}"/>
                  </a:ext>
                </a:extLst>
              </p:cNvPr>
              <p:cNvSpPr txBox="1">
                <a:spLocks/>
              </p:cNvSpPr>
              <p:nvPr/>
            </p:nvSpPr>
            <p:spPr>
              <a:xfrm>
                <a:off x="2916205" y="3637280"/>
                <a:ext cx="6356412" cy="2203991"/>
              </a:xfrm>
              <a:prstGeom prst="rect">
                <a:avLst/>
              </a:prstGeom>
              <a:solidFill>
                <a:schemeClr val="tx1">
                  <a:lumMod val="95000"/>
                </a:schemeClr>
              </a:solidFill>
              <a:ln>
                <a:solidFill>
                  <a:schemeClr val="bg1"/>
                </a:solidFill>
              </a:ln>
            </p:spPr>
            <p:txBody>
              <a:bodyPr vert="horz" lIns="91440" tIns="45720" rIns="91440" bIns="45720" rtlCol="0">
                <a:normAutofit fontScale="92500"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800" b="1" i="1" dirty="0">
                    <a:solidFill>
                      <a:schemeClr val="bg1"/>
                    </a:solidFill>
                  </a:rPr>
                  <a:t>Given graph </a:t>
                </a:r>
                <a14:m>
                  <m:oMath xmlns:m="http://schemas.openxmlformats.org/officeDocument/2006/math">
                    <m:r>
                      <a:rPr lang="en-US" sz="1800" b="1" i="1" smtClean="0">
                        <a:solidFill>
                          <a:schemeClr val="bg1"/>
                        </a:solidFill>
                        <a:latin typeface="Cambria Math" panose="02040503050406030204" pitchFamily="18" charset="0"/>
                      </a:rPr>
                      <m:t>𝑮</m:t>
                    </m:r>
                    <m:r>
                      <a:rPr lang="en-US" sz="1800" b="1" i="1" smtClean="0">
                        <a:solidFill>
                          <a:schemeClr val="bg1"/>
                        </a:solidFill>
                        <a:latin typeface="Cambria Math" panose="02040503050406030204" pitchFamily="18" charset="0"/>
                      </a:rPr>
                      <m:t>=(</m:t>
                    </m:r>
                    <m:r>
                      <a:rPr lang="en-US" sz="1800" b="1" i="1" smtClean="0">
                        <a:solidFill>
                          <a:schemeClr val="bg1"/>
                        </a:solidFill>
                        <a:latin typeface="Cambria Math" panose="02040503050406030204" pitchFamily="18" charset="0"/>
                      </a:rPr>
                      <m:t>𝑽</m:t>
                    </m:r>
                    <m:r>
                      <a:rPr lang="en-US" sz="1800" b="1" i="1" smtClean="0">
                        <a:solidFill>
                          <a:schemeClr val="bg1"/>
                        </a:solidFill>
                        <a:latin typeface="Cambria Math" panose="02040503050406030204" pitchFamily="18" charset="0"/>
                      </a:rPr>
                      <m:t>,</m:t>
                    </m:r>
                    <m:r>
                      <a:rPr lang="en-US" sz="1800" b="1" i="1" smtClean="0">
                        <a:solidFill>
                          <a:schemeClr val="bg1"/>
                        </a:solidFill>
                        <a:latin typeface="Cambria Math" panose="02040503050406030204" pitchFamily="18" charset="0"/>
                      </a:rPr>
                      <m:t>𝑬</m:t>
                    </m:r>
                    <m:r>
                      <a:rPr lang="en-US" sz="1800" b="1" i="1" smtClean="0">
                        <a:solidFill>
                          <a:schemeClr val="bg1"/>
                        </a:solidFill>
                        <a:latin typeface="Cambria Math" panose="02040503050406030204" pitchFamily="18" charset="0"/>
                      </a:rPr>
                      <m:t>)</m:t>
                    </m:r>
                  </m:oMath>
                </a14:m>
                <a:r>
                  <a:rPr lang="en-US" sz="1800" b="1" i="1" dirty="0">
                    <a:solidFill>
                      <a:schemeClr val="bg1"/>
                    </a:solidFill>
                  </a:rPr>
                  <a:t>, and color assignments C for each node in V:</a:t>
                </a:r>
              </a:p>
              <a:p>
                <a:pPr marL="0" indent="0">
                  <a:buFont typeface="Arial" panose="020B0604020202020204" pitchFamily="34" charset="0"/>
                  <a:buNone/>
                </a:pPr>
                <a:r>
                  <a:rPr lang="en-US" sz="1800" i="1" dirty="0">
                    <a:solidFill>
                      <a:schemeClr val="bg1"/>
                    </a:solidFill>
                  </a:rPr>
                  <a:t>Verify that only 3 unique colors exist in C, if not </a:t>
                </a:r>
                <a:r>
                  <a:rPr lang="en-US" sz="1800" i="1" u="sng" dirty="0">
                    <a:solidFill>
                      <a:schemeClr val="bg1"/>
                    </a:solidFill>
                  </a:rPr>
                  <a:t>reject</a:t>
                </a:r>
                <a:br>
                  <a:rPr lang="en-US" sz="1800" i="1" dirty="0">
                    <a:solidFill>
                      <a:schemeClr val="bg1"/>
                    </a:solidFill>
                  </a:rPr>
                </a:br>
                <a:r>
                  <a:rPr lang="en-US" sz="1800" i="1" dirty="0">
                    <a:solidFill>
                      <a:schemeClr val="bg1"/>
                    </a:solidFill>
                  </a:rPr>
                  <a:t>Verify that each node was assigned exactly one color in C, if not </a:t>
                </a:r>
                <a:r>
                  <a:rPr lang="en-US" sz="1800" i="1" u="sng" dirty="0">
                    <a:solidFill>
                      <a:schemeClr val="bg1"/>
                    </a:solidFill>
                  </a:rPr>
                  <a:t>reject</a:t>
                </a:r>
              </a:p>
              <a:p>
                <a:pPr marL="0" indent="0">
                  <a:buFont typeface="Arial" panose="020B0604020202020204" pitchFamily="34" charset="0"/>
                  <a:buNone/>
                </a:pPr>
                <a:r>
                  <a:rPr lang="en-US" sz="1800" i="1" dirty="0">
                    <a:solidFill>
                      <a:schemeClr val="bg1"/>
                    </a:solidFill>
                  </a:rPr>
                  <a:t>For each edge </a:t>
                </a:r>
                <a14:m>
                  <m:oMath xmlns:m="http://schemas.openxmlformats.org/officeDocument/2006/math">
                    <m:r>
                      <a:rPr lang="en-US" sz="1800" b="0" i="1" smtClean="0">
                        <a:solidFill>
                          <a:schemeClr val="bg1"/>
                        </a:solidFill>
                        <a:latin typeface="Cambria Math" panose="02040503050406030204" pitchFamily="18" charset="0"/>
                      </a:rPr>
                      <m:t>𝑒</m:t>
                    </m:r>
                    <m:r>
                      <a:rPr lang="en-US" sz="1800" b="0" i="1" smtClean="0">
                        <a:solidFill>
                          <a:schemeClr val="bg1"/>
                        </a:solidFill>
                        <a:latin typeface="Cambria Math" panose="02040503050406030204" pitchFamily="18" charset="0"/>
                      </a:rPr>
                      <m:t>=(</m:t>
                    </m:r>
                    <m:r>
                      <a:rPr lang="en-US" sz="1800" b="0" i="1" smtClean="0">
                        <a:solidFill>
                          <a:schemeClr val="bg1"/>
                        </a:solidFill>
                        <a:latin typeface="Cambria Math" panose="02040503050406030204" pitchFamily="18" charset="0"/>
                      </a:rPr>
                      <m:t>𝑢</m:t>
                    </m:r>
                    <m:r>
                      <a:rPr lang="en-US" sz="1800" b="0" i="1" smtClean="0">
                        <a:solidFill>
                          <a:schemeClr val="bg1"/>
                        </a:solidFill>
                        <a:latin typeface="Cambria Math" panose="02040503050406030204" pitchFamily="18" charset="0"/>
                      </a:rPr>
                      <m:t>,</m:t>
                    </m:r>
                    <m:r>
                      <a:rPr lang="en-US" sz="1800" b="0" i="1" smtClean="0">
                        <a:solidFill>
                          <a:schemeClr val="bg1"/>
                        </a:solidFill>
                        <a:latin typeface="Cambria Math" panose="02040503050406030204" pitchFamily="18" charset="0"/>
                      </a:rPr>
                      <m:t>𝑣</m:t>
                    </m:r>
                    <m:r>
                      <a:rPr lang="en-US" sz="1800" b="0" i="1" smtClean="0">
                        <a:solidFill>
                          <a:schemeClr val="bg1"/>
                        </a:solidFill>
                        <a:latin typeface="Cambria Math" panose="02040503050406030204" pitchFamily="18" charset="0"/>
                      </a:rPr>
                      <m:t>)∈</m:t>
                    </m:r>
                    <m:r>
                      <a:rPr lang="en-US" sz="1800" b="0" i="1" smtClean="0">
                        <a:solidFill>
                          <a:schemeClr val="bg1"/>
                        </a:solidFill>
                        <a:latin typeface="Cambria Math" panose="02040503050406030204" pitchFamily="18" charset="0"/>
                      </a:rPr>
                      <m:t>𝐸</m:t>
                    </m:r>
                  </m:oMath>
                </a14:m>
                <a:br>
                  <a:rPr lang="en-US" sz="1800" b="0" i="1" dirty="0">
                    <a:solidFill>
                      <a:schemeClr val="bg1"/>
                    </a:solidFill>
                  </a:rPr>
                </a:br>
                <a:r>
                  <a:rPr lang="en-US" sz="1800" b="0" i="1" dirty="0">
                    <a:solidFill>
                      <a:schemeClr val="bg1"/>
                    </a:solidFill>
                  </a:rPr>
                  <a:t>    Check that </a:t>
                </a:r>
                <a14:m>
                  <m:oMath xmlns:m="http://schemas.openxmlformats.org/officeDocument/2006/math">
                    <m:r>
                      <a:rPr lang="en-US" sz="1800" b="0" i="1" smtClean="0">
                        <a:solidFill>
                          <a:schemeClr val="bg1"/>
                        </a:solidFill>
                        <a:latin typeface="Cambria Math" panose="02040503050406030204" pitchFamily="18" charset="0"/>
                      </a:rPr>
                      <m:t>𝐶</m:t>
                    </m:r>
                    <m:d>
                      <m:dPr>
                        <m:begChr m:val="["/>
                        <m:endChr m:val="]"/>
                        <m:ctrlPr>
                          <a:rPr lang="en-US" sz="1800" b="0" i="1" smtClean="0">
                            <a:solidFill>
                              <a:schemeClr val="bg1"/>
                            </a:solidFill>
                            <a:latin typeface="Cambria Math" panose="02040503050406030204" pitchFamily="18" charset="0"/>
                          </a:rPr>
                        </m:ctrlPr>
                      </m:dPr>
                      <m:e>
                        <m:r>
                          <a:rPr lang="en-US" sz="1800" b="0" i="1" smtClean="0">
                            <a:solidFill>
                              <a:schemeClr val="bg1"/>
                            </a:solidFill>
                            <a:latin typeface="Cambria Math" panose="02040503050406030204" pitchFamily="18" charset="0"/>
                          </a:rPr>
                          <m:t>𝑢</m:t>
                        </m:r>
                      </m:e>
                    </m:d>
                    <m:r>
                      <a:rPr lang="en-US" sz="1800" b="0" i="1" smtClean="0">
                        <a:solidFill>
                          <a:schemeClr val="bg1"/>
                        </a:solidFill>
                        <a:latin typeface="Cambria Math" panose="02040503050406030204" pitchFamily="18" charset="0"/>
                      </a:rPr>
                      <m:t>≠</m:t>
                    </m:r>
                    <m:r>
                      <a:rPr lang="en-US" sz="1800" b="0" i="1" smtClean="0">
                        <a:solidFill>
                          <a:schemeClr val="bg1"/>
                        </a:solidFill>
                        <a:latin typeface="Cambria Math" panose="02040503050406030204" pitchFamily="18" charset="0"/>
                      </a:rPr>
                      <m:t>𝐶</m:t>
                    </m:r>
                    <m:r>
                      <a:rPr lang="en-US" sz="1800" b="0" i="1" smtClean="0">
                        <a:solidFill>
                          <a:schemeClr val="bg1"/>
                        </a:solidFill>
                        <a:latin typeface="Cambria Math" panose="02040503050406030204" pitchFamily="18" charset="0"/>
                      </a:rPr>
                      <m:t>[</m:t>
                    </m:r>
                    <m:r>
                      <a:rPr lang="en-US" sz="1800" b="0" i="1" smtClean="0">
                        <a:solidFill>
                          <a:schemeClr val="bg1"/>
                        </a:solidFill>
                        <a:latin typeface="Cambria Math" panose="02040503050406030204" pitchFamily="18" charset="0"/>
                      </a:rPr>
                      <m:t>𝑣</m:t>
                    </m:r>
                    <m:r>
                      <a:rPr lang="en-US" sz="1800" b="0" i="1" smtClean="0">
                        <a:solidFill>
                          <a:schemeClr val="bg1"/>
                        </a:solidFill>
                        <a:latin typeface="Cambria Math" panose="02040503050406030204" pitchFamily="18" charset="0"/>
                      </a:rPr>
                      <m:t>]</m:t>
                    </m:r>
                  </m:oMath>
                </a14:m>
                <a:r>
                  <a:rPr lang="en-US" sz="1800" i="1" dirty="0">
                    <a:solidFill>
                      <a:schemeClr val="bg1"/>
                    </a:solidFill>
                  </a:rPr>
                  <a:t>, if not </a:t>
                </a:r>
                <a:r>
                  <a:rPr lang="en-US" sz="1800" i="1" u="sng" dirty="0">
                    <a:solidFill>
                      <a:schemeClr val="bg1"/>
                    </a:solidFill>
                  </a:rPr>
                  <a:t>reject</a:t>
                </a:r>
              </a:p>
              <a:p>
                <a:pPr marL="0" indent="0">
                  <a:buFont typeface="Arial" panose="020B0604020202020204" pitchFamily="34" charset="0"/>
                  <a:buNone/>
                </a:pPr>
                <a:r>
                  <a:rPr lang="en-US" sz="1800" i="1" dirty="0">
                    <a:solidFill>
                      <a:schemeClr val="bg1"/>
                    </a:solidFill>
                  </a:rPr>
                  <a:t>else </a:t>
                </a:r>
                <a:r>
                  <a:rPr lang="en-US" sz="1800" i="1" u="sng" dirty="0">
                    <a:solidFill>
                      <a:schemeClr val="bg1"/>
                    </a:solidFill>
                  </a:rPr>
                  <a:t>accept</a:t>
                </a:r>
              </a:p>
            </p:txBody>
          </p:sp>
        </mc:Choice>
        <mc:Fallback xmlns="">
          <p:sp>
            <p:nvSpPr>
              <p:cNvPr id="6" name="Content Placeholder 2">
                <a:extLst>
                  <a:ext uri="{FF2B5EF4-FFF2-40B4-BE49-F238E27FC236}">
                    <a16:creationId xmlns:a16="http://schemas.microsoft.com/office/drawing/2014/main" id="{347E063C-4014-2747-B5DF-2F3FAAFF4FDD}"/>
                  </a:ext>
                </a:extLst>
              </p:cNvPr>
              <p:cNvSpPr txBox="1">
                <a:spLocks noRot="1" noChangeAspect="1" noMove="1" noResize="1" noEditPoints="1" noAdjustHandles="1" noChangeArrowheads="1" noChangeShapeType="1" noTextEdit="1"/>
              </p:cNvSpPr>
              <p:nvPr/>
            </p:nvSpPr>
            <p:spPr>
              <a:xfrm>
                <a:off x="2916205" y="3637280"/>
                <a:ext cx="6356412" cy="2203991"/>
              </a:xfrm>
              <a:prstGeom prst="rect">
                <a:avLst/>
              </a:prstGeom>
              <a:blipFill>
                <a:blip r:embed="rId4"/>
                <a:stretch>
                  <a:fillRect l="-598" b="-1136"/>
                </a:stretch>
              </a:blipFill>
              <a:ln>
                <a:solidFill>
                  <a:schemeClr val="bg1"/>
                </a:solidFill>
              </a:ln>
            </p:spPr>
            <p:txBody>
              <a:bodyPr/>
              <a:lstStyle/>
              <a:p>
                <a:r>
                  <a:rPr lang="en-US">
                    <a:noFill/>
                  </a:rPr>
                  <a:t> </a:t>
                </a:r>
              </a:p>
            </p:txBody>
          </p:sp>
        </mc:Fallback>
      </mc:AlternateContent>
    </p:spTree>
    <p:extLst>
      <p:ext uri="{BB962C8B-B14F-4D97-AF65-F5344CB8AC3E}">
        <p14:creationId xmlns:p14="http://schemas.microsoft.com/office/powerpoint/2010/main" val="3787023518"/>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p:cNvSpPr>
                <a:spLocks noGrp="1"/>
              </p:cNvSpPr>
              <p:nvPr>
                <p:ph type="title"/>
              </p:nvPr>
            </p:nvSpPr>
            <p:spPr>
              <a:xfrm>
                <a:off x="1141413" y="192390"/>
                <a:ext cx="9905998" cy="695377"/>
              </a:xfrm>
            </p:spPr>
            <p: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3</m:t>
                      </m:r>
                      <m:r>
                        <a:rPr lang="en-US" b="0" i="1" smtClean="0">
                          <a:latin typeface="Cambria Math" panose="02040503050406030204" pitchFamily="18" charset="0"/>
                        </a:rPr>
                        <m:t>𝑆𝐴𝑇</m:t>
                      </m:r>
                      <m:sSub>
                        <m:sSubPr>
                          <m:ctrlPr>
                            <a:rPr lang="en-US" b="0" i="1" smtClean="0">
                              <a:latin typeface="Cambria Math" panose="02040503050406030204" pitchFamily="18" charset="0"/>
                            </a:rPr>
                          </m:ctrlPr>
                        </m:sSubPr>
                        <m:e>
                          <m:r>
                            <a:rPr lang="en-US" b="0" i="1" smtClean="0">
                              <a:latin typeface="Cambria Math" panose="02040503050406030204" pitchFamily="18" charset="0"/>
                            </a:rPr>
                            <m:t>≤</m:t>
                          </m:r>
                        </m:e>
                        <m:sub>
                          <m:r>
                            <a:rPr lang="en-US" b="0" i="1" smtClean="0">
                              <a:latin typeface="Cambria Math" panose="02040503050406030204" pitchFamily="18" charset="0"/>
                            </a:rPr>
                            <m:t>𝑝</m:t>
                          </m:r>
                        </m:sub>
                      </m:sSub>
                      <m:r>
                        <a:rPr lang="en-US" b="0" i="1" smtClean="0">
                          <a:latin typeface="Cambria Math" panose="02040503050406030204" pitchFamily="18" charset="0"/>
                        </a:rPr>
                        <m:t>3</m:t>
                      </m:r>
                      <m:r>
                        <a:rPr lang="en-US" b="0" i="1" smtClean="0">
                          <a:latin typeface="Cambria Math" panose="02040503050406030204" pitchFamily="18" charset="0"/>
                        </a:rPr>
                        <m:t>𝐶</m:t>
                      </m:r>
                    </m:oMath>
                  </m:oMathPara>
                </a14:m>
                <a:endParaRPr lang="en-US" dirty="0"/>
              </a:p>
            </p:txBody>
          </p:sp>
        </mc:Choice>
        <mc:Fallback xmlns="">
          <p:sp>
            <p:nvSpPr>
              <p:cNvPr id="2" name="Title 1"/>
              <p:cNvSpPr>
                <a:spLocks noGrp="1" noRot="1" noChangeAspect="1" noMove="1" noResize="1" noEditPoints="1" noAdjustHandles="1" noChangeArrowheads="1" noChangeShapeType="1" noTextEdit="1"/>
              </p:cNvSpPr>
              <p:nvPr>
                <p:ph type="title"/>
              </p:nvPr>
            </p:nvSpPr>
            <p:spPr>
              <a:xfrm>
                <a:off x="1141413" y="192390"/>
                <a:ext cx="9905998" cy="695377"/>
              </a:xfrm>
              <a:blipFill>
                <a:blip r:embed="rId2"/>
                <a:stretch>
                  <a:fillRect b="-7143"/>
                </a:stretch>
              </a:blipFill>
            </p:spPr>
            <p:txBody>
              <a:bodyPr/>
              <a:lstStyle/>
              <a:p>
                <a:r>
                  <a:rPr lang="en-US">
                    <a:noFill/>
                  </a:rPr>
                  <a:t> </a:t>
                </a:r>
              </a:p>
            </p:txBody>
          </p:sp>
        </mc:Fallback>
      </mc:AlternateContent>
      <p:pic>
        <p:nvPicPr>
          <p:cNvPr id="1030" name="Picture 6" descr="File:Triangulation 3-coloring.sv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846294" y="4029773"/>
            <a:ext cx="2513946" cy="2646260"/>
          </a:xfrm>
          <a:prstGeom prst="rect">
            <a:avLst/>
          </a:prstGeom>
          <a:noFill/>
          <a:extLst>
            <a:ext uri="{909E8E84-426E-40dd-AFC4-6F175D3DCCD1}">
              <a14:hiddenFill xmlns:a14="http://schemas.microsoft.com/office/drawing/2010/main" xmlns="">
                <a:solidFill>
                  <a:srgbClr val="FFFFFF"/>
                </a:solidFill>
              </a14:hiddenFill>
            </a:ext>
          </a:extLst>
        </p:spPr>
      </p:pic>
      <mc:AlternateContent xmlns:mc="http://schemas.openxmlformats.org/markup-compatibility/2006" xmlns:a14="http://schemas.microsoft.com/office/drawing/2010/main">
        <mc:Choice Requires="a14">
          <p:sp>
            <p:nvSpPr>
              <p:cNvPr id="6" name="Content Placeholder 2">
                <a:extLst>
                  <a:ext uri="{FF2B5EF4-FFF2-40B4-BE49-F238E27FC236}">
                    <a16:creationId xmlns:a16="http://schemas.microsoft.com/office/drawing/2014/main" id="{D1FE7364-426C-A342-96D0-6A96BE8AAB84}"/>
                  </a:ext>
                </a:extLst>
              </p:cNvPr>
              <p:cNvSpPr txBox="1">
                <a:spLocks/>
              </p:cNvSpPr>
              <p:nvPr/>
            </p:nvSpPr>
            <p:spPr>
              <a:xfrm>
                <a:off x="4695757" y="976414"/>
                <a:ext cx="2797310" cy="1343912"/>
              </a:xfrm>
              <a:prstGeom prst="rect">
                <a:avLst/>
              </a:prstGeom>
              <a:solidFill>
                <a:schemeClr val="tx1">
                  <a:lumMod val="95000"/>
                </a:schemeClr>
              </a:solidFill>
              <a:ln>
                <a:solidFill>
                  <a:schemeClr val="bg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14:m>
                  <m:oMathPara xmlns:m="http://schemas.openxmlformats.org/officeDocument/2006/math">
                    <m:oMathParaPr>
                      <m:jc m:val="center"/>
                    </m:oMathParaPr>
                    <m:oMath xmlns:m="http://schemas.openxmlformats.org/officeDocument/2006/math">
                      <m:r>
                        <a:rPr lang="en-US" sz="1800" b="0" i="1" smtClean="0">
                          <a:solidFill>
                            <a:schemeClr val="bg1"/>
                          </a:solidFill>
                          <a:latin typeface="Cambria Math" panose="02040503050406030204" pitchFamily="18" charset="0"/>
                        </a:rPr>
                        <m:t>3</m:t>
                      </m:r>
                      <m:r>
                        <a:rPr lang="en-US" sz="1800" b="0" i="1" smtClean="0">
                          <a:solidFill>
                            <a:schemeClr val="bg1"/>
                          </a:solidFill>
                          <a:latin typeface="Cambria Math" panose="02040503050406030204" pitchFamily="18" charset="0"/>
                        </a:rPr>
                        <m:t>𝐶</m:t>
                      </m:r>
                      <m:r>
                        <a:rPr lang="en-US" sz="1800" b="0" i="1" smtClean="0">
                          <a:solidFill>
                            <a:schemeClr val="bg1"/>
                          </a:solidFill>
                          <a:latin typeface="Cambria Math" panose="02040503050406030204" pitchFamily="18" charset="0"/>
                        </a:rPr>
                        <m:t>∈</m:t>
                      </m:r>
                      <m:r>
                        <a:rPr lang="en-US" sz="1800" b="0" i="1" smtClean="0">
                          <a:solidFill>
                            <a:schemeClr val="bg1"/>
                          </a:solidFill>
                          <a:latin typeface="Cambria Math" panose="02040503050406030204" pitchFamily="18" charset="0"/>
                        </a:rPr>
                        <m:t>𝑁𝑃</m:t>
                      </m:r>
                      <m:r>
                        <a:rPr lang="en-US" sz="1800" b="0" i="1" smtClean="0">
                          <a:solidFill>
                            <a:schemeClr val="bg1"/>
                          </a:solidFill>
                          <a:latin typeface="Cambria Math" panose="02040503050406030204" pitchFamily="18" charset="0"/>
                        </a:rPr>
                        <m:t>−</m:t>
                      </m:r>
                      <m:r>
                        <a:rPr lang="en-US" sz="1800" b="0" i="1" smtClean="0">
                          <a:solidFill>
                            <a:schemeClr val="bg1"/>
                          </a:solidFill>
                          <a:latin typeface="Cambria Math" panose="02040503050406030204" pitchFamily="18" charset="0"/>
                        </a:rPr>
                        <m:t>𝐻𝐴𝑅𝐷</m:t>
                      </m:r>
                    </m:oMath>
                  </m:oMathPara>
                </a14:m>
                <a:endParaRPr lang="en-US" sz="1800" dirty="0">
                  <a:solidFill>
                    <a:schemeClr val="bg1"/>
                  </a:solidFill>
                </a:endParaRPr>
              </a:p>
              <a:p>
                <a:pPr marL="0" indent="0" algn="ctr">
                  <a:buFont typeface="Arial" panose="020B0604020202020204" pitchFamily="34" charset="0"/>
                  <a:buNone/>
                </a:pPr>
                <a:br>
                  <a:rPr lang="en-US" sz="1800" dirty="0">
                    <a:solidFill>
                      <a:schemeClr val="bg1"/>
                    </a:solidFill>
                  </a:rPr>
                </a:br>
                <a14:m>
                  <m:oMathPara xmlns:m="http://schemas.openxmlformats.org/officeDocument/2006/math">
                    <m:oMathParaPr>
                      <m:jc m:val="centerGroup"/>
                    </m:oMathParaPr>
                    <m:oMath xmlns:m="http://schemas.openxmlformats.org/officeDocument/2006/math">
                      <m:r>
                        <a:rPr lang="en-US" sz="1800" b="1" i="1" smtClean="0">
                          <a:solidFill>
                            <a:schemeClr val="bg1"/>
                          </a:solidFill>
                          <a:latin typeface="Cambria Math" panose="02040503050406030204" pitchFamily="18" charset="0"/>
                        </a:rPr>
                        <m:t>𝟑</m:t>
                      </m:r>
                      <m:r>
                        <a:rPr lang="en-US" sz="1800" b="1" i="1" smtClean="0">
                          <a:solidFill>
                            <a:schemeClr val="bg1"/>
                          </a:solidFill>
                          <a:latin typeface="Cambria Math" panose="02040503050406030204" pitchFamily="18" charset="0"/>
                        </a:rPr>
                        <m:t>𝑺𝑨𝑻</m:t>
                      </m:r>
                      <m:sSub>
                        <m:sSubPr>
                          <m:ctrlPr>
                            <a:rPr lang="en-US" sz="1800" b="1" i="1" smtClean="0">
                              <a:solidFill>
                                <a:schemeClr val="bg1"/>
                              </a:solidFill>
                              <a:latin typeface="Cambria Math" panose="02040503050406030204" pitchFamily="18" charset="0"/>
                            </a:rPr>
                          </m:ctrlPr>
                        </m:sSubPr>
                        <m:e>
                          <m:r>
                            <a:rPr lang="en-US" sz="1800" b="1" i="1" smtClean="0">
                              <a:solidFill>
                                <a:schemeClr val="bg1"/>
                              </a:solidFill>
                              <a:latin typeface="Cambria Math" panose="02040503050406030204" pitchFamily="18" charset="0"/>
                            </a:rPr>
                            <m:t>≤</m:t>
                          </m:r>
                        </m:e>
                        <m:sub>
                          <m:r>
                            <a:rPr lang="en-US" sz="1800" b="1" i="1" smtClean="0">
                              <a:solidFill>
                                <a:schemeClr val="bg1"/>
                              </a:solidFill>
                              <a:latin typeface="Cambria Math" panose="02040503050406030204" pitchFamily="18" charset="0"/>
                            </a:rPr>
                            <m:t>𝒑</m:t>
                          </m:r>
                        </m:sub>
                      </m:sSub>
                      <m:r>
                        <a:rPr lang="en-US" sz="1800" b="1" i="1" smtClean="0">
                          <a:solidFill>
                            <a:schemeClr val="bg1"/>
                          </a:solidFill>
                          <a:latin typeface="Cambria Math" panose="02040503050406030204" pitchFamily="18" charset="0"/>
                        </a:rPr>
                        <m:t>𝑽𝑪</m:t>
                      </m:r>
                    </m:oMath>
                  </m:oMathPara>
                </a14:m>
                <a:endParaRPr lang="en-US" sz="1800" b="1" dirty="0">
                  <a:solidFill>
                    <a:schemeClr val="bg1"/>
                  </a:solidFill>
                </a:endParaRPr>
              </a:p>
            </p:txBody>
          </p:sp>
        </mc:Choice>
        <mc:Fallback xmlns="">
          <p:sp>
            <p:nvSpPr>
              <p:cNvPr id="6" name="Content Placeholder 2">
                <a:extLst>
                  <a:ext uri="{FF2B5EF4-FFF2-40B4-BE49-F238E27FC236}">
                    <a16:creationId xmlns:a16="http://schemas.microsoft.com/office/drawing/2014/main" id="{D1FE7364-426C-A342-96D0-6A96BE8AAB84}"/>
                  </a:ext>
                </a:extLst>
              </p:cNvPr>
              <p:cNvSpPr txBox="1">
                <a:spLocks noRot="1" noChangeAspect="1" noMove="1" noResize="1" noEditPoints="1" noAdjustHandles="1" noChangeArrowheads="1" noChangeShapeType="1" noTextEdit="1"/>
              </p:cNvSpPr>
              <p:nvPr/>
            </p:nvSpPr>
            <p:spPr>
              <a:xfrm>
                <a:off x="4695757" y="976414"/>
                <a:ext cx="2797310" cy="1343912"/>
              </a:xfrm>
              <a:prstGeom prst="rect">
                <a:avLst/>
              </a:prstGeom>
              <a:blipFill>
                <a:blip r:embed="rId4"/>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Content Placeholder 2">
                <a:extLst>
                  <a:ext uri="{FF2B5EF4-FFF2-40B4-BE49-F238E27FC236}">
                    <a16:creationId xmlns:a16="http://schemas.microsoft.com/office/drawing/2014/main" id="{049ED47A-A891-F149-AC14-9DCCDB29D354}"/>
                  </a:ext>
                </a:extLst>
              </p:cNvPr>
              <p:cNvSpPr txBox="1">
                <a:spLocks/>
              </p:cNvSpPr>
              <p:nvPr/>
            </p:nvSpPr>
            <p:spPr>
              <a:xfrm>
                <a:off x="1500326" y="2752188"/>
                <a:ext cx="3620943" cy="983206"/>
              </a:xfrm>
              <a:prstGeom prst="rect">
                <a:avLst/>
              </a:prstGeom>
              <a:solidFill>
                <a:schemeClr val="accent1"/>
              </a:solidFill>
              <a:ln>
                <a:solidFill>
                  <a:schemeClr val="bg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800" dirty="0">
                    <a:solidFill>
                      <a:schemeClr val="bg1"/>
                    </a:solidFill>
                  </a:rPr>
                  <a:t>Given a </a:t>
                </a:r>
                <a:r>
                  <a:rPr lang="en-US" sz="1800" dirty="0" err="1">
                    <a:solidFill>
                      <a:schemeClr val="bg1"/>
                    </a:solidFill>
                  </a:rPr>
                  <a:t>boolean</a:t>
                </a:r>
                <a:r>
                  <a:rPr lang="en-US" sz="1800" dirty="0">
                    <a:solidFill>
                      <a:schemeClr val="bg1"/>
                    </a:solidFill>
                  </a:rPr>
                  <a:t> formula in 3-CNF </a:t>
                </a:r>
                <a14:m>
                  <m:oMath xmlns:m="http://schemas.openxmlformats.org/officeDocument/2006/math">
                    <m:r>
                      <a:rPr lang="en-US" sz="1800" b="0" i="1" smtClean="0">
                        <a:solidFill>
                          <a:schemeClr val="bg1"/>
                        </a:solidFill>
                        <a:latin typeface="Cambria Math" panose="02040503050406030204" pitchFamily="18" charset="0"/>
                      </a:rPr>
                      <m:t>𝜃</m:t>
                    </m:r>
                  </m:oMath>
                </a14:m>
                <a:r>
                  <a:rPr lang="en-US" sz="1800" dirty="0">
                    <a:solidFill>
                      <a:schemeClr val="bg1"/>
                    </a:solidFill>
                  </a:rPr>
                  <a:t> that we want to test satisfiability on </a:t>
                </a:r>
              </a:p>
            </p:txBody>
          </p:sp>
        </mc:Choice>
        <mc:Fallback xmlns="">
          <p:sp>
            <p:nvSpPr>
              <p:cNvPr id="7" name="Content Placeholder 2">
                <a:extLst>
                  <a:ext uri="{FF2B5EF4-FFF2-40B4-BE49-F238E27FC236}">
                    <a16:creationId xmlns:a16="http://schemas.microsoft.com/office/drawing/2014/main" id="{049ED47A-A891-F149-AC14-9DCCDB29D354}"/>
                  </a:ext>
                </a:extLst>
              </p:cNvPr>
              <p:cNvSpPr txBox="1">
                <a:spLocks noRot="1" noChangeAspect="1" noMove="1" noResize="1" noEditPoints="1" noAdjustHandles="1" noChangeArrowheads="1" noChangeShapeType="1" noTextEdit="1"/>
              </p:cNvSpPr>
              <p:nvPr/>
            </p:nvSpPr>
            <p:spPr>
              <a:xfrm>
                <a:off x="1500326" y="2752188"/>
                <a:ext cx="3620943" cy="983206"/>
              </a:xfrm>
              <a:prstGeom prst="rect">
                <a:avLst/>
              </a:prstGeom>
              <a:blipFill>
                <a:blip r:embed="rId5"/>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Content Placeholder 2">
                <a:extLst>
                  <a:ext uri="{FF2B5EF4-FFF2-40B4-BE49-F238E27FC236}">
                    <a16:creationId xmlns:a16="http://schemas.microsoft.com/office/drawing/2014/main" id="{C325257B-BDD6-3242-8A40-C4689147578C}"/>
                  </a:ext>
                </a:extLst>
              </p:cNvPr>
              <p:cNvSpPr txBox="1">
                <a:spLocks/>
              </p:cNvSpPr>
              <p:nvPr/>
            </p:nvSpPr>
            <p:spPr>
              <a:xfrm>
                <a:off x="7272789" y="2752188"/>
                <a:ext cx="3779909" cy="983206"/>
              </a:xfrm>
              <a:prstGeom prst="rect">
                <a:avLst/>
              </a:prstGeom>
              <a:solidFill>
                <a:schemeClr val="accent1"/>
              </a:solidFill>
              <a:ln>
                <a:solidFill>
                  <a:schemeClr val="bg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800" dirty="0">
                    <a:solidFill>
                      <a:schemeClr val="bg1"/>
                    </a:solidFill>
                  </a:rPr>
                  <a:t>graph G that is 3-Colorable if and only if </a:t>
                </a:r>
                <a14:m>
                  <m:oMath xmlns:m="http://schemas.openxmlformats.org/officeDocument/2006/math">
                    <m:r>
                      <a:rPr lang="en-US" sz="1800" b="0" i="1" smtClean="0">
                        <a:solidFill>
                          <a:schemeClr val="bg1"/>
                        </a:solidFill>
                        <a:latin typeface="Cambria Math" panose="02040503050406030204" pitchFamily="18" charset="0"/>
                      </a:rPr>
                      <m:t>𝜃</m:t>
                    </m:r>
                  </m:oMath>
                </a14:m>
                <a:r>
                  <a:rPr lang="en-US" sz="1800" dirty="0">
                    <a:solidFill>
                      <a:schemeClr val="bg1"/>
                    </a:solidFill>
                  </a:rPr>
                  <a:t> is satisfiable</a:t>
                </a:r>
              </a:p>
            </p:txBody>
          </p:sp>
        </mc:Choice>
        <mc:Fallback xmlns="">
          <p:sp>
            <p:nvSpPr>
              <p:cNvPr id="8" name="Content Placeholder 2">
                <a:extLst>
                  <a:ext uri="{FF2B5EF4-FFF2-40B4-BE49-F238E27FC236}">
                    <a16:creationId xmlns:a16="http://schemas.microsoft.com/office/drawing/2014/main" id="{C325257B-BDD6-3242-8A40-C4689147578C}"/>
                  </a:ext>
                </a:extLst>
              </p:cNvPr>
              <p:cNvSpPr txBox="1">
                <a:spLocks noRot="1" noChangeAspect="1" noMove="1" noResize="1" noEditPoints="1" noAdjustHandles="1" noChangeArrowheads="1" noChangeShapeType="1" noTextEdit="1"/>
              </p:cNvSpPr>
              <p:nvPr/>
            </p:nvSpPr>
            <p:spPr>
              <a:xfrm>
                <a:off x="7272789" y="2752188"/>
                <a:ext cx="3779909" cy="983206"/>
              </a:xfrm>
              <a:prstGeom prst="rect">
                <a:avLst/>
              </a:prstGeom>
              <a:blipFill>
                <a:blip r:embed="rId6"/>
                <a:stretch>
                  <a:fillRect/>
                </a:stretch>
              </a:blipFill>
              <a:ln>
                <a:solidFill>
                  <a:schemeClr val="bg1"/>
                </a:solidFill>
              </a:ln>
            </p:spPr>
            <p:txBody>
              <a:bodyPr/>
              <a:lstStyle/>
              <a:p>
                <a:r>
                  <a:rPr lang="en-US">
                    <a:noFill/>
                  </a:rPr>
                  <a:t> </a:t>
                </a:r>
              </a:p>
            </p:txBody>
          </p:sp>
        </mc:Fallback>
      </mc:AlternateContent>
      <p:sp>
        <p:nvSpPr>
          <p:cNvPr id="9" name="Right Arrow 8">
            <a:extLst>
              <a:ext uri="{FF2B5EF4-FFF2-40B4-BE49-F238E27FC236}">
                <a16:creationId xmlns:a16="http://schemas.microsoft.com/office/drawing/2014/main" id="{B3C26E00-113F-B143-BA4F-6AD594E74E7E}"/>
              </a:ext>
            </a:extLst>
          </p:cNvPr>
          <p:cNvSpPr/>
          <p:nvPr/>
        </p:nvSpPr>
        <p:spPr>
          <a:xfrm>
            <a:off x="5378833" y="3080828"/>
            <a:ext cx="1520982" cy="32592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ight Arrow 29">
            <a:extLst>
              <a:ext uri="{FF2B5EF4-FFF2-40B4-BE49-F238E27FC236}">
                <a16:creationId xmlns:a16="http://schemas.microsoft.com/office/drawing/2014/main" id="{DCC5C666-8BD1-C746-99F8-9DDB2E956931}"/>
              </a:ext>
            </a:extLst>
          </p:cNvPr>
          <p:cNvSpPr/>
          <p:nvPr/>
        </p:nvSpPr>
        <p:spPr>
          <a:xfrm>
            <a:off x="5378833" y="5105879"/>
            <a:ext cx="1520982" cy="32592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54210A33-D271-4A49-8C9A-CD9FBAE5F152}"/>
              </a:ext>
            </a:extLst>
          </p:cNvPr>
          <p:cNvSpPr/>
          <p:nvPr/>
        </p:nvSpPr>
        <p:spPr>
          <a:xfrm>
            <a:off x="7123272" y="4005256"/>
            <a:ext cx="4200807" cy="2679826"/>
          </a:xfrm>
          <a:prstGeom prst="rect">
            <a:avLst/>
          </a:pr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TextBox 31">
            <a:extLst>
              <a:ext uri="{FF2B5EF4-FFF2-40B4-BE49-F238E27FC236}">
                <a16:creationId xmlns:a16="http://schemas.microsoft.com/office/drawing/2014/main" id="{CB60F7D4-E838-9C41-9516-4045E286A244}"/>
              </a:ext>
            </a:extLst>
          </p:cNvPr>
          <p:cNvSpPr txBox="1"/>
          <p:nvPr/>
        </p:nvSpPr>
        <p:spPr>
          <a:xfrm>
            <a:off x="10928351" y="4047028"/>
            <a:ext cx="362600" cy="369332"/>
          </a:xfrm>
          <a:prstGeom prst="rect">
            <a:avLst/>
          </a:prstGeom>
          <a:noFill/>
        </p:spPr>
        <p:txBody>
          <a:bodyPr wrap="none" rtlCol="0">
            <a:spAutoFit/>
          </a:bodyPr>
          <a:lstStyle/>
          <a:p>
            <a:r>
              <a:rPr lang="en-US" dirty="0">
                <a:solidFill>
                  <a:schemeClr val="accent1"/>
                </a:solidFill>
              </a:rPr>
              <a:t>G</a:t>
            </a:r>
          </a:p>
        </p:txBody>
      </p:sp>
      <mc:AlternateContent xmlns:mc="http://schemas.openxmlformats.org/markup-compatibility/2006" xmlns:a14="http://schemas.microsoft.com/office/drawing/2010/main">
        <mc:Choice Requires="a14">
          <p:sp>
            <p:nvSpPr>
              <p:cNvPr id="37" name="Content Placeholder 2">
                <a:extLst>
                  <a:ext uri="{FF2B5EF4-FFF2-40B4-BE49-F238E27FC236}">
                    <a16:creationId xmlns:a16="http://schemas.microsoft.com/office/drawing/2014/main" id="{3A4FEE7E-EBFB-5E40-9644-716490691FB8}"/>
                  </a:ext>
                </a:extLst>
              </p:cNvPr>
              <p:cNvSpPr txBox="1">
                <a:spLocks/>
              </p:cNvSpPr>
              <p:nvPr/>
            </p:nvSpPr>
            <p:spPr>
              <a:xfrm>
                <a:off x="1500326" y="4678529"/>
                <a:ext cx="3620943" cy="1198487"/>
              </a:xfrm>
              <a:prstGeom prst="rect">
                <a:avLst/>
              </a:prstGeom>
              <a:noFill/>
              <a:ln>
                <a:solidFill>
                  <a:schemeClr val="accent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br>
                  <a:rPr lang="en-US" sz="1800" dirty="0">
                    <a:solidFill>
                      <a:schemeClr val="tx1">
                        <a:lumMod val="95000"/>
                      </a:schemeClr>
                    </a:solidFill>
                  </a:rPr>
                </a:br>
                <a14:m>
                  <m:oMathPara xmlns:m="http://schemas.openxmlformats.org/officeDocument/2006/math">
                    <m:oMathParaPr>
                      <m:jc m:val="centerGroup"/>
                    </m:oMathParaPr>
                    <m:oMath xmlns:m="http://schemas.openxmlformats.org/officeDocument/2006/math">
                      <m:r>
                        <a:rPr lang="en-US" sz="1800" b="0" i="1" smtClean="0">
                          <a:solidFill>
                            <a:schemeClr val="tx1">
                              <a:lumMod val="95000"/>
                            </a:schemeClr>
                          </a:solidFill>
                          <a:latin typeface="Cambria Math" panose="02040503050406030204" pitchFamily="18" charset="0"/>
                        </a:rPr>
                        <m:t>𝜃</m:t>
                      </m:r>
                      <m:r>
                        <a:rPr lang="en-US" sz="1800" b="0" i="1" smtClean="0">
                          <a:solidFill>
                            <a:schemeClr val="tx1">
                              <a:lumMod val="95000"/>
                            </a:schemeClr>
                          </a:solidFill>
                          <a:latin typeface="Cambria Math" panose="02040503050406030204" pitchFamily="18" charset="0"/>
                        </a:rPr>
                        <m:t>=</m:t>
                      </m:r>
                      <m:d>
                        <m:dPr>
                          <m:ctrlPr>
                            <a:rPr lang="en-US" sz="1800" b="0" i="1" smtClean="0">
                              <a:solidFill>
                                <a:schemeClr val="tx1">
                                  <a:lumMod val="95000"/>
                                </a:schemeClr>
                              </a:solidFill>
                              <a:latin typeface="Cambria Math" panose="02040503050406030204" pitchFamily="18" charset="0"/>
                            </a:rPr>
                          </m:ctrlPr>
                        </m:dPr>
                        <m:e>
                          <m:r>
                            <a:rPr lang="en-US" sz="1800" b="0" i="1" smtClean="0">
                              <a:solidFill>
                                <a:schemeClr val="tx1">
                                  <a:lumMod val="95000"/>
                                </a:schemeClr>
                              </a:solidFill>
                              <a:latin typeface="Cambria Math" panose="02040503050406030204" pitchFamily="18" charset="0"/>
                            </a:rPr>
                            <m:t>𝑢</m:t>
                          </m:r>
                          <m:r>
                            <a:rPr lang="en-US" sz="1800" b="0" i="1" smtClean="0">
                              <a:solidFill>
                                <a:schemeClr val="tx1">
                                  <a:lumMod val="95000"/>
                                </a:schemeClr>
                              </a:solidFill>
                              <a:latin typeface="Cambria Math" panose="02040503050406030204" pitchFamily="18" charset="0"/>
                            </a:rPr>
                            <m:t>∨¬</m:t>
                          </m:r>
                          <m:r>
                            <a:rPr lang="en-US" sz="1800" b="0" i="1" smtClean="0">
                              <a:solidFill>
                                <a:schemeClr val="tx1">
                                  <a:lumMod val="95000"/>
                                </a:schemeClr>
                              </a:solidFill>
                              <a:latin typeface="Cambria Math" panose="02040503050406030204" pitchFamily="18" charset="0"/>
                            </a:rPr>
                            <m:t>𝑣</m:t>
                          </m:r>
                          <m:r>
                            <a:rPr lang="en-US" sz="1800" b="0" i="1" smtClean="0">
                              <a:solidFill>
                                <a:schemeClr val="tx1">
                                  <a:lumMod val="95000"/>
                                </a:schemeClr>
                              </a:solidFill>
                              <a:latin typeface="Cambria Math" panose="02040503050406030204" pitchFamily="18" charset="0"/>
                            </a:rPr>
                            <m:t>∨</m:t>
                          </m:r>
                          <m:r>
                            <a:rPr lang="en-US" sz="1800" b="0" i="1" smtClean="0">
                              <a:solidFill>
                                <a:schemeClr val="tx1">
                                  <a:lumMod val="95000"/>
                                </a:schemeClr>
                              </a:solidFill>
                              <a:latin typeface="Cambria Math" panose="02040503050406030204" pitchFamily="18" charset="0"/>
                            </a:rPr>
                            <m:t>𝑤</m:t>
                          </m:r>
                        </m:e>
                      </m:d>
                      <m:r>
                        <a:rPr lang="en-US" sz="1800" b="0" i="1" smtClean="0">
                          <a:solidFill>
                            <a:schemeClr val="tx1">
                              <a:lumMod val="95000"/>
                            </a:schemeClr>
                          </a:solidFill>
                          <a:latin typeface="Cambria Math" panose="02040503050406030204" pitchFamily="18" charset="0"/>
                        </a:rPr>
                        <m:t>∧(</m:t>
                      </m:r>
                      <m:r>
                        <a:rPr lang="en-US" sz="1800" b="0" i="1" smtClean="0">
                          <a:solidFill>
                            <a:schemeClr val="tx1">
                              <a:lumMod val="95000"/>
                            </a:schemeClr>
                          </a:solidFill>
                          <a:latin typeface="Cambria Math" panose="02040503050406030204" pitchFamily="18" charset="0"/>
                        </a:rPr>
                        <m:t>𝑣</m:t>
                      </m:r>
                      <m:r>
                        <a:rPr lang="en-US" sz="1800" b="0" i="1" smtClean="0">
                          <a:solidFill>
                            <a:schemeClr val="tx1">
                              <a:lumMod val="95000"/>
                            </a:schemeClr>
                          </a:solidFill>
                          <a:latin typeface="Cambria Math" panose="02040503050406030204" pitchFamily="18" charset="0"/>
                        </a:rPr>
                        <m:t>∨</m:t>
                      </m:r>
                      <m:r>
                        <a:rPr lang="en-US" sz="1800" b="0" i="1" smtClean="0">
                          <a:solidFill>
                            <a:schemeClr val="tx1">
                              <a:lumMod val="95000"/>
                            </a:schemeClr>
                          </a:solidFill>
                          <a:latin typeface="Cambria Math" panose="02040503050406030204" pitchFamily="18" charset="0"/>
                        </a:rPr>
                        <m:t>𝑥</m:t>
                      </m:r>
                      <m:r>
                        <a:rPr lang="en-US" sz="1800" b="0" i="1" smtClean="0">
                          <a:solidFill>
                            <a:schemeClr val="tx1">
                              <a:lumMod val="95000"/>
                            </a:schemeClr>
                          </a:solidFill>
                          <a:latin typeface="Cambria Math" panose="02040503050406030204" pitchFamily="18" charset="0"/>
                        </a:rPr>
                        <m:t>∨¬</m:t>
                      </m:r>
                      <m:r>
                        <a:rPr lang="en-US" sz="1800" b="0" i="1" smtClean="0">
                          <a:solidFill>
                            <a:schemeClr val="tx1">
                              <a:lumMod val="95000"/>
                            </a:schemeClr>
                          </a:solidFill>
                          <a:latin typeface="Cambria Math" panose="02040503050406030204" pitchFamily="18" charset="0"/>
                        </a:rPr>
                        <m:t>𝑦</m:t>
                      </m:r>
                      <m:r>
                        <a:rPr lang="en-US" sz="1800" b="0" i="1" smtClean="0">
                          <a:solidFill>
                            <a:schemeClr val="tx1">
                              <a:lumMod val="95000"/>
                            </a:schemeClr>
                          </a:solidFill>
                          <a:latin typeface="Cambria Math" panose="02040503050406030204" pitchFamily="18" charset="0"/>
                        </a:rPr>
                        <m:t>)</m:t>
                      </m:r>
                    </m:oMath>
                  </m:oMathPara>
                </a14:m>
                <a:endParaRPr lang="en-US" sz="1800" dirty="0">
                  <a:solidFill>
                    <a:schemeClr val="tx1">
                      <a:lumMod val="95000"/>
                    </a:schemeClr>
                  </a:solidFill>
                </a:endParaRPr>
              </a:p>
            </p:txBody>
          </p:sp>
        </mc:Choice>
        <mc:Fallback xmlns="">
          <p:sp>
            <p:nvSpPr>
              <p:cNvPr id="37" name="Content Placeholder 2">
                <a:extLst>
                  <a:ext uri="{FF2B5EF4-FFF2-40B4-BE49-F238E27FC236}">
                    <a16:creationId xmlns:a16="http://schemas.microsoft.com/office/drawing/2014/main" id="{3A4FEE7E-EBFB-5E40-9644-716490691FB8}"/>
                  </a:ext>
                </a:extLst>
              </p:cNvPr>
              <p:cNvSpPr txBox="1">
                <a:spLocks noRot="1" noChangeAspect="1" noMove="1" noResize="1" noEditPoints="1" noAdjustHandles="1" noChangeArrowheads="1" noChangeShapeType="1" noTextEdit="1"/>
              </p:cNvSpPr>
              <p:nvPr/>
            </p:nvSpPr>
            <p:spPr>
              <a:xfrm>
                <a:off x="1500326" y="4678529"/>
                <a:ext cx="3620943" cy="1198487"/>
              </a:xfrm>
              <a:prstGeom prst="rect">
                <a:avLst/>
              </a:prstGeom>
              <a:blipFill>
                <a:blip r:embed="rId7"/>
                <a:stretch>
                  <a:fillRect/>
                </a:stretch>
              </a:blipFill>
              <a:ln>
                <a:solidFill>
                  <a:schemeClr val="accent1"/>
                </a:solidFill>
              </a:ln>
            </p:spPr>
            <p:txBody>
              <a:bodyPr/>
              <a:lstStyle/>
              <a:p>
                <a:r>
                  <a:rPr lang="en-US">
                    <a:noFill/>
                  </a:rPr>
                  <a:t> </a:t>
                </a:r>
              </a:p>
            </p:txBody>
          </p:sp>
        </mc:Fallback>
      </mc:AlternateContent>
    </p:spTree>
    <p:extLst>
      <p:ext uri="{BB962C8B-B14F-4D97-AF65-F5344CB8AC3E}">
        <p14:creationId xmlns:p14="http://schemas.microsoft.com/office/powerpoint/2010/main" val="714328335"/>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p:cNvSpPr>
                <a:spLocks noGrp="1"/>
              </p:cNvSpPr>
              <p:nvPr>
                <p:ph type="title"/>
              </p:nvPr>
            </p:nvSpPr>
            <p:spPr>
              <a:xfrm>
                <a:off x="1141413" y="192390"/>
                <a:ext cx="9905998" cy="695377"/>
              </a:xfrm>
            </p:spPr>
            <p: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3</m:t>
                      </m:r>
                      <m:r>
                        <a:rPr lang="en-US" b="0" i="1" smtClean="0">
                          <a:latin typeface="Cambria Math" panose="02040503050406030204" pitchFamily="18" charset="0"/>
                        </a:rPr>
                        <m:t>𝑆𝐴𝑇</m:t>
                      </m:r>
                      <m:sSub>
                        <m:sSubPr>
                          <m:ctrlPr>
                            <a:rPr lang="en-US" b="0" i="1" smtClean="0">
                              <a:latin typeface="Cambria Math" panose="02040503050406030204" pitchFamily="18" charset="0"/>
                            </a:rPr>
                          </m:ctrlPr>
                        </m:sSubPr>
                        <m:e>
                          <m:r>
                            <a:rPr lang="en-US" b="0" i="1" smtClean="0">
                              <a:latin typeface="Cambria Math" panose="02040503050406030204" pitchFamily="18" charset="0"/>
                            </a:rPr>
                            <m:t>≤</m:t>
                          </m:r>
                        </m:e>
                        <m:sub>
                          <m:r>
                            <a:rPr lang="en-US" b="0" i="1" smtClean="0">
                              <a:latin typeface="Cambria Math" panose="02040503050406030204" pitchFamily="18" charset="0"/>
                            </a:rPr>
                            <m:t>𝑝</m:t>
                          </m:r>
                        </m:sub>
                      </m:sSub>
                      <m:r>
                        <a:rPr lang="en-US" b="0" i="1" smtClean="0">
                          <a:latin typeface="Cambria Math" panose="02040503050406030204" pitchFamily="18" charset="0"/>
                        </a:rPr>
                        <m:t>3</m:t>
                      </m:r>
                      <m:r>
                        <a:rPr lang="en-US" b="0" i="1" smtClean="0">
                          <a:latin typeface="Cambria Math" panose="02040503050406030204" pitchFamily="18" charset="0"/>
                        </a:rPr>
                        <m:t>𝐶</m:t>
                      </m:r>
                    </m:oMath>
                  </m:oMathPara>
                </a14:m>
                <a:endParaRPr lang="en-US" dirty="0"/>
              </a:p>
            </p:txBody>
          </p:sp>
        </mc:Choice>
        <mc:Fallback xmlns="">
          <p:sp>
            <p:nvSpPr>
              <p:cNvPr id="2" name="Title 1"/>
              <p:cNvSpPr>
                <a:spLocks noGrp="1" noRot="1" noChangeAspect="1" noMove="1" noResize="1" noEditPoints="1" noAdjustHandles="1" noChangeArrowheads="1" noChangeShapeType="1" noTextEdit="1"/>
              </p:cNvSpPr>
              <p:nvPr>
                <p:ph type="title"/>
              </p:nvPr>
            </p:nvSpPr>
            <p:spPr>
              <a:xfrm>
                <a:off x="1141413" y="192390"/>
                <a:ext cx="9905998" cy="695377"/>
              </a:xfrm>
              <a:blipFill>
                <a:blip r:embed="rId2"/>
                <a:stretch>
                  <a:fillRect b="-71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Content Placeholder 2">
                <a:extLst>
                  <a:ext uri="{FF2B5EF4-FFF2-40B4-BE49-F238E27FC236}">
                    <a16:creationId xmlns:a16="http://schemas.microsoft.com/office/drawing/2014/main" id="{3A4FEE7E-EBFB-5E40-9644-716490691FB8}"/>
                  </a:ext>
                </a:extLst>
              </p:cNvPr>
              <p:cNvSpPr txBox="1">
                <a:spLocks/>
              </p:cNvSpPr>
              <p:nvPr/>
            </p:nvSpPr>
            <p:spPr>
              <a:xfrm>
                <a:off x="1016381" y="985416"/>
                <a:ext cx="4696288" cy="630318"/>
              </a:xfrm>
              <a:prstGeom prst="rect">
                <a:avLst/>
              </a:prstGeom>
              <a:noFill/>
              <a:ln>
                <a:solidFill>
                  <a:schemeClr val="accent1"/>
                </a:solidFill>
              </a:ln>
            </p:spPr>
            <p:txBody>
              <a:bodyPr vert="horz" lIns="91440" tIns="45720" rIns="91440" bIns="45720" rtlCol="0">
                <a:no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14:m>
                  <m:oMathPara xmlns:m="http://schemas.openxmlformats.org/officeDocument/2006/math">
                    <m:oMathParaPr>
                      <m:jc m:val="centerGroup"/>
                    </m:oMathParaPr>
                    <m:oMath xmlns:m="http://schemas.openxmlformats.org/officeDocument/2006/math">
                      <m:r>
                        <a:rPr lang="en-US" b="0" i="1" smtClean="0">
                          <a:solidFill>
                            <a:schemeClr val="tx1">
                              <a:lumMod val="95000"/>
                            </a:schemeClr>
                          </a:solidFill>
                          <a:latin typeface="Cambria Math" panose="02040503050406030204" pitchFamily="18" charset="0"/>
                        </a:rPr>
                        <m:t>𝜃</m:t>
                      </m:r>
                      <m:r>
                        <a:rPr lang="en-US" b="0" i="1" smtClean="0">
                          <a:solidFill>
                            <a:schemeClr val="tx1">
                              <a:lumMod val="95000"/>
                            </a:schemeClr>
                          </a:solidFill>
                          <a:latin typeface="Cambria Math" panose="02040503050406030204" pitchFamily="18" charset="0"/>
                        </a:rPr>
                        <m:t>=</m:t>
                      </m:r>
                      <m:d>
                        <m:dPr>
                          <m:ctrlPr>
                            <a:rPr lang="en-US" b="0" i="1" smtClean="0">
                              <a:solidFill>
                                <a:schemeClr val="tx1">
                                  <a:lumMod val="95000"/>
                                </a:schemeClr>
                              </a:solidFill>
                              <a:latin typeface="Cambria Math" panose="02040503050406030204" pitchFamily="18" charset="0"/>
                            </a:rPr>
                          </m:ctrlPr>
                        </m:dPr>
                        <m:e>
                          <m:r>
                            <a:rPr lang="en-US" b="0" i="1" smtClean="0">
                              <a:solidFill>
                                <a:schemeClr val="tx1">
                                  <a:lumMod val="95000"/>
                                </a:schemeClr>
                              </a:solidFill>
                              <a:latin typeface="Cambria Math" panose="02040503050406030204" pitchFamily="18" charset="0"/>
                            </a:rPr>
                            <m:t>𝑢</m:t>
                          </m:r>
                          <m:r>
                            <a:rPr lang="en-US" b="0" i="1" smtClean="0">
                              <a:solidFill>
                                <a:schemeClr val="tx1">
                                  <a:lumMod val="95000"/>
                                </a:schemeClr>
                              </a:solidFill>
                              <a:latin typeface="Cambria Math" panose="02040503050406030204" pitchFamily="18" charset="0"/>
                            </a:rPr>
                            <m:t>∨¬</m:t>
                          </m:r>
                          <m:r>
                            <a:rPr lang="en-US" b="0" i="1" smtClean="0">
                              <a:solidFill>
                                <a:schemeClr val="tx1">
                                  <a:lumMod val="95000"/>
                                </a:schemeClr>
                              </a:solidFill>
                              <a:latin typeface="Cambria Math" panose="02040503050406030204" pitchFamily="18" charset="0"/>
                            </a:rPr>
                            <m:t>𝑣</m:t>
                          </m:r>
                          <m:r>
                            <a:rPr lang="en-US" b="0" i="1" smtClean="0">
                              <a:solidFill>
                                <a:schemeClr val="tx1">
                                  <a:lumMod val="95000"/>
                                </a:schemeClr>
                              </a:solidFill>
                              <a:latin typeface="Cambria Math" panose="02040503050406030204" pitchFamily="18" charset="0"/>
                            </a:rPr>
                            <m:t>∨</m:t>
                          </m:r>
                          <m:r>
                            <a:rPr lang="en-US" b="0" i="1" smtClean="0">
                              <a:solidFill>
                                <a:schemeClr val="tx1">
                                  <a:lumMod val="95000"/>
                                </a:schemeClr>
                              </a:solidFill>
                              <a:latin typeface="Cambria Math" panose="02040503050406030204" pitchFamily="18" charset="0"/>
                            </a:rPr>
                            <m:t>𝑤</m:t>
                          </m:r>
                        </m:e>
                      </m:d>
                      <m:r>
                        <a:rPr lang="en-US" b="0" i="1" smtClean="0">
                          <a:solidFill>
                            <a:schemeClr val="tx1">
                              <a:lumMod val="95000"/>
                            </a:schemeClr>
                          </a:solidFill>
                          <a:latin typeface="Cambria Math" panose="02040503050406030204" pitchFamily="18" charset="0"/>
                        </a:rPr>
                        <m:t>∧(</m:t>
                      </m:r>
                      <m:r>
                        <a:rPr lang="en-US" b="0" i="1" smtClean="0">
                          <a:solidFill>
                            <a:schemeClr val="tx1">
                              <a:lumMod val="95000"/>
                            </a:schemeClr>
                          </a:solidFill>
                          <a:latin typeface="Cambria Math" panose="02040503050406030204" pitchFamily="18" charset="0"/>
                        </a:rPr>
                        <m:t>𝑣</m:t>
                      </m:r>
                      <m:r>
                        <a:rPr lang="en-US" b="0" i="1" smtClean="0">
                          <a:solidFill>
                            <a:schemeClr val="tx1">
                              <a:lumMod val="95000"/>
                            </a:schemeClr>
                          </a:solidFill>
                          <a:latin typeface="Cambria Math" panose="02040503050406030204" pitchFamily="18" charset="0"/>
                        </a:rPr>
                        <m:t>∨</m:t>
                      </m:r>
                      <m:r>
                        <a:rPr lang="en-US" b="0" i="1" smtClean="0">
                          <a:solidFill>
                            <a:schemeClr val="tx1">
                              <a:lumMod val="95000"/>
                            </a:schemeClr>
                          </a:solidFill>
                          <a:latin typeface="Cambria Math" panose="02040503050406030204" pitchFamily="18" charset="0"/>
                        </a:rPr>
                        <m:t>𝑥</m:t>
                      </m:r>
                      <m:r>
                        <a:rPr lang="en-US" b="0" i="1" smtClean="0">
                          <a:solidFill>
                            <a:schemeClr val="tx1">
                              <a:lumMod val="95000"/>
                            </a:schemeClr>
                          </a:solidFill>
                          <a:latin typeface="Cambria Math" panose="02040503050406030204" pitchFamily="18" charset="0"/>
                        </a:rPr>
                        <m:t>∨¬</m:t>
                      </m:r>
                      <m:r>
                        <a:rPr lang="en-US" b="0" i="1" smtClean="0">
                          <a:solidFill>
                            <a:schemeClr val="tx1">
                              <a:lumMod val="95000"/>
                            </a:schemeClr>
                          </a:solidFill>
                          <a:latin typeface="Cambria Math" panose="02040503050406030204" pitchFamily="18" charset="0"/>
                        </a:rPr>
                        <m:t>𝑦</m:t>
                      </m:r>
                      <m:r>
                        <a:rPr lang="en-US" b="0" i="1" smtClean="0">
                          <a:solidFill>
                            <a:schemeClr val="tx1">
                              <a:lumMod val="95000"/>
                            </a:schemeClr>
                          </a:solidFill>
                          <a:latin typeface="Cambria Math" panose="02040503050406030204" pitchFamily="18" charset="0"/>
                        </a:rPr>
                        <m:t>)</m:t>
                      </m:r>
                    </m:oMath>
                  </m:oMathPara>
                </a14:m>
                <a:endParaRPr lang="en-US" dirty="0">
                  <a:solidFill>
                    <a:schemeClr val="tx1">
                      <a:lumMod val="95000"/>
                    </a:schemeClr>
                  </a:solidFill>
                </a:endParaRPr>
              </a:p>
            </p:txBody>
          </p:sp>
        </mc:Choice>
        <mc:Fallback xmlns="">
          <p:sp>
            <p:nvSpPr>
              <p:cNvPr id="37" name="Content Placeholder 2">
                <a:extLst>
                  <a:ext uri="{FF2B5EF4-FFF2-40B4-BE49-F238E27FC236}">
                    <a16:creationId xmlns:a16="http://schemas.microsoft.com/office/drawing/2014/main" id="{3A4FEE7E-EBFB-5E40-9644-716490691FB8}"/>
                  </a:ext>
                </a:extLst>
              </p:cNvPr>
              <p:cNvSpPr txBox="1">
                <a:spLocks noRot="1" noChangeAspect="1" noMove="1" noResize="1" noEditPoints="1" noAdjustHandles="1" noChangeArrowheads="1" noChangeShapeType="1" noTextEdit="1"/>
              </p:cNvSpPr>
              <p:nvPr/>
            </p:nvSpPr>
            <p:spPr>
              <a:xfrm>
                <a:off x="1016381" y="985416"/>
                <a:ext cx="4696288" cy="630318"/>
              </a:xfrm>
              <a:prstGeom prst="rect">
                <a:avLst/>
              </a:prstGeom>
              <a:blipFill>
                <a:blip r:embed="rId3"/>
                <a:stretch>
                  <a:fillRect/>
                </a:stretch>
              </a:blipFill>
              <a:ln>
                <a:solidFill>
                  <a:schemeClr val="accent1"/>
                </a:solidFill>
              </a:ln>
            </p:spPr>
            <p:txBody>
              <a:bodyPr/>
              <a:lstStyle/>
              <a:p>
                <a:r>
                  <a:rPr lang="en-US">
                    <a:noFill/>
                  </a:rPr>
                  <a:t> </a:t>
                </a:r>
              </a:p>
            </p:txBody>
          </p:sp>
        </mc:Fallback>
      </mc:AlternateContent>
      <p:sp>
        <p:nvSpPr>
          <p:cNvPr id="12" name="Content Placeholder 2">
            <a:extLst>
              <a:ext uri="{FF2B5EF4-FFF2-40B4-BE49-F238E27FC236}">
                <a16:creationId xmlns:a16="http://schemas.microsoft.com/office/drawing/2014/main" id="{7E1AFE59-E301-5E42-BAE8-A0AEB2A7A9B9}"/>
              </a:ext>
            </a:extLst>
          </p:cNvPr>
          <p:cNvSpPr txBox="1">
            <a:spLocks/>
          </p:cNvSpPr>
          <p:nvPr/>
        </p:nvSpPr>
        <p:spPr>
          <a:xfrm>
            <a:off x="5965791" y="985416"/>
            <a:ext cx="5584053" cy="2192787"/>
          </a:xfrm>
          <a:prstGeom prst="rect">
            <a:avLst/>
          </a:prstGeom>
          <a:noFill/>
          <a:ln>
            <a:solidFill>
              <a:schemeClr val="accent1"/>
            </a:solidFill>
          </a:ln>
        </p:spPr>
        <p:txBody>
          <a:bodyPr vert="horz" lIns="91440" tIns="45720" rIns="91440" bIns="45720" rtlCol="0">
            <a:no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dirty="0">
                <a:solidFill>
                  <a:schemeClr val="tx1">
                    <a:lumMod val="95000"/>
                  </a:schemeClr>
                </a:solidFill>
              </a:rPr>
              <a:t>The graph we construct needs to:</a:t>
            </a:r>
            <a:br>
              <a:rPr lang="en-US" sz="1600" dirty="0">
                <a:solidFill>
                  <a:schemeClr val="tx1">
                    <a:lumMod val="95000"/>
                  </a:schemeClr>
                </a:solidFill>
              </a:rPr>
            </a:br>
            <a:r>
              <a:rPr lang="en-US" sz="1600" dirty="0">
                <a:solidFill>
                  <a:schemeClr val="tx1">
                    <a:lumMod val="95000"/>
                  </a:schemeClr>
                </a:solidFill>
              </a:rPr>
              <a:t>- Model the fact that variables can only be set to True and False.</a:t>
            </a:r>
          </a:p>
          <a:p>
            <a:pPr marL="0" indent="0">
              <a:buFont typeface="Arial" panose="020B0604020202020204" pitchFamily="34" charset="0"/>
              <a:buNone/>
            </a:pPr>
            <a:r>
              <a:rPr lang="en-US" sz="1600" dirty="0">
                <a:solidFill>
                  <a:schemeClr val="tx1">
                    <a:lumMod val="95000"/>
                  </a:schemeClr>
                </a:solidFill>
              </a:rPr>
              <a:t>- Model the variables and the fact that each variable XOR its negation can be True.</a:t>
            </a:r>
          </a:p>
          <a:p>
            <a:pPr marL="0" indent="0">
              <a:buFont typeface="Arial" panose="020B0604020202020204" pitchFamily="34" charset="0"/>
              <a:buNone/>
            </a:pPr>
            <a:r>
              <a:rPr lang="en-US" sz="1600" dirty="0">
                <a:solidFill>
                  <a:schemeClr val="tx1">
                    <a:lumMod val="95000"/>
                  </a:schemeClr>
                </a:solidFill>
              </a:rPr>
              <a:t>- Model the fact that at least one variable per clause must be chosen.</a:t>
            </a:r>
          </a:p>
        </p:txBody>
      </p:sp>
    </p:spTree>
    <p:extLst>
      <p:ext uri="{BB962C8B-B14F-4D97-AF65-F5344CB8AC3E}">
        <p14:creationId xmlns:p14="http://schemas.microsoft.com/office/powerpoint/2010/main" val="491011879"/>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p:cNvSpPr>
                <a:spLocks noGrp="1"/>
              </p:cNvSpPr>
              <p:nvPr>
                <p:ph type="title"/>
              </p:nvPr>
            </p:nvSpPr>
            <p:spPr>
              <a:xfrm>
                <a:off x="1141413" y="192390"/>
                <a:ext cx="9905998" cy="695377"/>
              </a:xfrm>
            </p:spPr>
            <p: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3</m:t>
                      </m:r>
                      <m:r>
                        <a:rPr lang="en-US" b="0" i="1" smtClean="0">
                          <a:latin typeface="Cambria Math" panose="02040503050406030204" pitchFamily="18" charset="0"/>
                        </a:rPr>
                        <m:t>𝑆𝐴𝑇</m:t>
                      </m:r>
                      <m:sSub>
                        <m:sSubPr>
                          <m:ctrlPr>
                            <a:rPr lang="en-US" b="0" i="1" smtClean="0">
                              <a:latin typeface="Cambria Math" panose="02040503050406030204" pitchFamily="18" charset="0"/>
                            </a:rPr>
                          </m:ctrlPr>
                        </m:sSubPr>
                        <m:e>
                          <m:r>
                            <a:rPr lang="en-US" b="0" i="1" smtClean="0">
                              <a:latin typeface="Cambria Math" panose="02040503050406030204" pitchFamily="18" charset="0"/>
                            </a:rPr>
                            <m:t>≤</m:t>
                          </m:r>
                        </m:e>
                        <m:sub>
                          <m:r>
                            <a:rPr lang="en-US" b="0" i="1" smtClean="0">
                              <a:latin typeface="Cambria Math" panose="02040503050406030204" pitchFamily="18" charset="0"/>
                            </a:rPr>
                            <m:t>𝑝</m:t>
                          </m:r>
                        </m:sub>
                      </m:sSub>
                      <m:r>
                        <a:rPr lang="en-US" b="0" i="1" smtClean="0">
                          <a:latin typeface="Cambria Math" panose="02040503050406030204" pitchFamily="18" charset="0"/>
                        </a:rPr>
                        <m:t>3</m:t>
                      </m:r>
                      <m:r>
                        <a:rPr lang="en-US" b="0" i="1" smtClean="0">
                          <a:latin typeface="Cambria Math" panose="02040503050406030204" pitchFamily="18" charset="0"/>
                        </a:rPr>
                        <m:t>𝐶</m:t>
                      </m:r>
                    </m:oMath>
                  </m:oMathPara>
                </a14:m>
                <a:endParaRPr lang="en-US" dirty="0"/>
              </a:p>
            </p:txBody>
          </p:sp>
        </mc:Choice>
        <mc:Fallback xmlns="">
          <p:sp>
            <p:nvSpPr>
              <p:cNvPr id="2" name="Title 1"/>
              <p:cNvSpPr>
                <a:spLocks noGrp="1" noRot="1" noChangeAspect="1" noMove="1" noResize="1" noEditPoints="1" noAdjustHandles="1" noChangeArrowheads="1" noChangeShapeType="1" noTextEdit="1"/>
              </p:cNvSpPr>
              <p:nvPr>
                <p:ph type="title"/>
              </p:nvPr>
            </p:nvSpPr>
            <p:spPr>
              <a:xfrm>
                <a:off x="1141413" y="192390"/>
                <a:ext cx="9905998" cy="695377"/>
              </a:xfrm>
              <a:blipFill>
                <a:blip r:embed="rId2"/>
                <a:stretch>
                  <a:fillRect b="-71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Content Placeholder 2">
                <a:extLst>
                  <a:ext uri="{FF2B5EF4-FFF2-40B4-BE49-F238E27FC236}">
                    <a16:creationId xmlns:a16="http://schemas.microsoft.com/office/drawing/2014/main" id="{3A4FEE7E-EBFB-5E40-9644-716490691FB8}"/>
                  </a:ext>
                </a:extLst>
              </p:cNvPr>
              <p:cNvSpPr txBox="1">
                <a:spLocks/>
              </p:cNvSpPr>
              <p:nvPr/>
            </p:nvSpPr>
            <p:spPr>
              <a:xfrm>
                <a:off x="1016381" y="985416"/>
                <a:ext cx="4696288" cy="630318"/>
              </a:xfrm>
              <a:prstGeom prst="rect">
                <a:avLst/>
              </a:prstGeom>
              <a:noFill/>
              <a:ln>
                <a:solidFill>
                  <a:schemeClr val="accent1"/>
                </a:solidFill>
              </a:ln>
            </p:spPr>
            <p:txBody>
              <a:bodyPr vert="horz" lIns="91440" tIns="45720" rIns="91440" bIns="45720" rtlCol="0">
                <a:no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14:m>
                  <m:oMathPara xmlns:m="http://schemas.openxmlformats.org/officeDocument/2006/math">
                    <m:oMathParaPr>
                      <m:jc m:val="centerGroup"/>
                    </m:oMathParaPr>
                    <m:oMath xmlns:m="http://schemas.openxmlformats.org/officeDocument/2006/math">
                      <m:r>
                        <a:rPr lang="en-US" b="0" i="1" smtClean="0">
                          <a:solidFill>
                            <a:schemeClr val="tx1">
                              <a:lumMod val="95000"/>
                            </a:schemeClr>
                          </a:solidFill>
                          <a:latin typeface="Cambria Math" panose="02040503050406030204" pitchFamily="18" charset="0"/>
                        </a:rPr>
                        <m:t>𝜃</m:t>
                      </m:r>
                      <m:r>
                        <a:rPr lang="en-US" b="0" i="1" smtClean="0">
                          <a:solidFill>
                            <a:schemeClr val="tx1">
                              <a:lumMod val="95000"/>
                            </a:schemeClr>
                          </a:solidFill>
                          <a:latin typeface="Cambria Math" panose="02040503050406030204" pitchFamily="18" charset="0"/>
                        </a:rPr>
                        <m:t>=</m:t>
                      </m:r>
                      <m:d>
                        <m:dPr>
                          <m:ctrlPr>
                            <a:rPr lang="en-US" b="0" i="1" smtClean="0">
                              <a:solidFill>
                                <a:schemeClr val="tx1">
                                  <a:lumMod val="95000"/>
                                </a:schemeClr>
                              </a:solidFill>
                              <a:latin typeface="Cambria Math" panose="02040503050406030204" pitchFamily="18" charset="0"/>
                            </a:rPr>
                          </m:ctrlPr>
                        </m:dPr>
                        <m:e>
                          <m:r>
                            <a:rPr lang="en-US" b="0" i="1" smtClean="0">
                              <a:solidFill>
                                <a:schemeClr val="tx1">
                                  <a:lumMod val="95000"/>
                                </a:schemeClr>
                              </a:solidFill>
                              <a:latin typeface="Cambria Math" panose="02040503050406030204" pitchFamily="18" charset="0"/>
                            </a:rPr>
                            <m:t>𝑢</m:t>
                          </m:r>
                          <m:r>
                            <a:rPr lang="en-US" b="0" i="1" smtClean="0">
                              <a:solidFill>
                                <a:schemeClr val="tx1">
                                  <a:lumMod val="95000"/>
                                </a:schemeClr>
                              </a:solidFill>
                              <a:latin typeface="Cambria Math" panose="02040503050406030204" pitchFamily="18" charset="0"/>
                            </a:rPr>
                            <m:t>∨¬</m:t>
                          </m:r>
                          <m:r>
                            <a:rPr lang="en-US" b="0" i="1" smtClean="0">
                              <a:solidFill>
                                <a:schemeClr val="tx1">
                                  <a:lumMod val="95000"/>
                                </a:schemeClr>
                              </a:solidFill>
                              <a:latin typeface="Cambria Math" panose="02040503050406030204" pitchFamily="18" charset="0"/>
                            </a:rPr>
                            <m:t>𝑣</m:t>
                          </m:r>
                          <m:r>
                            <a:rPr lang="en-US" b="0" i="1" smtClean="0">
                              <a:solidFill>
                                <a:schemeClr val="tx1">
                                  <a:lumMod val="95000"/>
                                </a:schemeClr>
                              </a:solidFill>
                              <a:latin typeface="Cambria Math" panose="02040503050406030204" pitchFamily="18" charset="0"/>
                            </a:rPr>
                            <m:t>∨</m:t>
                          </m:r>
                          <m:r>
                            <a:rPr lang="en-US" b="0" i="1" smtClean="0">
                              <a:solidFill>
                                <a:schemeClr val="tx1">
                                  <a:lumMod val="95000"/>
                                </a:schemeClr>
                              </a:solidFill>
                              <a:latin typeface="Cambria Math" panose="02040503050406030204" pitchFamily="18" charset="0"/>
                            </a:rPr>
                            <m:t>𝑤</m:t>
                          </m:r>
                        </m:e>
                      </m:d>
                      <m:r>
                        <a:rPr lang="en-US" b="0" i="1" smtClean="0">
                          <a:solidFill>
                            <a:schemeClr val="tx1">
                              <a:lumMod val="95000"/>
                            </a:schemeClr>
                          </a:solidFill>
                          <a:latin typeface="Cambria Math" panose="02040503050406030204" pitchFamily="18" charset="0"/>
                        </a:rPr>
                        <m:t>∧(</m:t>
                      </m:r>
                      <m:r>
                        <a:rPr lang="en-US" b="0" i="1" smtClean="0">
                          <a:solidFill>
                            <a:schemeClr val="tx1">
                              <a:lumMod val="95000"/>
                            </a:schemeClr>
                          </a:solidFill>
                          <a:latin typeface="Cambria Math" panose="02040503050406030204" pitchFamily="18" charset="0"/>
                        </a:rPr>
                        <m:t>𝑣</m:t>
                      </m:r>
                      <m:r>
                        <a:rPr lang="en-US" b="0" i="1" smtClean="0">
                          <a:solidFill>
                            <a:schemeClr val="tx1">
                              <a:lumMod val="95000"/>
                            </a:schemeClr>
                          </a:solidFill>
                          <a:latin typeface="Cambria Math" panose="02040503050406030204" pitchFamily="18" charset="0"/>
                        </a:rPr>
                        <m:t>∨</m:t>
                      </m:r>
                      <m:r>
                        <a:rPr lang="en-US" b="0" i="1" smtClean="0">
                          <a:solidFill>
                            <a:schemeClr val="tx1">
                              <a:lumMod val="95000"/>
                            </a:schemeClr>
                          </a:solidFill>
                          <a:latin typeface="Cambria Math" panose="02040503050406030204" pitchFamily="18" charset="0"/>
                        </a:rPr>
                        <m:t>𝑥</m:t>
                      </m:r>
                      <m:r>
                        <a:rPr lang="en-US" b="0" i="1" smtClean="0">
                          <a:solidFill>
                            <a:schemeClr val="tx1">
                              <a:lumMod val="95000"/>
                            </a:schemeClr>
                          </a:solidFill>
                          <a:latin typeface="Cambria Math" panose="02040503050406030204" pitchFamily="18" charset="0"/>
                        </a:rPr>
                        <m:t>∨¬</m:t>
                      </m:r>
                      <m:r>
                        <a:rPr lang="en-US" b="0" i="1" smtClean="0">
                          <a:solidFill>
                            <a:schemeClr val="tx1">
                              <a:lumMod val="95000"/>
                            </a:schemeClr>
                          </a:solidFill>
                          <a:latin typeface="Cambria Math" panose="02040503050406030204" pitchFamily="18" charset="0"/>
                        </a:rPr>
                        <m:t>𝑦</m:t>
                      </m:r>
                      <m:r>
                        <a:rPr lang="en-US" b="0" i="1" smtClean="0">
                          <a:solidFill>
                            <a:schemeClr val="tx1">
                              <a:lumMod val="95000"/>
                            </a:schemeClr>
                          </a:solidFill>
                          <a:latin typeface="Cambria Math" panose="02040503050406030204" pitchFamily="18" charset="0"/>
                        </a:rPr>
                        <m:t>)</m:t>
                      </m:r>
                    </m:oMath>
                  </m:oMathPara>
                </a14:m>
                <a:endParaRPr lang="en-US" dirty="0">
                  <a:solidFill>
                    <a:schemeClr val="tx1">
                      <a:lumMod val="95000"/>
                    </a:schemeClr>
                  </a:solidFill>
                </a:endParaRPr>
              </a:p>
            </p:txBody>
          </p:sp>
        </mc:Choice>
        <mc:Fallback xmlns="">
          <p:sp>
            <p:nvSpPr>
              <p:cNvPr id="37" name="Content Placeholder 2">
                <a:extLst>
                  <a:ext uri="{FF2B5EF4-FFF2-40B4-BE49-F238E27FC236}">
                    <a16:creationId xmlns:a16="http://schemas.microsoft.com/office/drawing/2014/main" id="{3A4FEE7E-EBFB-5E40-9644-716490691FB8}"/>
                  </a:ext>
                </a:extLst>
              </p:cNvPr>
              <p:cNvSpPr txBox="1">
                <a:spLocks noRot="1" noChangeAspect="1" noMove="1" noResize="1" noEditPoints="1" noAdjustHandles="1" noChangeArrowheads="1" noChangeShapeType="1" noTextEdit="1"/>
              </p:cNvSpPr>
              <p:nvPr/>
            </p:nvSpPr>
            <p:spPr>
              <a:xfrm>
                <a:off x="1016381" y="985416"/>
                <a:ext cx="4696288" cy="630318"/>
              </a:xfrm>
              <a:prstGeom prst="rect">
                <a:avLst/>
              </a:prstGeom>
              <a:blipFill>
                <a:blip r:embed="rId3"/>
                <a:stretch>
                  <a:fillRect/>
                </a:stretch>
              </a:blipFill>
              <a:ln>
                <a:solidFill>
                  <a:schemeClr val="accent1"/>
                </a:solidFill>
              </a:ln>
            </p:spPr>
            <p:txBody>
              <a:bodyPr/>
              <a:lstStyle/>
              <a:p>
                <a:r>
                  <a:rPr lang="en-US">
                    <a:noFill/>
                  </a:rPr>
                  <a:t> </a:t>
                </a:r>
              </a:p>
            </p:txBody>
          </p:sp>
        </mc:Fallback>
      </mc:AlternateContent>
      <p:sp>
        <p:nvSpPr>
          <p:cNvPr id="12" name="Content Placeholder 2">
            <a:extLst>
              <a:ext uri="{FF2B5EF4-FFF2-40B4-BE49-F238E27FC236}">
                <a16:creationId xmlns:a16="http://schemas.microsoft.com/office/drawing/2014/main" id="{7E1AFE59-E301-5E42-BAE8-A0AEB2A7A9B9}"/>
              </a:ext>
            </a:extLst>
          </p:cNvPr>
          <p:cNvSpPr txBox="1">
            <a:spLocks/>
          </p:cNvSpPr>
          <p:nvPr/>
        </p:nvSpPr>
        <p:spPr>
          <a:xfrm>
            <a:off x="5965791" y="985416"/>
            <a:ext cx="5584053" cy="2192787"/>
          </a:xfrm>
          <a:prstGeom prst="rect">
            <a:avLst/>
          </a:prstGeom>
          <a:noFill/>
          <a:ln>
            <a:solidFill>
              <a:schemeClr val="accent1"/>
            </a:solidFill>
          </a:ln>
        </p:spPr>
        <p:txBody>
          <a:bodyPr vert="horz" lIns="91440" tIns="45720" rIns="91440" bIns="45720" rtlCol="0">
            <a:no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dirty="0">
                <a:solidFill>
                  <a:schemeClr val="tx1">
                    <a:lumMod val="95000"/>
                  </a:schemeClr>
                </a:solidFill>
              </a:rPr>
              <a:t>The graph we construct needs to:</a:t>
            </a:r>
            <a:br>
              <a:rPr lang="en-US" sz="1600" dirty="0">
                <a:solidFill>
                  <a:schemeClr val="tx1">
                    <a:lumMod val="95000"/>
                  </a:schemeClr>
                </a:solidFill>
              </a:rPr>
            </a:br>
            <a:r>
              <a:rPr lang="en-US" sz="1600" dirty="0">
                <a:solidFill>
                  <a:schemeClr val="tx1">
                    <a:lumMod val="95000"/>
                  </a:schemeClr>
                </a:solidFill>
              </a:rPr>
              <a:t>- </a:t>
            </a:r>
            <a:r>
              <a:rPr lang="en-US" sz="1600" b="1" i="1" u="sng" dirty="0">
                <a:solidFill>
                  <a:schemeClr val="tx1">
                    <a:lumMod val="95000"/>
                  </a:schemeClr>
                </a:solidFill>
              </a:rPr>
              <a:t>Model the fact that variables can only be set to True and False.</a:t>
            </a:r>
          </a:p>
          <a:p>
            <a:pPr marL="0" indent="0">
              <a:buFont typeface="Arial" panose="020B0604020202020204" pitchFamily="34" charset="0"/>
              <a:buNone/>
            </a:pPr>
            <a:r>
              <a:rPr lang="en-US" sz="1600" dirty="0">
                <a:solidFill>
                  <a:schemeClr val="tx1">
                    <a:lumMod val="95000"/>
                  </a:schemeClr>
                </a:solidFill>
              </a:rPr>
              <a:t>- Model the variables and the fact that each variable XOR its negation can be True.</a:t>
            </a:r>
          </a:p>
          <a:p>
            <a:pPr marL="0" indent="0">
              <a:buFont typeface="Arial" panose="020B0604020202020204" pitchFamily="34" charset="0"/>
              <a:buNone/>
            </a:pPr>
            <a:r>
              <a:rPr lang="en-US" sz="1600" dirty="0">
                <a:solidFill>
                  <a:schemeClr val="tx1">
                    <a:lumMod val="95000"/>
                  </a:schemeClr>
                </a:solidFill>
              </a:rPr>
              <a:t>- Model the fact that at least one variable per clause must be chosen.</a:t>
            </a:r>
          </a:p>
        </p:txBody>
      </p:sp>
      <p:sp>
        <p:nvSpPr>
          <p:cNvPr id="3" name="Oval 2">
            <a:extLst>
              <a:ext uri="{FF2B5EF4-FFF2-40B4-BE49-F238E27FC236}">
                <a16:creationId xmlns:a16="http://schemas.microsoft.com/office/drawing/2014/main" id="{C2B0E7E9-2B6B-6F41-A7CE-24778FF83531}"/>
              </a:ext>
            </a:extLst>
          </p:cNvPr>
          <p:cNvSpPr/>
          <p:nvPr/>
        </p:nvSpPr>
        <p:spPr>
          <a:xfrm>
            <a:off x="2920754" y="3462290"/>
            <a:ext cx="772357" cy="772357"/>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bg1"/>
                </a:solidFill>
              </a:rPr>
              <a:t>T</a:t>
            </a:r>
          </a:p>
        </p:txBody>
      </p:sp>
      <p:sp>
        <p:nvSpPr>
          <p:cNvPr id="8" name="Oval 7">
            <a:extLst>
              <a:ext uri="{FF2B5EF4-FFF2-40B4-BE49-F238E27FC236}">
                <a16:creationId xmlns:a16="http://schemas.microsoft.com/office/drawing/2014/main" id="{0E0B7890-8FA9-9843-ABA4-2CD5EE14A127}"/>
              </a:ext>
            </a:extLst>
          </p:cNvPr>
          <p:cNvSpPr/>
          <p:nvPr/>
        </p:nvSpPr>
        <p:spPr>
          <a:xfrm>
            <a:off x="4466948" y="3462290"/>
            <a:ext cx="772357" cy="772357"/>
          </a:xfrm>
          <a:prstGeom prst="ellipse">
            <a:avLst/>
          </a:prstGeom>
          <a:solidFill>
            <a:schemeClr val="accent4">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bg1"/>
                </a:solidFill>
              </a:rPr>
              <a:t>F</a:t>
            </a:r>
          </a:p>
        </p:txBody>
      </p:sp>
      <p:sp>
        <p:nvSpPr>
          <p:cNvPr id="9" name="Oval 8">
            <a:extLst>
              <a:ext uri="{FF2B5EF4-FFF2-40B4-BE49-F238E27FC236}">
                <a16:creationId xmlns:a16="http://schemas.microsoft.com/office/drawing/2014/main" id="{13D3E9CA-2491-1D4E-AFF4-AC7E647C9D2E}"/>
              </a:ext>
            </a:extLst>
          </p:cNvPr>
          <p:cNvSpPr/>
          <p:nvPr/>
        </p:nvSpPr>
        <p:spPr>
          <a:xfrm>
            <a:off x="3639735" y="4875320"/>
            <a:ext cx="772357" cy="772357"/>
          </a:xfrm>
          <a:prstGeom prst="ellipse">
            <a:avLst/>
          </a:prstGeom>
          <a:solidFill>
            <a:schemeClr val="accent2">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bg1"/>
                </a:solidFill>
              </a:rPr>
              <a:t>N</a:t>
            </a:r>
          </a:p>
        </p:txBody>
      </p:sp>
      <p:cxnSp>
        <p:nvCxnSpPr>
          <p:cNvPr id="5" name="Straight Connector 4">
            <a:extLst>
              <a:ext uri="{FF2B5EF4-FFF2-40B4-BE49-F238E27FC236}">
                <a16:creationId xmlns:a16="http://schemas.microsoft.com/office/drawing/2014/main" id="{F534D206-007F-5B49-8147-0A586976EDA5}"/>
              </a:ext>
            </a:extLst>
          </p:cNvPr>
          <p:cNvCxnSpPr>
            <a:stCxn id="3" idx="4"/>
            <a:endCxn id="9" idx="1"/>
          </p:cNvCxnSpPr>
          <p:nvPr/>
        </p:nvCxnSpPr>
        <p:spPr>
          <a:xfrm>
            <a:off x="3306933" y="4234647"/>
            <a:ext cx="445911" cy="753782"/>
          </a:xfrm>
          <a:prstGeom prst="line">
            <a:avLst/>
          </a:prstGeom>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9CA2D658-3F80-404A-9A25-BA651A5382EA}"/>
              </a:ext>
            </a:extLst>
          </p:cNvPr>
          <p:cNvCxnSpPr>
            <a:cxnSpLocks/>
            <a:stCxn id="8" idx="4"/>
            <a:endCxn id="9" idx="7"/>
          </p:cNvCxnSpPr>
          <p:nvPr/>
        </p:nvCxnSpPr>
        <p:spPr>
          <a:xfrm flipH="1">
            <a:off x="4298983" y="4234647"/>
            <a:ext cx="554144" cy="753782"/>
          </a:xfrm>
          <a:prstGeom prst="line">
            <a:avLst/>
          </a:prstGeom>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54A2F88C-F811-1A4F-9036-A6C9140564B2}"/>
              </a:ext>
            </a:extLst>
          </p:cNvPr>
          <p:cNvCxnSpPr>
            <a:cxnSpLocks/>
            <a:stCxn id="8" idx="2"/>
            <a:endCxn id="3" idx="6"/>
          </p:cNvCxnSpPr>
          <p:nvPr/>
        </p:nvCxnSpPr>
        <p:spPr>
          <a:xfrm flipH="1">
            <a:off x="3693111" y="3848469"/>
            <a:ext cx="773837" cy="0"/>
          </a:xfrm>
          <a:prstGeom prst="line">
            <a:avLst/>
          </a:prstGeom>
        </p:spPr>
        <p:style>
          <a:lnRef idx="1">
            <a:schemeClr val="accent1"/>
          </a:lnRef>
          <a:fillRef idx="0">
            <a:schemeClr val="accent1"/>
          </a:fillRef>
          <a:effectRef idx="0">
            <a:schemeClr val="accent1"/>
          </a:effectRef>
          <a:fontRef idx="minor">
            <a:schemeClr val="tx1"/>
          </a:fontRef>
        </p:style>
      </p:cxnSp>
      <p:sp>
        <p:nvSpPr>
          <p:cNvPr id="18" name="Content Placeholder 2">
            <a:extLst>
              <a:ext uri="{FF2B5EF4-FFF2-40B4-BE49-F238E27FC236}">
                <a16:creationId xmlns:a16="http://schemas.microsoft.com/office/drawing/2014/main" id="{3DA5E89C-87A3-B045-AF16-CD7715BC3546}"/>
              </a:ext>
            </a:extLst>
          </p:cNvPr>
          <p:cNvSpPr txBox="1">
            <a:spLocks/>
          </p:cNvSpPr>
          <p:nvPr/>
        </p:nvSpPr>
        <p:spPr>
          <a:xfrm>
            <a:off x="6977413" y="4028323"/>
            <a:ext cx="4829887" cy="747863"/>
          </a:xfrm>
          <a:prstGeom prst="rect">
            <a:avLst/>
          </a:prstGeom>
          <a:noFill/>
          <a:ln>
            <a:noFill/>
          </a:ln>
        </p:spPr>
        <p:txBody>
          <a:bodyPr vert="horz" lIns="91440" tIns="45720" rIns="91440" bIns="45720" rtlCol="0">
            <a:no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dirty="0">
                <a:solidFill>
                  <a:schemeClr val="tx1">
                    <a:lumMod val="95000"/>
                  </a:schemeClr>
                </a:solidFill>
              </a:rPr>
              <a:t>Whatever color these top two nodes are assigned will represent True / False for the remainder of the coloring.</a:t>
            </a:r>
          </a:p>
        </p:txBody>
      </p:sp>
      <p:cxnSp>
        <p:nvCxnSpPr>
          <p:cNvPr id="19" name="Straight Connector 18">
            <a:extLst>
              <a:ext uri="{FF2B5EF4-FFF2-40B4-BE49-F238E27FC236}">
                <a16:creationId xmlns:a16="http://schemas.microsoft.com/office/drawing/2014/main" id="{278E484F-2CE8-FD4D-B3B5-5EA8ED5BAA89}"/>
              </a:ext>
            </a:extLst>
          </p:cNvPr>
          <p:cNvCxnSpPr>
            <a:cxnSpLocks/>
          </p:cNvCxnSpPr>
          <p:nvPr/>
        </p:nvCxnSpPr>
        <p:spPr>
          <a:xfrm flipH="1" flipV="1">
            <a:off x="5703085" y="3959441"/>
            <a:ext cx="1274329" cy="334391"/>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473DB3C1-FBC7-C54C-9E39-A20FB71C424A}"/>
              </a:ext>
            </a:extLst>
          </p:cNvPr>
          <p:cNvCxnSpPr>
            <a:cxnSpLocks/>
          </p:cNvCxnSpPr>
          <p:nvPr/>
        </p:nvCxnSpPr>
        <p:spPr>
          <a:xfrm flipH="1" flipV="1">
            <a:off x="4576055" y="5671350"/>
            <a:ext cx="1127030" cy="369902"/>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
        <p:nvSpPr>
          <p:cNvPr id="25" name="Content Placeholder 2">
            <a:extLst>
              <a:ext uri="{FF2B5EF4-FFF2-40B4-BE49-F238E27FC236}">
                <a16:creationId xmlns:a16="http://schemas.microsoft.com/office/drawing/2014/main" id="{E66F7675-406E-A944-B8AE-CA457D9784E5}"/>
              </a:ext>
            </a:extLst>
          </p:cNvPr>
          <p:cNvSpPr txBox="1">
            <a:spLocks/>
          </p:cNvSpPr>
          <p:nvPr/>
        </p:nvSpPr>
        <p:spPr>
          <a:xfrm>
            <a:off x="5712669" y="5760949"/>
            <a:ext cx="4829887" cy="932814"/>
          </a:xfrm>
          <a:prstGeom prst="rect">
            <a:avLst/>
          </a:prstGeom>
          <a:noFill/>
          <a:ln>
            <a:noFill/>
          </a:ln>
        </p:spPr>
        <p:txBody>
          <a:bodyPr vert="horz" lIns="91440" tIns="45720" rIns="91440" bIns="45720" rtlCol="0">
            <a:no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dirty="0">
                <a:solidFill>
                  <a:schemeClr val="tx1">
                    <a:lumMod val="95000"/>
                  </a:schemeClr>
                </a:solidFill>
              </a:rPr>
              <a:t>Notice that if we connect a variable (node) to this Neutral node, then that variable MUST take on the color assigned to True or False</a:t>
            </a:r>
          </a:p>
        </p:txBody>
      </p:sp>
    </p:spTree>
    <p:extLst>
      <p:ext uri="{BB962C8B-B14F-4D97-AF65-F5344CB8AC3E}">
        <p14:creationId xmlns:p14="http://schemas.microsoft.com/office/powerpoint/2010/main" val="3676544874"/>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p:cNvSpPr>
                <a:spLocks noGrp="1"/>
              </p:cNvSpPr>
              <p:nvPr>
                <p:ph type="title"/>
              </p:nvPr>
            </p:nvSpPr>
            <p:spPr>
              <a:xfrm>
                <a:off x="1141413" y="192390"/>
                <a:ext cx="9905998" cy="695377"/>
              </a:xfrm>
            </p:spPr>
            <p: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3</m:t>
                      </m:r>
                      <m:r>
                        <a:rPr lang="en-US" b="0" i="1" smtClean="0">
                          <a:latin typeface="Cambria Math" panose="02040503050406030204" pitchFamily="18" charset="0"/>
                        </a:rPr>
                        <m:t>𝑆𝐴𝑇</m:t>
                      </m:r>
                      <m:sSub>
                        <m:sSubPr>
                          <m:ctrlPr>
                            <a:rPr lang="en-US" b="0" i="1" smtClean="0">
                              <a:latin typeface="Cambria Math" panose="02040503050406030204" pitchFamily="18" charset="0"/>
                            </a:rPr>
                          </m:ctrlPr>
                        </m:sSubPr>
                        <m:e>
                          <m:r>
                            <a:rPr lang="en-US" b="0" i="1" smtClean="0">
                              <a:latin typeface="Cambria Math" panose="02040503050406030204" pitchFamily="18" charset="0"/>
                            </a:rPr>
                            <m:t>≤</m:t>
                          </m:r>
                        </m:e>
                        <m:sub>
                          <m:r>
                            <a:rPr lang="en-US" b="0" i="1" smtClean="0">
                              <a:latin typeface="Cambria Math" panose="02040503050406030204" pitchFamily="18" charset="0"/>
                            </a:rPr>
                            <m:t>𝑝</m:t>
                          </m:r>
                        </m:sub>
                      </m:sSub>
                      <m:r>
                        <a:rPr lang="en-US" b="0" i="1" smtClean="0">
                          <a:latin typeface="Cambria Math" panose="02040503050406030204" pitchFamily="18" charset="0"/>
                        </a:rPr>
                        <m:t>3</m:t>
                      </m:r>
                      <m:r>
                        <a:rPr lang="en-US" b="0" i="1" smtClean="0">
                          <a:latin typeface="Cambria Math" panose="02040503050406030204" pitchFamily="18" charset="0"/>
                        </a:rPr>
                        <m:t>𝐶</m:t>
                      </m:r>
                    </m:oMath>
                  </m:oMathPara>
                </a14:m>
                <a:endParaRPr lang="en-US" dirty="0"/>
              </a:p>
            </p:txBody>
          </p:sp>
        </mc:Choice>
        <mc:Fallback xmlns="">
          <p:sp>
            <p:nvSpPr>
              <p:cNvPr id="2" name="Title 1"/>
              <p:cNvSpPr>
                <a:spLocks noGrp="1" noRot="1" noChangeAspect="1" noMove="1" noResize="1" noEditPoints="1" noAdjustHandles="1" noChangeArrowheads="1" noChangeShapeType="1" noTextEdit="1"/>
              </p:cNvSpPr>
              <p:nvPr>
                <p:ph type="title"/>
              </p:nvPr>
            </p:nvSpPr>
            <p:spPr>
              <a:xfrm>
                <a:off x="1141413" y="192390"/>
                <a:ext cx="9905998" cy="695377"/>
              </a:xfrm>
              <a:blipFill>
                <a:blip r:embed="rId2"/>
                <a:stretch>
                  <a:fillRect b="-71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Content Placeholder 2">
                <a:extLst>
                  <a:ext uri="{FF2B5EF4-FFF2-40B4-BE49-F238E27FC236}">
                    <a16:creationId xmlns:a16="http://schemas.microsoft.com/office/drawing/2014/main" id="{3A4FEE7E-EBFB-5E40-9644-716490691FB8}"/>
                  </a:ext>
                </a:extLst>
              </p:cNvPr>
              <p:cNvSpPr txBox="1">
                <a:spLocks/>
              </p:cNvSpPr>
              <p:nvPr/>
            </p:nvSpPr>
            <p:spPr>
              <a:xfrm>
                <a:off x="1016381" y="985416"/>
                <a:ext cx="4696288" cy="630318"/>
              </a:xfrm>
              <a:prstGeom prst="rect">
                <a:avLst/>
              </a:prstGeom>
              <a:noFill/>
              <a:ln>
                <a:solidFill>
                  <a:schemeClr val="accent1"/>
                </a:solidFill>
              </a:ln>
            </p:spPr>
            <p:txBody>
              <a:bodyPr vert="horz" lIns="91440" tIns="45720" rIns="91440" bIns="45720" rtlCol="0">
                <a:no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14:m>
                  <m:oMathPara xmlns:m="http://schemas.openxmlformats.org/officeDocument/2006/math">
                    <m:oMathParaPr>
                      <m:jc m:val="centerGroup"/>
                    </m:oMathParaPr>
                    <m:oMath xmlns:m="http://schemas.openxmlformats.org/officeDocument/2006/math">
                      <m:r>
                        <a:rPr lang="en-US" b="0" i="1" smtClean="0">
                          <a:solidFill>
                            <a:schemeClr val="tx1">
                              <a:lumMod val="95000"/>
                            </a:schemeClr>
                          </a:solidFill>
                          <a:latin typeface="Cambria Math" panose="02040503050406030204" pitchFamily="18" charset="0"/>
                        </a:rPr>
                        <m:t>𝜃</m:t>
                      </m:r>
                      <m:r>
                        <a:rPr lang="en-US" b="0" i="1" smtClean="0">
                          <a:solidFill>
                            <a:schemeClr val="tx1">
                              <a:lumMod val="95000"/>
                            </a:schemeClr>
                          </a:solidFill>
                          <a:latin typeface="Cambria Math" panose="02040503050406030204" pitchFamily="18" charset="0"/>
                        </a:rPr>
                        <m:t>=</m:t>
                      </m:r>
                      <m:d>
                        <m:dPr>
                          <m:ctrlPr>
                            <a:rPr lang="en-US" b="0" i="1" smtClean="0">
                              <a:solidFill>
                                <a:schemeClr val="tx1">
                                  <a:lumMod val="95000"/>
                                </a:schemeClr>
                              </a:solidFill>
                              <a:latin typeface="Cambria Math" panose="02040503050406030204" pitchFamily="18" charset="0"/>
                            </a:rPr>
                          </m:ctrlPr>
                        </m:dPr>
                        <m:e>
                          <m:r>
                            <a:rPr lang="en-US" b="0" i="1" smtClean="0">
                              <a:solidFill>
                                <a:schemeClr val="tx1">
                                  <a:lumMod val="95000"/>
                                </a:schemeClr>
                              </a:solidFill>
                              <a:latin typeface="Cambria Math" panose="02040503050406030204" pitchFamily="18" charset="0"/>
                            </a:rPr>
                            <m:t>𝑢</m:t>
                          </m:r>
                          <m:r>
                            <a:rPr lang="en-US" b="0" i="1" smtClean="0">
                              <a:solidFill>
                                <a:schemeClr val="tx1">
                                  <a:lumMod val="95000"/>
                                </a:schemeClr>
                              </a:solidFill>
                              <a:latin typeface="Cambria Math" panose="02040503050406030204" pitchFamily="18" charset="0"/>
                            </a:rPr>
                            <m:t>∨¬</m:t>
                          </m:r>
                          <m:r>
                            <a:rPr lang="en-US" b="0" i="1" smtClean="0">
                              <a:solidFill>
                                <a:schemeClr val="tx1">
                                  <a:lumMod val="95000"/>
                                </a:schemeClr>
                              </a:solidFill>
                              <a:latin typeface="Cambria Math" panose="02040503050406030204" pitchFamily="18" charset="0"/>
                            </a:rPr>
                            <m:t>𝑣</m:t>
                          </m:r>
                          <m:r>
                            <a:rPr lang="en-US" b="0" i="1" smtClean="0">
                              <a:solidFill>
                                <a:schemeClr val="tx1">
                                  <a:lumMod val="95000"/>
                                </a:schemeClr>
                              </a:solidFill>
                              <a:latin typeface="Cambria Math" panose="02040503050406030204" pitchFamily="18" charset="0"/>
                            </a:rPr>
                            <m:t>∨</m:t>
                          </m:r>
                          <m:r>
                            <a:rPr lang="en-US" b="0" i="1" smtClean="0">
                              <a:solidFill>
                                <a:schemeClr val="tx1">
                                  <a:lumMod val="95000"/>
                                </a:schemeClr>
                              </a:solidFill>
                              <a:latin typeface="Cambria Math" panose="02040503050406030204" pitchFamily="18" charset="0"/>
                            </a:rPr>
                            <m:t>𝑤</m:t>
                          </m:r>
                        </m:e>
                      </m:d>
                      <m:r>
                        <a:rPr lang="en-US" b="0" i="1" smtClean="0">
                          <a:solidFill>
                            <a:schemeClr val="tx1">
                              <a:lumMod val="95000"/>
                            </a:schemeClr>
                          </a:solidFill>
                          <a:latin typeface="Cambria Math" panose="02040503050406030204" pitchFamily="18" charset="0"/>
                        </a:rPr>
                        <m:t>∧(</m:t>
                      </m:r>
                      <m:r>
                        <a:rPr lang="en-US" b="0" i="1" smtClean="0">
                          <a:solidFill>
                            <a:schemeClr val="tx1">
                              <a:lumMod val="95000"/>
                            </a:schemeClr>
                          </a:solidFill>
                          <a:latin typeface="Cambria Math" panose="02040503050406030204" pitchFamily="18" charset="0"/>
                        </a:rPr>
                        <m:t>𝑣</m:t>
                      </m:r>
                      <m:r>
                        <a:rPr lang="en-US" b="0" i="1" smtClean="0">
                          <a:solidFill>
                            <a:schemeClr val="tx1">
                              <a:lumMod val="95000"/>
                            </a:schemeClr>
                          </a:solidFill>
                          <a:latin typeface="Cambria Math" panose="02040503050406030204" pitchFamily="18" charset="0"/>
                        </a:rPr>
                        <m:t>∨</m:t>
                      </m:r>
                      <m:r>
                        <a:rPr lang="en-US" b="0" i="1" smtClean="0">
                          <a:solidFill>
                            <a:schemeClr val="tx1">
                              <a:lumMod val="95000"/>
                            </a:schemeClr>
                          </a:solidFill>
                          <a:latin typeface="Cambria Math" panose="02040503050406030204" pitchFamily="18" charset="0"/>
                        </a:rPr>
                        <m:t>𝑥</m:t>
                      </m:r>
                      <m:r>
                        <a:rPr lang="en-US" b="0" i="1" smtClean="0">
                          <a:solidFill>
                            <a:schemeClr val="tx1">
                              <a:lumMod val="95000"/>
                            </a:schemeClr>
                          </a:solidFill>
                          <a:latin typeface="Cambria Math" panose="02040503050406030204" pitchFamily="18" charset="0"/>
                        </a:rPr>
                        <m:t>∨¬</m:t>
                      </m:r>
                      <m:r>
                        <a:rPr lang="en-US" b="0" i="1" smtClean="0">
                          <a:solidFill>
                            <a:schemeClr val="tx1">
                              <a:lumMod val="95000"/>
                            </a:schemeClr>
                          </a:solidFill>
                          <a:latin typeface="Cambria Math" panose="02040503050406030204" pitchFamily="18" charset="0"/>
                        </a:rPr>
                        <m:t>𝑦</m:t>
                      </m:r>
                      <m:r>
                        <a:rPr lang="en-US" b="0" i="1" smtClean="0">
                          <a:solidFill>
                            <a:schemeClr val="tx1">
                              <a:lumMod val="95000"/>
                            </a:schemeClr>
                          </a:solidFill>
                          <a:latin typeface="Cambria Math" panose="02040503050406030204" pitchFamily="18" charset="0"/>
                        </a:rPr>
                        <m:t>)</m:t>
                      </m:r>
                    </m:oMath>
                  </m:oMathPara>
                </a14:m>
                <a:endParaRPr lang="en-US" dirty="0">
                  <a:solidFill>
                    <a:schemeClr val="tx1">
                      <a:lumMod val="95000"/>
                    </a:schemeClr>
                  </a:solidFill>
                </a:endParaRPr>
              </a:p>
            </p:txBody>
          </p:sp>
        </mc:Choice>
        <mc:Fallback xmlns="">
          <p:sp>
            <p:nvSpPr>
              <p:cNvPr id="37" name="Content Placeholder 2">
                <a:extLst>
                  <a:ext uri="{FF2B5EF4-FFF2-40B4-BE49-F238E27FC236}">
                    <a16:creationId xmlns:a16="http://schemas.microsoft.com/office/drawing/2014/main" id="{3A4FEE7E-EBFB-5E40-9644-716490691FB8}"/>
                  </a:ext>
                </a:extLst>
              </p:cNvPr>
              <p:cNvSpPr txBox="1">
                <a:spLocks noRot="1" noChangeAspect="1" noMove="1" noResize="1" noEditPoints="1" noAdjustHandles="1" noChangeArrowheads="1" noChangeShapeType="1" noTextEdit="1"/>
              </p:cNvSpPr>
              <p:nvPr/>
            </p:nvSpPr>
            <p:spPr>
              <a:xfrm>
                <a:off x="1016381" y="985416"/>
                <a:ext cx="4696288" cy="630318"/>
              </a:xfrm>
              <a:prstGeom prst="rect">
                <a:avLst/>
              </a:prstGeom>
              <a:blipFill>
                <a:blip r:embed="rId3"/>
                <a:stretch>
                  <a:fillRect/>
                </a:stretch>
              </a:blipFill>
              <a:ln>
                <a:solidFill>
                  <a:schemeClr val="accent1"/>
                </a:solidFill>
              </a:ln>
            </p:spPr>
            <p:txBody>
              <a:bodyPr/>
              <a:lstStyle/>
              <a:p>
                <a:r>
                  <a:rPr lang="en-US">
                    <a:noFill/>
                  </a:rPr>
                  <a:t> </a:t>
                </a:r>
              </a:p>
            </p:txBody>
          </p:sp>
        </mc:Fallback>
      </mc:AlternateContent>
      <p:sp>
        <p:nvSpPr>
          <p:cNvPr id="12" name="Content Placeholder 2">
            <a:extLst>
              <a:ext uri="{FF2B5EF4-FFF2-40B4-BE49-F238E27FC236}">
                <a16:creationId xmlns:a16="http://schemas.microsoft.com/office/drawing/2014/main" id="{7E1AFE59-E301-5E42-BAE8-A0AEB2A7A9B9}"/>
              </a:ext>
            </a:extLst>
          </p:cNvPr>
          <p:cNvSpPr txBox="1">
            <a:spLocks/>
          </p:cNvSpPr>
          <p:nvPr/>
        </p:nvSpPr>
        <p:spPr>
          <a:xfrm>
            <a:off x="5965791" y="985417"/>
            <a:ext cx="5584053" cy="1757784"/>
          </a:xfrm>
          <a:prstGeom prst="rect">
            <a:avLst/>
          </a:prstGeom>
          <a:noFill/>
          <a:ln>
            <a:solidFill>
              <a:schemeClr val="accent1"/>
            </a:solidFill>
          </a:ln>
        </p:spPr>
        <p:txBody>
          <a:bodyPr vert="horz" lIns="91440" tIns="45720" rIns="91440" bIns="45720" rtlCol="0">
            <a:no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dirty="0">
                <a:solidFill>
                  <a:schemeClr val="tx1">
                    <a:lumMod val="95000"/>
                  </a:schemeClr>
                </a:solidFill>
              </a:rPr>
              <a:t>The graph we construct needs to:</a:t>
            </a:r>
            <a:br>
              <a:rPr lang="en-US" sz="1600" dirty="0">
                <a:solidFill>
                  <a:schemeClr val="tx1">
                    <a:lumMod val="95000"/>
                  </a:schemeClr>
                </a:solidFill>
              </a:rPr>
            </a:br>
            <a:r>
              <a:rPr lang="en-US" sz="1600" dirty="0">
                <a:solidFill>
                  <a:schemeClr val="tx1">
                    <a:lumMod val="95000"/>
                  </a:schemeClr>
                </a:solidFill>
              </a:rPr>
              <a:t>- </a:t>
            </a:r>
            <a:r>
              <a:rPr lang="en-US" sz="1600" b="1" i="1" u="sng" dirty="0">
                <a:solidFill>
                  <a:schemeClr val="tx1">
                    <a:lumMod val="95000"/>
                  </a:schemeClr>
                </a:solidFill>
              </a:rPr>
              <a:t>Model the variables and the fact that each variable XOR its negation can be True.</a:t>
            </a:r>
          </a:p>
          <a:p>
            <a:pPr marL="0" indent="0">
              <a:buFont typeface="Arial" panose="020B0604020202020204" pitchFamily="34" charset="0"/>
              <a:buNone/>
            </a:pPr>
            <a:r>
              <a:rPr lang="en-US" sz="1600" dirty="0">
                <a:solidFill>
                  <a:schemeClr val="tx1">
                    <a:lumMod val="95000"/>
                  </a:schemeClr>
                </a:solidFill>
              </a:rPr>
              <a:t>- Model the fact that at least one variable per clause must be chosen.</a:t>
            </a:r>
          </a:p>
        </p:txBody>
      </p:sp>
      <p:sp>
        <p:nvSpPr>
          <p:cNvPr id="3" name="Oval 2">
            <a:extLst>
              <a:ext uri="{FF2B5EF4-FFF2-40B4-BE49-F238E27FC236}">
                <a16:creationId xmlns:a16="http://schemas.microsoft.com/office/drawing/2014/main" id="{C2B0E7E9-2B6B-6F41-A7CE-24778FF83531}"/>
              </a:ext>
            </a:extLst>
          </p:cNvPr>
          <p:cNvSpPr/>
          <p:nvPr/>
        </p:nvSpPr>
        <p:spPr>
          <a:xfrm>
            <a:off x="2871055" y="2059618"/>
            <a:ext cx="772357" cy="772357"/>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bg1"/>
                </a:solidFill>
              </a:rPr>
              <a:t>T</a:t>
            </a:r>
          </a:p>
        </p:txBody>
      </p:sp>
      <p:sp>
        <p:nvSpPr>
          <p:cNvPr id="8" name="Oval 7">
            <a:extLst>
              <a:ext uri="{FF2B5EF4-FFF2-40B4-BE49-F238E27FC236}">
                <a16:creationId xmlns:a16="http://schemas.microsoft.com/office/drawing/2014/main" id="{0E0B7890-8FA9-9843-ABA4-2CD5EE14A127}"/>
              </a:ext>
            </a:extLst>
          </p:cNvPr>
          <p:cNvSpPr/>
          <p:nvPr/>
        </p:nvSpPr>
        <p:spPr>
          <a:xfrm>
            <a:off x="4417249" y="2059618"/>
            <a:ext cx="772357" cy="772357"/>
          </a:xfrm>
          <a:prstGeom prst="ellipse">
            <a:avLst/>
          </a:prstGeom>
          <a:solidFill>
            <a:schemeClr val="accent4">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bg1"/>
                </a:solidFill>
              </a:rPr>
              <a:t>F</a:t>
            </a:r>
          </a:p>
        </p:txBody>
      </p:sp>
      <p:sp>
        <p:nvSpPr>
          <p:cNvPr id="9" name="Oval 8">
            <a:extLst>
              <a:ext uri="{FF2B5EF4-FFF2-40B4-BE49-F238E27FC236}">
                <a16:creationId xmlns:a16="http://schemas.microsoft.com/office/drawing/2014/main" id="{13D3E9CA-2491-1D4E-AFF4-AC7E647C9D2E}"/>
              </a:ext>
            </a:extLst>
          </p:cNvPr>
          <p:cNvSpPr/>
          <p:nvPr/>
        </p:nvSpPr>
        <p:spPr>
          <a:xfrm>
            <a:off x="3590036" y="3472648"/>
            <a:ext cx="772357" cy="772357"/>
          </a:xfrm>
          <a:prstGeom prst="ellipse">
            <a:avLst/>
          </a:prstGeom>
          <a:solidFill>
            <a:schemeClr val="accent2">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bg1"/>
                </a:solidFill>
              </a:rPr>
              <a:t>N</a:t>
            </a:r>
          </a:p>
        </p:txBody>
      </p:sp>
      <p:cxnSp>
        <p:nvCxnSpPr>
          <p:cNvPr id="5" name="Straight Connector 4">
            <a:extLst>
              <a:ext uri="{FF2B5EF4-FFF2-40B4-BE49-F238E27FC236}">
                <a16:creationId xmlns:a16="http://schemas.microsoft.com/office/drawing/2014/main" id="{F534D206-007F-5B49-8147-0A586976EDA5}"/>
              </a:ext>
            </a:extLst>
          </p:cNvPr>
          <p:cNvCxnSpPr>
            <a:stCxn id="3" idx="4"/>
            <a:endCxn id="9" idx="1"/>
          </p:cNvCxnSpPr>
          <p:nvPr/>
        </p:nvCxnSpPr>
        <p:spPr>
          <a:xfrm>
            <a:off x="3257234" y="2831975"/>
            <a:ext cx="445911" cy="753782"/>
          </a:xfrm>
          <a:prstGeom prst="line">
            <a:avLst/>
          </a:prstGeom>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9CA2D658-3F80-404A-9A25-BA651A5382EA}"/>
              </a:ext>
            </a:extLst>
          </p:cNvPr>
          <p:cNvCxnSpPr>
            <a:cxnSpLocks/>
            <a:stCxn id="8" idx="4"/>
            <a:endCxn id="9" idx="7"/>
          </p:cNvCxnSpPr>
          <p:nvPr/>
        </p:nvCxnSpPr>
        <p:spPr>
          <a:xfrm flipH="1">
            <a:off x="4249284" y="2831975"/>
            <a:ext cx="554144" cy="753782"/>
          </a:xfrm>
          <a:prstGeom prst="line">
            <a:avLst/>
          </a:prstGeom>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54A2F88C-F811-1A4F-9036-A6C9140564B2}"/>
              </a:ext>
            </a:extLst>
          </p:cNvPr>
          <p:cNvCxnSpPr>
            <a:cxnSpLocks/>
            <a:stCxn id="8" idx="2"/>
            <a:endCxn id="3" idx="6"/>
          </p:cNvCxnSpPr>
          <p:nvPr/>
        </p:nvCxnSpPr>
        <p:spPr>
          <a:xfrm flipH="1">
            <a:off x="3643412" y="2445797"/>
            <a:ext cx="773837" cy="0"/>
          </a:xfrm>
          <a:prstGeom prst="line">
            <a:avLst/>
          </a:prstGeom>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6" name="Oval 15">
                <a:extLst>
                  <a:ext uri="{FF2B5EF4-FFF2-40B4-BE49-F238E27FC236}">
                    <a16:creationId xmlns:a16="http://schemas.microsoft.com/office/drawing/2014/main" id="{6E71D91C-504B-024A-A299-D7E29264A6C7}"/>
                  </a:ext>
                </a:extLst>
              </p:cNvPr>
              <p:cNvSpPr/>
              <p:nvPr/>
            </p:nvSpPr>
            <p:spPr>
              <a:xfrm>
                <a:off x="2592168" y="4972973"/>
                <a:ext cx="772357" cy="772357"/>
              </a:xfrm>
              <a:prstGeom prst="ellipse">
                <a:avLst/>
              </a:prstGeom>
              <a:solidFill>
                <a:schemeClr val="accent4">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400" b="0" i="1" smtClean="0">
                          <a:solidFill>
                            <a:schemeClr val="bg1"/>
                          </a:solidFill>
                          <a:latin typeface="Cambria Math" panose="02040503050406030204" pitchFamily="18" charset="0"/>
                        </a:rPr>
                        <m:t>𝑢</m:t>
                      </m:r>
                    </m:oMath>
                  </m:oMathPara>
                </a14:m>
                <a:endParaRPr lang="en-US" sz="2400" dirty="0">
                  <a:solidFill>
                    <a:schemeClr val="bg1"/>
                  </a:solidFill>
                </a:endParaRPr>
              </a:p>
            </p:txBody>
          </p:sp>
        </mc:Choice>
        <mc:Fallback xmlns="">
          <p:sp>
            <p:nvSpPr>
              <p:cNvPr id="16" name="Oval 15">
                <a:extLst>
                  <a:ext uri="{FF2B5EF4-FFF2-40B4-BE49-F238E27FC236}">
                    <a16:creationId xmlns:a16="http://schemas.microsoft.com/office/drawing/2014/main" id="{6E71D91C-504B-024A-A299-D7E29264A6C7}"/>
                  </a:ext>
                </a:extLst>
              </p:cNvPr>
              <p:cNvSpPr>
                <a:spLocks noRot="1" noChangeAspect="1" noMove="1" noResize="1" noEditPoints="1" noAdjustHandles="1" noChangeArrowheads="1" noChangeShapeType="1" noTextEdit="1"/>
              </p:cNvSpPr>
              <p:nvPr/>
            </p:nvSpPr>
            <p:spPr>
              <a:xfrm>
                <a:off x="2592168" y="4972973"/>
                <a:ext cx="772357" cy="772357"/>
              </a:xfrm>
              <a:prstGeom prst="ellipse">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 name="Oval 16">
                <a:extLst>
                  <a:ext uri="{FF2B5EF4-FFF2-40B4-BE49-F238E27FC236}">
                    <a16:creationId xmlns:a16="http://schemas.microsoft.com/office/drawing/2014/main" id="{60BCECBB-A50F-6B48-857A-233EFA8BBB10}"/>
                  </a:ext>
                </a:extLst>
              </p:cNvPr>
              <p:cNvSpPr/>
              <p:nvPr/>
            </p:nvSpPr>
            <p:spPr>
              <a:xfrm>
                <a:off x="4675310" y="4972973"/>
                <a:ext cx="772357" cy="772357"/>
              </a:xfrm>
              <a:prstGeom prst="ellipse">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400" b="0" i="1" smtClean="0">
                          <a:solidFill>
                            <a:schemeClr val="bg1"/>
                          </a:solidFill>
                          <a:latin typeface="Cambria Math" panose="02040503050406030204" pitchFamily="18" charset="0"/>
                        </a:rPr>
                        <m:t>¬</m:t>
                      </m:r>
                      <m:r>
                        <a:rPr lang="en-US" sz="2400" b="0" i="1" smtClean="0">
                          <a:solidFill>
                            <a:schemeClr val="bg1"/>
                          </a:solidFill>
                          <a:latin typeface="Cambria Math" panose="02040503050406030204" pitchFamily="18" charset="0"/>
                        </a:rPr>
                        <m:t>𝑢</m:t>
                      </m:r>
                    </m:oMath>
                  </m:oMathPara>
                </a14:m>
                <a:endParaRPr lang="en-US" sz="2400" dirty="0">
                  <a:solidFill>
                    <a:schemeClr val="bg1"/>
                  </a:solidFill>
                </a:endParaRPr>
              </a:p>
            </p:txBody>
          </p:sp>
        </mc:Choice>
        <mc:Fallback xmlns="">
          <p:sp>
            <p:nvSpPr>
              <p:cNvPr id="17" name="Oval 16">
                <a:extLst>
                  <a:ext uri="{FF2B5EF4-FFF2-40B4-BE49-F238E27FC236}">
                    <a16:creationId xmlns:a16="http://schemas.microsoft.com/office/drawing/2014/main" id="{60BCECBB-A50F-6B48-857A-233EFA8BBB10}"/>
                  </a:ext>
                </a:extLst>
              </p:cNvPr>
              <p:cNvSpPr>
                <a:spLocks noRot="1" noChangeAspect="1" noMove="1" noResize="1" noEditPoints="1" noAdjustHandles="1" noChangeArrowheads="1" noChangeShapeType="1" noTextEdit="1"/>
              </p:cNvSpPr>
              <p:nvPr/>
            </p:nvSpPr>
            <p:spPr>
              <a:xfrm>
                <a:off x="4675310" y="4972973"/>
                <a:ext cx="772357" cy="772357"/>
              </a:xfrm>
              <a:prstGeom prst="ellipse">
                <a:avLst/>
              </a:prstGeom>
              <a:blipFill>
                <a:blip r:embed="rId5"/>
                <a:stretch>
                  <a:fillRect/>
                </a:stretch>
              </a:blipFill>
            </p:spPr>
            <p:txBody>
              <a:bodyPr/>
              <a:lstStyle/>
              <a:p>
                <a:r>
                  <a:rPr lang="en-US">
                    <a:noFill/>
                  </a:rPr>
                  <a:t> </a:t>
                </a:r>
              </a:p>
            </p:txBody>
          </p:sp>
        </mc:Fallback>
      </mc:AlternateContent>
      <p:cxnSp>
        <p:nvCxnSpPr>
          <p:cNvPr id="20" name="Straight Connector 19">
            <a:extLst>
              <a:ext uri="{FF2B5EF4-FFF2-40B4-BE49-F238E27FC236}">
                <a16:creationId xmlns:a16="http://schemas.microsoft.com/office/drawing/2014/main" id="{0B93648E-88C5-9445-B85A-07982001CF31}"/>
              </a:ext>
            </a:extLst>
          </p:cNvPr>
          <p:cNvCxnSpPr>
            <a:cxnSpLocks/>
            <a:stCxn id="16" idx="6"/>
            <a:endCxn id="17" idx="2"/>
          </p:cNvCxnSpPr>
          <p:nvPr/>
        </p:nvCxnSpPr>
        <p:spPr>
          <a:xfrm>
            <a:off x="3364525" y="5359152"/>
            <a:ext cx="1310785"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218DA0DC-D7EC-6948-A0A9-BE8FA33A3DD6}"/>
              </a:ext>
            </a:extLst>
          </p:cNvPr>
          <p:cNvCxnSpPr>
            <a:cxnSpLocks/>
            <a:stCxn id="9" idx="3"/>
            <a:endCxn id="16" idx="0"/>
          </p:cNvCxnSpPr>
          <p:nvPr/>
        </p:nvCxnSpPr>
        <p:spPr>
          <a:xfrm flipH="1">
            <a:off x="2978347" y="4131896"/>
            <a:ext cx="724798" cy="841077"/>
          </a:xfrm>
          <a:prstGeom prst="line">
            <a:avLst/>
          </a:prstGeom>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9BAE58A3-7374-9343-8D6F-F73A003D565F}"/>
              </a:ext>
            </a:extLst>
          </p:cNvPr>
          <p:cNvCxnSpPr>
            <a:cxnSpLocks/>
            <a:stCxn id="17" idx="0"/>
            <a:endCxn id="9" idx="5"/>
          </p:cNvCxnSpPr>
          <p:nvPr/>
        </p:nvCxnSpPr>
        <p:spPr>
          <a:xfrm flipH="1" flipV="1">
            <a:off x="4249284" y="4131896"/>
            <a:ext cx="812205" cy="841077"/>
          </a:xfrm>
          <a:prstGeom prst="line">
            <a:avLst/>
          </a:prstGeom>
        </p:spPr>
        <p:style>
          <a:lnRef idx="1">
            <a:schemeClr val="accent1"/>
          </a:lnRef>
          <a:fillRef idx="0">
            <a:schemeClr val="accent1"/>
          </a:fillRef>
          <a:effectRef idx="0">
            <a:schemeClr val="accent1"/>
          </a:effectRef>
          <a:fontRef idx="minor">
            <a:schemeClr val="tx1"/>
          </a:fontRef>
        </p:style>
      </p:cxnSp>
      <p:sp>
        <p:nvSpPr>
          <p:cNvPr id="26" name="Content Placeholder 2">
            <a:extLst>
              <a:ext uri="{FF2B5EF4-FFF2-40B4-BE49-F238E27FC236}">
                <a16:creationId xmlns:a16="http://schemas.microsoft.com/office/drawing/2014/main" id="{CE82A2A7-3664-924E-9467-53F6EA265390}"/>
              </a:ext>
            </a:extLst>
          </p:cNvPr>
          <p:cNvSpPr txBox="1">
            <a:spLocks/>
          </p:cNvSpPr>
          <p:nvPr/>
        </p:nvSpPr>
        <p:spPr>
          <a:xfrm>
            <a:off x="4803427" y="6189214"/>
            <a:ext cx="7208060" cy="482354"/>
          </a:xfrm>
          <a:prstGeom prst="rect">
            <a:avLst/>
          </a:prstGeom>
          <a:noFill/>
          <a:ln>
            <a:noFill/>
          </a:ln>
        </p:spPr>
        <p:txBody>
          <a:bodyPr vert="horz" lIns="91440" tIns="45720" rIns="91440" bIns="45720" rtlCol="0">
            <a:no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dirty="0">
                <a:solidFill>
                  <a:schemeClr val="tx1">
                    <a:lumMod val="95000"/>
                  </a:schemeClr>
                </a:solidFill>
              </a:rPr>
              <a:t>This variable is connect to the Neutral, so it MUST take the True color or the false color.</a:t>
            </a:r>
          </a:p>
        </p:txBody>
      </p:sp>
      <p:cxnSp>
        <p:nvCxnSpPr>
          <p:cNvPr id="27" name="Straight Connector 26">
            <a:extLst>
              <a:ext uri="{FF2B5EF4-FFF2-40B4-BE49-F238E27FC236}">
                <a16:creationId xmlns:a16="http://schemas.microsoft.com/office/drawing/2014/main" id="{265C8411-BBF6-B140-9B16-0088B1B491DB}"/>
              </a:ext>
            </a:extLst>
          </p:cNvPr>
          <p:cNvCxnSpPr>
            <a:cxnSpLocks/>
            <a:stCxn id="26" idx="1"/>
          </p:cNvCxnSpPr>
          <p:nvPr/>
        </p:nvCxnSpPr>
        <p:spPr>
          <a:xfrm flipH="1" flipV="1">
            <a:off x="3364527" y="5903651"/>
            <a:ext cx="1438900" cy="526740"/>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
        <p:nvSpPr>
          <p:cNvPr id="33" name="Content Placeholder 2">
            <a:extLst>
              <a:ext uri="{FF2B5EF4-FFF2-40B4-BE49-F238E27FC236}">
                <a16:creationId xmlns:a16="http://schemas.microsoft.com/office/drawing/2014/main" id="{251AAEA6-C11D-3F4A-A01E-AFF4B15C06CB}"/>
              </a:ext>
            </a:extLst>
          </p:cNvPr>
          <p:cNvSpPr txBox="1">
            <a:spLocks/>
          </p:cNvSpPr>
          <p:nvPr/>
        </p:nvSpPr>
        <p:spPr>
          <a:xfrm>
            <a:off x="6897413" y="3472647"/>
            <a:ext cx="4059621" cy="1020525"/>
          </a:xfrm>
          <a:prstGeom prst="rect">
            <a:avLst/>
          </a:prstGeom>
          <a:noFill/>
          <a:ln>
            <a:noFill/>
          </a:ln>
        </p:spPr>
        <p:txBody>
          <a:bodyPr vert="horz" lIns="91440" tIns="45720" rIns="91440" bIns="45720" rtlCol="0">
            <a:no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dirty="0">
                <a:solidFill>
                  <a:schemeClr val="tx1">
                    <a:lumMod val="95000"/>
                  </a:schemeClr>
                </a:solidFill>
              </a:rPr>
              <a:t>This variable cannot take the Neutral color so it must be the opposite of whatever u took. One is true, the other is false.</a:t>
            </a:r>
          </a:p>
        </p:txBody>
      </p:sp>
      <p:cxnSp>
        <p:nvCxnSpPr>
          <p:cNvPr id="34" name="Straight Connector 33">
            <a:extLst>
              <a:ext uri="{FF2B5EF4-FFF2-40B4-BE49-F238E27FC236}">
                <a16:creationId xmlns:a16="http://schemas.microsoft.com/office/drawing/2014/main" id="{72AB9DB0-8887-A34F-A600-67FFE4827FEC}"/>
              </a:ext>
            </a:extLst>
          </p:cNvPr>
          <p:cNvCxnSpPr>
            <a:cxnSpLocks/>
          </p:cNvCxnSpPr>
          <p:nvPr/>
        </p:nvCxnSpPr>
        <p:spPr>
          <a:xfrm flipH="1">
            <a:off x="5607628" y="3986990"/>
            <a:ext cx="1270829" cy="978052"/>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74713108"/>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p:cNvSpPr>
                <a:spLocks noGrp="1"/>
              </p:cNvSpPr>
              <p:nvPr>
                <p:ph type="title"/>
              </p:nvPr>
            </p:nvSpPr>
            <p:spPr>
              <a:xfrm>
                <a:off x="1141413" y="192390"/>
                <a:ext cx="9905998" cy="695377"/>
              </a:xfrm>
            </p:spPr>
            <p: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3</m:t>
                      </m:r>
                      <m:r>
                        <a:rPr lang="en-US" b="0" i="1" smtClean="0">
                          <a:latin typeface="Cambria Math" panose="02040503050406030204" pitchFamily="18" charset="0"/>
                        </a:rPr>
                        <m:t>𝑆𝐴𝑇</m:t>
                      </m:r>
                      <m:sSub>
                        <m:sSubPr>
                          <m:ctrlPr>
                            <a:rPr lang="en-US" b="0" i="1" smtClean="0">
                              <a:latin typeface="Cambria Math" panose="02040503050406030204" pitchFamily="18" charset="0"/>
                            </a:rPr>
                          </m:ctrlPr>
                        </m:sSubPr>
                        <m:e>
                          <m:r>
                            <a:rPr lang="en-US" b="0" i="1" smtClean="0">
                              <a:latin typeface="Cambria Math" panose="02040503050406030204" pitchFamily="18" charset="0"/>
                            </a:rPr>
                            <m:t>≤</m:t>
                          </m:r>
                        </m:e>
                        <m:sub>
                          <m:r>
                            <a:rPr lang="en-US" b="0" i="1" smtClean="0">
                              <a:latin typeface="Cambria Math" panose="02040503050406030204" pitchFamily="18" charset="0"/>
                            </a:rPr>
                            <m:t>𝑝</m:t>
                          </m:r>
                        </m:sub>
                      </m:sSub>
                      <m:r>
                        <a:rPr lang="en-US" b="0" i="1" smtClean="0">
                          <a:latin typeface="Cambria Math" panose="02040503050406030204" pitchFamily="18" charset="0"/>
                        </a:rPr>
                        <m:t>3</m:t>
                      </m:r>
                      <m:r>
                        <a:rPr lang="en-US" b="0" i="1" smtClean="0">
                          <a:latin typeface="Cambria Math" panose="02040503050406030204" pitchFamily="18" charset="0"/>
                        </a:rPr>
                        <m:t>𝐶</m:t>
                      </m:r>
                    </m:oMath>
                  </m:oMathPara>
                </a14:m>
                <a:endParaRPr lang="en-US" dirty="0"/>
              </a:p>
            </p:txBody>
          </p:sp>
        </mc:Choice>
        <mc:Fallback xmlns="">
          <p:sp>
            <p:nvSpPr>
              <p:cNvPr id="2" name="Title 1"/>
              <p:cNvSpPr>
                <a:spLocks noGrp="1" noRot="1" noChangeAspect="1" noMove="1" noResize="1" noEditPoints="1" noAdjustHandles="1" noChangeArrowheads="1" noChangeShapeType="1" noTextEdit="1"/>
              </p:cNvSpPr>
              <p:nvPr>
                <p:ph type="title"/>
              </p:nvPr>
            </p:nvSpPr>
            <p:spPr>
              <a:xfrm>
                <a:off x="1141413" y="192390"/>
                <a:ext cx="9905998" cy="695377"/>
              </a:xfrm>
              <a:blipFill>
                <a:blip r:embed="rId2"/>
                <a:stretch>
                  <a:fillRect b="-71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Content Placeholder 2">
                <a:extLst>
                  <a:ext uri="{FF2B5EF4-FFF2-40B4-BE49-F238E27FC236}">
                    <a16:creationId xmlns:a16="http://schemas.microsoft.com/office/drawing/2014/main" id="{3A4FEE7E-EBFB-5E40-9644-716490691FB8}"/>
                  </a:ext>
                </a:extLst>
              </p:cNvPr>
              <p:cNvSpPr txBox="1">
                <a:spLocks/>
              </p:cNvSpPr>
              <p:nvPr/>
            </p:nvSpPr>
            <p:spPr>
              <a:xfrm>
                <a:off x="1016381" y="985416"/>
                <a:ext cx="4696288" cy="630318"/>
              </a:xfrm>
              <a:prstGeom prst="rect">
                <a:avLst/>
              </a:prstGeom>
              <a:noFill/>
              <a:ln>
                <a:solidFill>
                  <a:schemeClr val="accent1"/>
                </a:solidFill>
              </a:ln>
            </p:spPr>
            <p:txBody>
              <a:bodyPr vert="horz" lIns="91440" tIns="45720" rIns="91440" bIns="45720" rtlCol="0">
                <a:no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14:m>
                  <m:oMathPara xmlns:m="http://schemas.openxmlformats.org/officeDocument/2006/math">
                    <m:oMathParaPr>
                      <m:jc m:val="centerGroup"/>
                    </m:oMathParaPr>
                    <m:oMath xmlns:m="http://schemas.openxmlformats.org/officeDocument/2006/math">
                      <m:r>
                        <a:rPr lang="en-US" b="0" i="1" smtClean="0">
                          <a:solidFill>
                            <a:schemeClr val="tx1">
                              <a:lumMod val="95000"/>
                            </a:schemeClr>
                          </a:solidFill>
                          <a:latin typeface="Cambria Math" panose="02040503050406030204" pitchFamily="18" charset="0"/>
                        </a:rPr>
                        <m:t>𝜃</m:t>
                      </m:r>
                      <m:r>
                        <a:rPr lang="en-US" b="0" i="1" smtClean="0">
                          <a:solidFill>
                            <a:schemeClr val="tx1">
                              <a:lumMod val="95000"/>
                            </a:schemeClr>
                          </a:solidFill>
                          <a:latin typeface="Cambria Math" panose="02040503050406030204" pitchFamily="18" charset="0"/>
                        </a:rPr>
                        <m:t>=</m:t>
                      </m:r>
                      <m:d>
                        <m:dPr>
                          <m:ctrlPr>
                            <a:rPr lang="en-US" b="0" i="1" smtClean="0">
                              <a:solidFill>
                                <a:schemeClr val="tx1">
                                  <a:lumMod val="95000"/>
                                </a:schemeClr>
                              </a:solidFill>
                              <a:latin typeface="Cambria Math" panose="02040503050406030204" pitchFamily="18" charset="0"/>
                            </a:rPr>
                          </m:ctrlPr>
                        </m:dPr>
                        <m:e>
                          <m:r>
                            <a:rPr lang="en-US" b="0" i="1" smtClean="0">
                              <a:solidFill>
                                <a:schemeClr val="tx1">
                                  <a:lumMod val="95000"/>
                                </a:schemeClr>
                              </a:solidFill>
                              <a:latin typeface="Cambria Math" panose="02040503050406030204" pitchFamily="18" charset="0"/>
                            </a:rPr>
                            <m:t>𝑢</m:t>
                          </m:r>
                          <m:r>
                            <a:rPr lang="en-US" b="0" i="1" smtClean="0">
                              <a:solidFill>
                                <a:schemeClr val="tx1">
                                  <a:lumMod val="95000"/>
                                </a:schemeClr>
                              </a:solidFill>
                              <a:latin typeface="Cambria Math" panose="02040503050406030204" pitchFamily="18" charset="0"/>
                            </a:rPr>
                            <m:t>∨¬</m:t>
                          </m:r>
                          <m:r>
                            <a:rPr lang="en-US" b="0" i="1" smtClean="0">
                              <a:solidFill>
                                <a:schemeClr val="tx1">
                                  <a:lumMod val="95000"/>
                                </a:schemeClr>
                              </a:solidFill>
                              <a:latin typeface="Cambria Math" panose="02040503050406030204" pitchFamily="18" charset="0"/>
                            </a:rPr>
                            <m:t>𝑣</m:t>
                          </m:r>
                          <m:r>
                            <a:rPr lang="en-US" b="0" i="1" smtClean="0">
                              <a:solidFill>
                                <a:schemeClr val="tx1">
                                  <a:lumMod val="95000"/>
                                </a:schemeClr>
                              </a:solidFill>
                              <a:latin typeface="Cambria Math" panose="02040503050406030204" pitchFamily="18" charset="0"/>
                            </a:rPr>
                            <m:t>∨</m:t>
                          </m:r>
                          <m:r>
                            <a:rPr lang="en-US" b="0" i="1" smtClean="0">
                              <a:solidFill>
                                <a:schemeClr val="tx1">
                                  <a:lumMod val="95000"/>
                                </a:schemeClr>
                              </a:solidFill>
                              <a:latin typeface="Cambria Math" panose="02040503050406030204" pitchFamily="18" charset="0"/>
                            </a:rPr>
                            <m:t>𝑤</m:t>
                          </m:r>
                        </m:e>
                      </m:d>
                      <m:r>
                        <a:rPr lang="en-US" b="0" i="1" smtClean="0">
                          <a:solidFill>
                            <a:schemeClr val="tx1">
                              <a:lumMod val="95000"/>
                            </a:schemeClr>
                          </a:solidFill>
                          <a:latin typeface="Cambria Math" panose="02040503050406030204" pitchFamily="18" charset="0"/>
                        </a:rPr>
                        <m:t>∧(</m:t>
                      </m:r>
                      <m:r>
                        <a:rPr lang="en-US" b="0" i="1" smtClean="0">
                          <a:solidFill>
                            <a:schemeClr val="tx1">
                              <a:lumMod val="95000"/>
                            </a:schemeClr>
                          </a:solidFill>
                          <a:latin typeface="Cambria Math" panose="02040503050406030204" pitchFamily="18" charset="0"/>
                        </a:rPr>
                        <m:t>𝑣</m:t>
                      </m:r>
                      <m:r>
                        <a:rPr lang="en-US" b="0" i="1" smtClean="0">
                          <a:solidFill>
                            <a:schemeClr val="tx1">
                              <a:lumMod val="95000"/>
                            </a:schemeClr>
                          </a:solidFill>
                          <a:latin typeface="Cambria Math" panose="02040503050406030204" pitchFamily="18" charset="0"/>
                        </a:rPr>
                        <m:t>∨</m:t>
                      </m:r>
                      <m:r>
                        <a:rPr lang="en-US" b="0" i="1" smtClean="0">
                          <a:solidFill>
                            <a:schemeClr val="tx1">
                              <a:lumMod val="95000"/>
                            </a:schemeClr>
                          </a:solidFill>
                          <a:latin typeface="Cambria Math" panose="02040503050406030204" pitchFamily="18" charset="0"/>
                        </a:rPr>
                        <m:t>𝑥</m:t>
                      </m:r>
                      <m:r>
                        <a:rPr lang="en-US" b="0" i="1" smtClean="0">
                          <a:solidFill>
                            <a:schemeClr val="tx1">
                              <a:lumMod val="95000"/>
                            </a:schemeClr>
                          </a:solidFill>
                          <a:latin typeface="Cambria Math" panose="02040503050406030204" pitchFamily="18" charset="0"/>
                        </a:rPr>
                        <m:t>∨¬</m:t>
                      </m:r>
                      <m:r>
                        <a:rPr lang="en-US" b="0" i="1" smtClean="0">
                          <a:solidFill>
                            <a:schemeClr val="tx1">
                              <a:lumMod val="95000"/>
                            </a:schemeClr>
                          </a:solidFill>
                          <a:latin typeface="Cambria Math" panose="02040503050406030204" pitchFamily="18" charset="0"/>
                        </a:rPr>
                        <m:t>𝑦</m:t>
                      </m:r>
                      <m:r>
                        <a:rPr lang="en-US" b="0" i="1" smtClean="0">
                          <a:solidFill>
                            <a:schemeClr val="tx1">
                              <a:lumMod val="95000"/>
                            </a:schemeClr>
                          </a:solidFill>
                          <a:latin typeface="Cambria Math" panose="02040503050406030204" pitchFamily="18" charset="0"/>
                        </a:rPr>
                        <m:t>)</m:t>
                      </m:r>
                    </m:oMath>
                  </m:oMathPara>
                </a14:m>
                <a:endParaRPr lang="en-US" dirty="0">
                  <a:solidFill>
                    <a:schemeClr val="tx1">
                      <a:lumMod val="95000"/>
                    </a:schemeClr>
                  </a:solidFill>
                </a:endParaRPr>
              </a:p>
            </p:txBody>
          </p:sp>
        </mc:Choice>
        <mc:Fallback xmlns="">
          <p:sp>
            <p:nvSpPr>
              <p:cNvPr id="37" name="Content Placeholder 2">
                <a:extLst>
                  <a:ext uri="{FF2B5EF4-FFF2-40B4-BE49-F238E27FC236}">
                    <a16:creationId xmlns:a16="http://schemas.microsoft.com/office/drawing/2014/main" id="{3A4FEE7E-EBFB-5E40-9644-716490691FB8}"/>
                  </a:ext>
                </a:extLst>
              </p:cNvPr>
              <p:cNvSpPr txBox="1">
                <a:spLocks noRot="1" noChangeAspect="1" noMove="1" noResize="1" noEditPoints="1" noAdjustHandles="1" noChangeArrowheads="1" noChangeShapeType="1" noTextEdit="1"/>
              </p:cNvSpPr>
              <p:nvPr/>
            </p:nvSpPr>
            <p:spPr>
              <a:xfrm>
                <a:off x="1016381" y="985416"/>
                <a:ext cx="4696288" cy="630318"/>
              </a:xfrm>
              <a:prstGeom prst="rect">
                <a:avLst/>
              </a:prstGeom>
              <a:blipFill>
                <a:blip r:embed="rId3"/>
                <a:stretch>
                  <a:fillRect/>
                </a:stretch>
              </a:blipFill>
              <a:ln>
                <a:solidFill>
                  <a:schemeClr val="accent1"/>
                </a:solidFill>
              </a:ln>
            </p:spPr>
            <p:txBody>
              <a:bodyPr/>
              <a:lstStyle/>
              <a:p>
                <a:r>
                  <a:rPr lang="en-US">
                    <a:noFill/>
                  </a:rPr>
                  <a:t> </a:t>
                </a:r>
              </a:p>
            </p:txBody>
          </p:sp>
        </mc:Fallback>
      </mc:AlternateContent>
      <p:sp>
        <p:nvSpPr>
          <p:cNvPr id="12" name="Content Placeholder 2">
            <a:extLst>
              <a:ext uri="{FF2B5EF4-FFF2-40B4-BE49-F238E27FC236}">
                <a16:creationId xmlns:a16="http://schemas.microsoft.com/office/drawing/2014/main" id="{7E1AFE59-E301-5E42-BAE8-A0AEB2A7A9B9}"/>
              </a:ext>
            </a:extLst>
          </p:cNvPr>
          <p:cNvSpPr txBox="1">
            <a:spLocks/>
          </p:cNvSpPr>
          <p:nvPr/>
        </p:nvSpPr>
        <p:spPr>
          <a:xfrm>
            <a:off x="5965791" y="985417"/>
            <a:ext cx="5584053" cy="1757784"/>
          </a:xfrm>
          <a:prstGeom prst="rect">
            <a:avLst/>
          </a:prstGeom>
          <a:noFill/>
          <a:ln>
            <a:solidFill>
              <a:schemeClr val="accent1"/>
            </a:solidFill>
          </a:ln>
        </p:spPr>
        <p:txBody>
          <a:bodyPr vert="horz" lIns="91440" tIns="45720" rIns="91440" bIns="45720" rtlCol="0">
            <a:no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dirty="0">
                <a:solidFill>
                  <a:schemeClr val="tx1">
                    <a:lumMod val="95000"/>
                  </a:schemeClr>
                </a:solidFill>
              </a:rPr>
              <a:t>The graph we construct needs to:</a:t>
            </a:r>
            <a:br>
              <a:rPr lang="en-US" sz="1600" dirty="0">
                <a:solidFill>
                  <a:schemeClr val="tx1">
                    <a:lumMod val="95000"/>
                  </a:schemeClr>
                </a:solidFill>
              </a:rPr>
            </a:br>
            <a:r>
              <a:rPr lang="en-US" sz="1600" dirty="0">
                <a:solidFill>
                  <a:schemeClr val="tx1">
                    <a:lumMod val="95000"/>
                  </a:schemeClr>
                </a:solidFill>
              </a:rPr>
              <a:t>- </a:t>
            </a:r>
            <a:r>
              <a:rPr lang="en-US" sz="1600" b="1" i="1" u="sng" dirty="0">
                <a:solidFill>
                  <a:schemeClr val="tx1">
                    <a:lumMod val="95000"/>
                  </a:schemeClr>
                </a:solidFill>
              </a:rPr>
              <a:t>Model the variables and the fact that each variable XOR its negation can be True.</a:t>
            </a:r>
          </a:p>
          <a:p>
            <a:pPr marL="0" indent="0">
              <a:buFont typeface="Arial" panose="020B0604020202020204" pitchFamily="34" charset="0"/>
              <a:buNone/>
            </a:pPr>
            <a:r>
              <a:rPr lang="en-US" sz="1600" dirty="0">
                <a:solidFill>
                  <a:schemeClr val="tx1">
                    <a:lumMod val="95000"/>
                  </a:schemeClr>
                </a:solidFill>
              </a:rPr>
              <a:t>- Model the fact that at least one variable per clause must be chosen.</a:t>
            </a:r>
          </a:p>
        </p:txBody>
      </p:sp>
      <p:sp>
        <p:nvSpPr>
          <p:cNvPr id="3" name="Oval 2">
            <a:extLst>
              <a:ext uri="{FF2B5EF4-FFF2-40B4-BE49-F238E27FC236}">
                <a16:creationId xmlns:a16="http://schemas.microsoft.com/office/drawing/2014/main" id="{C2B0E7E9-2B6B-6F41-A7CE-24778FF83531}"/>
              </a:ext>
            </a:extLst>
          </p:cNvPr>
          <p:cNvSpPr/>
          <p:nvPr/>
        </p:nvSpPr>
        <p:spPr>
          <a:xfrm>
            <a:off x="3047517" y="1897155"/>
            <a:ext cx="397193" cy="39719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T</a:t>
            </a:r>
          </a:p>
        </p:txBody>
      </p:sp>
      <p:sp>
        <p:nvSpPr>
          <p:cNvPr id="8" name="Oval 7">
            <a:extLst>
              <a:ext uri="{FF2B5EF4-FFF2-40B4-BE49-F238E27FC236}">
                <a16:creationId xmlns:a16="http://schemas.microsoft.com/office/drawing/2014/main" id="{0E0B7890-8FA9-9843-ABA4-2CD5EE14A127}"/>
              </a:ext>
            </a:extLst>
          </p:cNvPr>
          <p:cNvSpPr/>
          <p:nvPr/>
        </p:nvSpPr>
        <p:spPr>
          <a:xfrm>
            <a:off x="3736189" y="1897155"/>
            <a:ext cx="397193" cy="397193"/>
          </a:xfrm>
          <a:prstGeom prst="ellipse">
            <a:avLst/>
          </a:prstGeom>
          <a:solidFill>
            <a:schemeClr val="accent4">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F</a:t>
            </a:r>
          </a:p>
        </p:txBody>
      </p:sp>
      <p:sp>
        <p:nvSpPr>
          <p:cNvPr id="9" name="Oval 8">
            <a:extLst>
              <a:ext uri="{FF2B5EF4-FFF2-40B4-BE49-F238E27FC236}">
                <a16:creationId xmlns:a16="http://schemas.microsoft.com/office/drawing/2014/main" id="{13D3E9CA-2491-1D4E-AFF4-AC7E647C9D2E}"/>
              </a:ext>
            </a:extLst>
          </p:cNvPr>
          <p:cNvSpPr/>
          <p:nvPr/>
        </p:nvSpPr>
        <p:spPr>
          <a:xfrm>
            <a:off x="3369015" y="2500935"/>
            <a:ext cx="430171" cy="430171"/>
          </a:xfrm>
          <a:prstGeom prst="ellipse">
            <a:avLst/>
          </a:prstGeom>
          <a:solidFill>
            <a:schemeClr val="accent2">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N</a:t>
            </a:r>
          </a:p>
        </p:txBody>
      </p:sp>
      <p:cxnSp>
        <p:nvCxnSpPr>
          <p:cNvPr id="5" name="Straight Connector 4">
            <a:extLst>
              <a:ext uri="{FF2B5EF4-FFF2-40B4-BE49-F238E27FC236}">
                <a16:creationId xmlns:a16="http://schemas.microsoft.com/office/drawing/2014/main" id="{F534D206-007F-5B49-8147-0A586976EDA5}"/>
              </a:ext>
            </a:extLst>
          </p:cNvPr>
          <p:cNvCxnSpPr>
            <a:cxnSpLocks/>
            <a:stCxn id="3" idx="4"/>
            <a:endCxn id="9" idx="1"/>
          </p:cNvCxnSpPr>
          <p:nvPr/>
        </p:nvCxnSpPr>
        <p:spPr>
          <a:xfrm>
            <a:off x="3246114" y="2294348"/>
            <a:ext cx="185898" cy="269584"/>
          </a:xfrm>
          <a:prstGeom prst="line">
            <a:avLst/>
          </a:prstGeom>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9CA2D658-3F80-404A-9A25-BA651A5382EA}"/>
              </a:ext>
            </a:extLst>
          </p:cNvPr>
          <p:cNvCxnSpPr>
            <a:cxnSpLocks/>
            <a:stCxn id="8" idx="4"/>
            <a:endCxn id="9" idx="7"/>
          </p:cNvCxnSpPr>
          <p:nvPr/>
        </p:nvCxnSpPr>
        <p:spPr>
          <a:xfrm flipH="1">
            <a:off x="3736189" y="2294348"/>
            <a:ext cx="198597" cy="269584"/>
          </a:xfrm>
          <a:prstGeom prst="line">
            <a:avLst/>
          </a:prstGeom>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54A2F88C-F811-1A4F-9036-A6C9140564B2}"/>
              </a:ext>
            </a:extLst>
          </p:cNvPr>
          <p:cNvCxnSpPr>
            <a:cxnSpLocks/>
            <a:stCxn id="8" idx="2"/>
            <a:endCxn id="3" idx="6"/>
          </p:cNvCxnSpPr>
          <p:nvPr/>
        </p:nvCxnSpPr>
        <p:spPr>
          <a:xfrm flipH="1">
            <a:off x="3444710" y="2095752"/>
            <a:ext cx="291479" cy="0"/>
          </a:xfrm>
          <a:prstGeom prst="line">
            <a:avLst/>
          </a:prstGeom>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6" name="Oval 15">
                <a:extLst>
                  <a:ext uri="{FF2B5EF4-FFF2-40B4-BE49-F238E27FC236}">
                    <a16:creationId xmlns:a16="http://schemas.microsoft.com/office/drawing/2014/main" id="{6E71D91C-504B-024A-A299-D7E29264A6C7}"/>
                  </a:ext>
                </a:extLst>
              </p:cNvPr>
              <p:cNvSpPr/>
              <p:nvPr/>
            </p:nvSpPr>
            <p:spPr>
              <a:xfrm>
                <a:off x="2843345" y="3451995"/>
                <a:ext cx="418834" cy="418834"/>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b="0" i="1" smtClean="0">
                          <a:solidFill>
                            <a:schemeClr val="bg1"/>
                          </a:solidFill>
                          <a:latin typeface="Cambria Math" panose="02040503050406030204" pitchFamily="18" charset="0"/>
                        </a:rPr>
                        <m:t>𝑢</m:t>
                      </m:r>
                    </m:oMath>
                  </m:oMathPara>
                </a14:m>
                <a:endParaRPr lang="en-US" dirty="0">
                  <a:solidFill>
                    <a:schemeClr val="bg1"/>
                  </a:solidFill>
                </a:endParaRPr>
              </a:p>
            </p:txBody>
          </p:sp>
        </mc:Choice>
        <mc:Fallback xmlns="">
          <p:sp>
            <p:nvSpPr>
              <p:cNvPr id="16" name="Oval 15">
                <a:extLst>
                  <a:ext uri="{FF2B5EF4-FFF2-40B4-BE49-F238E27FC236}">
                    <a16:creationId xmlns:a16="http://schemas.microsoft.com/office/drawing/2014/main" id="{6E71D91C-504B-024A-A299-D7E29264A6C7}"/>
                  </a:ext>
                </a:extLst>
              </p:cNvPr>
              <p:cNvSpPr>
                <a:spLocks noRot="1" noChangeAspect="1" noMove="1" noResize="1" noEditPoints="1" noAdjustHandles="1" noChangeArrowheads="1" noChangeShapeType="1" noTextEdit="1"/>
              </p:cNvSpPr>
              <p:nvPr/>
            </p:nvSpPr>
            <p:spPr>
              <a:xfrm>
                <a:off x="2843345" y="3451995"/>
                <a:ext cx="418834" cy="418834"/>
              </a:xfrm>
              <a:prstGeom prst="ellipse">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 name="Oval 16">
                <a:extLst>
                  <a:ext uri="{FF2B5EF4-FFF2-40B4-BE49-F238E27FC236}">
                    <a16:creationId xmlns:a16="http://schemas.microsoft.com/office/drawing/2014/main" id="{60BCECBB-A50F-6B48-857A-233EFA8BBB10}"/>
                  </a:ext>
                </a:extLst>
              </p:cNvPr>
              <p:cNvSpPr/>
              <p:nvPr/>
            </p:nvSpPr>
            <p:spPr>
              <a:xfrm>
                <a:off x="3736189" y="3420753"/>
                <a:ext cx="481317" cy="481317"/>
              </a:xfrm>
              <a:prstGeom prst="ellipse">
                <a:avLst/>
              </a:prstGeom>
              <a:solidFill>
                <a:schemeClr val="accent4">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b="0" i="1" smtClean="0">
                          <a:solidFill>
                            <a:schemeClr val="bg1"/>
                          </a:solidFill>
                          <a:latin typeface="Cambria Math" panose="02040503050406030204" pitchFamily="18" charset="0"/>
                        </a:rPr>
                        <m:t>¬</m:t>
                      </m:r>
                      <m:r>
                        <a:rPr lang="en-US" b="0" i="1" smtClean="0">
                          <a:solidFill>
                            <a:schemeClr val="bg1"/>
                          </a:solidFill>
                          <a:latin typeface="Cambria Math" panose="02040503050406030204" pitchFamily="18" charset="0"/>
                        </a:rPr>
                        <m:t>𝑢</m:t>
                      </m:r>
                    </m:oMath>
                  </m:oMathPara>
                </a14:m>
                <a:endParaRPr lang="en-US" dirty="0">
                  <a:solidFill>
                    <a:schemeClr val="bg1"/>
                  </a:solidFill>
                </a:endParaRPr>
              </a:p>
            </p:txBody>
          </p:sp>
        </mc:Choice>
        <mc:Fallback xmlns="">
          <p:sp>
            <p:nvSpPr>
              <p:cNvPr id="17" name="Oval 16">
                <a:extLst>
                  <a:ext uri="{FF2B5EF4-FFF2-40B4-BE49-F238E27FC236}">
                    <a16:creationId xmlns:a16="http://schemas.microsoft.com/office/drawing/2014/main" id="{60BCECBB-A50F-6B48-857A-233EFA8BBB10}"/>
                  </a:ext>
                </a:extLst>
              </p:cNvPr>
              <p:cNvSpPr>
                <a:spLocks noRot="1" noChangeAspect="1" noMove="1" noResize="1" noEditPoints="1" noAdjustHandles="1" noChangeArrowheads="1" noChangeShapeType="1" noTextEdit="1"/>
              </p:cNvSpPr>
              <p:nvPr/>
            </p:nvSpPr>
            <p:spPr>
              <a:xfrm>
                <a:off x="3736189" y="3420753"/>
                <a:ext cx="481317" cy="481317"/>
              </a:xfrm>
              <a:prstGeom prst="ellipse">
                <a:avLst/>
              </a:prstGeom>
              <a:blipFill>
                <a:blip r:embed="rId5"/>
                <a:stretch>
                  <a:fillRect/>
                </a:stretch>
              </a:blipFill>
            </p:spPr>
            <p:txBody>
              <a:bodyPr/>
              <a:lstStyle/>
              <a:p>
                <a:r>
                  <a:rPr lang="en-US">
                    <a:noFill/>
                  </a:rPr>
                  <a:t> </a:t>
                </a:r>
              </a:p>
            </p:txBody>
          </p:sp>
        </mc:Fallback>
      </mc:AlternateContent>
      <p:cxnSp>
        <p:nvCxnSpPr>
          <p:cNvPr id="20" name="Straight Connector 19">
            <a:extLst>
              <a:ext uri="{FF2B5EF4-FFF2-40B4-BE49-F238E27FC236}">
                <a16:creationId xmlns:a16="http://schemas.microsoft.com/office/drawing/2014/main" id="{0B93648E-88C5-9445-B85A-07982001CF31}"/>
              </a:ext>
            </a:extLst>
          </p:cNvPr>
          <p:cNvCxnSpPr>
            <a:cxnSpLocks/>
            <a:stCxn id="16" idx="6"/>
            <a:endCxn id="17" idx="2"/>
          </p:cNvCxnSpPr>
          <p:nvPr/>
        </p:nvCxnSpPr>
        <p:spPr>
          <a:xfrm>
            <a:off x="3262179" y="3661412"/>
            <a:ext cx="47401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218DA0DC-D7EC-6948-A0A9-BE8FA33A3DD6}"/>
              </a:ext>
            </a:extLst>
          </p:cNvPr>
          <p:cNvCxnSpPr>
            <a:cxnSpLocks/>
            <a:stCxn id="9" idx="4"/>
            <a:endCxn id="16" idx="0"/>
          </p:cNvCxnSpPr>
          <p:nvPr/>
        </p:nvCxnSpPr>
        <p:spPr>
          <a:xfrm flipH="1">
            <a:off x="3052762" y="2931106"/>
            <a:ext cx="531339" cy="520889"/>
          </a:xfrm>
          <a:prstGeom prst="line">
            <a:avLst/>
          </a:prstGeom>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9BAE58A3-7374-9343-8D6F-F73A003D565F}"/>
              </a:ext>
            </a:extLst>
          </p:cNvPr>
          <p:cNvCxnSpPr>
            <a:cxnSpLocks/>
            <a:stCxn id="17" idx="0"/>
            <a:endCxn id="9" idx="4"/>
          </p:cNvCxnSpPr>
          <p:nvPr/>
        </p:nvCxnSpPr>
        <p:spPr>
          <a:xfrm flipH="1" flipV="1">
            <a:off x="3584101" y="2931106"/>
            <a:ext cx="392747" cy="489647"/>
          </a:xfrm>
          <a:prstGeom prst="line">
            <a:avLst/>
          </a:prstGeom>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2" name="Oval 51">
                <a:extLst>
                  <a:ext uri="{FF2B5EF4-FFF2-40B4-BE49-F238E27FC236}">
                    <a16:creationId xmlns:a16="http://schemas.microsoft.com/office/drawing/2014/main" id="{BB224217-EDB2-A841-BA76-C4B795F98046}"/>
                  </a:ext>
                </a:extLst>
              </p:cNvPr>
              <p:cNvSpPr/>
              <p:nvPr/>
            </p:nvSpPr>
            <p:spPr>
              <a:xfrm>
                <a:off x="2843345" y="4182300"/>
                <a:ext cx="418834" cy="418834"/>
              </a:xfrm>
              <a:prstGeom prst="ellipse">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b="0" i="1" smtClean="0">
                          <a:solidFill>
                            <a:schemeClr val="bg1"/>
                          </a:solidFill>
                          <a:latin typeface="Cambria Math" panose="02040503050406030204" pitchFamily="18" charset="0"/>
                        </a:rPr>
                        <m:t>𝑣</m:t>
                      </m:r>
                    </m:oMath>
                  </m:oMathPara>
                </a14:m>
                <a:endParaRPr lang="en-US" dirty="0">
                  <a:solidFill>
                    <a:schemeClr val="bg1"/>
                  </a:solidFill>
                </a:endParaRPr>
              </a:p>
            </p:txBody>
          </p:sp>
        </mc:Choice>
        <mc:Fallback xmlns="">
          <p:sp>
            <p:nvSpPr>
              <p:cNvPr id="52" name="Oval 51">
                <a:extLst>
                  <a:ext uri="{FF2B5EF4-FFF2-40B4-BE49-F238E27FC236}">
                    <a16:creationId xmlns:a16="http://schemas.microsoft.com/office/drawing/2014/main" id="{BB224217-EDB2-A841-BA76-C4B795F98046}"/>
                  </a:ext>
                </a:extLst>
              </p:cNvPr>
              <p:cNvSpPr>
                <a:spLocks noRot="1" noChangeAspect="1" noMove="1" noResize="1" noEditPoints="1" noAdjustHandles="1" noChangeArrowheads="1" noChangeShapeType="1" noTextEdit="1"/>
              </p:cNvSpPr>
              <p:nvPr/>
            </p:nvSpPr>
            <p:spPr>
              <a:xfrm>
                <a:off x="2843345" y="4182300"/>
                <a:ext cx="418834" cy="418834"/>
              </a:xfrm>
              <a:prstGeom prst="ellipse">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Oval 52">
                <a:extLst>
                  <a:ext uri="{FF2B5EF4-FFF2-40B4-BE49-F238E27FC236}">
                    <a16:creationId xmlns:a16="http://schemas.microsoft.com/office/drawing/2014/main" id="{ED18F9F0-79F0-9D49-AC8F-0D816D4A5F6F}"/>
                  </a:ext>
                </a:extLst>
              </p:cNvPr>
              <p:cNvSpPr/>
              <p:nvPr/>
            </p:nvSpPr>
            <p:spPr>
              <a:xfrm>
                <a:off x="3736189" y="4151058"/>
                <a:ext cx="481317" cy="481317"/>
              </a:xfrm>
              <a:prstGeom prst="ellipse">
                <a:avLst/>
              </a:prstGeom>
              <a:solidFill>
                <a:schemeClr val="accent4">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b="0" i="1" smtClean="0">
                          <a:solidFill>
                            <a:schemeClr val="bg1"/>
                          </a:solidFill>
                          <a:latin typeface="Cambria Math" panose="02040503050406030204" pitchFamily="18" charset="0"/>
                        </a:rPr>
                        <m:t>¬</m:t>
                      </m:r>
                      <m:r>
                        <a:rPr lang="en-US" b="0" i="1" smtClean="0">
                          <a:solidFill>
                            <a:schemeClr val="bg1"/>
                          </a:solidFill>
                          <a:latin typeface="Cambria Math" panose="02040503050406030204" pitchFamily="18" charset="0"/>
                        </a:rPr>
                        <m:t>𝑣</m:t>
                      </m:r>
                    </m:oMath>
                  </m:oMathPara>
                </a14:m>
                <a:endParaRPr lang="en-US" dirty="0">
                  <a:solidFill>
                    <a:schemeClr val="bg1"/>
                  </a:solidFill>
                </a:endParaRPr>
              </a:p>
            </p:txBody>
          </p:sp>
        </mc:Choice>
        <mc:Fallback xmlns="">
          <p:sp>
            <p:nvSpPr>
              <p:cNvPr id="53" name="Oval 52">
                <a:extLst>
                  <a:ext uri="{FF2B5EF4-FFF2-40B4-BE49-F238E27FC236}">
                    <a16:creationId xmlns:a16="http://schemas.microsoft.com/office/drawing/2014/main" id="{ED18F9F0-79F0-9D49-AC8F-0D816D4A5F6F}"/>
                  </a:ext>
                </a:extLst>
              </p:cNvPr>
              <p:cNvSpPr>
                <a:spLocks noRot="1" noChangeAspect="1" noMove="1" noResize="1" noEditPoints="1" noAdjustHandles="1" noChangeArrowheads="1" noChangeShapeType="1" noTextEdit="1"/>
              </p:cNvSpPr>
              <p:nvPr/>
            </p:nvSpPr>
            <p:spPr>
              <a:xfrm>
                <a:off x="3736189" y="4151058"/>
                <a:ext cx="481317" cy="481317"/>
              </a:xfrm>
              <a:prstGeom prst="ellipse">
                <a:avLst/>
              </a:prstGeom>
              <a:blipFill>
                <a:blip r:embed="rId7"/>
                <a:stretch>
                  <a:fillRect/>
                </a:stretch>
              </a:blipFill>
            </p:spPr>
            <p:txBody>
              <a:bodyPr/>
              <a:lstStyle/>
              <a:p>
                <a:r>
                  <a:rPr lang="en-US">
                    <a:noFill/>
                  </a:rPr>
                  <a:t> </a:t>
                </a:r>
              </a:p>
            </p:txBody>
          </p:sp>
        </mc:Fallback>
      </mc:AlternateContent>
      <p:cxnSp>
        <p:nvCxnSpPr>
          <p:cNvPr id="54" name="Straight Connector 53">
            <a:extLst>
              <a:ext uri="{FF2B5EF4-FFF2-40B4-BE49-F238E27FC236}">
                <a16:creationId xmlns:a16="http://schemas.microsoft.com/office/drawing/2014/main" id="{C1EF251B-E381-014C-BC4B-6CDDC3DD65F8}"/>
              </a:ext>
            </a:extLst>
          </p:cNvPr>
          <p:cNvCxnSpPr>
            <a:cxnSpLocks/>
            <a:stCxn id="52" idx="6"/>
            <a:endCxn id="53" idx="2"/>
          </p:cNvCxnSpPr>
          <p:nvPr/>
        </p:nvCxnSpPr>
        <p:spPr>
          <a:xfrm>
            <a:off x="3262179" y="4391717"/>
            <a:ext cx="474010" cy="0"/>
          </a:xfrm>
          <a:prstGeom prst="line">
            <a:avLst/>
          </a:prstGeom>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5" name="Oval 54">
                <a:extLst>
                  <a:ext uri="{FF2B5EF4-FFF2-40B4-BE49-F238E27FC236}">
                    <a16:creationId xmlns:a16="http://schemas.microsoft.com/office/drawing/2014/main" id="{6C2D809D-AE02-9648-BCD1-E06A4475D0DA}"/>
                  </a:ext>
                </a:extLst>
              </p:cNvPr>
              <p:cNvSpPr/>
              <p:nvPr/>
            </p:nvSpPr>
            <p:spPr>
              <a:xfrm>
                <a:off x="2843345" y="4873034"/>
                <a:ext cx="418834" cy="418834"/>
              </a:xfrm>
              <a:prstGeom prst="ellipse">
                <a:avLst/>
              </a:prstGeom>
              <a:solidFill>
                <a:schemeClr val="accent4">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b="0" i="1" smtClean="0">
                          <a:solidFill>
                            <a:schemeClr val="bg1"/>
                          </a:solidFill>
                          <a:latin typeface="Cambria Math" panose="02040503050406030204" pitchFamily="18" charset="0"/>
                        </a:rPr>
                        <m:t>𝑤</m:t>
                      </m:r>
                    </m:oMath>
                  </m:oMathPara>
                </a14:m>
                <a:endParaRPr lang="en-US" dirty="0">
                  <a:solidFill>
                    <a:schemeClr val="bg1"/>
                  </a:solidFill>
                </a:endParaRPr>
              </a:p>
            </p:txBody>
          </p:sp>
        </mc:Choice>
        <mc:Fallback xmlns="">
          <p:sp>
            <p:nvSpPr>
              <p:cNvPr id="55" name="Oval 54">
                <a:extLst>
                  <a:ext uri="{FF2B5EF4-FFF2-40B4-BE49-F238E27FC236}">
                    <a16:creationId xmlns:a16="http://schemas.microsoft.com/office/drawing/2014/main" id="{6C2D809D-AE02-9648-BCD1-E06A4475D0DA}"/>
                  </a:ext>
                </a:extLst>
              </p:cNvPr>
              <p:cNvSpPr>
                <a:spLocks noRot="1" noChangeAspect="1" noMove="1" noResize="1" noEditPoints="1" noAdjustHandles="1" noChangeArrowheads="1" noChangeShapeType="1" noTextEdit="1"/>
              </p:cNvSpPr>
              <p:nvPr/>
            </p:nvSpPr>
            <p:spPr>
              <a:xfrm>
                <a:off x="2843345" y="4873034"/>
                <a:ext cx="418834" cy="418834"/>
              </a:xfrm>
              <a:prstGeom prst="ellipse">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6" name="Oval 55">
                <a:extLst>
                  <a:ext uri="{FF2B5EF4-FFF2-40B4-BE49-F238E27FC236}">
                    <a16:creationId xmlns:a16="http://schemas.microsoft.com/office/drawing/2014/main" id="{45F19045-56D2-E14F-AFF9-E857CB2BCAB9}"/>
                  </a:ext>
                </a:extLst>
              </p:cNvPr>
              <p:cNvSpPr/>
              <p:nvPr/>
            </p:nvSpPr>
            <p:spPr>
              <a:xfrm>
                <a:off x="3736189" y="4841792"/>
                <a:ext cx="481317" cy="481317"/>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b="0" i="1" smtClean="0">
                          <a:solidFill>
                            <a:schemeClr val="bg1"/>
                          </a:solidFill>
                          <a:latin typeface="Cambria Math" panose="02040503050406030204" pitchFamily="18" charset="0"/>
                        </a:rPr>
                        <m:t>¬</m:t>
                      </m:r>
                      <m:r>
                        <a:rPr lang="en-US" b="0" i="1" smtClean="0">
                          <a:solidFill>
                            <a:schemeClr val="bg1"/>
                          </a:solidFill>
                          <a:latin typeface="Cambria Math" panose="02040503050406030204" pitchFamily="18" charset="0"/>
                        </a:rPr>
                        <m:t>𝑤</m:t>
                      </m:r>
                    </m:oMath>
                  </m:oMathPara>
                </a14:m>
                <a:endParaRPr lang="en-US" dirty="0">
                  <a:solidFill>
                    <a:schemeClr val="bg1"/>
                  </a:solidFill>
                </a:endParaRPr>
              </a:p>
            </p:txBody>
          </p:sp>
        </mc:Choice>
        <mc:Fallback xmlns="">
          <p:sp>
            <p:nvSpPr>
              <p:cNvPr id="56" name="Oval 55">
                <a:extLst>
                  <a:ext uri="{FF2B5EF4-FFF2-40B4-BE49-F238E27FC236}">
                    <a16:creationId xmlns:a16="http://schemas.microsoft.com/office/drawing/2014/main" id="{45F19045-56D2-E14F-AFF9-E857CB2BCAB9}"/>
                  </a:ext>
                </a:extLst>
              </p:cNvPr>
              <p:cNvSpPr>
                <a:spLocks noRot="1" noChangeAspect="1" noMove="1" noResize="1" noEditPoints="1" noAdjustHandles="1" noChangeArrowheads="1" noChangeShapeType="1" noTextEdit="1"/>
              </p:cNvSpPr>
              <p:nvPr/>
            </p:nvSpPr>
            <p:spPr>
              <a:xfrm>
                <a:off x="3736189" y="4841792"/>
                <a:ext cx="481317" cy="481317"/>
              </a:xfrm>
              <a:prstGeom prst="ellipse">
                <a:avLst/>
              </a:prstGeom>
              <a:blipFill>
                <a:blip r:embed="rId9"/>
                <a:stretch>
                  <a:fillRect/>
                </a:stretch>
              </a:blipFill>
            </p:spPr>
            <p:txBody>
              <a:bodyPr/>
              <a:lstStyle/>
              <a:p>
                <a:r>
                  <a:rPr lang="en-US">
                    <a:noFill/>
                  </a:rPr>
                  <a:t> </a:t>
                </a:r>
              </a:p>
            </p:txBody>
          </p:sp>
        </mc:Fallback>
      </mc:AlternateContent>
      <p:cxnSp>
        <p:nvCxnSpPr>
          <p:cNvPr id="57" name="Straight Connector 56">
            <a:extLst>
              <a:ext uri="{FF2B5EF4-FFF2-40B4-BE49-F238E27FC236}">
                <a16:creationId xmlns:a16="http://schemas.microsoft.com/office/drawing/2014/main" id="{E7850E7B-A87A-3E4D-A1D6-D9C7EDF7B175}"/>
              </a:ext>
            </a:extLst>
          </p:cNvPr>
          <p:cNvCxnSpPr>
            <a:cxnSpLocks/>
            <a:stCxn id="55" idx="6"/>
            <a:endCxn id="56" idx="2"/>
          </p:cNvCxnSpPr>
          <p:nvPr/>
        </p:nvCxnSpPr>
        <p:spPr>
          <a:xfrm>
            <a:off x="3262179" y="5082451"/>
            <a:ext cx="474010" cy="0"/>
          </a:xfrm>
          <a:prstGeom prst="line">
            <a:avLst/>
          </a:prstGeom>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8" name="Oval 57">
                <a:extLst>
                  <a:ext uri="{FF2B5EF4-FFF2-40B4-BE49-F238E27FC236}">
                    <a16:creationId xmlns:a16="http://schemas.microsoft.com/office/drawing/2014/main" id="{568B1B1A-43C4-E540-AD2A-3092684399A6}"/>
                  </a:ext>
                </a:extLst>
              </p:cNvPr>
              <p:cNvSpPr/>
              <p:nvPr/>
            </p:nvSpPr>
            <p:spPr>
              <a:xfrm>
                <a:off x="2843345" y="5532526"/>
                <a:ext cx="418834" cy="418834"/>
              </a:xfrm>
              <a:prstGeom prst="ellipse">
                <a:avLst/>
              </a:prstGeom>
              <a:solidFill>
                <a:schemeClr val="accent4">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b="0" i="1" smtClean="0">
                          <a:solidFill>
                            <a:schemeClr val="bg1"/>
                          </a:solidFill>
                          <a:latin typeface="Cambria Math" panose="02040503050406030204" pitchFamily="18" charset="0"/>
                        </a:rPr>
                        <m:t>𝑥</m:t>
                      </m:r>
                    </m:oMath>
                  </m:oMathPara>
                </a14:m>
                <a:endParaRPr lang="en-US" dirty="0">
                  <a:solidFill>
                    <a:schemeClr val="bg1"/>
                  </a:solidFill>
                </a:endParaRPr>
              </a:p>
            </p:txBody>
          </p:sp>
        </mc:Choice>
        <mc:Fallback xmlns="">
          <p:sp>
            <p:nvSpPr>
              <p:cNvPr id="58" name="Oval 57">
                <a:extLst>
                  <a:ext uri="{FF2B5EF4-FFF2-40B4-BE49-F238E27FC236}">
                    <a16:creationId xmlns:a16="http://schemas.microsoft.com/office/drawing/2014/main" id="{568B1B1A-43C4-E540-AD2A-3092684399A6}"/>
                  </a:ext>
                </a:extLst>
              </p:cNvPr>
              <p:cNvSpPr>
                <a:spLocks noRot="1" noChangeAspect="1" noMove="1" noResize="1" noEditPoints="1" noAdjustHandles="1" noChangeArrowheads="1" noChangeShapeType="1" noTextEdit="1"/>
              </p:cNvSpPr>
              <p:nvPr/>
            </p:nvSpPr>
            <p:spPr>
              <a:xfrm>
                <a:off x="2843345" y="5532526"/>
                <a:ext cx="418834" cy="418834"/>
              </a:xfrm>
              <a:prstGeom prst="ellipse">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9" name="Oval 58">
                <a:extLst>
                  <a:ext uri="{FF2B5EF4-FFF2-40B4-BE49-F238E27FC236}">
                    <a16:creationId xmlns:a16="http://schemas.microsoft.com/office/drawing/2014/main" id="{41508F40-367D-224D-A3F6-4434D3BAADC9}"/>
                  </a:ext>
                </a:extLst>
              </p:cNvPr>
              <p:cNvSpPr/>
              <p:nvPr/>
            </p:nvSpPr>
            <p:spPr>
              <a:xfrm>
                <a:off x="3736189" y="5501284"/>
                <a:ext cx="481317" cy="481317"/>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b="0" i="1" smtClean="0">
                          <a:solidFill>
                            <a:schemeClr val="bg1"/>
                          </a:solidFill>
                          <a:latin typeface="Cambria Math" panose="02040503050406030204" pitchFamily="18" charset="0"/>
                        </a:rPr>
                        <m:t>¬</m:t>
                      </m:r>
                      <m:r>
                        <a:rPr lang="en-US" b="0" i="1" smtClean="0">
                          <a:solidFill>
                            <a:schemeClr val="bg1"/>
                          </a:solidFill>
                          <a:latin typeface="Cambria Math" panose="02040503050406030204" pitchFamily="18" charset="0"/>
                        </a:rPr>
                        <m:t>𝑥</m:t>
                      </m:r>
                    </m:oMath>
                  </m:oMathPara>
                </a14:m>
                <a:endParaRPr lang="en-US" dirty="0">
                  <a:solidFill>
                    <a:schemeClr val="bg1"/>
                  </a:solidFill>
                </a:endParaRPr>
              </a:p>
            </p:txBody>
          </p:sp>
        </mc:Choice>
        <mc:Fallback xmlns="">
          <p:sp>
            <p:nvSpPr>
              <p:cNvPr id="59" name="Oval 58">
                <a:extLst>
                  <a:ext uri="{FF2B5EF4-FFF2-40B4-BE49-F238E27FC236}">
                    <a16:creationId xmlns:a16="http://schemas.microsoft.com/office/drawing/2014/main" id="{41508F40-367D-224D-A3F6-4434D3BAADC9}"/>
                  </a:ext>
                </a:extLst>
              </p:cNvPr>
              <p:cNvSpPr>
                <a:spLocks noRot="1" noChangeAspect="1" noMove="1" noResize="1" noEditPoints="1" noAdjustHandles="1" noChangeArrowheads="1" noChangeShapeType="1" noTextEdit="1"/>
              </p:cNvSpPr>
              <p:nvPr/>
            </p:nvSpPr>
            <p:spPr>
              <a:xfrm>
                <a:off x="3736189" y="5501284"/>
                <a:ext cx="481317" cy="481317"/>
              </a:xfrm>
              <a:prstGeom prst="ellipse">
                <a:avLst/>
              </a:prstGeom>
              <a:blipFill>
                <a:blip r:embed="rId11"/>
                <a:stretch>
                  <a:fillRect/>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4CFAC50B-ACF1-7349-A952-09DCE8474B55}"/>
              </a:ext>
            </a:extLst>
          </p:cNvPr>
          <p:cNvCxnSpPr>
            <a:cxnSpLocks/>
            <a:stCxn id="58" idx="6"/>
            <a:endCxn id="59" idx="2"/>
          </p:cNvCxnSpPr>
          <p:nvPr/>
        </p:nvCxnSpPr>
        <p:spPr>
          <a:xfrm>
            <a:off x="3262179" y="5741943"/>
            <a:ext cx="474010" cy="0"/>
          </a:xfrm>
          <a:prstGeom prst="line">
            <a:avLst/>
          </a:prstGeom>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1" name="Oval 60">
                <a:extLst>
                  <a:ext uri="{FF2B5EF4-FFF2-40B4-BE49-F238E27FC236}">
                    <a16:creationId xmlns:a16="http://schemas.microsoft.com/office/drawing/2014/main" id="{55C0B52F-FFD9-0640-9DF9-1FD3D00DE14B}"/>
                  </a:ext>
                </a:extLst>
              </p:cNvPr>
              <p:cNvSpPr/>
              <p:nvPr/>
            </p:nvSpPr>
            <p:spPr>
              <a:xfrm>
                <a:off x="2843345" y="6160776"/>
                <a:ext cx="418834" cy="418834"/>
              </a:xfrm>
              <a:prstGeom prst="ellipse">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b="0" i="1" smtClean="0">
                          <a:solidFill>
                            <a:schemeClr val="bg1"/>
                          </a:solidFill>
                          <a:latin typeface="Cambria Math" panose="02040503050406030204" pitchFamily="18" charset="0"/>
                        </a:rPr>
                        <m:t>𝑦</m:t>
                      </m:r>
                    </m:oMath>
                  </m:oMathPara>
                </a14:m>
                <a:endParaRPr lang="en-US" dirty="0">
                  <a:solidFill>
                    <a:schemeClr val="bg1"/>
                  </a:solidFill>
                </a:endParaRPr>
              </a:p>
            </p:txBody>
          </p:sp>
        </mc:Choice>
        <mc:Fallback xmlns="">
          <p:sp>
            <p:nvSpPr>
              <p:cNvPr id="61" name="Oval 60">
                <a:extLst>
                  <a:ext uri="{FF2B5EF4-FFF2-40B4-BE49-F238E27FC236}">
                    <a16:creationId xmlns:a16="http://schemas.microsoft.com/office/drawing/2014/main" id="{55C0B52F-FFD9-0640-9DF9-1FD3D00DE14B}"/>
                  </a:ext>
                </a:extLst>
              </p:cNvPr>
              <p:cNvSpPr>
                <a:spLocks noRot="1" noChangeAspect="1" noMove="1" noResize="1" noEditPoints="1" noAdjustHandles="1" noChangeArrowheads="1" noChangeShapeType="1" noTextEdit="1"/>
              </p:cNvSpPr>
              <p:nvPr/>
            </p:nvSpPr>
            <p:spPr>
              <a:xfrm>
                <a:off x="2843345" y="6160776"/>
                <a:ext cx="418834" cy="418834"/>
              </a:xfrm>
              <a:prstGeom prst="ellipse">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2" name="Oval 61">
                <a:extLst>
                  <a:ext uri="{FF2B5EF4-FFF2-40B4-BE49-F238E27FC236}">
                    <a16:creationId xmlns:a16="http://schemas.microsoft.com/office/drawing/2014/main" id="{621FD6A9-C0EF-2F48-8515-99ECC2A71D50}"/>
                  </a:ext>
                </a:extLst>
              </p:cNvPr>
              <p:cNvSpPr/>
              <p:nvPr/>
            </p:nvSpPr>
            <p:spPr>
              <a:xfrm>
                <a:off x="3736189" y="6129534"/>
                <a:ext cx="481317" cy="481317"/>
              </a:xfrm>
              <a:prstGeom prst="ellipse">
                <a:avLst/>
              </a:prstGeom>
              <a:solidFill>
                <a:schemeClr val="accent4">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b="0" i="1" smtClean="0">
                          <a:solidFill>
                            <a:schemeClr val="bg1"/>
                          </a:solidFill>
                          <a:latin typeface="Cambria Math" panose="02040503050406030204" pitchFamily="18" charset="0"/>
                        </a:rPr>
                        <m:t>¬</m:t>
                      </m:r>
                      <m:r>
                        <a:rPr lang="en-US" b="0" i="1" smtClean="0">
                          <a:solidFill>
                            <a:schemeClr val="bg1"/>
                          </a:solidFill>
                          <a:latin typeface="Cambria Math" panose="02040503050406030204" pitchFamily="18" charset="0"/>
                        </a:rPr>
                        <m:t>𝑦</m:t>
                      </m:r>
                    </m:oMath>
                  </m:oMathPara>
                </a14:m>
                <a:endParaRPr lang="en-US" dirty="0">
                  <a:solidFill>
                    <a:schemeClr val="bg1"/>
                  </a:solidFill>
                </a:endParaRPr>
              </a:p>
            </p:txBody>
          </p:sp>
        </mc:Choice>
        <mc:Fallback xmlns="">
          <p:sp>
            <p:nvSpPr>
              <p:cNvPr id="62" name="Oval 61">
                <a:extLst>
                  <a:ext uri="{FF2B5EF4-FFF2-40B4-BE49-F238E27FC236}">
                    <a16:creationId xmlns:a16="http://schemas.microsoft.com/office/drawing/2014/main" id="{621FD6A9-C0EF-2F48-8515-99ECC2A71D50}"/>
                  </a:ext>
                </a:extLst>
              </p:cNvPr>
              <p:cNvSpPr>
                <a:spLocks noRot="1" noChangeAspect="1" noMove="1" noResize="1" noEditPoints="1" noAdjustHandles="1" noChangeArrowheads="1" noChangeShapeType="1" noTextEdit="1"/>
              </p:cNvSpPr>
              <p:nvPr/>
            </p:nvSpPr>
            <p:spPr>
              <a:xfrm>
                <a:off x="3736189" y="6129534"/>
                <a:ext cx="481317" cy="481317"/>
              </a:xfrm>
              <a:prstGeom prst="ellipse">
                <a:avLst/>
              </a:prstGeom>
              <a:blipFill>
                <a:blip r:embed="rId13"/>
                <a:stretch>
                  <a:fillRect/>
                </a:stretch>
              </a:blipFill>
            </p:spPr>
            <p:txBody>
              <a:bodyPr/>
              <a:lstStyle/>
              <a:p>
                <a:r>
                  <a:rPr lang="en-US">
                    <a:noFill/>
                  </a:rPr>
                  <a:t> </a:t>
                </a:r>
              </a:p>
            </p:txBody>
          </p:sp>
        </mc:Fallback>
      </mc:AlternateContent>
      <p:cxnSp>
        <p:nvCxnSpPr>
          <p:cNvPr id="63" name="Straight Connector 62">
            <a:extLst>
              <a:ext uri="{FF2B5EF4-FFF2-40B4-BE49-F238E27FC236}">
                <a16:creationId xmlns:a16="http://schemas.microsoft.com/office/drawing/2014/main" id="{C57EF34E-9B0A-AB46-839F-C5A371B60495}"/>
              </a:ext>
            </a:extLst>
          </p:cNvPr>
          <p:cNvCxnSpPr>
            <a:cxnSpLocks/>
            <a:stCxn id="61" idx="6"/>
            <a:endCxn id="62" idx="2"/>
          </p:cNvCxnSpPr>
          <p:nvPr/>
        </p:nvCxnSpPr>
        <p:spPr>
          <a:xfrm>
            <a:off x="3262179" y="6370193"/>
            <a:ext cx="47401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67" name="Elbow Connector 66">
            <a:extLst>
              <a:ext uri="{FF2B5EF4-FFF2-40B4-BE49-F238E27FC236}">
                <a16:creationId xmlns:a16="http://schemas.microsoft.com/office/drawing/2014/main" id="{D1BCA2C8-8A0F-5045-95C9-B1991DDAEAE2}"/>
              </a:ext>
            </a:extLst>
          </p:cNvPr>
          <p:cNvCxnSpPr>
            <a:stCxn id="52" idx="2"/>
            <a:endCxn id="9" idx="2"/>
          </p:cNvCxnSpPr>
          <p:nvPr/>
        </p:nvCxnSpPr>
        <p:spPr>
          <a:xfrm rot="10800000" flipH="1">
            <a:off x="2843345" y="2716021"/>
            <a:ext cx="525670" cy="1675696"/>
          </a:xfrm>
          <a:prstGeom prst="bentConnector3">
            <a:avLst>
              <a:gd name="adj1" fmla="val -43487"/>
            </a:avLst>
          </a:prstGeom>
        </p:spPr>
        <p:style>
          <a:lnRef idx="1">
            <a:schemeClr val="accent1"/>
          </a:lnRef>
          <a:fillRef idx="0">
            <a:schemeClr val="accent1"/>
          </a:fillRef>
          <a:effectRef idx="0">
            <a:schemeClr val="accent1"/>
          </a:effectRef>
          <a:fontRef idx="minor">
            <a:schemeClr val="tx1"/>
          </a:fontRef>
        </p:style>
      </p:cxnSp>
      <p:cxnSp>
        <p:nvCxnSpPr>
          <p:cNvPr id="68" name="Elbow Connector 67">
            <a:extLst>
              <a:ext uri="{FF2B5EF4-FFF2-40B4-BE49-F238E27FC236}">
                <a16:creationId xmlns:a16="http://schemas.microsoft.com/office/drawing/2014/main" id="{3A76BC69-8101-FC44-9911-2744CD509CA5}"/>
              </a:ext>
            </a:extLst>
          </p:cNvPr>
          <p:cNvCxnSpPr>
            <a:cxnSpLocks/>
            <a:stCxn id="55" idx="2"/>
            <a:endCxn id="9" idx="2"/>
          </p:cNvCxnSpPr>
          <p:nvPr/>
        </p:nvCxnSpPr>
        <p:spPr>
          <a:xfrm rot="10800000" flipH="1">
            <a:off x="2843345" y="2716021"/>
            <a:ext cx="525670" cy="2366430"/>
          </a:xfrm>
          <a:prstGeom prst="bentConnector3">
            <a:avLst>
              <a:gd name="adj1" fmla="val -58483"/>
            </a:avLst>
          </a:prstGeom>
        </p:spPr>
        <p:style>
          <a:lnRef idx="1">
            <a:schemeClr val="accent1"/>
          </a:lnRef>
          <a:fillRef idx="0">
            <a:schemeClr val="accent1"/>
          </a:fillRef>
          <a:effectRef idx="0">
            <a:schemeClr val="accent1"/>
          </a:effectRef>
          <a:fontRef idx="minor">
            <a:schemeClr val="tx1"/>
          </a:fontRef>
        </p:style>
      </p:cxnSp>
      <p:cxnSp>
        <p:nvCxnSpPr>
          <p:cNvPr id="72" name="Elbow Connector 71">
            <a:extLst>
              <a:ext uri="{FF2B5EF4-FFF2-40B4-BE49-F238E27FC236}">
                <a16:creationId xmlns:a16="http://schemas.microsoft.com/office/drawing/2014/main" id="{F3839CFB-091E-3E4E-937D-532F9A1DE2EC}"/>
              </a:ext>
            </a:extLst>
          </p:cNvPr>
          <p:cNvCxnSpPr>
            <a:cxnSpLocks/>
            <a:stCxn id="58" idx="2"/>
            <a:endCxn id="9" idx="2"/>
          </p:cNvCxnSpPr>
          <p:nvPr/>
        </p:nvCxnSpPr>
        <p:spPr>
          <a:xfrm rot="10800000" flipH="1">
            <a:off x="2843345" y="2716021"/>
            <a:ext cx="525670" cy="3025922"/>
          </a:xfrm>
          <a:prstGeom prst="bentConnector3">
            <a:avLst>
              <a:gd name="adj1" fmla="val -79476"/>
            </a:avLst>
          </a:prstGeom>
        </p:spPr>
        <p:style>
          <a:lnRef idx="1">
            <a:schemeClr val="accent1"/>
          </a:lnRef>
          <a:fillRef idx="0">
            <a:schemeClr val="accent1"/>
          </a:fillRef>
          <a:effectRef idx="0">
            <a:schemeClr val="accent1"/>
          </a:effectRef>
          <a:fontRef idx="minor">
            <a:schemeClr val="tx1"/>
          </a:fontRef>
        </p:style>
      </p:cxnSp>
      <p:cxnSp>
        <p:nvCxnSpPr>
          <p:cNvPr id="76" name="Elbow Connector 75">
            <a:extLst>
              <a:ext uri="{FF2B5EF4-FFF2-40B4-BE49-F238E27FC236}">
                <a16:creationId xmlns:a16="http://schemas.microsoft.com/office/drawing/2014/main" id="{A28C89B6-1E47-A847-9075-533718482859}"/>
              </a:ext>
            </a:extLst>
          </p:cNvPr>
          <p:cNvCxnSpPr>
            <a:cxnSpLocks/>
            <a:stCxn id="61" idx="2"/>
            <a:endCxn id="9" idx="2"/>
          </p:cNvCxnSpPr>
          <p:nvPr/>
        </p:nvCxnSpPr>
        <p:spPr>
          <a:xfrm rot="10800000" flipH="1">
            <a:off x="2843345" y="2716021"/>
            <a:ext cx="525670" cy="3654172"/>
          </a:xfrm>
          <a:prstGeom prst="bentConnector3">
            <a:avLst>
              <a:gd name="adj1" fmla="val -107968"/>
            </a:avLst>
          </a:prstGeom>
        </p:spPr>
        <p:style>
          <a:lnRef idx="1">
            <a:schemeClr val="accent1"/>
          </a:lnRef>
          <a:fillRef idx="0">
            <a:schemeClr val="accent1"/>
          </a:fillRef>
          <a:effectRef idx="0">
            <a:schemeClr val="accent1"/>
          </a:effectRef>
          <a:fontRef idx="minor">
            <a:schemeClr val="tx1"/>
          </a:fontRef>
        </p:style>
      </p:cxnSp>
      <p:cxnSp>
        <p:nvCxnSpPr>
          <p:cNvPr id="80" name="Elbow Connector 79">
            <a:extLst>
              <a:ext uri="{FF2B5EF4-FFF2-40B4-BE49-F238E27FC236}">
                <a16:creationId xmlns:a16="http://schemas.microsoft.com/office/drawing/2014/main" id="{69FF6040-0858-DF4D-9421-CAB395A24346}"/>
              </a:ext>
            </a:extLst>
          </p:cNvPr>
          <p:cNvCxnSpPr>
            <a:cxnSpLocks/>
            <a:stCxn id="53" idx="6"/>
            <a:endCxn id="9" idx="6"/>
          </p:cNvCxnSpPr>
          <p:nvPr/>
        </p:nvCxnSpPr>
        <p:spPr>
          <a:xfrm flipH="1" flipV="1">
            <a:off x="3799186" y="2716021"/>
            <a:ext cx="418320" cy="1675696"/>
          </a:xfrm>
          <a:prstGeom prst="bentConnector3">
            <a:avLst>
              <a:gd name="adj1" fmla="val -54647"/>
            </a:avLst>
          </a:prstGeom>
        </p:spPr>
        <p:style>
          <a:lnRef idx="1">
            <a:schemeClr val="accent1"/>
          </a:lnRef>
          <a:fillRef idx="0">
            <a:schemeClr val="accent1"/>
          </a:fillRef>
          <a:effectRef idx="0">
            <a:schemeClr val="accent1"/>
          </a:effectRef>
          <a:fontRef idx="minor">
            <a:schemeClr val="tx1"/>
          </a:fontRef>
        </p:style>
      </p:cxnSp>
      <p:cxnSp>
        <p:nvCxnSpPr>
          <p:cNvPr id="83" name="Elbow Connector 82">
            <a:extLst>
              <a:ext uri="{FF2B5EF4-FFF2-40B4-BE49-F238E27FC236}">
                <a16:creationId xmlns:a16="http://schemas.microsoft.com/office/drawing/2014/main" id="{B3F34CE8-FC5E-CB40-860A-88763B5E7ADE}"/>
              </a:ext>
            </a:extLst>
          </p:cNvPr>
          <p:cNvCxnSpPr>
            <a:cxnSpLocks/>
            <a:stCxn id="56" idx="6"/>
            <a:endCxn id="9" idx="6"/>
          </p:cNvCxnSpPr>
          <p:nvPr/>
        </p:nvCxnSpPr>
        <p:spPr>
          <a:xfrm flipH="1" flipV="1">
            <a:off x="3799186" y="2716021"/>
            <a:ext cx="418320" cy="2366430"/>
          </a:xfrm>
          <a:prstGeom prst="bentConnector3">
            <a:avLst>
              <a:gd name="adj1" fmla="val -99872"/>
            </a:avLst>
          </a:prstGeom>
        </p:spPr>
        <p:style>
          <a:lnRef idx="1">
            <a:schemeClr val="accent1"/>
          </a:lnRef>
          <a:fillRef idx="0">
            <a:schemeClr val="accent1"/>
          </a:fillRef>
          <a:effectRef idx="0">
            <a:schemeClr val="accent1"/>
          </a:effectRef>
          <a:fontRef idx="minor">
            <a:schemeClr val="tx1"/>
          </a:fontRef>
        </p:style>
      </p:cxnSp>
      <p:cxnSp>
        <p:nvCxnSpPr>
          <p:cNvPr id="87" name="Elbow Connector 86">
            <a:extLst>
              <a:ext uri="{FF2B5EF4-FFF2-40B4-BE49-F238E27FC236}">
                <a16:creationId xmlns:a16="http://schemas.microsoft.com/office/drawing/2014/main" id="{4F85A84B-23F3-9248-A891-EA9DE61E8391}"/>
              </a:ext>
            </a:extLst>
          </p:cNvPr>
          <p:cNvCxnSpPr>
            <a:cxnSpLocks/>
            <a:stCxn id="59" idx="6"/>
            <a:endCxn id="9" idx="6"/>
          </p:cNvCxnSpPr>
          <p:nvPr/>
        </p:nvCxnSpPr>
        <p:spPr>
          <a:xfrm flipH="1" flipV="1">
            <a:off x="3799186" y="2716021"/>
            <a:ext cx="418320" cy="3025922"/>
          </a:xfrm>
          <a:prstGeom prst="bentConnector3">
            <a:avLst>
              <a:gd name="adj1" fmla="val -143213"/>
            </a:avLst>
          </a:prstGeom>
        </p:spPr>
        <p:style>
          <a:lnRef idx="1">
            <a:schemeClr val="accent1"/>
          </a:lnRef>
          <a:fillRef idx="0">
            <a:schemeClr val="accent1"/>
          </a:fillRef>
          <a:effectRef idx="0">
            <a:schemeClr val="accent1"/>
          </a:effectRef>
          <a:fontRef idx="minor">
            <a:schemeClr val="tx1"/>
          </a:fontRef>
        </p:style>
      </p:cxnSp>
      <p:cxnSp>
        <p:nvCxnSpPr>
          <p:cNvPr id="91" name="Elbow Connector 90">
            <a:extLst>
              <a:ext uri="{FF2B5EF4-FFF2-40B4-BE49-F238E27FC236}">
                <a16:creationId xmlns:a16="http://schemas.microsoft.com/office/drawing/2014/main" id="{8117B5D6-77C2-534A-BD48-37D9A7DB35F3}"/>
              </a:ext>
            </a:extLst>
          </p:cNvPr>
          <p:cNvCxnSpPr>
            <a:cxnSpLocks/>
            <a:stCxn id="62" idx="6"/>
            <a:endCxn id="9" idx="6"/>
          </p:cNvCxnSpPr>
          <p:nvPr/>
        </p:nvCxnSpPr>
        <p:spPr>
          <a:xfrm flipH="1" flipV="1">
            <a:off x="3799186" y="2716021"/>
            <a:ext cx="418320" cy="3654172"/>
          </a:xfrm>
          <a:prstGeom prst="bentConnector3">
            <a:avLst>
              <a:gd name="adj1" fmla="val -179016"/>
            </a:avLst>
          </a:prstGeom>
        </p:spPr>
        <p:style>
          <a:lnRef idx="1">
            <a:schemeClr val="accent1"/>
          </a:lnRef>
          <a:fillRef idx="0">
            <a:schemeClr val="accent1"/>
          </a:fillRef>
          <a:effectRef idx="0">
            <a:schemeClr val="accent1"/>
          </a:effectRef>
          <a:fontRef idx="minor">
            <a:schemeClr val="tx1"/>
          </a:fontRef>
        </p:style>
      </p:cxnSp>
      <p:sp>
        <p:nvSpPr>
          <p:cNvPr id="95" name="Content Placeholder 2">
            <a:extLst>
              <a:ext uri="{FF2B5EF4-FFF2-40B4-BE49-F238E27FC236}">
                <a16:creationId xmlns:a16="http://schemas.microsoft.com/office/drawing/2014/main" id="{A468CFDD-77EF-2B4C-9073-C7E29947247C}"/>
              </a:ext>
            </a:extLst>
          </p:cNvPr>
          <p:cNvSpPr txBox="1">
            <a:spLocks/>
          </p:cNvSpPr>
          <p:nvPr/>
        </p:nvSpPr>
        <p:spPr>
          <a:xfrm>
            <a:off x="7078717" y="5109009"/>
            <a:ext cx="4059621" cy="1020525"/>
          </a:xfrm>
          <a:prstGeom prst="rect">
            <a:avLst/>
          </a:prstGeom>
          <a:noFill/>
          <a:ln>
            <a:noFill/>
          </a:ln>
        </p:spPr>
        <p:txBody>
          <a:bodyPr vert="horz" lIns="91440" tIns="45720" rIns="91440" bIns="45720" rtlCol="0">
            <a:no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dirty="0">
                <a:solidFill>
                  <a:schemeClr val="tx1">
                    <a:lumMod val="95000"/>
                  </a:schemeClr>
                </a:solidFill>
              </a:rPr>
              <a:t>So far, so good. By assigning every node one of three colors, we can effectively choose which variables to set to True / False!</a:t>
            </a:r>
          </a:p>
        </p:txBody>
      </p:sp>
      <p:cxnSp>
        <p:nvCxnSpPr>
          <p:cNvPr id="96" name="Straight Connector 95">
            <a:extLst>
              <a:ext uri="{FF2B5EF4-FFF2-40B4-BE49-F238E27FC236}">
                <a16:creationId xmlns:a16="http://schemas.microsoft.com/office/drawing/2014/main" id="{3237BCBE-8026-A843-9DC6-3E16011C16D0}"/>
              </a:ext>
            </a:extLst>
          </p:cNvPr>
          <p:cNvCxnSpPr>
            <a:cxnSpLocks/>
          </p:cNvCxnSpPr>
          <p:nvPr/>
        </p:nvCxnSpPr>
        <p:spPr>
          <a:xfrm flipH="1" flipV="1">
            <a:off x="5620407" y="4632375"/>
            <a:ext cx="1458310" cy="868909"/>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34497374"/>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p:cNvSpPr>
                <a:spLocks noGrp="1"/>
              </p:cNvSpPr>
              <p:nvPr>
                <p:ph type="title"/>
              </p:nvPr>
            </p:nvSpPr>
            <p:spPr>
              <a:xfrm>
                <a:off x="1141413" y="192390"/>
                <a:ext cx="9905998" cy="695377"/>
              </a:xfrm>
            </p:spPr>
            <p: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3</m:t>
                      </m:r>
                      <m:r>
                        <a:rPr lang="en-US" b="0" i="1" smtClean="0">
                          <a:latin typeface="Cambria Math" panose="02040503050406030204" pitchFamily="18" charset="0"/>
                        </a:rPr>
                        <m:t>𝑆𝐴𝑇</m:t>
                      </m:r>
                      <m:sSub>
                        <m:sSubPr>
                          <m:ctrlPr>
                            <a:rPr lang="en-US" b="0" i="1" smtClean="0">
                              <a:latin typeface="Cambria Math" panose="02040503050406030204" pitchFamily="18" charset="0"/>
                            </a:rPr>
                          </m:ctrlPr>
                        </m:sSubPr>
                        <m:e>
                          <m:r>
                            <a:rPr lang="en-US" b="0" i="1" smtClean="0">
                              <a:latin typeface="Cambria Math" panose="02040503050406030204" pitchFamily="18" charset="0"/>
                            </a:rPr>
                            <m:t>≤</m:t>
                          </m:r>
                        </m:e>
                        <m:sub>
                          <m:r>
                            <a:rPr lang="en-US" b="0" i="1" smtClean="0">
                              <a:latin typeface="Cambria Math" panose="02040503050406030204" pitchFamily="18" charset="0"/>
                            </a:rPr>
                            <m:t>𝑝</m:t>
                          </m:r>
                        </m:sub>
                      </m:sSub>
                      <m:r>
                        <a:rPr lang="en-US" b="0" i="1" smtClean="0">
                          <a:latin typeface="Cambria Math" panose="02040503050406030204" pitchFamily="18" charset="0"/>
                        </a:rPr>
                        <m:t>3</m:t>
                      </m:r>
                      <m:r>
                        <a:rPr lang="en-US" b="0" i="1" smtClean="0">
                          <a:latin typeface="Cambria Math" panose="02040503050406030204" pitchFamily="18" charset="0"/>
                        </a:rPr>
                        <m:t>𝐶</m:t>
                      </m:r>
                    </m:oMath>
                  </m:oMathPara>
                </a14:m>
                <a:endParaRPr lang="en-US" dirty="0"/>
              </a:p>
            </p:txBody>
          </p:sp>
        </mc:Choice>
        <mc:Fallback xmlns="">
          <p:sp>
            <p:nvSpPr>
              <p:cNvPr id="2" name="Title 1"/>
              <p:cNvSpPr>
                <a:spLocks noGrp="1" noRot="1" noChangeAspect="1" noMove="1" noResize="1" noEditPoints="1" noAdjustHandles="1" noChangeArrowheads="1" noChangeShapeType="1" noTextEdit="1"/>
              </p:cNvSpPr>
              <p:nvPr>
                <p:ph type="title"/>
              </p:nvPr>
            </p:nvSpPr>
            <p:spPr>
              <a:xfrm>
                <a:off x="1141413" y="192390"/>
                <a:ext cx="9905998" cy="695377"/>
              </a:xfrm>
              <a:blipFill>
                <a:blip r:embed="rId2"/>
                <a:stretch>
                  <a:fillRect b="-71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Content Placeholder 2">
                <a:extLst>
                  <a:ext uri="{FF2B5EF4-FFF2-40B4-BE49-F238E27FC236}">
                    <a16:creationId xmlns:a16="http://schemas.microsoft.com/office/drawing/2014/main" id="{3A4FEE7E-EBFB-5E40-9644-716490691FB8}"/>
                  </a:ext>
                </a:extLst>
              </p:cNvPr>
              <p:cNvSpPr txBox="1">
                <a:spLocks/>
              </p:cNvSpPr>
              <p:nvPr/>
            </p:nvSpPr>
            <p:spPr>
              <a:xfrm>
                <a:off x="1016381" y="985416"/>
                <a:ext cx="4696288" cy="630318"/>
              </a:xfrm>
              <a:prstGeom prst="rect">
                <a:avLst/>
              </a:prstGeom>
              <a:noFill/>
              <a:ln>
                <a:solidFill>
                  <a:schemeClr val="accent1"/>
                </a:solidFill>
              </a:ln>
            </p:spPr>
            <p:txBody>
              <a:bodyPr vert="horz" lIns="91440" tIns="45720" rIns="91440" bIns="45720" rtlCol="0">
                <a:no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14:m>
                  <m:oMathPara xmlns:m="http://schemas.openxmlformats.org/officeDocument/2006/math">
                    <m:oMathParaPr>
                      <m:jc m:val="centerGroup"/>
                    </m:oMathParaPr>
                    <m:oMath xmlns:m="http://schemas.openxmlformats.org/officeDocument/2006/math">
                      <m:r>
                        <a:rPr lang="en-US" b="0" i="1" smtClean="0">
                          <a:solidFill>
                            <a:schemeClr val="tx1">
                              <a:lumMod val="95000"/>
                            </a:schemeClr>
                          </a:solidFill>
                          <a:latin typeface="Cambria Math" panose="02040503050406030204" pitchFamily="18" charset="0"/>
                        </a:rPr>
                        <m:t>𝜃</m:t>
                      </m:r>
                      <m:r>
                        <a:rPr lang="en-US" b="0" i="1" smtClean="0">
                          <a:solidFill>
                            <a:schemeClr val="tx1">
                              <a:lumMod val="95000"/>
                            </a:schemeClr>
                          </a:solidFill>
                          <a:latin typeface="Cambria Math" panose="02040503050406030204" pitchFamily="18" charset="0"/>
                        </a:rPr>
                        <m:t>=</m:t>
                      </m:r>
                      <m:d>
                        <m:dPr>
                          <m:ctrlPr>
                            <a:rPr lang="en-US" b="0" i="1" smtClean="0">
                              <a:solidFill>
                                <a:schemeClr val="tx1">
                                  <a:lumMod val="95000"/>
                                </a:schemeClr>
                              </a:solidFill>
                              <a:latin typeface="Cambria Math" panose="02040503050406030204" pitchFamily="18" charset="0"/>
                            </a:rPr>
                          </m:ctrlPr>
                        </m:dPr>
                        <m:e>
                          <m:r>
                            <a:rPr lang="en-US" b="0" i="1" smtClean="0">
                              <a:solidFill>
                                <a:schemeClr val="tx1">
                                  <a:lumMod val="95000"/>
                                </a:schemeClr>
                              </a:solidFill>
                              <a:latin typeface="Cambria Math" panose="02040503050406030204" pitchFamily="18" charset="0"/>
                            </a:rPr>
                            <m:t>𝑢</m:t>
                          </m:r>
                          <m:r>
                            <a:rPr lang="en-US" b="0" i="1" smtClean="0">
                              <a:solidFill>
                                <a:schemeClr val="tx1">
                                  <a:lumMod val="95000"/>
                                </a:schemeClr>
                              </a:solidFill>
                              <a:latin typeface="Cambria Math" panose="02040503050406030204" pitchFamily="18" charset="0"/>
                            </a:rPr>
                            <m:t>∨¬</m:t>
                          </m:r>
                          <m:r>
                            <a:rPr lang="en-US" b="0" i="1" smtClean="0">
                              <a:solidFill>
                                <a:schemeClr val="tx1">
                                  <a:lumMod val="95000"/>
                                </a:schemeClr>
                              </a:solidFill>
                              <a:latin typeface="Cambria Math" panose="02040503050406030204" pitchFamily="18" charset="0"/>
                            </a:rPr>
                            <m:t>𝑣</m:t>
                          </m:r>
                          <m:r>
                            <a:rPr lang="en-US" b="0" i="1" smtClean="0">
                              <a:solidFill>
                                <a:schemeClr val="tx1">
                                  <a:lumMod val="95000"/>
                                </a:schemeClr>
                              </a:solidFill>
                              <a:latin typeface="Cambria Math" panose="02040503050406030204" pitchFamily="18" charset="0"/>
                            </a:rPr>
                            <m:t>∨</m:t>
                          </m:r>
                          <m:r>
                            <a:rPr lang="en-US" b="0" i="1" smtClean="0">
                              <a:solidFill>
                                <a:schemeClr val="tx1">
                                  <a:lumMod val="95000"/>
                                </a:schemeClr>
                              </a:solidFill>
                              <a:latin typeface="Cambria Math" panose="02040503050406030204" pitchFamily="18" charset="0"/>
                            </a:rPr>
                            <m:t>𝑤</m:t>
                          </m:r>
                        </m:e>
                      </m:d>
                      <m:r>
                        <a:rPr lang="en-US" b="0" i="1" smtClean="0">
                          <a:solidFill>
                            <a:schemeClr val="tx1">
                              <a:lumMod val="95000"/>
                            </a:schemeClr>
                          </a:solidFill>
                          <a:latin typeface="Cambria Math" panose="02040503050406030204" pitchFamily="18" charset="0"/>
                        </a:rPr>
                        <m:t>∧(</m:t>
                      </m:r>
                      <m:r>
                        <a:rPr lang="en-US" b="0" i="1" smtClean="0">
                          <a:solidFill>
                            <a:schemeClr val="tx1">
                              <a:lumMod val="95000"/>
                            </a:schemeClr>
                          </a:solidFill>
                          <a:latin typeface="Cambria Math" panose="02040503050406030204" pitchFamily="18" charset="0"/>
                        </a:rPr>
                        <m:t>𝑣</m:t>
                      </m:r>
                      <m:r>
                        <a:rPr lang="en-US" b="0" i="1" smtClean="0">
                          <a:solidFill>
                            <a:schemeClr val="tx1">
                              <a:lumMod val="95000"/>
                            </a:schemeClr>
                          </a:solidFill>
                          <a:latin typeface="Cambria Math" panose="02040503050406030204" pitchFamily="18" charset="0"/>
                        </a:rPr>
                        <m:t>∨</m:t>
                      </m:r>
                      <m:r>
                        <a:rPr lang="en-US" b="0" i="1" smtClean="0">
                          <a:solidFill>
                            <a:schemeClr val="tx1">
                              <a:lumMod val="95000"/>
                            </a:schemeClr>
                          </a:solidFill>
                          <a:latin typeface="Cambria Math" panose="02040503050406030204" pitchFamily="18" charset="0"/>
                        </a:rPr>
                        <m:t>𝑥</m:t>
                      </m:r>
                      <m:r>
                        <a:rPr lang="en-US" b="0" i="1" smtClean="0">
                          <a:solidFill>
                            <a:schemeClr val="tx1">
                              <a:lumMod val="95000"/>
                            </a:schemeClr>
                          </a:solidFill>
                          <a:latin typeface="Cambria Math" panose="02040503050406030204" pitchFamily="18" charset="0"/>
                        </a:rPr>
                        <m:t>∨¬</m:t>
                      </m:r>
                      <m:r>
                        <a:rPr lang="en-US" b="0" i="1" smtClean="0">
                          <a:solidFill>
                            <a:schemeClr val="tx1">
                              <a:lumMod val="95000"/>
                            </a:schemeClr>
                          </a:solidFill>
                          <a:latin typeface="Cambria Math" panose="02040503050406030204" pitchFamily="18" charset="0"/>
                        </a:rPr>
                        <m:t>𝑦</m:t>
                      </m:r>
                      <m:r>
                        <a:rPr lang="en-US" b="0" i="1" smtClean="0">
                          <a:solidFill>
                            <a:schemeClr val="tx1">
                              <a:lumMod val="95000"/>
                            </a:schemeClr>
                          </a:solidFill>
                          <a:latin typeface="Cambria Math" panose="02040503050406030204" pitchFamily="18" charset="0"/>
                        </a:rPr>
                        <m:t>)</m:t>
                      </m:r>
                    </m:oMath>
                  </m:oMathPara>
                </a14:m>
                <a:endParaRPr lang="en-US" dirty="0">
                  <a:solidFill>
                    <a:schemeClr val="tx1">
                      <a:lumMod val="95000"/>
                    </a:schemeClr>
                  </a:solidFill>
                </a:endParaRPr>
              </a:p>
            </p:txBody>
          </p:sp>
        </mc:Choice>
        <mc:Fallback xmlns="">
          <p:sp>
            <p:nvSpPr>
              <p:cNvPr id="37" name="Content Placeholder 2">
                <a:extLst>
                  <a:ext uri="{FF2B5EF4-FFF2-40B4-BE49-F238E27FC236}">
                    <a16:creationId xmlns:a16="http://schemas.microsoft.com/office/drawing/2014/main" id="{3A4FEE7E-EBFB-5E40-9644-716490691FB8}"/>
                  </a:ext>
                </a:extLst>
              </p:cNvPr>
              <p:cNvSpPr txBox="1">
                <a:spLocks noRot="1" noChangeAspect="1" noMove="1" noResize="1" noEditPoints="1" noAdjustHandles="1" noChangeArrowheads="1" noChangeShapeType="1" noTextEdit="1"/>
              </p:cNvSpPr>
              <p:nvPr/>
            </p:nvSpPr>
            <p:spPr>
              <a:xfrm>
                <a:off x="1016381" y="985416"/>
                <a:ext cx="4696288" cy="630318"/>
              </a:xfrm>
              <a:prstGeom prst="rect">
                <a:avLst/>
              </a:prstGeom>
              <a:blipFill>
                <a:blip r:embed="rId3"/>
                <a:stretch>
                  <a:fillRect/>
                </a:stretch>
              </a:blipFill>
              <a:ln>
                <a:solidFill>
                  <a:schemeClr val="accent1"/>
                </a:solidFill>
              </a:ln>
            </p:spPr>
            <p:txBody>
              <a:bodyPr/>
              <a:lstStyle/>
              <a:p>
                <a:r>
                  <a:rPr lang="en-US">
                    <a:noFill/>
                  </a:rPr>
                  <a:t> </a:t>
                </a:r>
              </a:p>
            </p:txBody>
          </p:sp>
        </mc:Fallback>
      </mc:AlternateContent>
      <p:sp>
        <p:nvSpPr>
          <p:cNvPr id="12" name="Content Placeholder 2">
            <a:extLst>
              <a:ext uri="{FF2B5EF4-FFF2-40B4-BE49-F238E27FC236}">
                <a16:creationId xmlns:a16="http://schemas.microsoft.com/office/drawing/2014/main" id="{7E1AFE59-E301-5E42-BAE8-A0AEB2A7A9B9}"/>
              </a:ext>
            </a:extLst>
          </p:cNvPr>
          <p:cNvSpPr txBox="1">
            <a:spLocks/>
          </p:cNvSpPr>
          <p:nvPr/>
        </p:nvSpPr>
        <p:spPr>
          <a:xfrm>
            <a:off x="5965791" y="985418"/>
            <a:ext cx="5584053" cy="851266"/>
          </a:xfrm>
          <a:prstGeom prst="rect">
            <a:avLst/>
          </a:prstGeom>
          <a:noFill/>
          <a:ln>
            <a:solidFill>
              <a:schemeClr val="accent1"/>
            </a:solidFill>
          </a:ln>
        </p:spPr>
        <p:txBody>
          <a:bodyPr vert="horz" lIns="91440" tIns="45720" rIns="91440" bIns="45720" rtlCol="0">
            <a:no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dirty="0">
                <a:solidFill>
                  <a:schemeClr val="tx1">
                    <a:lumMod val="95000"/>
                  </a:schemeClr>
                </a:solidFill>
              </a:rPr>
              <a:t>The graph we construct needs to:</a:t>
            </a:r>
            <a:endParaRPr lang="en-US" sz="1600" b="1" i="1" u="sng" dirty="0">
              <a:solidFill>
                <a:schemeClr val="tx1">
                  <a:lumMod val="95000"/>
                </a:schemeClr>
              </a:solidFill>
            </a:endParaRPr>
          </a:p>
          <a:p>
            <a:pPr marL="0" indent="0">
              <a:buFont typeface="Arial" panose="020B0604020202020204" pitchFamily="34" charset="0"/>
              <a:buNone/>
            </a:pPr>
            <a:r>
              <a:rPr lang="en-US" sz="1600" dirty="0">
                <a:solidFill>
                  <a:schemeClr val="tx1">
                    <a:lumMod val="95000"/>
                  </a:schemeClr>
                </a:solidFill>
              </a:rPr>
              <a:t>- </a:t>
            </a:r>
            <a:r>
              <a:rPr lang="en-US" sz="1600" b="1" i="1" u="sng" dirty="0">
                <a:solidFill>
                  <a:schemeClr val="tx1">
                    <a:lumMod val="95000"/>
                  </a:schemeClr>
                </a:solidFill>
              </a:rPr>
              <a:t>Model the fact that at least one variable per clause must be chosen.</a:t>
            </a:r>
          </a:p>
        </p:txBody>
      </p:sp>
      <p:sp>
        <p:nvSpPr>
          <p:cNvPr id="38" name="Oval 37">
            <a:extLst>
              <a:ext uri="{FF2B5EF4-FFF2-40B4-BE49-F238E27FC236}">
                <a16:creationId xmlns:a16="http://schemas.microsoft.com/office/drawing/2014/main" id="{3FEA861B-AAE0-9747-9133-793334A5D7B1}"/>
              </a:ext>
            </a:extLst>
          </p:cNvPr>
          <p:cNvSpPr/>
          <p:nvPr/>
        </p:nvSpPr>
        <p:spPr>
          <a:xfrm>
            <a:off x="3633146" y="2515420"/>
            <a:ext cx="397193" cy="397193"/>
          </a:xfrm>
          <a:prstGeom prst="ellipse">
            <a:avLst/>
          </a:prstGeom>
          <a:solidFill>
            <a:schemeClr val="tx1">
              <a:lumMod val="9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cxnSp>
        <p:nvCxnSpPr>
          <p:cNvPr id="41" name="Straight Connector 40">
            <a:extLst>
              <a:ext uri="{FF2B5EF4-FFF2-40B4-BE49-F238E27FC236}">
                <a16:creationId xmlns:a16="http://schemas.microsoft.com/office/drawing/2014/main" id="{4629004D-838F-6147-841C-1AF8333CA8B9}"/>
              </a:ext>
            </a:extLst>
          </p:cNvPr>
          <p:cNvCxnSpPr>
            <a:cxnSpLocks/>
            <a:stCxn id="38" idx="4"/>
            <a:endCxn id="64" idx="0"/>
          </p:cNvCxnSpPr>
          <p:nvPr/>
        </p:nvCxnSpPr>
        <p:spPr>
          <a:xfrm>
            <a:off x="3831743" y="2912613"/>
            <a:ext cx="4611" cy="274423"/>
          </a:xfrm>
          <a:prstGeom prst="line">
            <a:avLst/>
          </a:prstGeom>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EBD90386-7E5A-DA48-83CF-EE364635BE18}"/>
              </a:ext>
            </a:extLst>
          </p:cNvPr>
          <p:cNvCxnSpPr>
            <a:cxnSpLocks/>
            <a:stCxn id="65" idx="3"/>
            <a:endCxn id="64" idx="6"/>
          </p:cNvCxnSpPr>
          <p:nvPr/>
        </p:nvCxnSpPr>
        <p:spPr>
          <a:xfrm flipH="1">
            <a:off x="4034950" y="3165635"/>
            <a:ext cx="316387" cy="219998"/>
          </a:xfrm>
          <a:prstGeom prst="line">
            <a:avLst/>
          </a:prstGeom>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98AEEE24-94EC-954B-A0E2-268B7E9FC0CB}"/>
              </a:ext>
            </a:extLst>
          </p:cNvPr>
          <p:cNvCxnSpPr>
            <a:cxnSpLocks/>
            <a:stCxn id="65" idx="1"/>
            <a:endCxn id="38" idx="6"/>
          </p:cNvCxnSpPr>
          <p:nvPr/>
        </p:nvCxnSpPr>
        <p:spPr>
          <a:xfrm flipH="1" flipV="1">
            <a:off x="4030339" y="2714017"/>
            <a:ext cx="320998" cy="170761"/>
          </a:xfrm>
          <a:prstGeom prst="line">
            <a:avLst/>
          </a:prstGeom>
        </p:spPr>
        <p:style>
          <a:lnRef idx="1">
            <a:schemeClr val="accent1"/>
          </a:lnRef>
          <a:fillRef idx="0">
            <a:schemeClr val="accent1"/>
          </a:fillRef>
          <a:effectRef idx="0">
            <a:schemeClr val="accent1"/>
          </a:effectRef>
          <a:fontRef idx="minor">
            <a:schemeClr val="tx1"/>
          </a:fontRef>
        </p:style>
      </p:cxnSp>
      <p:sp>
        <p:nvSpPr>
          <p:cNvPr id="64" name="Oval 63">
            <a:extLst>
              <a:ext uri="{FF2B5EF4-FFF2-40B4-BE49-F238E27FC236}">
                <a16:creationId xmlns:a16="http://schemas.microsoft.com/office/drawing/2014/main" id="{D7F6B5DA-5EF5-CD49-BBE6-F0974422D33F}"/>
              </a:ext>
            </a:extLst>
          </p:cNvPr>
          <p:cNvSpPr/>
          <p:nvPr/>
        </p:nvSpPr>
        <p:spPr>
          <a:xfrm>
            <a:off x="3637757" y="3187036"/>
            <a:ext cx="397193" cy="397193"/>
          </a:xfrm>
          <a:prstGeom prst="ellipse">
            <a:avLst/>
          </a:prstGeom>
          <a:solidFill>
            <a:schemeClr val="tx1">
              <a:lumMod val="9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65" name="Oval 64">
            <a:extLst>
              <a:ext uri="{FF2B5EF4-FFF2-40B4-BE49-F238E27FC236}">
                <a16:creationId xmlns:a16="http://schemas.microsoft.com/office/drawing/2014/main" id="{53735A6F-F65E-8744-BD40-2CB9F36FA48A}"/>
              </a:ext>
            </a:extLst>
          </p:cNvPr>
          <p:cNvSpPr/>
          <p:nvPr/>
        </p:nvSpPr>
        <p:spPr>
          <a:xfrm>
            <a:off x="4286189" y="2826610"/>
            <a:ext cx="444858" cy="397193"/>
          </a:xfrm>
          <a:prstGeom prst="ellipse">
            <a:avLst/>
          </a:prstGeom>
          <a:solidFill>
            <a:schemeClr val="tx1">
              <a:lumMod val="9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800" dirty="0">
                <a:solidFill>
                  <a:schemeClr val="bg1"/>
                </a:solidFill>
              </a:rPr>
              <a:t>out</a:t>
            </a:r>
          </a:p>
        </p:txBody>
      </p:sp>
      <p:cxnSp>
        <p:nvCxnSpPr>
          <p:cNvPr id="66" name="Straight Connector 65">
            <a:extLst>
              <a:ext uri="{FF2B5EF4-FFF2-40B4-BE49-F238E27FC236}">
                <a16:creationId xmlns:a16="http://schemas.microsoft.com/office/drawing/2014/main" id="{51DBB513-E386-3249-8CF6-549EA7A9CBE1}"/>
              </a:ext>
            </a:extLst>
          </p:cNvPr>
          <p:cNvCxnSpPr>
            <a:cxnSpLocks/>
            <a:endCxn id="65" idx="6"/>
          </p:cNvCxnSpPr>
          <p:nvPr/>
        </p:nvCxnSpPr>
        <p:spPr>
          <a:xfrm flipH="1">
            <a:off x="4731047" y="3025206"/>
            <a:ext cx="330318" cy="1"/>
          </a:xfrm>
          <a:prstGeom prst="line">
            <a:avLst/>
          </a:prstGeom>
        </p:spPr>
        <p:style>
          <a:lnRef idx="1">
            <a:schemeClr val="accent1"/>
          </a:lnRef>
          <a:fillRef idx="0">
            <a:schemeClr val="accent1"/>
          </a:fillRef>
          <a:effectRef idx="0">
            <a:schemeClr val="accent1"/>
          </a:effectRef>
          <a:fontRef idx="minor">
            <a:schemeClr val="tx1"/>
          </a:fontRef>
        </p:style>
      </p:cxnSp>
      <p:sp>
        <p:nvSpPr>
          <p:cNvPr id="69" name="Content Placeholder 2">
            <a:extLst>
              <a:ext uri="{FF2B5EF4-FFF2-40B4-BE49-F238E27FC236}">
                <a16:creationId xmlns:a16="http://schemas.microsoft.com/office/drawing/2014/main" id="{73677A56-F559-4D42-8A7D-10921F7B982A}"/>
              </a:ext>
            </a:extLst>
          </p:cNvPr>
          <p:cNvSpPr txBox="1">
            <a:spLocks/>
          </p:cNvSpPr>
          <p:nvPr/>
        </p:nvSpPr>
        <p:spPr>
          <a:xfrm>
            <a:off x="5182393" y="2471215"/>
            <a:ext cx="4401312" cy="1122065"/>
          </a:xfrm>
          <a:prstGeom prst="rect">
            <a:avLst/>
          </a:prstGeom>
          <a:noFill/>
          <a:ln>
            <a:solidFill>
              <a:schemeClr val="tx1">
                <a:lumMod val="95000"/>
              </a:schemeClr>
            </a:solidFill>
          </a:ln>
        </p:spPr>
        <p:txBody>
          <a:bodyPr vert="horz" lIns="91440" tIns="45720" rIns="91440" bIns="45720" rtlCol="0">
            <a:no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400" b="1" i="1" u="sng" dirty="0">
                <a:solidFill>
                  <a:schemeClr val="tx1">
                    <a:lumMod val="95000"/>
                  </a:schemeClr>
                </a:solidFill>
              </a:rPr>
              <a:t>Claim</a:t>
            </a:r>
            <a:r>
              <a:rPr lang="en-US" sz="1400" dirty="0">
                <a:solidFill>
                  <a:schemeClr val="tx1">
                    <a:lumMod val="95000"/>
                  </a:schemeClr>
                </a:solidFill>
              </a:rPr>
              <a:t>:</a:t>
            </a:r>
            <a:br>
              <a:rPr lang="en-US" sz="1400" dirty="0">
                <a:solidFill>
                  <a:schemeClr val="tx1">
                    <a:lumMod val="95000"/>
                  </a:schemeClr>
                </a:solidFill>
              </a:rPr>
            </a:br>
            <a:r>
              <a:rPr lang="en-US" sz="1400" dirty="0">
                <a:solidFill>
                  <a:schemeClr val="tx1">
                    <a:lumMod val="95000"/>
                  </a:schemeClr>
                </a:solidFill>
              </a:rPr>
              <a:t>Three fully-connected nodes can act as an OR gate. The output node can be colored with the True color IFF at least one of the input nodes is colored with the true color.</a:t>
            </a:r>
          </a:p>
        </p:txBody>
      </p:sp>
      <p:sp>
        <p:nvSpPr>
          <p:cNvPr id="70" name="Content Placeholder 2">
            <a:extLst>
              <a:ext uri="{FF2B5EF4-FFF2-40B4-BE49-F238E27FC236}">
                <a16:creationId xmlns:a16="http://schemas.microsoft.com/office/drawing/2014/main" id="{0427819E-6203-8E40-8DE4-D7949F8FDD0F}"/>
              </a:ext>
            </a:extLst>
          </p:cNvPr>
          <p:cNvSpPr txBox="1">
            <a:spLocks/>
          </p:cNvSpPr>
          <p:nvPr/>
        </p:nvSpPr>
        <p:spPr>
          <a:xfrm>
            <a:off x="1890441" y="4609508"/>
            <a:ext cx="2656444" cy="1490873"/>
          </a:xfrm>
          <a:prstGeom prst="rect">
            <a:avLst/>
          </a:prstGeom>
          <a:noFill/>
          <a:ln>
            <a:solidFill>
              <a:schemeClr val="tx1">
                <a:lumMod val="95000"/>
              </a:schemeClr>
            </a:solidFill>
          </a:ln>
        </p:spPr>
        <p:txBody>
          <a:bodyPr vert="horz" lIns="91440" tIns="45720" rIns="91440" bIns="45720" rtlCol="0">
            <a:no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endParaRPr lang="en-US" sz="1600" dirty="0">
              <a:solidFill>
                <a:schemeClr val="tx1">
                  <a:lumMod val="95000"/>
                </a:schemeClr>
              </a:solidFill>
            </a:endParaRPr>
          </a:p>
        </p:txBody>
      </p:sp>
      <p:sp>
        <p:nvSpPr>
          <p:cNvPr id="73" name="Oval 72">
            <a:extLst>
              <a:ext uri="{FF2B5EF4-FFF2-40B4-BE49-F238E27FC236}">
                <a16:creationId xmlns:a16="http://schemas.microsoft.com/office/drawing/2014/main" id="{6356BE84-CF92-B945-BCE7-3CA63AE0CFCC}"/>
              </a:ext>
            </a:extLst>
          </p:cNvPr>
          <p:cNvSpPr/>
          <p:nvPr/>
        </p:nvSpPr>
        <p:spPr>
          <a:xfrm>
            <a:off x="2622259" y="2521198"/>
            <a:ext cx="397193" cy="397193"/>
          </a:xfrm>
          <a:prstGeom prst="ellipse">
            <a:avLst/>
          </a:prstGeom>
          <a:solidFill>
            <a:schemeClr val="tx1">
              <a:lumMod val="9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800" dirty="0">
                <a:solidFill>
                  <a:schemeClr val="bg1"/>
                </a:solidFill>
              </a:rPr>
              <a:t>In 1</a:t>
            </a:r>
          </a:p>
        </p:txBody>
      </p:sp>
      <p:sp>
        <p:nvSpPr>
          <p:cNvPr id="74" name="Oval 73">
            <a:extLst>
              <a:ext uri="{FF2B5EF4-FFF2-40B4-BE49-F238E27FC236}">
                <a16:creationId xmlns:a16="http://schemas.microsoft.com/office/drawing/2014/main" id="{A147AC91-5A08-2346-95F7-4141137120CC}"/>
              </a:ext>
            </a:extLst>
          </p:cNvPr>
          <p:cNvSpPr/>
          <p:nvPr/>
        </p:nvSpPr>
        <p:spPr>
          <a:xfrm>
            <a:off x="2626870" y="3192814"/>
            <a:ext cx="397193" cy="397193"/>
          </a:xfrm>
          <a:prstGeom prst="ellipse">
            <a:avLst/>
          </a:prstGeom>
          <a:solidFill>
            <a:schemeClr val="tx1">
              <a:lumMod val="9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800" dirty="0">
                <a:solidFill>
                  <a:schemeClr val="bg1"/>
                </a:solidFill>
              </a:rPr>
              <a:t>In 2</a:t>
            </a:r>
          </a:p>
        </p:txBody>
      </p:sp>
      <p:cxnSp>
        <p:nvCxnSpPr>
          <p:cNvPr id="75" name="Straight Connector 74">
            <a:extLst>
              <a:ext uri="{FF2B5EF4-FFF2-40B4-BE49-F238E27FC236}">
                <a16:creationId xmlns:a16="http://schemas.microsoft.com/office/drawing/2014/main" id="{098CF43E-029C-0F47-9CF1-214BC388EB6F}"/>
              </a:ext>
            </a:extLst>
          </p:cNvPr>
          <p:cNvCxnSpPr>
            <a:cxnSpLocks/>
            <a:stCxn id="38" idx="2"/>
            <a:endCxn id="73" idx="6"/>
          </p:cNvCxnSpPr>
          <p:nvPr/>
        </p:nvCxnSpPr>
        <p:spPr>
          <a:xfrm flipH="1">
            <a:off x="3019452" y="2714017"/>
            <a:ext cx="613694" cy="5778"/>
          </a:xfrm>
          <a:prstGeom prst="line">
            <a:avLst/>
          </a:prstGeom>
        </p:spPr>
        <p:style>
          <a:lnRef idx="1">
            <a:schemeClr val="accent1"/>
          </a:lnRef>
          <a:fillRef idx="0">
            <a:schemeClr val="accent1"/>
          </a:fillRef>
          <a:effectRef idx="0">
            <a:schemeClr val="accent1"/>
          </a:effectRef>
          <a:fontRef idx="minor">
            <a:schemeClr val="tx1"/>
          </a:fontRef>
        </p:style>
      </p:cxnSp>
      <p:cxnSp>
        <p:nvCxnSpPr>
          <p:cNvPr id="77" name="Straight Connector 76">
            <a:extLst>
              <a:ext uri="{FF2B5EF4-FFF2-40B4-BE49-F238E27FC236}">
                <a16:creationId xmlns:a16="http://schemas.microsoft.com/office/drawing/2014/main" id="{A3DF2BD0-8B41-E846-96EB-82CE86390DB6}"/>
              </a:ext>
            </a:extLst>
          </p:cNvPr>
          <p:cNvCxnSpPr>
            <a:cxnSpLocks/>
            <a:stCxn id="64" idx="2"/>
            <a:endCxn id="74" idx="6"/>
          </p:cNvCxnSpPr>
          <p:nvPr/>
        </p:nvCxnSpPr>
        <p:spPr>
          <a:xfrm flipH="1">
            <a:off x="3024063" y="3385633"/>
            <a:ext cx="613694" cy="5778"/>
          </a:xfrm>
          <a:prstGeom prst="line">
            <a:avLst/>
          </a:prstGeom>
        </p:spPr>
        <p:style>
          <a:lnRef idx="1">
            <a:schemeClr val="accent1"/>
          </a:lnRef>
          <a:fillRef idx="0">
            <a:schemeClr val="accent1"/>
          </a:fillRef>
          <a:effectRef idx="0">
            <a:schemeClr val="accent1"/>
          </a:effectRef>
          <a:fontRef idx="minor">
            <a:schemeClr val="tx1"/>
          </a:fontRef>
        </p:style>
      </p:cxnSp>
      <p:sp>
        <p:nvSpPr>
          <p:cNvPr id="81" name="Content Placeholder 2">
            <a:extLst>
              <a:ext uri="{FF2B5EF4-FFF2-40B4-BE49-F238E27FC236}">
                <a16:creationId xmlns:a16="http://schemas.microsoft.com/office/drawing/2014/main" id="{CC2080DE-DB5D-9441-95A6-F1462E619581}"/>
              </a:ext>
            </a:extLst>
          </p:cNvPr>
          <p:cNvSpPr txBox="1">
            <a:spLocks/>
          </p:cNvSpPr>
          <p:nvPr/>
        </p:nvSpPr>
        <p:spPr>
          <a:xfrm>
            <a:off x="1890440" y="4333150"/>
            <a:ext cx="2656445" cy="280391"/>
          </a:xfrm>
          <a:prstGeom prst="rect">
            <a:avLst/>
          </a:prstGeom>
          <a:noFill/>
          <a:ln>
            <a:noFill/>
          </a:ln>
        </p:spPr>
        <p:txBody>
          <a:bodyPr vert="horz" lIns="91440" tIns="45720" rIns="91440" bIns="45720" rtlCol="0">
            <a:no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400" dirty="0">
                <a:solidFill>
                  <a:schemeClr val="tx1">
                    <a:lumMod val="95000"/>
                  </a:schemeClr>
                </a:solidFill>
              </a:rPr>
              <a:t>True / True</a:t>
            </a:r>
          </a:p>
        </p:txBody>
      </p:sp>
      <p:sp>
        <p:nvSpPr>
          <p:cNvPr id="82" name="Oval 81">
            <a:extLst>
              <a:ext uri="{FF2B5EF4-FFF2-40B4-BE49-F238E27FC236}">
                <a16:creationId xmlns:a16="http://schemas.microsoft.com/office/drawing/2014/main" id="{D20D9334-CC1C-8F4C-A1A2-6E842B377580}"/>
              </a:ext>
            </a:extLst>
          </p:cNvPr>
          <p:cNvSpPr/>
          <p:nvPr/>
        </p:nvSpPr>
        <p:spPr>
          <a:xfrm>
            <a:off x="3005156" y="4797087"/>
            <a:ext cx="397193" cy="397193"/>
          </a:xfrm>
          <a:prstGeom prst="ellipse">
            <a:avLst/>
          </a:prstGeom>
          <a:solidFill>
            <a:schemeClr val="accent4">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bg1"/>
                </a:solidFill>
              </a:rPr>
              <a:t>F</a:t>
            </a:r>
          </a:p>
        </p:txBody>
      </p:sp>
      <p:cxnSp>
        <p:nvCxnSpPr>
          <p:cNvPr id="84" name="Straight Connector 83">
            <a:extLst>
              <a:ext uri="{FF2B5EF4-FFF2-40B4-BE49-F238E27FC236}">
                <a16:creationId xmlns:a16="http://schemas.microsoft.com/office/drawing/2014/main" id="{332E152F-E5F7-7747-AD12-EEAA01CEE66D}"/>
              </a:ext>
            </a:extLst>
          </p:cNvPr>
          <p:cNvCxnSpPr>
            <a:cxnSpLocks/>
            <a:stCxn id="82" idx="4"/>
            <a:endCxn id="88" idx="0"/>
          </p:cNvCxnSpPr>
          <p:nvPr/>
        </p:nvCxnSpPr>
        <p:spPr>
          <a:xfrm>
            <a:off x="3203753" y="5194280"/>
            <a:ext cx="4611" cy="274423"/>
          </a:xfrm>
          <a:prstGeom prst="line">
            <a:avLst/>
          </a:prstGeom>
        </p:spPr>
        <p:style>
          <a:lnRef idx="1">
            <a:schemeClr val="accent1"/>
          </a:lnRef>
          <a:fillRef idx="0">
            <a:schemeClr val="accent1"/>
          </a:fillRef>
          <a:effectRef idx="0">
            <a:schemeClr val="accent1"/>
          </a:effectRef>
          <a:fontRef idx="minor">
            <a:schemeClr val="tx1"/>
          </a:fontRef>
        </p:style>
      </p:cxnSp>
      <p:cxnSp>
        <p:nvCxnSpPr>
          <p:cNvPr id="85" name="Straight Connector 84">
            <a:extLst>
              <a:ext uri="{FF2B5EF4-FFF2-40B4-BE49-F238E27FC236}">
                <a16:creationId xmlns:a16="http://schemas.microsoft.com/office/drawing/2014/main" id="{249C72EC-8EB6-E74F-84F8-14BF403028E6}"/>
              </a:ext>
            </a:extLst>
          </p:cNvPr>
          <p:cNvCxnSpPr>
            <a:cxnSpLocks/>
            <a:stCxn id="89" idx="3"/>
            <a:endCxn id="88" idx="6"/>
          </p:cNvCxnSpPr>
          <p:nvPr/>
        </p:nvCxnSpPr>
        <p:spPr>
          <a:xfrm flipH="1">
            <a:off x="3406960" y="5447302"/>
            <a:ext cx="316387" cy="219998"/>
          </a:xfrm>
          <a:prstGeom prst="line">
            <a:avLst/>
          </a:prstGeom>
        </p:spPr>
        <p:style>
          <a:lnRef idx="1">
            <a:schemeClr val="accent1"/>
          </a:lnRef>
          <a:fillRef idx="0">
            <a:schemeClr val="accent1"/>
          </a:fillRef>
          <a:effectRef idx="0">
            <a:schemeClr val="accent1"/>
          </a:effectRef>
          <a:fontRef idx="minor">
            <a:schemeClr val="tx1"/>
          </a:fontRef>
        </p:style>
      </p:cxnSp>
      <p:cxnSp>
        <p:nvCxnSpPr>
          <p:cNvPr id="86" name="Straight Connector 85">
            <a:extLst>
              <a:ext uri="{FF2B5EF4-FFF2-40B4-BE49-F238E27FC236}">
                <a16:creationId xmlns:a16="http://schemas.microsoft.com/office/drawing/2014/main" id="{F2E77E7F-9198-F946-94EB-B7FACF611CE2}"/>
              </a:ext>
            </a:extLst>
          </p:cNvPr>
          <p:cNvCxnSpPr>
            <a:cxnSpLocks/>
            <a:stCxn id="89" idx="1"/>
            <a:endCxn id="82" idx="6"/>
          </p:cNvCxnSpPr>
          <p:nvPr/>
        </p:nvCxnSpPr>
        <p:spPr>
          <a:xfrm flipH="1" flipV="1">
            <a:off x="3402349" y="4995684"/>
            <a:ext cx="320998" cy="170761"/>
          </a:xfrm>
          <a:prstGeom prst="line">
            <a:avLst/>
          </a:prstGeom>
        </p:spPr>
        <p:style>
          <a:lnRef idx="1">
            <a:schemeClr val="accent1"/>
          </a:lnRef>
          <a:fillRef idx="0">
            <a:schemeClr val="accent1"/>
          </a:fillRef>
          <a:effectRef idx="0">
            <a:schemeClr val="accent1"/>
          </a:effectRef>
          <a:fontRef idx="minor">
            <a:schemeClr val="tx1"/>
          </a:fontRef>
        </p:style>
      </p:cxnSp>
      <p:sp>
        <p:nvSpPr>
          <p:cNvPr id="88" name="Oval 87">
            <a:extLst>
              <a:ext uri="{FF2B5EF4-FFF2-40B4-BE49-F238E27FC236}">
                <a16:creationId xmlns:a16="http://schemas.microsoft.com/office/drawing/2014/main" id="{D23FF0DD-9CAB-3D43-BF80-E1C0A9B164E0}"/>
              </a:ext>
            </a:extLst>
          </p:cNvPr>
          <p:cNvSpPr/>
          <p:nvPr/>
        </p:nvSpPr>
        <p:spPr>
          <a:xfrm>
            <a:off x="3009767" y="5468703"/>
            <a:ext cx="397193" cy="397193"/>
          </a:xfrm>
          <a:prstGeom prst="ellipse">
            <a:avLst/>
          </a:prstGeom>
          <a:solidFill>
            <a:schemeClr val="accent2">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bg1"/>
                </a:solidFill>
              </a:rPr>
              <a:t>N</a:t>
            </a:r>
          </a:p>
        </p:txBody>
      </p:sp>
      <p:sp>
        <p:nvSpPr>
          <p:cNvPr id="89" name="Oval 88">
            <a:extLst>
              <a:ext uri="{FF2B5EF4-FFF2-40B4-BE49-F238E27FC236}">
                <a16:creationId xmlns:a16="http://schemas.microsoft.com/office/drawing/2014/main" id="{4A75D7BA-1399-CD43-9860-69CCAA3594A9}"/>
              </a:ext>
            </a:extLst>
          </p:cNvPr>
          <p:cNvSpPr/>
          <p:nvPr/>
        </p:nvSpPr>
        <p:spPr>
          <a:xfrm>
            <a:off x="3658199" y="5108277"/>
            <a:ext cx="444858" cy="397193"/>
          </a:xfrm>
          <a:prstGeom prst="ellipse">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bg1"/>
                </a:solidFill>
              </a:rPr>
              <a:t>T</a:t>
            </a:r>
          </a:p>
        </p:txBody>
      </p:sp>
      <p:cxnSp>
        <p:nvCxnSpPr>
          <p:cNvPr id="90" name="Straight Connector 89">
            <a:extLst>
              <a:ext uri="{FF2B5EF4-FFF2-40B4-BE49-F238E27FC236}">
                <a16:creationId xmlns:a16="http://schemas.microsoft.com/office/drawing/2014/main" id="{512F9AF3-BC78-8449-A032-37D1ADF711BE}"/>
              </a:ext>
            </a:extLst>
          </p:cNvPr>
          <p:cNvCxnSpPr>
            <a:cxnSpLocks/>
            <a:endCxn id="89" idx="6"/>
          </p:cNvCxnSpPr>
          <p:nvPr/>
        </p:nvCxnSpPr>
        <p:spPr>
          <a:xfrm flipH="1">
            <a:off x="4103057" y="5306873"/>
            <a:ext cx="330318" cy="1"/>
          </a:xfrm>
          <a:prstGeom prst="line">
            <a:avLst/>
          </a:prstGeom>
        </p:spPr>
        <p:style>
          <a:lnRef idx="1">
            <a:schemeClr val="accent1"/>
          </a:lnRef>
          <a:fillRef idx="0">
            <a:schemeClr val="accent1"/>
          </a:fillRef>
          <a:effectRef idx="0">
            <a:schemeClr val="accent1"/>
          </a:effectRef>
          <a:fontRef idx="minor">
            <a:schemeClr val="tx1"/>
          </a:fontRef>
        </p:style>
      </p:cxnSp>
      <p:sp>
        <p:nvSpPr>
          <p:cNvPr id="92" name="Oval 91">
            <a:extLst>
              <a:ext uri="{FF2B5EF4-FFF2-40B4-BE49-F238E27FC236}">
                <a16:creationId xmlns:a16="http://schemas.microsoft.com/office/drawing/2014/main" id="{8A5FE4F1-B572-7A41-8EC5-8F8AE6860101}"/>
              </a:ext>
            </a:extLst>
          </p:cNvPr>
          <p:cNvSpPr/>
          <p:nvPr/>
        </p:nvSpPr>
        <p:spPr>
          <a:xfrm>
            <a:off x="1994269" y="4802865"/>
            <a:ext cx="397193" cy="39719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bg1"/>
                </a:solidFill>
              </a:rPr>
              <a:t>T</a:t>
            </a:r>
          </a:p>
        </p:txBody>
      </p:sp>
      <p:sp>
        <p:nvSpPr>
          <p:cNvPr id="93" name="Oval 92">
            <a:extLst>
              <a:ext uri="{FF2B5EF4-FFF2-40B4-BE49-F238E27FC236}">
                <a16:creationId xmlns:a16="http://schemas.microsoft.com/office/drawing/2014/main" id="{5D7D9142-4555-5949-B2E9-1600EEED5E4D}"/>
              </a:ext>
            </a:extLst>
          </p:cNvPr>
          <p:cNvSpPr/>
          <p:nvPr/>
        </p:nvSpPr>
        <p:spPr>
          <a:xfrm>
            <a:off x="1998880" y="5474481"/>
            <a:ext cx="397193" cy="39719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bg1"/>
                </a:solidFill>
              </a:rPr>
              <a:t>T</a:t>
            </a:r>
          </a:p>
        </p:txBody>
      </p:sp>
      <p:cxnSp>
        <p:nvCxnSpPr>
          <p:cNvPr id="94" name="Straight Connector 93">
            <a:extLst>
              <a:ext uri="{FF2B5EF4-FFF2-40B4-BE49-F238E27FC236}">
                <a16:creationId xmlns:a16="http://schemas.microsoft.com/office/drawing/2014/main" id="{DA9B48EA-ED3A-494B-B2A2-16E9B262FECB}"/>
              </a:ext>
            </a:extLst>
          </p:cNvPr>
          <p:cNvCxnSpPr>
            <a:cxnSpLocks/>
            <a:stCxn id="82" idx="2"/>
            <a:endCxn id="92" idx="6"/>
          </p:cNvCxnSpPr>
          <p:nvPr/>
        </p:nvCxnSpPr>
        <p:spPr>
          <a:xfrm flipH="1">
            <a:off x="2391462" y="4995684"/>
            <a:ext cx="613694" cy="5778"/>
          </a:xfrm>
          <a:prstGeom prst="line">
            <a:avLst/>
          </a:prstGeom>
        </p:spPr>
        <p:style>
          <a:lnRef idx="1">
            <a:schemeClr val="accent1"/>
          </a:lnRef>
          <a:fillRef idx="0">
            <a:schemeClr val="accent1"/>
          </a:fillRef>
          <a:effectRef idx="0">
            <a:schemeClr val="accent1"/>
          </a:effectRef>
          <a:fontRef idx="minor">
            <a:schemeClr val="tx1"/>
          </a:fontRef>
        </p:style>
      </p:cxnSp>
      <p:cxnSp>
        <p:nvCxnSpPr>
          <p:cNvPr id="97" name="Straight Connector 96">
            <a:extLst>
              <a:ext uri="{FF2B5EF4-FFF2-40B4-BE49-F238E27FC236}">
                <a16:creationId xmlns:a16="http://schemas.microsoft.com/office/drawing/2014/main" id="{C2190F67-352B-2E49-BB05-7644CE425A12}"/>
              </a:ext>
            </a:extLst>
          </p:cNvPr>
          <p:cNvCxnSpPr>
            <a:cxnSpLocks/>
            <a:stCxn id="88" idx="2"/>
            <a:endCxn id="93" idx="6"/>
          </p:cNvCxnSpPr>
          <p:nvPr/>
        </p:nvCxnSpPr>
        <p:spPr>
          <a:xfrm flipH="1">
            <a:off x="2396073" y="5667300"/>
            <a:ext cx="613694" cy="5778"/>
          </a:xfrm>
          <a:prstGeom prst="line">
            <a:avLst/>
          </a:prstGeom>
        </p:spPr>
        <p:style>
          <a:lnRef idx="1">
            <a:schemeClr val="accent1"/>
          </a:lnRef>
          <a:fillRef idx="0">
            <a:schemeClr val="accent1"/>
          </a:fillRef>
          <a:effectRef idx="0">
            <a:schemeClr val="accent1"/>
          </a:effectRef>
          <a:fontRef idx="minor">
            <a:schemeClr val="tx1"/>
          </a:fontRef>
        </p:style>
      </p:cxnSp>
      <p:sp>
        <p:nvSpPr>
          <p:cNvPr id="98" name="Content Placeholder 2">
            <a:extLst>
              <a:ext uri="{FF2B5EF4-FFF2-40B4-BE49-F238E27FC236}">
                <a16:creationId xmlns:a16="http://schemas.microsoft.com/office/drawing/2014/main" id="{E4F12B9F-F679-9F42-AAF0-E2F676F29A99}"/>
              </a:ext>
            </a:extLst>
          </p:cNvPr>
          <p:cNvSpPr txBox="1">
            <a:spLocks/>
          </p:cNvSpPr>
          <p:nvPr/>
        </p:nvSpPr>
        <p:spPr>
          <a:xfrm>
            <a:off x="4692012" y="4609508"/>
            <a:ext cx="2656444" cy="1490873"/>
          </a:xfrm>
          <a:prstGeom prst="rect">
            <a:avLst/>
          </a:prstGeom>
          <a:noFill/>
          <a:ln>
            <a:solidFill>
              <a:schemeClr val="tx1">
                <a:lumMod val="95000"/>
              </a:schemeClr>
            </a:solidFill>
          </a:ln>
        </p:spPr>
        <p:txBody>
          <a:bodyPr vert="horz" lIns="91440" tIns="45720" rIns="91440" bIns="45720" rtlCol="0">
            <a:no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endParaRPr lang="en-US" sz="1600" dirty="0">
              <a:solidFill>
                <a:schemeClr val="tx1">
                  <a:lumMod val="95000"/>
                </a:schemeClr>
              </a:solidFill>
            </a:endParaRPr>
          </a:p>
        </p:txBody>
      </p:sp>
      <p:sp>
        <p:nvSpPr>
          <p:cNvPr id="99" name="Content Placeholder 2">
            <a:extLst>
              <a:ext uri="{FF2B5EF4-FFF2-40B4-BE49-F238E27FC236}">
                <a16:creationId xmlns:a16="http://schemas.microsoft.com/office/drawing/2014/main" id="{3AD4F509-326B-6649-AAF4-0C0AAD5C5EB5}"/>
              </a:ext>
            </a:extLst>
          </p:cNvPr>
          <p:cNvSpPr txBox="1">
            <a:spLocks/>
          </p:cNvSpPr>
          <p:nvPr/>
        </p:nvSpPr>
        <p:spPr>
          <a:xfrm>
            <a:off x="4692011" y="4333150"/>
            <a:ext cx="2656445" cy="280391"/>
          </a:xfrm>
          <a:prstGeom prst="rect">
            <a:avLst/>
          </a:prstGeom>
          <a:noFill/>
          <a:ln>
            <a:noFill/>
          </a:ln>
        </p:spPr>
        <p:txBody>
          <a:bodyPr vert="horz" lIns="91440" tIns="45720" rIns="91440" bIns="45720" rtlCol="0">
            <a:no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400" dirty="0">
                <a:solidFill>
                  <a:schemeClr val="tx1">
                    <a:lumMod val="95000"/>
                  </a:schemeClr>
                </a:solidFill>
              </a:rPr>
              <a:t>True / False</a:t>
            </a:r>
          </a:p>
        </p:txBody>
      </p:sp>
      <p:sp>
        <p:nvSpPr>
          <p:cNvPr id="100" name="Oval 99">
            <a:extLst>
              <a:ext uri="{FF2B5EF4-FFF2-40B4-BE49-F238E27FC236}">
                <a16:creationId xmlns:a16="http://schemas.microsoft.com/office/drawing/2014/main" id="{97470EF6-BFAD-684B-9B9D-63F1297662D5}"/>
              </a:ext>
            </a:extLst>
          </p:cNvPr>
          <p:cNvSpPr/>
          <p:nvPr/>
        </p:nvSpPr>
        <p:spPr>
          <a:xfrm>
            <a:off x="5806727" y="4797087"/>
            <a:ext cx="397193" cy="397193"/>
          </a:xfrm>
          <a:prstGeom prst="ellipse">
            <a:avLst/>
          </a:prstGeom>
          <a:solidFill>
            <a:schemeClr val="accent4">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bg1"/>
                </a:solidFill>
              </a:rPr>
              <a:t>F</a:t>
            </a:r>
          </a:p>
        </p:txBody>
      </p:sp>
      <p:cxnSp>
        <p:nvCxnSpPr>
          <p:cNvPr id="101" name="Straight Connector 100">
            <a:extLst>
              <a:ext uri="{FF2B5EF4-FFF2-40B4-BE49-F238E27FC236}">
                <a16:creationId xmlns:a16="http://schemas.microsoft.com/office/drawing/2014/main" id="{31027D95-3C31-304E-BD25-A8571530FC86}"/>
              </a:ext>
            </a:extLst>
          </p:cNvPr>
          <p:cNvCxnSpPr>
            <a:cxnSpLocks/>
            <a:stCxn id="100" idx="4"/>
            <a:endCxn id="104" idx="0"/>
          </p:cNvCxnSpPr>
          <p:nvPr/>
        </p:nvCxnSpPr>
        <p:spPr>
          <a:xfrm>
            <a:off x="6005324" y="5194280"/>
            <a:ext cx="4611" cy="274423"/>
          </a:xfrm>
          <a:prstGeom prst="line">
            <a:avLst/>
          </a:prstGeom>
        </p:spPr>
        <p:style>
          <a:lnRef idx="1">
            <a:schemeClr val="accent1"/>
          </a:lnRef>
          <a:fillRef idx="0">
            <a:schemeClr val="accent1"/>
          </a:fillRef>
          <a:effectRef idx="0">
            <a:schemeClr val="accent1"/>
          </a:effectRef>
          <a:fontRef idx="minor">
            <a:schemeClr val="tx1"/>
          </a:fontRef>
        </p:style>
      </p:cxnSp>
      <p:cxnSp>
        <p:nvCxnSpPr>
          <p:cNvPr id="102" name="Straight Connector 101">
            <a:extLst>
              <a:ext uri="{FF2B5EF4-FFF2-40B4-BE49-F238E27FC236}">
                <a16:creationId xmlns:a16="http://schemas.microsoft.com/office/drawing/2014/main" id="{CF1D672C-E8A7-5649-9743-2CFB5499388F}"/>
              </a:ext>
            </a:extLst>
          </p:cNvPr>
          <p:cNvCxnSpPr>
            <a:cxnSpLocks/>
            <a:stCxn id="105" idx="3"/>
            <a:endCxn id="104" idx="6"/>
          </p:cNvCxnSpPr>
          <p:nvPr/>
        </p:nvCxnSpPr>
        <p:spPr>
          <a:xfrm flipH="1">
            <a:off x="6208531" y="5447302"/>
            <a:ext cx="316387" cy="219998"/>
          </a:xfrm>
          <a:prstGeom prst="line">
            <a:avLst/>
          </a:prstGeom>
        </p:spPr>
        <p:style>
          <a:lnRef idx="1">
            <a:schemeClr val="accent1"/>
          </a:lnRef>
          <a:fillRef idx="0">
            <a:schemeClr val="accent1"/>
          </a:fillRef>
          <a:effectRef idx="0">
            <a:schemeClr val="accent1"/>
          </a:effectRef>
          <a:fontRef idx="minor">
            <a:schemeClr val="tx1"/>
          </a:fontRef>
        </p:style>
      </p:cxnSp>
      <p:cxnSp>
        <p:nvCxnSpPr>
          <p:cNvPr id="103" name="Straight Connector 102">
            <a:extLst>
              <a:ext uri="{FF2B5EF4-FFF2-40B4-BE49-F238E27FC236}">
                <a16:creationId xmlns:a16="http://schemas.microsoft.com/office/drawing/2014/main" id="{D95F69FB-4586-2341-BEF5-10395A809E15}"/>
              </a:ext>
            </a:extLst>
          </p:cNvPr>
          <p:cNvCxnSpPr>
            <a:cxnSpLocks/>
            <a:stCxn id="105" idx="1"/>
            <a:endCxn id="100" idx="6"/>
          </p:cNvCxnSpPr>
          <p:nvPr/>
        </p:nvCxnSpPr>
        <p:spPr>
          <a:xfrm flipH="1" flipV="1">
            <a:off x="6203920" y="4995684"/>
            <a:ext cx="320998" cy="170761"/>
          </a:xfrm>
          <a:prstGeom prst="line">
            <a:avLst/>
          </a:prstGeom>
        </p:spPr>
        <p:style>
          <a:lnRef idx="1">
            <a:schemeClr val="accent1"/>
          </a:lnRef>
          <a:fillRef idx="0">
            <a:schemeClr val="accent1"/>
          </a:fillRef>
          <a:effectRef idx="0">
            <a:schemeClr val="accent1"/>
          </a:effectRef>
          <a:fontRef idx="minor">
            <a:schemeClr val="tx1"/>
          </a:fontRef>
        </p:style>
      </p:cxnSp>
      <p:sp>
        <p:nvSpPr>
          <p:cNvPr id="104" name="Oval 103">
            <a:extLst>
              <a:ext uri="{FF2B5EF4-FFF2-40B4-BE49-F238E27FC236}">
                <a16:creationId xmlns:a16="http://schemas.microsoft.com/office/drawing/2014/main" id="{D1DA8252-159C-7E4F-A698-4541C14511A5}"/>
              </a:ext>
            </a:extLst>
          </p:cNvPr>
          <p:cNvSpPr/>
          <p:nvPr/>
        </p:nvSpPr>
        <p:spPr>
          <a:xfrm>
            <a:off x="5811338" y="5468703"/>
            <a:ext cx="397193" cy="397193"/>
          </a:xfrm>
          <a:prstGeom prst="ellipse">
            <a:avLst/>
          </a:prstGeom>
          <a:solidFill>
            <a:schemeClr val="accent2">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bg1"/>
                </a:solidFill>
              </a:rPr>
              <a:t>N</a:t>
            </a:r>
          </a:p>
        </p:txBody>
      </p:sp>
      <p:sp>
        <p:nvSpPr>
          <p:cNvPr id="105" name="Oval 104">
            <a:extLst>
              <a:ext uri="{FF2B5EF4-FFF2-40B4-BE49-F238E27FC236}">
                <a16:creationId xmlns:a16="http://schemas.microsoft.com/office/drawing/2014/main" id="{846DDBCC-6C8A-2546-AAAE-B7A994B6618A}"/>
              </a:ext>
            </a:extLst>
          </p:cNvPr>
          <p:cNvSpPr/>
          <p:nvPr/>
        </p:nvSpPr>
        <p:spPr>
          <a:xfrm>
            <a:off x="6459770" y="5108277"/>
            <a:ext cx="444858" cy="397193"/>
          </a:xfrm>
          <a:prstGeom prst="ellipse">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bg1"/>
                </a:solidFill>
              </a:rPr>
              <a:t>T</a:t>
            </a:r>
          </a:p>
        </p:txBody>
      </p:sp>
      <p:cxnSp>
        <p:nvCxnSpPr>
          <p:cNvPr id="106" name="Straight Connector 105">
            <a:extLst>
              <a:ext uri="{FF2B5EF4-FFF2-40B4-BE49-F238E27FC236}">
                <a16:creationId xmlns:a16="http://schemas.microsoft.com/office/drawing/2014/main" id="{D5E132BC-DD11-5E45-92A2-22F83C6BD13E}"/>
              </a:ext>
            </a:extLst>
          </p:cNvPr>
          <p:cNvCxnSpPr>
            <a:cxnSpLocks/>
            <a:endCxn id="105" idx="6"/>
          </p:cNvCxnSpPr>
          <p:nvPr/>
        </p:nvCxnSpPr>
        <p:spPr>
          <a:xfrm flipH="1">
            <a:off x="6904628" y="5306873"/>
            <a:ext cx="330318" cy="1"/>
          </a:xfrm>
          <a:prstGeom prst="line">
            <a:avLst/>
          </a:prstGeom>
        </p:spPr>
        <p:style>
          <a:lnRef idx="1">
            <a:schemeClr val="accent1"/>
          </a:lnRef>
          <a:fillRef idx="0">
            <a:schemeClr val="accent1"/>
          </a:fillRef>
          <a:effectRef idx="0">
            <a:schemeClr val="accent1"/>
          </a:effectRef>
          <a:fontRef idx="minor">
            <a:schemeClr val="tx1"/>
          </a:fontRef>
        </p:style>
      </p:cxnSp>
      <p:sp>
        <p:nvSpPr>
          <p:cNvPr id="107" name="Oval 106">
            <a:extLst>
              <a:ext uri="{FF2B5EF4-FFF2-40B4-BE49-F238E27FC236}">
                <a16:creationId xmlns:a16="http://schemas.microsoft.com/office/drawing/2014/main" id="{81F0B342-5087-2648-847D-8BEA135A4DB0}"/>
              </a:ext>
            </a:extLst>
          </p:cNvPr>
          <p:cNvSpPr/>
          <p:nvPr/>
        </p:nvSpPr>
        <p:spPr>
          <a:xfrm>
            <a:off x="4795840" y="4802865"/>
            <a:ext cx="397193" cy="39719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bg1"/>
                </a:solidFill>
              </a:rPr>
              <a:t>T</a:t>
            </a:r>
          </a:p>
        </p:txBody>
      </p:sp>
      <p:sp>
        <p:nvSpPr>
          <p:cNvPr id="108" name="Oval 107">
            <a:extLst>
              <a:ext uri="{FF2B5EF4-FFF2-40B4-BE49-F238E27FC236}">
                <a16:creationId xmlns:a16="http://schemas.microsoft.com/office/drawing/2014/main" id="{E084D80B-F4DF-194C-B938-88CBD860B0BD}"/>
              </a:ext>
            </a:extLst>
          </p:cNvPr>
          <p:cNvSpPr/>
          <p:nvPr/>
        </p:nvSpPr>
        <p:spPr>
          <a:xfrm>
            <a:off x="4800451" y="5474481"/>
            <a:ext cx="397193" cy="397193"/>
          </a:xfrm>
          <a:prstGeom prst="ellipse">
            <a:avLst/>
          </a:prstGeom>
          <a:solidFill>
            <a:schemeClr val="accent4">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bg1"/>
                </a:solidFill>
              </a:rPr>
              <a:t>F</a:t>
            </a:r>
          </a:p>
        </p:txBody>
      </p:sp>
      <p:cxnSp>
        <p:nvCxnSpPr>
          <p:cNvPr id="109" name="Straight Connector 108">
            <a:extLst>
              <a:ext uri="{FF2B5EF4-FFF2-40B4-BE49-F238E27FC236}">
                <a16:creationId xmlns:a16="http://schemas.microsoft.com/office/drawing/2014/main" id="{BF28E769-0511-944B-B501-19C382051CF1}"/>
              </a:ext>
            </a:extLst>
          </p:cNvPr>
          <p:cNvCxnSpPr>
            <a:cxnSpLocks/>
            <a:stCxn id="100" idx="2"/>
            <a:endCxn id="107" idx="6"/>
          </p:cNvCxnSpPr>
          <p:nvPr/>
        </p:nvCxnSpPr>
        <p:spPr>
          <a:xfrm flipH="1">
            <a:off x="5193033" y="4995684"/>
            <a:ext cx="613694" cy="5778"/>
          </a:xfrm>
          <a:prstGeom prst="line">
            <a:avLst/>
          </a:prstGeom>
        </p:spPr>
        <p:style>
          <a:lnRef idx="1">
            <a:schemeClr val="accent1"/>
          </a:lnRef>
          <a:fillRef idx="0">
            <a:schemeClr val="accent1"/>
          </a:fillRef>
          <a:effectRef idx="0">
            <a:schemeClr val="accent1"/>
          </a:effectRef>
          <a:fontRef idx="minor">
            <a:schemeClr val="tx1"/>
          </a:fontRef>
        </p:style>
      </p:cxnSp>
      <p:cxnSp>
        <p:nvCxnSpPr>
          <p:cNvPr id="110" name="Straight Connector 109">
            <a:extLst>
              <a:ext uri="{FF2B5EF4-FFF2-40B4-BE49-F238E27FC236}">
                <a16:creationId xmlns:a16="http://schemas.microsoft.com/office/drawing/2014/main" id="{12A9CDD7-9665-9541-B4F8-82E12CFFE959}"/>
              </a:ext>
            </a:extLst>
          </p:cNvPr>
          <p:cNvCxnSpPr>
            <a:cxnSpLocks/>
            <a:stCxn id="104" idx="2"/>
            <a:endCxn id="108" idx="6"/>
          </p:cNvCxnSpPr>
          <p:nvPr/>
        </p:nvCxnSpPr>
        <p:spPr>
          <a:xfrm flipH="1">
            <a:off x="5197644" y="5667300"/>
            <a:ext cx="613694" cy="5778"/>
          </a:xfrm>
          <a:prstGeom prst="line">
            <a:avLst/>
          </a:prstGeom>
        </p:spPr>
        <p:style>
          <a:lnRef idx="1">
            <a:schemeClr val="accent1"/>
          </a:lnRef>
          <a:fillRef idx="0">
            <a:schemeClr val="accent1"/>
          </a:fillRef>
          <a:effectRef idx="0">
            <a:schemeClr val="accent1"/>
          </a:effectRef>
          <a:fontRef idx="minor">
            <a:schemeClr val="tx1"/>
          </a:fontRef>
        </p:style>
      </p:cxnSp>
      <p:sp>
        <p:nvSpPr>
          <p:cNvPr id="111" name="Content Placeholder 2">
            <a:extLst>
              <a:ext uri="{FF2B5EF4-FFF2-40B4-BE49-F238E27FC236}">
                <a16:creationId xmlns:a16="http://schemas.microsoft.com/office/drawing/2014/main" id="{3C1D39DC-4B62-5A4A-9A98-10560E30E10B}"/>
              </a:ext>
            </a:extLst>
          </p:cNvPr>
          <p:cNvSpPr txBox="1">
            <a:spLocks/>
          </p:cNvSpPr>
          <p:nvPr/>
        </p:nvSpPr>
        <p:spPr>
          <a:xfrm>
            <a:off x="7517232" y="4609507"/>
            <a:ext cx="2656444" cy="1490873"/>
          </a:xfrm>
          <a:prstGeom prst="rect">
            <a:avLst/>
          </a:prstGeom>
          <a:noFill/>
          <a:ln>
            <a:solidFill>
              <a:schemeClr val="tx1">
                <a:lumMod val="95000"/>
              </a:schemeClr>
            </a:solidFill>
          </a:ln>
        </p:spPr>
        <p:txBody>
          <a:bodyPr vert="horz" lIns="91440" tIns="45720" rIns="91440" bIns="45720" rtlCol="0">
            <a:no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endParaRPr lang="en-US" sz="1600" dirty="0">
              <a:solidFill>
                <a:schemeClr val="tx1">
                  <a:lumMod val="95000"/>
                </a:schemeClr>
              </a:solidFill>
            </a:endParaRPr>
          </a:p>
        </p:txBody>
      </p:sp>
      <p:sp>
        <p:nvSpPr>
          <p:cNvPr id="112" name="Content Placeholder 2">
            <a:extLst>
              <a:ext uri="{FF2B5EF4-FFF2-40B4-BE49-F238E27FC236}">
                <a16:creationId xmlns:a16="http://schemas.microsoft.com/office/drawing/2014/main" id="{F2086DFB-CD1E-FD48-A0A6-6A12837AE97D}"/>
              </a:ext>
            </a:extLst>
          </p:cNvPr>
          <p:cNvSpPr txBox="1">
            <a:spLocks/>
          </p:cNvSpPr>
          <p:nvPr/>
        </p:nvSpPr>
        <p:spPr>
          <a:xfrm>
            <a:off x="7517231" y="4333150"/>
            <a:ext cx="2656445" cy="280391"/>
          </a:xfrm>
          <a:prstGeom prst="rect">
            <a:avLst/>
          </a:prstGeom>
          <a:noFill/>
          <a:ln>
            <a:noFill/>
          </a:ln>
        </p:spPr>
        <p:txBody>
          <a:bodyPr vert="horz" lIns="91440" tIns="45720" rIns="91440" bIns="45720" rtlCol="0">
            <a:no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400" dirty="0">
                <a:solidFill>
                  <a:schemeClr val="tx1">
                    <a:lumMod val="95000"/>
                  </a:schemeClr>
                </a:solidFill>
              </a:rPr>
              <a:t>False / False</a:t>
            </a:r>
          </a:p>
        </p:txBody>
      </p:sp>
      <p:sp>
        <p:nvSpPr>
          <p:cNvPr id="113" name="Oval 112">
            <a:extLst>
              <a:ext uri="{FF2B5EF4-FFF2-40B4-BE49-F238E27FC236}">
                <a16:creationId xmlns:a16="http://schemas.microsoft.com/office/drawing/2014/main" id="{6D304552-0BDE-184C-AA90-6F9841511F1B}"/>
              </a:ext>
            </a:extLst>
          </p:cNvPr>
          <p:cNvSpPr/>
          <p:nvPr/>
        </p:nvSpPr>
        <p:spPr>
          <a:xfrm>
            <a:off x="8631947" y="4797087"/>
            <a:ext cx="397193" cy="39719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bg1"/>
                </a:solidFill>
              </a:rPr>
              <a:t>T</a:t>
            </a:r>
          </a:p>
        </p:txBody>
      </p:sp>
      <p:cxnSp>
        <p:nvCxnSpPr>
          <p:cNvPr id="114" name="Straight Connector 113">
            <a:extLst>
              <a:ext uri="{FF2B5EF4-FFF2-40B4-BE49-F238E27FC236}">
                <a16:creationId xmlns:a16="http://schemas.microsoft.com/office/drawing/2014/main" id="{B66658D1-2DED-7C44-B9BB-8AC1340E6813}"/>
              </a:ext>
            </a:extLst>
          </p:cNvPr>
          <p:cNvCxnSpPr>
            <a:cxnSpLocks/>
            <a:stCxn id="113" idx="4"/>
            <a:endCxn id="117" idx="0"/>
          </p:cNvCxnSpPr>
          <p:nvPr/>
        </p:nvCxnSpPr>
        <p:spPr>
          <a:xfrm>
            <a:off x="8830544" y="5194280"/>
            <a:ext cx="4611" cy="274423"/>
          </a:xfrm>
          <a:prstGeom prst="line">
            <a:avLst/>
          </a:prstGeom>
        </p:spPr>
        <p:style>
          <a:lnRef idx="1">
            <a:schemeClr val="accent1"/>
          </a:lnRef>
          <a:fillRef idx="0">
            <a:schemeClr val="accent1"/>
          </a:fillRef>
          <a:effectRef idx="0">
            <a:schemeClr val="accent1"/>
          </a:effectRef>
          <a:fontRef idx="minor">
            <a:schemeClr val="tx1"/>
          </a:fontRef>
        </p:style>
      </p:cxnSp>
      <p:cxnSp>
        <p:nvCxnSpPr>
          <p:cNvPr id="115" name="Straight Connector 114">
            <a:extLst>
              <a:ext uri="{FF2B5EF4-FFF2-40B4-BE49-F238E27FC236}">
                <a16:creationId xmlns:a16="http://schemas.microsoft.com/office/drawing/2014/main" id="{7F00EFB1-E1F0-2343-9624-AD62F4957FC4}"/>
              </a:ext>
            </a:extLst>
          </p:cNvPr>
          <p:cNvCxnSpPr>
            <a:cxnSpLocks/>
            <a:stCxn id="118" idx="3"/>
            <a:endCxn id="117" idx="6"/>
          </p:cNvCxnSpPr>
          <p:nvPr/>
        </p:nvCxnSpPr>
        <p:spPr>
          <a:xfrm flipH="1">
            <a:off x="9033751" y="5447302"/>
            <a:ext cx="316387" cy="219998"/>
          </a:xfrm>
          <a:prstGeom prst="line">
            <a:avLst/>
          </a:prstGeom>
        </p:spPr>
        <p:style>
          <a:lnRef idx="1">
            <a:schemeClr val="accent1"/>
          </a:lnRef>
          <a:fillRef idx="0">
            <a:schemeClr val="accent1"/>
          </a:fillRef>
          <a:effectRef idx="0">
            <a:schemeClr val="accent1"/>
          </a:effectRef>
          <a:fontRef idx="minor">
            <a:schemeClr val="tx1"/>
          </a:fontRef>
        </p:style>
      </p:cxnSp>
      <p:cxnSp>
        <p:nvCxnSpPr>
          <p:cNvPr id="116" name="Straight Connector 115">
            <a:extLst>
              <a:ext uri="{FF2B5EF4-FFF2-40B4-BE49-F238E27FC236}">
                <a16:creationId xmlns:a16="http://schemas.microsoft.com/office/drawing/2014/main" id="{D49DC7D9-2959-D248-ACC1-5A908881CD62}"/>
              </a:ext>
            </a:extLst>
          </p:cNvPr>
          <p:cNvCxnSpPr>
            <a:cxnSpLocks/>
            <a:stCxn id="118" idx="1"/>
            <a:endCxn id="113" idx="6"/>
          </p:cNvCxnSpPr>
          <p:nvPr/>
        </p:nvCxnSpPr>
        <p:spPr>
          <a:xfrm flipH="1" flipV="1">
            <a:off x="9029140" y="4995684"/>
            <a:ext cx="320998" cy="170761"/>
          </a:xfrm>
          <a:prstGeom prst="line">
            <a:avLst/>
          </a:prstGeom>
        </p:spPr>
        <p:style>
          <a:lnRef idx="1">
            <a:schemeClr val="accent1"/>
          </a:lnRef>
          <a:fillRef idx="0">
            <a:schemeClr val="accent1"/>
          </a:fillRef>
          <a:effectRef idx="0">
            <a:schemeClr val="accent1"/>
          </a:effectRef>
          <a:fontRef idx="minor">
            <a:schemeClr val="tx1"/>
          </a:fontRef>
        </p:style>
      </p:cxnSp>
      <p:sp>
        <p:nvSpPr>
          <p:cNvPr id="117" name="Oval 116">
            <a:extLst>
              <a:ext uri="{FF2B5EF4-FFF2-40B4-BE49-F238E27FC236}">
                <a16:creationId xmlns:a16="http://schemas.microsoft.com/office/drawing/2014/main" id="{945A70D9-2430-B24A-AE38-24D1DA6BD207}"/>
              </a:ext>
            </a:extLst>
          </p:cNvPr>
          <p:cNvSpPr/>
          <p:nvPr/>
        </p:nvSpPr>
        <p:spPr>
          <a:xfrm>
            <a:off x="8636558" y="5468703"/>
            <a:ext cx="397193" cy="397193"/>
          </a:xfrm>
          <a:prstGeom prst="ellipse">
            <a:avLst/>
          </a:prstGeom>
          <a:solidFill>
            <a:schemeClr val="accent2">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bg1"/>
                </a:solidFill>
              </a:rPr>
              <a:t>N</a:t>
            </a:r>
          </a:p>
        </p:txBody>
      </p:sp>
      <p:sp>
        <p:nvSpPr>
          <p:cNvPr id="118" name="Oval 117">
            <a:extLst>
              <a:ext uri="{FF2B5EF4-FFF2-40B4-BE49-F238E27FC236}">
                <a16:creationId xmlns:a16="http://schemas.microsoft.com/office/drawing/2014/main" id="{80A76B8C-B3D6-3D46-AE65-C6FDED479C07}"/>
              </a:ext>
            </a:extLst>
          </p:cNvPr>
          <p:cNvSpPr/>
          <p:nvPr/>
        </p:nvSpPr>
        <p:spPr>
          <a:xfrm>
            <a:off x="9284990" y="5108277"/>
            <a:ext cx="444858" cy="397193"/>
          </a:xfrm>
          <a:prstGeom prst="ellipse">
            <a:avLst/>
          </a:prstGeom>
          <a:solidFill>
            <a:schemeClr val="accent4">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bg1"/>
                </a:solidFill>
              </a:rPr>
              <a:t>F</a:t>
            </a:r>
          </a:p>
        </p:txBody>
      </p:sp>
      <p:cxnSp>
        <p:nvCxnSpPr>
          <p:cNvPr id="119" name="Straight Connector 118">
            <a:extLst>
              <a:ext uri="{FF2B5EF4-FFF2-40B4-BE49-F238E27FC236}">
                <a16:creationId xmlns:a16="http://schemas.microsoft.com/office/drawing/2014/main" id="{41EEF12B-6BFA-524E-BD91-B661FBBCC604}"/>
              </a:ext>
            </a:extLst>
          </p:cNvPr>
          <p:cNvCxnSpPr>
            <a:cxnSpLocks/>
            <a:endCxn id="118" idx="6"/>
          </p:cNvCxnSpPr>
          <p:nvPr/>
        </p:nvCxnSpPr>
        <p:spPr>
          <a:xfrm flipH="1">
            <a:off x="9729848" y="5306873"/>
            <a:ext cx="330318" cy="1"/>
          </a:xfrm>
          <a:prstGeom prst="line">
            <a:avLst/>
          </a:prstGeom>
        </p:spPr>
        <p:style>
          <a:lnRef idx="1">
            <a:schemeClr val="accent1"/>
          </a:lnRef>
          <a:fillRef idx="0">
            <a:schemeClr val="accent1"/>
          </a:fillRef>
          <a:effectRef idx="0">
            <a:schemeClr val="accent1"/>
          </a:effectRef>
          <a:fontRef idx="minor">
            <a:schemeClr val="tx1"/>
          </a:fontRef>
        </p:style>
      </p:cxnSp>
      <p:sp>
        <p:nvSpPr>
          <p:cNvPr id="120" name="Oval 119">
            <a:extLst>
              <a:ext uri="{FF2B5EF4-FFF2-40B4-BE49-F238E27FC236}">
                <a16:creationId xmlns:a16="http://schemas.microsoft.com/office/drawing/2014/main" id="{A5C7C0BA-ACE5-1849-99F9-0D96FC999414}"/>
              </a:ext>
            </a:extLst>
          </p:cNvPr>
          <p:cNvSpPr/>
          <p:nvPr/>
        </p:nvSpPr>
        <p:spPr>
          <a:xfrm>
            <a:off x="7621060" y="4802865"/>
            <a:ext cx="397193" cy="397193"/>
          </a:xfrm>
          <a:prstGeom prst="ellipse">
            <a:avLst/>
          </a:prstGeom>
          <a:solidFill>
            <a:schemeClr val="accent4">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bg1"/>
                </a:solidFill>
              </a:rPr>
              <a:t>F</a:t>
            </a:r>
          </a:p>
        </p:txBody>
      </p:sp>
      <p:sp>
        <p:nvSpPr>
          <p:cNvPr id="121" name="Oval 120">
            <a:extLst>
              <a:ext uri="{FF2B5EF4-FFF2-40B4-BE49-F238E27FC236}">
                <a16:creationId xmlns:a16="http://schemas.microsoft.com/office/drawing/2014/main" id="{6C6B7597-33F7-AB43-97A9-2AF25037706A}"/>
              </a:ext>
            </a:extLst>
          </p:cNvPr>
          <p:cNvSpPr/>
          <p:nvPr/>
        </p:nvSpPr>
        <p:spPr>
          <a:xfrm>
            <a:off x="7625671" y="5474481"/>
            <a:ext cx="397193" cy="397193"/>
          </a:xfrm>
          <a:prstGeom prst="ellipse">
            <a:avLst/>
          </a:prstGeom>
          <a:solidFill>
            <a:schemeClr val="accent4">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bg1"/>
                </a:solidFill>
              </a:rPr>
              <a:t>F</a:t>
            </a:r>
          </a:p>
        </p:txBody>
      </p:sp>
      <p:cxnSp>
        <p:nvCxnSpPr>
          <p:cNvPr id="122" name="Straight Connector 121">
            <a:extLst>
              <a:ext uri="{FF2B5EF4-FFF2-40B4-BE49-F238E27FC236}">
                <a16:creationId xmlns:a16="http://schemas.microsoft.com/office/drawing/2014/main" id="{50AAEC4C-B79F-F046-9D1A-44FAC79B6E64}"/>
              </a:ext>
            </a:extLst>
          </p:cNvPr>
          <p:cNvCxnSpPr>
            <a:cxnSpLocks/>
            <a:stCxn id="113" idx="2"/>
            <a:endCxn id="120" idx="6"/>
          </p:cNvCxnSpPr>
          <p:nvPr/>
        </p:nvCxnSpPr>
        <p:spPr>
          <a:xfrm flipH="1">
            <a:off x="8018253" y="4995684"/>
            <a:ext cx="613694" cy="5778"/>
          </a:xfrm>
          <a:prstGeom prst="line">
            <a:avLst/>
          </a:prstGeom>
        </p:spPr>
        <p:style>
          <a:lnRef idx="1">
            <a:schemeClr val="accent1"/>
          </a:lnRef>
          <a:fillRef idx="0">
            <a:schemeClr val="accent1"/>
          </a:fillRef>
          <a:effectRef idx="0">
            <a:schemeClr val="accent1"/>
          </a:effectRef>
          <a:fontRef idx="minor">
            <a:schemeClr val="tx1"/>
          </a:fontRef>
        </p:style>
      </p:cxnSp>
      <p:cxnSp>
        <p:nvCxnSpPr>
          <p:cNvPr id="123" name="Straight Connector 122">
            <a:extLst>
              <a:ext uri="{FF2B5EF4-FFF2-40B4-BE49-F238E27FC236}">
                <a16:creationId xmlns:a16="http://schemas.microsoft.com/office/drawing/2014/main" id="{4C355E5C-8D5E-B149-BC52-3D9294AF67C8}"/>
              </a:ext>
            </a:extLst>
          </p:cNvPr>
          <p:cNvCxnSpPr>
            <a:cxnSpLocks/>
            <a:stCxn id="117" idx="2"/>
            <a:endCxn id="121" idx="6"/>
          </p:cNvCxnSpPr>
          <p:nvPr/>
        </p:nvCxnSpPr>
        <p:spPr>
          <a:xfrm flipH="1">
            <a:off x="8022864" y="5667300"/>
            <a:ext cx="613694" cy="5778"/>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26433445"/>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p:cNvSpPr>
                <a:spLocks noGrp="1"/>
              </p:cNvSpPr>
              <p:nvPr>
                <p:ph type="title"/>
              </p:nvPr>
            </p:nvSpPr>
            <p:spPr>
              <a:xfrm>
                <a:off x="1141413" y="192390"/>
                <a:ext cx="9905998" cy="695377"/>
              </a:xfrm>
            </p:spPr>
            <p: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3</m:t>
                      </m:r>
                      <m:r>
                        <a:rPr lang="en-US" b="0" i="1" smtClean="0">
                          <a:latin typeface="Cambria Math" panose="02040503050406030204" pitchFamily="18" charset="0"/>
                        </a:rPr>
                        <m:t>𝑆𝐴𝑇</m:t>
                      </m:r>
                      <m:sSub>
                        <m:sSubPr>
                          <m:ctrlPr>
                            <a:rPr lang="en-US" b="0" i="1" smtClean="0">
                              <a:latin typeface="Cambria Math" panose="02040503050406030204" pitchFamily="18" charset="0"/>
                            </a:rPr>
                          </m:ctrlPr>
                        </m:sSubPr>
                        <m:e>
                          <m:r>
                            <a:rPr lang="en-US" b="0" i="1" smtClean="0">
                              <a:latin typeface="Cambria Math" panose="02040503050406030204" pitchFamily="18" charset="0"/>
                            </a:rPr>
                            <m:t>≤</m:t>
                          </m:r>
                        </m:e>
                        <m:sub>
                          <m:r>
                            <a:rPr lang="en-US" b="0" i="1" smtClean="0">
                              <a:latin typeface="Cambria Math" panose="02040503050406030204" pitchFamily="18" charset="0"/>
                            </a:rPr>
                            <m:t>𝑝</m:t>
                          </m:r>
                        </m:sub>
                      </m:sSub>
                      <m:r>
                        <a:rPr lang="en-US" b="0" i="1" smtClean="0">
                          <a:latin typeface="Cambria Math" panose="02040503050406030204" pitchFamily="18" charset="0"/>
                        </a:rPr>
                        <m:t>3</m:t>
                      </m:r>
                      <m:r>
                        <a:rPr lang="en-US" b="0" i="1" smtClean="0">
                          <a:latin typeface="Cambria Math" panose="02040503050406030204" pitchFamily="18" charset="0"/>
                        </a:rPr>
                        <m:t>𝐶</m:t>
                      </m:r>
                    </m:oMath>
                  </m:oMathPara>
                </a14:m>
                <a:endParaRPr lang="en-US" dirty="0"/>
              </a:p>
            </p:txBody>
          </p:sp>
        </mc:Choice>
        <mc:Fallback xmlns="">
          <p:sp>
            <p:nvSpPr>
              <p:cNvPr id="2" name="Title 1"/>
              <p:cNvSpPr>
                <a:spLocks noGrp="1" noRot="1" noChangeAspect="1" noMove="1" noResize="1" noEditPoints="1" noAdjustHandles="1" noChangeArrowheads="1" noChangeShapeType="1" noTextEdit="1"/>
              </p:cNvSpPr>
              <p:nvPr>
                <p:ph type="title"/>
              </p:nvPr>
            </p:nvSpPr>
            <p:spPr>
              <a:xfrm>
                <a:off x="1141413" y="192390"/>
                <a:ext cx="9905998" cy="695377"/>
              </a:xfrm>
              <a:blipFill>
                <a:blip r:embed="rId2"/>
                <a:stretch>
                  <a:fillRect b="-71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Content Placeholder 2">
                <a:extLst>
                  <a:ext uri="{FF2B5EF4-FFF2-40B4-BE49-F238E27FC236}">
                    <a16:creationId xmlns:a16="http://schemas.microsoft.com/office/drawing/2014/main" id="{3A4FEE7E-EBFB-5E40-9644-716490691FB8}"/>
                  </a:ext>
                </a:extLst>
              </p:cNvPr>
              <p:cNvSpPr txBox="1">
                <a:spLocks/>
              </p:cNvSpPr>
              <p:nvPr/>
            </p:nvSpPr>
            <p:spPr>
              <a:xfrm>
                <a:off x="1016381" y="985416"/>
                <a:ext cx="4696288" cy="630318"/>
              </a:xfrm>
              <a:prstGeom prst="rect">
                <a:avLst/>
              </a:prstGeom>
              <a:noFill/>
              <a:ln>
                <a:solidFill>
                  <a:schemeClr val="accent1"/>
                </a:solidFill>
              </a:ln>
            </p:spPr>
            <p:txBody>
              <a:bodyPr vert="horz" lIns="91440" tIns="45720" rIns="91440" bIns="45720" rtlCol="0">
                <a:no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14:m>
                  <m:oMathPara xmlns:m="http://schemas.openxmlformats.org/officeDocument/2006/math">
                    <m:oMathParaPr>
                      <m:jc m:val="centerGroup"/>
                    </m:oMathParaPr>
                    <m:oMath xmlns:m="http://schemas.openxmlformats.org/officeDocument/2006/math">
                      <m:r>
                        <a:rPr lang="en-US" b="0" i="1" smtClean="0">
                          <a:solidFill>
                            <a:schemeClr val="tx1">
                              <a:lumMod val="95000"/>
                            </a:schemeClr>
                          </a:solidFill>
                          <a:latin typeface="Cambria Math" panose="02040503050406030204" pitchFamily="18" charset="0"/>
                        </a:rPr>
                        <m:t>𝜃</m:t>
                      </m:r>
                      <m:r>
                        <a:rPr lang="en-US" b="0" i="1" smtClean="0">
                          <a:solidFill>
                            <a:schemeClr val="tx1">
                              <a:lumMod val="95000"/>
                            </a:schemeClr>
                          </a:solidFill>
                          <a:latin typeface="Cambria Math" panose="02040503050406030204" pitchFamily="18" charset="0"/>
                        </a:rPr>
                        <m:t>=</m:t>
                      </m:r>
                      <m:d>
                        <m:dPr>
                          <m:ctrlPr>
                            <a:rPr lang="en-US" b="0" i="1" smtClean="0">
                              <a:solidFill>
                                <a:schemeClr val="tx1">
                                  <a:lumMod val="95000"/>
                                </a:schemeClr>
                              </a:solidFill>
                              <a:latin typeface="Cambria Math" panose="02040503050406030204" pitchFamily="18" charset="0"/>
                            </a:rPr>
                          </m:ctrlPr>
                        </m:dPr>
                        <m:e>
                          <m:r>
                            <a:rPr lang="en-US" b="0" i="1" smtClean="0">
                              <a:solidFill>
                                <a:schemeClr val="tx1">
                                  <a:lumMod val="95000"/>
                                </a:schemeClr>
                              </a:solidFill>
                              <a:latin typeface="Cambria Math" panose="02040503050406030204" pitchFamily="18" charset="0"/>
                            </a:rPr>
                            <m:t>𝑢</m:t>
                          </m:r>
                          <m:r>
                            <a:rPr lang="en-US" b="0" i="1" smtClean="0">
                              <a:solidFill>
                                <a:schemeClr val="tx1">
                                  <a:lumMod val="95000"/>
                                </a:schemeClr>
                              </a:solidFill>
                              <a:latin typeface="Cambria Math" panose="02040503050406030204" pitchFamily="18" charset="0"/>
                            </a:rPr>
                            <m:t>∨¬</m:t>
                          </m:r>
                          <m:r>
                            <a:rPr lang="en-US" b="0" i="1" smtClean="0">
                              <a:solidFill>
                                <a:schemeClr val="tx1">
                                  <a:lumMod val="95000"/>
                                </a:schemeClr>
                              </a:solidFill>
                              <a:latin typeface="Cambria Math" panose="02040503050406030204" pitchFamily="18" charset="0"/>
                            </a:rPr>
                            <m:t>𝑣</m:t>
                          </m:r>
                          <m:r>
                            <a:rPr lang="en-US" b="0" i="1" smtClean="0">
                              <a:solidFill>
                                <a:schemeClr val="tx1">
                                  <a:lumMod val="95000"/>
                                </a:schemeClr>
                              </a:solidFill>
                              <a:latin typeface="Cambria Math" panose="02040503050406030204" pitchFamily="18" charset="0"/>
                            </a:rPr>
                            <m:t>∨</m:t>
                          </m:r>
                          <m:r>
                            <a:rPr lang="en-US" b="0" i="1" smtClean="0">
                              <a:solidFill>
                                <a:schemeClr val="tx1">
                                  <a:lumMod val="95000"/>
                                </a:schemeClr>
                              </a:solidFill>
                              <a:latin typeface="Cambria Math" panose="02040503050406030204" pitchFamily="18" charset="0"/>
                            </a:rPr>
                            <m:t>𝑤</m:t>
                          </m:r>
                        </m:e>
                      </m:d>
                      <m:r>
                        <a:rPr lang="en-US" b="0" i="1" smtClean="0">
                          <a:solidFill>
                            <a:schemeClr val="tx1">
                              <a:lumMod val="95000"/>
                            </a:schemeClr>
                          </a:solidFill>
                          <a:latin typeface="Cambria Math" panose="02040503050406030204" pitchFamily="18" charset="0"/>
                        </a:rPr>
                        <m:t>∧(</m:t>
                      </m:r>
                      <m:r>
                        <a:rPr lang="en-US" b="0" i="1" smtClean="0">
                          <a:solidFill>
                            <a:schemeClr val="tx1">
                              <a:lumMod val="95000"/>
                            </a:schemeClr>
                          </a:solidFill>
                          <a:latin typeface="Cambria Math" panose="02040503050406030204" pitchFamily="18" charset="0"/>
                        </a:rPr>
                        <m:t>𝑣</m:t>
                      </m:r>
                      <m:r>
                        <a:rPr lang="en-US" b="0" i="1" smtClean="0">
                          <a:solidFill>
                            <a:schemeClr val="tx1">
                              <a:lumMod val="95000"/>
                            </a:schemeClr>
                          </a:solidFill>
                          <a:latin typeface="Cambria Math" panose="02040503050406030204" pitchFamily="18" charset="0"/>
                        </a:rPr>
                        <m:t>∨</m:t>
                      </m:r>
                      <m:r>
                        <a:rPr lang="en-US" b="0" i="1" smtClean="0">
                          <a:solidFill>
                            <a:schemeClr val="tx1">
                              <a:lumMod val="95000"/>
                            </a:schemeClr>
                          </a:solidFill>
                          <a:latin typeface="Cambria Math" panose="02040503050406030204" pitchFamily="18" charset="0"/>
                        </a:rPr>
                        <m:t>𝑥</m:t>
                      </m:r>
                      <m:r>
                        <a:rPr lang="en-US" b="0" i="1" smtClean="0">
                          <a:solidFill>
                            <a:schemeClr val="tx1">
                              <a:lumMod val="95000"/>
                            </a:schemeClr>
                          </a:solidFill>
                          <a:latin typeface="Cambria Math" panose="02040503050406030204" pitchFamily="18" charset="0"/>
                        </a:rPr>
                        <m:t>∨¬</m:t>
                      </m:r>
                      <m:r>
                        <a:rPr lang="en-US" b="0" i="1" smtClean="0">
                          <a:solidFill>
                            <a:schemeClr val="tx1">
                              <a:lumMod val="95000"/>
                            </a:schemeClr>
                          </a:solidFill>
                          <a:latin typeface="Cambria Math" panose="02040503050406030204" pitchFamily="18" charset="0"/>
                        </a:rPr>
                        <m:t>𝑦</m:t>
                      </m:r>
                      <m:r>
                        <a:rPr lang="en-US" b="0" i="1" smtClean="0">
                          <a:solidFill>
                            <a:schemeClr val="tx1">
                              <a:lumMod val="95000"/>
                            </a:schemeClr>
                          </a:solidFill>
                          <a:latin typeface="Cambria Math" panose="02040503050406030204" pitchFamily="18" charset="0"/>
                        </a:rPr>
                        <m:t>)</m:t>
                      </m:r>
                    </m:oMath>
                  </m:oMathPara>
                </a14:m>
                <a:endParaRPr lang="en-US" dirty="0">
                  <a:solidFill>
                    <a:schemeClr val="tx1">
                      <a:lumMod val="95000"/>
                    </a:schemeClr>
                  </a:solidFill>
                </a:endParaRPr>
              </a:p>
            </p:txBody>
          </p:sp>
        </mc:Choice>
        <mc:Fallback xmlns="">
          <p:sp>
            <p:nvSpPr>
              <p:cNvPr id="37" name="Content Placeholder 2">
                <a:extLst>
                  <a:ext uri="{FF2B5EF4-FFF2-40B4-BE49-F238E27FC236}">
                    <a16:creationId xmlns:a16="http://schemas.microsoft.com/office/drawing/2014/main" id="{3A4FEE7E-EBFB-5E40-9644-716490691FB8}"/>
                  </a:ext>
                </a:extLst>
              </p:cNvPr>
              <p:cNvSpPr txBox="1">
                <a:spLocks noRot="1" noChangeAspect="1" noMove="1" noResize="1" noEditPoints="1" noAdjustHandles="1" noChangeArrowheads="1" noChangeShapeType="1" noTextEdit="1"/>
              </p:cNvSpPr>
              <p:nvPr/>
            </p:nvSpPr>
            <p:spPr>
              <a:xfrm>
                <a:off x="1016381" y="985416"/>
                <a:ext cx="4696288" cy="630318"/>
              </a:xfrm>
              <a:prstGeom prst="rect">
                <a:avLst/>
              </a:prstGeom>
              <a:blipFill>
                <a:blip r:embed="rId3"/>
                <a:stretch>
                  <a:fillRect/>
                </a:stretch>
              </a:blipFill>
              <a:ln>
                <a:solidFill>
                  <a:schemeClr val="accent1"/>
                </a:solidFill>
              </a:ln>
            </p:spPr>
            <p:txBody>
              <a:bodyPr/>
              <a:lstStyle/>
              <a:p>
                <a:r>
                  <a:rPr lang="en-US">
                    <a:noFill/>
                  </a:rPr>
                  <a:t> </a:t>
                </a:r>
              </a:p>
            </p:txBody>
          </p:sp>
        </mc:Fallback>
      </mc:AlternateContent>
      <p:sp>
        <p:nvSpPr>
          <p:cNvPr id="12" name="Content Placeholder 2">
            <a:extLst>
              <a:ext uri="{FF2B5EF4-FFF2-40B4-BE49-F238E27FC236}">
                <a16:creationId xmlns:a16="http://schemas.microsoft.com/office/drawing/2014/main" id="{7E1AFE59-E301-5E42-BAE8-A0AEB2A7A9B9}"/>
              </a:ext>
            </a:extLst>
          </p:cNvPr>
          <p:cNvSpPr txBox="1">
            <a:spLocks/>
          </p:cNvSpPr>
          <p:nvPr/>
        </p:nvSpPr>
        <p:spPr>
          <a:xfrm>
            <a:off x="5965791" y="985418"/>
            <a:ext cx="5584053" cy="851266"/>
          </a:xfrm>
          <a:prstGeom prst="rect">
            <a:avLst/>
          </a:prstGeom>
          <a:noFill/>
          <a:ln>
            <a:solidFill>
              <a:schemeClr val="accent1"/>
            </a:solidFill>
          </a:ln>
        </p:spPr>
        <p:txBody>
          <a:bodyPr vert="horz" lIns="91440" tIns="45720" rIns="91440" bIns="45720" rtlCol="0">
            <a:no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dirty="0">
                <a:solidFill>
                  <a:schemeClr val="tx1">
                    <a:lumMod val="95000"/>
                  </a:schemeClr>
                </a:solidFill>
              </a:rPr>
              <a:t>The graph we construct needs to:</a:t>
            </a:r>
            <a:endParaRPr lang="en-US" sz="1600" b="1" i="1" u="sng" dirty="0">
              <a:solidFill>
                <a:schemeClr val="tx1">
                  <a:lumMod val="95000"/>
                </a:schemeClr>
              </a:solidFill>
            </a:endParaRPr>
          </a:p>
          <a:p>
            <a:pPr marL="0" indent="0">
              <a:buFont typeface="Arial" panose="020B0604020202020204" pitchFamily="34" charset="0"/>
              <a:buNone/>
            </a:pPr>
            <a:r>
              <a:rPr lang="en-US" sz="1600" dirty="0">
                <a:solidFill>
                  <a:schemeClr val="tx1">
                    <a:lumMod val="95000"/>
                  </a:schemeClr>
                </a:solidFill>
              </a:rPr>
              <a:t>- </a:t>
            </a:r>
            <a:r>
              <a:rPr lang="en-US" sz="1600" b="1" i="1" u="sng" dirty="0">
                <a:solidFill>
                  <a:schemeClr val="tx1">
                    <a:lumMod val="95000"/>
                  </a:schemeClr>
                </a:solidFill>
              </a:rPr>
              <a:t>Model the fact that at least one variable per clause must be chosen.</a:t>
            </a:r>
          </a:p>
        </p:txBody>
      </p:sp>
      <p:sp>
        <p:nvSpPr>
          <p:cNvPr id="69" name="Content Placeholder 2">
            <a:extLst>
              <a:ext uri="{FF2B5EF4-FFF2-40B4-BE49-F238E27FC236}">
                <a16:creationId xmlns:a16="http://schemas.microsoft.com/office/drawing/2014/main" id="{73677A56-F559-4D42-8A7D-10921F7B982A}"/>
              </a:ext>
            </a:extLst>
          </p:cNvPr>
          <p:cNvSpPr txBox="1">
            <a:spLocks/>
          </p:cNvSpPr>
          <p:nvPr/>
        </p:nvSpPr>
        <p:spPr>
          <a:xfrm>
            <a:off x="5163918" y="2902826"/>
            <a:ext cx="5596043" cy="2150020"/>
          </a:xfrm>
          <a:prstGeom prst="rect">
            <a:avLst/>
          </a:prstGeom>
          <a:noFill/>
          <a:ln>
            <a:solidFill>
              <a:schemeClr val="tx1">
                <a:lumMod val="95000"/>
              </a:schemeClr>
            </a:solidFill>
          </a:ln>
        </p:spPr>
        <p:txBody>
          <a:bodyPr vert="horz" lIns="91440" tIns="45720" rIns="91440" bIns="45720" rtlCol="0">
            <a:no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400" b="1" i="1" u="sng" dirty="0">
                <a:solidFill>
                  <a:schemeClr val="tx1">
                    <a:lumMod val="95000"/>
                  </a:schemeClr>
                </a:solidFill>
              </a:rPr>
              <a:t>Quick Aside</a:t>
            </a:r>
            <a:r>
              <a:rPr lang="en-US" sz="1400" dirty="0">
                <a:solidFill>
                  <a:schemeClr val="tx1">
                    <a:lumMod val="95000"/>
                  </a:schemeClr>
                </a:solidFill>
              </a:rPr>
              <a:t>:</a:t>
            </a:r>
            <a:br>
              <a:rPr lang="en-US" sz="1400" dirty="0">
                <a:solidFill>
                  <a:schemeClr val="tx1">
                    <a:lumMod val="95000"/>
                  </a:schemeClr>
                </a:solidFill>
              </a:rPr>
            </a:br>
            <a:r>
              <a:rPr lang="en-US" sz="1400" dirty="0">
                <a:solidFill>
                  <a:schemeClr val="tx1">
                    <a:lumMod val="95000"/>
                  </a:schemeClr>
                </a:solidFill>
              </a:rPr>
              <a:t>Notice that in some cases, we can color the output to the neutral color. We will handle this issue in a moment.</a:t>
            </a:r>
          </a:p>
          <a:p>
            <a:pPr marL="0" indent="0">
              <a:buFont typeface="Arial" panose="020B0604020202020204" pitchFamily="34" charset="0"/>
              <a:buNone/>
            </a:pPr>
            <a:r>
              <a:rPr lang="en-US" sz="1400" dirty="0">
                <a:solidFill>
                  <a:schemeClr val="tx1">
                    <a:lumMod val="95000"/>
                  </a:schemeClr>
                </a:solidFill>
              </a:rPr>
              <a:t>But, it is still the case that we CAN color the output True if and only if one of the input nodes is colored True.</a:t>
            </a:r>
          </a:p>
        </p:txBody>
      </p:sp>
      <p:sp>
        <p:nvSpPr>
          <p:cNvPr id="98" name="Content Placeholder 2">
            <a:extLst>
              <a:ext uri="{FF2B5EF4-FFF2-40B4-BE49-F238E27FC236}">
                <a16:creationId xmlns:a16="http://schemas.microsoft.com/office/drawing/2014/main" id="{E4F12B9F-F679-9F42-AAF0-E2F676F29A99}"/>
              </a:ext>
            </a:extLst>
          </p:cNvPr>
          <p:cNvSpPr txBox="1">
            <a:spLocks/>
          </p:cNvSpPr>
          <p:nvPr/>
        </p:nvSpPr>
        <p:spPr>
          <a:xfrm>
            <a:off x="2256236" y="3143313"/>
            <a:ext cx="2656444" cy="1490873"/>
          </a:xfrm>
          <a:prstGeom prst="rect">
            <a:avLst/>
          </a:prstGeom>
          <a:noFill/>
          <a:ln>
            <a:solidFill>
              <a:schemeClr val="tx1">
                <a:lumMod val="95000"/>
              </a:schemeClr>
            </a:solidFill>
          </a:ln>
        </p:spPr>
        <p:txBody>
          <a:bodyPr vert="horz" lIns="91440" tIns="45720" rIns="91440" bIns="45720" rtlCol="0">
            <a:no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endParaRPr lang="en-US" sz="1600" dirty="0">
              <a:solidFill>
                <a:schemeClr val="tx1">
                  <a:lumMod val="95000"/>
                </a:schemeClr>
              </a:solidFill>
            </a:endParaRPr>
          </a:p>
        </p:txBody>
      </p:sp>
      <p:sp>
        <p:nvSpPr>
          <p:cNvPr id="99" name="Content Placeholder 2">
            <a:extLst>
              <a:ext uri="{FF2B5EF4-FFF2-40B4-BE49-F238E27FC236}">
                <a16:creationId xmlns:a16="http://schemas.microsoft.com/office/drawing/2014/main" id="{3AD4F509-326B-6649-AAF4-0C0AAD5C5EB5}"/>
              </a:ext>
            </a:extLst>
          </p:cNvPr>
          <p:cNvSpPr txBox="1">
            <a:spLocks/>
          </p:cNvSpPr>
          <p:nvPr/>
        </p:nvSpPr>
        <p:spPr>
          <a:xfrm>
            <a:off x="2256235" y="2866955"/>
            <a:ext cx="2656445" cy="280391"/>
          </a:xfrm>
          <a:prstGeom prst="rect">
            <a:avLst/>
          </a:prstGeom>
          <a:noFill/>
          <a:ln>
            <a:noFill/>
          </a:ln>
        </p:spPr>
        <p:txBody>
          <a:bodyPr vert="horz" lIns="91440" tIns="45720" rIns="91440" bIns="45720" rtlCol="0">
            <a:no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400" dirty="0">
                <a:solidFill>
                  <a:schemeClr val="tx1">
                    <a:lumMod val="95000"/>
                  </a:schemeClr>
                </a:solidFill>
              </a:rPr>
              <a:t>True / False</a:t>
            </a:r>
          </a:p>
        </p:txBody>
      </p:sp>
      <p:sp>
        <p:nvSpPr>
          <p:cNvPr id="100" name="Oval 99">
            <a:extLst>
              <a:ext uri="{FF2B5EF4-FFF2-40B4-BE49-F238E27FC236}">
                <a16:creationId xmlns:a16="http://schemas.microsoft.com/office/drawing/2014/main" id="{97470EF6-BFAD-684B-9B9D-63F1297662D5}"/>
              </a:ext>
            </a:extLst>
          </p:cNvPr>
          <p:cNvSpPr/>
          <p:nvPr/>
        </p:nvSpPr>
        <p:spPr>
          <a:xfrm>
            <a:off x="3370951" y="3330892"/>
            <a:ext cx="397193" cy="397193"/>
          </a:xfrm>
          <a:prstGeom prst="ellipse">
            <a:avLst/>
          </a:prstGeom>
          <a:solidFill>
            <a:schemeClr val="accent4">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bg1"/>
                </a:solidFill>
              </a:rPr>
              <a:t>F</a:t>
            </a:r>
          </a:p>
        </p:txBody>
      </p:sp>
      <p:cxnSp>
        <p:nvCxnSpPr>
          <p:cNvPr id="101" name="Straight Connector 100">
            <a:extLst>
              <a:ext uri="{FF2B5EF4-FFF2-40B4-BE49-F238E27FC236}">
                <a16:creationId xmlns:a16="http://schemas.microsoft.com/office/drawing/2014/main" id="{31027D95-3C31-304E-BD25-A8571530FC86}"/>
              </a:ext>
            </a:extLst>
          </p:cNvPr>
          <p:cNvCxnSpPr>
            <a:cxnSpLocks/>
            <a:stCxn id="100" idx="4"/>
            <a:endCxn id="104" idx="0"/>
          </p:cNvCxnSpPr>
          <p:nvPr/>
        </p:nvCxnSpPr>
        <p:spPr>
          <a:xfrm>
            <a:off x="3569548" y="3728085"/>
            <a:ext cx="4611" cy="274423"/>
          </a:xfrm>
          <a:prstGeom prst="line">
            <a:avLst/>
          </a:prstGeom>
        </p:spPr>
        <p:style>
          <a:lnRef idx="1">
            <a:schemeClr val="accent1"/>
          </a:lnRef>
          <a:fillRef idx="0">
            <a:schemeClr val="accent1"/>
          </a:fillRef>
          <a:effectRef idx="0">
            <a:schemeClr val="accent1"/>
          </a:effectRef>
          <a:fontRef idx="minor">
            <a:schemeClr val="tx1"/>
          </a:fontRef>
        </p:style>
      </p:cxnSp>
      <p:cxnSp>
        <p:nvCxnSpPr>
          <p:cNvPr id="102" name="Straight Connector 101">
            <a:extLst>
              <a:ext uri="{FF2B5EF4-FFF2-40B4-BE49-F238E27FC236}">
                <a16:creationId xmlns:a16="http://schemas.microsoft.com/office/drawing/2014/main" id="{CF1D672C-E8A7-5649-9743-2CFB5499388F}"/>
              </a:ext>
            </a:extLst>
          </p:cNvPr>
          <p:cNvCxnSpPr>
            <a:cxnSpLocks/>
            <a:stCxn id="105" idx="3"/>
            <a:endCxn id="104" idx="6"/>
          </p:cNvCxnSpPr>
          <p:nvPr/>
        </p:nvCxnSpPr>
        <p:spPr>
          <a:xfrm flipH="1">
            <a:off x="3772755" y="3981107"/>
            <a:ext cx="316387" cy="219998"/>
          </a:xfrm>
          <a:prstGeom prst="line">
            <a:avLst/>
          </a:prstGeom>
        </p:spPr>
        <p:style>
          <a:lnRef idx="1">
            <a:schemeClr val="accent1"/>
          </a:lnRef>
          <a:fillRef idx="0">
            <a:schemeClr val="accent1"/>
          </a:fillRef>
          <a:effectRef idx="0">
            <a:schemeClr val="accent1"/>
          </a:effectRef>
          <a:fontRef idx="minor">
            <a:schemeClr val="tx1"/>
          </a:fontRef>
        </p:style>
      </p:cxnSp>
      <p:cxnSp>
        <p:nvCxnSpPr>
          <p:cNvPr id="103" name="Straight Connector 102">
            <a:extLst>
              <a:ext uri="{FF2B5EF4-FFF2-40B4-BE49-F238E27FC236}">
                <a16:creationId xmlns:a16="http://schemas.microsoft.com/office/drawing/2014/main" id="{D95F69FB-4586-2341-BEF5-10395A809E15}"/>
              </a:ext>
            </a:extLst>
          </p:cNvPr>
          <p:cNvCxnSpPr>
            <a:cxnSpLocks/>
            <a:stCxn id="105" idx="1"/>
            <a:endCxn id="100" idx="6"/>
          </p:cNvCxnSpPr>
          <p:nvPr/>
        </p:nvCxnSpPr>
        <p:spPr>
          <a:xfrm flipH="1" flipV="1">
            <a:off x="3768144" y="3529489"/>
            <a:ext cx="320998" cy="170761"/>
          </a:xfrm>
          <a:prstGeom prst="line">
            <a:avLst/>
          </a:prstGeom>
        </p:spPr>
        <p:style>
          <a:lnRef idx="1">
            <a:schemeClr val="accent1"/>
          </a:lnRef>
          <a:fillRef idx="0">
            <a:schemeClr val="accent1"/>
          </a:fillRef>
          <a:effectRef idx="0">
            <a:schemeClr val="accent1"/>
          </a:effectRef>
          <a:fontRef idx="minor">
            <a:schemeClr val="tx1"/>
          </a:fontRef>
        </p:style>
      </p:cxnSp>
      <p:sp>
        <p:nvSpPr>
          <p:cNvPr id="104" name="Oval 103">
            <a:extLst>
              <a:ext uri="{FF2B5EF4-FFF2-40B4-BE49-F238E27FC236}">
                <a16:creationId xmlns:a16="http://schemas.microsoft.com/office/drawing/2014/main" id="{D1DA8252-159C-7E4F-A698-4541C14511A5}"/>
              </a:ext>
            </a:extLst>
          </p:cNvPr>
          <p:cNvSpPr/>
          <p:nvPr/>
        </p:nvSpPr>
        <p:spPr>
          <a:xfrm>
            <a:off x="3375562" y="4002508"/>
            <a:ext cx="397193" cy="397193"/>
          </a:xfrm>
          <a:prstGeom prst="ellipse">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bg1"/>
                </a:solidFill>
              </a:rPr>
              <a:t>T</a:t>
            </a:r>
          </a:p>
        </p:txBody>
      </p:sp>
      <p:sp>
        <p:nvSpPr>
          <p:cNvPr id="105" name="Oval 104">
            <a:extLst>
              <a:ext uri="{FF2B5EF4-FFF2-40B4-BE49-F238E27FC236}">
                <a16:creationId xmlns:a16="http://schemas.microsoft.com/office/drawing/2014/main" id="{846DDBCC-6C8A-2546-AAAE-B7A994B6618A}"/>
              </a:ext>
            </a:extLst>
          </p:cNvPr>
          <p:cNvSpPr/>
          <p:nvPr/>
        </p:nvSpPr>
        <p:spPr>
          <a:xfrm>
            <a:off x="4023994" y="3642082"/>
            <a:ext cx="444858" cy="397193"/>
          </a:xfrm>
          <a:prstGeom prst="ellipse">
            <a:avLst/>
          </a:prstGeom>
          <a:solidFill>
            <a:schemeClr val="accent2">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bg1"/>
                </a:solidFill>
              </a:rPr>
              <a:t>N</a:t>
            </a:r>
          </a:p>
        </p:txBody>
      </p:sp>
      <p:cxnSp>
        <p:nvCxnSpPr>
          <p:cNvPr id="106" name="Straight Connector 105">
            <a:extLst>
              <a:ext uri="{FF2B5EF4-FFF2-40B4-BE49-F238E27FC236}">
                <a16:creationId xmlns:a16="http://schemas.microsoft.com/office/drawing/2014/main" id="{D5E132BC-DD11-5E45-92A2-22F83C6BD13E}"/>
              </a:ext>
            </a:extLst>
          </p:cNvPr>
          <p:cNvCxnSpPr>
            <a:cxnSpLocks/>
            <a:endCxn id="105" idx="6"/>
          </p:cNvCxnSpPr>
          <p:nvPr/>
        </p:nvCxnSpPr>
        <p:spPr>
          <a:xfrm flipH="1">
            <a:off x="4468852" y="3840678"/>
            <a:ext cx="330318" cy="1"/>
          </a:xfrm>
          <a:prstGeom prst="line">
            <a:avLst/>
          </a:prstGeom>
        </p:spPr>
        <p:style>
          <a:lnRef idx="1">
            <a:schemeClr val="accent1"/>
          </a:lnRef>
          <a:fillRef idx="0">
            <a:schemeClr val="accent1"/>
          </a:fillRef>
          <a:effectRef idx="0">
            <a:schemeClr val="accent1"/>
          </a:effectRef>
          <a:fontRef idx="minor">
            <a:schemeClr val="tx1"/>
          </a:fontRef>
        </p:style>
      </p:cxnSp>
      <p:sp>
        <p:nvSpPr>
          <p:cNvPr id="107" name="Oval 106">
            <a:extLst>
              <a:ext uri="{FF2B5EF4-FFF2-40B4-BE49-F238E27FC236}">
                <a16:creationId xmlns:a16="http://schemas.microsoft.com/office/drawing/2014/main" id="{81F0B342-5087-2648-847D-8BEA135A4DB0}"/>
              </a:ext>
            </a:extLst>
          </p:cNvPr>
          <p:cNvSpPr/>
          <p:nvPr/>
        </p:nvSpPr>
        <p:spPr>
          <a:xfrm>
            <a:off x="2360064" y="3336670"/>
            <a:ext cx="397193" cy="39719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bg1"/>
                </a:solidFill>
              </a:rPr>
              <a:t>T</a:t>
            </a:r>
          </a:p>
        </p:txBody>
      </p:sp>
      <p:sp>
        <p:nvSpPr>
          <p:cNvPr id="108" name="Oval 107">
            <a:extLst>
              <a:ext uri="{FF2B5EF4-FFF2-40B4-BE49-F238E27FC236}">
                <a16:creationId xmlns:a16="http://schemas.microsoft.com/office/drawing/2014/main" id="{E084D80B-F4DF-194C-B938-88CBD860B0BD}"/>
              </a:ext>
            </a:extLst>
          </p:cNvPr>
          <p:cNvSpPr/>
          <p:nvPr/>
        </p:nvSpPr>
        <p:spPr>
          <a:xfrm>
            <a:off x="2364675" y="4008286"/>
            <a:ext cx="397193" cy="397193"/>
          </a:xfrm>
          <a:prstGeom prst="ellipse">
            <a:avLst/>
          </a:prstGeom>
          <a:solidFill>
            <a:schemeClr val="accent4">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bg1"/>
                </a:solidFill>
              </a:rPr>
              <a:t>F</a:t>
            </a:r>
          </a:p>
        </p:txBody>
      </p:sp>
      <p:cxnSp>
        <p:nvCxnSpPr>
          <p:cNvPr id="109" name="Straight Connector 108">
            <a:extLst>
              <a:ext uri="{FF2B5EF4-FFF2-40B4-BE49-F238E27FC236}">
                <a16:creationId xmlns:a16="http://schemas.microsoft.com/office/drawing/2014/main" id="{BF28E769-0511-944B-B501-19C382051CF1}"/>
              </a:ext>
            </a:extLst>
          </p:cNvPr>
          <p:cNvCxnSpPr>
            <a:cxnSpLocks/>
            <a:stCxn id="100" idx="2"/>
            <a:endCxn id="107" idx="6"/>
          </p:cNvCxnSpPr>
          <p:nvPr/>
        </p:nvCxnSpPr>
        <p:spPr>
          <a:xfrm flipH="1">
            <a:off x="2757257" y="3529489"/>
            <a:ext cx="613694" cy="5778"/>
          </a:xfrm>
          <a:prstGeom prst="line">
            <a:avLst/>
          </a:prstGeom>
        </p:spPr>
        <p:style>
          <a:lnRef idx="1">
            <a:schemeClr val="accent1"/>
          </a:lnRef>
          <a:fillRef idx="0">
            <a:schemeClr val="accent1"/>
          </a:fillRef>
          <a:effectRef idx="0">
            <a:schemeClr val="accent1"/>
          </a:effectRef>
          <a:fontRef idx="minor">
            <a:schemeClr val="tx1"/>
          </a:fontRef>
        </p:style>
      </p:cxnSp>
      <p:cxnSp>
        <p:nvCxnSpPr>
          <p:cNvPr id="110" name="Straight Connector 109">
            <a:extLst>
              <a:ext uri="{FF2B5EF4-FFF2-40B4-BE49-F238E27FC236}">
                <a16:creationId xmlns:a16="http://schemas.microsoft.com/office/drawing/2014/main" id="{12A9CDD7-9665-9541-B4F8-82E12CFFE959}"/>
              </a:ext>
            </a:extLst>
          </p:cNvPr>
          <p:cNvCxnSpPr>
            <a:cxnSpLocks/>
            <a:stCxn id="104" idx="2"/>
            <a:endCxn id="108" idx="6"/>
          </p:cNvCxnSpPr>
          <p:nvPr/>
        </p:nvCxnSpPr>
        <p:spPr>
          <a:xfrm flipH="1">
            <a:off x="2761868" y="4201105"/>
            <a:ext cx="613694" cy="5778"/>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39055939"/>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 name="Content Placeholder 2">
            <a:extLst>
              <a:ext uri="{FF2B5EF4-FFF2-40B4-BE49-F238E27FC236}">
                <a16:creationId xmlns:a16="http://schemas.microsoft.com/office/drawing/2014/main" id="{0427819E-6203-8E40-8DE4-D7949F8FDD0F}"/>
              </a:ext>
            </a:extLst>
          </p:cNvPr>
          <p:cNvSpPr txBox="1">
            <a:spLocks/>
          </p:cNvSpPr>
          <p:nvPr/>
        </p:nvSpPr>
        <p:spPr>
          <a:xfrm>
            <a:off x="1818686" y="4903080"/>
            <a:ext cx="4172215" cy="1546297"/>
          </a:xfrm>
          <a:prstGeom prst="rect">
            <a:avLst/>
          </a:prstGeom>
          <a:noFill/>
          <a:ln>
            <a:solidFill>
              <a:schemeClr val="tx1">
                <a:lumMod val="95000"/>
              </a:schemeClr>
            </a:solidFill>
          </a:ln>
        </p:spPr>
        <p:txBody>
          <a:bodyPr vert="horz" lIns="91440" tIns="45720" rIns="91440" bIns="45720" rtlCol="0">
            <a:no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endParaRPr lang="en-US" sz="1600" dirty="0">
              <a:solidFill>
                <a:schemeClr val="tx1">
                  <a:lumMod val="95000"/>
                </a:schemeClr>
              </a:solidFill>
            </a:endParaRPr>
          </a:p>
        </p:txBody>
      </p:sp>
      <mc:AlternateContent xmlns:mc="http://schemas.openxmlformats.org/markup-compatibility/2006" xmlns:a14="http://schemas.microsoft.com/office/drawing/2010/main">
        <mc:Choice Requires="a14">
          <p:sp>
            <p:nvSpPr>
              <p:cNvPr id="2" name="Title 1"/>
              <p:cNvSpPr>
                <a:spLocks noGrp="1"/>
              </p:cNvSpPr>
              <p:nvPr>
                <p:ph type="title"/>
              </p:nvPr>
            </p:nvSpPr>
            <p:spPr>
              <a:xfrm>
                <a:off x="1141413" y="192390"/>
                <a:ext cx="9905998" cy="695377"/>
              </a:xfrm>
            </p:spPr>
            <p: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3</m:t>
                      </m:r>
                      <m:r>
                        <a:rPr lang="en-US" b="0" i="1" smtClean="0">
                          <a:latin typeface="Cambria Math" panose="02040503050406030204" pitchFamily="18" charset="0"/>
                        </a:rPr>
                        <m:t>𝑆𝐴𝑇</m:t>
                      </m:r>
                      <m:sSub>
                        <m:sSubPr>
                          <m:ctrlPr>
                            <a:rPr lang="en-US" b="0" i="1" smtClean="0">
                              <a:latin typeface="Cambria Math" panose="02040503050406030204" pitchFamily="18" charset="0"/>
                            </a:rPr>
                          </m:ctrlPr>
                        </m:sSubPr>
                        <m:e>
                          <m:r>
                            <a:rPr lang="en-US" b="0" i="1" smtClean="0">
                              <a:latin typeface="Cambria Math" panose="02040503050406030204" pitchFamily="18" charset="0"/>
                            </a:rPr>
                            <m:t>≤</m:t>
                          </m:r>
                        </m:e>
                        <m:sub>
                          <m:r>
                            <a:rPr lang="en-US" b="0" i="1" smtClean="0">
                              <a:latin typeface="Cambria Math" panose="02040503050406030204" pitchFamily="18" charset="0"/>
                            </a:rPr>
                            <m:t>𝑝</m:t>
                          </m:r>
                        </m:sub>
                      </m:sSub>
                      <m:r>
                        <a:rPr lang="en-US" b="0" i="1" smtClean="0">
                          <a:latin typeface="Cambria Math" panose="02040503050406030204" pitchFamily="18" charset="0"/>
                        </a:rPr>
                        <m:t>3</m:t>
                      </m:r>
                      <m:r>
                        <a:rPr lang="en-US" b="0" i="1" smtClean="0">
                          <a:latin typeface="Cambria Math" panose="02040503050406030204" pitchFamily="18" charset="0"/>
                        </a:rPr>
                        <m:t>𝐶</m:t>
                      </m:r>
                    </m:oMath>
                  </m:oMathPara>
                </a14:m>
                <a:endParaRPr lang="en-US" dirty="0"/>
              </a:p>
            </p:txBody>
          </p:sp>
        </mc:Choice>
        <mc:Fallback xmlns="">
          <p:sp>
            <p:nvSpPr>
              <p:cNvPr id="2" name="Title 1"/>
              <p:cNvSpPr>
                <a:spLocks noGrp="1" noRot="1" noChangeAspect="1" noMove="1" noResize="1" noEditPoints="1" noAdjustHandles="1" noChangeArrowheads="1" noChangeShapeType="1" noTextEdit="1"/>
              </p:cNvSpPr>
              <p:nvPr>
                <p:ph type="title"/>
              </p:nvPr>
            </p:nvSpPr>
            <p:spPr>
              <a:xfrm>
                <a:off x="1141413" y="192390"/>
                <a:ext cx="9905998" cy="695377"/>
              </a:xfrm>
              <a:blipFill>
                <a:blip r:embed="rId2"/>
                <a:stretch>
                  <a:fillRect b="-71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Content Placeholder 2">
                <a:extLst>
                  <a:ext uri="{FF2B5EF4-FFF2-40B4-BE49-F238E27FC236}">
                    <a16:creationId xmlns:a16="http://schemas.microsoft.com/office/drawing/2014/main" id="{3A4FEE7E-EBFB-5E40-9644-716490691FB8}"/>
                  </a:ext>
                </a:extLst>
              </p:cNvPr>
              <p:cNvSpPr txBox="1">
                <a:spLocks/>
              </p:cNvSpPr>
              <p:nvPr/>
            </p:nvSpPr>
            <p:spPr>
              <a:xfrm>
                <a:off x="1016381" y="1206135"/>
                <a:ext cx="4696288" cy="630318"/>
              </a:xfrm>
              <a:prstGeom prst="rect">
                <a:avLst/>
              </a:prstGeom>
              <a:noFill/>
              <a:ln>
                <a:solidFill>
                  <a:schemeClr val="accent1"/>
                </a:solidFill>
              </a:ln>
            </p:spPr>
            <p:txBody>
              <a:bodyPr vert="horz" lIns="91440" tIns="45720" rIns="91440" bIns="45720" rtlCol="0">
                <a:no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14:m>
                  <m:oMathPara xmlns:m="http://schemas.openxmlformats.org/officeDocument/2006/math">
                    <m:oMathParaPr>
                      <m:jc m:val="centerGroup"/>
                    </m:oMathParaPr>
                    <m:oMath xmlns:m="http://schemas.openxmlformats.org/officeDocument/2006/math">
                      <m:r>
                        <a:rPr lang="en-US" b="0" i="1" smtClean="0">
                          <a:solidFill>
                            <a:schemeClr val="tx1">
                              <a:lumMod val="95000"/>
                            </a:schemeClr>
                          </a:solidFill>
                          <a:latin typeface="Cambria Math" panose="02040503050406030204" pitchFamily="18" charset="0"/>
                        </a:rPr>
                        <m:t>𝜃</m:t>
                      </m:r>
                      <m:r>
                        <a:rPr lang="en-US" b="0" i="1" smtClean="0">
                          <a:solidFill>
                            <a:schemeClr val="tx1">
                              <a:lumMod val="95000"/>
                            </a:schemeClr>
                          </a:solidFill>
                          <a:latin typeface="Cambria Math" panose="02040503050406030204" pitchFamily="18" charset="0"/>
                        </a:rPr>
                        <m:t>=</m:t>
                      </m:r>
                      <m:d>
                        <m:dPr>
                          <m:ctrlPr>
                            <a:rPr lang="en-US" b="0" i="1" smtClean="0">
                              <a:solidFill>
                                <a:schemeClr val="tx1">
                                  <a:lumMod val="95000"/>
                                </a:schemeClr>
                              </a:solidFill>
                              <a:latin typeface="Cambria Math" panose="02040503050406030204" pitchFamily="18" charset="0"/>
                            </a:rPr>
                          </m:ctrlPr>
                        </m:dPr>
                        <m:e>
                          <m:r>
                            <a:rPr lang="en-US" b="0" i="1" smtClean="0">
                              <a:solidFill>
                                <a:schemeClr val="tx1">
                                  <a:lumMod val="95000"/>
                                </a:schemeClr>
                              </a:solidFill>
                              <a:latin typeface="Cambria Math" panose="02040503050406030204" pitchFamily="18" charset="0"/>
                            </a:rPr>
                            <m:t>𝑢</m:t>
                          </m:r>
                          <m:r>
                            <a:rPr lang="en-US" b="0" i="1" smtClean="0">
                              <a:solidFill>
                                <a:schemeClr val="tx1">
                                  <a:lumMod val="95000"/>
                                </a:schemeClr>
                              </a:solidFill>
                              <a:latin typeface="Cambria Math" panose="02040503050406030204" pitchFamily="18" charset="0"/>
                            </a:rPr>
                            <m:t>∨¬</m:t>
                          </m:r>
                          <m:r>
                            <a:rPr lang="en-US" b="0" i="1" smtClean="0">
                              <a:solidFill>
                                <a:schemeClr val="tx1">
                                  <a:lumMod val="95000"/>
                                </a:schemeClr>
                              </a:solidFill>
                              <a:latin typeface="Cambria Math" panose="02040503050406030204" pitchFamily="18" charset="0"/>
                            </a:rPr>
                            <m:t>𝑣</m:t>
                          </m:r>
                          <m:r>
                            <a:rPr lang="en-US" b="0" i="1" smtClean="0">
                              <a:solidFill>
                                <a:schemeClr val="tx1">
                                  <a:lumMod val="95000"/>
                                </a:schemeClr>
                              </a:solidFill>
                              <a:latin typeface="Cambria Math" panose="02040503050406030204" pitchFamily="18" charset="0"/>
                            </a:rPr>
                            <m:t>∨</m:t>
                          </m:r>
                          <m:r>
                            <a:rPr lang="en-US" b="0" i="1" smtClean="0">
                              <a:solidFill>
                                <a:schemeClr val="tx1">
                                  <a:lumMod val="95000"/>
                                </a:schemeClr>
                              </a:solidFill>
                              <a:latin typeface="Cambria Math" panose="02040503050406030204" pitchFamily="18" charset="0"/>
                            </a:rPr>
                            <m:t>𝑤</m:t>
                          </m:r>
                        </m:e>
                      </m:d>
                      <m:r>
                        <a:rPr lang="en-US" b="0" i="1" smtClean="0">
                          <a:solidFill>
                            <a:schemeClr val="tx1">
                              <a:lumMod val="95000"/>
                            </a:schemeClr>
                          </a:solidFill>
                          <a:latin typeface="Cambria Math" panose="02040503050406030204" pitchFamily="18" charset="0"/>
                        </a:rPr>
                        <m:t>∧(</m:t>
                      </m:r>
                      <m:r>
                        <a:rPr lang="en-US" b="0" i="1" smtClean="0">
                          <a:solidFill>
                            <a:schemeClr val="tx1">
                              <a:lumMod val="95000"/>
                            </a:schemeClr>
                          </a:solidFill>
                          <a:latin typeface="Cambria Math" panose="02040503050406030204" pitchFamily="18" charset="0"/>
                        </a:rPr>
                        <m:t>𝑣</m:t>
                      </m:r>
                      <m:r>
                        <a:rPr lang="en-US" b="0" i="1" smtClean="0">
                          <a:solidFill>
                            <a:schemeClr val="tx1">
                              <a:lumMod val="95000"/>
                            </a:schemeClr>
                          </a:solidFill>
                          <a:latin typeface="Cambria Math" panose="02040503050406030204" pitchFamily="18" charset="0"/>
                        </a:rPr>
                        <m:t>∨</m:t>
                      </m:r>
                      <m:r>
                        <a:rPr lang="en-US" b="0" i="1" smtClean="0">
                          <a:solidFill>
                            <a:schemeClr val="tx1">
                              <a:lumMod val="95000"/>
                            </a:schemeClr>
                          </a:solidFill>
                          <a:latin typeface="Cambria Math" panose="02040503050406030204" pitchFamily="18" charset="0"/>
                        </a:rPr>
                        <m:t>𝑥</m:t>
                      </m:r>
                      <m:r>
                        <a:rPr lang="en-US" b="0" i="1" smtClean="0">
                          <a:solidFill>
                            <a:schemeClr val="tx1">
                              <a:lumMod val="95000"/>
                            </a:schemeClr>
                          </a:solidFill>
                          <a:latin typeface="Cambria Math" panose="02040503050406030204" pitchFamily="18" charset="0"/>
                        </a:rPr>
                        <m:t>∨¬</m:t>
                      </m:r>
                      <m:r>
                        <a:rPr lang="en-US" b="0" i="1" smtClean="0">
                          <a:solidFill>
                            <a:schemeClr val="tx1">
                              <a:lumMod val="95000"/>
                            </a:schemeClr>
                          </a:solidFill>
                          <a:latin typeface="Cambria Math" panose="02040503050406030204" pitchFamily="18" charset="0"/>
                        </a:rPr>
                        <m:t>𝑦</m:t>
                      </m:r>
                      <m:r>
                        <a:rPr lang="en-US" b="0" i="1" smtClean="0">
                          <a:solidFill>
                            <a:schemeClr val="tx1">
                              <a:lumMod val="95000"/>
                            </a:schemeClr>
                          </a:solidFill>
                          <a:latin typeface="Cambria Math" panose="02040503050406030204" pitchFamily="18" charset="0"/>
                        </a:rPr>
                        <m:t>)</m:t>
                      </m:r>
                    </m:oMath>
                  </m:oMathPara>
                </a14:m>
                <a:endParaRPr lang="en-US" dirty="0">
                  <a:solidFill>
                    <a:schemeClr val="tx1">
                      <a:lumMod val="95000"/>
                    </a:schemeClr>
                  </a:solidFill>
                </a:endParaRPr>
              </a:p>
            </p:txBody>
          </p:sp>
        </mc:Choice>
        <mc:Fallback xmlns="">
          <p:sp>
            <p:nvSpPr>
              <p:cNvPr id="37" name="Content Placeholder 2">
                <a:extLst>
                  <a:ext uri="{FF2B5EF4-FFF2-40B4-BE49-F238E27FC236}">
                    <a16:creationId xmlns:a16="http://schemas.microsoft.com/office/drawing/2014/main" id="{3A4FEE7E-EBFB-5E40-9644-716490691FB8}"/>
                  </a:ext>
                </a:extLst>
              </p:cNvPr>
              <p:cNvSpPr txBox="1">
                <a:spLocks noRot="1" noChangeAspect="1" noMove="1" noResize="1" noEditPoints="1" noAdjustHandles="1" noChangeArrowheads="1" noChangeShapeType="1" noTextEdit="1"/>
              </p:cNvSpPr>
              <p:nvPr/>
            </p:nvSpPr>
            <p:spPr>
              <a:xfrm>
                <a:off x="1016381" y="1206135"/>
                <a:ext cx="4696288" cy="630318"/>
              </a:xfrm>
              <a:prstGeom prst="rect">
                <a:avLst/>
              </a:prstGeom>
              <a:blipFill>
                <a:blip r:embed="rId3"/>
                <a:stretch>
                  <a:fillRect/>
                </a:stretch>
              </a:blipFill>
              <a:ln>
                <a:solidFill>
                  <a:schemeClr val="accent1"/>
                </a:solidFill>
              </a:ln>
            </p:spPr>
            <p:txBody>
              <a:bodyPr/>
              <a:lstStyle/>
              <a:p>
                <a:r>
                  <a:rPr lang="en-US">
                    <a:noFill/>
                  </a:rPr>
                  <a:t> </a:t>
                </a:r>
              </a:p>
            </p:txBody>
          </p:sp>
        </mc:Fallback>
      </mc:AlternateContent>
      <p:sp>
        <p:nvSpPr>
          <p:cNvPr id="12" name="Content Placeholder 2">
            <a:extLst>
              <a:ext uri="{FF2B5EF4-FFF2-40B4-BE49-F238E27FC236}">
                <a16:creationId xmlns:a16="http://schemas.microsoft.com/office/drawing/2014/main" id="{7E1AFE59-E301-5E42-BAE8-A0AEB2A7A9B9}"/>
              </a:ext>
            </a:extLst>
          </p:cNvPr>
          <p:cNvSpPr txBox="1">
            <a:spLocks/>
          </p:cNvSpPr>
          <p:nvPr/>
        </p:nvSpPr>
        <p:spPr>
          <a:xfrm>
            <a:off x="5965791" y="1206137"/>
            <a:ext cx="5584053" cy="851266"/>
          </a:xfrm>
          <a:prstGeom prst="rect">
            <a:avLst/>
          </a:prstGeom>
          <a:noFill/>
          <a:ln>
            <a:solidFill>
              <a:schemeClr val="accent1"/>
            </a:solidFill>
          </a:ln>
        </p:spPr>
        <p:txBody>
          <a:bodyPr vert="horz" lIns="91440" tIns="45720" rIns="91440" bIns="45720" rtlCol="0">
            <a:no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dirty="0">
                <a:solidFill>
                  <a:schemeClr val="tx1">
                    <a:lumMod val="95000"/>
                  </a:schemeClr>
                </a:solidFill>
              </a:rPr>
              <a:t>The graph we construct needs to:</a:t>
            </a:r>
            <a:endParaRPr lang="en-US" sz="1600" b="1" i="1" u="sng" dirty="0">
              <a:solidFill>
                <a:schemeClr val="tx1">
                  <a:lumMod val="95000"/>
                </a:schemeClr>
              </a:solidFill>
            </a:endParaRPr>
          </a:p>
          <a:p>
            <a:pPr marL="0" indent="0">
              <a:buFont typeface="Arial" panose="020B0604020202020204" pitchFamily="34" charset="0"/>
              <a:buNone/>
            </a:pPr>
            <a:r>
              <a:rPr lang="en-US" sz="1600" dirty="0">
                <a:solidFill>
                  <a:schemeClr val="tx1">
                    <a:lumMod val="95000"/>
                  </a:schemeClr>
                </a:solidFill>
              </a:rPr>
              <a:t>- </a:t>
            </a:r>
            <a:r>
              <a:rPr lang="en-US" sz="1600" b="1" i="1" u="sng" dirty="0">
                <a:solidFill>
                  <a:schemeClr val="tx1">
                    <a:lumMod val="95000"/>
                  </a:schemeClr>
                </a:solidFill>
              </a:rPr>
              <a:t>Model the fact that at least one variable per clause must be chosen.</a:t>
            </a:r>
          </a:p>
        </p:txBody>
      </p:sp>
      <p:sp>
        <p:nvSpPr>
          <p:cNvPr id="38" name="Oval 37">
            <a:extLst>
              <a:ext uri="{FF2B5EF4-FFF2-40B4-BE49-F238E27FC236}">
                <a16:creationId xmlns:a16="http://schemas.microsoft.com/office/drawing/2014/main" id="{3FEA861B-AAE0-9747-9133-793334A5D7B1}"/>
              </a:ext>
            </a:extLst>
          </p:cNvPr>
          <p:cNvSpPr/>
          <p:nvPr/>
        </p:nvSpPr>
        <p:spPr>
          <a:xfrm>
            <a:off x="2953273" y="4958504"/>
            <a:ext cx="397193" cy="397193"/>
          </a:xfrm>
          <a:prstGeom prst="ellipse">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bg1"/>
                </a:solidFill>
              </a:rPr>
              <a:t>T</a:t>
            </a:r>
          </a:p>
        </p:txBody>
      </p:sp>
      <p:cxnSp>
        <p:nvCxnSpPr>
          <p:cNvPr id="41" name="Straight Connector 40">
            <a:extLst>
              <a:ext uri="{FF2B5EF4-FFF2-40B4-BE49-F238E27FC236}">
                <a16:creationId xmlns:a16="http://schemas.microsoft.com/office/drawing/2014/main" id="{4629004D-838F-6147-841C-1AF8333CA8B9}"/>
              </a:ext>
            </a:extLst>
          </p:cNvPr>
          <p:cNvCxnSpPr>
            <a:cxnSpLocks/>
            <a:stCxn id="38" idx="4"/>
            <a:endCxn id="64" idx="0"/>
          </p:cNvCxnSpPr>
          <p:nvPr/>
        </p:nvCxnSpPr>
        <p:spPr>
          <a:xfrm>
            <a:off x="3151870" y="5355697"/>
            <a:ext cx="4611" cy="274423"/>
          </a:xfrm>
          <a:prstGeom prst="line">
            <a:avLst/>
          </a:prstGeom>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EBD90386-7E5A-DA48-83CF-EE364635BE18}"/>
              </a:ext>
            </a:extLst>
          </p:cNvPr>
          <p:cNvCxnSpPr>
            <a:cxnSpLocks/>
            <a:stCxn id="65" idx="3"/>
            <a:endCxn id="64" idx="6"/>
          </p:cNvCxnSpPr>
          <p:nvPr/>
        </p:nvCxnSpPr>
        <p:spPr>
          <a:xfrm flipH="1">
            <a:off x="3355077" y="5608719"/>
            <a:ext cx="316387" cy="219998"/>
          </a:xfrm>
          <a:prstGeom prst="line">
            <a:avLst/>
          </a:prstGeom>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98AEEE24-94EC-954B-A0E2-268B7E9FC0CB}"/>
              </a:ext>
            </a:extLst>
          </p:cNvPr>
          <p:cNvCxnSpPr>
            <a:cxnSpLocks/>
            <a:stCxn id="65" idx="1"/>
            <a:endCxn id="38" idx="6"/>
          </p:cNvCxnSpPr>
          <p:nvPr/>
        </p:nvCxnSpPr>
        <p:spPr>
          <a:xfrm flipH="1" flipV="1">
            <a:off x="3350466" y="5157101"/>
            <a:ext cx="320998" cy="170761"/>
          </a:xfrm>
          <a:prstGeom prst="line">
            <a:avLst/>
          </a:prstGeom>
        </p:spPr>
        <p:style>
          <a:lnRef idx="1">
            <a:schemeClr val="accent1"/>
          </a:lnRef>
          <a:fillRef idx="0">
            <a:schemeClr val="accent1"/>
          </a:fillRef>
          <a:effectRef idx="0">
            <a:schemeClr val="accent1"/>
          </a:effectRef>
          <a:fontRef idx="minor">
            <a:schemeClr val="tx1"/>
          </a:fontRef>
        </p:style>
      </p:cxnSp>
      <p:sp>
        <p:nvSpPr>
          <p:cNvPr id="64" name="Oval 63">
            <a:extLst>
              <a:ext uri="{FF2B5EF4-FFF2-40B4-BE49-F238E27FC236}">
                <a16:creationId xmlns:a16="http://schemas.microsoft.com/office/drawing/2014/main" id="{D7F6B5DA-5EF5-CD49-BBE6-F0974422D33F}"/>
              </a:ext>
            </a:extLst>
          </p:cNvPr>
          <p:cNvSpPr/>
          <p:nvPr/>
        </p:nvSpPr>
        <p:spPr>
          <a:xfrm>
            <a:off x="2957884" y="5630120"/>
            <a:ext cx="397193" cy="397193"/>
          </a:xfrm>
          <a:prstGeom prst="ellipse">
            <a:avLst/>
          </a:prstGeom>
          <a:solidFill>
            <a:schemeClr val="accent2">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bg1"/>
                </a:solidFill>
              </a:rPr>
              <a:t>N</a:t>
            </a:r>
          </a:p>
        </p:txBody>
      </p:sp>
      <p:sp>
        <p:nvSpPr>
          <p:cNvPr id="65" name="Oval 64">
            <a:extLst>
              <a:ext uri="{FF2B5EF4-FFF2-40B4-BE49-F238E27FC236}">
                <a16:creationId xmlns:a16="http://schemas.microsoft.com/office/drawing/2014/main" id="{53735A6F-F65E-8744-BD40-2CB9F36FA48A}"/>
              </a:ext>
            </a:extLst>
          </p:cNvPr>
          <p:cNvSpPr/>
          <p:nvPr/>
        </p:nvSpPr>
        <p:spPr>
          <a:xfrm>
            <a:off x="3606316" y="5269694"/>
            <a:ext cx="444858" cy="397193"/>
          </a:xfrm>
          <a:prstGeom prst="ellipse">
            <a:avLst/>
          </a:prstGeom>
          <a:solidFill>
            <a:schemeClr val="accent4">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bg1"/>
                </a:solidFill>
              </a:rPr>
              <a:t>F</a:t>
            </a:r>
          </a:p>
        </p:txBody>
      </p:sp>
      <p:cxnSp>
        <p:nvCxnSpPr>
          <p:cNvPr id="66" name="Straight Connector 65">
            <a:extLst>
              <a:ext uri="{FF2B5EF4-FFF2-40B4-BE49-F238E27FC236}">
                <a16:creationId xmlns:a16="http://schemas.microsoft.com/office/drawing/2014/main" id="{51DBB513-E386-3249-8CF6-549EA7A9CBE1}"/>
              </a:ext>
            </a:extLst>
          </p:cNvPr>
          <p:cNvCxnSpPr>
            <a:cxnSpLocks/>
            <a:stCxn id="56" idx="2"/>
            <a:endCxn id="65" idx="6"/>
          </p:cNvCxnSpPr>
          <p:nvPr/>
        </p:nvCxnSpPr>
        <p:spPr>
          <a:xfrm flipH="1" flipV="1">
            <a:off x="4051174" y="5468291"/>
            <a:ext cx="408530" cy="435"/>
          </a:xfrm>
          <a:prstGeom prst="line">
            <a:avLst/>
          </a:prstGeom>
        </p:spPr>
        <p:style>
          <a:lnRef idx="1">
            <a:schemeClr val="accent1"/>
          </a:lnRef>
          <a:fillRef idx="0">
            <a:schemeClr val="accent1"/>
          </a:fillRef>
          <a:effectRef idx="0">
            <a:schemeClr val="accent1"/>
          </a:effectRef>
          <a:fontRef idx="minor">
            <a:schemeClr val="tx1"/>
          </a:fontRef>
        </p:style>
      </p:cxnSp>
      <p:sp>
        <p:nvSpPr>
          <p:cNvPr id="69" name="Content Placeholder 2">
            <a:extLst>
              <a:ext uri="{FF2B5EF4-FFF2-40B4-BE49-F238E27FC236}">
                <a16:creationId xmlns:a16="http://schemas.microsoft.com/office/drawing/2014/main" id="{73677A56-F559-4D42-8A7D-10921F7B982A}"/>
              </a:ext>
            </a:extLst>
          </p:cNvPr>
          <p:cNvSpPr txBox="1">
            <a:spLocks/>
          </p:cNvSpPr>
          <p:nvPr/>
        </p:nvSpPr>
        <p:spPr>
          <a:xfrm>
            <a:off x="6309886" y="2857243"/>
            <a:ext cx="4401312" cy="1122065"/>
          </a:xfrm>
          <a:prstGeom prst="rect">
            <a:avLst/>
          </a:prstGeom>
          <a:noFill/>
          <a:ln>
            <a:solidFill>
              <a:schemeClr val="tx1">
                <a:lumMod val="95000"/>
              </a:schemeClr>
            </a:solidFill>
          </a:ln>
        </p:spPr>
        <p:txBody>
          <a:bodyPr vert="horz" lIns="91440" tIns="45720" rIns="91440" bIns="45720" rtlCol="0">
            <a:no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400" b="1" i="1" u="sng" dirty="0">
                <a:solidFill>
                  <a:schemeClr val="tx1">
                    <a:lumMod val="95000"/>
                  </a:schemeClr>
                </a:solidFill>
              </a:rPr>
              <a:t>Corollary</a:t>
            </a:r>
            <a:r>
              <a:rPr lang="en-US" sz="1400" dirty="0">
                <a:solidFill>
                  <a:schemeClr val="tx1">
                    <a:lumMod val="95000"/>
                  </a:schemeClr>
                </a:solidFill>
              </a:rPr>
              <a:t>:</a:t>
            </a:r>
            <a:br>
              <a:rPr lang="en-US" sz="1400" dirty="0">
                <a:solidFill>
                  <a:schemeClr val="tx1">
                    <a:lumMod val="95000"/>
                  </a:schemeClr>
                </a:solidFill>
              </a:rPr>
            </a:br>
            <a:r>
              <a:rPr lang="en-US" sz="1400" dirty="0">
                <a:solidFill>
                  <a:schemeClr val="tx1">
                    <a:lumMod val="95000"/>
                  </a:schemeClr>
                </a:solidFill>
              </a:rPr>
              <a:t>We can combine two of these widgets to produce an OR gate across three variables. The output is colorable as TRUE if and only if one of the three inputs is colored TRUE</a:t>
            </a:r>
          </a:p>
        </p:txBody>
      </p:sp>
      <p:sp>
        <p:nvSpPr>
          <p:cNvPr id="73" name="Oval 72">
            <a:extLst>
              <a:ext uri="{FF2B5EF4-FFF2-40B4-BE49-F238E27FC236}">
                <a16:creationId xmlns:a16="http://schemas.microsoft.com/office/drawing/2014/main" id="{6356BE84-CF92-B945-BCE7-3CA63AE0CFCC}"/>
              </a:ext>
            </a:extLst>
          </p:cNvPr>
          <p:cNvSpPr/>
          <p:nvPr/>
        </p:nvSpPr>
        <p:spPr>
          <a:xfrm>
            <a:off x="1942386" y="4964282"/>
            <a:ext cx="397193" cy="397193"/>
          </a:xfrm>
          <a:prstGeom prst="ellipse">
            <a:avLst/>
          </a:prstGeom>
          <a:solidFill>
            <a:schemeClr val="accent4">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bg1"/>
                </a:solidFill>
              </a:rPr>
              <a:t>F</a:t>
            </a:r>
          </a:p>
        </p:txBody>
      </p:sp>
      <p:sp>
        <p:nvSpPr>
          <p:cNvPr id="74" name="Oval 73">
            <a:extLst>
              <a:ext uri="{FF2B5EF4-FFF2-40B4-BE49-F238E27FC236}">
                <a16:creationId xmlns:a16="http://schemas.microsoft.com/office/drawing/2014/main" id="{A147AC91-5A08-2346-95F7-4141137120CC}"/>
              </a:ext>
            </a:extLst>
          </p:cNvPr>
          <p:cNvSpPr/>
          <p:nvPr/>
        </p:nvSpPr>
        <p:spPr>
          <a:xfrm>
            <a:off x="1946997" y="5635898"/>
            <a:ext cx="397193" cy="397193"/>
          </a:xfrm>
          <a:prstGeom prst="ellipse">
            <a:avLst/>
          </a:prstGeom>
          <a:solidFill>
            <a:schemeClr val="accent4">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bg1"/>
                </a:solidFill>
              </a:rPr>
              <a:t>F</a:t>
            </a:r>
          </a:p>
        </p:txBody>
      </p:sp>
      <p:cxnSp>
        <p:nvCxnSpPr>
          <p:cNvPr id="75" name="Straight Connector 74">
            <a:extLst>
              <a:ext uri="{FF2B5EF4-FFF2-40B4-BE49-F238E27FC236}">
                <a16:creationId xmlns:a16="http://schemas.microsoft.com/office/drawing/2014/main" id="{098CF43E-029C-0F47-9CF1-214BC388EB6F}"/>
              </a:ext>
            </a:extLst>
          </p:cNvPr>
          <p:cNvCxnSpPr>
            <a:cxnSpLocks/>
            <a:stCxn id="38" idx="2"/>
            <a:endCxn id="73" idx="6"/>
          </p:cNvCxnSpPr>
          <p:nvPr/>
        </p:nvCxnSpPr>
        <p:spPr>
          <a:xfrm flipH="1">
            <a:off x="2339579" y="5157101"/>
            <a:ext cx="613694" cy="5778"/>
          </a:xfrm>
          <a:prstGeom prst="line">
            <a:avLst/>
          </a:prstGeom>
        </p:spPr>
        <p:style>
          <a:lnRef idx="1">
            <a:schemeClr val="accent1"/>
          </a:lnRef>
          <a:fillRef idx="0">
            <a:schemeClr val="accent1"/>
          </a:fillRef>
          <a:effectRef idx="0">
            <a:schemeClr val="accent1"/>
          </a:effectRef>
          <a:fontRef idx="minor">
            <a:schemeClr val="tx1"/>
          </a:fontRef>
        </p:style>
      </p:cxnSp>
      <p:cxnSp>
        <p:nvCxnSpPr>
          <p:cNvPr id="77" name="Straight Connector 76">
            <a:extLst>
              <a:ext uri="{FF2B5EF4-FFF2-40B4-BE49-F238E27FC236}">
                <a16:creationId xmlns:a16="http://schemas.microsoft.com/office/drawing/2014/main" id="{A3DF2BD0-8B41-E846-96EB-82CE86390DB6}"/>
              </a:ext>
            </a:extLst>
          </p:cNvPr>
          <p:cNvCxnSpPr>
            <a:cxnSpLocks/>
            <a:stCxn id="64" idx="2"/>
            <a:endCxn id="74" idx="6"/>
          </p:cNvCxnSpPr>
          <p:nvPr/>
        </p:nvCxnSpPr>
        <p:spPr>
          <a:xfrm flipH="1">
            <a:off x="2344190" y="5828717"/>
            <a:ext cx="613694" cy="5778"/>
          </a:xfrm>
          <a:prstGeom prst="line">
            <a:avLst/>
          </a:prstGeom>
        </p:spPr>
        <p:style>
          <a:lnRef idx="1">
            <a:schemeClr val="accent1"/>
          </a:lnRef>
          <a:fillRef idx="0">
            <a:schemeClr val="accent1"/>
          </a:fillRef>
          <a:effectRef idx="0">
            <a:schemeClr val="accent1"/>
          </a:effectRef>
          <a:fontRef idx="minor">
            <a:schemeClr val="tx1"/>
          </a:fontRef>
        </p:style>
      </p:cxnSp>
      <p:sp>
        <p:nvSpPr>
          <p:cNvPr id="81" name="Content Placeholder 2">
            <a:extLst>
              <a:ext uri="{FF2B5EF4-FFF2-40B4-BE49-F238E27FC236}">
                <a16:creationId xmlns:a16="http://schemas.microsoft.com/office/drawing/2014/main" id="{CC2080DE-DB5D-9441-95A6-F1462E619581}"/>
              </a:ext>
            </a:extLst>
          </p:cNvPr>
          <p:cNvSpPr txBox="1">
            <a:spLocks/>
          </p:cNvSpPr>
          <p:nvPr/>
        </p:nvSpPr>
        <p:spPr>
          <a:xfrm>
            <a:off x="1818687" y="4584447"/>
            <a:ext cx="4172214" cy="280391"/>
          </a:xfrm>
          <a:prstGeom prst="rect">
            <a:avLst/>
          </a:prstGeom>
          <a:noFill/>
          <a:ln>
            <a:noFill/>
          </a:ln>
        </p:spPr>
        <p:txBody>
          <a:bodyPr vert="horz" lIns="91440" tIns="45720" rIns="91440" bIns="45720" rtlCol="0">
            <a:no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400" b="1" i="1" u="sng" dirty="0">
                <a:solidFill>
                  <a:schemeClr val="tx1">
                    <a:lumMod val="95000"/>
                  </a:schemeClr>
                </a:solidFill>
              </a:rPr>
              <a:t>Example 1</a:t>
            </a:r>
            <a:r>
              <a:rPr lang="en-US" sz="1400" dirty="0">
                <a:solidFill>
                  <a:schemeClr val="tx1">
                    <a:lumMod val="95000"/>
                  </a:schemeClr>
                </a:solidFill>
              </a:rPr>
              <a:t>: False / False / True</a:t>
            </a:r>
          </a:p>
        </p:txBody>
      </p:sp>
      <p:sp>
        <p:nvSpPr>
          <p:cNvPr id="56" name="Oval 55">
            <a:extLst>
              <a:ext uri="{FF2B5EF4-FFF2-40B4-BE49-F238E27FC236}">
                <a16:creationId xmlns:a16="http://schemas.microsoft.com/office/drawing/2014/main" id="{F90D1B3D-82FD-2B48-AFE0-C4AA6533E750}"/>
              </a:ext>
            </a:extLst>
          </p:cNvPr>
          <p:cNvSpPr/>
          <p:nvPr/>
        </p:nvSpPr>
        <p:spPr>
          <a:xfrm>
            <a:off x="4459704" y="5270129"/>
            <a:ext cx="397193" cy="397193"/>
          </a:xfrm>
          <a:prstGeom prst="ellipse">
            <a:avLst/>
          </a:prstGeom>
          <a:solidFill>
            <a:schemeClr val="accent2">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bg1"/>
                </a:solidFill>
              </a:rPr>
              <a:t>N</a:t>
            </a:r>
          </a:p>
        </p:txBody>
      </p:sp>
      <p:cxnSp>
        <p:nvCxnSpPr>
          <p:cNvPr id="57" name="Straight Connector 56">
            <a:extLst>
              <a:ext uri="{FF2B5EF4-FFF2-40B4-BE49-F238E27FC236}">
                <a16:creationId xmlns:a16="http://schemas.microsoft.com/office/drawing/2014/main" id="{07C07252-E01E-7147-8819-2C37BC49C059}"/>
              </a:ext>
            </a:extLst>
          </p:cNvPr>
          <p:cNvCxnSpPr>
            <a:cxnSpLocks/>
            <a:stCxn id="56" idx="4"/>
            <a:endCxn id="60" idx="0"/>
          </p:cNvCxnSpPr>
          <p:nvPr/>
        </p:nvCxnSpPr>
        <p:spPr>
          <a:xfrm>
            <a:off x="4658301" y="5667322"/>
            <a:ext cx="4611" cy="274423"/>
          </a:xfrm>
          <a:prstGeom prst="line">
            <a:avLst/>
          </a:prstGeom>
        </p:spPr>
        <p:style>
          <a:lnRef idx="1">
            <a:schemeClr val="accent1"/>
          </a:lnRef>
          <a:fillRef idx="0">
            <a:schemeClr val="accent1"/>
          </a:fillRef>
          <a:effectRef idx="0">
            <a:schemeClr val="accent1"/>
          </a:effectRef>
          <a:fontRef idx="minor">
            <a:schemeClr val="tx1"/>
          </a:fontRef>
        </p:style>
      </p:cxnSp>
      <p:cxnSp>
        <p:nvCxnSpPr>
          <p:cNvPr id="58" name="Straight Connector 57">
            <a:extLst>
              <a:ext uri="{FF2B5EF4-FFF2-40B4-BE49-F238E27FC236}">
                <a16:creationId xmlns:a16="http://schemas.microsoft.com/office/drawing/2014/main" id="{E8CCC6B0-8CB7-684E-9644-1EFD889756AA}"/>
              </a:ext>
            </a:extLst>
          </p:cNvPr>
          <p:cNvCxnSpPr>
            <a:cxnSpLocks/>
            <a:stCxn id="61" idx="3"/>
            <a:endCxn id="60" idx="6"/>
          </p:cNvCxnSpPr>
          <p:nvPr/>
        </p:nvCxnSpPr>
        <p:spPr>
          <a:xfrm flipH="1">
            <a:off x="4861508" y="5920344"/>
            <a:ext cx="316387" cy="219998"/>
          </a:xfrm>
          <a:prstGeom prst="line">
            <a:avLst/>
          </a:prstGeom>
        </p:spPr>
        <p:style>
          <a:lnRef idx="1">
            <a:schemeClr val="accent1"/>
          </a:lnRef>
          <a:fillRef idx="0">
            <a:schemeClr val="accent1"/>
          </a:fillRef>
          <a:effectRef idx="0">
            <a:schemeClr val="accent1"/>
          </a:effectRef>
          <a:fontRef idx="minor">
            <a:schemeClr val="tx1"/>
          </a:fontRef>
        </p:style>
      </p:cxnSp>
      <p:cxnSp>
        <p:nvCxnSpPr>
          <p:cNvPr id="59" name="Straight Connector 58">
            <a:extLst>
              <a:ext uri="{FF2B5EF4-FFF2-40B4-BE49-F238E27FC236}">
                <a16:creationId xmlns:a16="http://schemas.microsoft.com/office/drawing/2014/main" id="{221E2B69-7DDF-D146-9D91-71A1519105DB}"/>
              </a:ext>
            </a:extLst>
          </p:cNvPr>
          <p:cNvCxnSpPr>
            <a:cxnSpLocks/>
            <a:stCxn id="61" idx="1"/>
            <a:endCxn id="56" idx="6"/>
          </p:cNvCxnSpPr>
          <p:nvPr/>
        </p:nvCxnSpPr>
        <p:spPr>
          <a:xfrm flipH="1" flipV="1">
            <a:off x="4856897" y="5468726"/>
            <a:ext cx="320998" cy="170761"/>
          </a:xfrm>
          <a:prstGeom prst="line">
            <a:avLst/>
          </a:prstGeom>
        </p:spPr>
        <p:style>
          <a:lnRef idx="1">
            <a:schemeClr val="accent1"/>
          </a:lnRef>
          <a:fillRef idx="0">
            <a:schemeClr val="accent1"/>
          </a:fillRef>
          <a:effectRef idx="0">
            <a:schemeClr val="accent1"/>
          </a:effectRef>
          <a:fontRef idx="minor">
            <a:schemeClr val="tx1"/>
          </a:fontRef>
        </p:style>
      </p:cxnSp>
      <p:sp>
        <p:nvSpPr>
          <p:cNvPr id="60" name="Oval 59">
            <a:extLst>
              <a:ext uri="{FF2B5EF4-FFF2-40B4-BE49-F238E27FC236}">
                <a16:creationId xmlns:a16="http://schemas.microsoft.com/office/drawing/2014/main" id="{E89748E4-5F9B-7940-BF3E-E21928AEFE00}"/>
              </a:ext>
            </a:extLst>
          </p:cNvPr>
          <p:cNvSpPr/>
          <p:nvPr/>
        </p:nvSpPr>
        <p:spPr>
          <a:xfrm>
            <a:off x="4464315" y="5941745"/>
            <a:ext cx="397193" cy="397193"/>
          </a:xfrm>
          <a:prstGeom prst="ellipse">
            <a:avLst/>
          </a:prstGeom>
          <a:solidFill>
            <a:schemeClr val="accent4">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bg1"/>
                </a:solidFill>
              </a:rPr>
              <a:t>F</a:t>
            </a:r>
          </a:p>
        </p:txBody>
      </p:sp>
      <p:sp>
        <p:nvSpPr>
          <p:cNvPr id="61" name="Oval 60">
            <a:extLst>
              <a:ext uri="{FF2B5EF4-FFF2-40B4-BE49-F238E27FC236}">
                <a16:creationId xmlns:a16="http://schemas.microsoft.com/office/drawing/2014/main" id="{8CB46C03-48E2-F948-A5B8-DBA9F26355C7}"/>
              </a:ext>
            </a:extLst>
          </p:cNvPr>
          <p:cNvSpPr/>
          <p:nvPr/>
        </p:nvSpPr>
        <p:spPr>
          <a:xfrm>
            <a:off x="5112747" y="5581319"/>
            <a:ext cx="444858" cy="397193"/>
          </a:xfrm>
          <a:prstGeom prst="ellipse">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bg1"/>
                </a:solidFill>
              </a:rPr>
              <a:t>T</a:t>
            </a:r>
          </a:p>
        </p:txBody>
      </p:sp>
      <p:cxnSp>
        <p:nvCxnSpPr>
          <p:cNvPr id="62" name="Straight Connector 61">
            <a:extLst>
              <a:ext uri="{FF2B5EF4-FFF2-40B4-BE49-F238E27FC236}">
                <a16:creationId xmlns:a16="http://schemas.microsoft.com/office/drawing/2014/main" id="{3B8CF166-8C86-6D47-BADE-A211E7B3251D}"/>
              </a:ext>
            </a:extLst>
          </p:cNvPr>
          <p:cNvCxnSpPr>
            <a:cxnSpLocks/>
            <a:endCxn id="61" idx="6"/>
          </p:cNvCxnSpPr>
          <p:nvPr/>
        </p:nvCxnSpPr>
        <p:spPr>
          <a:xfrm flipH="1">
            <a:off x="5557605" y="5779915"/>
            <a:ext cx="330318" cy="1"/>
          </a:xfrm>
          <a:prstGeom prst="line">
            <a:avLst/>
          </a:prstGeom>
        </p:spPr>
        <p:style>
          <a:lnRef idx="1">
            <a:schemeClr val="accent1"/>
          </a:lnRef>
          <a:fillRef idx="0">
            <a:schemeClr val="accent1"/>
          </a:fillRef>
          <a:effectRef idx="0">
            <a:schemeClr val="accent1"/>
          </a:effectRef>
          <a:fontRef idx="minor">
            <a:schemeClr val="tx1"/>
          </a:fontRef>
        </p:style>
      </p:cxnSp>
      <p:sp>
        <p:nvSpPr>
          <p:cNvPr id="63" name="Oval 62">
            <a:extLst>
              <a:ext uri="{FF2B5EF4-FFF2-40B4-BE49-F238E27FC236}">
                <a16:creationId xmlns:a16="http://schemas.microsoft.com/office/drawing/2014/main" id="{2F9E3B0E-4EDC-3445-93C5-674252B5A17A}"/>
              </a:ext>
            </a:extLst>
          </p:cNvPr>
          <p:cNvSpPr/>
          <p:nvPr/>
        </p:nvSpPr>
        <p:spPr>
          <a:xfrm>
            <a:off x="3620498" y="5941745"/>
            <a:ext cx="397193" cy="397193"/>
          </a:xfrm>
          <a:prstGeom prst="ellipse">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bg1"/>
                </a:solidFill>
              </a:rPr>
              <a:t>T</a:t>
            </a:r>
          </a:p>
        </p:txBody>
      </p:sp>
      <p:cxnSp>
        <p:nvCxnSpPr>
          <p:cNvPr id="68" name="Straight Connector 67">
            <a:extLst>
              <a:ext uri="{FF2B5EF4-FFF2-40B4-BE49-F238E27FC236}">
                <a16:creationId xmlns:a16="http://schemas.microsoft.com/office/drawing/2014/main" id="{BEAB000C-3EE7-FF4D-8E28-502CDFCCC447}"/>
              </a:ext>
            </a:extLst>
          </p:cNvPr>
          <p:cNvCxnSpPr>
            <a:cxnSpLocks/>
            <a:stCxn id="60" idx="2"/>
            <a:endCxn id="63" idx="6"/>
          </p:cNvCxnSpPr>
          <p:nvPr/>
        </p:nvCxnSpPr>
        <p:spPr>
          <a:xfrm flipH="1">
            <a:off x="4017691" y="6140342"/>
            <a:ext cx="446624" cy="0"/>
          </a:xfrm>
          <a:prstGeom prst="line">
            <a:avLst/>
          </a:prstGeom>
        </p:spPr>
        <p:style>
          <a:lnRef idx="1">
            <a:schemeClr val="accent1"/>
          </a:lnRef>
          <a:fillRef idx="0">
            <a:schemeClr val="accent1"/>
          </a:fillRef>
          <a:effectRef idx="0">
            <a:schemeClr val="accent1"/>
          </a:effectRef>
          <a:fontRef idx="minor">
            <a:schemeClr val="tx1"/>
          </a:fontRef>
        </p:style>
      </p:cxnSp>
      <p:sp>
        <p:nvSpPr>
          <p:cNvPr id="72" name="Oval 71">
            <a:extLst>
              <a:ext uri="{FF2B5EF4-FFF2-40B4-BE49-F238E27FC236}">
                <a16:creationId xmlns:a16="http://schemas.microsoft.com/office/drawing/2014/main" id="{1E7E5B1F-CC12-634C-B4E8-98EED2EDEED4}"/>
              </a:ext>
            </a:extLst>
          </p:cNvPr>
          <p:cNvSpPr/>
          <p:nvPr/>
        </p:nvSpPr>
        <p:spPr>
          <a:xfrm>
            <a:off x="3236547" y="2594546"/>
            <a:ext cx="397193" cy="397193"/>
          </a:xfrm>
          <a:prstGeom prst="ellipse">
            <a:avLst/>
          </a:prstGeom>
          <a:solidFill>
            <a:schemeClr val="tx1">
              <a:lumMod val="9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cxnSp>
        <p:nvCxnSpPr>
          <p:cNvPr id="76" name="Straight Connector 75">
            <a:extLst>
              <a:ext uri="{FF2B5EF4-FFF2-40B4-BE49-F238E27FC236}">
                <a16:creationId xmlns:a16="http://schemas.microsoft.com/office/drawing/2014/main" id="{B9CC9647-A41E-BF46-BDE4-B4A7C220CECD}"/>
              </a:ext>
            </a:extLst>
          </p:cNvPr>
          <p:cNvCxnSpPr>
            <a:cxnSpLocks/>
            <a:stCxn id="72" idx="4"/>
            <a:endCxn id="80" idx="0"/>
          </p:cNvCxnSpPr>
          <p:nvPr/>
        </p:nvCxnSpPr>
        <p:spPr>
          <a:xfrm>
            <a:off x="3435144" y="2991739"/>
            <a:ext cx="4611" cy="274423"/>
          </a:xfrm>
          <a:prstGeom prst="line">
            <a:avLst/>
          </a:prstGeom>
        </p:spPr>
        <p:style>
          <a:lnRef idx="1">
            <a:schemeClr val="accent1"/>
          </a:lnRef>
          <a:fillRef idx="0">
            <a:schemeClr val="accent1"/>
          </a:fillRef>
          <a:effectRef idx="0">
            <a:schemeClr val="accent1"/>
          </a:effectRef>
          <a:fontRef idx="minor">
            <a:schemeClr val="tx1"/>
          </a:fontRef>
        </p:style>
      </p:cxnSp>
      <p:cxnSp>
        <p:nvCxnSpPr>
          <p:cNvPr id="78" name="Straight Connector 77">
            <a:extLst>
              <a:ext uri="{FF2B5EF4-FFF2-40B4-BE49-F238E27FC236}">
                <a16:creationId xmlns:a16="http://schemas.microsoft.com/office/drawing/2014/main" id="{3B0AAD58-DBF2-B647-9943-0E9BBF9073B8}"/>
              </a:ext>
            </a:extLst>
          </p:cNvPr>
          <p:cNvCxnSpPr>
            <a:cxnSpLocks/>
            <a:stCxn id="83" idx="3"/>
            <a:endCxn id="80" idx="6"/>
          </p:cNvCxnSpPr>
          <p:nvPr/>
        </p:nvCxnSpPr>
        <p:spPr>
          <a:xfrm flipH="1">
            <a:off x="3638351" y="3244761"/>
            <a:ext cx="316387" cy="219998"/>
          </a:xfrm>
          <a:prstGeom prst="line">
            <a:avLst/>
          </a:prstGeom>
        </p:spPr>
        <p:style>
          <a:lnRef idx="1">
            <a:schemeClr val="accent1"/>
          </a:lnRef>
          <a:fillRef idx="0">
            <a:schemeClr val="accent1"/>
          </a:fillRef>
          <a:effectRef idx="0">
            <a:schemeClr val="accent1"/>
          </a:effectRef>
          <a:fontRef idx="minor">
            <a:schemeClr val="tx1"/>
          </a:fontRef>
        </p:style>
      </p:cxnSp>
      <p:cxnSp>
        <p:nvCxnSpPr>
          <p:cNvPr id="79" name="Straight Connector 78">
            <a:extLst>
              <a:ext uri="{FF2B5EF4-FFF2-40B4-BE49-F238E27FC236}">
                <a16:creationId xmlns:a16="http://schemas.microsoft.com/office/drawing/2014/main" id="{6E4A98B1-AD21-C641-AD82-1ACF92DBC002}"/>
              </a:ext>
            </a:extLst>
          </p:cNvPr>
          <p:cNvCxnSpPr>
            <a:cxnSpLocks/>
            <a:stCxn id="83" idx="1"/>
            <a:endCxn id="72" idx="6"/>
          </p:cNvCxnSpPr>
          <p:nvPr/>
        </p:nvCxnSpPr>
        <p:spPr>
          <a:xfrm flipH="1" flipV="1">
            <a:off x="3633740" y="2793143"/>
            <a:ext cx="320998" cy="170761"/>
          </a:xfrm>
          <a:prstGeom prst="line">
            <a:avLst/>
          </a:prstGeom>
        </p:spPr>
        <p:style>
          <a:lnRef idx="1">
            <a:schemeClr val="accent1"/>
          </a:lnRef>
          <a:fillRef idx="0">
            <a:schemeClr val="accent1"/>
          </a:fillRef>
          <a:effectRef idx="0">
            <a:schemeClr val="accent1"/>
          </a:effectRef>
          <a:fontRef idx="minor">
            <a:schemeClr val="tx1"/>
          </a:fontRef>
        </p:style>
      </p:cxnSp>
      <p:sp>
        <p:nvSpPr>
          <p:cNvPr id="80" name="Oval 79">
            <a:extLst>
              <a:ext uri="{FF2B5EF4-FFF2-40B4-BE49-F238E27FC236}">
                <a16:creationId xmlns:a16="http://schemas.microsoft.com/office/drawing/2014/main" id="{48B69121-B75C-BB4C-B246-44C127BD887D}"/>
              </a:ext>
            </a:extLst>
          </p:cNvPr>
          <p:cNvSpPr/>
          <p:nvPr/>
        </p:nvSpPr>
        <p:spPr>
          <a:xfrm>
            <a:off x="3241158" y="3266162"/>
            <a:ext cx="397193" cy="397193"/>
          </a:xfrm>
          <a:prstGeom prst="ellipse">
            <a:avLst/>
          </a:prstGeom>
          <a:solidFill>
            <a:schemeClr val="tx1">
              <a:lumMod val="9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83" name="Oval 82">
            <a:extLst>
              <a:ext uri="{FF2B5EF4-FFF2-40B4-BE49-F238E27FC236}">
                <a16:creationId xmlns:a16="http://schemas.microsoft.com/office/drawing/2014/main" id="{404D5A0C-3FED-344E-BDAD-D2164E54AA3D}"/>
              </a:ext>
            </a:extLst>
          </p:cNvPr>
          <p:cNvSpPr/>
          <p:nvPr/>
        </p:nvSpPr>
        <p:spPr>
          <a:xfrm>
            <a:off x="3889590" y="2905736"/>
            <a:ext cx="444858" cy="397193"/>
          </a:xfrm>
          <a:prstGeom prst="ellipse">
            <a:avLst/>
          </a:prstGeom>
          <a:solidFill>
            <a:schemeClr val="tx1">
              <a:lumMod val="9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00" dirty="0">
              <a:solidFill>
                <a:schemeClr val="bg1"/>
              </a:solidFill>
            </a:endParaRPr>
          </a:p>
        </p:txBody>
      </p:sp>
      <p:cxnSp>
        <p:nvCxnSpPr>
          <p:cNvPr id="87" name="Straight Connector 86">
            <a:extLst>
              <a:ext uri="{FF2B5EF4-FFF2-40B4-BE49-F238E27FC236}">
                <a16:creationId xmlns:a16="http://schemas.microsoft.com/office/drawing/2014/main" id="{114F8863-DD3D-4145-B915-56B3EF290C36}"/>
              </a:ext>
            </a:extLst>
          </p:cNvPr>
          <p:cNvCxnSpPr>
            <a:cxnSpLocks/>
            <a:stCxn id="126" idx="2"/>
            <a:endCxn id="83" idx="6"/>
          </p:cNvCxnSpPr>
          <p:nvPr/>
        </p:nvCxnSpPr>
        <p:spPr>
          <a:xfrm flipH="1" flipV="1">
            <a:off x="4334448" y="3104333"/>
            <a:ext cx="408530" cy="435"/>
          </a:xfrm>
          <a:prstGeom prst="line">
            <a:avLst/>
          </a:prstGeom>
        </p:spPr>
        <p:style>
          <a:lnRef idx="1">
            <a:schemeClr val="accent1"/>
          </a:lnRef>
          <a:fillRef idx="0">
            <a:schemeClr val="accent1"/>
          </a:fillRef>
          <a:effectRef idx="0">
            <a:schemeClr val="accent1"/>
          </a:effectRef>
          <a:fontRef idx="minor">
            <a:schemeClr val="tx1"/>
          </a:fontRef>
        </p:style>
      </p:cxnSp>
      <p:sp>
        <p:nvSpPr>
          <p:cNvPr id="95" name="Oval 94">
            <a:extLst>
              <a:ext uri="{FF2B5EF4-FFF2-40B4-BE49-F238E27FC236}">
                <a16:creationId xmlns:a16="http://schemas.microsoft.com/office/drawing/2014/main" id="{153500ED-29BB-BF49-9685-94B632CFF12D}"/>
              </a:ext>
            </a:extLst>
          </p:cNvPr>
          <p:cNvSpPr/>
          <p:nvPr/>
        </p:nvSpPr>
        <p:spPr>
          <a:xfrm>
            <a:off x="2225660" y="2600324"/>
            <a:ext cx="397193" cy="397193"/>
          </a:xfrm>
          <a:prstGeom prst="ellipse">
            <a:avLst/>
          </a:prstGeom>
          <a:solidFill>
            <a:schemeClr val="tx1">
              <a:lumMod val="9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800" dirty="0">
                <a:solidFill>
                  <a:schemeClr val="bg1"/>
                </a:solidFill>
              </a:rPr>
              <a:t>In 1</a:t>
            </a:r>
          </a:p>
        </p:txBody>
      </p:sp>
      <p:sp>
        <p:nvSpPr>
          <p:cNvPr id="96" name="Oval 95">
            <a:extLst>
              <a:ext uri="{FF2B5EF4-FFF2-40B4-BE49-F238E27FC236}">
                <a16:creationId xmlns:a16="http://schemas.microsoft.com/office/drawing/2014/main" id="{D829B712-1554-9D43-9101-4EA6CA5470F5}"/>
              </a:ext>
            </a:extLst>
          </p:cNvPr>
          <p:cNvSpPr/>
          <p:nvPr/>
        </p:nvSpPr>
        <p:spPr>
          <a:xfrm>
            <a:off x="2230271" y="3271940"/>
            <a:ext cx="397193" cy="397193"/>
          </a:xfrm>
          <a:prstGeom prst="ellipse">
            <a:avLst/>
          </a:prstGeom>
          <a:solidFill>
            <a:schemeClr val="tx1">
              <a:lumMod val="9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800" dirty="0">
                <a:solidFill>
                  <a:schemeClr val="bg1"/>
                </a:solidFill>
              </a:rPr>
              <a:t>In 2</a:t>
            </a:r>
          </a:p>
        </p:txBody>
      </p:sp>
      <p:cxnSp>
        <p:nvCxnSpPr>
          <p:cNvPr id="124" name="Straight Connector 123">
            <a:extLst>
              <a:ext uri="{FF2B5EF4-FFF2-40B4-BE49-F238E27FC236}">
                <a16:creationId xmlns:a16="http://schemas.microsoft.com/office/drawing/2014/main" id="{F20BFB00-1D10-9D46-97D0-911BB4D124A9}"/>
              </a:ext>
            </a:extLst>
          </p:cNvPr>
          <p:cNvCxnSpPr>
            <a:cxnSpLocks/>
            <a:stCxn id="72" idx="2"/>
            <a:endCxn id="95" idx="6"/>
          </p:cNvCxnSpPr>
          <p:nvPr/>
        </p:nvCxnSpPr>
        <p:spPr>
          <a:xfrm flipH="1">
            <a:off x="2622853" y="2793143"/>
            <a:ext cx="613694" cy="5778"/>
          </a:xfrm>
          <a:prstGeom prst="line">
            <a:avLst/>
          </a:prstGeom>
        </p:spPr>
        <p:style>
          <a:lnRef idx="1">
            <a:schemeClr val="accent1"/>
          </a:lnRef>
          <a:fillRef idx="0">
            <a:schemeClr val="accent1"/>
          </a:fillRef>
          <a:effectRef idx="0">
            <a:schemeClr val="accent1"/>
          </a:effectRef>
          <a:fontRef idx="minor">
            <a:schemeClr val="tx1"/>
          </a:fontRef>
        </p:style>
      </p:cxnSp>
      <p:cxnSp>
        <p:nvCxnSpPr>
          <p:cNvPr id="125" name="Straight Connector 124">
            <a:extLst>
              <a:ext uri="{FF2B5EF4-FFF2-40B4-BE49-F238E27FC236}">
                <a16:creationId xmlns:a16="http://schemas.microsoft.com/office/drawing/2014/main" id="{F1B9587B-C9D9-334D-A393-E52A5166940A}"/>
              </a:ext>
            </a:extLst>
          </p:cNvPr>
          <p:cNvCxnSpPr>
            <a:cxnSpLocks/>
            <a:stCxn id="80" idx="2"/>
            <a:endCxn id="96" idx="6"/>
          </p:cNvCxnSpPr>
          <p:nvPr/>
        </p:nvCxnSpPr>
        <p:spPr>
          <a:xfrm flipH="1">
            <a:off x="2627464" y="3464759"/>
            <a:ext cx="613694" cy="5778"/>
          </a:xfrm>
          <a:prstGeom prst="line">
            <a:avLst/>
          </a:prstGeom>
        </p:spPr>
        <p:style>
          <a:lnRef idx="1">
            <a:schemeClr val="accent1"/>
          </a:lnRef>
          <a:fillRef idx="0">
            <a:schemeClr val="accent1"/>
          </a:fillRef>
          <a:effectRef idx="0">
            <a:schemeClr val="accent1"/>
          </a:effectRef>
          <a:fontRef idx="minor">
            <a:schemeClr val="tx1"/>
          </a:fontRef>
        </p:style>
      </p:cxnSp>
      <p:sp>
        <p:nvSpPr>
          <p:cNvPr id="126" name="Oval 125">
            <a:extLst>
              <a:ext uri="{FF2B5EF4-FFF2-40B4-BE49-F238E27FC236}">
                <a16:creationId xmlns:a16="http://schemas.microsoft.com/office/drawing/2014/main" id="{B0B545EB-7465-F041-AA93-B55887490BDA}"/>
              </a:ext>
            </a:extLst>
          </p:cNvPr>
          <p:cNvSpPr/>
          <p:nvPr/>
        </p:nvSpPr>
        <p:spPr>
          <a:xfrm>
            <a:off x="4742978" y="2906171"/>
            <a:ext cx="397193" cy="397193"/>
          </a:xfrm>
          <a:prstGeom prst="ellipse">
            <a:avLst/>
          </a:prstGeom>
          <a:solidFill>
            <a:schemeClr val="tx1">
              <a:lumMod val="9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cxnSp>
        <p:nvCxnSpPr>
          <p:cNvPr id="127" name="Straight Connector 126">
            <a:extLst>
              <a:ext uri="{FF2B5EF4-FFF2-40B4-BE49-F238E27FC236}">
                <a16:creationId xmlns:a16="http://schemas.microsoft.com/office/drawing/2014/main" id="{1A66BE83-923A-2F41-A37E-7FFC9E286A40}"/>
              </a:ext>
            </a:extLst>
          </p:cNvPr>
          <p:cNvCxnSpPr>
            <a:cxnSpLocks/>
            <a:stCxn id="126" idx="4"/>
            <a:endCxn id="130" idx="0"/>
          </p:cNvCxnSpPr>
          <p:nvPr/>
        </p:nvCxnSpPr>
        <p:spPr>
          <a:xfrm>
            <a:off x="4941575" y="3303364"/>
            <a:ext cx="4611" cy="274423"/>
          </a:xfrm>
          <a:prstGeom prst="line">
            <a:avLst/>
          </a:prstGeom>
        </p:spPr>
        <p:style>
          <a:lnRef idx="1">
            <a:schemeClr val="accent1"/>
          </a:lnRef>
          <a:fillRef idx="0">
            <a:schemeClr val="accent1"/>
          </a:fillRef>
          <a:effectRef idx="0">
            <a:schemeClr val="accent1"/>
          </a:effectRef>
          <a:fontRef idx="minor">
            <a:schemeClr val="tx1"/>
          </a:fontRef>
        </p:style>
      </p:cxnSp>
      <p:cxnSp>
        <p:nvCxnSpPr>
          <p:cNvPr id="128" name="Straight Connector 127">
            <a:extLst>
              <a:ext uri="{FF2B5EF4-FFF2-40B4-BE49-F238E27FC236}">
                <a16:creationId xmlns:a16="http://schemas.microsoft.com/office/drawing/2014/main" id="{9DC8DB91-F13E-B148-BE86-1F3964479547}"/>
              </a:ext>
            </a:extLst>
          </p:cNvPr>
          <p:cNvCxnSpPr>
            <a:cxnSpLocks/>
            <a:stCxn id="131" idx="3"/>
            <a:endCxn id="130" idx="6"/>
          </p:cNvCxnSpPr>
          <p:nvPr/>
        </p:nvCxnSpPr>
        <p:spPr>
          <a:xfrm flipH="1">
            <a:off x="5144782" y="3556386"/>
            <a:ext cx="316387" cy="219998"/>
          </a:xfrm>
          <a:prstGeom prst="line">
            <a:avLst/>
          </a:prstGeom>
        </p:spPr>
        <p:style>
          <a:lnRef idx="1">
            <a:schemeClr val="accent1"/>
          </a:lnRef>
          <a:fillRef idx="0">
            <a:schemeClr val="accent1"/>
          </a:fillRef>
          <a:effectRef idx="0">
            <a:schemeClr val="accent1"/>
          </a:effectRef>
          <a:fontRef idx="minor">
            <a:schemeClr val="tx1"/>
          </a:fontRef>
        </p:style>
      </p:cxnSp>
      <p:cxnSp>
        <p:nvCxnSpPr>
          <p:cNvPr id="129" name="Straight Connector 128">
            <a:extLst>
              <a:ext uri="{FF2B5EF4-FFF2-40B4-BE49-F238E27FC236}">
                <a16:creationId xmlns:a16="http://schemas.microsoft.com/office/drawing/2014/main" id="{6FAE2DCA-E6DF-8141-A93E-629786BF0BF4}"/>
              </a:ext>
            </a:extLst>
          </p:cNvPr>
          <p:cNvCxnSpPr>
            <a:cxnSpLocks/>
            <a:stCxn id="131" idx="1"/>
            <a:endCxn id="126" idx="6"/>
          </p:cNvCxnSpPr>
          <p:nvPr/>
        </p:nvCxnSpPr>
        <p:spPr>
          <a:xfrm flipH="1" flipV="1">
            <a:off x="5140171" y="3104768"/>
            <a:ext cx="320998" cy="170761"/>
          </a:xfrm>
          <a:prstGeom prst="line">
            <a:avLst/>
          </a:prstGeom>
        </p:spPr>
        <p:style>
          <a:lnRef idx="1">
            <a:schemeClr val="accent1"/>
          </a:lnRef>
          <a:fillRef idx="0">
            <a:schemeClr val="accent1"/>
          </a:fillRef>
          <a:effectRef idx="0">
            <a:schemeClr val="accent1"/>
          </a:effectRef>
          <a:fontRef idx="minor">
            <a:schemeClr val="tx1"/>
          </a:fontRef>
        </p:style>
      </p:cxnSp>
      <p:sp>
        <p:nvSpPr>
          <p:cNvPr id="130" name="Oval 129">
            <a:extLst>
              <a:ext uri="{FF2B5EF4-FFF2-40B4-BE49-F238E27FC236}">
                <a16:creationId xmlns:a16="http://schemas.microsoft.com/office/drawing/2014/main" id="{8B922DB3-1B9D-E849-847A-07E222B35B4F}"/>
              </a:ext>
            </a:extLst>
          </p:cNvPr>
          <p:cNvSpPr/>
          <p:nvPr/>
        </p:nvSpPr>
        <p:spPr>
          <a:xfrm>
            <a:off x="4747589" y="3577787"/>
            <a:ext cx="397193" cy="397193"/>
          </a:xfrm>
          <a:prstGeom prst="ellipse">
            <a:avLst/>
          </a:prstGeom>
          <a:solidFill>
            <a:schemeClr val="tx1">
              <a:lumMod val="9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131" name="Oval 130">
            <a:extLst>
              <a:ext uri="{FF2B5EF4-FFF2-40B4-BE49-F238E27FC236}">
                <a16:creationId xmlns:a16="http://schemas.microsoft.com/office/drawing/2014/main" id="{CF0E3B8D-B042-C049-BF48-6A043CFAE0B8}"/>
              </a:ext>
            </a:extLst>
          </p:cNvPr>
          <p:cNvSpPr/>
          <p:nvPr/>
        </p:nvSpPr>
        <p:spPr>
          <a:xfrm>
            <a:off x="5396021" y="3217361"/>
            <a:ext cx="444858" cy="397193"/>
          </a:xfrm>
          <a:prstGeom prst="ellipse">
            <a:avLst/>
          </a:prstGeom>
          <a:solidFill>
            <a:schemeClr val="tx1">
              <a:lumMod val="9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800" dirty="0">
                <a:solidFill>
                  <a:schemeClr val="bg1"/>
                </a:solidFill>
              </a:rPr>
              <a:t>out</a:t>
            </a:r>
          </a:p>
        </p:txBody>
      </p:sp>
      <p:cxnSp>
        <p:nvCxnSpPr>
          <p:cNvPr id="132" name="Straight Connector 131">
            <a:extLst>
              <a:ext uri="{FF2B5EF4-FFF2-40B4-BE49-F238E27FC236}">
                <a16:creationId xmlns:a16="http://schemas.microsoft.com/office/drawing/2014/main" id="{DBA41A5B-99E7-C043-951F-FE1B3BC94288}"/>
              </a:ext>
            </a:extLst>
          </p:cNvPr>
          <p:cNvCxnSpPr>
            <a:cxnSpLocks/>
            <a:endCxn id="131" idx="6"/>
          </p:cNvCxnSpPr>
          <p:nvPr/>
        </p:nvCxnSpPr>
        <p:spPr>
          <a:xfrm flipH="1">
            <a:off x="5840879" y="3415957"/>
            <a:ext cx="330318" cy="1"/>
          </a:xfrm>
          <a:prstGeom prst="line">
            <a:avLst/>
          </a:prstGeom>
        </p:spPr>
        <p:style>
          <a:lnRef idx="1">
            <a:schemeClr val="accent1"/>
          </a:lnRef>
          <a:fillRef idx="0">
            <a:schemeClr val="accent1"/>
          </a:fillRef>
          <a:effectRef idx="0">
            <a:schemeClr val="accent1"/>
          </a:effectRef>
          <a:fontRef idx="minor">
            <a:schemeClr val="tx1"/>
          </a:fontRef>
        </p:style>
      </p:cxnSp>
      <p:sp>
        <p:nvSpPr>
          <p:cNvPr id="133" name="Oval 132">
            <a:extLst>
              <a:ext uri="{FF2B5EF4-FFF2-40B4-BE49-F238E27FC236}">
                <a16:creationId xmlns:a16="http://schemas.microsoft.com/office/drawing/2014/main" id="{528CCC59-10CB-C145-ADB0-5B293440AD6C}"/>
              </a:ext>
            </a:extLst>
          </p:cNvPr>
          <p:cNvSpPr/>
          <p:nvPr/>
        </p:nvSpPr>
        <p:spPr>
          <a:xfrm>
            <a:off x="3903772" y="3577787"/>
            <a:ext cx="397193" cy="397193"/>
          </a:xfrm>
          <a:prstGeom prst="ellipse">
            <a:avLst/>
          </a:prstGeom>
          <a:solidFill>
            <a:schemeClr val="tx1">
              <a:lumMod val="9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800" dirty="0">
                <a:solidFill>
                  <a:schemeClr val="bg1"/>
                </a:solidFill>
              </a:rPr>
              <a:t>In 3</a:t>
            </a:r>
          </a:p>
        </p:txBody>
      </p:sp>
      <p:cxnSp>
        <p:nvCxnSpPr>
          <p:cNvPr id="134" name="Straight Connector 133">
            <a:extLst>
              <a:ext uri="{FF2B5EF4-FFF2-40B4-BE49-F238E27FC236}">
                <a16:creationId xmlns:a16="http://schemas.microsoft.com/office/drawing/2014/main" id="{5800C4E8-4FA3-7F42-882E-CF69AEF3AC7B}"/>
              </a:ext>
            </a:extLst>
          </p:cNvPr>
          <p:cNvCxnSpPr>
            <a:cxnSpLocks/>
            <a:stCxn id="130" idx="2"/>
            <a:endCxn id="133" idx="6"/>
          </p:cNvCxnSpPr>
          <p:nvPr/>
        </p:nvCxnSpPr>
        <p:spPr>
          <a:xfrm flipH="1">
            <a:off x="4300965" y="3776384"/>
            <a:ext cx="446624" cy="0"/>
          </a:xfrm>
          <a:prstGeom prst="line">
            <a:avLst/>
          </a:prstGeom>
        </p:spPr>
        <p:style>
          <a:lnRef idx="1">
            <a:schemeClr val="accent1"/>
          </a:lnRef>
          <a:fillRef idx="0">
            <a:schemeClr val="accent1"/>
          </a:fillRef>
          <a:effectRef idx="0">
            <a:schemeClr val="accent1"/>
          </a:effectRef>
          <a:fontRef idx="minor">
            <a:schemeClr val="tx1"/>
          </a:fontRef>
        </p:style>
      </p:cxnSp>
      <p:sp>
        <p:nvSpPr>
          <p:cNvPr id="135" name="Content Placeholder 2">
            <a:extLst>
              <a:ext uri="{FF2B5EF4-FFF2-40B4-BE49-F238E27FC236}">
                <a16:creationId xmlns:a16="http://schemas.microsoft.com/office/drawing/2014/main" id="{01777EA4-9985-504E-8320-C4F2C807FB06}"/>
              </a:ext>
            </a:extLst>
          </p:cNvPr>
          <p:cNvSpPr txBox="1">
            <a:spLocks/>
          </p:cNvSpPr>
          <p:nvPr/>
        </p:nvSpPr>
        <p:spPr>
          <a:xfrm>
            <a:off x="6428490" y="4893738"/>
            <a:ext cx="4172215" cy="1546297"/>
          </a:xfrm>
          <a:prstGeom prst="rect">
            <a:avLst/>
          </a:prstGeom>
          <a:noFill/>
          <a:ln>
            <a:solidFill>
              <a:schemeClr val="tx1">
                <a:lumMod val="95000"/>
              </a:schemeClr>
            </a:solidFill>
          </a:ln>
        </p:spPr>
        <p:txBody>
          <a:bodyPr vert="horz" lIns="91440" tIns="45720" rIns="91440" bIns="45720" rtlCol="0">
            <a:no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endParaRPr lang="en-US" sz="1600" dirty="0">
              <a:solidFill>
                <a:schemeClr val="tx1">
                  <a:lumMod val="95000"/>
                </a:schemeClr>
              </a:solidFill>
            </a:endParaRPr>
          </a:p>
        </p:txBody>
      </p:sp>
      <p:sp>
        <p:nvSpPr>
          <p:cNvPr id="136" name="Oval 135">
            <a:extLst>
              <a:ext uri="{FF2B5EF4-FFF2-40B4-BE49-F238E27FC236}">
                <a16:creationId xmlns:a16="http://schemas.microsoft.com/office/drawing/2014/main" id="{11419ED9-6D42-2944-917F-BACE0C79B04C}"/>
              </a:ext>
            </a:extLst>
          </p:cNvPr>
          <p:cNvSpPr/>
          <p:nvPr/>
        </p:nvSpPr>
        <p:spPr>
          <a:xfrm>
            <a:off x="7563077" y="4949162"/>
            <a:ext cx="397193" cy="397193"/>
          </a:xfrm>
          <a:prstGeom prst="ellipse">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bg1"/>
                </a:solidFill>
              </a:rPr>
              <a:t>T</a:t>
            </a:r>
          </a:p>
        </p:txBody>
      </p:sp>
      <p:cxnSp>
        <p:nvCxnSpPr>
          <p:cNvPr id="137" name="Straight Connector 136">
            <a:extLst>
              <a:ext uri="{FF2B5EF4-FFF2-40B4-BE49-F238E27FC236}">
                <a16:creationId xmlns:a16="http://schemas.microsoft.com/office/drawing/2014/main" id="{73D6785D-ABEC-694E-9F19-28F040148B49}"/>
              </a:ext>
            </a:extLst>
          </p:cNvPr>
          <p:cNvCxnSpPr>
            <a:cxnSpLocks/>
            <a:stCxn id="136" idx="4"/>
            <a:endCxn id="140" idx="0"/>
          </p:cNvCxnSpPr>
          <p:nvPr/>
        </p:nvCxnSpPr>
        <p:spPr>
          <a:xfrm>
            <a:off x="7761674" y="5346355"/>
            <a:ext cx="4611" cy="274423"/>
          </a:xfrm>
          <a:prstGeom prst="line">
            <a:avLst/>
          </a:prstGeom>
        </p:spPr>
        <p:style>
          <a:lnRef idx="1">
            <a:schemeClr val="accent1"/>
          </a:lnRef>
          <a:fillRef idx="0">
            <a:schemeClr val="accent1"/>
          </a:fillRef>
          <a:effectRef idx="0">
            <a:schemeClr val="accent1"/>
          </a:effectRef>
          <a:fontRef idx="minor">
            <a:schemeClr val="tx1"/>
          </a:fontRef>
        </p:style>
      </p:cxnSp>
      <p:cxnSp>
        <p:nvCxnSpPr>
          <p:cNvPr id="138" name="Straight Connector 137">
            <a:extLst>
              <a:ext uri="{FF2B5EF4-FFF2-40B4-BE49-F238E27FC236}">
                <a16:creationId xmlns:a16="http://schemas.microsoft.com/office/drawing/2014/main" id="{6F7BD49C-5004-9A47-B6CB-41E829D0A6B1}"/>
              </a:ext>
            </a:extLst>
          </p:cNvPr>
          <p:cNvCxnSpPr>
            <a:cxnSpLocks/>
            <a:stCxn id="141" idx="3"/>
            <a:endCxn id="140" idx="6"/>
          </p:cNvCxnSpPr>
          <p:nvPr/>
        </p:nvCxnSpPr>
        <p:spPr>
          <a:xfrm flipH="1">
            <a:off x="7964881" y="5599377"/>
            <a:ext cx="316387" cy="219998"/>
          </a:xfrm>
          <a:prstGeom prst="line">
            <a:avLst/>
          </a:prstGeom>
        </p:spPr>
        <p:style>
          <a:lnRef idx="1">
            <a:schemeClr val="accent1"/>
          </a:lnRef>
          <a:fillRef idx="0">
            <a:schemeClr val="accent1"/>
          </a:fillRef>
          <a:effectRef idx="0">
            <a:schemeClr val="accent1"/>
          </a:effectRef>
          <a:fontRef idx="minor">
            <a:schemeClr val="tx1"/>
          </a:fontRef>
        </p:style>
      </p:cxnSp>
      <p:cxnSp>
        <p:nvCxnSpPr>
          <p:cNvPr id="139" name="Straight Connector 138">
            <a:extLst>
              <a:ext uri="{FF2B5EF4-FFF2-40B4-BE49-F238E27FC236}">
                <a16:creationId xmlns:a16="http://schemas.microsoft.com/office/drawing/2014/main" id="{868ADFE4-BE2F-0B4D-B1C5-F5C3839A2A91}"/>
              </a:ext>
            </a:extLst>
          </p:cNvPr>
          <p:cNvCxnSpPr>
            <a:cxnSpLocks/>
            <a:stCxn id="141" idx="1"/>
            <a:endCxn id="136" idx="6"/>
          </p:cNvCxnSpPr>
          <p:nvPr/>
        </p:nvCxnSpPr>
        <p:spPr>
          <a:xfrm flipH="1" flipV="1">
            <a:off x="7960270" y="5147759"/>
            <a:ext cx="320998" cy="170761"/>
          </a:xfrm>
          <a:prstGeom prst="line">
            <a:avLst/>
          </a:prstGeom>
        </p:spPr>
        <p:style>
          <a:lnRef idx="1">
            <a:schemeClr val="accent1"/>
          </a:lnRef>
          <a:fillRef idx="0">
            <a:schemeClr val="accent1"/>
          </a:fillRef>
          <a:effectRef idx="0">
            <a:schemeClr val="accent1"/>
          </a:effectRef>
          <a:fontRef idx="minor">
            <a:schemeClr val="tx1"/>
          </a:fontRef>
        </p:style>
      </p:cxnSp>
      <p:sp>
        <p:nvSpPr>
          <p:cNvPr id="140" name="Oval 139">
            <a:extLst>
              <a:ext uri="{FF2B5EF4-FFF2-40B4-BE49-F238E27FC236}">
                <a16:creationId xmlns:a16="http://schemas.microsoft.com/office/drawing/2014/main" id="{0F550C4B-618E-3842-85CD-D7A74801A6E6}"/>
              </a:ext>
            </a:extLst>
          </p:cNvPr>
          <p:cNvSpPr/>
          <p:nvPr/>
        </p:nvSpPr>
        <p:spPr>
          <a:xfrm>
            <a:off x="7567688" y="5620778"/>
            <a:ext cx="397193" cy="397193"/>
          </a:xfrm>
          <a:prstGeom prst="ellipse">
            <a:avLst/>
          </a:prstGeom>
          <a:solidFill>
            <a:schemeClr val="accent2">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bg1"/>
                </a:solidFill>
              </a:rPr>
              <a:t>N</a:t>
            </a:r>
          </a:p>
        </p:txBody>
      </p:sp>
      <p:sp>
        <p:nvSpPr>
          <p:cNvPr id="141" name="Oval 140">
            <a:extLst>
              <a:ext uri="{FF2B5EF4-FFF2-40B4-BE49-F238E27FC236}">
                <a16:creationId xmlns:a16="http://schemas.microsoft.com/office/drawing/2014/main" id="{C462F96D-5D82-5540-B5AA-DBBD5325B39B}"/>
              </a:ext>
            </a:extLst>
          </p:cNvPr>
          <p:cNvSpPr/>
          <p:nvPr/>
        </p:nvSpPr>
        <p:spPr>
          <a:xfrm>
            <a:off x="8216120" y="5260352"/>
            <a:ext cx="444858" cy="397193"/>
          </a:xfrm>
          <a:prstGeom prst="ellipse">
            <a:avLst/>
          </a:prstGeom>
          <a:solidFill>
            <a:schemeClr val="accent4">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bg1"/>
                </a:solidFill>
              </a:rPr>
              <a:t>F</a:t>
            </a:r>
          </a:p>
        </p:txBody>
      </p:sp>
      <p:cxnSp>
        <p:nvCxnSpPr>
          <p:cNvPr id="142" name="Straight Connector 141">
            <a:extLst>
              <a:ext uri="{FF2B5EF4-FFF2-40B4-BE49-F238E27FC236}">
                <a16:creationId xmlns:a16="http://schemas.microsoft.com/office/drawing/2014/main" id="{6EE9E4BB-F4D2-E145-99C9-33DC24A390B6}"/>
              </a:ext>
            </a:extLst>
          </p:cNvPr>
          <p:cNvCxnSpPr>
            <a:cxnSpLocks/>
            <a:stCxn id="148" idx="2"/>
            <a:endCxn id="141" idx="6"/>
          </p:cNvCxnSpPr>
          <p:nvPr/>
        </p:nvCxnSpPr>
        <p:spPr>
          <a:xfrm flipH="1" flipV="1">
            <a:off x="8660978" y="5458949"/>
            <a:ext cx="408530" cy="435"/>
          </a:xfrm>
          <a:prstGeom prst="line">
            <a:avLst/>
          </a:prstGeom>
        </p:spPr>
        <p:style>
          <a:lnRef idx="1">
            <a:schemeClr val="accent1"/>
          </a:lnRef>
          <a:fillRef idx="0">
            <a:schemeClr val="accent1"/>
          </a:fillRef>
          <a:effectRef idx="0">
            <a:schemeClr val="accent1"/>
          </a:effectRef>
          <a:fontRef idx="minor">
            <a:schemeClr val="tx1"/>
          </a:fontRef>
        </p:style>
      </p:cxnSp>
      <p:sp>
        <p:nvSpPr>
          <p:cNvPr id="143" name="Oval 142">
            <a:extLst>
              <a:ext uri="{FF2B5EF4-FFF2-40B4-BE49-F238E27FC236}">
                <a16:creationId xmlns:a16="http://schemas.microsoft.com/office/drawing/2014/main" id="{5DC36792-E4FD-BE41-97C1-87AEDB9F8584}"/>
              </a:ext>
            </a:extLst>
          </p:cNvPr>
          <p:cNvSpPr/>
          <p:nvPr/>
        </p:nvSpPr>
        <p:spPr>
          <a:xfrm>
            <a:off x="6552190" y="4954940"/>
            <a:ext cx="397193" cy="397193"/>
          </a:xfrm>
          <a:prstGeom prst="ellipse">
            <a:avLst/>
          </a:prstGeom>
          <a:solidFill>
            <a:schemeClr val="accent4">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bg1"/>
                </a:solidFill>
              </a:rPr>
              <a:t>F</a:t>
            </a:r>
          </a:p>
        </p:txBody>
      </p:sp>
      <p:sp>
        <p:nvSpPr>
          <p:cNvPr id="144" name="Oval 143">
            <a:extLst>
              <a:ext uri="{FF2B5EF4-FFF2-40B4-BE49-F238E27FC236}">
                <a16:creationId xmlns:a16="http://schemas.microsoft.com/office/drawing/2014/main" id="{4FEFBCF6-9547-E744-82A2-5B5DE14B4425}"/>
              </a:ext>
            </a:extLst>
          </p:cNvPr>
          <p:cNvSpPr/>
          <p:nvPr/>
        </p:nvSpPr>
        <p:spPr>
          <a:xfrm>
            <a:off x="6556801" y="5626556"/>
            <a:ext cx="397193" cy="397193"/>
          </a:xfrm>
          <a:prstGeom prst="ellipse">
            <a:avLst/>
          </a:prstGeom>
          <a:solidFill>
            <a:schemeClr val="accent4">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bg1"/>
                </a:solidFill>
              </a:rPr>
              <a:t>F</a:t>
            </a:r>
          </a:p>
        </p:txBody>
      </p:sp>
      <p:cxnSp>
        <p:nvCxnSpPr>
          <p:cNvPr id="145" name="Straight Connector 144">
            <a:extLst>
              <a:ext uri="{FF2B5EF4-FFF2-40B4-BE49-F238E27FC236}">
                <a16:creationId xmlns:a16="http://schemas.microsoft.com/office/drawing/2014/main" id="{C539DFB5-0FE6-9C40-A56C-A12C3CC56E4D}"/>
              </a:ext>
            </a:extLst>
          </p:cNvPr>
          <p:cNvCxnSpPr>
            <a:cxnSpLocks/>
            <a:stCxn id="136" idx="2"/>
            <a:endCxn id="143" idx="6"/>
          </p:cNvCxnSpPr>
          <p:nvPr/>
        </p:nvCxnSpPr>
        <p:spPr>
          <a:xfrm flipH="1">
            <a:off x="6949383" y="5147759"/>
            <a:ext cx="613694" cy="5778"/>
          </a:xfrm>
          <a:prstGeom prst="line">
            <a:avLst/>
          </a:prstGeom>
        </p:spPr>
        <p:style>
          <a:lnRef idx="1">
            <a:schemeClr val="accent1"/>
          </a:lnRef>
          <a:fillRef idx="0">
            <a:schemeClr val="accent1"/>
          </a:fillRef>
          <a:effectRef idx="0">
            <a:schemeClr val="accent1"/>
          </a:effectRef>
          <a:fontRef idx="minor">
            <a:schemeClr val="tx1"/>
          </a:fontRef>
        </p:style>
      </p:cxnSp>
      <p:cxnSp>
        <p:nvCxnSpPr>
          <p:cNvPr id="146" name="Straight Connector 145">
            <a:extLst>
              <a:ext uri="{FF2B5EF4-FFF2-40B4-BE49-F238E27FC236}">
                <a16:creationId xmlns:a16="http://schemas.microsoft.com/office/drawing/2014/main" id="{E29EE81F-0DA7-5B4D-AB29-09031448B52C}"/>
              </a:ext>
            </a:extLst>
          </p:cNvPr>
          <p:cNvCxnSpPr>
            <a:cxnSpLocks/>
            <a:stCxn id="140" idx="2"/>
            <a:endCxn id="144" idx="6"/>
          </p:cNvCxnSpPr>
          <p:nvPr/>
        </p:nvCxnSpPr>
        <p:spPr>
          <a:xfrm flipH="1">
            <a:off x="6953994" y="5819375"/>
            <a:ext cx="613694" cy="5778"/>
          </a:xfrm>
          <a:prstGeom prst="line">
            <a:avLst/>
          </a:prstGeom>
        </p:spPr>
        <p:style>
          <a:lnRef idx="1">
            <a:schemeClr val="accent1"/>
          </a:lnRef>
          <a:fillRef idx="0">
            <a:schemeClr val="accent1"/>
          </a:fillRef>
          <a:effectRef idx="0">
            <a:schemeClr val="accent1"/>
          </a:effectRef>
          <a:fontRef idx="minor">
            <a:schemeClr val="tx1"/>
          </a:fontRef>
        </p:style>
      </p:cxnSp>
      <p:sp>
        <p:nvSpPr>
          <p:cNvPr id="147" name="Content Placeholder 2">
            <a:extLst>
              <a:ext uri="{FF2B5EF4-FFF2-40B4-BE49-F238E27FC236}">
                <a16:creationId xmlns:a16="http://schemas.microsoft.com/office/drawing/2014/main" id="{262FA7C1-7140-E441-B24E-3E19A9B31F6D}"/>
              </a:ext>
            </a:extLst>
          </p:cNvPr>
          <p:cNvSpPr txBox="1">
            <a:spLocks/>
          </p:cNvSpPr>
          <p:nvPr/>
        </p:nvSpPr>
        <p:spPr>
          <a:xfrm>
            <a:off x="6428491" y="4575105"/>
            <a:ext cx="4172214" cy="280391"/>
          </a:xfrm>
          <a:prstGeom prst="rect">
            <a:avLst/>
          </a:prstGeom>
          <a:noFill/>
          <a:ln>
            <a:noFill/>
          </a:ln>
        </p:spPr>
        <p:txBody>
          <a:bodyPr vert="horz" lIns="91440" tIns="45720" rIns="91440" bIns="45720" rtlCol="0">
            <a:no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400" b="1" i="1" u="sng" dirty="0">
                <a:solidFill>
                  <a:schemeClr val="tx1">
                    <a:lumMod val="95000"/>
                  </a:schemeClr>
                </a:solidFill>
              </a:rPr>
              <a:t>Example 2</a:t>
            </a:r>
            <a:r>
              <a:rPr lang="en-US" sz="1400" dirty="0">
                <a:solidFill>
                  <a:schemeClr val="tx1">
                    <a:lumMod val="95000"/>
                  </a:schemeClr>
                </a:solidFill>
              </a:rPr>
              <a:t>: False / False / False</a:t>
            </a:r>
          </a:p>
        </p:txBody>
      </p:sp>
      <p:sp>
        <p:nvSpPr>
          <p:cNvPr id="148" name="Oval 147">
            <a:extLst>
              <a:ext uri="{FF2B5EF4-FFF2-40B4-BE49-F238E27FC236}">
                <a16:creationId xmlns:a16="http://schemas.microsoft.com/office/drawing/2014/main" id="{1ED3FA2E-1C68-DB4F-87F0-B6A94D3FF60B}"/>
              </a:ext>
            </a:extLst>
          </p:cNvPr>
          <p:cNvSpPr/>
          <p:nvPr/>
        </p:nvSpPr>
        <p:spPr>
          <a:xfrm>
            <a:off x="9069508" y="5260787"/>
            <a:ext cx="397193" cy="397193"/>
          </a:xfrm>
          <a:prstGeom prst="ellipse">
            <a:avLst/>
          </a:prstGeom>
          <a:solidFill>
            <a:schemeClr val="accent2">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bg1"/>
                </a:solidFill>
              </a:rPr>
              <a:t>N</a:t>
            </a:r>
          </a:p>
        </p:txBody>
      </p:sp>
      <p:cxnSp>
        <p:nvCxnSpPr>
          <p:cNvPr id="149" name="Straight Connector 148">
            <a:extLst>
              <a:ext uri="{FF2B5EF4-FFF2-40B4-BE49-F238E27FC236}">
                <a16:creationId xmlns:a16="http://schemas.microsoft.com/office/drawing/2014/main" id="{A7450BEB-3ADC-6446-B2BF-A796A2CA3314}"/>
              </a:ext>
            </a:extLst>
          </p:cNvPr>
          <p:cNvCxnSpPr>
            <a:cxnSpLocks/>
            <a:stCxn id="148" idx="4"/>
            <a:endCxn id="152" idx="0"/>
          </p:cNvCxnSpPr>
          <p:nvPr/>
        </p:nvCxnSpPr>
        <p:spPr>
          <a:xfrm>
            <a:off x="9268105" y="5657980"/>
            <a:ext cx="4611" cy="274423"/>
          </a:xfrm>
          <a:prstGeom prst="line">
            <a:avLst/>
          </a:prstGeom>
        </p:spPr>
        <p:style>
          <a:lnRef idx="1">
            <a:schemeClr val="accent1"/>
          </a:lnRef>
          <a:fillRef idx="0">
            <a:schemeClr val="accent1"/>
          </a:fillRef>
          <a:effectRef idx="0">
            <a:schemeClr val="accent1"/>
          </a:effectRef>
          <a:fontRef idx="minor">
            <a:schemeClr val="tx1"/>
          </a:fontRef>
        </p:style>
      </p:cxnSp>
      <p:cxnSp>
        <p:nvCxnSpPr>
          <p:cNvPr id="150" name="Straight Connector 149">
            <a:extLst>
              <a:ext uri="{FF2B5EF4-FFF2-40B4-BE49-F238E27FC236}">
                <a16:creationId xmlns:a16="http://schemas.microsoft.com/office/drawing/2014/main" id="{7700E3A3-D065-104C-BE95-560290467FC5}"/>
              </a:ext>
            </a:extLst>
          </p:cNvPr>
          <p:cNvCxnSpPr>
            <a:cxnSpLocks/>
            <a:stCxn id="153" idx="3"/>
            <a:endCxn id="152" idx="6"/>
          </p:cNvCxnSpPr>
          <p:nvPr/>
        </p:nvCxnSpPr>
        <p:spPr>
          <a:xfrm flipH="1">
            <a:off x="9471312" y="5911002"/>
            <a:ext cx="316387" cy="219998"/>
          </a:xfrm>
          <a:prstGeom prst="line">
            <a:avLst/>
          </a:prstGeom>
        </p:spPr>
        <p:style>
          <a:lnRef idx="1">
            <a:schemeClr val="accent1"/>
          </a:lnRef>
          <a:fillRef idx="0">
            <a:schemeClr val="accent1"/>
          </a:fillRef>
          <a:effectRef idx="0">
            <a:schemeClr val="accent1"/>
          </a:effectRef>
          <a:fontRef idx="minor">
            <a:schemeClr val="tx1"/>
          </a:fontRef>
        </p:style>
      </p:cxnSp>
      <p:cxnSp>
        <p:nvCxnSpPr>
          <p:cNvPr id="151" name="Straight Connector 150">
            <a:extLst>
              <a:ext uri="{FF2B5EF4-FFF2-40B4-BE49-F238E27FC236}">
                <a16:creationId xmlns:a16="http://schemas.microsoft.com/office/drawing/2014/main" id="{117BEA95-EAD7-F642-9101-26A68CB55B57}"/>
              </a:ext>
            </a:extLst>
          </p:cNvPr>
          <p:cNvCxnSpPr>
            <a:cxnSpLocks/>
            <a:stCxn id="153" idx="1"/>
            <a:endCxn id="148" idx="6"/>
          </p:cNvCxnSpPr>
          <p:nvPr/>
        </p:nvCxnSpPr>
        <p:spPr>
          <a:xfrm flipH="1" flipV="1">
            <a:off x="9466701" y="5459384"/>
            <a:ext cx="320998" cy="170761"/>
          </a:xfrm>
          <a:prstGeom prst="line">
            <a:avLst/>
          </a:prstGeom>
        </p:spPr>
        <p:style>
          <a:lnRef idx="1">
            <a:schemeClr val="accent1"/>
          </a:lnRef>
          <a:fillRef idx="0">
            <a:schemeClr val="accent1"/>
          </a:fillRef>
          <a:effectRef idx="0">
            <a:schemeClr val="accent1"/>
          </a:effectRef>
          <a:fontRef idx="minor">
            <a:schemeClr val="tx1"/>
          </a:fontRef>
        </p:style>
      </p:cxnSp>
      <p:sp>
        <p:nvSpPr>
          <p:cNvPr id="152" name="Oval 151">
            <a:extLst>
              <a:ext uri="{FF2B5EF4-FFF2-40B4-BE49-F238E27FC236}">
                <a16:creationId xmlns:a16="http://schemas.microsoft.com/office/drawing/2014/main" id="{7A97675C-2354-364A-BB09-ADED1B978199}"/>
              </a:ext>
            </a:extLst>
          </p:cNvPr>
          <p:cNvSpPr/>
          <p:nvPr/>
        </p:nvSpPr>
        <p:spPr>
          <a:xfrm>
            <a:off x="9074119" y="5932403"/>
            <a:ext cx="397193" cy="397193"/>
          </a:xfrm>
          <a:prstGeom prst="ellipse">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bg1"/>
                </a:solidFill>
              </a:rPr>
              <a:t>T</a:t>
            </a:r>
          </a:p>
        </p:txBody>
      </p:sp>
      <p:sp>
        <p:nvSpPr>
          <p:cNvPr id="153" name="Oval 152">
            <a:extLst>
              <a:ext uri="{FF2B5EF4-FFF2-40B4-BE49-F238E27FC236}">
                <a16:creationId xmlns:a16="http://schemas.microsoft.com/office/drawing/2014/main" id="{AC3528B9-E5F6-8141-830D-EFC3EBF1ACBB}"/>
              </a:ext>
            </a:extLst>
          </p:cNvPr>
          <p:cNvSpPr/>
          <p:nvPr/>
        </p:nvSpPr>
        <p:spPr>
          <a:xfrm>
            <a:off x="9722551" y="5571977"/>
            <a:ext cx="444858" cy="397193"/>
          </a:xfrm>
          <a:prstGeom prst="ellipse">
            <a:avLst/>
          </a:prstGeom>
          <a:solidFill>
            <a:schemeClr val="accent4">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bg1"/>
                </a:solidFill>
              </a:rPr>
              <a:t>F</a:t>
            </a:r>
          </a:p>
        </p:txBody>
      </p:sp>
      <p:cxnSp>
        <p:nvCxnSpPr>
          <p:cNvPr id="154" name="Straight Connector 153">
            <a:extLst>
              <a:ext uri="{FF2B5EF4-FFF2-40B4-BE49-F238E27FC236}">
                <a16:creationId xmlns:a16="http://schemas.microsoft.com/office/drawing/2014/main" id="{E089294C-EC62-844C-8BB3-B24D95AF25BF}"/>
              </a:ext>
            </a:extLst>
          </p:cNvPr>
          <p:cNvCxnSpPr>
            <a:cxnSpLocks/>
            <a:endCxn id="153" idx="6"/>
          </p:cNvCxnSpPr>
          <p:nvPr/>
        </p:nvCxnSpPr>
        <p:spPr>
          <a:xfrm flipH="1">
            <a:off x="10167409" y="5770573"/>
            <a:ext cx="330318" cy="1"/>
          </a:xfrm>
          <a:prstGeom prst="line">
            <a:avLst/>
          </a:prstGeom>
        </p:spPr>
        <p:style>
          <a:lnRef idx="1">
            <a:schemeClr val="accent1"/>
          </a:lnRef>
          <a:fillRef idx="0">
            <a:schemeClr val="accent1"/>
          </a:fillRef>
          <a:effectRef idx="0">
            <a:schemeClr val="accent1"/>
          </a:effectRef>
          <a:fontRef idx="minor">
            <a:schemeClr val="tx1"/>
          </a:fontRef>
        </p:style>
      </p:cxnSp>
      <p:sp>
        <p:nvSpPr>
          <p:cNvPr id="155" name="Oval 154">
            <a:extLst>
              <a:ext uri="{FF2B5EF4-FFF2-40B4-BE49-F238E27FC236}">
                <a16:creationId xmlns:a16="http://schemas.microsoft.com/office/drawing/2014/main" id="{BB423F3D-E703-0943-868F-F262BC97BD71}"/>
              </a:ext>
            </a:extLst>
          </p:cNvPr>
          <p:cNvSpPr/>
          <p:nvPr/>
        </p:nvSpPr>
        <p:spPr>
          <a:xfrm>
            <a:off x="8230302" y="5932403"/>
            <a:ext cx="397193" cy="397193"/>
          </a:xfrm>
          <a:prstGeom prst="ellipse">
            <a:avLst/>
          </a:prstGeom>
          <a:solidFill>
            <a:schemeClr val="accent4">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bg1"/>
                </a:solidFill>
              </a:rPr>
              <a:t>F</a:t>
            </a:r>
          </a:p>
        </p:txBody>
      </p:sp>
      <p:cxnSp>
        <p:nvCxnSpPr>
          <p:cNvPr id="156" name="Straight Connector 155">
            <a:extLst>
              <a:ext uri="{FF2B5EF4-FFF2-40B4-BE49-F238E27FC236}">
                <a16:creationId xmlns:a16="http://schemas.microsoft.com/office/drawing/2014/main" id="{6F31C067-07ED-A14C-BAF2-E27AE81EF9F9}"/>
              </a:ext>
            </a:extLst>
          </p:cNvPr>
          <p:cNvCxnSpPr>
            <a:cxnSpLocks/>
            <a:stCxn id="152" idx="2"/>
            <a:endCxn id="155" idx="6"/>
          </p:cNvCxnSpPr>
          <p:nvPr/>
        </p:nvCxnSpPr>
        <p:spPr>
          <a:xfrm flipH="1">
            <a:off x="8627495" y="6131000"/>
            <a:ext cx="446624"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07028888"/>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p:cNvSpPr>
                <a:spLocks noGrp="1"/>
              </p:cNvSpPr>
              <p:nvPr>
                <p:ph type="title"/>
              </p:nvPr>
            </p:nvSpPr>
            <p:spPr>
              <a:xfrm>
                <a:off x="1141413" y="50497"/>
                <a:ext cx="9905998" cy="695377"/>
              </a:xfrm>
            </p:spPr>
            <p: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3</m:t>
                      </m:r>
                      <m:r>
                        <a:rPr lang="en-US" b="0" i="1" smtClean="0">
                          <a:latin typeface="Cambria Math" panose="02040503050406030204" pitchFamily="18" charset="0"/>
                        </a:rPr>
                        <m:t>𝑆𝐴𝑇</m:t>
                      </m:r>
                      <m:sSub>
                        <m:sSubPr>
                          <m:ctrlPr>
                            <a:rPr lang="en-US" b="0" i="1" smtClean="0">
                              <a:latin typeface="Cambria Math" panose="02040503050406030204" pitchFamily="18" charset="0"/>
                            </a:rPr>
                          </m:ctrlPr>
                        </m:sSubPr>
                        <m:e>
                          <m:r>
                            <a:rPr lang="en-US" b="0" i="1" smtClean="0">
                              <a:latin typeface="Cambria Math" panose="02040503050406030204" pitchFamily="18" charset="0"/>
                            </a:rPr>
                            <m:t>≤</m:t>
                          </m:r>
                        </m:e>
                        <m:sub>
                          <m:r>
                            <a:rPr lang="en-US" b="0" i="1" smtClean="0">
                              <a:latin typeface="Cambria Math" panose="02040503050406030204" pitchFamily="18" charset="0"/>
                            </a:rPr>
                            <m:t>𝑝</m:t>
                          </m:r>
                        </m:sub>
                      </m:sSub>
                      <m:r>
                        <a:rPr lang="en-US" b="0" i="1" smtClean="0">
                          <a:latin typeface="Cambria Math" panose="02040503050406030204" pitchFamily="18" charset="0"/>
                        </a:rPr>
                        <m:t>3</m:t>
                      </m:r>
                      <m:r>
                        <a:rPr lang="en-US" b="0" i="1" smtClean="0">
                          <a:latin typeface="Cambria Math" panose="02040503050406030204" pitchFamily="18" charset="0"/>
                        </a:rPr>
                        <m:t>𝐶</m:t>
                      </m:r>
                    </m:oMath>
                  </m:oMathPara>
                </a14:m>
                <a:endParaRPr lang="en-US" dirty="0"/>
              </a:p>
            </p:txBody>
          </p:sp>
        </mc:Choice>
        <mc:Fallback xmlns="">
          <p:sp>
            <p:nvSpPr>
              <p:cNvPr id="2" name="Title 1"/>
              <p:cNvSpPr>
                <a:spLocks noGrp="1" noRot="1" noChangeAspect="1" noMove="1" noResize="1" noEditPoints="1" noAdjustHandles="1" noChangeArrowheads="1" noChangeShapeType="1" noTextEdit="1"/>
              </p:cNvSpPr>
              <p:nvPr>
                <p:ph type="title"/>
              </p:nvPr>
            </p:nvSpPr>
            <p:spPr>
              <a:xfrm>
                <a:off x="1141413" y="50497"/>
                <a:ext cx="9905998" cy="695377"/>
              </a:xfrm>
              <a:blipFill>
                <a:blip r:embed="rId2"/>
                <a:stretch>
                  <a:fillRect b="-535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Content Placeholder 2">
                <a:extLst>
                  <a:ext uri="{FF2B5EF4-FFF2-40B4-BE49-F238E27FC236}">
                    <a16:creationId xmlns:a16="http://schemas.microsoft.com/office/drawing/2014/main" id="{3A4FEE7E-EBFB-5E40-9644-716490691FB8}"/>
                  </a:ext>
                </a:extLst>
              </p:cNvPr>
              <p:cNvSpPr txBox="1">
                <a:spLocks/>
              </p:cNvSpPr>
              <p:nvPr/>
            </p:nvSpPr>
            <p:spPr>
              <a:xfrm>
                <a:off x="1089256" y="789211"/>
                <a:ext cx="4696288" cy="630318"/>
              </a:xfrm>
              <a:prstGeom prst="rect">
                <a:avLst/>
              </a:prstGeom>
              <a:noFill/>
              <a:ln>
                <a:solidFill>
                  <a:schemeClr val="accent1"/>
                </a:solidFill>
              </a:ln>
            </p:spPr>
            <p:txBody>
              <a:bodyPr vert="horz" lIns="91440" tIns="45720" rIns="91440" bIns="45720" rtlCol="0">
                <a:no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14:m>
                  <m:oMathPara xmlns:m="http://schemas.openxmlformats.org/officeDocument/2006/math">
                    <m:oMathParaPr>
                      <m:jc m:val="centerGroup"/>
                    </m:oMathParaPr>
                    <m:oMath xmlns:m="http://schemas.openxmlformats.org/officeDocument/2006/math">
                      <m:r>
                        <a:rPr lang="en-US" b="0" i="1" smtClean="0">
                          <a:solidFill>
                            <a:schemeClr val="tx1">
                              <a:lumMod val="95000"/>
                            </a:schemeClr>
                          </a:solidFill>
                          <a:latin typeface="Cambria Math" panose="02040503050406030204" pitchFamily="18" charset="0"/>
                        </a:rPr>
                        <m:t>𝜃</m:t>
                      </m:r>
                      <m:r>
                        <a:rPr lang="en-US" b="0" i="1" smtClean="0">
                          <a:solidFill>
                            <a:schemeClr val="tx1">
                              <a:lumMod val="95000"/>
                            </a:schemeClr>
                          </a:solidFill>
                          <a:latin typeface="Cambria Math" panose="02040503050406030204" pitchFamily="18" charset="0"/>
                        </a:rPr>
                        <m:t>=</m:t>
                      </m:r>
                      <m:d>
                        <m:dPr>
                          <m:ctrlPr>
                            <a:rPr lang="en-US" b="0" i="1" smtClean="0">
                              <a:solidFill>
                                <a:schemeClr val="tx1">
                                  <a:lumMod val="95000"/>
                                </a:schemeClr>
                              </a:solidFill>
                              <a:latin typeface="Cambria Math" panose="02040503050406030204" pitchFamily="18" charset="0"/>
                            </a:rPr>
                          </m:ctrlPr>
                        </m:dPr>
                        <m:e>
                          <m:r>
                            <a:rPr lang="en-US" b="0" i="1" smtClean="0">
                              <a:solidFill>
                                <a:schemeClr val="tx1">
                                  <a:lumMod val="95000"/>
                                </a:schemeClr>
                              </a:solidFill>
                              <a:latin typeface="Cambria Math" panose="02040503050406030204" pitchFamily="18" charset="0"/>
                            </a:rPr>
                            <m:t>𝑢</m:t>
                          </m:r>
                          <m:r>
                            <a:rPr lang="en-US" b="0" i="1" smtClean="0">
                              <a:solidFill>
                                <a:schemeClr val="tx1">
                                  <a:lumMod val="95000"/>
                                </a:schemeClr>
                              </a:solidFill>
                              <a:latin typeface="Cambria Math" panose="02040503050406030204" pitchFamily="18" charset="0"/>
                            </a:rPr>
                            <m:t>∨¬</m:t>
                          </m:r>
                          <m:r>
                            <a:rPr lang="en-US" b="0" i="1" smtClean="0">
                              <a:solidFill>
                                <a:schemeClr val="tx1">
                                  <a:lumMod val="95000"/>
                                </a:schemeClr>
                              </a:solidFill>
                              <a:latin typeface="Cambria Math" panose="02040503050406030204" pitchFamily="18" charset="0"/>
                            </a:rPr>
                            <m:t>𝑣</m:t>
                          </m:r>
                          <m:r>
                            <a:rPr lang="en-US" b="0" i="1" smtClean="0">
                              <a:solidFill>
                                <a:schemeClr val="tx1">
                                  <a:lumMod val="95000"/>
                                </a:schemeClr>
                              </a:solidFill>
                              <a:latin typeface="Cambria Math" panose="02040503050406030204" pitchFamily="18" charset="0"/>
                            </a:rPr>
                            <m:t>∨</m:t>
                          </m:r>
                          <m:r>
                            <a:rPr lang="en-US" b="0" i="1" smtClean="0">
                              <a:solidFill>
                                <a:schemeClr val="tx1">
                                  <a:lumMod val="95000"/>
                                </a:schemeClr>
                              </a:solidFill>
                              <a:latin typeface="Cambria Math" panose="02040503050406030204" pitchFamily="18" charset="0"/>
                            </a:rPr>
                            <m:t>𝑤</m:t>
                          </m:r>
                        </m:e>
                      </m:d>
                      <m:r>
                        <a:rPr lang="en-US" b="0" i="1" smtClean="0">
                          <a:solidFill>
                            <a:schemeClr val="tx1">
                              <a:lumMod val="95000"/>
                            </a:schemeClr>
                          </a:solidFill>
                          <a:latin typeface="Cambria Math" panose="02040503050406030204" pitchFamily="18" charset="0"/>
                        </a:rPr>
                        <m:t>∧(</m:t>
                      </m:r>
                      <m:r>
                        <a:rPr lang="en-US" b="0" i="1" smtClean="0">
                          <a:solidFill>
                            <a:schemeClr val="tx1">
                              <a:lumMod val="95000"/>
                            </a:schemeClr>
                          </a:solidFill>
                          <a:latin typeface="Cambria Math" panose="02040503050406030204" pitchFamily="18" charset="0"/>
                        </a:rPr>
                        <m:t>𝑣</m:t>
                      </m:r>
                      <m:r>
                        <a:rPr lang="en-US" b="0" i="1" smtClean="0">
                          <a:solidFill>
                            <a:schemeClr val="tx1">
                              <a:lumMod val="95000"/>
                            </a:schemeClr>
                          </a:solidFill>
                          <a:latin typeface="Cambria Math" panose="02040503050406030204" pitchFamily="18" charset="0"/>
                        </a:rPr>
                        <m:t>∨</m:t>
                      </m:r>
                      <m:r>
                        <a:rPr lang="en-US" b="0" i="1" smtClean="0">
                          <a:solidFill>
                            <a:schemeClr val="tx1">
                              <a:lumMod val="95000"/>
                            </a:schemeClr>
                          </a:solidFill>
                          <a:latin typeface="Cambria Math" panose="02040503050406030204" pitchFamily="18" charset="0"/>
                        </a:rPr>
                        <m:t>𝑥</m:t>
                      </m:r>
                      <m:r>
                        <a:rPr lang="en-US" b="0" i="1" smtClean="0">
                          <a:solidFill>
                            <a:schemeClr val="tx1">
                              <a:lumMod val="95000"/>
                            </a:schemeClr>
                          </a:solidFill>
                          <a:latin typeface="Cambria Math" panose="02040503050406030204" pitchFamily="18" charset="0"/>
                        </a:rPr>
                        <m:t>∨¬</m:t>
                      </m:r>
                      <m:r>
                        <a:rPr lang="en-US" b="0" i="1" smtClean="0">
                          <a:solidFill>
                            <a:schemeClr val="tx1">
                              <a:lumMod val="95000"/>
                            </a:schemeClr>
                          </a:solidFill>
                          <a:latin typeface="Cambria Math" panose="02040503050406030204" pitchFamily="18" charset="0"/>
                        </a:rPr>
                        <m:t>𝑦</m:t>
                      </m:r>
                      <m:r>
                        <a:rPr lang="en-US" b="0" i="1" smtClean="0">
                          <a:solidFill>
                            <a:schemeClr val="tx1">
                              <a:lumMod val="95000"/>
                            </a:schemeClr>
                          </a:solidFill>
                          <a:latin typeface="Cambria Math" panose="02040503050406030204" pitchFamily="18" charset="0"/>
                        </a:rPr>
                        <m:t>)</m:t>
                      </m:r>
                    </m:oMath>
                  </m:oMathPara>
                </a14:m>
                <a:endParaRPr lang="en-US" dirty="0">
                  <a:solidFill>
                    <a:schemeClr val="tx1">
                      <a:lumMod val="95000"/>
                    </a:schemeClr>
                  </a:solidFill>
                </a:endParaRPr>
              </a:p>
            </p:txBody>
          </p:sp>
        </mc:Choice>
        <mc:Fallback xmlns="">
          <p:sp>
            <p:nvSpPr>
              <p:cNvPr id="37" name="Content Placeholder 2">
                <a:extLst>
                  <a:ext uri="{FF2B5EF4-FFF2-40B4-BE49-F238E27FC236}">
                    <a16:creationId xmlns:a16="http://schemas.microsoft.com/office/drawing/2014/main" id="{3A4FEE7E-EBFB-5E40-9644-716490691FB8}"/>
                  </a:ext>
                </a:extLst>
              </p:cNvPr>
              <p:cNvSpPr txBox="1">
                <a:spLocks noRot="1" noChangeAspect="1" noMove="1" noResize="1" noEditPoints="1" noAdjustHandles="1" noChangeArrowheads="1" noChangeShapeType="1" noTextEdit="1"/>
              </p:cNvSpPr>
              <p:nvPr/>
            </p:nvSpPr>
            <p:spPr>
              <a:xfrm>
                <a:off x="1089256" y="789211"/>
                <a:ext cx="4696288" cy="630318"/>
              </a:xfrm>
              <a:prstGeom prst="rect">
                <a:avLst/>
              </a:prstGeom>
              <a:blipFill>
                <a:blip r:embed="rId3"/>
                <a:stretch>
                  <a:fillRect/>
                </a:stretch>
              </a:blipFill>
              <a:ln>
                <a:solidFill>
                  <a:schemeClr val="accent1"/>
                </a:solidFill>
              </a:ln>
            </p:spPr>
            <p:txBody>
              <a:bodyPr/>
              <a:lstStyle/>
              <a:p>
                <a:r>
                  <a:rPr lang="en-US">
                    <a:noFill/>
                  </a:rPr>
                  <a:t> </a:t>
                </a:r>
              </a:p>
            </p:txBody>
          </p:sp>
        </mc:Fallback>
      </mc:AlternateContent>
      <p:sp>
        <p:nvSpPr>
          <p:cNvPr id="38" name="Oval 37">
            <a:extLst>
              <a:ext uri="{FF2B5EF4-FFF2-40B4-BE49-F238E27FC236}">
                <a16:creationId xmlns:a16="http://schemas.microsoft.com/office/drawing/2014/main" id="{3FEA861B-AAE0-9747-9133-793334A5D7B1}"/>
              </a:ext>
            </a:extLst>
          </p:cNvPr>
          <p:cNvSpPr/>
          <p:nvPr/>
        </p:nvSpPr>
        <p:spPr>
          <a:xfrm>
            <a:off x="5133460" y="2798374"/>
            <a:ext cx="397193" cy="397193"/>
          </a:xfrm>
          <a:prstGeom prst="ellipse">
            <a:avLst/>
          </a:prstGeom>
          <a:solidFill>
            <a:schemeClr val="accent4">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bg1"/>
                </a:solidFill>
              </a:rPr>
              <a:t>F</a:t>
            </a:r>
          </a:p>
        </p:txBody>
      </p:sp>
      <p:cxnSp>
        <p:nvCxnSpPr>
          <p:cNvPr id="41" name="Straight Connector 40">
            <a:extLst>
              <a:ext uri="{FF2B5EF4-FFF2-40B4-BE49-F238E27FC236}">
                <a16:creationId xmlns:a16="http://schemas.microsoft.com/office/drawing/2014/main" id="{4629004D-838F-6147-841C-1AF8333CA8B9}"/>
              </a:ext>
            </a:extLst>
          </p:cNvPr>
          <p:cNvCxnSpPr>
            <a:cxnSpLocks/>
            <a:stCxn id="38" idx="4"/>
            <a:endCxn id="64" idx="0"/>
          </p:cNvCxnSpPr>
          <p:nvPr/>
        </p:nvCxnSpPr>
        <p:spPr>
          <a:xfrm>
            <a:off x="5332057" y="3195567"/>
            <a:ext cx="4611" cy="274423"/>
          </a:xfrm>
          <a:prstGeom prst="line">
            <a:avLst/>
          </a:prstGeom>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EBD90386-7E5A-DA48-83CF-EE364635BE18}"/>
              </a:ext>
            </a:extLst>
          </p:cNvPr>
          <p:cNvCxnSpPr>
            <a:cxnSpLocks/>
            <a:stCxn id="65" idx="3"/>
            <a:endCxn id="64" idx="6"/>
          </p:cNvCxnSpPr>
          <p:nvPr/>
        </p:nvCxnSpPr>
        <p:spPr>
          <a:xfrm flipH="1">
            <a:off x="5535264" y="3448589"/>
            <a:ext cx="316387" cy="219998"/>
          </a:xfrm>
          <a:prstGeom prst="line">
            <a:avLst/>
          </a:prstGeom>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98AEEE24-94EC-954B-A0E2-268B7E9FC0CB}"/>
              </a:ext>
            </a:extLst>
          </p:cNvPr>
          <p:cNvCxnSpPr>
            <a:cxnSpLocks/>
            <a:stCxn id="65" idx="1"/>
            <a:endCxn id="38" idx="6"/>
          </p:cNvCxnSpPr>
          <p:nvPr/>
        </p:nvCxnSpPr>
        <p:spPr>
          <a:xfrm flipH="1" flipV="1">
            <a:off x="5530653" y="2996971"/>
            <a:ext cx="320998" cy="170761"/>
          </a:xfrm>
          <a:prstGeom prst="line">
            <a:avLst/>
          </a:prstGeom>
        </p:spPr>
        <p:style>
          <a:lnRef idx="1">
            <a:schemeClr val="accent1"/>
          </a:lnRef>
          <a:fillRef idx="0">
            <a:schemeClr val="accent1"/>
          </a:fillRef>
          <a:effectRef idx="0">
            <a:schemeClr val="accent1"/>
          </a:effectRef>
          <a:fontRef idx="minor">
            <a:schemeClr val="tx1"/>
          </a:fontRef>
        </p:style>
      </p:cxnSp>
      <p:sp>
        <p:nvSpPr>
          <p:cNvPr id="64" name="Oval 63">
            <a:extLst>
              <a:ext uri="{FF2B5EF4-FFF2-40B4-BE49-F238E27FC236}">
                <a16:creationId xmlns:a16="http://schemas.microsoft.com/office/drawing/2014/main" id="{D7F6B5DA-5EF5-CD49-BBE6-F0974422D33F}"/>
              </a:ext>
            </a:extLst>
          </p:cNvPr>
          <p:cNvSpPr/>
          <p:nvPr/>
        </p:nvSpPr>
        <p:spPr>
          <a:xfrm>
            <a:off x="5138071" y="3469990"/>
            <a:ext cx="397193" cy="397193"/>
          </a:xfrm>
          <a:prstGeom prst="ellipse">
            <a:avLst/>
          </a:prstGeom>
          <a:solidFill>
            <a:schemeClr val="accent2">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bg1"/>
                </a:solidFill>
              </a:rPr>
              <a:t>N</a:t>
            </a:r>
          </a:p>
        </p:txBody>
      </p:sp>
      <p:sp>
        <p:nvSpPr>
          <p:cNvPr id="65" name="Oval 64">
            <a:extLst>
              <a:ext uri="{FF2B5EF4-FFF2-40B4-BE49-F238E27FC236}">
                <a16:creationId xmlns:a16="http://schemas.microsoft.com/office/drawing/2014/main" id="{53735A6F-F65E-8744-BD40-2CB9F36FA48A}"/>
              </a:ext>
            </a:extLst>
          </p:cNvPr>
          <p:cNvSpPr/>
          <p:nvPr/>
        </p:nvSpPr>
        <p:spPr>
          <a:xfrm>
            <a:off x="5786503" y="3109564"/>
            <a:ext cx="444858" cy="397193"/>
          </a:xfrm>
          <a:prstGeom prst="ellipse">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bg1"/>
                </a:solidFill>
              </a:rPr>
              <a:t>T</a:t>
            </a:r>
          </a:p>
        </p:txBody>
      </p:sp>
      <p:cxnSp>
        <p:nvCxnSpPr>
          <p:cNvPr id="66" name="Straight Connector 65">
            <a:extLst>
              <a:ext uri="{FF2B5EF4-FFF2-40B4-BE49-F238E27FC236}">
                <a16:creationId xmlns:a16="http://schemas.microsoft.com/office/drawing/2014/main" id="{51DBB513-E386-3249-8CF6-549EA7A9CBE1}"/>
              </a:ext>
            </a:extLst>
          </p:cNvPr>
          <p:cNvCxnSpPr>
            <a:cxnSpLocks/>
            <a:stCxn id="56" idx="2"/>
            <a:endCxn id="65" idx="6"/>
          </p:cNvCxnSpPr>
          <p:nvPr/>
        </p:nvCxnSpPr>
        <p:spPr>
          <a:xfrm flipH="1" flipV="1">
            <a:off x="6231361" y="3308161"/>
            <a:ext cx="408530" cy="435"/>
          </a:xfrm>
          <a:prstGeom prst="line">
            <a:avLst/>
          </a:prstGeom>
        </p:spPr>
        <p:style>
          <a:lnRef idx="1">
            <a:schemeClr val="accent1"/>
          </a:lnRef>
          <a:fillRef idx="0">
            <a:schemeClr val="accent1"/>
          </a:fillRef>
          <a:effectRef idx="0">
            <a:schemeClr val="accent1"/>
          </a:effectRef>
          <a:fontRef idx="minor">
            <a:schemeClr val="tx1"/>
          </a:fontRef>
        </p:style>
      </p:cxnSp>
      <p:sp>
        <p:nvSpPr>
          <p:cNvPr id="81" name="Content Placeholder 2">
            <a:extLst>
              <a:ext uri="{FF2B5EF4-FFF2-40B4-BE49-F238E27FC236}">
                <a16:creationId xmlns:a16="http://schemas.microsoft.com/office/drawing/2014/main" id="{CC2080DE-DB5D-9441-95A6-F1462E619581}"/>
              </a:ext>
            </a:extLst>
          </p:cNvPr>
          <p:cNvSpPr txBox="1">
            <a:spLocks/>
          </p:cNvSpPr>
          <p:nvPr/>
        </p:nvSpPr>
        <p:spPr>
          <a:xfrm>
            <a:off x="5724554" y="2599778"/>
            <a:ext cx="864864" cy="280391"/>
          </a:xfrm>
          <a:prstGeom prst="rect">
            <a:avLst/>
          </a:prstGeom>
          <a:noFill/>
          <a:ln>
            <a:noFill/>
          </a:ln>
        </p:spPr>
        <p:txBody>
          <a:bodyPr vert="horz" lIns="91440" tIns="45720" rIns="91440" bIns="45720" rtlCol="0">
            <a:no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400" b="1" i="1" u="sng" dirty="0">
                <a:solidFill>
                  <a:schemeClr val="tx1">
                    <a:lumMod val="95000"/>
                  </a:schemeClr>
                </a:solidFill>
              </a:rPr>
              <a:t>Clause 1</a:t>
            </a:r>
            <a:endParaRPr lang="en-US" sz="1400" dirty="0">
              <a:solidFill>
                <a:schemeClr val="tx1">
                  <a:lumMod val="95000"/>
                </a:schemeClr>
              </a:solidFill>
            </a:endParaRPr>
          </a:p>
        </p:txBody>
      </p:sp>
      <p:sp>
        <p:nvSpPr>
          <p:cNvPr id="56" name="Oval 55">
            <a:extLst>
              <a:ext uri="{FF2B5EF4-FFF2-40B4-BE49-F238E27FC236}">
                <a16:creationId xmlns:a16="http://schemas.microsoft.com/office/drawing/2014/main" id="{F90D1B3D-82FD-2B48-AFE0-C4AA6533E750}"/>
              </a:ext>
            </a:extLst>
          </p:cNvPr>
          <p:cNvSpPr/>
          <p:nvPr/>
        </p:nvSpPr>
        <p:spPr>
          <a:xfrm>
            <a:off x="6639891" y="3109999"/>
            <a:ext cx="397193" cy="397193"/>
          </a:xfrm>
          <a:prstGeom prst="ellipse">
            <a:avLst/>
          </a:prstGeom>
          <a:solidFill>
            <a:schemeClr val="accent4">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bg1"/>
                </a:solidFill>
              </a:rPr>
              <a:t>F</a:t>
            </a:r>
          </a:p>
        </p:txBody>
      </p:sp>
      <p:cxnSp>
        <p:nvCxnSpPr>
          <p:cNvPr id="57" name="Straight Connector 56">
            <a:extLst>
              <a:ext uri="{FF2B5EF4-FFF2-40B4-BE49-F238E27FC236}">
                <a16:creationId xmlns:a16="http://schemas.microsoft.com/office/drawing/2014/main" id="{07C07252-E01E-7147-8819-2C37BC49C059}"/>
              </a:ext>
            </a:extLst>
          </p:cNvPr>
          <p:cNvCxnSpPr>
            <a:cxnSpLocks/>
            <a:stCxn id="56" idx="4"/>
            <a:endCxn id="60" idx="0"/>
          </p:cNvCxnSpPr>
          <p:nvPr/>
        </p:nvCxnSpPr>
        <p:spPr>
          <a:xfrm>
            <a:off x="6838488" y="3507192"/>
            <a:ext cx="4611" cy="274423"/>
          </a:xfrm>
          <a:prstGeom prst="line">
            <a:avLst/>
          </a:prstGeom>
        </p:spPr>
        <p:style>
          <a:lnRef idx="1">
            <a:schemeClr val="accent1"/>
          </a:lnRef>
          <a:fillRef idx="0">
            <a:schemeClr val="accent1"/>
          </a:fillRef>
          <a:effectRef idx="0">
            <a:schemeClr val="accent1"/>
          </a:effectRef>
          <a:fontRef idx="minor">
            <a:schemeClr val="tx1"/>
          </a:fontRef>
        </p:style>
      </p:cxnSp>
      <p:cxnSp>
        <p:nvCxnSpPr>
          <p:cNvPr id="58" name="Straight Connector 57">
            <a:extLst>
              <a:ext uri="{FF2B5EF4-FFF2-40B4-BE49-F238E27FC236}">
                <a16:creationId xmlns:a16="http://schemas.microsoft.com/office/drawing/2014/main" id="{E8CCC6B0-8CB7-684E-9644-1EFD889756AA}"/>
              </a:ext>
            </a:extLst>
          </p:cNvPr>
          <p:cNvCxnSpPr>
            <a:cxnSpLocks/>
            <a:stCxn id="61" idx="3"/>
            <a:endCxn id="60" idx="6"/>
          </p:cNvCxnSpPr>
          <p:nvPr/>
        </p:nvCxnSpPr>
        <p:spPr>
          <a:xfrm flipH="1">
            <a:off x="7041695" y="3760214"/>
            <a:ext cx="316387" cy="219998"/>
          </a:xfrm>
          <a:prstGeom prst="line">
            <a:avLst/>
          </a:prstGeom>
        </p:spPr>
        <p:style>
          <a:lnRef idx="1">
            <a:schemeClr val="accent1"/>
          </a:lnRef>
          <a:fillRef idx="0">
            <a:schemeClr val="accent1"/>
          </a:fillRef>
          <a:effectRef idx="0">
            <a:schemeClr val="accent1"/>
          </a:effectRef>
          <a:fontRef idx="minor">
            <a:schemeClr val="tx1"/>
          </a:fontRef>
        </p:style>
      </p:cxnSp>
      <p:cxnSp>
        <p:nvCxnSpPr>
          <p:cNvPr id="59" name="Straight Connector 58">
            <a:extLst>
              <a:ext uri="{FF2B5EF4-FFF2-40B4-BE49-F238E27FC236}">
                <a16:creationId xmlns:a16="http://schemas.microsoft.com/office/drawing/2014/main" id="{221E2B69-7DDF-D146-9D91-71A1519105DB}"/>
              </a:ext>
            </a:extLst>
          </p:cNvPr>
          <p:cNvCxnSpPr>
            <a:cxnSpLocks/>
            <a:stCxn id="61" idx="1"/>
            <a:endCxn id="56" idx="6"/>
          </p:cNvCxnSpPr>
          <p:nvPr/>
        </p:nvCxnSpPr>
        <p:spPr>
          <a:xfrm flipH="1" flipV="1">
            <a:off x="7037084" y="3308596"/>
            <a:ext cx="320998" cy="170761"/>
          </a:xfrm>
          <a:prstGeom prst="line">
            <a:avLst/>
          </a:prstGeom>
        </p:spPr>
        <p:style>
          <a:lnRef idx="1">
            <a:schemeClr val="accent1"/>
          </a:lnRef>
          <a:fillRef idx="0">
            <a:schemeClr val="accent1"/>
          </a:fillRef>
          <a:effectRef idx="0">
            <a:schemeClr val="accent1"/>
          </a:effectRef>
          <a:fontRef idx="minor">
            <a:schemeClr val="tx1"/>
          </a:fontRef>
        </p:style>
      </p:cxnSp>
      <p:sp>
        <p:nvSpPr>
          <p:cNvPr id="60" name="Oval 59">
            <a:extLst>
              <a:ext uri="{FF2B5EF4-FFF2-40B4-BE49-F238E27FC236}">
                <a16:creationId xmlns:a16="http://schemas.microsoft.com/office/drawing/2014/main" id="{E89748E4-5F9B-7940-BF3E-E21928AEFE00}"/>
              </a:ext>
            </a:extLst>
          </p:cNvPr>
          <p:cNvSpPr/>
          <p:nvPr/>
        </p:nvSpPr>
        <p:spPr>
          <a:xfrm>
            <a:off x="6644502" y="3781615"/>
            <a:ext cx="397193" cy="397193"/>
          </a:xfrm>
          <a:prstGeom prst="ellipse">
            <a:avLst/>
          </a:prstGeom>
          <a:solidFill>
            <a:schemeClr val="accent2">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bg1"/>
                </a:solidFill>
              </a:rPr>
              <a:t>N</a:t>
            </a:r>
          </a:p>
        </p:txBody>
      </p:sp>
      <p:sp>
        <p:nvSpPr>
          <p:cNvPr id="61" name="Oval 60">
            <a:extLst>
              <a:ext uri="{FF2B5EF4-FFF2-40B4-BE49-F238E27FC236}">
                <a16:creationId xmlns:a16="http://schemas.microsoft.com/office/drawing/2014/main" id="{8CB46C03-48E2-F948-A5B8-DBA9F26355C7}"/>
              </a:ext>
            </a:extLst>
          </p:cNvPr>
          <p:cNvSpPr/>
          <p:nvPr/>
        </p:nvSpPr>
        <p:spPr>
          <a:xfrm>
            <a:off x="7292934" y="3421189"/>
            <a:ext cx="444858" cy="397193"/>
          </a:xfrm>
          <a:prstGeom prst="ellipse">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bg1"/>
                </a:solidFill>
              </a:rPr>
              <a:t>T</a:t>
            </a:r>
          </a:p>
        </p:txBody>
      </p:sp>
      <p:sp>
        <p:nvSpPr>
          <p:cNvPr id="136" name="Oval 135">
            <a:extLst>
              <a:ext uri="{FF2B5EF4-FFF2-40B4-BE49-F238E27FC236}">
                <a16:creationId xmlns:a16="http://schemas.microsoft.com/office/drawing/2014/main" id="{11419ED9-6D42-2944-917F-BACE0C79B04C}"/>
              </a:ext>
            </a:extLst>
          </p:cNvPr>
          <p:cNvSpPr/>
          <p:nvPr/>
        </p:nvSpPr>
        <p:spPr>
          <a:xfrm>
            <a:off x="5409359" y="5169474"/>
            <a:ext cx="397193" cy="397193"/>
          </a:xfrm>
          <a:prstGeom prst="ellipse">
            <a:avLst/>
          </a:prstGeom>
          <a:solidFill>
            <a:schemeClr val="accent4">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bg1"/>
                </a:solidFill>
              </a:rPr>
              <a:t>F</a:t>
            </a:r>
          </a:p>
        </p:txBody>
      </p:sp>
      <p:cxnSp>
        <p:nvCxnSpPr>
          <p:cNvPr id="137" name="Straight Connector 136">
            <a:extLst>
              <a:ext uri="{FF2B5EF4-FFF2-40B4-BE49-F238E27FC236}">
                <a16:creationId xmlns:a16="http://schemas.microsoft.com/office/drawing/2014/main" id="{73D6785D-ABEC-694E-9F19-28F040148B49}"/>
              </a:ext>
            </a:extLst>
          </p:cNvPr>
          <p:cNvCxnSpPr>
            <a:cxnSpLocks/>
            <a:stCxn id="136" idx="4"/>
            <a:endCxn id="140" idx="0"/>
          </p:cNvCxnSpPr>
          <p:nvPr/>
        </p:nvCxnSpPr>
        <p:spPr>
          <a:xfrm>
            <a:off x="5607956" y="5566667"/>
            <a:ext cx="4611" cy="274423"/>
          </a:xfrm>
          <a:prstGeom prst="line">
            <a:avLst/>
          </a:prstGeom>
        </p:spPr>
        <p:style>
          <a:lnRef idx="1">
            <a:schemeClr val="accent1"/>
          </a:lnRef>
          <a:fillRef idx="0">
            <a:schemeClr val="accent1"/>
          </a:fillRef>
          <a:effectRef idx="0">
            <a:schemeClr val="accent1"/>
          </a:effectRef>
          <a:fontRef idx="minor">
            <a:schemeClr val="tx1"/>
          </a:fontRef>
        </p:style>
      </p:cxnSp>
      <p:cxnSp>
        <p:nvCxnSpPr>
          <p:cNvPr id="138" name="Straight Connector 137">
            <a:extLst>
              <a:ext uri="{FF2B5EF4-FFF2-40B4-BE49-F238E27FC236}">
                <a16:creationId xmlns:a16="http://schemas.microsoft.com/office/drawing/2014/main" id="{6F7BD49C-5004-9A47-B6CB-41E829D0A6B1}"/>
              </a:ext>
            </a:extLst>
          </p:cNvPr>
          <p:cNvCxnSpPr>
            <a:cxnSpLocks/>
            <a:stCxn id="141" idx="3"/>
            <a:endCxn id="140" idx="6"/>
          </p:cNvCxnSpPr>
          <p:nvPr/>
        </p:nvCxnSpPr>
        <p:spPr>
          <a:xfrm flipH="1">
            <a:off x="5811163" y="5819689"/>
            <a:ext cx="316387" cy="219998"/>
          </a:xfrm>
          <a:prstGeom prst="line">
            <a:avLst/>
          </a:prstGeom>
        </p:spPr>
        <p:style>
          <a:lnRef idx="1">
            <a:schemeClr val="accent1"/>
          </a:lnRef>
          <a:fillRef idx="0">
            <a:schemeClr val="accent1"/>
          </a:fillRef>
          <a:effectRef idx="0">
            <a:schemeClr val="accent1"/>
          </a:effectRef>
          <a:fontRef idx="minor">
            <a:schemeClr val="tx1"/>
          </a:fontRef>
        </p:style>
      </p:cxnSp>
      <p:cxnSp>
        <p:nvCxnSpPr>
          <p:cNvPr id="139" name="Straight Connector 138">
            <a:extLst>
              <a:ext uri="{FF2B5EF4-FFF2-40B4-BE49-F238E27FC236}">
                <a16:creationId xmlns:a16="http://schemas.microsoft.com/office/drawing/2014/main" id="{868ADFE4-BE2F-0B4D-B1C5-F5C3839A2A91}"/>
              </a:ext>
            </a:extLst>
          </p:cNvPr>
          <p:cNvCxnSpPr>
            <a:cxnSpLocks/>
            <a:stCxn id="141" idx="1"/>
            <a:endCxn id="136" idx="6"/>
          </p:cNvCxnSpPr>
          <p:nvPr/>
        </p:nvCxnSpPr>
        <p:spPr>
          <a:xfrm flipH="1" flipV="1">
            <a:off x="5806552" y="5368071"/>
            <a:ext cx="320998" cy="170761"/>
          </a:xfrm>
          <a:prstGeom prst="line">
            <a:avLst/>
          </a:prstGeom>
        </p:spPr>
        <p:style>
          <a:lnRef idx="1">
            <a:schemeClr val="accent1"/>
          </a:lnRef>
          <a:fillRef idx="0">
            <a:schemeClr val="accent1"/>
          </a:fillRef>
          <a:effectRef idx="0">
            <a:schemeClr val="accent1"/>
          </a:effectRef>
          <a:fontRef idx="minor">
            <a:schemeClr val="tx1"/>
          </a:fontRef>
        </p:style>
      </p:cxnSp>
      <p:sp>
        <p:nvSpPr>
          <p:cNvPr id="140" name="Oval 139">
            <a:extLst>
              <a:ext uri="{FF2B5EF4-FFF2-40B4-BE49-F238E27FC236}">
                <a16:creationId xmlns:a16="http://schemas.microsoft.com/office/drawing/2014/main" id="{0F550C4B-618E-3842-85CD-D7A74801A6E6}"/>
              </a:ext>
            </a:extLst>
          </p:cNvPr>
          <p:cNvSpPr/>
          <p:nvPr/>
        </p:nvSpPr>
        <p:spPr>
          <a:xfrm>
            <a:off x="5413970" y="5841090"/>
            <a:ext cx="397193" cy="397193"/>
          </a:xfrm>
          <a:prstGeom prst="ellipse">
            <a:avLst/>
          </a:prstGeom>
          <a:solidFill>
            <a:schemeClr val="accent2">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bg1"/>
                </a:solidFill>
              </a:rPr>
              <a:t>N</a:t>
            </a:r>
          </a:p>
        </p:txBody>
      </p:sp>
      <p:sp>
        <p:nvSpPr>
          <p:cNvPr id="141" name="Oval 140">
            <a:extLst>
              <a:ext uri="{FF2B5EF4-FFF2-40B4-BE49-F238E27FC236}">
                <a16:creationId xmlns:a16="http://schemas.microsoft.com/office/drawing/2014/main" id="{C462F96D-5D82-5540-B5AA-DBBD5325B39B}"/>
              </a:ext>
            </a:extLst>
          </p:cNvPr>
          <p:cNvSpPr/>
          <p:nvPr/>
        </p:nvSpPr>
        <p:spPr>
          <a:xfrm>
            <a:off x="6062402" y="5480664"/>
            <a:ext cx="444858" cy="397193"/>
          </a:xfrm>
          <a:prstGeom prst="ellipse">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bg1"/>
                </a:solidFill>
              </a:rPr>
              <a:t>T</a:t>
            </a:r>
          </a:p>
        </p:txBody>
      </p:sp>
      <p:cxnSp>
        <p:nvCxnSpPr>
          <p:cNvPr id="142" name="Straight Connector 141">
            <a:extLst>
              <a:ext uri="{FF2B5EF4-FFF2-40B4-BE49-F238E27FC236}">
                <a16:creationId xmlns:a16="http://schemas.microsoft.com/office/drawing/2014/main" id="{6EE9E4BB-F4D2-E145-99C9-33DC24A390B6}"/>
              </a:ext>
            </a:extLst>
          </p:cNvPr>
          <p:cNvCxnSpPr>
            <a:cxnSpLocks/>
            <a:stCxn id="148" idx="2"/>
            <a:endCxn id="141" idx="6"/>
          </p:cNvCxnSpPr>
          <p:nvPr/>
        </p:nvCxnSpPr>
        <p:spPr>
          <a:xfrm flipH="1" flipV="1">
            <a:off x="6507260" y="5679261"/>
            <a:ext cx="408530" cy="435"/>
          </a:xfrm>
          <a:prstGeom prst="line">
            <a:avLst/>
          </a:prstGeom>
        </p:spPr>
        <p:style>
          <a:lnRef idx="1">
            <a:schemeClr val="accent1"/>
          </a:lnRef>
          <a:fillRef idx="0">
            <a:schemeClr val="accent1"/>
          </a:fillRef>
          <a:effectRef idx="0">
            <a:schemeClr val="accent1"/>
          </a:effectRef>
          <a:fontRef idx="minor">
            <a:schemeClr val="tx1"/>
          </a:fontRef>
        </p:style>
      </p:cxnSp>
      <p:sp>
        <p:nvSpPr>
          <p:cNvPr id="147" name="Content Placeholder 2">
            <a:extLst>
              <a:ext uri="{FF2B5EF4-FFF2-40B4-BE49-F238E27FC236}">
                <a16:creationId xmlns:a16="http://schemas.microsoft.com/office/drawing/2014/main" id="{262FA7C1-7140-E441-B24E-3E19A9B31F6D}"/>
              </a:ext>
            </a:extLst>
          </p:cNvPr>
          <p:cNvSpPr txBox="1">
            <a:spLocks/>
          </p:cNvSpPr>
          <p:nvPr/>
        </p:nvSpPr>
        <p:spPr>
          <a:xfrm>
            <a:off x="6200814" y="5024585"/>
            <a:ext cx="878154" cy="280391"/>
          </a:xfrm>
          <a:prstGeom prst="rect">
            <a:avLst/>
          </a:prstGeom>
          <a:noFill/>
          <a:ln>
            <a:noFill/>
          </a:ln>
        </p:spPr>
        <p:txBody>
          <a:bodyPr vert="horz" lIns="91440" tIns="45720" rIns="91440" bIns="45720" rtlCol="0">
            <a:no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400" b="1" i="1" u="sng" dirty="0">
                <a:solidFill>
                  <a:schemeClr val="tx1">
                    <a:lumMod val="95000"/>
                  </a:schemeClr>
                </a:solidFill>
              </a:rPr>
              <a:t>Clause 2</a:t>
            </a:r>
            <a:endParaRPr lang="en-US" sz="1400" dirty="0">
              <a:solidFill>
                <a:schemeClr val="tx1">
                  <a:lumMod val="95000"/>
                </a:schemeClr>
              </a:solidFill>
            </a:endParaRPr>
          </a:p>
        </p:txBody>
      </p:sp>
      <p:sp>
        <p:nvSpPr>
          <p:cNvPr id="148" name="Oval 147">
            <a:extLst>
              <a:ext uri="{FF2B5EF4-FFF2-40B4-BE49-F238E27FC236}">
                <a16:creationId xmlns:a16="http://schemas.microsoft.com/office/drawing/2014/main" id="{1ED3FA2E-1C68-DB4F-87F0-B6A94D3FF60B}"/>
              </a:ext>
            </a:extLst>
          </p:cNvPr>
          <p:cNvSpPr/>
          <p:nvPr/>
        </p:nvSpPr>
        <p:spPr>
          <a:xfrm>
            <a:off x="6915790" y="5481099"/>
            <a:ext cx="397193" cy="397193"/>
          </a:xfrm>
          <a:prstGeom prst="ellipse">
            <a:avLst/>
          </a:prstGeom>
          <a:solidFill>
            <a:schemeClr val="accent4">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bg1"/>
                </a:solidFill>
              </a:rPr>
              <a:t>F</a:t>
            </a:r>
          </a:p>
        </p:txBody>
      </p:sp>
      <p:cxnSp>
        <p:nvCxnSpPr>
          <p:cNvPr id="149" name="Straight Connector 148">
            <a:extLst>
              <a:ext uri="{FF2B5EF4-FFF2-40B4-BE49-F238E27FC236}">
                <a16:creationId xmlns:a16="http://schemas.microsoft.com/office/drawing/2014/main" id="{A7450BEB-3ADC-6446-B2BF-A796A2CA3314}"/>
              </a:ext>
            </a:extLst>
          </p:cNvPr>
          <p:cNvCxnSpPr>
            <a:cxnSpLocks/>
            <a:stCxn id="148" idx="4"/>
            <a:endCxn id="152" idx="0"/>
          </p:cNvCxnSpPr>
          <p:nvPr/>
        </p:nvCxnSpPr>
        <p:spPr>
          <a:xfrm>
            <a:off x="7114387" y="5878292"/>
            <a:ext cx="4611" cy="274423"/>
          </a:xfrm>
          <a:prstGeom prst="line">
            <a:avLst/>
          </a:prstGeom>
        </p:spPr>
        <p:style>
          <a:lnRef idx="1">
            <a:schemeClr val="accent1"/>
          </a:lnRef>
          <a:fillRef idx="0">
            <a:schemeClr val="accent1"/>
          </a:fillRef>
          <a:effectRef idx="0">
            <a:schemeClr val="accent1"/>
          </a:effectRef>
          <a:fontRef idx="minor">
            <a:schemeClr val="tx1"/>
          </a:fontRef>
        </p:style>
      </p:cxnSp>
      <p:cxnSp>
        <p:nvCxnSpPr>
          <p:cNvPr id="150" name="Straight Connector 149">
            <a:extLst>
              <a:ext uri="{FF2B5EF4-FFF2-40B4-BE49-F238E27FC236}">
                <a16:creationId xmlns:a16="http://schemas.microsoft.com/office/drawing/2014/main" id="{7700E3A3-D065-104C-BE95-560290467FC5}"/>
              </a:ext>
            </a:extLst>
          </p:cNvPr>
          <p:cNvCxnSpPr>
            <a:cxnSpLocks/>
            <a:stCxn id="153" idx="3"/>
            <a:endCxn id="152" idx="6"/>
          </p:cNvCxnSpPr>
          <p:nvPr/>
        </p:nvCxnSpPr>
        <p:spPr>
          <a:xfrm flipH="1">
            <a:off x="7317594" y="6131314"/>
            <a:ext cx="316387" cy="219998"/>
          </a:xfrm>
          <a:prstGeom prst="line">
            <a:avLst/>
          </a:prstGeom>
        </p:spPr>
        <p:style>
          <a:lnRef idx="1">
            <a:schemeClr val="accent1"/>
          </a:lnRef>
          <a:fillRef idx="0">
            <a:schemeClr val="accent1"/>
          </a:fillRef>
          <a:effectRef idx="0">
            <a:schemeClr val="accent1"/>
          </a:effectRef>
          <a:fontRef idx="minor">
            <a:schemeClr val="tx1"/>
          </a:fontRef>
        </p:style>
      </p:cxnSp>
      <p:cxnSp>
        <p:nvCxnSpPr>
          <p:cNvPr id="151" name="Straight Connector 150">
            <a:extLst>
              <a:ext uri="{FF2B5EF4-FFF2-40B4-BE49-F238E27FC236}">
                <a16:creationId xmlns:a16="http://schemas.microsoft.com/office/drawing/2014/main" id="{117BEA95-EAD7-F642-9101-26A68CB55B57}"/>
              </a:ext>
            </a:extLst>
          </p:cNvPr>
          <p:cNvCxnSpPr>
            <a:cxnSpLocks/>
            <a:stCxn id="153" idx="1"/>
            <a:endCxn id="148" idx="6"/>
          </p:cNvCxnSpPr>
          <p:nvPr/>
        </p:nvCxnSpPr>
        <p:spPr>
          <a:xfrm flipH="1" flipV="1">
            <a:off x="7312983" y="5679696"/>
            <a:ext cx="320998" cy="170761"/>
          </a:xfrm>
          <a:prstGeom prst="line">
            <a:avLst/>
          </a:prstGeom>
        </p:spPr>
        <p:style>
          <a:lnRef idx="1">
            <a:schemeClr val="accent1"/>
          </a:lnRef>
          <a:fillRef idx="0">
            <a:schemeClr val="accent1"/>
          </a:fillRef>
          <a:effectRef idx="0">
            <a:schemeClr val="accent1"/>
          </a:effectRef>
          <a:fontRef idx="minor">
            <a:schemeClr val="tx1"/>
          </a:fontRef>
        </p:style>
      </p:cxnSp>
      <p:sp>
        <p:nvSpPr>
          <p:cNvPr id="152" name="Oval 151">
            <a:extLst>
              <a:ext uri="{FF2B5EF4-FFF2-40B4-BE49-F238E27FC236}">
                <a16:creationId xmlns:a16="http://schemas.microsoft.com/office/drawing/2014/main" id="{7A97675C-2354-364A-BB09-ADED1B978199}"/>
              </a:ext>
            </a:extLst>
          </p:cNvPr>
          <p:cNvSpPr/>
          <p:nvPr/>
        </p:nvSpPr>
        <p:spPr>
          <a:xfrm>
            <a:off x="6920401" y="6152715"/>
            <a:ext cx="397193" cy="397193"/>
          </a:xfrm>
          <a:prstGeom prst="ellipse">
            <a:avLst/>
          </a:prstGeom>
          <a:solidFill>
            <a:schemeClr val="accent2">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bg1"/>
                </a:solidFill>
              </a:rPr>
              <a:t>N</a:t>
            </a:r>
          </a:p>
        </p:txBody>
      </p:sp>
      <p:sp>
        <p:nvSpPr>
          <p:cNvPr id="153" name="Oval 152">
            <a:extLst>
              <a:ext uri="{FF2B5EF4-FFF2-40B4-BE49-F238E27FC236}">
                <a16:creationId xmlns:a16="http://schemas.microsoft.com/office/drawing/2014/main" id="{AC3528B9-E5F6-8141-830D-EFC3EBF1ACBB}"/>
              </a:ext>
            </a:extLst>
          </p:cNvPr>
          <p:cNvSpPr/>
          <p:nvPr/>
        </p:nvSpPr>
        <p:spPr>
          <a:xfrm>
            <a:off x="7568833" y="5792289"/>
            <a:ext cx="444858" cy="397193"/>
          </a:xfrm>
          <a:prstGeom prst="ellipse">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bg1"/>
                </a:solidFill>
              </a:rPr>
              <a:t>T</a:t>
            </a:r>
          </a:p>
        </p:txBody>
      </p:sp>
      <p:sp>
        <p:nvSpPr>
          <p:cNvPr id="71" name="Oval 70">
            <a:extLst>
              <a:ext uri="{FF2B5EF4-FFF2-40B4-BE49-F238E27FC236}">
                <a16:creationId xmlns:a16="http://schemas.microsoft.com/office/drawing/2014/main" id="{DFC78942-8F20-D942-9A2A-8630F0560215}"/>
              </a:ext>
            </a:extLst>
          </p:cNvPr>
          <p:cNvSpPr/>
          <p:nvPr/>
        </p:nvSpPr>
        <p:spPr>
          <a:xfrm>
            <a:off x="2085802" y="1836212"/>
            <a:ext cx="397193" cy="39719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T</a:t>
            </a:r>
          </a:p>
        </p:txBody>
      </p:sp>
      <p:sp>
        <p:nvSpPr>
          <p:cNvPr id="82" name="Oval 81">
            <a:extLst>
              <a:ext uri="{FF2B5EF4-FFF2-40B4-BE49-F238E27FC236}">
                <a16:creationId xmlns:a16="http://schemas.microsoft.com/office/drawing/2014/main" id="{634DAF19-9FDA-CA42-8857-CCBDA1F8FAD0}"/>
              </a:ext>
            </a:extLst>
          </p:cNvPr>
          <p:cNvSpPr/>
          <p:nvPr/>
        </p:nvSpPr>
        <p:spPr>
          <a:xfrm>
            <a:off x="2774474" y="1836212"/>
            <a:ext cx="397193" cy="397193"/>
          </a:xfrm>
          <a:prstGeom prst="ellipse">
            <a:avLst/>
          </a:prstGeom>
          <a:solidFill>
            <a:schemeClr val="accent4">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F</a:t>
            </a:r>
          </a:p>
        </p:txBody>
      </p:sp>
      <p:sp>
        <p:nvSpPr>
          <p:cNvPr id="84" name="Oval 83">
            <a:extLst>
              <a:ext uri="{FF2B5EF4-FFF2-40B4-BE49-F238E27FC236}">
                <a16:creationId xmlns:a16="http://schemas.microsoft.com/office/drawing/2014/main" id="{9D2D6617-4C20-674F-AE99-A62CA6F6911A}"/>
              </a:ext>
            </a:extLst>
          </p:cNvPr>
          <p:cNvSpPr/>
          <p:nvPr/>
        </p:nvSpPr>
        <p:spPr>
          <a:xfrm>
            <a:off x="2407300" y="2439992"/>
            <a:ext cx="430171" cy="430171"/>
          </a:xfrm>
          <a:prstGeom prst="ellipse">
            <a:avLst/>
          </a:prstGeom>
          <a:solidFill>
            <a:schemeClr val="accent2">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N</a:t>
            </a:r>
          </a:p>
        </p:txBody>
      </p:sp>
      <p:cxnSp>
        <p:nvCxnSpPr>
          <p:cNvPr id="85" name="Straight Connector 84">
            <a:extLst>
              <a:ext uri="{FF2B5EF4-FFF2-40B4-BE49-F238E27FC236}">
                <a16:creationId xmlns:a16="http://schemas.microsoft.com/office/drawing/2014/main" id="{DCABE789-06FF-AC4A-8DCA-5FDFC38F48FA}"/>
              </a:ext>
            </a:extLst>
          </p:cNvPr>
          <p:cNvCxnSpPr>
            <a:cxnSpLocks/>
            <a:stCxn id="71" idx="4"/>
            <a:endCxn id="84" idx="0"/>
          </p:cNvCxnSpPr>
          <p:nvPr/>
        </p:nvCxnSpPr>
        <p:spPr>
          <a:xfrm>
            <a:off x="2284399" y="2233405"/>
            <a:ext cx="337987" cy="206587"/>
          </a:xfrm>
          <a:prstGeom prst="line">
            <a:avLst/>
          </a:prstGeom>
        </p:spPr>
        <p:style>
          <a:lnRef idx="1">
            <a:schemeClr val="accent1"/>
          </a:lnRef>
          <a:fillRef idx="0">
            <a:schemeClr val="accent1"/>
          </a:fillRef>
          <a:effectRef idx="0">
            <a:schemeClr val="accent1"/>
          </a:effectRef>
          <a:fontRef idx="minor">
            <a:schemeClr val="tx1"/>
          </a:fontRef>
        </p:style>
      </p:cxnSp>
      <p:cxnSp>
        <p:nvCxnSpPr>
          <p:cNvPr id="86" name="Straight Connector 85">
            <a:extLst>
              <a:ext uri="{FF2B5EF4-FFF2-40B4-BE49-F238E27FC236}">
                <a16:creationId xmlns:a16="http://schemas.microsoft.com/office/drawing/2014/main" id="{98F02B33-B997-B146-99D8-4BCD2A2EE12E}"/>
              </a:ext>
            </a:extLst>
          </p:cNvPr>
          <p:cNvCxnSpPr>
            <a:cxnSpLocks/>
            <a:stCxn id="82" idx="4"/>
            <a:endCxn id="84" idx="0"/>
          </p:cNvCxnSpPr>
          <p:nvPr/>
        </p:nvCxnSpPr>
        <p:spPr>
          <a:xfrm flipH="1">
            <a:off x="2622386" y="2233405"/>
            <a:ext cx="350685" cy="206587"/>
          </a:xfrm>
          <a:prstGeom prst="line">
            <a:avLst/>
          </a:prstGeom>
        </p:spPr>
        <p:style>
          <a:lnRef idx="1">
            <a:schemeClr val="accent1"/>
          </a:lnRef>
          <a:fillRef idx="0">
            <a:schemeClr val="accent1"/>
          </a:fillRef>
          <a:effectRef idx="0">
            <a:schemeClr val="accent1"/>
          </a:effectRef>
          <a:fontRef idx="minor">
            <a:schemeClr val="tx1"/>
          </a:fontRef>
        </p:style>
      </p:cxnSp>
      <p:cxnSp>
        <p:nvCxnSpPr>
          <p:cNvPr id="88" name="Straight Connector 87">
            <a:extLst>
              <a:ext uri="{FF2B5EF4-FFF2-40B4-BE49-F238E27FC236}">
                <a16:creationId xmlns:a16="http://schemas.microsoft.com/office/drawing/2014/main" id="{4B1AFF7E-002A-E644-9700-0D3066C40254}"/>
              </a:ext>
            </a:extLst>
          </p:cNvPr>
          <p:cNvCxnSpPr>
            <a:cxnSpLocks/>
            <a:stCxn id="82" idx="2"/>
            <a:endCxn id="71" idx="6"/>
          </p:cNvCxnSpPr>
          <p:nvPr/>
        </p:nvCxnSpPr>
        <p:spPr>
          <a:xfrm flipH="1">
            <a:off x="2482995" y="2034809"/>
            <a:ext cx="291479" cy="0"/>
          </a:xfrm>
          <a:prstGeom prst="line">
            <a:avLst/>
          </a:prstGeom>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9" name="Oval 88">
                <a:extLst>
                  <a:ext uri="{FF2B5EF4-FFF2-40B4-BE49-F238E27FC236}">
                    <a16:creationId xmlns:a16="http://schemas.microsoft.com/office/drawing/2014/main" id="{EE99DA1A-84F8-4440-8F63-DBBD0D400025}"/>
                  </a:ext>
                </a:extLst>
              </p:cNvPr>
              <p:cNvSpPr/>
              <p:nvPr/>
            </p:nvSpPr>
            <p:spPr>
              <a:xfrm>
                <a:off x="1881630" y="3391052"/>
                <a:ext cx="418834" cy="418834"/>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b="0" i="1" smtClean="0">
                          <a:solidFill>
                            <a:schemeClr val="bg1"/>
                          </a:solidFill>
                          <a:latin typeface="Cambria Math" panose="02040503050406030204" pitchFamily="18" charset="0"/>
                        </a:rPr>
                        <m:t>𝑢</m:t>
                      </m:r>
                    </m:oMath>
                  </m:oMathPara>
                </a14:m>
                <a:endParaRPr lang="en-US" dirty="0">
                  <a:solidFill>
                    <a:schemeClr val="bg1"/>
                  </a:solidFill>
                </a:endParaRPr>
              </a:p>
            </p:txBody>
          </p:sp>
        </mc:Choice>
        <mc:Fallback xmlns="">
          <p:sp>
            <p:nvSpPr>
              <p:cNvPr id="89" name="Oval 88">
                <a:extLst>
                  <a:ext uri="{FF2B5EF4-FFF2-40B4-BE49-F238E27FC236}">
                    <a16:creationId xmlns:a16="http://schemas.microsoft.com/office/drawing/2014/main" id="{EE99DA1A-84F8-4440-8F63-DBBD0D400025}"/>
                  </a:ext>
                </a:extLst>
              </p:cNvPr>
              <p:cNvSpPr>
                <a:spLocks noRot="1" noChangeAspect="1" noMove="1" noResize="1" noEditPoints="1" noAdjustHandles="1" noChangeArrowheads="1" noChangeShapeType="1" noTextEdit="1"/>
              </p:cNvSpPr>
              <p:nvPr/>
            </p:nvSpPr>
            <p:spPr>
              <a:xfrm>
                <a:off x="1881630" y="3391052"/>
                <a:ext cx="418834" cy="418834"/>
              </a:xfrm>
              <a:prstGeom prst="ellipse">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0" name="Oval 89">
                <a:extLst>
                  <a:ext uri="{FF2B5EF4-FFF2-40B4-BE49-F238E27FC236}">
                    <a16:creationId xmlns:a16="http://schemas.microsoft.com/office/drawing/2014/main" id="{0EBE7F3D-70FE-4049-9072-A7DB3DD2F969}"/>
                  </a:ext>
                </a:extLst>
              </p:cNvPr>
              <p:cNvSpPr/>
              <p:nvPr/>
            </p:nvSpPr>
            <p:spPr>
              <a:xfrm>
                <a:off x="2774474" y="3359810"/>
                <a:ext cx="481317" cy="481317"/>
              </a:xfrm>
              <a:prstGeom prst="ellipse">
                <a:avLst/>
              </a:prstGeom>
              <a:solidFill>
                <a:schemeClr val="accent4">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b="0" i="1" smtClean="0">
                          <a:solidFill>
                            <a:schemeClr val="bg1"/>
                          </a:solidFill>
                          <a:latin typeface="Cambria Math" panose="02040503050406030204" pitchFamily="18" charset="0"/>
                        </a:rPr>
                        <m:t>¬</m:t>
                      </m:r>
                      <m:r>
                        <a:rPr lang="en-US" b="0" i="1" smtClean="0">
                          <a:solidFill>
                            <a:schemeClr val="bg1"/>
                          </a:solidFill>
                          <a:latin typeface="Cambria Math" panose="02040503050406030204" pitchFamily="18" charset="0"/>
                        </a:rPr>
                        <m:t>𝑢</m:t>
                      </m:r>
                    </m:oMath>
                  </m:oMathPara>
                </a14:m>
                <a:endParaRPr lang="en-US" dirty="0">
                  <a:solidFill>
                    <a:schemeClr val="bg1"/>
                  </a:solidFill>
                </a:endParaRPr>
              </a:p>
            </p:txBody>
          </p:sp>
        </mc:Choice>
        <mc:Fallback xmlns="">
          <p:sp>
            <p:nvSpPr>
              <p:cNvPr id="90" name="Oval 89">
                <a:extLst>
                  <a:ext uri="{FF2B5EF4-FFF2-40B4-BE49-F238E27FC236}">
                    <a16:creationId xmlns:a16="http://schemas.microsoft.com/office/drawing/2014/main" id="{0EBE7F3D-70FE-4049-9072-A7DB3DD2F969}"/>
                  </a:ext>
                </a:extLst>
              </p:cNvPr>
              <p:cNvSpPr>
                <a:spLocks noRot="1" noChangeAspect="1" noMove="1" noResize="1" noEditPoints="1" noAdjustHandles="1" noChangeArrowheads="1" noChangeShapeType="1" noTextEdit="1"/>
              </p:cNvSpPr>
              <p:nvPr/>
            </p:nvSpPr>
            <p:spPr>
              <a:xfrm>
                <a:off x="2774474" y="3359810"/>
                <a:ext cx="481317" cy="481317"/>
              </a:xfrm>
              <a:prstGeom prst="ellipse">
                <a:avLst/>
              </a:prstGeom>
              <a:blipFill>
                <a:blip r:embed="rId5"/>
                <a:stretch>
                  <a:fillRect/>
                </a:stretch>
              </a:blipFill>
            </p:spPr>
            <p:txBody>
              <a:bodyPr/>
              <a:lstStyle/>
              <a:p>
                <a:r>
                  <a:rPr lang="en-US">
                    <a:noFill/>
                  </a:rPr>
                  <a:t> </a:t>
                </a:r>
              </a:p>
            </p:txBody>
          </p:sp>
        </mc:Fallback>
      </mc:AlternateContent>
      <p:cxnSp>
        <p:nvCxnSpPr>
          <p:cNvPr id="91" name="Straight Connector 90">
            <a:extLst>
              <a:ext uri="{FF2B5EF4-FFF2-40B4-BE49-F238E27FC236}">
                <a16:creationId xmlns:a16="http://schemas.microsoft.com/office/drawing/2014/main" id="{45382373-C5BC-DC41-8ED5-F47D7B7FF439}"/>
              </a:ext>
            </a:extLst>
          </p:cNvPr>
          <p:cNvCxnSpPr>
            <a:cxnSpLocks/>
            <a:stCxn id="89" idx="6"/>
            <a:endCxn id="90" idx="2"/>
          </p:cNvCxnSpPr>
          <p:nvPr/>
        </p:nvCxnSpPr>
        <p:spPr>
          <a:xfrm>
            <a:off x="2300464" y="3600469"/>
            <a:ext cx="47401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92" name="Straight Connector 91">
            <a:extLst>
              <a:ext uri="{FF2B5EF4-FFF2-40B4-BE49-F238E27FC236}">
                <a16:creationId xmlns:a16="http://schemas.microsoft.com/office/drawing/2014/main" id="{0078080B-35A9-E740-8226-451F6D771739}"/>
              </a:ext>
            </a:extLst>
          </p:cNvPr>
          <p:cNvCxnSpPr>
            <a:cxnSpLocks/>
            <a:stCxn id="84" idx="4"/>
            <a:endCxn id="89" idx="0"/>
          </p:cNvCxnSpPr>
          <p:nvPr/>
        </p:nvCxnSpPr>
        <p:spPr>
          <a:xfrm flipH="1">
            <a:off x="2091047" y="2870163"/>
            <a:ext cx="531339" cy="520889"/>
          </a:xfrm>
          <a:prstGeom prst="line">
            <a:avLst/>
          </a:prstGeom>
        </p:spPr>
        <p:style>
          <a:lnRef idx="1">
            <a:schemeClr val="accent1"/>
          </a:lnRef>
          <a:fillRef idx="0">
            <a:schemeClr val="accent1"/>
          </a:fillRef>
          <a:effectRef idx="0">
            <a:schemeClr val="accent1"/>
          </a:effectRef>
          <a:fontRef idx="minor">
            <a:schemeClr val="tx1"/>
          </a:fontRef>
        </p:style>
      </p:cxnSp>
      <p:cxnSp>
        <p:nvCxnSpPr>
          <p:cNvPr id="93" name="Straight Connector 92">
            <a:extLst>
              <a:ext uri="{FF2B5EF4-FFF2-40B4-BE49-F238E27FC236}">
                <a16:creationId xmlns:a16="http://schemas.microsoft.com/office/drawing/2014/main" id="{8BC37820-F1B3-CB49-90E7-E43E96BCE345}"/>
              </a:ext>
            </a:extLst>
          </p:cNvPr>
          <p:cNvCxnSpPr>
            <a:cxnSpLocks/>
            <a:stCxn id="90" idx="0"/>
            <a:endCxn id="84" idx="4"/>
          </p:cNvCxnSpPr>
          <p:nvPr/>
        </p:nvCxnSpPr>
        <p:spPr>
          <a:xfrm flipH="1" flipV="1">
            <a:off x="2622386" y="2870163"/>
            <a:ext cx="392747" cy="489647"/>
          </a:xfrm>
          <a:prstGeom prst="line">
            <a:avLst/>
          </a:prstGeom>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94" name="Oval 93">
                <a:extLst>
                  <a:ext uri="{FF2B5EF4-FFF2-40B4-BE49-F238E27FC236}">
                    <a16:creationId xmlns:a16="http://schemas.microsoft.com/office/drawing/2014/main" id="{6E56A045-8B9A-A246-B3D1-A2C93AF999D0}"/>
                  </a:ext>
                </a:extLst>
              </p:cNvPr>
              <p:cNvSpPr/>
              <p:nvPr/>
            </p:nvSpPr>
            <p:spPr>
              <a:xfrm>
                <a:off x="1881630" y="4121357"/>
                <a:ext cx="418834" cy="418834"/>
              </a:xfrm>
              <a:prstGeom prst="ellipse">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b="0" i="1" smtClean="0">
                          <a:solidFill>
                            <a:schemeClr val="bg1"/>
                          </a:solidFill>
                          <a:latin typeface="Cambria Math" panose="02040503050406030204" pitchFamily="18" charset="0"/>
                        </a:rPr>
                        <m:t>𝑣</m:t>
                      </m:r>
                    </m:oMath>
                  </m:oMathPara>
                </a14:m>
                <a:endParaRPr lang="en-US" dirty="0">
                  <a:solidFill>
                    <a:schemeClr val="bg1"/>
                  </a:solidFill>
                </a:endParaRPr>
              </a:p>
            </p:txBody>
          </p:sp>
        </mc:Choice>
        <mc:Fallback xmlns="">
          <p:sp>
            <p:nvSpPr>
              <p:cNvPr id="94" name="Oval 93">
                <a:extLst>
                  <a:ext uri="{FF2B5EF4-FFF2-40B4-BE49-F238E27FC236}">
                    <a16:creationId xmlns:a16="http://schemas.microsoft.com/office/drawing/2014/main" id="{6E56A045-8B9A-A246-B3D1-A2C93AF999D0}"/>
                  </a:ext>
                </a:extLst>
              </p:cNvPr>
              <p:cNvSpPr>
                <a:spLocks noRot="1" noChangeAspect="1" noMove="1" noResize="1" noEditPoints="1" noAdjustHandles="1" noChangeArrowheads="1" noChangeShapeType="1" noTextEdit="1"/>
              </p:cNvSpPr>
              <p:nvPr/>
            </p:nvSpPr>
            <p:spPr>
              <a:xfrm>
                <a:off x="1881630" y="4121357"/>
                <a:ext cx="418834" cy="418834"/>
              </a:xfrm>
              <a:prstGeom prst="ellipse">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7" name="Oval 96">
                <a:extLst>
                  <a:ext uri="{FF2B5EF4-FFF2-40B4-BE49-F238E27FC236}">
                    <a16:creationId xmlns:a16="http://schemas.microsoft.com/office/drawing/2014/main" id="{EFCD3AD9-5A7A-8841-801B-C116EC9505A1}"/>
                  </a:ext>
                </a:extLst>
              </p:cNvPr>
              <p:cNvSpPr/>
              <p:nvPr/>
            </p:nvSpPr>
            <p:spPr>
              <a:xfrm>
                <a:off x="2774474" y="4090115"/>
                <a:ext cx="481317" cy="481317"/>
              </a:xfrm>
              <a:prstGeom prst="ellipse">
                <a:avLst/>
              </a:prstGeom>
              <a:solidFill>
                <a:schemeClr val="accent4">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b="0" i="1" smtClean="0">
                          <a:solidFill>
                            <a:schemeClr val="bg1"/>
                          </a:solidFill>
                          <a:latin typeface="Cambria Math" panose="02040503050406030204" pitchFamily="18" charset="0"/>
                        </a:rPr>
                        <m:t>¬</m:t>
                      </m:r>
                      <m:r>
                        <a:rPr lang="en-US" b="0" i="1" smtClean="0">
                          <a:solidFill>
                            <a:schemeClr val="bg1"/>
                          </a:solidFill>
                          <a:latin typeface="Cambria Math" panose="02040503050406030204" pitchFamily="18" charset="0"/>
                        </a:rPr>
                        <m:t>𝑣</m:t>
                      </m:r>
                    </m:oMath>
                  </m:oMathPara>
                </a14:m>
                <a:endParaRPr lang="en-US" dirty="0">
                  <a:solidFill>
                    <a:schemeClr val="bg1"/>
                  </a:solidFill>
                </a:endParaRPr>
              </a:p>
            </p:txBody>
          </p:sp>
        </mc:Choice>
        <mc:Fallback xmlns="">
          <p:sp>
            <p:nvSpPr>
              <p:cNvPr id="97" name="Oval 96">
                <a:extLst>
                  <a:ext uri="{FF2B5EF4-FFF2-40B4-BE49-F238E27FC236}">
                    <a16:creationId xmlns:a16="http://schemas.microsoft.com/office/drawing/2014/main" id="{EFCD3AD9-5A7A-8841-801B-C116EC9505A1}"/>
                  </a:ext>
                </a:extLst>
              </p:cNvPr>
              <p:cNvSpPr>
                <a:spLocks noRot="1" noChangeAspect="1" noMove="1" noResize="1" noEditPoints="1" noAdjustHandles="1" noChangeArrowheads="1" noChangeShapeType="1" noTextEdit="1"/>
              </p:cNvSpPr>
              <p:nvPr/>
            </p:nvSpPr>
            <p:spPr>
              <a:xfrm>
                <a:off x="2774474" y="4090115"/>
                <a:ext cx="481317" cy="481317"/>
              </a:xfrm>
              <a:prstGeom prst="ellipse">
                <a:avLst/>
              </a:prstGeom>
              <a:blipFill>
                <a:blip r:embed="rId7"/>
                <a:stretch>
                  <a:fillRect/>
                </a:stretch>
              </a:blipFill>
            </p:spPr>
            <p:txBody>
              <a:bodyPr/>
              <a:lstStyle/>
              <a:p>
                <a:r>
                  <a:rPr lang="en-US">
                    <a:noFill/>
                  </a:rPr>
                  <a:t> </a:t>
                </a:r>
              </a:p>
            </p:txBody>
          </p:sp>
        </mc:Fallback>
      </mc:AlternateContent>
      <p:cxnSp>
        <p:nvCxnSpPr>
          <p:cNvPr id="98" name="Straight Connector 97">
            <a:extLst>
              <a:ext uri="{FF2B5EF4-FFF2-40B4-BE49-F238E27FC236}">
                <a16:creationId xmlns:a16="http://schemas.microsoft.com/office/drawing/2014/main" id="{71C295BA-02F6-394D-9E4D-32348410BD9F}"/>
              </a:ext>
            </a:extLst>
          </p:cNvPr>
          <p:cNvCxnSpPr>
            <a:cxnSpLocks/>
            <a:stCxn id="94" idx="6"/>
            <a:endCxn id="97" idx="2"/>
          </p:cNvCxnSpPr>
          <p:nvPr/>
        </p:nvCxnSpPr>
        <p:spPr>
          <a:xfrm>
            <a:off x="2300464" y="4330774"/>
            <a:ext cx="474010" cy="0"/>
          </a:xfrm>
          <a:prstGeom prst="line">
            <a:avLst/>
          </a:prstGeom>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99" name="Oval 98">
                <a:extLst>
                  <a:ext uri="{FF2B5EF4-FFF2-40B4-BE49-F238E27FC236}">
                    <a16:creationId xmlns:a16="http://schemas.microsoft.com/office/drawing/2014/main" id="{CD7EDEC9-51F7-3F44-B5D8-EBF0844D9719}"/>
                  </a:ext>
                </a:extLst>
              </p:cNvPr>
              <p:cNvSpPr/>
              <p:nvPr/>
            </p:nvSpPr>
            <p:spPr>
              <a:xfrm>
                <a:off x="1881630" y="4812091"/>
                <a:ext cx="418834" cy="418834"/>
              </a:xfrm>
              <a:prstGeom prst="ellipse">
                <a:avLst/>
              </a:prstGeom>
              <a:solidFill>
                <a:schemeClr val="accent4">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b="0" i="1" smtClean="0">
                          <a:solidFill>
                            <a:schemeClr val="bg1"/>
                          </a:solidFill>
                          <a:latin typeface="Cambria Math" panose="02040503050406030204" pitchFamily="18" charset="0"/>
                        </a:rPr>
                        <m:t>𝑤</m:t>
                      </m:r>
                    </m:oMath>
                  </m:oMathPara>
                </a14:m>
                <a:endParaRPr lang="en-US" dirty="0">
                  <a:solidFill>
                    <a:schemeClr val="bg1"/>
                  </a:solidFill>
                </a:endParaRPr>
              </a:p>
            </p:txBody>
          </p:sp>
        </mc:Choice>
        <mc:Fallback xmlns="">
          <p:sp>
            <p:nvSpPr>
              <p:cNvPr id="99" name="Oval 98">
                <a:extLst>
                  <a:ext uri="{FF2B5EF4-FFF2-40B4-BE49-F238E27FC236}">
                    <a16:creationId xmlns:a16="http://schemas.microsoft.com/office/drawing/2014/main" id="{CD7EDEC9-51F7-3F44-B5D8-EBF0844D9719}"/>
                  </a:ext>
                </a:extLst>
              </p:cNvPr>
              <p:cNvSpPr>
                <a:spLocks noRot="1" noChangeAspect="1" noMove="1" noResize="1" noEditPoints="1" noAdjustHandles="1" noChangeArrowheads="1" noChangeShapeType="1" noTextEdit="1"/>
              </p:cNvSpPr>
              <p:nvPr/>
            </p:nvSpPr>
            <p:spPr>
              <a:xfrm>
                <a:off x="1881630" y="4812091"/>
                <a:ext cx="418834" cy="418834"/>
              </a:xfrm>
              <a:prstGeom prst="ellipse">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0" name="Oval 99">
                <a:extLst>
                  <a:ext uri="{FF2B5EF4-FFF2-40B4-BE49-F238E27FC236}">
                    <a16:creationId xmlns:a16="http://schemas.microsoft.com/office/drawing/2014/main" id="{540CBF45-7430-FE4E-840D-27FC191564F5}"/>
                  </a:ext>
                </a:extLst>
              </p:cNvPr>
              <p:cNvSpPr/>
              <p:nvPr/>
            </p:nvSpPr>
            <p:spPr>
              <a:xfrm>
                <a:off x="2774474" y="4780849"/>
                <a:ext cx="481317" cy="481317"/>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b="0" i="1" smtClean="0">
                          <a:solidFill>
                            <a:schemeClr val="bg1"/>
                          </a:solidFill>
                          <a:latin typeface="Cambria Math" panose="02040503050406030204" pitchFamily="18" charset="0"/>
                        </a:rPr>
                        <m:t>¬</m:t>
                      </m:r>
                      <m:r>
                        <a:rPr lang="en-US" b="0" i="1" smtClean="0">
                          <a:solidFill>
                            <a:schemeClr val="bg1"/>
                          </a:solidFill>
                          <a:latin typeface="Cambria Math" panose="02040503050406030204" pitchFamily="18" charset="0"/>
                        </a:rPr>
                        <m:t>𝑤</m:t>
                      </m:r>
                    </m:oMath>
                  </m:oMathPara>
                </a14:m>
                <a:endParaRPr lang="en-US" dirty="0">
                  <a:solidFill>
                    <a:schemeClr val="bg1"/>
                  </a:solidFill>
                </a:endParaRPr>
              </a:p>
            </p:txBody>
          </p:sp>
        </mc:Choice>
        <mc:Fallback xmlns="">
          <p:sp>
            <p:nvSpPr>
              <p:cNvPr id="100" name="Oval 99">
                <a:extLst>
                  <a:ext uri="{FF2B5EF4-FFF2-40B4-BE49-F238E27FC236}">
                    <a16:creationId xmlns:a16="http://schemas.microsoft.com/office/drawing/2014/main" id="{540CBF45-7430-FE4E-840D-27FC191564F5}"/>
                  </a:ext>
                </a:extLst>
              </p:cNvPr>
              <p:cNvSpPr>
                <a:spLocks noRot="1" noChangeAspect="1" noMove="1" noResize="1" noEditPoints="1" noAdjustHandles="1" noChangeArrowheads="1" noChangeShapeType="1" noTextEdit="1"/>
              </p:cNvSpPr>
              <p:nvPr/>
            </p:nvSpPr>
            <p:spPr>
              <a:xfrm>
                <a:off x="2774474" y="4780849"/>
                <a:ext cx="481317" cy="481317"/>
              </a:xfrm>
              <a:prstGeom prst="ellipse">
                <a:avLst/>
              </a:prstGeom>
              <a:blipFill>
                <a:blip r:embed="rId9"/>
                <a:stretch>
                  <a:fillRect/>
                </a:stretch>
              </a:blipFill>
            </p:spPr>
            <p:txBody>
              <a:bodyPr/>
              <a:lstStyle/>
              <a:p>
                <a:r>
                  <a:rPr lang="en-US">
                    <a:noFill/>
                  </a:rPr>
                  <a:t> </a:t>
                </a:r>
              </a:p>
            </p:txBody>
          </p:sp>
        </mc:Fallback>
      </mc:AlternateContent>
      <p:cxnSp>
        <p:nvCxnSpPr>
          <p:cNvPr id="101" name="Straight Connector 100">
            <a:extLst>
              <a:ext uri="{FF2B5EF4-FFF2-40B4-BE49-F238E27FC236}">
                <a16:creationId xmlns:a16="http://schemas.microsoft.com/office/drawing/2014/main" id="{A2A62822-065D-5847-8E7F-80D93DEC75C4}"/>
              </a:ext>
            </a:extLst>
          </p:cNvPr>
          <p:cNvCxnSpPr>
            <a:cxnSpLocks/>
            <a:stCxn id="99" idx="6"/>
            <a:endCxn id="100" idx="2"/>
          </p:cNvCxnSpPr>
          <p:nvPr/>
        </p:nvCxnSpPr>
        <p:spPr>
          <a:xfrm>
            <a:off x="2300464" y="5021508"/>
            <a:ext cx="474010" cy="0"/>
          </a:xfrm>
          <a:prstGeom prst="line">
            <a:avLst/>
          </a:prstGeom>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02" name="Oval 101">
                <a:extLst>
                  <a:ext uri="{FF2B5EF4-FFF2-40B4-BE49-F238E27FC236}">
                    <a16:creationId xmlns:a16="http://schemas.microsoft.com/office/drawing/2014/main" id="{7D777A1D-7680-AB43-8B0A-B5FD31F5C578}"/>
                  </a:ext>
                </a:extLst>
              </p:cNvPr>
              <p:cNvSpPr/>
              <p:nvPr/>
            </p:nvSpPr>
            <p:spPr>
              <a:xfrm>
                <a:off x="1881630" y="5471583"/>
                <a:ext cx="418834" cy="418834"/>
              </a:xfrm>
              <a:prstGeom prst="ellipse">
                <a:avLst/>
              </a:prstGeom>
              <a:solidFill>
                <a:schemeClr val="accent4">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b="0" i="1" smtClean="0">
                          <a:solidFill>
                            <a:schemeClr val="bg1"/>
                          </a:solidFill>
                          <a:latin typeface="Cambria Math" panose="02040503050406030204" pitchFamily="18" charset="0"/>
                        </a:rPr>
                        <m:t>𝑥</m:t>
                      </m:r>
                    </m:oMath>
                  </m:oMathPara>
                </a14:m>
                <a:endParaRPr lang="en-US" dirty="0">
                  <a:solidFill>
                    <a:schemeClr val="bg1"/>
                  </a:solidFill>
                </a:endParaRPr>
              </a:p>
            </p:txBody>
          </p:sp>
        </mc:Choice>
        <mc:Fallback xmlns="">
          <p:sp>
            <p:nvSpPr>
              <p:cNvPr id="102" name="Oval 101">
                <a:extLst>
                  <a:ext uri="{FF2B5EF4-FFF2-40B4-BE49-F238E27FC236}">
                    <a16:creationId xmlns:a16="http://schemas.microsoft.com/office/drawing/2014/main" id="{7D777A1D-7680-AB43-8B0A-B5FD31F5C578}"/>
                  </a:ext>
                </a:extLst>
              </p:cNvPr>
              <p:cNvSpPr>
                <a:spLocks noRot="1" noChangeAspect="1" noMove="1" noResize="1" noEditPoints="1" noAdjustHandles="1" noChangeArrowheads="1" noChangeShapeType="1" noTextEdit="1"/>
              </p:cNvSpPr>
              <p:nvPr/>
            </p:nvSpPr>
            <p:spPr>
              <a:xfrm>
                <a:off x="1881630" y="5471583"/>
                <a:ext cx="418834" cy="418834"/>
              </a:xfrm>
              <a:prstGeom prst="ellipse">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3" name="Oval 102">
                <a:extLst>
                  <a:ext uri="{FF2B5EF4-FFF2-40B4-BE49-F238E27FC236}">
                    <a16:creationId xmlns:a16="http://schemas.microsoft.com/office/drawing/2014/main" id="{BE233BD6-F008-2041-9A7B-F21E73A7981C}"/>
                  </a:ext>
                </a:extLst>
              </p:cNvPr>
              <p:cNvSpPr/>
              <p:nvPr/>
            </p:nvSpPr>
            <p:spPr>
              <a:xfrm>
                <a:off x="2774474" y="5440341"/>
                <a:ext cx="481317" cy="481317"/>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b="0" i="1" smtClean="0">
                          <a:solidFill>
                            <a:schemeClr val="bg1"/>
                          </a:solidFill>
                          <a:latin typeface="Cambria Math" panose="02040503050406030204" pitchFamily="18" charset="0"/>
                        </a:rPr>
                        <m:t>¬</m:t>
                      </m:r>
                      <m:r>
                        <a:rPr lang="en-US" b="0" i="1" smtClean="0">
                          <a:solidFill>
                            <a:schemeClr val="bg1"/>
                          </a:solidFill>
                          <a:latin typeface="Cambria Math" panose="02040503050406030204" pitchFamily="18" charset="0"/>
                        </a:rPr>
                        <m:t>𝑥</m:t>
                      </m:r>
                    </m:oMath>
                  </m:oMathPara>
                </a14:m>
                <a:endParaRPr lang="en-US" dirty="0">
                  <a:solidFill>
                    <a:schemeClr val="bg1"/>
                  </a:solidFill>
                </a:endParaRPr>
              </a:p>
            </p:txBody>
          </p:sp>
        </mc:Choice>
        <mc:Fallback xmlns="">
          <p:sp>
            <p:nvSpPr>
              <p:cNvPr id="103" name="Oval 102">
                <a:extLst>
                  <a:ext uri="{FF2B5EF4-FFF2-40B4-BE49-F238E27FC236}">
                    <a16:creationId xmlns:a16="http://schemas.microsoft.com/office/drawing/2014/main" id="{BE233BD6-F008-2041-9A7B-F21E73A7981C}"/>
                  </a:ext>
                </a:extLst>
              </p:cNvPr>
              <p:cNvSpPr>
                <a:spLocks noRot="1" noChangeAspect="1" noMove="1" noResize="1" noEditPoints="1" noAdjustHandles="1" noChangeArrowheads="1" noChangeShapeType="1" noTextEdit="1"/>
              </p:cNvSpPr>
              <p:nvPr/>
            </p:nvSpPr>
            <p:spPr>
              <a:xfrm>
                <a:off x="2774474" y="5440341"/>
                <a:ext cx="481317" cy="481317"/>
              </a:xfrm>
              <a:prstGeom prst="ellipse">
                <a:avLst/>
              </a:prstGeom>
              <a:blipFill>
                <a:blip r:embed="rId11"/>
                <a:stretch>
                  <a:fillRect/>
                </a:stretch>
              </a:blipFill>
            </p:spPr>
            <p:txBody>
              <a:bodyPr/>
              <a:lstStyle/>
              <a:p>
                <a:r>
                  <a:rPr lang="en-US">
                    <a:noFill/>
                  </a:rPr>
                  <a:t> </a:t>
                </a:r>
              </a:p>
            </p:txBody>
          </p:sp>
        </mc:Fallback>
      </mc:AlternateContent>
      <p:cxnSp>
        <p:nvCxnSpPr>
          <p:cNvPr id="104" name="Straight Connector 103">
            <a:extLst>
              <a:ext uri="{FF2B5EF4-FFF2-40B4-BE49-F238E27FC236}">
                <a16:creationId xmlns:a16="http://schemas.microsoft.com/office/drawing/2014/main" id="{2795EF48-2727-BD4F-BFA0-5F9C2C921464}"/>
              </a:ext>
            </a:extLst>
          </p:cNvPr>
          <p:cNvCxnSpPr>
            <a:cxnSpLocks/>
            <a:stCxn id="102" idx="6"/>
            <a:endCxn id="103" idx="2"/>
          </p:cNvCxnSpPr>
          <p:nvPr/>
        </p:nvCxnSpPr>
        <p:spPr>
          <a:xfrm>
            <a:off x="2300464" y="5681000"/>
            <a:ext cx="474010" cy="0"/>
          </a:xfrm>
          <a:prstGeom prst="line">
            <a:avLst/>
          </a:prstGeom>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05" name="Oval 104">
                <a:extLst>
                  <a:ext uri="{FF2B5EF4-FFF2-40B4-BE49-F238E27FC236}">
                    <a16:creationId xmlns:a16="http://schemas.microsoft.com/office/drawing/2014/main" id="{5A64BAC8-540F-E84E-89CB-0AE3E626987D}"/>
                  </a:ext>
                </a:extLst>
              </p:cNvPr>
              <p:cNvSpPr/>
              <p:nvPr/>
            </p:nvSpPr>
            <p:spPr>
              <a:xfrm>
                <a:off x="1881630" y="6099833"/>
                <a:ext cx="418834" cy="418834"/>
              </a:xfrm>
              <a:prstGeom prst="ellipse">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b="0" i="1" smtClean="0">
                          <a:solidFill>
                            <a:schemeClr val="bg1"/>
                          </a:solidFill>
                          <a:latin typeface="Cambria Math" panose="02040503050406030204" pitchFamily="18" charset="0"/>
                        </a:rPr>
                        <m:t>𝑦</m:t>
                      </m:r>
                    </m:oMath>
                  </m:oMathPara>
                </a14:m>
                <a:endParaRPr lang="en-US" dirty="0">
                  <a:solidFill>
                    <a:schemeClr val="bg1"/>
                  </a:solidFill>
                </a:endParaRPr>
              </a:p>
            </p:txBody>
          </p:sp>
        </mc:Choice>
        <mc:Fallback xmlns="">
          <p:sp>
            <p:nvSpPr>
              <p:cNvPr id="105" name="Oval 104">
                <a:extLst>
                  <a:ext uri="{FF2B5EF4-FFF2-40B4-BE49-F238E27FC236}">
                    <a16:creationId xmlns:a16="http://schemas.microsoft.com/office/drawing/2014/main" id="{5A64BAC8-540F-E84E-89CB-0AE3E626987D}"/>
                  </a:ext>
                </a:extLst>
              </p:cNvPr>
              <p:cNvSpPr>
                <a:spLocks noRot="1" noChangeAspect="1" noMove="1" noResize="1" noEditPoints="1" noAdjustHandles="1" noChangeArrowheads="1" noChangeShapeType="1" noTextEdit="1"/>
              </p:cNvSpPr>
              <p:nvPr/>
            </p:nvSpPr>
            <p:spPr>
              <a:xfrm>
                <a:off x="1881630" y="6099833"/>
                <a:ext cx="418834" cy="418834"/>
              </a:xfrm>
              <a:prstGeom prst="ellipse">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6" name="Oval 105">
                <a:extLst>
                  <a:ext uri="{FF2B5EF4-FFF2-40B4-BE49-F238E27FC236}">
                    <a16:creationId xmlns:a16="http://schemas.microsoft.com/office/drawing/2014/main" id="{3CDBDD1A-0A7D-474A-9DE4-7B9B640E760E}"/>
                  </a:ext>
                </a:extLst>
              </p:cNvPr>
              <p:cNvSpPr/>
              <p:nvPr/>
            </p:nvSpPr>
            <p:spPr>
              <a:xfrm>
                <a:off x="2774474" y="6068591"/>
                <a:ext cx="481317" cy="481317"/>
              </a:xfrm>
              <a:prstGeom prst="ellipse">
                <a:avLst/>
              </a:prstGeom>
              <a:solidFill>
                <a:schemeClr val="accent4">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b="0" i="1" smtClean="0">
                          <a:solidFill>
                            <a:schemeClr val="bg1"/>
                          </a:solidFill>
                          <a:latin typeface="Cambria Math" panose="02040503050406030204" pitchFamily="18" charset="0"/>
                        </a:rPr>
                        <m:t>¬</m:t>
                      </m:r>
                      <m:r>
                        <a:rPr lang="en-US" b="0" i="1" smtClean="0">
                          <a:solidFill>
                            <a:schemeClr val="bg1"/>
                          </a:solidFill>
                          <a:latin typeface="Cambria Math" panose="02040503050406030204" pitchFamily="18" charset="0"/>
                        </a:rPr>
                        <m:t>𝑦</m:t>
                      </m:r>
                    </m:oMath>
                  </m:oMathPara>
                </a14:m>
                <a:endParaRPr lang="en-US" dirty="0">
                  <a:solidFill>
                    <a:schemeClr val="bg1"/>
                  </a:solidFill>
                </a:endParaRPr>
              </a:p>
            </p:txBody>
          </p:sp>
        </mc:Choice>
        <mc:Fallback xmlns="">
          <p:sp>
            <p:nvSpPr>
              <p:cNvPr id="106" name="Oval 105">
                <a:extLst>
                  <a:ext uri="{FF2B5EF4-FFF2-40B4-BE49-F238E27FC236}">
                    <a16:creationId xmlns:a16="http://schemas.microsoft.com/office/drawing/2014/main" id="{3CDBDD1A-0A7D-474A-9DE4-7B9B640E760E}"/>
                  </a:ext>
                </a:extLst>
              </p:cNvPr>
              <p:cNvSpPr>
                <a:spLocks noRot="1" noChangeAspect="1" noMove="1" noResize="1" noEditPoints="1" noAdjustHandles="1" noChangeArrowheads="1" noChangeShapeType="1" noTextEdit="1"/>
              </p:cNvSpPr>
              <p:nvPr/>
            </p:nvSpPr>
            <p:spPr>
              <a:xfrm>
                <a:off x="2774474" y="6068591"/>
                <a:ext cx="481317" cy="481317"/>
              </a:xfrm>
              <a:prstGeom prst="ellipse">
                <a:avLst/>
              </a:prstGeom>
              <a:blipFill>
                <a:blip r:embed="rId13"/>
                <a:stretch>
                  <a:fillRect/>
                </a:stretch>
              </a:blipFill>
            </p:spPr>
            <p:txBody>
              <a:bodyPr/>
              <a:lstStyle/>
              <a:p>
                <a:r>
                  <a:rPr lang="en-US">
                    <a:noFill/>
                  </a:rPr>
                  <a:t> </a:t>
                </a:r>
              </a:p>
            </p:txBody>
          </p:sp>
        </mc:Fallback>
      </mc:AlternateContent>
      <p:cxnSp>
        <p:nvCxnSpPr>
          <p:cNvPr id="107" name="Straight Connector 106">
            <a:extLst>
              <a:ext uri="{FF2B5EF4-FFF2-40B4-BE49-F238E27FC236}">
                <a16:creationId xmlns:a16="http://schemas.microsoft.com/office/drawing/2014/main" id="{16034C63-F23E-2D43-9AD7-820AD52C76A8}"/>
              </a:ext>
            </a:extLst>
          </p:cNvPr>
          <p:cNvCxnSpPr>
            <a:cxnSpLocks/>
            <a:stCxn id="105" idx="6"/>
            <a:endCxn id="106" idx="2"/>
          </p:cNvCxnSpPr>
          <p:nvPr/>
        </p:nvCxnSpPr>
        <p:spPr>
          <a:xfrm>
            <a:off x="2300464" y="6309250"/>
            <a:ext cx="47401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08" name="Elbow Connector 107">
            <a:extLst>
              <a:ext uri="{FF2B5EF4-FFF2-40B4-BE49-F238E27FC236}">
                <a16:creationId xmlns:a16="http://schemas.microsoft.com/office/drawing/2014/main" id="{0700ED38-CACE-2B42-A870-FF659127BE91}"/>
              </a:ext>
            </a:extLst>
          </p:cNvPr>
          <p:cNvCxnSpPr>
            <a:stCxn id="94" idx="2"/>
            <a:endCxn id="84" idx="2"/>
          </p:cNvCxnSpPr>
          <p:nvPr/>
        </p:nvCxnSpPr>
        <p:spPr>
          <a:xfrm rot="10800000" flipH="1">
            <a:off x="1881630" y="2655078"/>
            <a:ext cx="525670" cy="1675696"/>
          </a:xfrm>
          <a:prstGeom prst="bentConnector3">
            <a:avLst>
              <a:gd name="adj1" fmla="val -43487"/>
            </a:avLst>
          </a:prstGeom>
        </p:spPr>
        <p:style>
          <a:lnRef idx="1">
            <a:schemeClr val="accent1"/>
          </a:lnRef>
          <a:fillRef idx="0">
            <a:schemeClr val="accent1"/>
          </a:fillRef>
          <a:effectRef idx="0">
            <a:schemeClr val="accent1"/>
          </a:effectRef>
          <a:fontRef idx="minor">
            <a:schemeClr val="tx1"/>
          </a:fontRef>
        </p:style>
      </p:cxnSp>
      <p:cxnSp>
        <p:nvCxnSpPr>
          <p:cNvPr id="109" name="Elbow Connector 108">
            <a:extLst>
              <a:ext uri="{FF2B5EF4-FFF2-40B4-BE49-F238E27FC236}">
                <a16:creationId xmlns:a16="http://schemas.microsoft.com/office/drawing/2014/main" id="{3491D77F-CC60-E545-92DB-121E78C36A93}"/>
              </a:ext>
            </a:extLst>
          </p:cNvPr>
          <p:cNvCxnSpPr>
            <a:cxnSpLocks/>
            <a:stCxn id="99" idx="2"/>
            <a:endCxn id="84" idx="2"/>
          </p:cNvCxnSpPr>
          <p:nvPr/>
        </p:nvCxnSpPr>
        <p:spPr>
          <a:xfrm rot="10800000" flipH="1">
            <a:off x="1881630" y="2655078"/>
            <a:ext cx="525670" cy="2366430"/>
          </a:xfrm>
          <a:prstGeom prst="bentConnector3">
            <a:avLst>
              <a:gd name="adj1" fmla="val -58483"/>
            </a:avLst>
          </a:prstGeom>
        </p:spPr>
        <p:style>
          <a:lnRef idx="1">
            <a:schemeClr val="accent1"/>
          </a:lnRef>
          <a:fillRef idx="0">
            <a:schemeClr val="accent1"/>
          </a:fillRef>
          <a:effectRef idx="0">
            <a:schemeClr val="accent1"/>
          </a:effectRef>
          <a:fontRef idx="minor">
            <a:schemeClr val="tx1"/>
          </a:fontRef>
        </p:style>
      </p:cxnSp>
      <p:cxnSp>
        <p:nvCxnSpPr>
          <p:cNvPr id="110" name="Elbow Connector 109">
            <a:extLst>
              <a:ext uri="{FF2B5EF4-FFF2-40B4-BE49-F238E27FC236}">
                <a16:creationId xmlns:a16="http://schemas.microsoft.com/office/drawing/2014/main" id="{149840EC-E1EF-9049-83CF-D5D1FF387E2A}"/>
              </a:ext>
            </a:extLst>
          </p:cNvPr>
          <p:cNvCxnSpPr>
            <a:cxnSpLocks/>
            <a:stCxn id="102" idx="2"/>
            <a:endCxn id="84" idx="2"/>
          </p:cNvCxnSpPr>
          <p:nvPr/>
        </p:nvCxnSpPr>
        <p:spPr>
          <a:xfrm rot="10800000" flipH="1">
            <a:off x="1881630" y="2655078"/>
            <a:ext cx="525670" cy="3025922"/>
          </a:xfrm>
          <a:prstGeom prst="bentConnector3">
            <a:avLst>
              <a:gd name="adj1" fmla="val -79476"/>
            </a:avLst>
          </a:prstGeom>
        </p:spPr>
        <p:style>
          <a:lnRef idx="1">
            <a:schemeClr val="accent1"/>
          </a:lnRef>
          <a:fillRef idx="0">
            <a:schemeClr val="accent1"/>
          </a:fillRef>
          <a:effectRef idx="0">
            <a:schemeClr val="accent1"/>
          </a:effectRef>
          <a:fontRef idx="minor">
            <a:schemeClr val="tx1"/>
          </a:fontRef>
        </p:style>
      </p:cxnSp>
      <p:cxnSp>
        <p:nvCxnSpPr>
          <p:cNvPr id="111" name="Elbow Connector 110">
            <a:extLst>
              <a:ext uri="{FF2B5EF4-FFF2-40B4-BE49-F238E27FC236}">
                <a16:creationId xmlns:a16="http://schemas.microsoft.com/office/drawing/2014/main" id="{05F26797-46C7-5142-B7D6-6639851F297C}"/>
              </a:ext>
            </a:extLst>
          </p:cNvPr>
          <p:cNvCxnSpPr>
            <a:cxnSpLocks/>
            <a:stCxn id="105" idx="2"/>
            <a:endCxn id="84" idx="2"/>
          </p:cNvCxnSpPr>
          <p:nvPr/>
        </p:nvCxnSpPr>
        <p:spPr>
          <a:xfrm rot="10800000" flipH="1">
            <a:off x="1881630" y="2655078"/>
            <a:ext cx="525670" cy="3654172"/>
          </a:xfrm>
          <a:prstGeom prst="bentConnector3">
            <a:avLst>
              <a:gd name="adj1" fmla="val -107968"/>
            </a:avLst>
          </a:prstGeom>
        </p:spPr>
        <p:style>
          <a:lnRef idx="1">
            <a:schemeClr val="accent1"/>
          </a:lnRef>
          <a:fillRef idx="0">
            <a:schemeClr val="accent1"/>
          </a:fillRef>
          <a:effectRef idx="0">
            <a:schemeClr val="accent1"/>
          </a:effectRef>
          <a:fontRef idx="minor">
            <a:schemeClr val="tx1"/>
          </a:fontRef>
        </p:style>
      </p:cxnSp>
      <p:cxnSp>
        <p:nvCxnSpPr>
          <p:cNvPr id="112" name="Elbow Connector 111">
            <a:extLst>
              <a:ext uri="{FF2B5EF4-FFF2-40B4-BE49-F238E27FC236}">
                <a16:creationId xmlns:a16="http://schemas.microsoft.com/office/drawing/2014/main" id="{7EAC24CD-1278-424C-A29B-434B89646D07}"/>
              </a:ext>
            </a:extLst>
          </p:cNvPr>
          <p:cNvCxnSpPr>
            <a:cxnSpLocks/>
            <a:stCxn id="97" idx="6"/>
            <a:endCxn id="84" idx="6"/>
          </p:cNvCxnSpPr>
          <p:nvPr/>
        </p:nvCxnSpPr>
        <p:spPr>
          <a:xfrm flipH="1" flipV="1">
            <a:off x="2837471" y="2655078"/>
            <a:ext cx="418320" cy="1675696"/>
          </a:xfrm>
          <a:prstGeom prst="bentConnector3">
            <a:avLst>
              <a:gd name="adj1" fmla="val -54647"/>
            </a:avLst>
          </a:prstGeom>
        </p:spPr>
        <p:style>
          <a:lnRef idx="1">
            <a:schemeClr val="accent1"/>
          </a:lnRef>
          <a:fillRef idx="0">
            <a:schemeClr val="accent1"/>
          </a:fillRef>
          <a:effectRef idx="0">
            <a:schemeClr val="accent1"/>
          </a:effectRef>
          <a:fontRef idx="minor">
            <a:schemeClr val="tx1"/>
          </a:fontRef>
        </p:style>
      </p:cxnSp>
      <p:cxnSp>
        <p:nvCxnSpPr>
          <p:cNvPr id="113" name="Elbow Connector 112">
            <a:extLst>
              <a:ext uri="{FF2B5EF4-FFF2-40B4-BE49-F238E27FC236}">
                <a16:creationId xmlns:a16="http://schemas.microsoft.com/office/drawing/2014/main" id="{B3F9E346-49DF-3647-8D58-7EE1AE4A8EC6}"/>
              </a:ext>
            </a:extLst>
          </p:cNvPr>
          <p:cNvCxnSpPr>
            <a:cxnSpLocks/>
            <a:stCxn id="100" idx="6"/>
            <a:endCxn id="84" idx="6"/>
          </p:cNvCxnSpPr>
          <p:nvPr/>
        </p:nvCxnSpPr>
        <p:spPr>
          <a:xfrm flipH="1" flipV="1">
            <a:off x="2837471" y="2655078"/>
            <a:ext cx="418320" cy="2366430"/>
          </a:xfrm>
          <a:prstGeom prst="bentConnector3">
            <a:avLst>
              <a:gd name="adj1" fmla="val -99872"/>
            </a:avLst>
          </a:prstGeom>
        </p:spPr>
        <p:style>
          <a:lnRef idx="1">
            <a:schemeClr val="accent1"/>
          </a:lnRef>
          <a:fillRef idx="0">
            <a:schemeClr val="accent1"/>
          </a:fillRef>
          <a:effectRef idx="0">
            <a:schemeClr val="accent1"/>
          </a:effectRef>
          <a:fontRef idx="minor">
            <a:schemeClr val="tx1"/>
          </a:fontRef>
        </p:style>
      </p:cxnSp>
      <p:cxnSp>
        <p:nvCxnSpPr>
          <p:cNvPr id="114" name="Elbow Connector 113">
            <a:extLst>
              <a:ext uri="{FF2B5EF4-FFF2-40B4-BE49-F238E27FC236}">
                <a16:creationId xmlns:a16="http://schemas.microsoft.com/office/drawing/2014/main" id="{3A93FBB5-3AF7-2E40-875F-E74E664F27AF}"/>
              </a:ext>
            </a:extLst>
          </p:cNvPr>
          <p:cNvCxnSpPr>
            <a:cxnSpLocks/>
            <a:stCxn id="103" idx="6"/>
            <a:endCxn id="84" idx="6"/>
          </p:cNvCxnSpPr>
          <p:nvPr/>
        </p:nvCxnSpPr>
        <p:spPr>
          <a:xfrm flipH="1" flipV="1">
            <a:off x="2837471" y="2655078"/>
            <a:ext cx="418320" cy="3025922"/>
          </a:xfrm>
          <a:prstGeom prst="bentConnector3">
            <a:avLst>
              <a:gd name="adj1" fmla="val -143213"/>
            </a:avLst>
          </a:prstGeom>
        </p:spPr>
        <p:style>
          <a:lnRef idx="1">
            <a:schemeClr val="accent1"/>
          </a:lnRef>
          <a:fillRef idx="0">
            <a:schemeClr val="accent1"/>
          </a:fillRef>
          <a:effectRef idx="0">
            <a:schemeClr val="accent1"/>
          </a:effectRef>
          <a:fontRef idx="minor">
            <a:schemeClr val="tx1"/>
          </a:fontRef>
        </p:style>
      </p:cxnSp>
      <p:cxnSp>
        <p:nvCxnSpPr>
          <p:cNvPr id="115" name="Elbow Connector 114">
            <a:extLst>
              <a:ext uri="{FF2B5EF4-FFF2-40B4-BE49-F238E27FC236}">
                <a16:creationId xmlns:a16="http://schemas.microsoft.com/office/drawing/2014/main" id="{D0C8F16D-C7B9-C54F-A3EF-7B51A46507CE}"/>
              </a:ext>
            </a:extLst>
          </p:cNvPr>
          <p:cNvCxnSpPr>
            <a:cxnSpLocks/>
            <a:stCxn id="106" idx="6"/>
            <a:endCxn id="84" idx="6"/>
          </p:cNvCxnSpPr>
          <p:nvPr/>
        </p:nvCxnSpPr>
        <p:spPr>
          <a:xfrm flipH="1" flipV="1">
            <a:off x="2837471" y="2655078"/>
            <a:ext cx="418320" cy="3654172"/>
          </a:xfrm>
          <a:prstGeom prst="bentConnector3">
            <a:avLst>
              <a:gd name="adj1" fmla="val -179016"/>
            </a:avLst>
          </a:prstGeom>
        </p:spPr>
        <p:style>
          <a:lnRef idx="1">
            <a:schemeClr val="accent1"/>
          </a:lnRef>
          <a:fillRef idx="0">
            <a:schemeClr val="accent1"/>
          </a:fillRef>
          <a:effectRef idx="0">
            <a:schemeClr val="accent1"/>
          </a:effectRef>
          <a:fontRef idx="minor">
            <a:schemeClr val="tx1"/>
          </a:fontRef>
        </p:style>
      </p:cxnSp>
      <p:cxnSp>
        <p:nvCxnSpPr>
          <p:cNvPr id="116" name="Elbow Connector 115">
            <a:extLst>
              <a:ext uri="{FF2B5EF4-FFF2-40B4-BE49-F238E27FC236}">
                <a16:creationId xmlns:a16="http://schemas.microsoft.com/office/drawing/2014/main" id="{185C49EB-8DD9-0C42-86C7-80385AD47065}"/>
              </a:ext>
            </a:extLst>
          </p:cNvPr>
          <p:cNvCxnSpPr>
            <a:cxnSpLocks/>
            <a:stCxn id="38" idx="2"/>
            <a:endCxn id="89" idx="7"/>
          </p:cNvCxnSpPr>
          <p:nvPr/>
        </p:nvCxnSpPr>
        <p:spPr>
          <a:xfrm rot="10800000" flipV="1">
            <a:off x="2239128" y="2996971"/>
            <a:ext cx="2894333" cy="455418"/>
          </a:xfrm>
          <a:prstGeom prst="bentConnector2">
            <a:avLst/>
          </a:prstGeom>
        </p:spPr>
        <p:style>
          <a:lnRef idx="1">
            <a:schemeClr val="accent1"/>
          </a:lnRef>
          <a:fillRef idx="0">
            <a:schemeClr val="accent1"/>
          </a:fillRef>
          <a:effectRef idx="0">
            <a:schemeClr val="accent1"/>
          </a:effectRef>
          <a:fontRef idx="minor">
            <a:schemeClr val="tx1"/>
          </a:fontRef>
        </p:style>
      </p:cxnSp>
      <p:cxnSp>
        <p:nvCxnSpPr>
          <p:cNvPr id="117" name="Elbow Connector 116">
            <a:extLst>
              <a:ext uri="{FF2B5EF4-FFF2-40B4-BE49-F238E27FC236}">
                <a16:creationId xmlns:a16="http://schemas.microsoft.com/office/drawing/2014/main" id="{5D370CF0-B24C-3B4A-B490-1D3E23B6BCD2}"/>
              </a:ext>
            </a:extLst>
          </p:cNvPr>
          <p:cNvCxnSpPr>
            <a:cxnSpLocks/>
            <a:stCxn id="64" idx="2"/>
            <a:endCxn id="97" idx="5"/>
          </p:cNvCxnSpPr>
          <p:nvPr/>
        </p:nvCxnSpPr>
        <p:spPr>
          <a:xfrm rot="10800000" flipV="1">
            <a:off x="3185305" y="3668587"/>
            <a:ext cx="1952767" cy="832358"/>
          </a:xfrm>
          <a:prstGeom prst="bentConnector4">
            <a:avLst>
              <a:gd name="adj1" fmla="val 48195"/>
              <a:gd name="adj2" fmla="val 98997"/>
            </a:avLst>
          </a:prstGeom>
        </p:spPr>
        <p:style>
          <a:lnRef idx="1">
            <a:schemeClr val="accent1"/>
          </a:lnRef>
          <a:fillRef idx="0">
            <a:schemeClr val="accent1"/>
          </a:fillRef>
          <a:effectRef idx="0">
            <a:schemeClr val="accent1"/>
          </a:effectRef>
          <a:fontRef idx="minor">
            <a:schemeClr val="tx1"/>
          </a:fontRef>
        </p:style>
      </p:cxnSp>
      <p:cxnSp>
        <p:nvCxnSpPr>
          <p:cNvPr id="118" name="Elbow Connector 117">
            <a:extLst>
              <a:ext uri="{FF2B5EF4-FFF2-40B4-BE49-F238E27FC236}">
                <a16:creationId xmlns:a16="http://schemas.microsoft.com/office/drawing/2014/main" id="{7632A276-D713-634B-ACB0-DB4F3856A5BA}"/>
              </a:ext>
            </a:extLst>
          </p:cNvPr>
          <p:cNvCxnSpPr>
            <a:cxnSpLocks/>
            <a:stCxn id="60" idx="3"/>
            <a:endCxn id="99" idx="0"/>
          </p:cNvCxnSpPr>
          <p:nvPr/>
        </p:nvCxnSpPr>
        <p:spPr>
          <a:xfrm rot="5400000">
            <a:off x="4051134" y="2160554"/>
            <a:ext cx="691451" cy="4611623"/>
          </a:xfrm>
          <a:prstGeom prst="bentConnector3">
            <a:avLst>
              <a:gd name="adj1" fmla="val 77361"/>
            </a:avLst>
          </a:prstGeom>
        </p:spPr>
        <p:style>
          <a:lnRef idx="1">
            <a:schemeClr val="accent1"/>
          </a:lnRef>
          <a:fillRef idx="0">
            <a:schemeClr val="accent1"/>
          </a:fillRef>
          <a:effectRef idx="0">
            <a:schemeClr val="accent1"/>
          </a:effectRef>
          <a:fontRef idx="minor">
            <a:schemeClr val="tx1"/>
          </a:fontRef>
        </p:style>
      </p:cxnSp>
      <p:cxnSp>
        <p:nvCxnSpPr>
          <p:cNvPr id="119" name="Elbow Connector 118">
            <a:extLst>
              <a:ext uri="{FF2B5EF4-FFF2-40B4-BE49-F238E27FC236}">
                <a16:creationId xmlns:a16="http://schemas.microsoft.com/office/drawing/2014/main" id="{85E11B65-2778-BD47-995F-D68D673F2351}"/>
              </a:ext>
            </a:extLst>
          </p:cNvPr>
          <p:cNvCxnSpPr>
            <a:cxnSpLocks/>
            <a:stCxn id="136" idx="2"/>
            <a:endCxn id="94" idx="6"/>
          </p:cNvCxnSpPr>
          <p:nvPr/>
        </p:nvCxnSpPr>
        <p:spPr>
          <a:xfrm rot="10800000">
            <a:off x="2300465" y="4330775"/>
            <a:ext cx="3108895" cy="1037297"/>
          </a:xfrm>
          <a:prstGeom prst="bentConnector3">
            <a:avLst>
              <a:gd name="adj1" fmla="val 94626"/>
            </a:avLst>
          </a:prstGeom>
        </p:spPr>
        <p:style>
          <a:lnRef idx="1">
            <a:schemeClr val="accent1"/>
          </a:lnRef>
          <a:fillRef idx="0">
            <a:schemeClr val="accent1"/>
          </a:fillRef>
          <a:effectRef idx="0">
            <a:schemeClr val="accent1"/>
          </a:effectRef>
          <a:fontRef idx="minor">
            <a:schemeClr val="tx1"/>
          </a:fontRef>
        </p:style>
      </p:cxnSp>
      <p:cxnSp>
        <p:nvCxnSpPr>
          <p:cNvPr id="120" name="Elbow Connector 119">
            <a:extLst>
              <a:ext uri="{FF2B5EF4-FFF2-40B4-BE49-F238E27FC236}">
                <a16:creationId xmlns:a16="http://schemas.microsoft.com/office/drawing/2014/main" id="{673488DE-3EAF-AA4E-8272-A691B1B4D5CE}"/>
              </a:ext>
            </a:extLst>
          </p:cNvPr>
          <p:cNvCxnSpPr>
            <a:cxnSpLocks/>
            <a:stCxn id="140" idx="1"/>
            <a:endCxn id="102" idx="4"/>
          </p:cNvCxnSpPr>
          <p:nvPr/>
        </p:nvCxnSpPr>
        <p:spPr>
          <a:xfrm rot="16200000" flipV="1">
            <a:off x="3777173" y="4204292"/>
            <a:ext cx="8841" cy="3381091"/>
          </a:xfrm>
          <a:prstGeom prst="bentConnector5">
            <a:avLst>
              <a:gd name="adj1" fmla="val 2585680"/>
              <a:gd name="adj2" fmla="val 26780"/>
              <a:gd name="adj3" fmla="val -1237428"/>
            </a:avLst>
          </a:prstGeom>
        </p:spPr>
        <p:style>
          <a:lnRef idx="1">
            <a:schemeClr val="accent1"/>
          </a:lnRef>
          <a:fillRef idx="0">
            <a:schemeClr val="accent1"/>
          </a:fillRef>
          <a:effectRef idx="0">
            <a:schemeClr val="accent1"/>
          </a:effectRef>
          <a:fontRef idx="minor">
            <a:schemeClr val="tx1"/>
          </a:fontRef>
        </p:style>
      </p:cxnSp>
      <p:cxnSp>
        <p:nvCxnSpPr>
          <p:cNvPr id="121" name="Elbow Connector 120">
            <a:extLst>
              <a:ext uri="{FF2B5EF4-FFF2-40B4-BE49-F238E27FC236}">
                <a16:creationId xmlns:a16="http://schemas.microsoft.com/office/drawing/2014/main" id="{659936F9-DDDF-4345-ACB6-549C43A883A2}"/>
              </a:ext>
            </a:extLst>
          </p:cNvPr>
          <p:cNvCxnSpPr>
            <a:cxnSpLocks/>
            <a:stCxn id="152" idx="2"/>
            <a:endCxn id="106" idx="4"/>
          </p:cNvCxnSpPr>
          <p:nvPr/>
        </p:nvCxnSpPr>
        <p:spPr>
          <a:xfrm rot="10800000" flipV="1">
            <a:off x="3015133" y="6351312"/>
            <a:ext cx="3905268" cy="198596"/>
          </a:xfrm>
          <a:prstGeom prst="bentConnector4">
            <a:avLst>
              <a:gd name="adj1" fmla="val 46919"/>
              <a:gd name="adj2" fmla="val 143662"/>
            </a:avLst>
          </a:prstGeom>
        </p:spPr>
        <p:style>
          <a:lnRef idx="1">
            <a:schemeClr val="accent1"/>
          </a:lnRef>
          <a:fillRef idx="0">
            <a:schemeClr val="accent1"/>
          </a:fillRef>
          <a:effectRef idx="0">
            <a:schemeClr val="accent1"/>
          </a:effectRef>
          <a:fontRef idx="minor">
            <a:schemeClr val="tx1"/>
          </a:fontRef>
        </p:style>
      </p:cxnSp>
      <p:cxnSp>
        <p:nvCxnSpPr>
          <p:cNvPr id="157" name="Elbow Connector 156">
            <a:extLst>
              <a:ext uri="{FF2B5EF4-FFF2-40B4-BE49-F238E27FC236}">
                <a16:creationId xmlns:a16="http://schemas.microsoft.com/office/drawing/2014/main" id="{FF47A30A-FAD2-9E49-8BA0-9A186AA1FEEE}"/>
              </a:ext>
            </a:extLst>
          </p:cNvPr>
          <p:cNvCxnSpPr>
            <a:cxnSpLocks/>
            <a:stCxn id="82" idx="6"/>
            <a:endCxn id="61" idx="0"/>
          </p:cNvCxnSpPr>
          <p:nvPr/>
        </p:nvCxnSpPr>
        <p:spPr>
          <a:xfrm>
            <a:off x="3171667" y="2034809"/>
            <a:ext cx="4343696" cy="1386380"/>
          </a:xfrm>
          <a:prstGeom prst="bentConnector2">
            <a:avLst/>
          </a:prstGeom>
        </p:spPr>
        <p:style>
          <a:lnRef idx="1">
            <a:schemeClr val="accent1"/>
          </a:lnRef>
          <a:fillRef idx="0">
            <a:schemeClr val="accent1"/>
          </a:fillRef>
          <a:effectRef idx="0">
            <a:schemeClr val="accent1"/>
          </a:effectRef>
          <a:fontRef idx="minor">
            <a:schemeClr val="tx1"/>
          </a:fontRef>
        </p:style>
      </p:cxnSp>
      <p:cxnSp>
        <p:nvCxnSpPr>
          <p:cNvPr id="158" name="Elbow Connector 157">
            <a:extLst>
              <a:ext uri="{FF2B5EF4-FFF2-40B4-BE49-F238E27FC236}">
                <a16:creationId xmlns:a16="http://schemas.microsoft.com/office/drawing/2014/main" id="{E27C5A63-C0A5-6641-8441-FCD1EF844AEB}"/>
              </a:ext>
            </a:extLst>
          </p:cNvPr>
          <p:cNvCxnSpPr>
            <a:cxnSpLocks/>
            <a:stCxn id="84" idx="7"/>
            <a:endCxn id="61" idx="0"/>
          </p:cNvCxnSpPr>
          <p:nvPr/>
        </p:nvCxnSpPr>
        <p:spPr>
          <a:xfrm rot="16200000" flipH="1">
            <a:off x="4685818" y="591645"/>
            <a:ext cx="918200" cy="4740889"/>
          </a:xfrm>
          <a:prstGeom prst="bentConnector3">
            <a:avLst>
              <a:gd name="adj1" fmla="val -12011"/>
            </a:avLst>
          </a:prstGeom>
        </p:spPr>
        <p:style>
          <a:lnRef idx="1">
            <a:schemeClr val="accent1"/>
          </a:lnRef>
          <a:fillRef idx="0">
            <a:schemeClr val="accent1"/>
          </a:fillRef>
          <a:effectRef idx="0">
            <a:schemeClr val="accent1"/>
          </a:effectRef>
          <a:fontRef idx="minor">
            <a:schemeClr val="tx1"/>
          </a:fontRef>
        </p:style>
      </p:cxnSp>
      <p:cxnSp>
        <p:nvCxnSpPr>
          <p:cNvPr id="159" name="Elbow Connector 158">
            <a:extLst>
              <a:ext uri="{FF2B5EF4-FFF2-40B4-BE49-F238E27FC236}">
                <a16:creationId xmlns:a16="http://schemas.microsoft.com/office/drawing/2014/main" id="{4284FAB4-2471-D546-94A5-6251CE99E056}"/>
              </a:ext>
            </a:extLst>
          </p:cNvPr>
          <p:cNvCxnSpPr>
            <a:cxnSpLocks/>
            <a:stCxn id="82" idx="6"/>
            <a:endCxn id="153" idx="6"/>
          </p:cNvCxnSpPr>
          <p:nvPr/>
        </p:nvCxnSpPr>
        <p:spPr>
          <a:xfrm>
            <a:off x="3171667" y="2034809"/>
            <a:ext cx="4842024" cy="3956077"/>
          </a:xfrm>
          <a:prstGeom prst="bentConnector3">
            <a:avLst>
              <a:gd name="adj1" fmla="val 104721"/>
            </a:avLst>
          </a:prstGeom>
        </p:spPr>
        <p:style>
          <a:lnRef idx="1">
            <a:schemeClr val="accent1"/>
          </a:lnRef>
          <a:fillRef idx="0">
            <a:schemeClr val="accent1"/>
          </a:fillRef>
          <a:effectRef idx="0">
            <a:schemeClr val="accent1"/>
          </a:effectRef>
          <a:fontRef idx="minor">
            <a:schemeClr val="tx1"/>
          </a:fontRef>
        </p:style>
      </p:cxnSp>
      <p:cxnSp>
        <p:nvCxnSpPr>
          <p:cNvPr id="160" name="Elbow Connector 159">
            <a:extLst>
              <a:ext uri="{FF2B5EF4-FFF2-40B4-BE49-F238E27FC236}">
                <a16:creationId xmlns:a16="http://schemas.microsoft.com/office/drawing/2014/main" id="{C3388062-5DEC-504D-A7D3-E7033DE9D613}"/>
              </a:ext>
            </a:extLst>
          </p:cNvPr>
          <p:cNvCxnSpPr>
            <a:cxnSpLocks/>
            <a:stCxn id="84" idx="7"/>
            <a:endCxn id="153" idx="7"/>
          </p:cNvCxnSpPr>
          <p:nvPr/>
        </p:nvCxnSpPr>
        <p:spPr>
          <a:xfrm rot="16200000" flipH="1">
            <a:off x="3687774" y="1589689"/>
            <a:ext cx="3347468" cy="5174069"/>
          </a:xfrm>
          <a:prstGeom prst="bentConnector3">
            <a:avLst>
              <a:gd name="adj1" fmla="val -6592"/>
            </a:avLst>
          </a:prstGeom>
        </p:spPr>
        <p:style>
          <a:lnRef idx="1">
            <a:schemeClr val="accent1"/>
          </a:lnRef>
          <a:fillRef idx="0">
            <a:schemeClr val="accent1"/>
          </a:fillRef>
          <a:effectRef idx="0">
            <a:schemeClr val="accent1"/>
          </a:effectRef>
          <a:fontRef idx="minor">
            <a:schemeClr val="tx1"/>
          </a:fontRef>
        </p:style>
      </p:cxnSp>
      <p:sp>
        <p:nvSpPr>
          <p:cNvPr id="161" name="Content Placeholder 2">
            <a:extLst>
              <a:ext uri="{FF2B5EF4-FFF2-40B4-BE49-F238E27FC236}">
                <a16:creationId xmlns:a16="http://schemas.microsoft.com/office/drawing/2014/main" id="{A9FE2989-EFF1-844F-8B53-724BF27401EB}"/>
              </a:ext>
            </a:extLst>
          </p:cNvPr>
          <p:cNvSpPr txBox="1">
            <a:spLocks/>
          </p:cNvSpPr>
          <p:nvPr/>
        </p:nvSpPr>
        <p:spPr>
          <a:xfrm>
            <a:off x="8289608" y="604265"/>
            <a:ext cx="3380992" cy="1231947"/>
          </a:xfrm>
          <a:prstGeom prst="rect">
            <a:avLst/>
          </a:prstGeom>
          <a:noFill/>
          <a:ln>
            <a:noFill/>
          </a:ln>
        </p:spPr>
        <p:txBody>
          <a:bodyPr vert="horz" lIns="91440" tIns="45720" rIns="91440" bIns="45720" rtlCol="0">
            <a:no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400" i="1" dirty="0">
                <a:solidFill>
                  <a:schemeClr val="tx1">
                    <a:lumMod val="95000"/>
                  </a:schemeClr>
                </a:solidFill>
              </a:rPr>
              <a:t>Notice that the outputs of the gates are connected to the False and Neutral terminals. This is because we NEED the output of each clause to be colored True!</a:t>
            </a:r>
          </a:p>
        </p:txBody>
      </p:sp>
      <p:cxnSp>
        <p:nvCxnSpPr>
          <p:cNvPr id="40" name="Straight Connector 39">
            <a:extLst>
              <a:ext uri="{FF2B5EF4-FFF2-40B4-BE49-F238E27FC236}">
                <a16:creationId xmlns:a16="http://schemas.microsoft.com/office/drawing/2014/main" id="{F542CE53-92E8-D941-84E0-50945886413E}"/>
              </a:ext>
            </a:extLst>
          </p:cNvPr>
          <p:cNvCxnSpPr>
            <a:cxnSpLocks/>
          </p:cNvCxnSpPr>
          <p:nvPr/>
        </p:nvCxnSpPr>
        <p:spPr>
          <a:xfrm flipH="1">
            <a:off x="7568833" y="1071890"/>
            <a:ext cx="720776" cy="655760"/>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85076096"/>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(VERY informal) proof of reduction</a:t>
            </a:r>
          </a:p>
        </p:txBody>
      </p:sp>
      <p:sp>
        <p:nvSpPr>
          <p:cNvPr id="3" name="Slide Number Placeholder 2"/>
          <p:cNvSpPr>
            <a:spLocks noGrp="1"/>
          </p:cNvSpPr>
          <p:nvPr>
            <p:ph type="sldNum" sz="quarter" idx="12"/>
          </p:nvPr>
        </p:nvSpPr>
        <p:spPr/>
        <p:txBody>
          <a:bodyPr/>
          <a:lstStyle/>
          <a:p>
            <a:fld id="{A8D2B1A1-9A82-492A-87A6-500459A044C8}" type="slidenum">
              <a:rPr lang="en-US" smtClean="0"/>
              <a:pPr/>
              <a:t>114</a:t>
            </a:fld>
            <a:endParaRPr lang="en-US"/>
          </a:p>
        </p:txBody>
      </p:sp>
      <p:sp>
        <p:nvSpPr>
          <p:cNvPr id="4" name="Content Placeholder 3"/>
          <p:cNvSpPr>
            <a:spLocks noGrp="1"/>
          </p:cNvSpPr>
          <p:nvPr>
            <p:ph sz="quarter" idx="1"/>
          </p:nvPr>
        </p:nvSpPr>
        <p:spPr/>
        <p:txBody>
          <a:bodyPr>
            <a:normAutofit fontScale="85000" lnSpcReduction="10000"/>
          </a:bodyPr>
          <a:lstStyle/>
          <a:p>
            <a:pPr algn="l"/>
            <a:r>
              <a:rPr lang="en-US" dirty="0"/>
              <a:t>Sat(</a:t>
            </a:r>
            <a:r>
              <a:rPr lang="en-US" dirty="0">
                <a:sym typeface="Symbol" panose="05050102010706020507" pitchFamily="18" charset="2"/>
              </a:rPr>
              <a:t>) </a:t>
            </a:r>
            <a:r>
              <a:rPr lang="en-US" dirty="0">
                <a:sym typeface="Wingdings" panose="05000000000000000000" pitchFamily="2" charset="2"/>
              </a:rPr>
              <a:t> G is 3-Colorable</a:t>
            </a:r>
          </a:p>
          <a:p>
            <a:pPr lvl="1" algn="l"/>
            <a:r>
              <a:rPr lang="en-US" sz="2100" dirty="0">
                <a:sym typeface="Wingdings" panose="05000000000000000000" pitchFamily="2" charset="2"/>
              </a:rPr>
              <a:t>Assume </a:t>
            </a:r>
            <a:r>
              <a:rPr lang="en-US" dirty="0">
                <a:sym typeface="Symbol" panose="05050102010706020507" pitchFamily="18" charset="2"/>
              </a:rPr>
              <a:t> is </a:t>
            </a:r>
            <a:r>
              <a:rPr lang="en-US" dirty="0" err="1">
                <a:sym typeface="Symbol" panose="05050102010706020507" pitchFamily="18" charset="2"/>
              </a:rPr>
              <a:t>satisfiable</a:t>
            </a:r>
            <a:endParaRPr lang="en-US" sz="2100" dirty="0">
              <a:sym typeface="Wingdings" panose="05000000000000000000" pitchFamily="2" charset="2"/>
            </a:endParaRPr>
          </a:p>
          <a:p>
            <a:pPr lvl="1" algn="l"/>
            <a:r>
              <a:rPr lang="en-US" sz="2100" dirty="0">
                <a:sym typeface="Wingdings" panose="05000000000000000000" pitchFamily="2" charset="2"/>
              </a:rPr>
              <a:t>3 colors (true, false, base)</a:t>
            </a:r>
          </a:p>
          <a:p>
            <a:pPr lvl="1" algn="l"/>
            <a:r>
              <a:rPr lang="en-US" sz="2100" dirty="0"/>
              <a:t>Color B,T,F with these colors</a:t>
            </a:r>
          </a:p>
          <a:p>
            <a:pPr lvl="1" algn="l"/>
            <a:r>
              <a:rPr lang="en-US" sz="2100" dirty="0"/>
              <a:t>Color variable nodes with T and F depending on their satisfying values for </a:t>
            </a:r>
            <a:r>
              <a:rPr lang="en-US" dirty="0">
                <a:sym typeface="Symbol" panose="05050102010706020507" pitchFamily="18" charset="2"/>
              </a:rPr>
              <a:t></a:t>
            </a:r>
          </a:p>
          <a:p>
            <a:pPr lvl="1" algn="l"/>
            <a:r>
              <a:rPr lang="en-US" sz="2100" dirty="0"/>
              <a:t>Or gates always colorable so that they represent correct OR (output is true </a:t>
            </a:r>
            <a:r>
              <a:rPr lang="en-US" sz="2100" dirty="0" err="1"/>
              <a:t>iff</a:t>
            </a:r>
            <a:r>
              <a:rPr lang="en-US" sz="2100" dirty="0"/>
              <a:t> one or more inputs true)</a:t>
            </a:r>
          </a:p>
          <a:p>
            <a:pPr lvl="1" algn="l"/>
            <a:r>
              <a:rPr lang="en-US" sz="2100" dirty="0"/>
              <a:t>Thus G is 3-Colorable</a:t>
            </a:r>
          </a:p>
        </p:txBody>
      </p:sp>
      <p:sp>
        <p:nvSpPr>
          <p:cNvPr id="5" name="Content Placeholder 4"/>
          <p:cNvSpPr>
            <a:spLocks noGrp="1"/>
          </p:cNvSpPr>
          <p:nvPr>
            <p:ph sz="quarter" idx="2"/>
          </p:nvPr>
        </p:nvSpPr>
        <p:spPr/>
        <p:txBody>
          <a:bodyPr>
            <a:normAutofit fontScale="85000" lnSpcReduction="10000"/>
          </a:bodyPr>
          <a:lstStyle/>
          <a:p>
            <a:pPr algn="l"/>
            <a:r>
              <a:rPr lang="en-US" dirty="0"/>
              <a:t>G is 3-Colorable </a:t>
            </a:r>
            <a:r>
              <a:rPr lang="en-US" dirty="0">
                <a:sym typeface="Wingdings" panose="05000000000000000000" pitchFamily="2" charset="2"/>
              </a:rPr>
              <a:t> Sat(</a:t>
            </a:r>
            <a:r>
              <a:rPr lang="en-US" dirty="0">
                <a:sym typeface="Symbol" panose="05050102010706020507" pitchFamily="18" charset="2"/>
              </a:rPr>
              <a:t>)</a:t>
            </a:r>
          </a:p>
          <a:p>
            <a:pPr lvl="1" algn="l"/>
            <a:r>
              <a:rPr lang="en-US" sz="2100" dirty="0">
                <a:sym typeface="Symbol" panose="05050102010706020507" pitchFamily="18" charset="2"/>
              </a:rPr>
              <a:t>Assume G is 3-Colorable</a:t>
            </a:r>
          </a:p>
          <a:p>
            <a:pPr lvl="1" algn="l"/>
            <a:r>
              <a:rPr lang="en-US" sz="2100" dirty="0">
                <a:sym typeface="Symbol" panose="05050102010706020507" pitchFamily="18" charset="2"/>
              </a:rPr>
              <a:t>Color the graph</a:t>
            </a:r>
          </a:p>
          <a:p>
            <a:pPr lvl="1" algn="l"/>
            <a:r>
              <a:rPr lang="en-US" sz="2100" dirty="0">
                <a:sym typeface="Symbol" panose="05050102010706020507" pitchFamily="18" charset="2"/>
              </a:rPr>
              <a:t>Let the colors of the B,T,F nodes represent base, true, and false respectively.</a:t>
            </a:r>
          </a:p>
          <a:p>
            <a:pPr lvl="1" algn="l"/>
            <a:r>
              <a:rPr lang="en-US" sz="2100" dirty="0"/>
              <a:t>Re-arrange OR gate colors slightly if necessary so output is always T or F</a:t>
            </a:r>
          </a:p>
          <a:p>
            <a:pPr lvl="1" algn="l"/>
            <a:r>
              <a:rPr lang="en-US" sz="2100" dirty="0"/>
              <a:t>Let variable assignments be the color they were given</a:t>
            </a:r>
          </a:p>
          <a:p>
            <a:pPr lvl="1" algn="l"/>
            <a:r>
              <a:rPr lang="en-US" sz="2100" dirty="0"/>
              <a:t>These assignments satisfy </a:t>
            </a:r>
            <a:r>
              <a:rPr lang="en-US" dirty="0">
                <a:sym typeface="Symbol" panose="05050102010706020507" pitchFamily="18" charset="2"/>
              </a:rPr>
              <a:t></a:t>
            </a:r>
            <a:endParaRPr lang="en-US" sz="2100" dirty="0"/>
          </a:p>
        </p:txBody>
      </p:sp>
    </p:spTree>
    <p:extLst>
      <p:ext uri="{BB962C8B-B14F-4D97-AF65-F5344CB8AC3E}">
        <p14:creationId xmlns:p14="http://schemas.microsoft.com/office/powerpoint/2010/main" val="2109291462"/>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Title 4"/>
          <p:cNvSpPr>
            <a:spLocks noGrp="1"/>
          </p:cNvSpPr>
          <p:nvPr>
            <p:ph type="title"/>
          </p:nvPr>
        </p:nvSpPr>
        <p:spPr/>
        <p:txBody>
          <a:bodyPr/>
          <a:lstStyle/>
          <a:p>
            <a:pPr algn="ctr"/>
            <a:r>
              <a:rPr lang="en-US" dirty="0"/>
              <a:t>Co-NP</a:t>
            </a:r>
          </a:p>
        </p:txBody>
      </p:sp>
    </p:spTree>
    <p:extLst>
      <p:ext uri="{BB962C8B-B14F-4D97-AF65-F5344CB8AC3E}">
        <p14:creationId xmlns:p14="http://schemas.microsoft.com/office/powerpoint/2010/main" val="1255446390"/>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Title 4"/>
          <p:cNvSpPr>
            <a:spLocks noGrp="1"/>
          </p:cNvSpPr>
          <p:nvPr>
            <p:ph type="title"/>
          </p:nvPr>
        </p:nvSpPr>
        <p:spPr/>
        <p:txBody>
          <a:bodyPr/>
          <a:lstStyle/>
          <a:p>
            <a:r>
              <a:rPr lang="en-US" dirty="0"/>
              <a:t>Algorithmic Complement</a:t>
            </a:r>
          </a:p>
        </p:txBody>
      </p:sp>
      <p:sp>
        <p:nvSpPr>
          <p:cNvPr id="4" name="Slide Number Placeholder 3"/>
          <p:cNvSpPr>
            <a:spLocks noGrp="1"/>
          </p:cNvSpPr>
          <p:nvPr>
            <p:ph type="sldNum" sz="quarter" idx="12"/>
          </p:nvPr>
        </p:nvSpPr>
        <p:spPr/>
        <p:txBody>
          <a:bodyPr/>
          <a:lstStyle/>
          <a:p>
            <a:fld id="{A8D2B1A1-9A82-492A-87A6-500459A044C8}" type="slidenum">
              <a:rPr lang="en-US" smtClean="0"/>
              <a:pPr/>
              <a:t>116</a:t>
            </a:fld>
            <a:endParaRPr lang="en-US"/>
          </a:p>
        </p:txBody>
      </p:sp>
      <p:sp>
        <p:nvSpPr>
          <p:cNvPr id="6" name="Content Placeholder 5"/>
          <p:cNvSpPr>
            <a:spLocks noGrp="1"/>
          </p:cNvSpPr>
          <p:nvPr>
            <p:ph sz="quarter" idx="1"/>
          </p:nvPr>
        </p:nvSpPr>
        <p:spPr/>
        <p:txBody>
          <a:bodyPr/>
          <a:lstStyle/>
          <a:p>
            <a:r>
              <a:rPr lang="en-US" dirty="0"/>
              <a:t>Given a problem X, we can define the complement, X’</a:t>
            </a:r>
          </a:p>
          <a:p>
            <a:pPr lvl="1"/>
            <a:r>
              <a:rPr lang="en-US" dirty="0"/>
              <a:t>Take the decision version of the problem X</a:t>
            </a:r>
          </a:p>
          <a:p>
            <a:pPr lvl="1"/>
            <a:r>
              <a:rPr lang="en-US" dirty="0"/>
              <a:t>Change all the ‘yes’ answers to ‘no’ and visa-versa</a:t>
            </a:r>
          </a:p>
          <a:p>
            <a:r>
              <a:rPr lang="en-US" dirty="0"/>
              <a:t>Consider the problem of if a number is prime</a:t>
            </a:r>
          </a:p>
          <a:p>
            <a:pPr lvl="1"/>
            <a:r>
              <a:rPr lang="en-US" dirty="0"/>
              <a:t>The complement problem is if a number is composite</a:t>
            </a:r>
          </a:p>
        </p:txBody>
      </p:sp>
    </p:spTree>
    <p:extLst>
      <p:ext uri="{BB962C8B-B14F-4D97-AF65-F5344CB8AC3E}">
        <p14:creationId xmlns:p14="http://schemas.microsoft.com/office/powerpoint/2010/main" val="1269757986"/>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co-NP</a:t>
            </a:r>
          </a:p>
        </p:txBody>
      </p:sp>
      <p:sp>
        <p:nvSpPr>
          <p:cNvPr id="4" name="Slide Number Placeholder 3"/>
          <p:cNvSpPr>
            <a:spLocks noGrp="1"/>
          </p:cNvSpPr>
          <p:nvPr>
            <p:ph type="sldNum" sz="quarter" idx="12"/>
          </p:nvPr>
        </p:nvSpPr>
        <p:spPr/>
        <p:txBody>
          <a:bodyPr/>
          <a:lstStyle/>
          <a:p>
            <a:fld id="{A8D2B1A1-9A82-492A-87A6-500459A044C8}" type="slidenum">
              <a:rPr lang="en-US" smtClean="0"/>
              <a:pPr/>
              <a:t>117</a:t>
            </a:fld>
            <a:endParaRPr lang="en-US"/>
          </a:p>
        </p:txBody>
      </p:sp>
      <p:sp>
        <p:nvSpPr>
          <p:cNvPr id="3" name="Content Placeholder 2"/>
          <p:cNvSpPr>
            <a:spLocks noGrp="1"/>
          </p:cNvSpPr>
          <p:nvPr>
            <p:ph sz="quarter" idx="1"/>
          </p:nvPr>
        </p:nvSpPr>
        <p:spPr/>
        <p:txBody>
          <a:bodyPr>
            <a:normAutofit lnSpcReduction="10000"/>
          </a:bodyPr>
          <a:lstStyle/>
          <a:p>
            <a:r>
              <a:rPr lang="en-US" dirty="0"/>
              <a:t>NP contains the set of problems for which proof of a ‘yes’ solution is easily verifiable</a:t>
            </a:r>
          </a:p>
          <a:p>
            <a:pPr lvl="1"/>
            <a:r>
              <a:rPr lang="en-US" dirty="0"/>
              <a:t>To show a ‘yes’ instance, I just have to show one: exists quantifier</a:t>
            </a:r>
          </a:p>
          <a:p>
            <a:pPr lvl="1"/>
            <a:r>
              <a:rPr lang="en-US" dirty="0"/>
              <a:t>To show no instances, I have to show it’s ‘no’ for all: for all quantifier</a:t>
            </a:r>
          </a:p>
          <a:p>
            <a:pPr lvl="2"/>
            <a:r>
              <a:rPr lang="en-US" dirty="0"/>
              <a:t>To show that there is no </a:t>
            </a:r>
            <a:r>
              <a:rPr lang="en-US" dirty="0" err="1"/>
              <a:t>satisfiable</a:t>
            </a:r>
            <a:r>
              <a:rPr lang="en-US" dirty="0"/>
              <a:t> set of truth values for a SAT problem, you have to show each possible one</a:t>
            </a:r>
          </a:p>
          <a:p>
            <a:r>
              <a:rPr lang="en-US" dirty="0"/>
              <a:t>co-NP contains the set of problems for which proof of </a:t>
            </a:r>
            <a:r>
              <a:rPr lang="en-US" i="1" dirty="0"/>
              <a:t>no</a:t>
            </a:r>
            <a:r>
              <a:rPr lang="en-US" dirty="0"/>
              <a:t> solutions is easily verifiable</a:t>
            </a:r>
          </a:p>
          <a:p>
            <a:pPr lvl="1"/>
            <a:endParaRPr lang="en-US" dirty="0"/>
          </a:p>
        </p:txBody>
      </p:sp>
    </p:spTree>
    <p:extLst>
      <p:ext uri="{BB962C8B-B14F-4D97-AF65-F5344CB8AC3E}">
        <p14:creationId xmlns:p14="http://schemas.microsoft.com/office/powerpoint/2010/main" val="2461209967"/>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co-NP examples</a:t>
            </a:r>
            <a:endParaRPr lang="en-US" dirty="0"/>
          </a:p>
        </p:txBody>
      </p:sp>
      <p:sp>
        <p:nvSpPr>
          <p:cNvPr id="4" name="Slide Number Placeholder 3"/>
          <p:cNvSpPr>
            <a:spLocks noGrp="1"/>
          </p:cNvSpPr>
          <p:nvPr>
            <p:ph type="sldNum" sz="quarter" idx="12"/>
          </p:nvPr>
        </p:nvSpPr>
        <p:spPr/>
        <p:txBody>
          <a:bodyPr/>
          <a:lstStyle/>
          <a:p>
            <a:fld id="{A8D2B1A1-9A82-492A-87A6-500459A044C8}" type="slidenum">
              <a:rPr lang="en-US" smtClean="0"/>
              <a:pPr/>
              <a:t>118</a:t>
            </a:fld>
            <a:endParaRPr lang="en-US"/>
          </a:p>
        </p:txBody>
      </p:sp>
      <p:sp>
        <p:nvSpPr>
          <p:cNvPr id="3" name="Content Placeholder 2"/>
          <p:cNvSpPr>
            <a:spLocks noGrp="1"/>
          </p:cNvSpPr>
          <p:nvPr>
            <p:ph sz="quarter" idx="1"/>
          </p:nvPr>
        </p:nvSpPr>
        <p:spPr/>
        <p:txBody>
          <a:bodyPr/>
          <a:lstStyle/>
          <a:p>
            <a:r>
              <a:rPr lang="en-US" dirty="0"/>
              <a:t>SAT: given a expression, is there a </a:t>
            </a:r>
            <a:r>
              <a:rPr lang="en-US" dirty="0" err="1"/>
              <a:t>satisfiable</a:t>
            </a:r>
            <a:r>
              <a:rPr lang="en-US" dirty="0"/>
              <a:t> set of truth assignments?</a:t>
            </a:r>
          </a:p>
          <a:p>
            <a:pPr lvl="1"/>
            <a:r>
              <a:rPr lang="en-US" dirty="0"/>
              <a:t>To prove a ‘yes’ instance, you just (quickly) check a given (correct) answer (polynomial time)</a:t>
            </a:r>
          </a:p>
          <a:p>
            <a:pPr lvl="1"/>
            <a:r>
              <a:rPr lang="en-US" dirty="0"/>
              <a:t>To prove there are no instances, you must show for all (exponential time)</a:t>
            </a:r>
          </a:p>
          <a:p>
            <a:r>
              <a:rPr lang="en-US" dirty="0"/>
              <a:t>co-SAT: given an expression, are there </a:t>
            </a:r>
            <a:r>
              <a:rPr lang="en-US" i="1" dirty="0"/>
              <a:t>no</a:t>
            </a:r>
            <a:r>
              <a:rPr lang="en-US" dirty="0"/>
              <a:t> </a:t>
            </a:r>
            <a:r>
              <a:rPr lang="en-US" dirty="0" err="1"/>
              <a:t>satisfiable</a:t>
            </a:r>
            <a:r>
              <a:rPr lang="en-US" dirty="0"/>
              <a:t> set of truth assignments?</a:t>
            </a:r>
          </a:p>
          <a:p>
            <a:pPr lvl="1"/>
            <a:r>
              <a:rPr lang="en-US" dirty="0"/>
              <a:t>To prove a ‘no’ instance (which means there </a:t>
            </a:r>
            <a:r>
              <a:rPr lang="en-US" i="1" dirty="0"/>
              <a:t>is</a:t>
            </a:r>
            <a:r>
              <a:rPr lang="en-US" dirty="0"/>
              <a:t> a </a:t>
            </a:r>
            <a:r>
              <a:rPr lang="en-US" dirty="0" err="1"/>
              <a:t>satisfiable</a:t>
            </a:r>
            <a:r>
              <a:rPr lang="en-US" dirty="0"/>
              <a:t> truth assignment), we just (quickly) check a given (correct) answer (polynomial time)</a:t>
            </a:r>
          </a:p>
          <a:p>
            <a:pPr lvl="1"/>
            <a:r>
              <a:rPr lang="en-US" dirty="0"/>
              <a:t>To prove ‘yes’, you must show for all (exponential time)</a:t>
            </a:r>
          </a:p>
        </p:txBody>
      </p:sp>
    </p:spTree>
    <p:extLst>
      <p:ext uri="{BB962C8B-B14F-4D97-AF65-F5344CB8AC3E}">
        <p14:creationId xmlns:p14="http://schemas.microsoft.com/office/powerpoint/2010/main" val="3564538425"/>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co-NP</a:t>
            </a:r>
          </a:p>
        </p:txBody>
      </p:sp>
      <p:sp>
        <p:nvSpPr>
          <p:cNvPr id="4" name="Slide Number Placeholder 3"/>
          <p:cNvSpPr>
            <a:spLocks noGrp="1"/>
          </p:cNvSpPr>
          <p:nvPr>
            <p:ph type="sldNum" sz="quarter" idx="12"/>
          </p:nvPr>
        </p:nvSpPr>
        <p:spPr/>
        <p:txBody>
          <a:bodyPr/>
          <a:lstStyle/>
          <a:p>
            <a:fld id="{A8D2B1A1-9A82-492A-87A6-500459A044C8}" type="slidenum">
              <a:rPr lang="en-US" smtClean="0"/>
              <a:pPr/>
              <a:t>119</a:t>
            </a:fld>
            <a:endParaRPr lang="en-US"/>
          </a:p>
        </p:txBody>
      </p:sp>
      <p:sp>
        <p:nvSpPr>
          <p:cNvPr id="3" name="Content Placeholder 2"/>
          <p:cNvSpPr>
            <a:spLocks noGrp="1"/>
          </p:cNvSpPr>
          <p:nvPr>
            <p:ph sz="quarter" idx="1"/>
          </p:nvPr>
        </p:nvSpPr>
        <p:spPr/>
        <p:txBody>
          <a:bodyPr/>
          <a:lstStyle/>
          <a:p>
            <a:r>
              <a:rPr lang="en-US" dirty="0"/>
              <a:t>Consider subset-sum: given a finite set of integers, is there a non-empty subset which sums to zero?</a:t>
            </a:r>
          </a:p>
          <a:p>
            <a:pPr lvl="1"/>
            <a:r>
              <a:rPr lang="en-US" dirty="0"/>
              <a:t>To prove a ‘yes’, specify the non-empty subset</a:t>
            </a:r>
          </a:p>
          <a:p>
            <a:r>
              <a:rPr lang="en-US" dirty="0"/>
              <a:t>The complement asks, “given a finite set of integers, does every non-empty subset have non-zero sum?”</a:t>
            </a:r>
          </a:p>
          <a:p>
            <a:pPr lvl="1"/>
            <a:r>
              <a:rPr lang="en-US" dirty="0"/>
              <a:t>To prove a ‘no’, specify a non-empty subset</a:t>
            </a:r>
          </a:p>
        </p:txBody>
      </p:sp>
    </p:spTree>
    <p:extLst>
      <p:ext uri="{BB962C8B-B14F-4D97-AF65-F5344CB8AC3E}">
        <p14:creationId xmlns:p14="http://schemas.microsoft.com/office/powerpoint/2010/main" val="3900341741"/>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 is closed under complement</a:t>
            </a:r>
          </a:p>
        </p:txBody>
      </p:sp>
      <p:sp>
        <p:nvSpPr>
          <p:cNvPr id="4" name="Slide Number Placeholder 3"/>
          <p:cNvSpPr>
            <a:spLocks noGrp="1"/>
          </p:cNvSpPr>
          <p:nvPr>
            <p:ph type="sldNum" sz="quarter" idx="12"/>
          </p:nvPr>
        </p:nvSpPr>
        <p:spPr/>
        <p:txBody>
          <a:bodyPr/>
          <a:lstStyle/>
          <a:p>
            <a:fld id="{A8D2B1A1-9A82-492A-87A6-500459A044C8}" type="slidenum">
              <a:rPr lang="en-US" smtClean="0"/>
              <a:pPr/>
              <a:t>120</a:t>
            </a:fld>
            <a:endParaRPr lang="en-US"/>
          </a:p>
        </p:txBody>
      </p:sp>
      <p:sp>
        <p:nvSpPr>
          <p:cNvPr id="3" name="Content Placeholder 2"/>
          <p:cNvSpPr>
            <a:spLocks noGrp="1"/>
          </p:cNvSpPr>
          <p:nvPr>
            <p:ph sz="quarter" idx="1"/>
          </p:nvPr>
        </p:nvSpPr>
        <p:spPr/>
        <p:txBody>
          <a:bodyPr/>
          <a:lstStyle/>
          <a:p>
            <a:r>
              <a:rPr lang="en-US" dirty="0"/>
              <a:t>Meaning P = P’</a:t>
            </a:r>
          </a:p>
          <a:p>
            <a:r>
              <a:rPr lang="en-US" dirty="0"/>
              <a:t>For problems in P: finding a ‘yes’ instance or finding there are no instances are both polynomial time</a:t>
            </a:r>
          </a:p>
          <a:p>
            <a:r>
              <a:rPr lang="en-US" dirty="0"/>
              <a:t>For problems in P’: finding a ‘no’ instance or finding there are yes instances are both polynomial time</a:t>
            </a:r>
          </a:p>
          <a:p>
            <a:r>
              <a:rPr lang="en-US" dirty="0"/>
              <a:t>For NP/co-NP, one way was exponential</a:t>
            </a:r>
          </a:p>
        </p:txBody>
      </p:sp>
    </p:spTree>
    <p:extLst>
      <p:ext uri="{BB962C8B-B14F-4D97-AF65-F5344CB8AC3E}">
        <p14:creationId xmlns:p14="http://schemas.microsoft.com/office/powerpoint/2010/main" val="2530362817"/>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Does NP = co-NP?</a:t>
            </a:r>
          </a:p>
        </p:txBody>
      </p:sp>
      <p:sp>
        <p:nvSpPr>
          <p:cNvPr id="4" name="Slide Number Placeholder 3"/>
          <p:cNvSpPr>
            <a:spLocks noGrp="1"/>
          </p:cNvSpPr>
          <p:nvPr>
            <p:ph type="sldNum" sz="quarter" idx="12"/>
          </p:nvPr>
        </p:nvSpPr>
        <p:spPr/>
        <p:txBody>
          <a:bodyPr/>
          <a:lstStyle/>
          <a:p>
            <a:fld id="{A8D2B1A1-9A82-492A-87A6-500459A044C8}" type="slidenum">
              <a:rPr lang="en-US" smtClean="0"/>
              <a:pPr/>
              <a:t>121</a:t>
            </a:fld>
            <a:endParaRPr lang="en-US"/>
          </a:p>
        </p:txBody>
      </p:sp>
      <p:sp>
        <p:nvSpPr>
          <p:cNvPr id="3" name="Content Placeholder 2"/>
          <p:cNvSpPr>
            <a:spLocks noGrp="1"/>
          </p:cNvSpPr>
          <p:nvPr>
            <p:ph sz="quarter" idx="1"/>
          </p:nvPr>
        </p:nvSpPr>
        <p:spPr/>
        <p:txBody>
          <a:bodyPr/>
          <a:lstStyle/>
          <a:p>
            <a:r>
              <a:rPr lang="en-US" dirty="0"/>
              <a:t>We don’t know for sure</a:t>
            </a:r>
          </a:p>
          <a:p>
            <a:r>
              <a:rPr lang="en-US" dirty="0"/>
              <a:t>We know that P </a:t>
            </a:r>
            <a:r>
              <a:rPr lang="en-US" dirty="0">
                <a:sym typeface="Symbol"/>
              </a:rPr>
              <a:t> NP</a:t>
            </a:r>
          </a:p>
          <a:p>
            <a:r>
              <a:rPr lang="en-US" dirty="0">
                <a:sym typeface="Symbol"/>
              </a:rPr>
              <a:t>Likewise, P  co-NP</a:t>
            </a:r>
          </a:p>
          <a:p>
            <a:pPr lvl="1"/>
            <a:r>
              <a:rPr lang="en-US" dirty="0">
                <a:sym typeface="Symbol"/>
              </a:rPr>
              <a:t>Given a problem in P, it’s complement P’ is also in P</a:t>
            </a:r>
          </a:p>
          <a:p>
            <a:pPr lvl="1"/>
            <a:r>
              <a:rPr lang="en-US" dirty="0">
                <a:sym typeface="Symbol"/>
              </a:rPr>
              <a:t>P’ is in co-NP</a:t>
            </a:r>
          </a:p>
          <a:p>
            <a:pPr lvl="1"/>
            <a:r>
              <a:rPr lang="en-US" dirty="0">
                <a:sym typeface="Symbol"/>
              </a:rPr>
              <a:t>Thus P  co-NP</a:t>
            </a:r>
            <a:endParaRPr lang="en-US" dirty="0"/>
          </a:p>
        </p:txBody>
      </p:sp>
    </p:spTree>
    <p:extLst>
      <p:ext uri="{BB962C8B-B14F-4D97-AF65-F5344CB8AC3E}">
        <p14:creationId xmlns:p14="http://schemas.microsoft.com/office/powerpoint/2010/main" val="2113784808"/>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NP and co-NP</a:t>
            </a:r>
            <a:endParaRPr lang="en-US" dirty="0"/>
          </a:p>
        </p:txBody>
      </p:sp>
      <p:sp>
        <p:nvSpPr>
          <p:cNvPr id="4" name="Slide Number Placeholder 3"/>
          <p:cNvSpPr>
            <a:spLocks noGrp="1"/>
          </p:cNvSpPr>
          <p:nvPr>
            <p:ph type="sldNum" sz="quarter" idx="12"/>
          </p:nvPr>
        </p:nvSpPr>
        <p:spPr/>
        <p:txBody>
          <a:bodyPr/>
          <a:lstStyle/>
          <a:p>
            <a:fld id="{A8D2B1A1-9A82-492A-87A6-500459A044C8}" type="slidenum">
              <a:rPr lang="en-US" smtClean="0"/>
              <a:pPr/>
              <a:t>122</a:t>
            </a:fld>
            <a:endParaRPr lang="en-US"/>
          </a:p>
        </p:txBody>
      </p:sp>
      <p:sp>
        <p:nvSpPr>
          <p:cNvPr id="3" name="Content Placeholder 2"/>
          <p:cNvSpPr>
            <a:spLocks noGrp="1"/>
          </p:cNvSpPr>
          <p:nvPr>
            <p:ph sz="quarter" idx="1"/>
          </p:nvPr>
        </p:nvSpPr>
        <p:spPr/>
        <p:txBody>
          <a:bodyPr>
            <a:normAutofit fontScale="55000" lnSpcReduction="20000"/>
          </a:bodyPr>
          <a:lstStyle/>
          <a:p>
            <a:r>
              <a:rPr lang="en-US" dirty="0"/>
              <a:t>We’ll show that if P = NP then NP = co-NP</a:t>
            </a:r>
          </a:p>
          <a:p>
            <a:pPr lvl="1"/>
            <a:r>
              <a:rPr lang="en-US" dirty="0"/>
              <a:t>We don’t think that P = NP, but we can still show the conditional is true</a:t>
            </a:r>
          </a:p>
          <a:p>
            <a:r>
              <a:rPr lang="en-US" dirty="0"/>
              <a:t>Assume P = NP…</a:t>
            </a:r>
          </a:p>
          <a:p>
            <a:r>
              <a:rPr lang="en-US" dirty="0"/>
              <a:t>Let X </a:t>
            </a:r>
            <a:r>
              <a:rPr lang="en-US" dirty="0">
                <a:sym typeface="Symbol"/>
              </a:rPr>
              <a:t>NP</a:t>
            </a:r>
          </a:p>
          <a:p>
            <a:r>
              <a:rPr lang="en-US" dirty="0">
                <a:sym typeface="Symbol"/>
              </a:rPr>
              <a:t>Then, X  P		because P=NP</a:t>
            </a:r>
          </a:p>
          <a:p>
            <a:r>
              <a:rPr lang="en-US" dirty="0">
                <a:sym typeface="Symbol"/>
              </a:rPr>
              <a:t>X’  P 		because P closed under complement</a:t>
            </a:r>
          </a:p>
          <a:p>
            <a:r>
              <a:rPr lang="en-US" dirty="0">
                <a:sym typeface="Symbol"/>
              </a:rPr>
              <a:t>X’  NP		because P=NP</a:t>
            </a:r>
          </a:p>
          <a:p>
            <a:r>
              <a:rPr lang="en-US" dirty="0">
                <a:sym typeface="Symbol"/>
              </a:rPr>
              <a:t>X  co-NP		because definition of co-NP</a:t>
            </a:r>
          </a:p>
          <a:p>
            <a:pPr lvl="1"/>
            <a:r>
              <a:rPr lang="en-US" dirty="0">
                <a:sym typeface="Symbol"/>
              </a:rPr>
              <a:t>Same Exact argument backwards for the other way</a:t>
            </a:r>
          </a:p>
          <a:p>
            <a:endParaRPr lang="en-US" dirty="0">
              <a:sym typeface="Symbol"/>
            </a:endParaRPr>
          </a:p>
          <a:p>
            <a:r>
              <a:rPr lang="en-US" dirty="0">
                <a:sym typeface="Symbol"/>
              </a:rPr>
              <a:t>Thus, if </a:t>
            </a:r>
            <a:r>
              <a:rPr lang="en-US" dirty="0"/>
              <a:t>P = NP then NP = co-NP</a:t>
            </a:r>
          </a:p>
          <a:p>
            <a:endParaRPr lang="en-US" dirty="0"/>
          </a:p>
        </p:txBody>
      </p:sp>
    </p:spTree>
    <p:extLst>
      <p:ext uri="{BB962C8B-B14F-4D97-AF65-F5344CB8AC3E}">
        <p14:creationId xmlns:p14="http://schemas.microsoft.com/office/powerpoint/2010/main" val="31472288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down)">
                                      <p:cBhvr>
                                        <p:cTn id="7" dur="500"/>
                                        <p:tgtEl>
                                          <p:spTgt spid="3">
                                            <p:txEl>
                                              <p:pRg st="0" end="0"/>
                                            </p:txEl>
                                          </p:spTgt>
                                        </p:tgtEl>
                                      </p:cBhvr>
                                    </p:animEffect>
                                  </p:childTnLst>
                                </p:cTn>
                              </p:par>
                              <p:par>
                                <p:cTn id="8" presetID="22" presetClass="entr" presetSubtype="4" fill="hold" grpId="0" nodeType="withEffect">
                                  <p:stCondLst>
                                    <p:cond delay="0"/>
                                  </p:stCondLst>
                                  <p:childTnLst>
                                    <p:set>
                                      <p:cBhvr>
                                        <p:cTn id="9" dur="1" fill="hold">
                                          <p:stCondLst>
                                            <p:cond delay="0"/>
                                          </p:stCondLst>
                                        </p:cTn>
                                        <p:tgtEl>
                                          <p:spTgt spid="3">
                                            <p:txEl>
                                              <p:pRg st="1" end="1"/>
                                            </p:txEl>
                                          </p:spTgt>
                                        </p:tgtEl>
                                        <p:attrNameLst>
                                          <p:attrName>style.visibility</p:attrName>
                                        </p:attrNameLst>
                                      </p:cBhvr>
                                      <p:to>
                                        <p:strVal val="visible"/>
                                      </p:to>
                                    </p:set>
                                    <p:animEffect transition="in" filter="wipe(down)">
                                      <p:cBhvr>
                                        <p:cTn id="10" dur="500"/>
                                        <p:tgtEl>
                                          <p:spTgt spid="3">
                                            <p:txEl>
                                              <p:pRg st="1" end="1"/>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22" presetClass="entr" presetSubtype="4"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wipe(down)">
                                      <p:cBhvr>
                                        <p:cTn id="15" dur="500"/>
                                        <p:tgtEl>
                                          <p:spTgt spid="3">
                                            <p:txEl>
                                              <p:pRg st="2" end="2"/>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4" fill="hold" grpId="0" nodeType="clickEffect">
                                  <p:stCondLst>
                                    <p:cond delay="0"/>
                                  </p:stCondLst>
                                  <p:childTnLst>
                                    <p:set>
                                      <p:cBhvr>
                                        <p:cTn id="19" dur="1" fill="hold">
                                          <p:stCondLst>
                                            <p:cond delay="0"/>
                                          </p:stCondLst>
                                        </p:cTn>
                                        <p:tgtEl>
                                          <p:spTgt spid="3">
                                            <p:txEl>
                                              <p:pRg st="3" end="3"/>
                                            </p:txEl>
                                          </p:spTgt>
                                        </p:tgtEl>
                                        <p:attrNameLst>
                                          <p:attrName>style.visibility</p:attrName>
                                        </p:attrNameLst>
                                      </p:cBhvr>
                                      <p:to>
                                        <p:strVal val="visible"/>
                                      </p:to>
                                    </p:set>
                                    <p:animEffect transition="in" filter="wipe(down)">
                                      <p:cBhvr>
                                        <p:cTn id="20" dur="500"/>
                                        <p:tgtEl>
                                          <p:spTgt spid="3">
                                            <p:txEl>
                                              <p:pRg st="3" end="3"/>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4" fill="hold" grpId="0" nodeType="clickEffect">
                                  <p:stCondLst>
                                    <p:cond delay="0"/>
                                  </p:stCondLst>
                                  <p:childTnLst>
                                    <p:set>
                                      <p:cBhvr>
                                        <p:cTn id="24" dur="1" fill="hold">
                                          <p:stCondLst>
                                            <p:cond delay="0"/>
                                          </p:stCondLst>
                                        </p:cTn>
                                        <p:tgtEl>
                                          <p:spTgt spid="3">
                                            <p:txEl>
                                              <p:pRg st="4" end="4"/>
                                            </p:txEl>
                                          </p:spTgt>
                                        </p:tgtEl>
                                        <p:attrNameLst>
                                          <p:attrName>style.visibility</p:attrName>
                                        </p:attrNameLst>
                                      </p:cBhvr>
                                      <p:to>
                                        <p:strVal val="visible"/>
                                      </p:to>
                                    </p:set>
                                    <p:animEffect transition="in" filter="wipe(down)">
                                      <p:cBhvr>
                                        <p:cTn id="25" dur="500"/>
                                        <p:tgtEl>
                                          <p:spTgt spid="3">
                                            <p:txEl>
                                              <p:pRg st="4" end="4"/>
                                            </p:txEl>
                                          </p:spTgt>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4" fill="hold" grpId="0" nodeType="clickEffect">
                                  <p:stCondLst>
                                    <p:cond delay="0"/>
                                  </p:stCondLst>
                                  <p:childTnLst>
                                    <p:set>
                                      <p:cBhvr>
                                        <p:cTn id="29" dur="1" fill="hold">
                                          <p:stCondLst>
                                            <p:cond delay="0"/>
                                          </p:stCondLst>
                                        </p:cTn>
                                        <p:tgtEl>
                                          <p:spTgt spid="3">
                                            <p:txEl>
                                              <p:pRg st="5" end="5"/>
                                            </p:txEl>
                                          </p:spTgt>
                                        </p:tgtEl>
                                        <p:attrNameLst>
                                          <p:attrName>style.visibility</p:attrName>
                                        </p:attrNameLst>
                                      </p:cBhvr>
                                      <p:to>
                                        <p:strVal val="visible"/>
                                      </p:to>
                                    </p:set>
                                    <p:animEffect transition="in" filter="wipe(down)">
                                      <p:cBhvr>
                                        <p:cTn id="30" dur="500"/>
                                        <p:tgtEl>
                                          <p:spTgt spid="3">
                                            <p:txEl>
                                              <p:pRg st="5" end="5"/>
                                            </p:txEl>
                                          </p:spTgt>
                                        </p:tgtEl>
                                      </p:cBhvr>
                                    </p:animEffect>
                                  </p:childTnLst>
                                </p:cTn>
                              </p:par>
                            </p:childTnLst>
                          </p:cTn>
                        </p:par>
                      </p:childTnLst>
                    </p:cTn>
                  </p:par>
                  <p:par>
                    <p:cTn id="31" fill="hold">
                      <p:stCondLst>
                        <p:cond delay="indefinite"/>
                      </p:stCondLst>
                      <p:childTnLst>
                        <p:par>
                          <p:cTn id="32" fill="hold">
                            <p:stCondLst>
                              <p:cond delay="0"/>
                            </p:stCondLst>
                            <p:childTnLst>
                              <p:par>
                                <p:cTn id="33" presetID="22" presetClass="entr" presetSubtype="4" fill="hold" grpId="0" nodeType="clickEffect">
                                  <p:stCondLst>
                                    <p:cond delay="0"/>
                                  </p:stCondLst>
                                  <p:childTnLst>
                                    <p:set>
                                      <p:cBhvr>
                                        <p:cTn id="34" dur="1" fill="hold">
                                          <p:stCondLst>
                                            <p:cond delay="0"/>
                                          </p:stCondLst>
                                        </p:cTn>
                                        <p:tgtEl>
                                          <p:spTgt spid="3">
                                            <p:txEl>
                                              <p:pRg st="6" end="6"/>
                                            </p:txEl>
                                          </p:spTgt>
                                        </p:tgtEl>
                                        <p:attrNameLst>
                                          <p:attrName>style.visibility</p:attrName>
                                        </p:attrNameLst>
                                      </p:cBhvr>
                                      <p:to>
                                        <p:strVal val="visible"/>
                                      </p:to>
                                    </p:set>
                                    <p:animEffect transition="in" filter="wipe(down)">
                                      <p:cBhvr>
                                        <p:cTn id="35" dur="500"/>
                                        <p:tgtEl>
                                          <p:spTgt spid="3">
                                            <p:txEl>
                                              <p:pRg st="6" end="6"/>
                                            </p:txEl>
                                          </p:spTgt>
                                        </p:tgtEl>
                                      </p:cBhvr>
                                    </p:animEffect>
                                  </p:childTnLst>
                                </p:cTn>
                              </p:par>
                            </p:childTnLst>
                          </p:cTn>
                        </p:par>
                      </p:childTnLst>
                    </p:cTn>
                  </p:par>
                  <p:par>
                    <p:cTn id="36" fill="hold">
                      <p:stCondLst>
                        <p:cond delay="indefinite"/>
                      </p:stCondLst>
                      <p:childTnLst>
                        <p:par>
                          <p:cTn id="37" fill="hold">
                            <p:stCondLst>
                              <p:cond delay="0"/>
                            </p:stCondLst>
                            <p:childTnLst>
                              <p:par>
                                <p:cTn id="38" presetID="22" presetClass="entr" presetSubtype="4" fill="hold" grpId="0" nodeType="clickEffect">
                                  <p:stCondLst>
                                    <p:cond delay="0"/>
                                  </p:stCondLst>
                                  <p:childTnLst>
                                    <p:set>
                                      <p:cBhvr>
                                        <p:cTn id="39" dur="1" fill="hold">
                                          <p:stCondLst>
                                            <p:cond delay="0"/>
                                          </p:stCondLst>
                                        </p:cTn>
                                        <p:tgtEl>
                                          <p:spTgt spid="3">
                                            <p:txEl>
                                              <p:pRg st="7" end="7"/>
                                            </p:txEl>
                                          </p:spTgt>
                                        </p:tgtEl>
                                        <p:attrNameLst>
                                          <p:attrName>style.visibility</p:attrName>
                                        </p:attrNameLst>
                                      </p:cBhvr>
                                      <p:to>
                                        <p:strVal val="visible"/>
                                      </p:to>
                                    </p:set>
                                    <p:animEffect transition="in" filter="wipe(down)">
                                      <p:cBhvr>
                                        <p:cTn id="40" dur="500"/>
                                        <p:tgtEl>
                                          <p:spTgt spid="3">
                                            <p:txEl>
                                              <p:pRg st="7" end="7"/>
                                            </p:txEl>
                                          </p:spTgt>
                                        </p:tgtEl>
                                      </p:cBhvr>
                                    </p:animEffect>
                                  </p:childTnLst>
                                </p:cTn>
                              </p:par>
                              <p:par>
                                <p:cTn id="41" presetID="22" presetClass="entr" presetSubtype="4" fill="hold" grpId="0" nodeType="withEffect">
                                  <p:stCondLst>
                                    <p:cond delay="0"/>
                                  </p:stCondLst>
                                  <p:childTnLst>
                                    <p:set>
                                      <p:cBhvr>
                                        <p:cTn id="42" dur="1" fill="hold">
                                          <p:stCondLst>
                                            <p:cond delay="0"/>
                                          </p:stCondLst>
                                        </p:cTn>
                                        <p:tgtEl>
                                          <p:spTgt spid="3">
                                            <p:txEl>
                                              <p:pRg st="8" end="8"/>
                                            </p:txEl>
                                          </p:spTgt>
                                        </p:tgtEl>
                                        <p:attrNameLst>
                                          <p:attrName>style.visibility</p:attrName>
                                        </p:attrNameLst>
                                      </p:cBhvr>
                                      <p:to>
                                        <p:strVal val="visible"/>
                                      </p:to>
                                    </p:set>
                                    <p:animEffect transition="in" filter="wipe(down)">
                                      <p:cBhvr>
                                        <p:cTn id="43" dur="500"/>
                                        <p:tgtEl>
                                          <p:spTgt spid="3">
                                            <p:txEl>
                                              <p:pRg st="8" end="8"/>
                                            </p:txEl>
                                          </p:spTgt>
                                        </p:tgtEl>
                                      </p:cBhvr>
                                    </p:animEffect>
                                  </p:childTnLst>
                                </p:cTn>
                              </p:par>
                            </p:childTnLst>
                          </p:cTn>
                        </p:par>
                      </p:childTnLst>
                    </p:cTn>
                  </p:par>
                  <p:par>
                    <p:cTn id="44" fill="hold">
                      <p:stCondLst>
                        <p:cond delay="indefinite"/>
                      </p:stCondLst>
                      <p:childTnLst>
                        <p:par>
                          <p:cTn id="45" fill="hold">
                            <p:stCondLst>
                              <p:cond delay="0"/>
                            </p:stCondLst>
                            <p:childTnLst>
                              <p:par>
                                <p:cTn id="46" presetID="22" presetClass="entr" presetSubtype="4" fill="hold" grpId="0" nodeType="clickEffect">
                                  <p:stCondLst>
                                    <p:cond delay="0"/>
                                  </p:stCondLst>
                                  <p:childTnLst>
                                    <p:set>
                                      <p:cBhvr>
                                        <p:cTn id="47" dur="1" fill="hold">
                                          <p:stCondLst>
                                            <p:cond delay="0"/>
                                          </p:stCondLst>
                                        </p:cTn>
                                        <p:tgtEl>
                                          <p:spTgt spid="3">
                                            <p:txEl>
                                              <p:pRg st="10" end="10"/>
                                            </p:txEl>
                                          </p:spTgt>
                                        </p:tgtEl>
                                        <p:attrNameLst>
                                          <p:attrName>style.visibility</p:attrName>
                                        </p:attrNameLst>
                                      </p:cBhvr>
                                      <p:to>
                                        <p:strVal val="visible"/>
                                      </p:to>
                                    </p:set>
                                    <p:animEffect transition="in" filter="wipe(down)">
                                      <p:cBhvr>
                                        <p:cTn id="48" dur="500"/>
                                        <p:tgtEl>
                                          <p:spTgt spid="3">
                                            <p:txEl>
                                              <p:pRg st="10" end="1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lstStyle/>
          <a:p>
            <a:pPr algn="ctr"/>
            <a:r>
              <a:rPr lang="en-US" dirty="0"/>
              <a:t>Conclusions / Other Complexity classes</a:t>
            </a:r>
          </a:p>
        </p:txBody>
      </p:sp>
    </p:spTree>
    <p:extLst>
      <p:ext uri="{BB962C8B-B14F-4D97-AF65-F5344CB8AC3E}">
        <p14:creationId xmlns:p14="http://schemas.microsoft.com/office/powerpoint/2010/main" val="921080999"/>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41413" y="411690"/>
            <a:ext cx="9905998" cy="785739"/>
          </a:xfrm>
        </p:spPr>
        <p:txBody>
          <a:bodyPr>
            <a:normAutofit/>
          </a:bodyPr>
          <a:lstStyle/>
          <a:p>
            <a:r>
              <a:rPr lang="en-US" dirty="0"/>
              <a:t>A couple complexity classes we won’t see:</a:t>
            </a:r>
          </a:p>
        </p:txBody>
      </p:sp>
      <p:sp>
        <p:nvSpPr>
          <p:cNvPr id="4" name="Content Placeholder 3"/>
          <p:cNvSpPr>
            <a:spLocks noGrp="1"/>
          </p:cNvSpPr>
          <p:nvPr>
            <p:ph sz="quarter" idx="1"/>
          </p:nvPr>
        </p:nvSpPr>
        <p:spPr>
          <a:xfrm>
            <a:off x="4271055" y="1277711"/>
            <a:ext cx="3646714" cy="4183970"/>
          </a:xfrm>
          <a:ln>
            <a:solidFill>
              <a:schemeClr val="tx1">
                <a:lumMod val="95000"/>
              </a:schemeClr>
            </a:solidFill>
          </a:ln>
        </p:spPr>
        <p:txBody>
          <a:bodyPr>
            <a:normAutofit fontScale="70000" lnSpcReduction="20000"/>
          </a:bodyPr>
          <a:lstStyle/>
          <a:p>
            <a:r>
              <a:rPr lang="en-US" dirty="0"/>
              <a:t>EXPTIME</a:t>
            </a:r>
          </a:p>
          <a:p>
            <a:pPr lvl="1"/>
            <a:r>
              <a:rPr lang="en-US" dirty="0"/>
              <a:t>Deterministic exponential time</a:t>
            </a:r>
          </a:p>
          <a:p>
            <a:r>
              <a:rPr lang="en-US" dirty="0"/>
              <a:t>NEXPTIME</a:t>
            </a:r>
          </a:p>
          <a:p>
            <a:pPr lvl="1"/>
            <a:r>
              <a:rPr lang="en-US" dirty="0"/>
              <a:t>Non-Deterministic exponential time</a:t>
            </a:r>
          </a:p>
          <a:p>
            <a:r>
              <a:rPr lang="en-US" dirty="0"/>
              <a:t>PSPACE</a:t>
            </a:r>
          </a:p>
          <a:p>
            <a:pPr lvl="1"/>
            <a:r>
              <a:rPr lang="en-US" dirty="0"/>
              <a:t>Deterministic Polynomial Space</a:t>
            </a:r>
          </a:p>
          <a:p>
            <a:r>
              <a:rPr lang="en-US" dirty="0"/>
              <a:t>NPSPACE</a:t>
            </a:r>
          </a:p>
          <a:p>
            <a:pPr lvl="1"/>
            <a:r>
              <a:rPr lang="en-US" dirty="0"/>
              <a:t>Non-Deterministic Polynomial Space</a:t>
            </a:r>
          </a:p>
          <a:p>
            <a:r>
              <a:rPr lang="en-US" dirty="0"/>
              <a:t>EXPSPACE</a:t>
            </a:r>
          </a:p>
          <a:p>
            <a:pPr lvl="1"/>
            <a:r>
              <a:rPr lang="en-US" dirty="0"/>
              <a:t>Deterministic Exponential Space</a:t>
            </a:r>
          </a:p>
          <a:p>
            <a:r>
              <a:rPr lang="en-US" dirty="0"/>
              <a:t>NEXPSPACE</a:t>
            </a:r>
          </a:p>
          <a:p>
            <a:pPr lvl="1"/>
            <a:r>
              <a:rPr lang="en-US" dirty="0"/>
              <a:t>Non-Deterministic Exponential Space</a:t>
            </a:r>
          </a:p>
        </p:txBody>
      </p:sp>
      <p:sp>
        <p:nvSpPr>
          <p:cNvPr id="5" name="Content Placeholder 3">
            <a:extLst>
              <a:ext uri="{FF2B5EF4-FFF2-40B4-BE49-F238E27FC236}">
                <a16:creationId xmlns:a16="http://schemas.microsoft.com/office/drawing/2014/main" id="{1FE1F52F-C8DE-6547-98A1-CA6DE7B60063}"/>
              </a:ext>
            </a:extLst>
          </p:cNvPr>
          <p:cNvSpPr txBox="1">
            <a:spLocks/>
          </p:cNvSpPr>
          <p:nvPr/>
        </p:nvSpPr>
        <p:spPr>
          <a:xfrm>
            <a:off x="1435327" y="5751169"/>
            <a:ext cx="5956074" cy="885599"/>
          </a:xfrm>
          <a:prstGeom prst="rect">
            <a:avLst/>
          </a:prstGeom>
        </p:spPr>
        <p:txBody>
          <a:bodyPr vert="horz" lIns="91440" tIns="45720" rIns="91440" bIns="45720" rtlCol="0">
            <a:normAutofit fontScale="85000"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t>PSPACE = NPSPACE and EXPSPACE = NEXPSPACE</a:t>
            </a:r>
          </a:p>
          <a:p>
            <a:pPr marL="0" indent="0">
              <a:buFont typeface="Arial" panose="020B0604020202020204" pitchFamily="34" charset="0"/>
              <a:buNone/>
            </a:pPr>
            <a:r>
              <a:rPr lang="en-US" dirty="0"/>
              <a:t>(WOAH! That’s pretty cool!)</a:t>
            </a:r>
          </a:p>
        </p:txBody>
      </p:sp>
    </p:spTree>
    <p:extLst>
      <p:ext uri="{BB962C8B-B14F-4D97-AF65-F5344CB8AC3E}">
        <p14:creationId xmlns:p14="http://schemas.microsoft.com/office/powerpoint/2010/main" val="3635100473"/>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41413" y="247329"/>
            <a:ext cx="9905998" cy="658021"/>
          </a:xfrm>
        </p:spPr>
        <p:txBody>
          <a:bodyPr/>
          <a:lstStyle/>
          <a:p>
            <a:pPr algn="ctr"/>
            <a:r>
              <a:rPr lang="en-US" dirty="0"/>
              <a:t>Complexity class diagram</a:t>
            </a:r>
          </a:p>
        </p:txBody>
      </p:sp>
      <p:pic>
        <p:nvPicPr>
          <p:cNvPr id="1026" name="Picture 2"/>
          <p:cNvPicPr>
            <a:picLocks noChangeAspect="1" noChangeArrowheads="1"/>
          </p:cNvPicPr>
          <p:nvPr/>
        </p:nvPicPr>
        <p:blipFill>
          <a:blip r:embed="rId2" cstate="print"/>
          <a:srcRect/>
          <a:stretch>
            <a:fillRect/>
          </a:stretch>
        </p:blipFill>
        <p:spPr bwMode="auto">
          <a:xfrm>
            <a:off x="3042263" y="1011725"/>
            <a:ext cx="6104297" cy="5504453"/>
          </a:xfrm>
          <a:prstGeom prst="rect">
            <a:avLst/>
          </a:prstGeom>
          <a:noFill/>
          <a:ln w="9525">
            <a:noFill/>
            <a:miter lim="800000"/>
            <a:headEnd/>
            <a:tailEnd/>
          </a:ln>
        </p:spPr>
      </p:pic>
    </p:spTree>
    <p:extLst>
      <p:ext uri="{BB962C8B-B14F-4D97-AF65-F5344CB8AC3E}">
        <p14:creationId xmlns:p14="http://schemas.microsoft.com/office/powerpoint/2010/main" val="2454422224"/>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3" y="283030"/>
            <a:ext cx="9905998" cy="860425"/>
          </a:xfrm>
        </p:spPr>
        <p:txBody>
          <a:bodyPr/>
          <a:lstStyle/>
          <a:p>
            <a:pPr algn="ctr"/>
            <a:r>
              <a:rPr lang="en-US" dirty="0"/>
              <a:t>Conclusions!</a:t>
            </a:r>
          </a:p>
        </p:txBody>
      </p:sp>
      <p:sp>
        <p:nvSpPr>
          <p:cNvPr id="3" name="Content Placeholder 2">
            <a:extLst>
              <a:ext uri="{FF2B5EF4-FFF2-40B4-BE49-F238E27FC236}">
                <a16:creationId xmlns:a16="http://schemas.microsoft.com/office/drawing/2014/main" id="{14278F5F-F936-6145-9FF8-704886F1A386}"/>
              </a:ext>
            </a:extLst>
          </p:cNvPr>
          <p:cNvSpPr>
            <a:spLocks noGrp="1"/>
          </p:cNvSpPr>
          <p:nvPr>
            <p:ph idx="1"/>
          </p:nvPr>
        </p:nvSpPr>
        <p:spPr>
          <a:xfrm>
            <a:off x="1141412" y="1885939"/>
            <a:ext cx="9905999" cy="933457"/>
          </a:xfrm>
          <a:solidFill>
            <a:schemeClr val="tx1">
              <a:lumMod val="95000"/>
            </a:schemeClr>
          </a:solidFill>
        </p:spPr>
        <p:txBody>
          <a:bodyPr>
            <a:normAutofit lnSpcReduction="10000"/>
          </a:bodyPr>
          <a:lstStyle/>
          <a:p>
            <a:pPr marL="0" indent="0">
              <a:buNone/>
            </a:pPr>
            <a:r>
              <a:rPr lang="en-US" dirty="0">
                <a:solidFill>
                  <a:schemeClr val="bg1"/>
                </a:solidFill>
              </a:rPr>
              <a:t>1. Problem types (function, decision, verification), runtimes of DTMs and NTMs, relationships between DTM and NTM runtimes for types of problems.</a:t>
            </a:r>
          </a:p>
        </p:txBody>
      </p:sp>
      <p:sp>
        <p:nvSpPr>
          <p:cNvPr id="4" name="Content Placeholder 2">
            <a:extLst>
              <a:ext uri="{FF2B5EF4-FFF2-40B4-BE49-F238E27FC236}">
                <a16:creationId xmlns:a16="http://schemas.microsoft.com/office/drawing/2014/main" id="{C3CBD30C-EB51-C249-A8FC-E343315276A6}"/>
              </a:ext>
            </a:extLst>
          </p:cNvPr>
          <p:cNvSpPr txBox="1">
            <a:spLocks/>
          </p:cNvSpPr>
          <p:nvPr/>
        </p:nvSpPr>
        <p:spPr>
          <a:xfrm>
            <a:off x="1141412" y="2979434"/>
            <a:ext cx="9905999" cy="993848"/>
          </a:xfrm>
          <a:prstGeom prst="rect">
            <a:avLst/>
          </a:prstGeom>
          <a:solidFill>
            <a:schemeClr val="tx1">
              <a:lumMod val="95000"/>
            </a:schemeClr>
          </a:solid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solidFill>
                  <a:schemeClr val="bg1"/>
                </a:solidFill>
              </a:rPr>
              <a:t>2. The basic complexity classes (P, NP, NP-Hard, NPC) and how they relate to one another.</a:t>
            </a:r>
          </a:p>
        </p:txBody>
      </p:sp>
      <p:sp>
        <p:nvSpPr>
          <p:cNvPr id="5" name="Content Placeholder 2">
            <a:extLst>
              <a:ext uri="{FF2B5EF4-FFF2-40B4-BE49-F238E27FC236}">
                <a16:creationId xmlns:a16="http://schemas.microsoft.com/office/drawing/2014/main" id="{B98087DF-8BCB-3D46-8C8D-7FA120BFB404}"/>
              </a:ext>
            </a:extLst>
          </p:cNvPr>
          <p:cNvSpPr txBox="1">
            <a:spLocks/>
          </p:cNvSpPr>
          <p:nvPr/>
        </p:nvSpPr>
        <p:spPr>
          <a:xfrm>
            <a:off x="1141411" y="4156766"/>
            <a:ext cx="9905999" cy="1089328"/>
          </a:xfrm>
          <a:prstGeom prst="rect">
            <a:avLst/>
          </a:prstGeom>
          <a:solidFill>
            <a:schemeClr val="tx1">
              <a:lumMod val="95000"/>
            </a:schemeClr>
          </a:solid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solidFill>
                  <a:schemeClr val="bg1"/>
                </a:solidFill>
              </a:rPr>
              <a:t>3. What a reduction is and how it is used to compare the difficulty of two different problems.</a:t>
            </a:r>
          </a:p>
        </p:txBody>
      </p:sp>
      <p:sp>
        <p:nvSpPr>
          <p:cNvPr id="7" name="Content Placeholder 2">
            <a:extLst>
              <a:ext uri="{FF2B5EF4-FFF2-40B4-BE49-F238E27FC236}">
                <a16:creationId xmlns:a16="http://schemas.microsoft.com/office/drawing/2014/main" id="{DE7B2B08-3EDA-9046-8963-2B96D0B684BC}"/>
              </a:ext>
            </a:extLst>
          </p:cNvPr>
          <p:cNvSpPr txBox="1">
            <a:spLocks/>
          </p:cNvSpPr>
          <p:nvPr/>
        </p:nvSpPr>
        <p:spPr>
          <a:xfrm>
            <a:off x="1141411" y="1421754"/>
            <a:ext cx="9905999" cy="494130"/>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800" dirty="0"/>
              <a:t>In this module, we learned:</a:t>
            </a:r>
          </a:p>
        </p:txBody>
      </p:sp>
      <p:sp>
        <p:nvSpPr>
          <p:cNvPr id="8" name="Content Placeholder 2">
            <a:extLst>
              <a:ext uri="{FF2B5EF4-FFF2-40B4-BE49-F238E27FC236}">
                <a16:creationId xmlns:a16="http://schemas.microsoft.com/office/drawing/2014/main" id="{14652770-133A-FE4D-9ADA-CC814F8894E1}"/>
              </a:ext>
            </a:extLst>
          </p:cNvPr>
          <p:cNvSpPr txBox="1">
            <a:spLocks/>
          </p:cNvSpPr>
          <p:nvPr/>
        </p:nvSpPr>
        <p:spPr>
          <a:xfrm>
            <a:off x="1141410" y="5429578"/>
            <a:ext cx="9905999" cy="568447"/>
          </a:xfrm>
          <a:prstGeom prst="rect">
            <a:avLst/>
          </a:prstGeom>
          <a:solidFill>
            <a:schemeClr val="tx1">
              <a:lumMod val="95000"/>
            </a:schemeClr>
          </a:solid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solidFill>
                  <a:schemeClr val="bg1"/>
                </a:solidFill>
              </a:rPr>
              <a:t>4. How to prove that a problem is NP-Complete.</a:t>
            </a:r>
          </a:p>
        </p:txBody>
      </p:sp>
    </p:spTree>
    <p:extLst>
      <p:ext uri="{BB962C8B-B14F-4D97-AF65-F5344CB8AC3E}">
        <p14:creationId xmlns:p14="http://schemas.microsoft.com/office/powerpoint/2010/main" val="3708172178"/>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174E41-47B5-E447-BD83-034530D71311}"/>
              </a:ext>
            </a:extLst>
          </p:cNvPr>
          <p:cNvSpPr>
            <a:spLocks noGrp="1"/>
          </p:cNvSpPr>
          <p:nvPr>
            <p:ph type="title"/>
          </p:nvPr>
        </p:nvSpPr>
        <p:spPr>
          <a:xfrm>
            <a:off x="1141413" y="497138"/>
            <a:ext cx="9905998" cy="797588"/>
          </a:xfrm>
        </p:spPr>
        <p:txBody>
          <a:bodyPr/>
          <a:lstStyle/>
          <a:p>
            <a:pPr algn="ctr"/>
            <a:r>
              <a:rPr lang="en-US" dirty="0"/>
              <a:t>If we have time</a:t>
            </a:r>
          </a:p>
        </p:txBody>
      </p:sp>
      <p:sp>
        <p:nvSpPr>
          <p:cNvPr id="3" name="Content Placeholder 2">
            <a:extLst>
              <a:ext uri="{FF2B5EF4-FFF2-40B4-BE49-F238E27FC236}">
                <a16:creationId xmlns:a16="http://schemas.microsoft.com/office/drawing/2014/main" id="{9360A790-AAF3-5D47-B0B2-879953829CCE}"/>
              </a:ext>
            </a:extLst>
          </p:cNvPr>
          <p:cNvSpPr>
            <a:spLocks noGrp="1"/>
          </p:cNvSpPr>
          <p:nvPr>
            <p:ph idx="1"/>
          </p:nvPr>
        </p:nvSpPr>
        <p:spPr>
          <a:xfrm>
            <a:off x="2890560" y="2408973"/>
            <a:ext cx="6407704" cy="695732"/>
          </a:xfrm>
        </p:spPr>
        <p:txBody>
          <a:bodyPr/>
          <a:lstStyle/>
          <a:p>
            <a:pPr marL="0" indent="0" algn="ctr">
              <a:buNone/>
            </a:pPr>
            <a:r>
              <a:rPr lang="en-US" dirty="0">
                <a:hlinkClick r:id="rId2"/>
              </a:rPr>
              <a:t>https://www.youtube.com/watch?v=oS8m9fSk-Wk</a:t>
            </a:r>
            <a:endParaRPr lang="en-US" dirty="0"/>
          </a:p>
          <a:p>
            <a:pPr marL="0" indent="0">
              <a:buNone/>
            </a:pPr>
            <a:endParaRPr lang="en-US" dirty="0"/>
          </a:p>
        </p:txBody>
      </p:sp>
    </p:spTree>
    <p:extLst>
      <p:ext uri="{BB962C8B-B14F-4D97-AF65-F5344CB8AC3E}">
        <p14:creationId xmlns:p14="http://schemas.microsoft.com/office/powerpoint/2010/main" val="4107411352"/>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Circuit">
  <a:themeElements>
    <a:clrScheme name="Circuit">
      <a:dk1>
        <a:sysClr val="windowText" lastClr="000000"/>
      </a:dk1>
      <a:lt1>
        <a:sysClr val="window" lastClr="FFFFFF"/>
      </a:lt1>
      <a:dk2>
        <a:srgbClr val="252C36"/>
      </a:dk2>
      <a:lt2>
        <a:srgbClr val="7C96A3"/>
      </a:lt2>
      <a:accent1>
        <a:srgbClr val="4FD093"/>
      </a:accent1>
      <a:accent2>
        <a:srgbClr val="54BCDF"/>
      </a:accent2>
      <a:accent3>
        <a:srgbClr val="A262D0"/>
      </a:accent3>
      <a:accent4>
        <a:srgbClr val="D7537B"/>
      </a:accent4>
      <a:accent5>
        <a:srgbClr val="E78045"/>
      </a:accent5>
      <a:accent6>
        <a:srgbClr val="84C350"/>
      </a:accent6>
      <a:hlink>
        <a:srgbClr val="22FFFF"/>
      </a:hlink>
      <a:folHlink>
        <a:srgbClr val="9BF3FD"/>
      </a:folHlink>
    </a:clrScheme>
    <a:fontScheme name="Circuit">
      <a:majorFont>
        <a:latin typeface="Tw Cen MT" panose="020B0602020104020603"/>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Tw Cen MT" panose="020B0602020104020603"/>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Circuit">
      <a:fillStyleLst>
        <a:solidFill>
          <a:schemeClr val="phClr"/>
        </a:solidFill>
        <a:gradFill rotWithShape="1">
          <a:gsLst>
            <a:gs pos="0">
              <a:schemeClr val="phClr">
                <a:tint val="58000"/>
                <a:satMod val="108000"/>
                <a:lumMod val="110000"/>
              </a:schemeClr>
            </a:gs>
            <a:gs pos="100000">
              <a:schemeClr val="phClr">
                <a:tint val="81000"/>
                <a:satMod val="109000"/>
                <a:lumMod val="105000"/>
              </a:schemeClr>
            </a:gs>
          </a:gsLst>
          <a:lin ang="5040000" scaled="0"/>
        </a:gradFill>
        <a:gradFill rotWithShape="1">
          <a:gsLst>
            <a:gs pos="0">
              <a:schemeClr val="phClr">
                <a:tint val="94000"/>
                <a:satMod val="105000"/>
                <a:lumMod val="102000"/>
              </a:schemeClr>
            </a:gs>
            <a:gs pos="100000">
              <a:schemeClr val="phClr">
                <a:shade val="74000"/>
                <a:satMod val="128000"/>
                <a:lumMod val="100000"/>
              </a:schemeClr>
            </a:gs>
          </a:gsLst>
          <a:lin ang="5400000" scaled="0"/>
        </a:gradFill>
      </a:fillStyleLst>
      <a:lnStyleLst>
        <a:ln w="9525" cap="flat" cmpd="sng" algn="ctr">
          <a:solidFill>
            <a:schemeClr val="ph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98000"/>
                <a:hueMod val="94000"/>
                <a:satMod val="148000"/>
                <a:lumMod val="140000"/>
              </a:schemeClr>
            </a:gs>
            <a:gs pos="100000">
              <a:schemeClr val="phClr">
                <a:shade val="92000"/>
                <a:hueMod val="104000"/>
                <a:satMod val="140000"/>
                <a:lumMod val="48000"/>
              </a:schemeClr>
            </a:gs>
          </a:gsLst>
          <a:lin ang="5040000" scaled="0"/>
        </a:gradFill>
        <a:blipFill>
          <a:blip xmlns:r="http://schemas.openxmlformats.org/officeDocument/2006/relationships" r:embed="rId1">
            <a:duotone>
              <a:schemeClr val="phClr">
                <a:shade val="48000"/>
                <a:hueMod val="106000"/>
                <a:satMod val="140000"/>
                <a:lumMod val="42000"/>
              </a:schemeClr>
              <a:schemeClr val="phClr">
                <a:tint val="98000"/>
                <a:hueMod val="92000"/>
                <a:satMod val="220000"/>
                <a:lumMod val="90000"/>
              </a:schemeClr>
            </a:duotone>
          </a:blip>
          <a:stretch/>
        </a:blipFill>
      </a:bgFillStyleLst>
    </a:fmtScheme>
  </a:themeElements>
  <a:objectDefaults/>
  <a:extraClrSchemeLst/>
  <a:extLst>
    <a:ext uri="{05A4C25C-085E-4340-85A3-A5531E510DB2}">
      <thm15:themeFamily xmlns:thm15="http://schemas.microsoft.com/office/thememl/2012/main" name="Circuit" id="{0AC2F7E7-15F5-431C-B2A2-456FE929F56C}" vid="{142578CA-DEC9-49C3-80AF-C113973CC9A9}"/>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{78731ABC-CB82-E74D-A429-13D3326A7E5D}tf10001122</Template>
  <TotalTime>64528</TotalTime>
  <Words>9641</Words>
  <Application>Microsoft Macintosh PowerPoint</Application>
  <PresentationFormat>Widescreen</PresentationFormat>
  <Paragraphs>1265</Paragraphs>
  <Slides>127</Slides>
  <Notes>5</Notes>
  <HiddenSlides>8</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127</vt:i4>
      </vt:variant>
    </vt:vector>
  </HeadingPairs>
  <TitlesOfParts>
    <vt:vector size="135" baseType="lpstr">
      <vt:lpstr>Arial</vt:lpstr>
      <vt:lpstr>Calibri</vt:lpstr>
      <vt:lpstr>Cambria Math</vt:lpstr>
      <vt:lpstr>Courier New</vt:lpstr>
      <vt:lpstr>Symbol</vt:lpstr>
      <vt:lpstr>Tw Cen MT</vt:lpstr>
      <vt:lpstr>Wingdings</vt:lpstr>
      <vt:lpstr>Circuit</vt:lpstr>
      <vt:lpstr>Complexity Theory</vt:lpstr>
      <vt:lpstr>Goals!</vt:lpstr>
      <vt:lpstr>Part 1: Introduction!</vt:lpstr>
      <vt:lpstr>Overview of Theory of Computation</vt:lpstr>
      <vt:lpstr>Part 1: Measuring Time and Space Complexity</vt:lpstr>
      <vt:lpstr>Time Complexity</vt:lpstr>
      <vt:lpstr>Review: Time Complexity</vt:lpstr>
      <vt:lpstr>Quick note on Non-Deterministic Time</vt:lpstr>
      <vt:lpstr>Quick note on Non-Deterministic Time</vt:lpstr>
      <vt:lpstr>Comparing NTM and DTM</vt:lpstr>
      <vt:lpstr>Part 1: Complexity Classes</vt:lpstr>
      <vt:lpstr>Problem Types</vt:lpstr>
      <vt:lpstr>Problem types</vt:lpstr>
      <vt:lpstr>Why Do These Matter?</vt:lpstr>
      <vt:lpstr>Why Do These Matter?</vt:lpstr>
      <vt:lpstr>Why Do These Matter?</vt:lpstr>
      <vt:lpstr>A note on Verification</vt:lpstr>
      <vt:lpstr>Comparing NTM and DTM</vt:lpstr>
      <vt:lpstr>Comparing NTM and DTM</vt:lpstr>
      <vt:lpstr>Comparing NTM and DTM</vt:lpstr>
      <vt:lpstr>Comparing NTM and DTM</vt:lpstr>
      <vt:lpstr>Comparing NTM and DTM</vt:lpstr>
      <vt:lpstr>Complexity Classes (Finally!)</vt:lpstr>
      <vt:lpstr>The class P</vt:lpstr>
      <vt:lpstr>The class NP</vt:lpstr>
      <vt:lpstr>P⊆NP</vt:lpstr>
      <vt:lpstr>P⊆NP</vt:lpstr>
      <vt:lpstr>NP-Hard</vt:lpstr>
      <vt:lpstr>NP-Hard</vt:lpstr>
      <vt:lpstr>NP-Complete</vt:lpstr>
      <vt:lpstr>NP-Complete</vt:lpstr>
      <vt:lpstr>More on Reductions: Mapping Reductions</vt:lpstr>
      <vt:lpstr>What we have already seen</vt:lpstr>
      <vt:lpstr>Mapping Reduction</vt:lpstr>
      <vt:lpstr>Reductions You’ve Probably seen before!</vt:lpstr>
      <vt:lpstr>Runtime Comparison</vt:lpstr>
      <vt:lpstr>Runtime Comparison</vt:lpstr>
      <vt:lpstr>Runtime Comparison</vt:lpstr>
      <vt:lpstr>Runtime Comparison</vt:lpstr>
      <vt:lpstr>Runtime Comparison</vt:lpstr>
      <vt:lpstr>Runtime Comparison</vt:lpstr>
      <vt:lpstr>Runtime Comparison</vt:lpstr>
      <vt:lpstr>Big Picture</vt:lpstr>
      <vt:lpstr>Proving NP-Completeness</vt:lpstr>
      <vt:lpstr>Cook-Levin Theorem</vt:lpstr>
      <vt:lpstr>Cook-Levin Theorem</vt:lpstr>
      <vt:lpstr>Circuit Satisfiability (Circuit-SAT)</vt:lpstr>
      <vt:lpstr>Circuit Satisfiability (Circuit-SAT)</vt:lpstr>
      <vt:lpstr>Circuit-Sat vs SAT</vt:lpstr>
      <vt:lpstr>Proof of the Cook-Levin Theorem</vt:lpstr>
      <vt:lpstr>SAT∈NPC</vt:lpstr>
      <vt:lpstr>SAT∈NPC</vt:lpstr>
      <vt:lpstr>SAT∈NPC</vt:lpstr>
      <vt:lpstr>Sat is NP-Hard</vt:lpstr>
      <vt:lpstr>Sat is NP-Hard</vt:lpstr>
      <vt:lpstr>Sat is NP-Hard</vt:lpstr>
      <vt:lpstr>Variables We Need</vt:lpstr>
      <vt:lpstr>Create a conjunction ‘B’ of…</vt:lpstr>
      <vt:lpstr>Is the reduction Valid?</vt:lpstr>
      <vt:lpstr>SAT∈NPC</vt:lpstr>
      <vt:lpstr>Other NP-Complete Problems (Reductions)</vt:lpstr>
      <vt:lpstr>3-SAT</vt:lpstr>
      <vt:lpstr>3-SAT</vt:lpstr>
      <vt:lpstr>Showing that 3SAT∈NPC</vt:lpstr>
      <vt:lpstr>Showing that 3SAT∈NPC</vt:lpstr>
      <vt:lpstr>Showing that 3SAT∈NPC</vt:lpstr>
      <vt:lpstr>Converting SAT to 3-SAT, step 1</vt:lpstr>
      <vt:lpstr>Converting SAT to 3-SAT, step 2</vt:lpstr>
      <vt:lpstr>Converting SAT to 3-SAT, step 3</vt:lpstr>
      <vt:lpstr>Converting SAT to 3-SAT, step 4 / 5</vt:lpstr>
      <vt:lpstr>Converting SAT to 3-SAT, step 6</vt:lpstr>
      <vt:lpstr>Showing that 3SAT∈NPC</vt:lpstr>
      <vt:lpstr>Cliques</vt:lpstr>
      <vt:lpstr>Clique</vt:lpstr>
      <vt:lpstr>Clique</vt:lpstr>
      <vt:lpstr>Showing that Clique∈NPC</vt:lpstr>
      <vt:lpstr>Showing that Clique∈NPC</vt:lpstr>
      <vt:lpstr>Showing that Clique∈NPC</vt:lpstr>
      <vt:lpstr>3SAT≤_p Clique, Intuition</vt:lpstr>
      <vt:lpstr>3SAT≤_p Clique, Step 1</vt:lpstr>
      <vt:lpstr>3SAT≤_p Clique, Step 1</vt:lpstr>
      <vt:lpstr>3SAT≤_p Clique, Step 2</vt:lpstr>
      <vt:lpstr>3SAT≤_p Clique, Step 2</vt:lpstr>
      <vt:lpstr>3SAT≤_p Clique, Step 3</vt:lpstr>
      <vt:lpstr>3SAT≤_p Clique, Proof</vt:lpstr>
      <vt:lpstr>3SAT≤_p Clique, Proof</vt:lpstr>
      <vt:lpstr>3SAT≤_p Clique, Proof</vt:lpstr>
      <vt:lpstr>Vertex Cover</vt:lpstr>
      <vt:lpstr>Vertex Cover</vt:lpstr>
      <vt:lpstr>Showing that VC∈NPC</vt:lpstr>
      <vt:lpstr>Showing that VC∈NPC</vt:lpstr>
      <vt:lpstr>Showing that VC∈NPC</vt:lpstr>
      <vt:lpstr>Showing that VC∈NPC</vt:lpstr>
      <vt:lpstr>Showing that VC∈NPC</vt:lpstr>
      <vt:lpstr>Showing that VC∈NPC</vt:lpstr>
      <vt:lpstr>Showing that VC∈NPC</vt:lpstr>
      <vt:lpstr>More On Reductions</vt:lpstr>
      <vt:lpstr>More reductions!</vt:lpstr>
      <vt:lpstr>Does P=NP</vt:lpstr>
      <vt:lpstr>PowerPoint Presentation</vt:lpstr>
      <vt:lpstr>Another reduction: 3-Coloring</vt:lpstr>
      <vt:lpstr>3-Coloring</vt:lpstr>
      <vt:lpstr>Showing that 3C∈NPC</vt:lpstr>
      <vt:lpstr>Showing that VC∈NPC</vt:lpstr>
      <vt:lpstr>3SAT≤_p 3C</vt:lpstr>
      <vt:lpstr>3SAT≤_p 3C</vt:lpstr>
      <vt:lpstr>3SAT≤_p 3C</vt:lpstr>
      <vt:lpstr>3SAT≤_p 3C</vt:lpstr>
      <vt:lpstr>3SAT≤_p 3C</vt:lpstr>
      <vt:lpstr>3SAT≤_p 3C</vt:lpstr>
      <vt:lpstr>3SAT≤_p 3C</vt:lpstr>
      <vt:lpstr>3SAT≤_p 3C</vt:lpstr>
      <vt:lpstr>3SAT≤_p 3C</vt:lpstr>
      <vt:lpstr>(VERY informal) proof of reduction</vt:lpstr>
      <vt:lpstr>Co-NP</vt:lpstr>
      <vt:lpstr>Algorithmic Complement</vt:lpstr>
      <vt:lpstr>co-NP</vt:lpstr>
      <vt:lpstr>co-NP examples</vt:lpstr>
      <vt:lpstr>co-NP</vt:lpstr>
      <vt:lpstr>P is closed under complement</vt:lpstr>
      <vt:lpstr>Does NP = co-NP?</vt:lpstr>
      <vt:lpstr>NP and co-NP</vt:lpstr>
      <vt:lpstr>Conclusions / Other Complexity classes</vt:lpstr>
      <vt:lpstr>A couple complexity classes we won’t see:</vt:lpstr>
      <vt:lpstr>Complexity class diagram</vt:lpstr>
      <vt:lpstr>Conclusions!</vt:lpstr>
      <vt:lpstr>If we have time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Linear Programming</dc:title>
  <dc:creator>Mark Floryan</dc:creator>
  <cp:lastModifiedBy>Floryan, Mark Richard (mrf8t)</cp:lastModifiedBy>
  <cp:revision>457</cp:revision>
  <dcterms:created xsi:type="dcterms:W3CDTF">2023-02-24T14:15:53Z</dcterms:created>
  <dcterms:modified xsi:type="dcterms:W3CDTF">2025-11-18T14:20:29Z</dcterms:modified>
</cp:coreProperties>
</file>